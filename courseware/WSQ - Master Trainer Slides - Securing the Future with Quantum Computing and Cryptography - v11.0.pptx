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ertiary-infotech-logo.png"/>
          <p:cNvPicPr>
            <a:picLocks noChangeAspect="1"/>
          </p:cNvPicPr>
          <p:nvPr/>
        </p:nvPicPr>
        <p:blipFill>
          <a:blip r:embed="rId2"/>
          <a:stretch>
            <a:fillRect/>
          </a:stretch>
        </p:blipFill>
        <p:spPr>
          <a:xfrm>
            <a:off x="777240" y="640080"/>
            <a:ext cx="960120" cy="960120"/>
          </a:xfrm>
          <a:prstGeom prst="rect">
            <a:avLst/>
          </a:prstGeom>
        </p:spPr>
      </p:pic>
      <p:sp>
        <p:nvSpPr>
          <p:cNvPr id="6" name="Oval 5"/>
          <p:cNvSpPr/>
          <p:nvPr/>
        </p:nvSpPr>
        <p:spPr>
          <a:xfrm>
            <a:off x="9829800" y="566928"/>
            <a:ext cx="1508760" cy="1508760"/>
          </a:xfrm>
          <a:prstGeom prst="ellipse">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0332720" y="1069848"/>
            <a:ext cx="502920" cy="5029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829800" y="2139696"/>
            <a:ext cx="1508760" cy="274320"/>
          </a:xfrm>
          <a:prstGeom prst="rect">
            <a:avLst/>
          </a:prstGeom>
          <a:noFill/>
        </p:spPr>
        <p:txBody>
          <a:bodyPr wrap="square" anchor="t">
            <a:spAutoFit/>
          </a:bodyPr>
          <a:lstStyle/>
          <a:p>
            <a:pPr algn="ctr">
              <a:spcAft>
                <a:spcPts val="400"/>
              </a:spcAft>
            </a:pPr>
            <a:r>
              <a:rPr sz="1000" b="1">
                <a:solidFill>
                  <a:srgbClr val="7C3AED"/>
                </a:solidFill>
                <a:latin typeface="Arial"/>
              </a:rPr>
              <a:t>QUANTUM</a:t>
            </a:r>
          </a:p>
        </p:txBody>
      </p:sp>
      <p:sp>
        <p:nvSpPr>
          <p:cNvPr id="9" name="TextBox 8"/>
          <p:cNvSpPr txBox="1"/>
          <p:nvPr/>
        </p:nvSpPr>
        <p:spPr>
          <a:xfrm>
            <a:off x="822960" y="2103120"/>
            <a:ext cx="10972800" cy="548640"/>
          </a:xfrm>
          <a:prstGeom prst="rect">
            <a:avLst/>
          </a:prstGeom>
          <a:noFill/>
        </p:spPr>
        <p:txBody>
          <a:bodyPr wrap="square" anchor="t">
            <a:spAutoFit/>
          </a:bodyPr>
          <a:lstStyle/>
          <a:p>
            <a:pPr algn="l">
              <a:spcAft>
                <a:spcPts val="400"/>
              </a:spcAft>
            </a:pPr>
            <a:r>
              <a:rPr sz="1600" b="1">
                <a:solidFill>
                  <a:srgbClr val="1F6FEB"/>
                </a:solidFill>
                <a:latin typeface="Arial"/>
              </a:rPr>
              <a:t>COURSE SLIDES  ·  WSQ</a:t>
            </a:r>
          </a:p>
        </p:txBody>
      </p:sp>
      <p:sp>
        <p:nvSpPr>
          <p:cNvPr id="10" name="TextBox 9"/>
          <p:cNvSpPr txBox="1"/>
          <p:nvPr/>
        </p:nvSpPr>
        <p:spPr>
          <a:xfrm>
            <a:off x="822960" y="2606040"/>
            <a:ext cx="10424160" cy="1828800"/>
          </a:xfrm>
          <a:prstGeom prst="rect">
            <a:avLst/>
          </a:prstGeom>
          <a:noFill/>
        </p:spPr>
        <p:txBody>
          <a:bodyPr wrap="square" anchor="t">
            <a:spAutoFit/>
          </a:bodyPr>
          <a:lstStyle/>
          <a:p>
            <a:pPr algn="l">
              <a:spcAft>
                <a:spcPts val="400"/>
              </a:spcAft>
            </a:pPr>
            <a:r>
              <a:rPr sz="4000" b="1">
                <a:solidFill>
                  <a:srgbClr val="161B26"/>
                </a:solidFill>
                <a:latin typeface="Arial"/>
              </a:rPr>
              <a:t>Securing the Future with Quantum Computing and Cryptography</a:t>
            </a:r>
          </a:p>
        </p:txBody>
      </p:sp>
      <p:sp>
        <p:nvSpPr>
          <p:cNvPr id="11" name="Rectangle 10"/>
          <p:cNvSpPr/>
          <p:nvPr/>
        </p:nvSpPr>
        <p:spPr>
          <a:xfrm>
            <a:off x="841248" y="4526280"/>
            <a:ext cx="2194560" cy="548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4800600"/>
            <a:ext cx="10972800" cy="1280160"/>
          </a:xfrm>
          <a:prstGeom prst="rect">
            <a:avLst/>
          </a:prstGeom>
          <a:noFill/>
        </p:spPr>
        <p:txBody>
          <a:bodyPr wrap="square" anchor="t">
            <a:spAutoFit/>
          </a:bodyPr>
          <a:lstStyle/>
          <a:p>
            <a:pPr algn="l">
              <a:spcAft>
                <a:spcPts val="600"/>
              </a:spcAft>
            </a:pPr>
            <a:r>
              <a:rPr sz="1600" b="0">
                <a:solidFill>
                  <a:srgbClr val="5B6372"/>
                </a:solidFill>
                <a:latin typeface="Arial"/>
              </a:rPr>
              <a:t>WSQ Course Code: TGS-2024043419</a:t>
            </a:r>
          </a:p>
          <a:p>
            <a:pPr algn="l">
              <a:spcAft>
                <a:spcPts val="600"/>
              </a:spcAft>
            </a:pPr>
            <a:r>
              <a:rPr sz="1400" b="0">
                <a:solidFill>
                  <a:srgbClr val="5B6372"/>
                </a:solidFill>
                <a:latin typeface="Arial"/>
              </a:rPr>
              <a:t>Conducted by Tertiary Infotech Academy Pte Ltd  ·  UEN 201200696W</a:t>
            </a:r>
          </a:p>
        </p:txBody>
      </p:sp>
      <p:sp>
        <p:nvSpPr>
          <p:cNvPr id="13" name="TextBox 12"/>
          <p:cNvSpPr txBox="1"/>
          <p:nvPr/>
        </p:nvSpPr>
        <p:spPr>
          <a:xfrm>
            <a:off x="822960" y="5943600"/>
            <a:ext cx="10972800" cy="365760"/>
          </a:xfrm>
          <a:prstGeom prst="rect">
            <a:avLst/>
          </a:prstGeom>
          <a:noFill/>
        </p:spPr>
        <p:txBody>
          <a:bodyPr wrap="square" anchor="t">
            <a:spAutoFit/>
          </a:bodyPr>
          <a:lstStyle/>
          <a:p>
            <a:pPr algn="l">
              <a:spcAft>
                <a:spcPts val="400"/>
              </a:spcAft>
            </a:pPr>
            <a:r>
              <a:rPr sz="1200" b="0">
                <a:solidFill>
                  <a:srgbClr val="5B6372"/>
                </a:solidFill>
                <a:latin typeface="Arial"/>
              </a:rPr>
              <a:t>Version 11.0  ·  11 August 2026</a:t>
            </a:r>
          </a:p>
        </p:txBody>
      </p:sp>
      <p:sp>
        <p:nvSpPr>
          <p:cNvPr id="14" name="TextBox 13"/>
          <p:cNvSpPr txBox="1"/>
          <p:nvPr/>
        </p:nvSpPr>
        <p:spPr>
          <a:xfrm>
            <a:off x="822960" y="6263640"/>
            <a:ext cx="10972800" cy="310896"/>
          </a:xfrm>
          <a:prstGeom prst="rect">
            <a:avLst/>
          </a:prstGeom>
          <a:noFill/>
        </p:spPr>
        <p:txBody>
          <a:bodyPr wrap="square" anchor="t">
            <a:spAutoFit/>
          </a:bodyPr>
          <a:lstStyle/>
          <a:p>
            <a:pPr algn="l">
              <a:spcAft>
                <a:spcPts val="400"/>
              </a:spcAft>
            </a:pPr>
            <a:r>
              <a:rPr sz="1000" b="0">
                <a:solidFill>
                  <a:srgbClr val="5B6372"/>
                </a:solidFill>
                <a:latin typeface="Arial"/>
              </a:rPr>
              <a:t>© 2026 Tertiary Infotech Academy Pte Ltd. All rights reserved.  ·  www.tertiarycourses.com.sg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COURSE ADMINISTRATION</a:t>
            </a:r>
          </a:p>
        </p:txBody>
      </p:sp>
      <p:sp>
        <p:nvSpPr>
          <p:cNvPr id="6" name="TextBox 5"/>
          <p:cNvSpPr txBox="1"/>
          <p:nvPr/>
        </p:nvSpPr>
        <p:spPr>
          <a:xfrm>
            <a:off x="1143000" y="2743200"/>
            <a:ext cx="9509760" cy="1463040"/>
          </a:xfrm>
          <a:prstGeom prst="rect">
            <a:avLst/>
          </a:prstGeom>
          <a:noFill/>
        </p:spPr>
        <p:txBody>
          <a:bodyPr wrap="square" anchor="t">
            <a:spAutoFit/>
          </a:bodyPr>
          <a:lstStyle/>
          <a:p>
            <a:pPr algn="l">
              <a:spcAft>
                <a:spcPts val="400"/>
              </a:spcAft>
            </a:pPr>
            <a:r>
              <a:rPr sz="4000" b="1">
                <a:solidFill>
                  <a:srgbClr val="161B26"/>
                </a:solidFill>
                <a:latin typeface="Arial"/>
              </a:rPr>
              <a:t>Welcome &amp; Housekeeping</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TRAQOM · SSG DIGITAL ATTENDANCE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Digital Attendance (Mandatory)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2425446"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2425446"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15059" y="2715768"/>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15059"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749040"/>
            <a:ext cx="2132838" cy="1325880"/>
          </a:xfrm>
          <a:prstGeom prst="rect">
            <a:avLst/>
          </a:prstGeom>
          <a:noFill/>
        </p:spPr>
        <p:txBody>
          <a:bodyPr wrap="square" anchor="t">
            <a:spAutoFit/>
          </a:bodyPr>
          <a:lstStyle/>
          <a:p>
            <a:pPr algn="ctr">
              <a:spcAft>
                <a:spcPts val="400"/>
              </a:spcAft>
            </a:pPr>
            <a:r>
              <a:rPr sz="1400" b="0">
                <a:solidFill>
                  <a:srgbClr val="161B26"/>
                </a:solidFill>
                <a:latin typeface="Arial"/>
              </a:rPr>
              <a:t>Trainer displays the digital attendance QR code from the SSG portal</a:t>
            </a:r>
          </a:p>
        </p:txBody>
      </p:sp>
      <p:sp>
        <p:nvSpPr>
          <p:cNvPr id="12" name="TextBox 11"/>
          <p:cNvSpPr txBox="1"/>
          <p:nvPr/>
        </p:nvSpPr>
        <p:spPr>
          <a:xfrm>
            <a:off x="3166110"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13" name="Rectangle 12"/>
          <p:cNvSpPr/>
          <p:nvPr/>
        </p:nvSpPr>
        <p:spPr>
          <a:xfrm>
            <a:off x="3513582" y="2331720"/>
            <a:ext cx="2425446"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13582" y="2331720"/>
            <a:ext cx="2425446"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351401" y="2715768"/>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51401"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3659886" y="3749040"/>
            <a:ext cx="2132838" cy="1325880"/>
          </a:xfrm>
          <a:prstGeom prst="rect">
            <a:avLst/>
          </a:prstGeom>
          <a:noFill/>
        </p:spPr>
        <p:txBody>
          <a:bodyPr wrap="square" anchor="t">
            <a:spAutoFit/>
          </a:bodyPr>
          <a:lstStyle/>
          <a:p>
            <a:pPr algn="ctr">
              <a:spcAft>
                <a:spcPts val="400"/>
              </a:spcAft>
            </a:pPr>
            <a:r>
              <a:rPr sz="1400" b="0">
                <a:solidFill>
                  <a:srgbClr val="161B26"/>
                </a:solidFill>
                <a:latin typeface="Arial"/>
              </a:rPr>
              <a:t>Scan the QR code with your mobile phone camera</a:t>
            </a:r>
          </a:p>
        </p:txBody>
      </p:sp>
      <p:sp>
        <p:nvSpPr>
          <p:cNvPr id="18" name="TextBox 17"/>
          <p:cNvSpPr txBox="1"/>
          <p:nvPr/>
        </p:nvSpPr>
        <p:spPr>
          <a:xfrm>
            <a:off x="5902452"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19" name="Rectangle 18"/>
          <p:cNvSpPr/>
          <p:nvPr/>
        </p:nvSpPr>
        <p:spPr>
          <a:xfrm>
            <a:off x="6249924" y="2331720"/>
            <a:ext cx="2425446"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49924" y="2331720"/>
            <a:ext cx="2425446"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087743" y="2715768"/>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0877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6396228" y="3749040"/>
            <a:ext cx="2132838" cy="1325880"/>
          </a:xfrm>
          <a:prstGeom prst="rect">
            <a:avLst/>
          </a:prstGeom>
          <a:noFill/>
        </p:spPr>
        <p:txBody>
          <a:bodyPr wrap="square" anchor="t">
            <a:spAutoFit/>
          </a:bodyPr>
          <a:lstStyle/>
          <a:p>
            <a:pPr algn="ctr">
              <a:spcAft>
                <a:spcPts val="400"/>
              </a:spcAft>
            </a:pPr>
            <a:r>
              <a:rPr sz="1400" b="0">
                <a:solidFill>
                  <a:srgbClr val="161B26"/>
                </a:solidFill>
                <a:latin typeface="Arial"/>
              </a:rPr>
              <a:t>Submit your attendance — AM, PM and Assessment, every day</a:t>
            </a:r>
          </a:p>
        </p:txBody>
      </p:sp>
      <p:sp>
        <p:nvSpPr>
          <p:cNvPr id="24" name="TextBox 23"/>
          <p:cNvSpPr txBox="1"/>
          <p:nvPr/>
        </p:nvSpPr>
        <p:spPr>
          <a:xfrm>
            <a:off x="8638794"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25" name="Rectangle 24"/>
          <p:cNvSpPr/>
          <p:nvPr/>
        </p:nvSpPr>
        <p:spPr>
          <a:xfrm>
            <a:off x="8986266" y="2331720"/>
            <a:ext cx="2425446"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86266" y="2331720"/>
            <a:ext cx="2425446"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824085" y="2715768"/>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824085"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9132570" y="3749040"/>
            <a:ext cx="2132838" cy="1325880"/>
          </a:xfrm>
          <a:prstGeom prst="rect">
            <a:avLst/>
          </a:prstGeom>
          <a:noFill/>
        </p:spPr>
        <p:txBody>
          <a:bodyPr wrap="square" anchor="t">
            <a:spAutoFit/>
          </a:bodyPr>
          <a:lstStyle/>
          <a:p>
            <a:pPr algn="ctr">
              <a:spcAft>
                <a:spcPts val="400"/>
              </a:spcAft>
            </a:pPr>
            <a:r>
              <a:rPr sz="1400" b="0">
                <a:solidFill>
                  <a:srgbClr val="161B26"/>
                </a:solidFill>
                <a:latin typeface="Arial"/>
              </a:rPr>
              <a:t>75% minimum attendance is required for assessment and funding</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5B6372"/>
                </a:solidFill>
                <a:latin typeface="Arial"/>
              </a:rPr>
              <a:t>YOUR TRAINER · GENERAL</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About the Trainer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68780" y="2286000"/>
            <a:ext cx="1554480" cy="1554480"/>
          </a:xfrm>
          <a:prstGeom prst="ellipse">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68780" y="2286000"/>
            <a:ext cx="1554480" cy="1554480"/>
          </a:xfrm>
          <a:prstGeom prst="rect">
            <a:avLst/>
          </a:prstGeom>
          <a:noFill/>
        </p:spPr>
        <p:txBody>
          <a:bodyPr wrap="square" anchor="ctr">
            <a:spAutoFit/>
          </a:bodyPr>
          <a:lstStyle/>
          <a:p>
            <a:pPr algn="ctr">
              <a:spcAft>
                <a:spcPts val="400"/>
              </a:spcAft>
            </a:pPr>
            <a:r>
              <a:rPr sz="4400" b="1">
                <a:solidFill>
                  <a:srgbClr val="FFFFFF"/>
                </a:solidFill>
                <a:latin typeface="Arial"/>
              </a:rPr>
              <a:t>?</a:t>
            </a:r>
          </a:p>
        </p:txBody>
      </p:sp>
      <p:sp>
        <p:nvSpPr>
          <p:cNvPr id="11" name="TextBox 10"/>
          <p:cNvSpPr txBox="1"/>
          <p:nvPr/>
        </p:nvSpPr>
        <p:spPr>
          <a:xfrm>
            <a:off x="914400" y="4160520"/>
            <a:ext cx="3063240" cy="548640"/>
          </a:xfrm>
          <a:prstGeom prst="rect">
            <a:avLst/>
          </a:prstGeom>
          <a:noFill/>
        </p:spPr>
        <p:txBody>
          <a:bodyPr wrap="square" anchor="t">
            <a:spAutoFit/>
          </a:bodyPr>
          <a:lstStyle/>
          <a:p>
            <a:pPr algn="ctr">
              <a:spcAft>
                <a:spcPts val="400"/>
              </a:spcAft>
            </a:pPr>
            <a:r>
              <a:rPr sz="2100" b="1">
                <a:solidFill>
                  <a:srgbClr val="161B26"/>
                </a:solidFill>
                <a:latin typeface="Arial"/>
              </a:rPr>
              <a:t>Your Trainer</a:t>
            </a:r>
          </a:p>
        </p:txBody>
      </p:sp>
      <p:sp>
        <p:nvSpPr>
          <p:cNvPr id="12" name="TextBox 11"/>
          <p:cNvSpPr txBox="1"/>
          <p:nvPr/>
        </p:nvSpPr>
        <p:spPr>
          <a:xfrm>
            <a:off x="914400" y="4754880"/>
            <a:ext cx="3063240" cy="1097280"/>
          </a:xfrm>
          <a:prstGeom prst="rect">
            <a:avLst/>
          </a:prstGeom>
          <a:noFill/>
        </p:spPr>
        <p:txBody>
          <a:bodyPr wrap="square" anchor="t">
            <a:spAutoFit/>
          </a:bodyPr>
          <a:lstStyle/>
          <a:p>
            <a:pPr algn="ctr">
              <a:spcAft>
                <a:spcPts val="400"/>
              </a:spcAft>
            </a:pPr>
            <a:r>
              <a:rPr sz="1300" b="0">
                <a:solidFill>
                  <a:srgbClr val="5B6372"/>
                </a:solidFill>
                <a:latin typeface="Arial"/>
              </a:rPr>
              <a:t>General Trainer template —
to be completed by the trainer</a:t>
            </a:r>
          </a:p>
        </p:txBody>
      </p:sp>
      <p:sp>
        <p:nvSpPr>
          <p:cNvPr id="13" name="Rectangle 12"/>
          <p:cNvSpPr/>
          <p:nvPr/>
        </p:nvSpPr>
        <p:spPr>
          <a:xfrm>
            <a:off x="4480560" y="178308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80560" y="1783080"/>
            <a:ext cx="91440" cy="563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73168" y="1783080"/>
            <a:ext cx="6400800" cy="563880"/>
          </a:xfrm>
          <a:prstGeom prst="rect">
            <a:avLst/>
          </a:prstGeom>
          <a:noFill/>
        </p:spPr>
        <p:txBody>
          <a:bodyPr wrap="square" anchor="ctr">
            <a:spAutoFit/>
          </a:bodyPr>
          <a:lstStyle/>
          <a:p>
            <a:pPr algn="l">
              <a:spcAft>
                <a:spcPts val="300"/>
              </a:spcAft>
            </a:pPr>
            <a:r>
              <a:rPr sz="1100" b="1">
                <a:solidFill>
                  <a:srgbClr val="1F6FEB"/>
                </a:solidFill>
                <a:latin typeface="Arial"/>
              </a:rPr>
              <a:t>NAME</a:t>
            </a:r>
          </a:p>
          <a:p>
            <a:pPr algn="l">
              <a:spcAft>
                <a:spcPts val="300"/>
              </a:spcAft>
            </a:pPr>
            <a:r>
              <a:rPr sz="1300" b="0">
                <a:solidFill>
                  <a:srgbClr val="E2E8F0"/>
                </a:solidFill>
                <a:latin typeface="Arial"/>
              </a:rPr>
              <a:t>____________________________________________</a:t>
            </a:r>
          </a:p>
        </p:txBody>
      </p:sp>
      <p:sp>
        <p:nvSpPr>
          <p:cNvPr id="16" name="Rectangle 15"/>
          <p:cNvSpPr/>
          <p:nvPr/>
        </p:nvSpPr>
        <p:spPr>
          <a:xfrm>
            <a:off x="4480560" y="252984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80560" y="2529840"/>
            <a:ext cx="91440" cy="563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73168" y="2529840"/>
            <a:ext cx="6400800" cy="563880"/>
          </a:xfrm>
          <a:prstGeom prst="rect">
            <a:avLst/>
          </a:prstGeom>
          <a:noFill/>
        </p:spPr>
        <p:txBody>
          <a:bodyPr wrap="square" anchor="ctr">
            <a:spAutoFit/>
          </a:bodyPr>
          <a:lstStyle/>
          <a:p>
            <a:pPr algn="l">
              <a:spcAft>
                <a:spcPts val="300"/>
              </a:spcAft>
            </a:pPr>
            <a:r>
              <a:rPr sz="1100" b="1">
                <a:solidFill>
                  <a:srgbClr val="10B981"/>
                </a:solidFill>
                <a:latin typeface="Arial"/>
              </a:rPr>
              <a:t>TITLE / DESIGNATION</a:t>
            </a:r>
          </a:p>
          <a:p>
            <a:pPr algn="l">
              <a:spcAft>
                <a:spcPts val="300"/>
              </a:spcAft>
            </a:pPr>
            <a:r>
              <a:rPr sz="1300" b="0">
                <a:solidFill>
                  <a:srgbClr val="E2E8F0"/>
                </a:solidFill>
                <a:latin typeface="Arial"/>
              </a:rPr>
              <a:t>____________________________________________</a:t>
            </a:r>
          </a:p>
        </p:txBody>
      </p:sp>
      <p:sp>
        <p:nvSpPr>
          <p:cNvPr id="19" name="Rectangle 18"/>
          <p:cNvSpPr/>
          <p:nvPr/>
        </p:nvSpPr>
        <p:spPr>
          <a:xfrm>
            <a:off x="4480560" y="327660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480560" y="3276600"/>
            <a:ext cx="91440" cy="5638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73168" y="3276600"/>
            <a:ext cx="6400800" cy="563880"/>
          </a:xfrm>
          <a:prstGeom prst="rect">
            <a:avLst/>
          </a:prstGeom>
          <a:noFill/>
        </p:spPr>
        <p:txBody>
          <a:bodyPr wrap="square" anchor="ctr">
            <a:spAutoFit/>
          </a:bodyPr>
          <a:lstStyle/>
          <a:p>
            <a:pPr algn="l">
              <a:spcAft>
                <a:spcPts val="300"/>
              </a:spcAft>
            </a:pPr>
            <a:r>
              <a:rPr sz="1100" b="1">
                <a:solidFill>
                  <a:srgbClr val="7C3AED"/>
                </a:solidFill>
                <a:latin typeface="Arial"/>
              </a:rPr>
              <a:t>QUALIFICATIONS</a:t>
            </a:r>
          </a:p>
          <a:p>
            <a:pPr algn="l">
              <a:spcAft>
                <a:spcPts val="300"/>
              </a:spcAft>
            </a:pPr>
            <a:r>
              <a:rPr sz="1300" b="0">
                <a:solidFill>
                  <a:srgbClr val="E2E8F0"/>
                </a:solidFill>
                <a:latin typeface="Arial"/>
              </a:rPr>
              <a:t>____________________________________________</a:t>
            </a:r>
          </a:p>
        </p:txBody>
      </p:sp>
      <p:sp>
        <p:nvSpPr>
          <p:cNvPr id="22" name="Rectangle 21"/>
          <p:cNvSpPr/>
          <p:nvPr/>
        </p:nvSpPr>
        <p:spPr>
          <a:xfrm>
            <a:off x="4480560" y="402336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480560" y="4023360"/>
            <a:ext cx="91440" cy="563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73168" y="4023360"/>
            <a:ext cx="6400800" cy="563880"/>
          </a:xfrm>
          <a:prstGeom prst="rect">
            <a:avLst/>
          </a:prstGeom>
          <a:noFill/>
        </p:spPr>
        <p:txBody>
          <a:bodyPr wrap="square" anchor="ctr">
            <a:spAutoFit/>
          </a:bodyPr>
          <a:lstStyle/>
          <a:p>
            <a:pPr algn="l">
              <a:spcAft>
                <a:spcPts val="300"/>
              </a:spcAft>
            </a:pPr>
            <a:r>
              <a:rPr sz="1100" b="1">
                <a:solidFill>
                  <a:srgbClr val="F59E0B"/>
                </a:solidFill>
                <a:latin typeface="Arial"/>
              </a:rPr>
              <a:t>AREAS OF EXPERTISE</a:t>
            </a:r>
          </a:p>
          <a:p>
            <a:pPr algn="l">
              <a:spcAft>
                <a:spcPts val="300"/>
              </a:spcAft>
            </a:pPr>
            <a:r>
              <a:rPr sz="1300" b="0">
                <a:solidFill>
                  <a:srgbClr val="E2E8F0"/>
                </a:solidFill>
                <a:latin typeface="Arial"/>
              </a:rPr>
              <a:t>____________________________________________</a:t>
            </a:r>
          </a:p>
        </p:txBody>
      </p:sp>
      <p:sp>
        <p:nvSpPr>
          <p:cNvPr id="25" name="Rectangle 24"/>
          <p:cNvSpPr/>
          <p:nvPr/>
        </p:nvSpPr>
        <p:spPr>
          <a:xfrm>
            <a:off x="4480560" y="477012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80560" y="4770120"/>
            <a:ext cx="91440" cy="563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773168" y="4770120"/>
            <a:ext cx="6400800" cy="563880"/>
          </a:xfrm>
          <a:prstGeom prst="rect">
            <a:avLst/>
          </a:prstGeom>
          <a:noFill/>
        </p:spPr>
        <p:txBody>
          <a:bodyPr wrap="square" anchor="ctr">
            <a:spAutoFit/>
          </a:bodyPr>
          <a:lstStyle/>
          <a:p>
            <a:pPr algn="l">
              <a:spcAft>
                <a:spcPts val="300"/>
              </a:spcAft>
            </a:pPr>
            <a:r>
              <a:rPr sz="1100" b="1">
                <a:solidFill>
                  <a:srgbClr val="1F6FEB"/>
                </a:solidFill>
                <a:latin typeface="Arial"/>
              </a:rPr>
              <a:t>TRAINING &amp; INDUSTRY EXPERIENCE</a:t>
            </a:r>
          </a:p>
          <a:p>
            <a:pPr algn="l">
              <a:spcAft>
                <a:spcPts val="300"/>
              </a:spcAft>
            </a:pPr>
            <a:r>
              <a:rPr sz="1300" b="0">
                <a:solidFill>
                  <a:srgbClr val="E2E8F0"/>
                </a:solidFill>
                <a:latin typeface="Arial"/>
              </a:rPr>
              <a:t>____________________________________________</a:t>
            </a:r>
          </a:p>
        </p:txBody>
      </p:sp>
      <p:sp>
        <p:nvSpPr>
          <p:cNvPr id="28" name="Rectangle 27"/>
          <p:cNvSpPr/>
          <p:nvPr/>
        </p:nvSpPr>
        <p:spPr>
          <a:xfrm>
            <a:off x="4480560" y="551688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480560" y="5516880"/>
            <a:ext cx="91440" cy="563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773168" y="5516880"/>
            <a:ext cx="6400800" cy="563880"/>
          </a:xfrm>
          <a:prstGeom prst="rect">
            <a:avLst/>
          </a:prstGeom>
          <a:noFill/>
        </p:spPr>
        <p:txBody>
          <a:bodyPr wrap="square" anchor="ctr">
            <a:spAutoFit/>
          </a:bodyPr>
          <a:lstStyle/>
          <a:p>
            <a:pPr algn="l">
              <a:spcAft>
                <a:spcPts val="300"/>
              </a:spcAft>
            </a:pPr>
            <a:r>
              <a:rPr sz="1100" b="1">
                <a:solidFill>
                  <a:srgbClr val="10B981"/>
                </a:solidFill>
                <a:latin typeface="Arial"/>
              </a:rPr>
              <a:t>CONTACT</a:t>
            </a:r>
          </a:p>
          <a:p>
            <a:pPr algn="l">
              <a:spcAft>
                <a:spcPts val="300"/>
              </a:spcAft>
            </a:pPr>
            <a:r>
              <a:rPr sz="1300" b="0">
                <a:solidFill>
                  <a:srgbClr val="E2E8F0"/>
                </a:solidFill>
                <a:latin typeface="Arial"/>
              </a:rPr>
              <a:t>____________________________________________</a:t>
            </a:r>
          </a:p>
        </p:txBody>
      </p:sp>
      <p:sp>
        <p:nvSpPr>
          <p:cNvPr id="31" name="TextBox 3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32" name="TextBox 3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3" name="TextBox 3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YOUR TRAINER</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About the Trainer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68780" y="2286000"/>
            <a:ext cx="1554480" cy="155448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68780" y="2286000"/>
            <a:ext cx="1554480" cy="1554480"/>
          </a:xfrm>
          <a:prstGeom prst="rect">
            <a:avLst/>
          </a:prstGeom>
          <a:noFill/>
        </p:spPr>
        <p:txBody>
          <a:bodyPr wrap="square" anchor="ctr">
            <a:spAutoFit/>
          </a:bodyPr>
          <a:lstStyle/>
          <a:p>
            <a:pPr algn="ctr">
              <a:spcAft>
                <a:spcPts val="400"/>
              </a:spcAft>
            </a:pPr>
            <a:r>
              <a:rPr sz="4400" b="1">
                <a:solidFill>
                  <a:srgbClr val="FFFFFF"/>
                </a:solidFill>
                <a:latin typeface="Arial"/>
              </a:rPr>
              <a:t>AA</a:t>
            </a:r>
          </a:p>
        </p:txBody>
      </p:sp>
      <p:sp>
        <p:nvSpPr>
          <p:cNvPr id="11" name="TextBox 10"/>
          <p:cNvSpPr txBox="1"/>
          <p:nvPr/>
        </p:nvSpPr>
        <p:spPr>
          <a:xfrm>
            <a:off x="914400" y="4160520"/>
            <a:ext cx="3063240" cy="548640"/>
          </a:xfrm>
          <a:prstGeom prst="rect">
            <a:avLst/>
          </a:prstGeom>
          <a:noFill/>
        </p:spPr>
        <p:txBody>
          <a:bodyPr wrap="square" anchor="t">
            <a:spAutoFit/>
          </a:bodyPr>
          <a:lstStyle/>
          <a:p>
            <a:pPr algn="ctr">
              <a:spcAft>
                <a:spcPts val="400"/>
              </a:spcAft>
            </a:pPr>
            <a:r>
              <a:rPr sz="2100" b="1">
                <a:solidFill>
                  <a:srgbClr val="161B26"/>
                </a:solidFill>
                <a:latin typeface="Arial"/>
              </a:rPr>
              <a:t>Dr Alfred Ang</a:t>
            </a:r>
          </a:p>
        </p:txBody>
      </p:sp>
      <p:sp>
        <p:nvSpPr>
          <p:cNvPr id="12" name="TextBox 11"/>
          <p:cNvSpPr txBox="1"/>
          <p:nvPr/>
        </p:nvSpPr>
        <p:spPr>
          <a:xfrm>
            <a:off x="914400" y="4754880"/>
            <a:ext cx="3063240" cy="1097280"/>
          </a:xfrm>
          <a:prstGeom prst="rect">
            <a:avLst/>
          </a:prstGeom>
          <a:noFill/>
        </p:spPr>
        <p:txBody>
          <a:bodyPr wrap="square" anchor="t">
            <a:spAutoFit/>
          </a:bodyPr>
          <a:lstStyle/>
          <a:p>
            <a:pPr algn="ctr">
              <a:spcAft>
                <a:spcPts val="400"/>
              </a:spcAft>
            </a:pPr>
            <a:r>
              <a:rPr sz="1300" b="0">
                <a:solidFill>
                  <a:srgbClr val="5B6372"/>
                </a:solidFill>
                <a:latin typeface="Arial"/>
              </a:rPr>
              <a:t>Principal Trainer
Tertiary Infotech Academy Pte Ltd</a:t>
            </a:r>
          </a:p>
        </p:txBody>
      </p:sp>
      <p:sp>
        <p:nvSpPr>
          <p:cNvPr id="13" name="Rectangle 12"/>
          <p:cNvSpPr/>
          <p:nvPr/>
        </p:nvSpPr>
        <p:spPr>
          <a:xfrm>
            <a:off x="4480560" y="1783080"/>
            <a:ext cx="6949440" cy="7132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80560" y="1783080"/>
            <a:ext cx="91440" cy="7132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73168" y="1783080"/>
            <a:ext cx="6400800" cy="713232"/>
          </a:xfrm>
          <a:prstGeom prst="rect">
            <a:avLst/>
          </a:prstGeom>
          <a:noFill/>
        </p:spPr>
        <p:txBody>
          <a:bodyPr wrap="square" anchor="ctr">
            <a:spAutoFit/>
          </a:bodyPr>
          <a:lstStyle/>
          <a:p>
            <a:pPr algn="l">
              <a:spcAft>
                <a:spcPts val="300"/>
              </a:spcAft>
            </a:pPr>
            <a:r>
              <a:rPr sz="1100" b="1">
                <a:solidFill>
                  <a:srgbClr val="1F6FEB"/>
                </a:solidFill>
                <a:latin typeface="Arial"/>
              </a:rPr>
              <a:t>ROLE</a:t>
            </a:r>
          </a:p>
          <a:p>
            <a:pPr algn="l">
              <a:spcAft>
                <a:spcPts val="300"/>
              </a:spcAft>
            </a:pPr>
            <a:r>
              <a:rPr sz="1400" b="0">
                <a:solidFill>
                  <a:srgbClr val="161B26"/>
                </a:solidFill>
                <a:latin typeface="Arial"/>
              </a:rPr>
              <a:t>Principal Trainer, Tertiary Infotech Academy Pte Ltd</a:t>
            </a:r>
          </a:p>
        </p:txBody>
      </p:sp>
      <p:sp>
        <p:nvSpPr>
          <p:cNvPr id="16" name="Rectangle 15"/>
          <p:cNvSpPr/>
          <p:nvPr/>
        </p:nvSpPr>
        <p:spPr>
          <a:xfrm>
            <a:off x="4480560" y="2679192"/>
            <a:ext cx="6949440" cy="7132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80560" y="2679192"/>
            <a:ext cx="91440" cy="7132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73168" y="2679192"/>
            <a:ext cx="6400800" cy="713232"/>
          </a:xfrm>
          <a:prstGeom prst="rect">
            <a:avLst/>
          </a:prstGeom>
          <a:noFill/>
        </p:spPr>
        <p:txBody>
          <a:bodyPr wrap="square" anchor="ctr">
            <a:spAutoFit/>
          </a:bodyPr>
          <a:lstStyle/>
          <a:p>
            <a:pPr algn="l">
              <a:spcAft>
                <a:spcPts val="300"/>
              </a:spcAft>
            </a:pPr>
            <a:r>
              <a:rPr sz="1100" b="1">
                <a:solidFill>
                  <a:srgbClr val="10B981"/>
                </a:solidFill>
                <a:latin typeface="Arial"/>
              </a:rPr>
              <a:t>QUALIFICATIONS</a:t>
            </a:r>
          </a:p>
          <a:p>
            <a:pPr algn="l">
              <a:spcAft>
                <a:spcPts val="300"/>
              </a:spcAft>
            </a:pPr>
            <a:r>
              <a:rPr sz="1400" b="0">
                <a:solidFill>
                  <a:srgbClr val="161B26"/>
                </a:solidFill>
                <a:latin typeface="Arial"/>
              </a:rPr>
              <a:t>PhD; ACTA / DACE certified adult educator.</a:t>
            </a:r>
          </a:p>
        </p:txBody>
      </p:sp>
      <p:sp>
        <p:nvSpPr>
          <p:cNvPr id="19" name="Rectangle 18"/>
          <p:cNvSpPr/>
          <p:nvPr/>
        </p:nvSpPr>
        <p:spPr>
          <a:xfrm>
            <a:off x="4480560" y="3575304"/>
            <a:ext cx="6949440" cy="7132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480560" y="3575304"/>
            <a:ext cx="91440" cy="71323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73168" y="3575304"/>
            <a:ext cx="6400800" cy="713232"/>
          </a:xfrm>
          <a:prstGeom prst="rect">
            <a:avLst/>
          </a:prstGeom>
          <a:noFill/>
        </p:spPr>
        <p:txBody>
          <a:bodyPr wrap="square" anchor="ctr">
            <a:spAutoFit/>
          </a:bodyPr>
          <a:lstStyle/>
          <a:p>
            <a:pPr algn="l">
              <a:spcAft>
                <a:spcPts val="300"/>
              </a:spcAft>
            </a:pPr>
            <a:r>
              <a:rPr sz="1100" b="1">
                <a:solidFill>
                  <a:srgbClr val="7C3AED"/>
                </a:solidFill>
                <a:latin typeface="Arial"/>
              </a:rPr>
              <a:t>EXPERTISE</a:t>
            </a:r>
          </a:p>
          <a:p>
            <a:pPr algn="l">
              <a:spcAft>
                <a:spcPts val="300"/>
              </a:spcAft>
            </a:pPr>
            <a:r>
              <a:rPr sz="1400" b="0">
                <a:solidFill>
                  <a:srgbClr val="161B26"/>
                </a:solidFill>
                <a:latin typeface="Arial"/>
              </a:rPr>
              <a:t>Quantum computing, quantum cryptography, data science and AI engineering.</a:t>
            </a:r>
          </a:p>
        </p:txBody>
      </p:sp>
      <p:sp>
        <p:nvSpPr>
          <p:cNvPr id="22" name="Rectangle 21"/>
          <p:cNvSpPr/>
          <p:nvPr/>
        </p:nvSpPr>
        <p:spPr>
          <a:xfrm>
            <a:off x="4480560" y="4471416"/>
            <a:ext cx="6949440" cy="7132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480560" y="4471416"/>
            <a:ext cx="91440" cy="71323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73168" y="4471416"/>
            <a:ext cx="6400800" cy="713232"/>
          </a:xfrm>
          <a:prstGeom prst="rect">
            <a:avLst/>
          </a:prstGeom>
          <a:noFill/>
        </p:spPr>
        <p:txBody>
          <a:bodyPr wrap="square" anchor="ctr">
            <a:spAutoFit/>
          </a:bodyPr>
          <a:lstStyle/>
          <a:p>
            <a:pPr algn="l">
              <a:spcAft>
                <a:spcPts val="300"/>
              </a:spcAft>
            </a:pPr>
            <a:r>
              <a:rPr sz="1100" b="1">
                <a:solidFill>
                  <a:srgbClr val="F59E0B"/>
                </a:solidFill>
                <a:latin typeface="Arial"/>
              </a:rPr>
              <a:t>DELIVERS</a:t>
            </a:r>
          </a:p>
          <a:p>
            <a:pPr algn="l">
              <a:spcAft>
                <a:spcPts val="300"/>
              </a:spcAft>
            </a:pPr>
            <a:r>
              <a:rPr sz="1400" b="0">
                <a:solidFill>
                  <a:srgbClr val="161B26"/>
                </a:solidFill>
                <a:latin typeface="Arial"/>
              </a:rPr>
              <a:t>WSQ courses on quantum computing, cybersecurity and applied machine learning.</a:t>
            </a:r>
          </a:p>
        </p:txBody>
      </p:sp>
      <p:sp>
        <p:nvSpPr>
          <p:cNvPr id="25" name="Rectangle 24"/>
          <p:cNvSpPr/>
          <p:nvPr/>
        </p:nvSpPr>
        <p:spPr>
          <a:xfrm>
            <a:off x="4480560" y="5367528"/>
            <a:ext cx="6949440" cy="7132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80560" y="5367528"/>
            <a:ext cx="91440" cy="7132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773168" y="5367528"/>
            <a:ext cx="6400800" cy="713232"/>
          </a:xfrm>
          <a:prstGeom prst="rect">
            <a:avLst/>
          </a:prstGeom>
          <a:noFill/>
        </p:spPr>
        <p:txBody>
          <a:bodyPr wrap="square" anchor="ctr">
            <a:spAutoFit/>
          </a:bodyPr>
          <a:lstStyle/>
          <a:p>
            <a:pPr algn="l">
              <a:spcAft>
                <a:spcPts val="300"/>
              </a:spcAft>
            </a:pPr>
            <a:r>
              <a:rPr sz="1100" b="1">
                <a:solidFill>
                  <a:srgbClr val="1F6FEB"/>
                </a:solidFill>
                <a:latin typeface="Arial"/>
              </a:rPr>
              <a:t>FOUNDER</a:t>
            </a:r>
          </a:p>
          <a:p>
            <a:pPr algn="l">
              <a:spcAft>
                <a:spcPts val="300"/>
              </a:spcAft>
            </a:pPr>
            <a:r>
              <a:rPr sz="1400" b="0">
                <a:solidFill>
                  <a:srgbClr val="161B26"/>
                </a:solidFill>
                <a:latin typeface="Arial"/>
              </a:rPr>
              <a:t>Founder and lead instructor at Tertiary Infotech / Tertiary Courses.</a:t>
            </a:r>
          </a:p>
        </p:txBody>
      </p:sp>
      <p:sp>
        <p:nvSpPr>
          <p:cNvPr id="28" name="TextBox 2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29" name="TextBox 2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0" name="TextBox 2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ICE-BREAKER</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Let's Know Each Other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900">
                <a:solidFill>
                  <a:srgbClr val="161B26"/>
                </a:solidFill>
                <a:latin typeface="Arial"/>
              </a:rPr>
              <a:t>•  Your name, organisation and role.</a:t>
            </a:r>
          </a:p>
          <a:p>
            <a:pPr>
              <a:spcAft>
                <a:spcPts val="1000"/>
              </a:spcAft>
            </a:pPr>
            <a:r>
              <a:rPr sz="1900">
                <a:solidFill>
                  <a:srgbClr val="161B26"/>
                </a:solidFill>
                <a:latin typeface="Arial"/>
              </a:rPr>
              <a:t>•  Your background in physics, mathematics or programming (if any).</a:t>
            </a:r>
          </a:p>
          <a:p>
            <a:pPr>
              <a:spcAft>
                <a:spcPts val="1000"/>
              </a:spcAft>
            </a:pPr>
            <a:r>
              <a:rPr sz="1900">
                <a:solidFill>
                  <a:srgbClr val="161B26"/>
                </a:solidFill>
                <a:latin typeface="Arial"/>
              </a:rPr>
              <a:t>•  What you want to be able to do with quantum computing after this course.</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HOUSEKEEPING</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Ground Rules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74520"/>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Set your mobile phone to silent mode.</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74520"/>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Participate actively — no question is too small.</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3410712"/>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Mutual respect: agree to disagree.</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3410712"/>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One conversation at a time.</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5</a:t>
            </a:r>
          </a:p>
        </p:txBody>
      </p:sp>
      <p:sp>
        <p:nvSpPr>
          <p:cNvPr id="31" name="TextBox 30"/>
          <p:cNvSpPr txBox="1"/>
          <p:nvPr/>
        </p:nvSpPr>
        <p:spPr>
          <a:xfrm>
            <a:off x="1764792" y="4946904"/>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Be punctual; return from breaks on time.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6</a:t>
            </a:r>
          </a:p>
        </p:txBody>
      </p:sp>
      <p:sp>
        <p:nvSpPr>
          <p:cNvPr id="36" name="TextBox 35"/>
          <p:cNvSpPr txBox="1"/>
          <p:nvPr/>
        </p:nvSpPr>
        <p:spPr>
          <a:xfrm>
            <a:off x="7219188" y="4946904"/>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75% attendance is required for funding.</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COURSE PORTAL · LMS/TMS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Download Your Course Material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6400800" cy="39319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6400800"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41832" y="1938528"/>
            <a:ext cx="146304" cy="146304"/>
          </a:xfrm>
          <a:prstGeom prst="ellipse">
            <a:avLst/>
          </a:prstGeom>
          <a:solidFill>
            <a:srgbClr val="FF5F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179576" y="1938528"/>
            <a:ext cx="146304" cy="146304"/>
          </a:xfrm>
          <a:prstGeom prst="ellipse">
            <a:avLst/>
          </a:prstGeom>
          <a:solidFill>
            <a:srgbClr val="FEBC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417320" y="1938528"/>
            <a:ext cx="146304" cy="146304"/>
          </a:xfrm>
          <a:prstGeom prst="ellipse">
            <a:avLst/>
          </a:prstGeom>
          <a:solidFill>
            <a:srgbClr val="28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737360" y="1892808"/>
            <a:ext cx="5166360" cy="23774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874520" y="1892808"/>
            <a:ext cx="5029200" cy="237744"/>
          </a:xfrm>
          <a:prstGeom prst="rect">
            <a:avLst/>
          </a:prstGeom>
          <a:noFill/>
        </p:spPr>
        <p:txBody>
          <a:bodyPr wrap="square" anchor="ctr">
            <a:spAutoFit/>
          </a:bodyPr>
          <a:lstStyle/>
          <a:p>
            <a:pPr algn="l">
              <a:spcAft>
                <a:spcPts val="400"/>
              </a:spcAft>
            </a:pPr>
            <a:r>
              <a:rPr sz="1050" b="0">
                <a:solidFill>
                  <a:srgbClr val="5B6372"/>
                </a:solidFill>
                <a:latin typeface="Arial"/>
              </a:rPr>
              <a:t>https://lms-tms.tertiaryinfotech.com</a:t>
            </a:r>
          </a:p>
        </p:txBody>
      </p:sp>
      <p:sp>
        <p:nvSpPr>
          <p:cNvPr id="14" name="Rectangle 13"/>
          <p:cNvSpPr/>
          <p:nvPr/>
        </p:nvSpPr>
        <p:spPr>
          <a:xfrm>
            <a:off x="1051560" y="2468880"/>
            <a:ext cx="5852160" cy="7132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051560" y="2468880"/>
            <a:ext cx="73152" cy="7132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280160" y="2468880"/>
            <a:ext cx="5486400" cy="713232"/>
          </a:xfrm>
          <a:prstGeom prst="rect">
            <a:avLst/>
          </a:prstGeom>
          <a:noFill/>
        </p:spPr>
        <p:txBody>
          <a:bodyPr wrap="square" anchor="ctr">
            <a:spAutoFit/>
          </a:bodyPr>
          <a:lstStyle/>
          <a:p>
            <a:pPr algn="l">
              <a:spcAft>
                <a:spcPts val="200"/>
              </a:spcAft>
            </a:pPr>
            <a:r>
              <a:rPr sz="1300" b="1">
                <a:solidFill>
                  <a:srgbClr val="161B26"/>
                </a:solidFill>
                <a:latin typeface="Arial"/>
              </a:rPr>
              <a:t>My Courses</a:t>
            </a:r>
          </a:p>
          <a:p>
            <a:pPr algn="l">
              <a:spcAft>
                <a:spcPts val="200"/>
              </a:spcAft>
            </a:pPr>
            <a:r>
              <a:rPr sz="1100" b="0">
                <a:solidFill>
                  <a:srgbClr val="5B6372"/>
                </a:solidFill>
                <a:latin typeface="Arial"/>
              </a:rPr>
              <a:t>Securing the Future with Quantum Computing and Cryptography</a:t>
            </a:r>
          </a:p>
        </p:txBody>
      </p:sp>
      <p:sp>
        <p:nvSpPr>
          <p:cNvPr id="17" name="Rectangle 16"/>
          <p:cNvSpPr/>
          <p:nvPr/>
        </p:nvSpPr>
        <p:spPr>
          <a:xfrm>
            <a:off x="1051560" y="3310128"/>
            <a:ext cx="5852160" cy="7132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051560" y="3310128"/>
            <a:ext cx="73152" cy="7132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280160" y="3310128"/>
            <a:ext cx="5486400" cy="713232"/>
          </a:xfrm>
          <a:prstGeom prst="rect">
            <a:avLst/>
          </a:prstGeom>
          <a:noFill/>
        </p:spPr>
        <p:txBody>
          <a:bodyPr wrap="square" anchor="ctr">
            <a:spAutoFit/>
          </a:bodyPr>
          <a:lstStyle/>
          <a:p>
            <a:pPr algn="l">
              <a:spcAft>
                <a:spcPts val="200"/>
              </a:spcAft>
            </a:pPr>
            <a:r>
              <a:rPr sz="1300" b="1">
                <a:solidFill>
                  <a:srgbClr val="161B26"/>
                </a:solidFill>
                <a:latin typeface="Arial"/>
              </a:rPr>
              <a:t>Course Materials</a:t>
            </a:r>
          </a:p>
          <a:p>
            <a:pPr algn="l">
              <a:spcAft>
                <a:spcPts val="200"/>
              </a:spcAft>
            </a:pPr>
            <a:r>
              <a:rPr sz="1100" b="0">
                <a:solidFill>
                  <a:srgbClr val="5B6372"/>
                </a:solidFill>
                <a:latin typeface="Arial"/>
              </a:rPr>
              <a:t>Trainer Slides · Learner Guide · Lesson Plan</a:t>
            </a:r>
          </a:p>
        </p:txBody>
      </p:sp>
      <p:sp>
        <p:nvSpPr>
          <p:cNvPr id="20" name="Rectangle 19"/>
          <p:cNvSpPr/>
          <p:nvPr/>
        </p:nvSpPr>
        <p:spPr>
          <a:xfrm>
            <a:off x="1051560" y="4151376"/>
            <a:ext cx="5852160" cy="7132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051560" y="4151376"/>
            <a:ext cx="73152" cy="71323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280160" y="4151376"/>
            <a:ext cx="5486400" cy="713232"/>
          </a:xfrm>
          <a:prstGeom prst="rect">
            <a:avLst/>
          </a:prstGeom>
          <a:noFill/>
        </p:spPr>
        <p:txBody>
          <a:bodyPr wrap="square" anchor="ctr">
            <a:spAutoFit/>
          </a:bodyPr>
          <a:lstStyle/>
          <a:p>
            <a:pPr algn="l">
              <a:spcAft>
                <a:spcPts val="200"/>
              </a:spcAft>
            </a:pPr>
            <a:r>
              <a:rPr sz="1300" b="1">
                <a:solidFill>
                  <a:srgbClr val="161B26"/>
                </a:solidFill>
                <a:latin typeface="Arial"/>
              </a:rPr>
              <a:t>Activities / Labs</a:t>
            </a:r>
          </a:p>
          <a:p>
            <a:pPr algn="l">
              <a:spcAft>
                <a:spcPts val="200"/>
              </a:spcAft>
            </a:pPr>
            <a:r>
              <a:rPr sz="1100" b="0">
                <a:solidFill>
                  <a:srgbClr val="5B6372"/>
                </a:solidFill>
                <a:latin typeface="Arial"/>
              </a:rPr>
              <a:t>Lab source code and QASM files</a:t>
            </a:r>
          </a:p>
        </p:txBody>
      </p:sp>
      <p:sp>
        <p:nvSpPr>
          <p:cNvPr id="23" name="Rectangle 22"/>
          <p:cNvSpPr/>
          <p:nvPr/>
        </p:nvSpPr>
        <p:spPr>
          <a:xfrm>
            <a:off x="1051560" y="4992624"/>
            <a:ext cx="5852160" cy="7132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051560" y="4992624"/>
            <a:ext cx="73152" cy="71323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280160" y="4992624"/>
            <a:ext cx="5486400" cy="713232"/>
          </a:xfrm>
          <a:prstGeom prst="rect">
            <a:avLst/>
          </a:prstGeom>
          <a:noFill/>
        </p:spPr>
        <p:txBody>
          <a:bodyPr wrap="square" anchor="ctr">
            <a:spAutoFit/>
          </a:bodyPr>
          <a:lstStyle/>
          <a:p>
            <a:pPr algn="l">
              <a:spcAft>
                <a:spcPts val="200"/>
              </a:spcAft>
            </a:pPr>
            <a:r>
              <a:rPr sz="1300" b="1">
                <a:solidFill>
                  <a:srgbClr val="161B26"/>
                </a:solidFill>
                <a:latin typeface="Arial"/>
              </a:rPr>
              <a:t>Assessment</a:t>
            </a:r>
          </a:p>
          <a:p>
            <a:pPr algn="l">
              <a:spcAft>
                <a:spcPts val="200"/>
              </a:spcAft>
            </a:pPr>
            <a:r>
              <a:rPr sz="1100" b="0">
                <a:solidFill>
                  <a:srgbClr val="5B6372"/>
                </a:solidFill>
                <a:latin typeface="Arial"/>
              </a:rPr>
              <a:t>Submit your WA and PP answers here</a:t>
            </a:r>
          </a:p>
        </p:txBody>
      </p:sp>
      <p:sp>
        <p:nvSpPr>
          <p:cNvPr id="26" name="Rectangle 25"/>
          <p:cNvSpPr/>
          <p:nvPr/>
        </p:nvSpPr>
        <p:spPr>
          <a:xfrm>
            <a:off x="7452360" y="1783080"/>
            <a:ext cx="3959352" cy="8458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452360" y="1783080"/>
            <a:ext cx="82296" cy="8458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680960" y="2013966"/>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680960" y="2013966"/>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1</a:t>
            </a:r>
          </a:p>
        </p:txBody>
      </p:sp>
      <p:sp>
        <p:nvSpPr>
          <p:cNvPr id="30" name="TextBox 29"/>
          <p:cNvSpPr txBox="1"/>
          <p:nvPr/>
        </p:nvSpPr>
        <p:spPr>
          <a:xfrm>
            <a:off x="8202168" y="1783080"/>
            <a:ext cx="2999232" cy="845820"/>
          </a:xfrm>
          <a:prstGeom prst="rect">
            <a:avLst/>
          </a:prstGeom>
          <a:noFill/>
        </p:spPr>
        <p:txBody>
          <a:bodyPr wrap="square" anchor="ctr">
            <a:spAutoFit/>
          </a:bodyPr>
          <a:lstStyle/>
          <a:p>
            <a:pPr algn="l">
              <a:spcAft>
                <a:spcPts val="400"/>
              </a:spcAft>
            </a:pPr>
            <a:r>
              <a:rPr sz="1250" b="0">
                <a:solidFill>
                  <a:srgbClr val="161B26"/>
                </a:solidFill>
                <a:latin typeface="Arial"/>
              </a:rPr>
              <a:t>Go to lms-tms.tertiaryinfotech.com and sign in with the account you were issued.</a:t>
            </a:r>
          </a:p>
        </p:txBody>
      </p:sp>
      <p:sp>
        <p:nvSpPr>
          <p:cNvPr id="31" name="Rectangle 30"/>
          <p:cNvSpPr/>
          <p:nvPr/>
        </p:nvSpPr>
        <p:spPr>
          <a:xfrm>
            <a:off x="7452360" y="2811780"/>
            <a:ext cx="3959352" cy="8458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452360" y="2811780"/>
            <a:ext cx="82296" cy="8458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680960" y="3042666"/>
            <a:ext cx="384048" cy="38404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680960" y="3042666"/>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2</a:t>
            </a:r>
          </a:p>
        </p:txBody>
      </p:sp>
      <p:sp>
        <p:nvSpPr>
          <p:cNvPr id="35" name="TextBox 34"/>
          <p:cNvSpPr txBox="1"/>
          <p:nvPr/>
        </p:nvSpPr>
        <p:spPr>
          <a:xfrm>
            <a:off x="8202168" y="2811780"/>
            <a:ext cx="2999232" cy="845820"/>
          </a:xfrm>
          <a:prstGeom prst="rect">
            <a:avLst/>
          </a:prstGeom>
          <a:noFill/>
        </p:spPr>
        <p:txBody>
          <a:bodyPr wrap="square" anchor="ctr">
            <a:spAutoFit/>
          </a:bodyPr>
          <a:lstStyle/>
          <a:p>
            <a:pPr algn="l">
              <a:spcAft>
                <a:spcPts val="400"/>
              </a:spcAft>
            </a:pPr>
            <a:r>
              <a:rPr sz="1250" b="0">
                <a:solidFill>
                  <a:srgbClr val="161B26"/>
                </a:solidFill>
                <a:latin typeface="Arial"/>
              </a:rPr>
              <a:t>Open My Courses and select this course.</a:t>
            </a:r>
          </a:p>
        </p:txBody>
      </p:sp>
      <p:sp>
        <p:nvSpPr>
          <p:cNvPr id="36" name="Rectangle 35"/>
          <p:cNvSpPr/>
          <p:nvPr/>
        </p:nvSpPr>
        <p:spPr>
          <a:xfrm>
            <a:off x="7452360" y="3840480"/>
            <a:ext cx="3959352" cy="8458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452360" y="3840480"/>
            <a:ext cx="82296" cy="8458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7680960" y="4071366"/>
            <a:ext cx="384048" cy="38404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680960" y="4071366"/>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3</a:t>
            </a:r>
          </a:p>
        </p:txBody>
      </p:sp>
      <p:sp>
        <p:nvSpPr>
          <p:cNvPr id="40" name="TextBox 39"/>
          <p:cNvSpPr txBox="1"/>
          <p:nvPr/>
        </p:nvSpPr>
        <p:spPr>
          <a:xfrm>
            <a:off x="8202168" y="3840480"/>
            <a:ext cx="2999232" cy="845820"/>
          </a:xfrm>
          <a:prstGeom prst="rect">
            <a:avLst/>
          </a:prstGeom>
          <a:noFill/>
        </p:spPr>
        <p:txBody>
          <a:bodyPr wrap="square" anchor="ctr">
            <a:spAutoFit/>
          </a:bodyPr>
          <a:lstStyle/>
          <a:p>
            <a:pPr algn="l">
              <a:spcAft>
                <a:spcPts val="400"/>
              </a:spcAft>
            </a:pPr>
            <a:r>
              <a:rPr sz="1250" b="0">
                <a:solidFill>
                  <a:srgbClr val="161B26"/>
                </a:solidFill>
                <a:latin typeface="Arial"/>
              </a:rPr>
              <a:t>Download the Trainer Slides, Learner Guide and Lesson Plan.</a:t>
            </a:r>
          </a:p>
        </p:txBody>
      </p:sp>
      <p:sp>
        <p:nvSpPr>
          <p:cNvPr id="41" name="Rectangle 40"/>
          <p:cNvSpPr/>
          <p:nvPr/>
        </p:nvSpPr>
        <p:spPr>
          <a:xfrm>
            <a:off x="7452360" y="4869180"/>
            <a:ext cx="3959352" cy="8458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452360" y="4869180"/>
            <a:ext cx="82296" cy="8458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7680960" y="5100066"/>
            <a:ext cx="384048" cy="38404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680960" y="5100066"/>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4</a:t>
            </a:r>
          </a:p>
        </p:txBody>
      </p:sp>
      <p:sp>
        <p:nvSpPr>
          <p:cNvPr id="45" name="TextBox 44"/>
          <p:cNvSpPr txBox="1"/>
          <p:nvPr/>
        </p:nvSpPr>
        <p:spPr>
          <a:xfrm>
            <a:off x="8202168" y="4869180"/>
            <a:ext cx="2999232" cy="845820"/>
          </a:xfrm>
          <a:prstGeom prst="rect">
            <a:avLst/>
          </a:prstGeom>
          <a:noFill/>
        </p:spPr>
        <p:txBody>
          <a:bodyPr wrap="square" anchor="ctr">
            <a:spAutoFit/>
          </a:bodyPr>
          <a:lstStyle/>
          <a:p>
            <a:pPr algn="l">
              <a:spcAft>
                <a:spcPts val="400"/>
              </a:spcAft>
            </a:pPr>
            <a:r>
              <a:rPr sz="1250" b="0">
                <a:solidFill>
                  <a:srgbClr val="161B26"/>
                </a:solidFill>
                <a:latin typeface="Arial"/>
              </a:rPr>
              <a:t>Keep them open — the assessment is OPEN BOOK.</a:t>
            </a:r>
          </a:p>
        </p:txBody>
      </p:sp>
      <p:sp>
        <p:nvSpPr>
          <p:cNvPr id="46" name="Rectangle 45"/>
          <p:cNvSpPr/>
          <p:nvPr/>
        </p:nvSpPr>
        <p:spPr>
          <a:xfrm>
            <a:off x="777240" y="5870448"/>
            <a:ext cx="10634472" cy="45720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60120" y="5870448"/>
            <a:ext cx="10241280" cy="457200"/>
          </a:xfrm>
          <a:prstGeom prst="rect">
            <a:avLst/>
          </a:prstGeom>
          <a:noFill/>
        </p:spPr>
        <p:txBody>
          <a:bodyPr wrap="square" anchor="ctr">
            <a:spAutoFit/>
          </a:bodyPr>
          <a:lstStyle/>
          <a:p>
            <a:pPr algn="ctr">
              <a:spcAft>
                <a:spcPts val="400"/>
              </a:spcAft>
            </a:pPr>
            <a:r>
              <a:rPr sz="1250" b="1">
                <a:solidFill>
                  <a:srgbClr val="127A3E"/>
                </a:solidFill>
                <a:latin typeface="Arial"/>
              </a:rPr>
              <a:t>Download the slides and Learner Guide BEFORE the assessment — they are your permitted open-book materials.</a:t>
            </a:r>
          </a:p>
        </p:txBody>
      </p:sp>
      <p:sp>
        <p:nvSpPr>
          <p:cNvPr id="48" name="TextBox 4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49" name="TextBox 4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50" name="TextBox 4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WHAT YOU'LL ACHIEVE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Learning Outcomes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96596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965960"/>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731520"/>
          </a:xfrm>
          <a:prstGeom prst="rect">
            <a:avLst/>
          </a:prstGeom>
          <a:noFill/>
        </p:spPr>
        <p:txBody>
          <a:bodyPr wrap="square" anchor="ctr">
            <a:spAutoFit/>
          </a:bodyPr>
          <a:lstStyle/>
          <a:p>
            <a:pPr algn="l">
              <a:spcAft>
                <a:spcPts val="300"/>
              </a:spcAft>
            </a:pPr>
            <a:r>
              <a:rPr sz="1450" b="1">
                <a:solidFill>
                  <a:srgbClr val="161B26"/>
                </a:solidFill>
                <a:latin typeface="Arial"/>
              </a:rPr>
              <a:t>LO1 · Mathematical models</a:t>
            </a:r>
          </a:p>
          <a:p>
            <a:pPr algn="l">
              <a:spcAft>
                <a:spcPts val="300"/>
              </a:spcAft>
            </a:pPr>
            <a:r>
              <a:rPr sz="1100" b="0">
                <a:solidFill>
                  <a:srgbClr val="5B6372"/>
                </a:solidFill>
                <a:latin typeface="Arial"/>
              </a:rPr>
              <a:t>Design the mathematical models required for quantum computing applications.</a:t>
            </a:r>
          </a:p>
        </p:txBody>
      </p:sp>
      <p:sp>
        <p:nvSpPr>
          <p:cNvPr id="12" name="Rectangle 11"/>
          <p:cNvSpPr/>
          <p:nvPr/>
        </p:nvSpPr>
        <p:spPr>
          <a:xfrm>
            <a:off x="6231636" y="1783080"/>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196596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1965960"/>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731520"/>
          </a:xfrm>
          <a:prstGeom prst="rect">
            <a:avLst/>
          </a:prstGeom>
          <a:noFill/>
        </p:spPr>
        <p:txBody>
          <a:bodyPr wrap="square" anchor="ctr">
            <a:spAutoFit/>
          </a:bodyPr>
          <a:lstStyle/>
          <a:p>
            <a:pPr algn="l">
              <a:spcAft>
                <a:spcPts val="300"/>
              </a:spcAft>
            </a:pPr>
            <a:r>
              <a:rPr sz="1450" b="1">
                <a:solidFill>
                  <a:srgbClr val="161B26"/>
                </a:solidFill>
                <a:latin typeface="Arial"/>
              </a:rPr>
              <a:t>LO2 · Physical methodologies</a:t>
            </a:r>
          </a:p>
          <a:p>
            <a:pPr algn="l">
              <a:spcAft>
                <a:spcPts val="300"/>
              </a:spcAft>
            </a:pPr>
            <a:r>
              <a:rPr sz="1100" b="0">
                <a:solidFill>
                  <a:srgbClr val="5B6372"/>
                </a:solidFill>
                <a:latin typeface="Arial"/>
              </a:rPr>
              <a:t>Decide on appropriate physical methodologies for quantum computing problems.</a:t>
            </a:r>
          </a:p>
        </p:txBody>
      </p:sp>
      <p:sp>
        <p:nvSpPr>
          <p:cNvPr id="17" name="Rectangle 16"/>
          <p:cNvSpPr/>
          <p:nvPr/>
        </p:nvSpPr>
        <p:spPr>
          <a:xfrm>
            <a:off x="777240" y="2935224"/>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2935224"/>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118104"/>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1181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3044952"/>
            <a:ext cx="3973068" cy="731520"/>
          </a:xfrm>
          <a:prstGeom prst="rect">
            <a:avLst/>
          </a:prstGeom>
          <a:noFill/>
        </p:spPr>
        <p:txBody>
          <a:bodyPr wrap="square" anchor="ctr">
            <a:spAutoFit/>
          </a:bodyPr>
          <a:lstStyle/>
          <a:p>
            <a:pPr algn="l">
              <a:spcAft>
                <a:spcPts val="300"/>
              </a:spcAft>
            </a:pPr>
            <a:r>
              <a:rPr sz="1450" b="1">
                <a:solidFill>
                  <a:srgbClr val="161B26"/>
                </a:solidFill>
                <a:latin typeface="Arial"/>
              </a:rPr>
              <a:t>LO3 · Two-level models</a:t>
            </a:r>
          </a:p>
          <a:p>
            <a:pPr algn="l">
              <a:spcAft>
                <a:spcPts val="300"/>
              </a:spcAft>
            </a:pPr>
            <a:r>
              <a:rPr sz="1100" b="0">
                <a:solidFill>
                  <a:srgbClr val="5B6372"/>
                </a:solidFill>
                <a:latin typeface="Arial"/>
              </a:rPr>
              <a:t>Direct two-level quantum models for quantum computing.</a:t>
            </a:r>
          </a:p>
        </p:txBody>
      </p:sp>
      <p:sp>
        <p:nvSpPr>
          <p:cNvPr id="22" name="Rectangle 21"/>
          <p:cNvSpPr/>
          <p:nvPr/>
        </p:nvSpPr>
        <p:spPr>
          <a:xfrm>
            <a:off x="6231636" y="2935224"/>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2935224"/>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118104"/>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1181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3044952"/>
            <a:ext cx="3973068" cy="731520"/>
          </a:xfrm>
          <a:prstGeom prst="rect">
            <a:avLst/>
          </a:prstGeom>
          <a:noFill/>
        </p:spPr>
        <p:txBody>
          <a:bodyPr wrap="square" anchor="ctr">
            <a:spAutoFit/>
          </a:bodyPr>
          <a:lstStyle/>
          <a:p>
            <a:pPr algn="l">
              <a:spcAft>
                <a:spcPts val="300"/>
              </a:spcAft>
            </a:pPr>
            <a:r>
              <a:rPr sz="1450" b="1">
                <a:solidFill>
                  <a:srgbClr val="161B26"/>
                </a:solidFill>
                <a:latin typeface="Arial"/>
              </a:rPr>
              <a:t>LO4 · Business applicability</a:t>
            </a:r>
          </a:p>
          <a:p>
            <a:pPr algn="l">
              <a:spcAft>
                <a:spcPts val="300"/>
              </a:spcAft>
            </a:pPr>
            <a:r>
              <a:rPr sz="1100" b="0">
                <a:solidFill>
                  <a:srgbClr val="5B6372"/>
                </a:solidFill>
                <a:latin typeface="Arial"/>
              </a:rPr>
              <a:t>Evaluate quantum computing applicability in the business context.</a:t>
            </a:r>
          </a:p>
        </p:txBody>
      </p:sp>
      <p:sp>
        <p:nvSpPr>
          <p:cNvPr id="27" name="Rectangle 26"/>
          <p:cNvSpPr/>
          <p:nvPr/>
        </p:nvSpPr>
        <p:spPr>
          <a:xfrm>
            <a:off x="777240" y="4087368"/>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087368"/>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427024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42702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5</a:t>
            </a:r>
          </a:p>
        </p:txBody>
      </p:sp>
      <p:sp>
        <p:nvSpPr>
          <p:cNvPr id="31" name="TextBox 30"/>
          <p:cNvSpPr txBox="1"/>
          <p:nvPr/>
        </p:nvSpPr>
        <p:spPr>
          <a:xfrm>
            <a:off x="1764792" y="4197096"/>
            <a:ext cx="3973068" cy="731520"/>
          </a:xfrm>
          <a:prstGeom prst="rect">
            <a:avLst/>
          </a:prstGeom>
          <a:noFill/>
        </p:spPr>
        <p:txBody>
          <a:bodyPr wrap="square" anchor="ctr">
            <a:spAutoFit/>
          </a:bodyPr>
          <a:lstStyle/>
          <a:p>
            <a:pPr algn="l">
              <a:spcAft>
                <a:spcPts val="300"/>
              </a:spcAft>
            </a:pPr>
            <a:r>
              <a:rPr sz="1450" b="1">
                <a:solidFill>
                  <a:srgbClr val="161B26"/>
                </a:solidFill>
                <a:latin typeface="Arial"/>
              </a:rPr>
              <a:t>LO5 · Quantum gates</a:t>
            </a:r>
          </a:p>
          <a:p>
            <a:pPr algn="l">
              <a:spcAft>
                <a:spcPts val="300"/>
              </a:spcAft>
            </a:pPr>
            <a:r>
              <a:rPr sz="1100" b="0">
                <a:solidFill>
                  <a:srgbClr val="5B6372"/>
                </a:solidFill>
                <a:latin typeface="Arial"/>
              </a:rPr>
              <a:t>Spearhead the application of quantum gates to quantum computing domains.</a:t>
            </a:r>
          </a:p>
        </p:txBody>
      </p:sp>
      <p:sp>
        <p:nvSpPr>
          <p:cNvPr id="32" name="Rectangle 31"/>
          <p:cNvSpPr/>
          <p:nvPr/>
        </p:nvSpPr>
        <p:spPr>
          <a:xfrm>
            <a:off x="6231636" y="4087368"/>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087368"/>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427024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42702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6</a:t>
            </a:r>
          </a:p>
        </p:txBody>
      </p:sp>
      <p:sp>
        <p:nvSpPr>
          <p:cNvPr id="36" name="TextBox 35"/>
          <p:cNvSpPr txBox="1"/>
          <p:nvPr/>
        </p:nvSpPr>
        <p:spPr>
          <a:xfrm>
            <a:off x="7219188" y="4197096"/>
            <a:ext cx="3973068" cy="731520"/>
          </a:xfrm>
          <a:prstGeom prst="rect">
            <a:avLst/>
          </a:prstGeom>
          <a:noFill/>
        </p:spPr>
        <p:txBody>
          <a:bodyPr wrap="square" anchor="ctr">
            <a:spAutoFit/>
          </a:bodyPr>
          <a:lstStyle/>
          <a:p>
            <a:pPr algn="l">
              <a:spcAft>
                <a:spcPts val="300"/>
              </a:spcAft>
            </a:pPr>
            <a:r>
              <a:rPr sz="1450" b="1">
                <a:solidFill>
                  <a:srgbClr val="161B26"/>
                </a:solidFill>
                <a:latin typeface="Arial"/>
              </a:rPr>
              <a:t>LO6 · Algorithm selection</a:t>
            </a:r>
          </a:p>
          <a:p>
            <a:pPr algn="l">
              <a:spcAft>
                <a:spcPts val="300"/>
              </a:spcAft>
            </a:pPr>
            <a:r>
              <a:rPr sz="1100" b="0">
                <a:solidFill>
                  <a:srgbClr val="5B6372"/>
                </a:solidFill>
                <a:latin typeface="Arial"/>
              </a:rPr>
              <a:t>Establish guidelines for selecting quantum computing algorithms.</a:t>
            </a:r>
          </a:p>
        </p:txBody>
      </p:sp>
      <p:sp>
        <p:nvSpPr>
          <p:cNvPr id="37" name="Rectangle 36"/>
          <p:cNvSpPr/>
          <p:nvPr/>
        </p:nvSpPr>
        <p:spPr>
          <a:xfrm>
            <a:off x="777240" y="5239512"/>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77240" y="5239512"/>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1033272" y="5422392"/>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33272" y="5422392"/>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7</a:t>
            </a:r>
          </a:p>
        </p:txBody>
      </p:sp>
      <p:sp>
        <p:nvSpPr>
          <p:cNvPr id="41" name="TextBox 40"/>
          <p:cNvSpPr txBox="1"/>
          <p:nvPr/>
        </p:nvSpPr>
        <p:spPr>
          <a:xfrm>
            <a:off x="1764792" y="5349240"/>
            <a:ext cx="3973068" cy="731520"/>
          </a:xfrm>
          <a:prstGeom prst="rect">
            <a:avLst/>
          </a:prstGeom>
          <a:noFill/>
        </p:spPr>
        <p:txBody>
          <a:bodyPr wrap="square" anchor="ctr">
            <a:spAutoFit/>
          </a:bodyPr>
          <a:lstStyle/>
          <a:p>
            <a:pPr algn="l">
              <a:spcAft>
                <a:spcPts val="300"/>
              </a:spcAft>
            </a:pPr>
            <a:r>
              <a:rPr sz="1450" b="1">
                <a:solidFill>
                  <a:srgbClr val="161B26"/>
                </a:solidFill>
                <a:latin typeface="Arial"/>
              </a:rPr>
              <a:t>LO7 · Synthesis</a:t>
            </a:r>
          </a:p>
          <a:p>
            <a:pPr algn="l">
              <a:spcAft>
                <a:spcPts val="300"/>
              </a:spcAft>
            </a:pPr>
            <a:r>
              <a:rPr sz="1100" b="0">
                <a:solidFill>
                  <a:srgbClr val="5B6372"/>
                </a:solidFill>
                <a:latin typeface="Arial"/>
              </a:rPr>
              <a:t>Synthesize quantum methodologies to address complex quantum computing problems.</a:t>
            </a:r>
          </a:p>
        </p:txBody>
      </p:sp>
      <p:sp>
        <p:nvSpPr>
          <p:cNvPr id="42" name="TextBox 4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43" name="TextBox 4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4" name="TextBox 4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SCHEDULE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Lesson Plan — 4 Days, 8 hours/day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Days 1–2</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Days 3–4</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a:solidFill>
                  <a:srgbClr val="161B26"/>
                </a:solidFill>
                <a:latin typeface="Arial"/>
              </a:rPr>
              <a:t>•  Day 1 — Quantum Physics Fundamentals &amp; Quantum Computing Systems</a:t>
            </a:r>
          </a:p>
          <a:p>
            <a:pPr>
              <a:spcAft>
                <a:spcPts val="1000"/>
              </a:spcAft>
            </a:pPr>
            <a:r>
              <a:rPr sz="1400">
                <a:solidFill>
                  <a:srgbClr val="5B6372"/>
                </a:solidFill>
                <a:latin typeface="Arial"/>
              </a:rPr>
              <a:t>–  Topic 1: Quantum Physics Fundamentals (Activity 1)</a:t>
            </a:r>
          </a:p>
          <a:p>
            <a:pPr>
              <a:spcAft>
                <a:spcPts val="1000"/>
              </a:spcAft>
            </a:pPr>
            <a:r>
              <a:rPr sz="1400">
                <a:solidFill>
                  <a:srgbClr val="5B6372"/>
                </a:solidFill>
                <a:latin typeface="Arial"/>
              </a:rPr>
              <a:t>–  Topic 2: Quantum Computing Systems (Activities 2–3)</a:t>
            </a:r>
          </a:p>
          <a:p>
            <a:pPr>
              <a:spcAft>
                <a:spcPts val="1000"/>
              </a:spcAft>
            </a:pPr>
            <a:r>
              <a:rPr sz="1600">
                <a:solidFill>
                  <a:srgbClr val="161B26"/>
                </a:solidFill>
                <a:latin typeface="Arial"/>
              </a:rPr>
              <a:t>•  Day 2 — Quantum Gates, Circuits and Quantum Protocols</a:t>
            </a:r>
          </a:p>
          <a:p>
            <a:pPr>
              <a:spcAft>
                <a:spcPts val="1000"/>
              </a:spcAft>
            </a:pPr>
            <a:r>
              <a:rPr sz="1400">
                <a:solidFill>
                  <a:srgbClr val="5B6372"/>
                </a:solidFill>
                <a:latin typeface="Arial"/>
              </a:rPr>
              <a:t>–  Topic 3: Quantum Gates and Circuits (Activities 4–5)</a:t>
            </a:r>
          </a:p>
          <a:p>
            <a:pPr>
              <a:spcAft>
                <a:spcPts val="1000"/>
              </a:spcAft>
            </a:pPr>
            <a:r>
              <a:rPr sz="1400">
                <a:solidFill>
                  <a:srgbClr val="5B6372"/>
                </a:solidFill>
                <a:latin typeface="Arial"/>
              </a:rPr>
              <a:t>–  Topic 4: Quantum Protocols (Activities 6–8)</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a:solidFill>
                  <a:srgbClr val="161B26"/>
                </a:solidFill>
                <a:latin typeface="Arial"/>
              </a:rPr>
              <a:t>•  Day 3 — Quantum Algorithms and Quantum Cryptography</a:t>
            </a:r>
          </a:p>
          <a:p>
            <a:pPr>
              <a:spcAft>
                <a:spcPts val="1000"/>
              </a:spcAft>
            </a:pPr>
            <a:r>
              <a:rPr sz="1400">
                <a:solidFill>
                  <a:srgbClr val="5B6372"/>
                </a:solidFill>
                <a:latin typeface="Arial"/>
              </a:rPr>
              <a:t>–  Topic 5: Quantum Algorithms (Activities 9–12)</a:t>
            </a:r>
          </a:p>
          <a:p>
            <a:pPr>
              <a:spcAft>
                <a:spcPts val="1000"/>
              </a:spcAft>
            </a:pPr>
            <a:r>
              <a:rPr sz="1400">
                <a:solidFill>
                  <a:srgbClr val="5B6372"/>
                </a:solidFill>
                <a:latin typeface="Arial"/>
              </a:rPr>
              <a:t>–  Topic 6: Quantum Cryptography &amp; Safety (Activities 13–14)</a:t>
            </a:r>
          </a:p>
          <a:p>
            <a:pPr>
              <a:spcAft>
                <a:spcPts val="1000"/>
              </a:spcAft>
            </a:pPr>
            <a:r>
              <a:rPr sz="1600">
                <a:solidFill>
                  <a:srgbClr val="161B26"/>
                </a:solidFill>
                <a:latin typeface="Arial"/>
              </a:rPr>
              <a:t>•  Day 4 — Applications, Error Correction and Assessment</a:t>
            </a:r>
          </a:p>
          <a:p>
            <a:pPr>
              <a:spcAft>
                <a:spcPts val="1000"/>
              </a:spcAft>
            </a:pPr>
            <a:r>
              <a:rPr sz="1400">
                <a:solidFill>
                  <a:srgbClr val="5B6372"/>
                </a:solidFill>
                <a:latin typeface="Arial"/>
              </a:rPr>
              <a:t>–  Topic 7: Applications (Activities 15–16)</a:t>
            </a:r>
          </a:p>
          <a:p>
            <a:pPr>
              <a:spcAft>
                <a:spcPts val="1000"/>
              </a:spcAft>
            </a:pPr>
            <a:r>
              <a:rPr sz="1400">
                <a:solidFill>
                  <a:srgbClr val="5B6372"/>
                </a:solidFill>
                <a:latin typeface="Arial"/>
              </a:rPr>
              <a:t>–  Topic 8: Quantum Error Correction (Activities 17–18)</a:t>
            </a:r>
          </a:p>
          <a:p>
            <a:pPr>
              <a:spcAft>
                <a:spcPts val="1000"/>
              </a:spcAft>
            </a:pPr>
            <a:r>
              <a:rPr sz="1400">
                <a:solidFill>
                  <a:srgbClr val="5B6372"/>
                </a:solidFill>
                <a:latin typeface="Arial"/>
              </a:rPr>
              <a:t>–  Final Assessment: WA (1 hr) + PP (1 hr)</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BEFORE YOU BEGIN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Briefing for Assessment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Phones away</a:t>
            </a:r>
          </a:p>
          <a:p>
            <a:pPr algn="l">
              <a:spcAft>
                <a:spcPts val="300"/>
              </a:spcAft>
            </a:pPr>
            <a:r>
              <a:rPr sz="1150" b="0">
                <a:solidFill>
                  <a:srgbClr val="5B6372"/>
                </a:solidFill>
                <a:latin typeface="Arial"/>
              </a:rPr>
              <a:t>Place phones and other materials under the table or on the floor.</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No recording</a:t>
            </a:r>
          </a:p>
          <a:p>
            <a:pPr algn="l">
              <a:spcAft>
                <a:spcPts val="300"/>
              </a:spcAft>
            </a:pPr>
            <a:r>
              <a:rPr sz="1150" b="0">
                <a:solidFill>
                  <a:srgbClr val="5B6372"/>
                </a:solidFill>
                <a:latin typeface="Arial"/>
              </a:rPr>
              <a:t>No photos or recording of assessment scripts.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342900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No discussion</a:t>
            </a:r>
          </a:p>
          <a:p>
            <a:pPr algn="l">
              <a:spcAft>
                <a:spcPts val="300"/>
              </a:spcAft>
            </a:pPr>
            <a:r>
              <a:rPr sz="1150" b="0">
                <a:solidFill>
                  <a:srgbClr val="5B6372"/>
                </a:solidFill>
                <a:latin typeface="Arial"/>
              </a:rPr>
              <a:t>Work individually — no discussion during the assessment.</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342900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Black or blue pen</a:t>
            </a:r>
          </a:p>
          <a:p>
            <a:pPr algn="l">
              <a:spcAft>
                <a:spcPts val="300"/>
              </a:spcAft>
            </a:pPr>
            <a:r>
              <a:rPr sz="1150" b="0">
                <a:solidFill>
                  <a:srgbClr val="5B6372"/>
                </a:solidFill>
                <a:latin typeface="Arial"/>
              </a:rPr>
              <a:t>Use a black/blue pen for hard-copy assessments.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5</a:t>
            </a:r>
          </a:p>
        </p:txBody>
      </p:sp>
      <p:sp>
        <p:nvSpPr>
          <p:cNvPr id="31" name="TextBox 30"/>
          <p:cNvSpPr txBox="1"/>
          <p:nvPr/>
        </p:nvSpPr>
        <p:spPr>
          <a:xfrm>
            <a:off x="1764792" y="4965192"/>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No correction fluid</a:t>
            </a:r>
          </a:p>
          <a:p>
            <a:pPr algn="l">
              <a:spcAft>
                <a:spcPts val="300"/>
              </a:spcAft>
            </a:pPr>
            <a:r>
              <a:rPr sz="1150" b="0">
                <a:solidFill>
                  <a:srgbClr val="5B6372"/>
                </a:solidFill>
                <a:latin typeface="Arial"/>
              </a:rPr>
              <a:t>No liquid paper or correction tape on any script.</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6</a:t>
            </a:r>
          </a:p>
        </p:txBody>
      </p:sp>
      <p:sp>
        <p:nvSpPr>
          <p:cNvPr id="36" name="TextBox 35"/>
          <p:cNvSpPr txBox="1"/>
          <p:nvPr/>
        </p:nvSpPr>
        <p:spPr>
          <a:xfrm>
            <a:off x="7219188" y="4965192"/>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Time is called</a:t>
            </a:r>
          </a:p>
          <a:p>
            <a:pPr algn="l">
              <a:spcAft>
                <a:spcPts val="300"/>
              </a:spcAft>
            </a:pPr>
            <a:r>
              <a:rPr sz="1150" b="0">
                <a:solidFill>
                  <a:srgbClr val="5B6372"/>
                </a:solidFill>
                <a:latin typeface="Arial"/>
              </a:rPr>
              <a:t>Scripts are collected when the time is up.</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FINAL ASSESSMENT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Assessment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056632"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5056632"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2011680"/>
            <a:ext cx="4572000" cy="457200"/>
          </a:xfrm>
          <a:prstGeom prst="rect">
            <a:avLst/>
          </a:prstGeom>
          <a:noFill/>
        </p:spPr>
        <p:txBody>
          <a:bodyPr wrap="square" anchor="t">
            <a:spAutoFit/>
          </a:bodyPr>
          <a:lstStyle/>
          <a:p>
            <a:pPr algn="l">
              <a:spcAft>
                <a:spcPts val="400"/>
              </a:spcAft>
            </a:pPr>
            <a:r>
              <a:rPr sz="1900" b="1">
                <a:solidFill>
                  <a:srgbClr val="1F6FEB"/>
                </a:solidFill>
                <a:latin typeface="Arial"/>
              </a:rPr>
              <a:t>Written Assessment (WA)</a:t>
            </a:r>
          </a:p>
        </p:txBody>
      </p:sp>
      <p:sp>
        <p:nvSpPr>
          <p:cNvPr id="10" name="TextBox 9"/>
          <p:cNvSpPr txBox="1"/>
          <p:nvPr/>
        </p:nvSpPr>
        <p:spPr>
          <a:xfrm>
            <a:off x="1051560" y="2606040"/>
            <a:ext cx="4572000" cy="1920240"/>
          </a:xfrm>
          <a:prstGeom prst="rect">
            <a:avLst/>
          </a:prstGeom>
          <a:noFill/>
        </p:spPr>
        <p:txBody>
          <a:bodyPr wrap="square">
            <a:spAutoFit/>
          </a:bodyPr>
          <a:lstStyle/>
          <a:p>
            <a:pPr>
              <a:spcAft>
                <a:spcPts val="800"/>
              </a:spcAft>
            </a:pPr>
            <a:r>
              <a:rPr sz="1400">
                <a:solidFill>
                  <a:srgbClr val="161B26"/>
                </a:solidFill>
                <a:latin typeface="Arial"/>
              </a:rPr>
              <a:t>•  Short-Answer Questions (SAQ)</a:t>
            </a:r>
          </a:p>
          <a:p>
            <a:pPr>
              <a:spcAft>
                <a:spcPts val="800"/>
              </a:spcAft>
            </a:pPr>
            <a:r>
              <a:rPr sz="1400">
                <a:solidFill>
                  <a:srgbClr val="161B26"/>
                </a:solidFill>
                <a:latin typeface="Arial"/>
              </a:rPr>
              <a:t>•  1 hour · open book</a:t>
            </a:r>
          </a:p>
          <a:p>
            <a:pPr>
              <a:spcAft>
                <a:spcPts val="800"/>
              </a:spcAft>
            </a:pPr>
            <a:r>
              <a:rPr sz="1400">
                <a:solidFill>
                  <a:srgbClr val="161B26"/>
                </a:solidFill>
                <a:latin typeface="Arial"/>
              </a:rPr>
              <a:t>•  Tests underpinning KNOWLEDGE</a:t>
            </a:r>
          </a:p>
          <a:p>
            <a:pPr>
              <a:spcAft>
                <a:spcPts val="800"/>
              </a:spcAft>
            </a:pPr>
            <a:r>
              <a:rPr sz="1400">
                <a:solidFill>
                  <a:srgbClr val="161B26"/>
                </a:solidFill>
                <a:latin typeface="Arial"/>
              </a:rPr>
              <a:t>•  Covers all eight topics</a:t>
            </a:r>
          </a:p>
        </p:txBody>
      </p:sp>
      <p:sp>
        <p:nvSpPr>
          <p:cNvPr id="11" name="Rectangle 10"/>
          <p:cNvSpPr/>
          <p:nvPr/>
        </p:nvSpPr>
        <p:spPr>
          <a:xfrm>
            <a:off x="6355080" y="1783080"/>
            <a:ext cx="5056632"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55080" y="1783080"/>
            <a:ext cx="5056632"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29400" y="2011680"/>
            <a:ext cx="4572000" cy="457200"/>
          </a:xfrm>
          <a:prstGeom prst="rect">
            <a:avLst/>
          </a:prstGeom>
          <a:noFill/>
        </p:spPr>
        <p:txBody>
          <a:bodyPr wrap="square" anchor="t">
            <a:spAutoFit/>
          </a:bodyPr>
          <a:lstStyle/>
          <a:p>
            <a:pPr algn="l">
              <a:spcAft>
                <a:spcPts val="400"/>
              </a:spcAft>
            </a:pPr>
            <a:r>
              <a:rPr sz="1900" b="1">
                <a:solidFill>
                  <a:srgbClr val="10B981"/>
                </a:solidFill>
                <a:latin typeface="Arial"/>
              </a:rPr>
              <a:t>Practical Performance (PP)</a:t>
            </a:r>
          </a:p>
        </p:txBody>
      </p:sp>
      <p:sp>
        <p:nvSpPr>
          <p:cNvPr id="14" name="TextBox 13"/>
          <p:cNvSpPr txBox="1"/>
          <p:nvPr/>
        </p:nvSpPr>
        <p:spPr>
          <a:xfrm>
            <a:off x="6629400" y="2606040"/>
            <a:ext cx="4572000" cy="1920240"/>
          </a:xfrm>
          <a:prstGeom prst="rect">
            <a:avLst/>
          </a:prstGeom>
          <a:noFill/>
        </p:spPr>
        <p:txBody>
          <a:bodyPr wrap="square">
            <a:spAutoFit/>
          </a:bodyPr>
          <a:lstStyle/>
          <a:p>
            <a:pPr>
              <a:spcAft>
                <a:spcPts val="800"/>
              </a:spcAft>
            </a:pPr>
            <a:r>
              <a:rPr sz="1400">
                <a:solidFill>
                  <a:srgbClr val="161B26"/>
                </a:solidFill>
                <a:latin typeface="Arial"/>
              </a:rPr>
              <a:t>•  Hands-on quantum tasks</a:t>
            </a:r>
          </a:p>
          <a:p>
            <a:pPr>
              <a:spcAft>
                <a:spcPts val="800"/>
              </a:spcAft>
            </a:pPr>
            <a:r>
              <a:rPr sz="1400">
                <a:solidFill>
                  <a:srgbClr val="161B26"/>
                </a:solidFill>
                <a:latin typeface="Arial"/>
              </a:rPr>
              <a:t>•  1 hour · open book</a:t>
            </a:r>
          </a:p>
          <a:p>
            <a:pPr>
              <a:spcAft>
                <a:spcPts val="800"/>
              </a:spcAft>
            </a:pPr>
            <a:r>
              <a:rPr sz="1400">
                <a:solidFill>
                  <a:srgbClr val="161B26"/>
                </a:solidFill>
                <a:latin typeface="Arial"/>
              </a:rPr>
              <a:t>•  Tests PRACTICAL ability</a:t>
            </a:r>
          </a:p>
          <a:p>
            <a:pPr>
              <a:spcAft>
                <a:spcPts val="800"/>
              </a:spcAft>
            </a:pPr>
            <a:r>
              <a:rPr sz="1400">
                <a:solidFill>
                  <a:srgbClr val="161B26"/>
                </a:solidFill>
                <a:latin typeface="Arial"/>
              </a:rPr>
              <a:t>•  Built on the class activities</a:t>
            </a:r>
          </a:p>
        </p:txBody>
      </p:sp>
      <p:sp>
        <p:nvSpPr>
          <p:cNvPr id="15" name="Rectangle 14"/>
          <p:cNvSpPr/>
          <p:nvPr/>
        </p:nvSpPr>
        <p:spPr>
          <a:xfrm>
            <a:off x="777240" y="4892040"/>
            <a:ext cx="10634472" cy="566928"/>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4892040"/>
            <a:ext cx="10058400" cy="566928"/>
          </a:xfrm>
          <a:prstGeom prst="rect">
            <a:avLst/>
          </a:prstGeom>
          <a:noFill/>
        </p:spPr>
        <p:txBody>
          <a:bodyPr wrap="square" anchor="ctr">
            <a:spAutoFit/>
          </a:bodyPr>
          <a:lstStyle/>
          <a:p>
            <a:pPr algn="l">
              <a:spcAft>
                <a:spcPts val="400"/>
              </a:spcAft>
            </a:pPr>
            <a:r>
              <a:rPr sz="1350" b="1">
                <a:solidFill>
                  <a:srgbClr val="127A3E"/>
                </a:solidFill>
                <a:latin typeface="Arial"/>
              </a:rPr>
              <a:t>OPEN BOOK — course slides, Learner Guide and approved materials only</a:t>
            </a:r>
          </a:p>
        </p:txBody>
      </p:sp>
      <p:sp>
        <p:nvSpPr>
          <p:cNvPr id="17" name="Rectangle 16"/>
          <p:cNvSpPr/>
          <p:nvPr/>
        </p:nvSpPr>
        <p:spPr>
          <a:xfrm>
            <a:off x="777240" y="5596128"/>
            <a:ext cx="10634472"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51560" y="5596128"/>
            <a:ext cx="10058400" cy="566928"/>
          </a:xfrm>
          <a:prstGeom prst="rect">
            <a:avLst/>
          </a:prstGeom>
          <a:noFill/>
        </p:spPr>
        <p:txBody>
          <a:bodyPr wrap="square" anchor="ctr">
            <a:spAutoFit/>
          </a:bodyPr>
          <a:lstStyle/>
          <a:p>
            <a:pPr algn="l">
              <a:spcAft>
                <a:spcPts val="400"/>
              </a:spcAft>
            </a:pPr>
            <a:r>
              <a:rPr sz="1300" b="1">
                <a:solidFill>
                  <a:srgbClr val="1F6FEB"/>
                </a:solidFill>
                <a:latin typeface="Arial"/>
              </a:rPr>
              <a:t>Eligibility:  </a:t>
            </a:r>
            <a:r>
              <a:rPr sz="1300" b="0">
                <a:solidFill>
                  <a:srgbClr val="161B26"/>
                </a:solidFill>
                <a:latin typeface="Arial"/>
              </a:rPr>
              <a:t>minimum 75% attendance + assessed Competent.  An appeal process is available.</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ON ASSESSMENT DAY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Assessment Flow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assessment-flow.png"/>
          <p:cNvPicPr>
            <a:picLocks noChangeAspect="1"/>
          </p:cNvPicPr>
          <p:nvPr/>
        </p:nvPicPr>
        <p:blipFill>
          <a:blip r:embed="rId2"/>
          <a:stretch>
            <a:fillRect/>
          </a:stretch>
        </p:blipFill>
        <p:spPr>
          <a:xfrm>
            <a:off x="1292550" y="1755648"/>
            <a:ext cx="9603851" cy="3950208"/>
          </a:xfrm>
          <a:prstGeom prst="rect">
            <a:avLst/>
          </a:prstGeom>
        </p:spPr>
      </p:pic>
      <p:sp>
        <p:nvSpPr>
          <p:cNvPr id="8" name="Rectangle 7"/>
          <p:cNvSpPr/>
          <p:nvPr/>
        </p:nvSpPr>
        <p:spPr>
          <a:xfrm>
            <a:off x="777240" y="5870448"/>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5870448"/>
            <a:ext cx="10241280" cy="457200"/>
          </a:xfrm>
          <a:prstGeom prst="rect">
            <a:avLst/>
          </a:prstGeom>
          <a:noFill/>
        </p:spPr>
        <p:txBody>
          <a:bodyPr wrap="square" anchor="ctr">
            <a:spAutoFit/>
          </a:bodyPr>
          <a:lstStyle/>
          <a:p>
            <a:pPr algn="ctr">
              <a:spcAft>
                <a:spcPts val="400"/>
              </a:spcAft>
            </a:pPr>
            <a:r>
              <a:rPr sz="1350" b="0">
                <a:solidFill>
                  <a:srgbClr val="161B26"/>
                </a:solidFill>
                <a:latin typeface="Arial"/>
              </a:rPr>
              <a:t>Complete every step in order — the TRAQOM survey and digital attendance are mandatory for funding.</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GETTING STARTED</a:t>
            </a:r>
          </a:p>
        </p:txBody>
      </p:sp>
      <p:sp>
        <p:nvSpPr>
          <p:cNvPr id="6" name="TextBox 5"/>
          <p:cNvSpPr txBox="1"/>
          <p:nvPr/>
        </p:nvSpPr>
        <p:spPr>
          <a:xfrm>
            <a:off x="1143000" y="2743200"/>
            <a:ext cx="9509760" cy="1463040"/>
          </a:xfrm>
          <a:prstGeom prst="rect">
            <a:avLst/>
          </a:prstGeom>
          <a:noFill/>
        </p:spPr>
        <p:txBody>
          <a:bodyPr wrap="square" anchor="t">
            <a:spAutoFit/>
          </a:bodyPr>
          <a:lstStyle/>
          <a:p>
            <a:pPr algn="l">
              <a:spcAft>
                <a:spcPts val="400"/>
              </a:spcAft>
            </a:pPr>
            <a:r>
              <a:rPr sz="4000" b="1">
                <a:solidFill>
                  <a:srgbClr val="161B26"/>
                </a:solidFill>
                <a:latin typeface="Arial"/>
              </a:rPr>
              <a:t>Why Quantum, Why Now</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THE CORE IDEA</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What Makes a Qubit Different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bit-vs-qubit.png"/>
          <p:cNvPicPr>
            <a:picLocks noChangeAspect="1"/>
          </p:cNvPicPr>
          <p:nvPr/>
        </p:nvPicPr>
        <p:blipFill>
          <a:blip r:embed="rId2"/>
          <a:stretch>
            <a:fillRect/>
          </a:stretch>
        </p:blipFill>
        <p:spPr>
          <a:xfrm>
            <a:off x="777240" y="2379971"/>
            <a:ext cx="6400800" cy="3012457"/>
          </a:xfrm>
          <a:prstGeom prst="rect">
            <a:avLst/>
          </a:prstGeom>
        </p:spPr>
      </p:pic>
      <p:sp>
        <p:nvSpPr>
          <p:cNvPr id="8" name="Rectangle 7"/>
          <p:cNvSpPr/>
          <p:nvPr/>
        </p:nvSpPr>
        <p:spPr>
          <a:xfrm>
            <a:off x="7452360" y="1783080"/>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452360" y="1783080"/>
            <a:ext cx="82296" cy="9372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08392" y="1783080"/>
            <a:ext cx="3502152" cy="937260"/>
          </a:xfrm>
          <a:prstGeom prst="rect">
            <a:avLst/>
          </a:prstGeom>
          <a:noFill/>
        </p:spPr>
        <p:txBody>
          <a:bodyPr wrap="square" anchor="ctr">
            <a:spAutoFit/>
          </a:bodyPr>
          <a:lstStyle/>
          <a:p>
            <a:pPr algn="l">
              <a:spcAft>
                <a:spcPts val="300"/>
              </a:spcAft>
            </a:pPr>
            <a:r>
              <a:rPr sz="1400" b="1">
                <a:solidFill>
                  <a:srgbClr val="1F6FEB"/>
                </a:solidFill>
                <a:latin typeface="Arial"/>
              </a:rPr>
              <a:t>Classical bit</a:t>
            </a:r>
          </a:p>
          <a:p>
            <a:pPr algn="l">
              <a:spcAft>
                <a:spcPts val="300"/>
              </a:spcAft>
            </a:pPr>
            <a:r>
              <a:rPr sz="1200" b="0">
                <a:solidFill>
                  <a:srgbClr val="161B26"/>
                </a:solidFill>
                <a:latin typeface="Arial"/>
              </a:rPr>
              <a:t>Holds exactly one value — 0 or 1 — at any instant.</a:t>
            </a:r>
          </a:p>
        </p:txBody>
      </p:sp>
      <p:sp>
        <p:nvSpPr>
          <p:cNvPr id="11" name="Rectangle 10"/>
          <p:cNvSpPr/>
          <p:nvPr/>
        </p:nvSpPr>
        <p:spPr>
          <a:xfrm>
            <a:off x="7452360" y="2903220"/>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452360" y="2903220"/>
            <a:ext cx="82296" cy="9372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08392" y="2903220"/>
            <a:ext cx="3502152" cy="937260"/>
          </a:xfrm>
          <a:prstGeom prst="rect">
            <a:avLst/>
          </a:prstGeom>
          <a:noFill/>
        </p:spPr>
        <p:txBody>
          <a:bodyPr wrap="square" anchor="ctr">
            <a:spAutoFit/>
          </a:bodyPr>
          <a:lstStyle/>
          <a:p>
            <a:pPr algn="l">
              <a:spcAft>
                <a:spcPts val="300"/>
              </a:spcAft>
            </a:pPr>
            <a:r>
              <a:rPr sz="1400" b="1">
                <a:solidFill>
                  <a:srgbClr val="10B981"/>
                </a:solidFill>
                <a:latin typeface="Arial"/>
              </a:rPr>
              <a:t>Qubit</a:t>
            </a:r>
          </a:p>
          <a:p>
            <a:pPr algn="l">
              <a:spcAft>
                <a:spcPts val="300"/>
              </a:spcAft>
            </a:pPr>
            <a:r>
              <a:rPr sz="1200" b="0">
                <a:solidFill>
                  <a:srgbClr val="161B26"/>
                </a:solidFill>
                <a:latin typeface="Arial"/>
              </a:rPr>
              <a:t>Holds a superposition of both, described by two complex amplitudes.</a:t>
            </a:r>
          </a:p>
        </p:txBody>
      </p:sp>
      <p:sp>
        <p:nvSpPr>
          <p:cNvPr id="14" name="Rectangle 13"/>
          <p:cNvSpPr/>
          <p:nvPr/>
        </p:nvSpPr>
        <p:spPr>
          <a:xfrm>
            <a:off x="7452360" y="4023360"/>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452360" y="4023360"/>
            <a:ext cx="82296" cy="9372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08392" y="4023360"/>
            <a:ext cx="3502152" cy="937260"/>
          </a:xfrm>
          <a:prstGeom prst="rect">
            <a:avLst/>
          </a:prstGeom>
          <a:noFill/>
        </p:spPr>
        <p:txBody>
          <a:bodyPr wrap="square" anchor="ctr">
            <a:spAutoFit/>
          </a:bodyPr>
          <a:lstStyle/>
          <a:p>
            <a:pPr algn="l">
              <a:spcAft>
                <a:spcPts val="300"/>
              </a:spcAft>
            </a:pPr>
            <a:r>
              <a:rPr sz="1400" b="1">
                <a:solidFill>
                  <a:srgbClr val="7C3AED"/>
                </a:solidFill>
                <a:latin typeface="Arial"/>
              </a:rPr>
              <a:t>Measurement</a:t>
            </a:r>
          </a:p>
          <a:p>
            <a:pPr algn="l">
              <a:spcAft>
                <a:spcPts val="300"/>
              </a:spcAft>
            </a:pPr>
            <a:r>
              <a:rPr sz="1200" b="0">
                <a:solidFill>
                  <a:srgbClr val="161B26"/>
                </a:solidFill>
                <a:latin typeface="Arial"/>
              </a:rPr>
              <a:t>Collapses the superposition to a single classical outcome.</a:t>
            </a:r>
          </a:p>
        </p:txBody>
      </p:sp>
      <p:sp>
        <p:nvSpPr>
          <p:cNvPr id="17" name="Rectangle 16"/>
          <p:cNvSpPr/>
          <p:nvPr/>
        </p:nvSpPr>
        <p:spPr>
          <a:xfrm>
            <a:off x="7452360" y="5143500"/>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452360" y="5143500"/>
            <a:ext cx="82296" cy="9372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08392" y="5143500"/>
            <a:ext cx="3502152" cy="937260"/>
          </a:xfrm>
          <a:prstGeom prst="rect">
            <a:avLst/>
          </a:prstGeom>
          <a:noFill/>
        </p:spPr>
        <p:txBody>
          <a:bodyPr wrap="square" anchor="ctr">
            <a:spAutoFit/>
          </a:bodyPr>
          <a:lstStyle/>
          <a:p>
            <a:pPr algn="l">
              <a:spcAft>
                <a:spcPts val="300"/>
              </a:spcAft>
            </a:pPr>
            <a:r>
              <a:rPr sz="1400" b="1">
                <a:solidFill>
                  <a:srgbClr val="F59E0B"/>
                </a:solidFill>
                <a:latin typeface="Arial"/>
              </a:rPr>
              <a:t>The payoff</a:t>
            </a:r>
          </a:p>
          <a:p>
            <a:pPr algn="l">
              <a:spcAft>
                <a:spcPts val="300"/>
              </a:spcAft>
            </a:pPr>
            <a:r>
              <a:rPr sz="1200" b="0">
                <a:solidFill>
                  <a:srgbClr val="161B26"/>
                </a:solidFill>
                <a:latin typeface="Arial"/>
              </a:rPr>
              <a:t>n qubits carry 2ⁿ amplitudes at once — quantum parallelism.</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WHY IT MATTERS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The State Space Explosion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tate-space-growth.png"/>
          <p:cNvPicPr>
            <a:picLocks noChangeAspect="1"/>
          </p:cNvPicPr>
          <p:nvPr/>
        </p:nvPicPr>
        <p:blipFill>
          <a:blip r:embed="rId2"/>
          <a:stretch>
            <a:fillRect/>
          </a:stretch>
        </p:blipFill>
        <p:spPr>
          <a:xfrm>
            <a:off x="777240" y="2237723"/>
            <a:ext cx="6400800" cy="3296953"/>
          </a:xfrm>
          <a:prstGeom prst="rect">
            <a:avLst/>
          </a:prstGeom>
        </p:spPr>
      </p:pic>
      <p:sp>
        <p:nvSpPr>
          <p:cNvPr id="8" name="Rectangle 7"/>
          <p:cNvSpPr/>
          <p:nvPr/>
        </p:nvSpPr>
        <p:spPr>
          <a:xfrm>
            <a:off x="7452360" y="1783080"/>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452360" y="1783080"/>
            <a:ext cx="82296" cy="9372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08392" y="1783080"/>
            <a:ext cx="3502152" cy="937260"/>
          </a:xfrm>
          <a:prstGeom prst="rect">
            <a:avLst/>
          </a:prstGeom>
          <a:noFill/>
        </p:spPr>
        <p:txBody>
          <a:bodyPr wrap="square" anchor="ctr">
            <a:spAutoFit/>
          </a:bodyPr>
          <a:lstStyle/>
          <a:p>
            <a:pPr algn="l">
              <a:spcAft>
                <a:spcPts val="300"/>
              </a:spcAft>
            </a:pPr>
            <a:r>
              <a:rPr sz="1400" b="1">
                <a:solidFill>
                  <a:srgbClr val="1F6FEB"/>
                </a:solidFill>
                <a:latin typeface="Arial"/>
              </a:rPr>
              <a:t>50 qubits</a:t>
            </a:r>
          </a:p>
          <a:p>
            <a:pPr algn="l">
              <a:spcAft>
                <a:spcPts val="300"/>
              </a:spcAft>
            </a:pPr>
            <a:r>
              <a:rPr sz="1200" b="0">
                <a:solidFill>
                  <a:srgbClr val="161B26"/>
                </a:solidFill>
                <a:latin typeface="Arial"/>
              </a:rPr>
              <a:t>~10¹⁵ amplitudes — beyond any classical supercomputer's memory.</a:t>
            </a:r>
          </a:p>
        </p:txBody>
      </p:sp>
      <p:sp>
        <p:nvSpPr>
          <p:cNvPr id="11" name="Rectangle 10"/>
          <p:cNvSpPr/>
          <p:nvPr/>
        </p:nvSpPr>
        <p:spPr>
          <a:xfrm>
            <a:off x="7452360" y="2903220"/>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452360" y="2903220"/>
            <a:ext cx="82296" cy="9372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08392" y="2903220"/>
            <a:ext cx="3502152" cy="937260"/>
          </a:xfrm>
          <a:prstGeom prst="rect">
            <a:avLst/>
          </a:prstGeom>
          <a:noFill/>
        </p:spPr>
        <p:txBody>
          <a:bodyPr wrap="square" anchor="ctr">
            <a:spAutoFit/>
          </a:bodyPr>
          <a:lstStyle/>
          <a:p>
            <a:pPr algn="l">
              <a:spcAft>
                <a:spcPts val="300"/>
              </a:spcAft>
            </a:pPr>
            <a:r>
              <a:rPr sz="1400" b="1">
                <a:solidFill>
                  <a:srgbClr val="10B981"/>
                </a:solidFill>
                <a:latin typeface="Arial"/>
              </a:rPr>
              <a:t>300 qubits</a:t>
            </a:r>
          </a:p>
          <a:p>
            <a:pPr algn="l">
              <a:spcAft>
                <a:spcPts val="300"/>
              </a:spcAft>
            </a:pPr>
            <a:r>
              <a:rPr sz="1200" b="0">
                <a:solidFill>
                  <a:srgbClr val="161B26"/>
                </a:solidFill>
                <a:latin typeface="Arial"/>
              </a:rPr>
              <a:t>More amplitudes than atoms in the observable universe.</a:t>
            </a:r>
          </a:p>
        </p:txBody>
      </p:sp>
      <p:sp>
        <p:nvSpPr>
          <p:cNvPr id="14" name="Rectangle 13"/>
          <p:cNvSpPr/>
          <p:nvPr/>
        </p:nvSpPr>
        <p:spPr>
          <a:xfrm>
            <a:off x="7452360" y="4023360"/>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452360" y="4023360"/>
            <a:ext cx="82296" cy="9372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08392" y="4023360"/>
            <a:ext cx="3502152" cy="937260"/>
          </a:xfrm>
          <a:prstGeom prst="rect">
            <a:avLst/>
          </a:prstGeom>
          <a:noFill/>
        </p:spPr>
        <p:txBody>
          <a:bodyPr wrap="square" anchor="ctr">
            <a:spAutoFit/>
          </a:bodyPr>
          <a:lstStyle/>
          <a:p>
            <a:pPr algn="l">
              <a:spcAft>
                <a:spcPts val="300"/>
              </a:spcAft>
            </a:pPr>
            <a:r>
              <a:rPr sz="1400" b="1">
                <a:solidFill>
                  <a:srgbClr val="7C3AED"/>
                </a:solidFill>
                <a:latin typeface="Arial"/>
              </a:rPr>
              <a:t>But</a:t>
            </a:r>
          </a:p>
          <a:p>
            <a:pPr algn="l">
              <a:spcAft>
                <a:spcPts val="300"/>
              </a:spcAft>
            </a:pPr>
            <a:r>
              <a:rPr sz="1200" b="0">
                <a:solidFill>
                  <a:srgbClr val="161B26"/>
                </a:solidFill>
                <a:latin typeface="Arial"/>
              </a:rPr>
              <a:t>You only ever read out n classical bits — algorithms must be clever.</a:t>
            </a:r>
          </a:p>
        </p:txBody>
      </p:sp>
      <p:sp>
        <p:nvSpPr>
          <p:cNvPr id="17" name="Rectangle 16"/>
          <p:cNvSpPr/>
          <p:nvPr/>
        </p:nvSpPr>
        <p:spPr>
          <a:xfrm>
            <a:off x="7452360" y="5143500"/>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452360" y="5143500"/>
            <a:ext cx="82296" cy="9372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08392" y="5143500"/>
            <a:ext cx="3502152" cy="937260"/>
          </a:xfrm>
          <a:prstGeom prst="rect">
            <a:avLst/>
          </a:prstGeom>
          <a:noFill/>
        </p:spPr>
        <p:txBody>
          <a:bodyPr wrap="square" anchor="ctr">
            <a:spAutoFit/>
          </a:bodyPr>
          <a:lstStyle/>
          <a:p>
            <a:pPr algn="l">
              <a:spcAft>
                <a:spcPts val="300"/>
              </a:spcAft>
            </a:pPr>
            <a:r>
              <a:rPr sz="1400" b="1">
                <a:solidFill>
                  <a:srgbClr val="F59E0B"/>
                </a:solidFill>
                <a:latin typeface="Arial"/>
              </a:rPr>
              <a:t>So</a:t>
            </a:r>
          </a:p>
          <a:p>
            <a:pPr algn="l">
              <a:spcAft>
                <a:spcPts val="300"/>
              </a:spcAft>
            </a:pPr>
            <a:r>
              <a:rPr sz="1200" b="0">
                <a:solidFill>
                  <a:srgbClr val="161B26"/>
                </a:solidFill>
                <a:latin typeface="Arial"/>
              </a:rPr>
              <a:t>Interference, not brute force, is what gives quantum its advantage.</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HOW QUANTUM ALGORITHMS WORK</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Interference — The Real Engine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nterference.png"/>
          <p:cNvPicPr>
            <a:picLocks noChangeAspect="1"/>
          </p:cNvPicPr>
          <p:nvPr/>
        </p:nvPicPr>
        <p:blipFill>
          <a:blip r:embed="rId2"/>
          <a:stretch>
            <a:fillRect/>
          </a:stretch>
        </p:blipFill>
        <p:spPr>
          <a:xfrm>
            <a:off x="777240" y="2668751"/>
            <a:ext cx="6400800" cy="2434898"/>
          </a:xfrm>
          <a:prstGeom prst="rect">
            <a:avLst/>
          </a:prstGeom>
        </p:spPr>
      </p:pic>
      <p:sp>
        <p:nvSpPr>
          <p:cNvPr id="8" name="Rectangle 7"/>
          <p:cNvSpPr/>
          <p:nvPr/>
        </p:nvSpPr>
        <p:spPr>
          <a:xfrm>
            <a:off x="7452360" y="1783080"/>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452360" y="1783080"/>
            <a:ext cx="82296" cy="9372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08392" y="1783080"/>
            <a:ext cx="3502152" cy="937260"/>
          </a:xfrm>
          <a:prstGeom prst="rect">
            <a:avLst/>
          </a:prstGeom>
          <a:noFill/>
        </p:spPr>
        <p:txBody>
          <a:bodyPr wrap="square" anchor="ctr">
            <a:spAutoFit/>
          </a:bodyPr>
          <a:lstStyle/>
          <a:p>
            <a:pPr algn="l">
              <a:spcAft>
                <a:spcPts val="300"/>
              </a:spcAft>
            </a:pPr>
            <a:r>
              <a:rPr sz="1400" b="1">
                <a:solidFill>
                  <a:srgbClr val="1F6FEB"/>
                </a:solidFill>
                <a:latin typeface="Arial"/>
              </a:rPr>
              <a:t>Amplitudes can cancel</a:t>
            </a:r>
          </a:p>
          <a:p>
            <a:pPr algn="l">
              <a:spcAft>
                <a:spcPts val="300"/>
              </a:spcAft>
            </a:pPr>
            <a:r>
              <a:rPr sz="1200" b="0">
                <a:solidFill>
                  <a:srgbClr val="161B26"/>
                </a:solidFill>
                <a:latin typeface="Arial"/>
              </a:rPr>
              <a:t>Unlike probabilities, amplitudes are complex and can be negative.</a:t>
            </a:r>
          </a:p>
        </p:txBody>
      </p:sp>
      <p:sp>
        <p:nvSpPr>
          <p:cNvPr id="11" name="Rectangle 10"/>
          <p:cNvSpPr/>
          <p:nvPr/>
        </p:nvSpPr>
        <p:spPr>
          <a:xfrm>
            <a:off x="7452360" y="2903220"/>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452360" y="2903220"/>
            <a:ext cx="82296" cy="9372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08392" y="2903220"/>
            <a:ext cx="3502152" cy="937260"/>
          </a:xfrm>
          <a:prstGeom prst="rect">
            <a:avLst/>
          </a:prstGeom>
          <a:noFill/>
        </p:spPr>
        <p:txBody>
          <a:bodyPr wrap="square" anchor="ctr">
            <a:spAutoFit/>
          </a:bodyPr>
          <a:lstStyle/>
          <a:p>
            <a:pPr algn="l">
              <a:spcAft>
                <a:spcPts val="300"/>
              </a:spcAft>
            </a:pPr>
            <a:r>
              <a:rPr sz="1400" b="1">
                <a:solidFill>
                  <a:srgbClr val="10B981"/>
                </a:solidFill>
                <a:latin typeface="Arial"/>
              </a:rPr>
              <a:t>Wrong answers cancel</a:t>
            </a:r>
          </a:p>
          <a:p>
            <a:pPr algn="l">
              <a:spcAft>
                <a:spcPts val="300"/>
              </a:spcAft>
            </a:pPr>
            <a:r>
              <a:rPr sz="1200" b="0">
                <a:solidFill>
                  <a:srgbClr val="161B26"/>
                </a:solidFill>
                <a:latin typeface="Arial"/>
              </a:rPr>
              <a:t>A good algorithm arranges destructive interference on wrong paths.</a:t>
            </a:r>
          </a:p>
        </p:txBody>
      </p:sp>
      <p:sp>
        <p:nvSpPr>
          <p:cNvPr id="14" name="Rectangle 13"/>
          <p:cNvSpPr/>
          <p:nvPr/>
        </p:nvSpPr>
        <p:spPr>
          <a:xfrm>
            <a:off x="7452360" y="4023360"/>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452360" y="4023360"/>
            <a:ext cx="82296" cy="9372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08392" y="4023360"/>
            <a:ext cx="3502152" cy="937260"/>
          </a:xfrm>
          <a:prstGeom prst="rect">
            <a:avLst/>
          </a:prstGeom>
          <a:noFill/>
        </p:spPr>
        <p:txBody>
          <a:bodyPr wrap="square" anchor="ctr">
            <a:spAutoFit/>
          </a:bodyPr>
          <a:lstStyle/>
          <a:p>
            <a:pPr algn="l">
              <a:spcAft>
                <a:spcPts val="300"/>
              </a:spcAft>
            </a:pPr>
            <a:r>
              <a:rPr sz="1400" b="1">
                <a:solidFill>
                  <a:srgbClr val="7C3AED"/>
                </a:solidFill>
                <a:latin typeface="Arial"/>
              </a:rPr>
              <a:t>Right answers add</a:t>
            </a:r>
          </a:p>
          <a:p>
            <a:pPr algn="l">
              <a:spcAft>
                <a:spcPts val="300"/>
              </a:spcAft>
            </a:pPr>
            <a:r>
              <a:rPr sz="1200" b="0">
                <a:solidFill>
                  <a:srgbClr val="161B26"/>
                </a:solidFill>
                <a:latin typeface="Arial"/>
              </a:rPr>
              <a:t>Constructive interference concentrates probability on the answer.</a:t>
            </a:r>
          </a:p>
        </p:txBody>
      </p:sp>
      <p:sp>
        <p:nvSpPr>
          <p:cNvPr id="17" name="Rectangle 16"/>
          <p:cNvSpPr/>
          <p:nvPr/>
        </p:nvSpPr>
        <p:spPr>
          <a:xfrm>
            <a:off x="7452360" y="5143500"/>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452360" y="5143500"/>
            <a:ext cx="82296" cy="9372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08392" y="5143500"/>
            <a:ext cx="3502152" cy="937260"/>
          </a:xfrm>
          <a:prstGeom prst="rect">
            <a:avLst/>
          </a:prstGeom>
          <a:noFill/>
        </p:spPr>
        <p:txBody>
          <a:bodyPr wrap="square" anchor="ctr">
            <a:spAutoFit/>
          </a:bodyPr>
          <a:lstStyle/>
          <a:p>
            <a:pPr algn="l">
              <a:spcAft>
                <a:spcPts val="300"/>
              </a:spcAft>
            </a:pPr>
            <a:r>
              <a:rPr sz="1400" b="1">
                <a:solidFill>
                  <a:srgbClr val="F59E0B"/>
                </a:solidFill>
                <a:latin typeface="Arial"/>
              </a:rPr>
              <a:t>Every algorithm</a:t>
            </a:r>
          </a:p>
          <a:p>
            <a:pPr algn="l">
              <a:spcAft>
                <a:spcPts val="300"/>
              </a:spcAft>
            </a:pPr>
            <a:r>
              <a:rPr sz="1200" b="0">
                <a:solidFill>
                  <a:srgbClr val="161B26"/>
                </a:solidFill>
                <a:latin typeface="Arial"/>
              </a:rPr>
              <a:t>Deutsch, Grover and Shor are all interference engines.</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F6FEB"/>
                </a:solidFill>
                <a:latin typeface="Arial"/>
              </a:rPr>
              <a:t>THE MENTAL MODEL</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600" b="1">
                <a:solidFill>
                  <a:srgbClr val="161B26"/>
                </a:solidFill>
                <a:latin typeface="Arial"/>
              </a:rPr>
              <a:t>Superposition supplies the paths. Interference picks the answer.</a:t>
            </a:r>
          </a:p>
        </p:txBody>
      </p:sp>
      <p:sp>
        <p:nvSpPr>
          <p:cNvPr id="6" name="TextBox 5"/>
          <p:cNvSpPr txBox="1"/>
          <p:nvPr/>
        </p:nvSpPr>
        <p:spPr>
          <a:xfrm>
            <a:off x="1024128" y="4572000"/>
            <a:ext cx="10058400" cy="1097280"/>
          </a:xfrm>
          <a:prstGeom prst="rect">
            <a:avLst/>
          </a:prstGeom>
          <a:noFill/>
        </p:spPr>
        <p:txBody>
          <a:bodyPr wrap="square" anchor="t">
            <a:spAutoFit/>
          </a:bodyPr>
          <a:lstStyle/>
          <a:p>
            <a:pPr algn="l">
              <a:spcAft>
                <a:spcPts val="400"/>
              </a:spcAft>
            </a:pPr>
            <a:r>
              <a:rPr sz="1900" b="0">
                <a:solidFill>
                  <a:srgbClr val="5B6372"/>
                </a:solidFill>
                <a:latin typeface="Arial"/>
              </a:rPr>
              <a:t>Every quantum algorithm in this course follows that pattern — prepare a superposition, apply an oracle, then interfere so the correct answer survives.</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01</a:t>
            </a:r>
          </a:p>
        </p:txBody>
      </p:sp>
      <p:sp>
        <p:nvSpPr>
          <p:cNvPr id="6" name="TextBox 5"/>
          <p:cNvSpPr txBox="1"/>
          <p:nvPr/>
        </p:nvSpPr>
        <p:spPr>
          <a:xfrm>
            <a:off x="1143000" y="2743200"/>
            <a:ext cx="9509760" cy="1463040"/>
          </a:xfrm>
          <a:prstGeom prst="rect">
            <a:avLst/>
          </a:prstGeom>
          <a:noFill/>
        </p:spPr>
        <p:txBody>
          <a:bodyPr wrap="square" anchor="t">
            <a:spAutoFit/>
          </a:bodyPr>
          <a:lstStyle/>
          <a:p>
            <a:pPr algn="l">
              <a:spcAft>
                <a:spcPts val="400"/>
              </a:spcAft>
            </a:pPr>
            <a:r>
              <a:rPr sz="4000" b="1">
                <a:solidFill>
                  <a:srgbClr val="161B26"/>
                </a:solidFill>
                <a:latin typeface="Arial"/>
              </a:rPr>
              <a:t>Quantum Physics Fundamentals</a:t>
            </a:r>
          </a:p>
        </p:txBody>
      </p:sp>
      <p:sp>
        <p:nvSpPr>
          <p:cNvPr id="7" name="TextBox 6"/>
          <p:cNvSpPr txBox="1"/>
          <p:nvPr/>
        </p:nvSpPr>
        <p:spPr>
          <a:xfrm>
            <a:off x="1161288" y="4251960"/>
            <a:ext cx="9692640" cy="822960"/>
          </a:xfrm>
          <a:prstGeom prst="rect">
            <a:avLst/>
          </a:prstGeom>
          <a:noFill/>
        </p:spPr>
        <p:txBody>
          <a:bodyPr wrap="square" anchor="t">
            <a:spAutoFit/>
          </a:bodyPr>
          <a:lstStyle/>
          <a:p>
            <a:pPr algn="l">
              <a:spcAft>
                <a:spcPts val="400"/>
              </a:spcAft>
            </a:pPr>
            <a:r>
              <a:rPr sz="1500" b="0">
                <a:solidFill>
                  <a:srgbClr val="5B6372"/>
                </a:solidFill>
                <a:latin typeface="Arial"/>
              </a:rPr>
              <a:t>Postulates of Quantum Mechanics · Mathematics for Quantum Mechanics</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01</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MAPS TO LO1</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Key Concepts — Quantum Physics Fundamentals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The five postulates</a:t>
            </a:r>
          </a:p>
          <a:p>
            <a:pPr algn="l">
              <a:spcAft>
                <a:spcPts val="300"/>
              </a:spcAft>
            </a:pPr>
            <a:r>
              <a:rPr sz="1100" b="0">
                <a:solidFill>
                  <a:srgbClr val="5B6372"/>
                </a:solidFill>
                <a:latin typeface="Arial"/>
              </a:rPr>
              <a:t>State space, unitary time evolution, observables, the Born rule and wave-function collapse are the axioms every quantum algorithm obeys.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Hilbert space</a:t>
            </a:r>
          </a:p>
          <a:p>
            <a:pPr algn="l">
              <a:spcAft>
                <a:spcPts val="300"/>
              </a:spcAft>
            </a:pPr>
            <a:r>
              <a:rPr sz="1100" b="0">
                <a:solidFill>
                  <a:srgbClr val="5B6372"/>
                </a:solidFill>
                <a:latin typeface="Arial"/>
              </a:rPr>
              <a:t>Quantum states are unit vectors in a complex inner-product space; a single qubit lives in a 2-dimensional Hilbert space.</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3429000"/>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Unitary operators</a:t>
            </a:r>
          </a:p>
          <a:p>
            <a:pPr algn="l">
              <a:spcAft>
                <a:spcPts val="300"/>
              </a:spcAft>
            </a:pPr>
            <a:r>
              <a:rPr sz="1100" b="0">
                <a:solidFill>
                  <a:srgbClr val="5B6372"/>
                </a:solidFill>
                <a:latin typeface="Arial"/>
              </a:rPr>
              <a:t>U†U = I preserves the norm — this is why every quantum gate is reversible and probability is conserved.</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3429000"/>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Hermitian operators</a:t>
            </a:r>
          </a:p>
          <a:p>
            <a:pPr algn="l">
              <a:spcAft>
                <a:spcPts val="300"/>
              </a:spcAft>
            </a:pPr>
            <a:r>
              <a:rPr sz="1100" b="0">
                <a:solidFill>
                  <a:srgbClr val="5B6372"/>
                </a:solidFill>
                <a:latin typeface="Arial"/>
              </a:rPr>
              <a:t>A† = A guarantees real eigenvalues, so Hermitian operators represent physically measurable observables.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5</a:t>
            </a:r>
          </a:p>
        </p:txBody>
      </p:sp>
      <p:sp>
        <p:nvSpPr>
          <p:cNvPr id="31" name="TextBox 30"/>
          <p:cNvSpPr txBox="1"/>
          <p:nvPr/>
        </p:nvSpPr>
        <p:spPr>
          <a:xfrm>
            <a:off x="1764792" y="4965192"/>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Dirac notation</a:t>
            </a:r>
          </a:p>
          <a:p>
            <a:pPr algn="l">
              <a:spcAft>
                <a:spcPts val="300"/>
              </a:spcAft>
            </a:pPr>
            <a:r>
              <a:rPr sz="1100" b="0">
                <a:solidFill>
                  <a:srgbClr val="5B6372"/>
                </a:solidFill>
                <a:latin typeface="Arial"/>
              </a:rPr>
              <a:t>Bra-ket notation compactly expresses states |ψ⟩, dual vectors ⟨ψ|, inner products ⟨φ|ψ⟩ and outer products |ψ⟩⟨φ|.</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6</a:t>
            </a:r>
          </a:p>
        </p:txBody>
      </p:sp>
      <p:sp>
        <p:nvSpPr>
          <p:cNvPr id="36" name="TextBox 35"/>
          <p:cNvSpPr txBox="1"/>
          <p:nvPr/>
        </p:nvSpPr>
        <p:spPr>
          <a:xfrm>
            <a:off x="7219188" y="4965192"/>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Tensor products</a:t>
            </a:r>
          </a:p>
          <a:p>
            <a:pPr algn="l">
              <a:spcAft>
                <a:spcPts val="300"/>
              </a:spcAft>
            </a:pPr>
            <a:r>
              <a:rPr sz="1100" b="0">
                <a:solidFill>
                  <a:srgbClr val="5B6372"/>
                </a:solidFill>
                <a:latin typeface="Arial"/>
              </a:rPr>
              <a:t>The state space of a multi-qubit system is the tensor product of the single-qubit spaces — dimension grows as 2ⁿ.</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THE THREE OBJECTS YOU NEED</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The Mathematical Toolkit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61944"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6194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33272" y="2011680"/>
            <a:ext cx="2849880" cy="640080"/>
          </a:xfrm>
          <a:prstGeom prst="rect">
            <a:avLst/>
          </a:prstGeom>
          <a:noFill/>
        </p:spPr>
        <p:txBody>
          <a:bodyPr wrap="square" anchor="t">
            <a:spAutoFit/>
          </a:bodyPr>
          <a:lstStyle/>
          <a:p>
            <a:pPr algn="l">
              <a:spcAft>
                <a:spcPts val="400"/>
              </a:spcAft>
            </a:pPr>
            <a:r>
              <a:rPr sz="1600" b="1">
                <a:solidFill>
                  <a:srgbClr val="1F6FEB"/>
                </a:solidFill>
                <a:latin typeface="Arial"/>
              </a:rPr>
              <a:t>State vector</a:t>
            </a:r>
          </a:p>
        </p:txBody>
      </p:sp>
      <p:sp>
        <p:nvSpPr>
          <p:cNvPr id="10" name="Rectangle 9"/>
          <p:cNvSpPr/>
          <p:nvPr/>
        </p:nvSpPr>
        <p:spPr>
          <a:xfrm>
            <a:off x="1033272" y="2743200"/>
            <a:ext cx="2849880" cy="137160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2743200"/>
            <a:ext cx="2630424" cy="1371600"/>
          </a:xfrm>
          <a:prstGeom prst="rect">
            <a:avLst/>
          </a:prstGeom>
          <a:noFill/>
        </p:spPr>
        <p:txBody>
          <a:bodyPr wrap="square" anchor="ctr">
            <a:spAutoFit/>
          </a:bodyPr>
          <a:lstStyle/>
          <a:p>
            <a:pPr algn="ctr">
              <a:spcAft>
                <a:spcPts val="400"/>
              </a:spcAft>
            </a:pPr>
            <a:r>
              <a:rPr sz="1500" b="1">
                <a:solidFill>
                  <a:srgbClr val="9CDCFE"/>
                </a:solidFill>
                <a:latin typeface="Arial"/>
              </a:rPr>
              <a:t>|ψ⟩ = α|0⟩ + β|1⟩</a:t>
            </a:r>
          </a:p>
        </p:txBody>
      </p:sp>
      <p:sp>
        <p:nvSpPr>
          <p:cNvPr id="12" name="TextBox 11"/>
          <p:cNvSpPr txBox="1"/>
          <p:nvPr/>
        </p:nvSpPr>
        <p:spPr>
          <a:xfrm>
            <a:off x="1033272" y="4297680"/>
            <a:ext cx="2849880" cy="1645920"/>
          </a:xfrm>
          <a:prstGeom prst="rect">
            <a:avLst/>
          </a:prstGeom>
          <a:noFill/>
        </p:spPr>
        <p:txBody>
          <a:bodyPr wrap="square" anchor="t">
            <a:spAutoFit/>
          </a:bodyPr>
          <a:lstStyle/>
          <a:p>
            <a:pPr algn="l">
              <a:spcAft>
                <a:spcPts val="400"/>
              </a:spcAft>
            </a:pPr>
            <a:r>
              <a:rPr sz="1250" b="0">
                <a:solidFill>
                  <a:srgbClr val="5B6372"/>
                </a:solidFill>
                <a:latin typeface="Arial"/>
              </a:rPr>
              <a:t>A qubit is a unit vector in a 2-dimensional Hilbert space, with |α|² + |β|² = 1.</a:t>
            </a:r>
          </a:p>
        </p:txBody>
      </p:sp>
      <p:sp>
        <p:nvSpPr>
          <p:cNvPr id="13" name="Rectangle 12"/>
          <p:cNvSpPr/>
          <p:nvPr/>
        </p:nvSpPr>
        <p:spPr>
          <a:xfrm>
            <a:off x="4413504" y="1783080"/>
            <a:ext cx="3361944"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13504" y="1783080"/>
            <a:ext cx="336194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669536" y="2011680"/>
            <a:ext cx="2849880" cy="640080"/>
          </a:xfrm>
          <a:prstGeom prst="rect">
            <a:avLst/>
          </a:prstGeom>
          <a:noFill/>
        </p:spPr>
        <p:txBody>
          <a:bodyPr wrap="square" anchor="t">
            <a:spAutoFit/>
          </a:bodyPr>
          <a:lstStyle/>
          <a:p>
            <a:pPr algn="l">
              <a:spcAft>
                <a:spcPts val="400"/>
              </a:spcAft>
            </a:pPr>
            <a:r>
              <a:rPr sz="1600" b="1">
                <a:solidFill>
                  <a:srgbClr val="10B981"/>
                </a:solidFill>
                <a:latin typeface="Arial"/>
              </a:rPr>
              <a:t>Unitary operator</a:t>
            </a:r>
          </a:p>
        </p:txBody>
      </p:sp>
      <p:sp>
        <p:nvSpPr>
          <p:cNvPr id="16" name="Rectangle 15"/>
          <p:cNvSpPr/>
          <p:nvPr/>
        </p:nvSpPr>
        <p:spPr>
          <a:xfrm>
            <a:off x="4669536" y="2743200"/>
            <a:ext cx="2849880" cy="137160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779264" y="2743200"/>
            <a:ext cx="2630424" cy="1371600"/>
          </a:xfrm>
          <a:prstGeom prst="rect">
            <a:avLst/>
          </a:prstGeom>
          <a:noFill/>
        </p:spPr>
        <p:txBody>
          <a:bodyPr wrap="square" anchor="ctr">
            <a:spAutoFit/>
          </a:bodyPr>
          <a:lstStyle/>
          <a:p>
            <a:pPr algn="ctr">
              <a:spcAft>
                <a:spcPts val="400"/>
              </a:spcAft>
            </a:pPr>
            <a:r>
              <a:rPr sz="1500" b="1">
                <a:solidFill>
                  <a:srgbClr val="9CDCFE"/>
                </a:solidFill>
                <a:latin typeface="Arial"/>
              </a:rPr>
              <a:t>U†U = I</a:t>
            </a:r>
          </a:p>
        </p:txBody>
      </p:sp>
      <p:sp>
        <p:nvSpPr>
          <p:cNvPr id="18" name="TextBox 17"/>
          <p:cNvSpPr txBox="1"/>
          <p:nvPr/>
        </p:nvSpPr>
        <p:spPr>
          <a:xfrm>
            <a:off x="4669536" y="4297680"/>
            <a:ext cx="2849880" cy="1645920"/>
          </a:xfrm>
          <a:prstGeom prst="rect">
            <a:avLst/>
          </a:prstGeom>
          <a:noFill/>
        </p:spPr>
        <p:txBody>
          <a:bodyPr wrap="square" anchor="t">
            <a:spAutoFit/>
          </a:bodyPr>
          <a:lstStyle/>
          <a:p>
            <a:pPr algn="l">
              <a:spcAft>
                <a:spcPts val="400"/>
              </a:spcAft>
            </a:pPr>
            <a:r>
              <a:rPr sz="1250" b="0">
                <a:solidFill>
                  <a:srgbClr val="5B6372"/>
                </a:solidFill>
                <a:latin typeface="Arial"/>
              </a:rPr>
              <a:t>Every quantum gate is unitary — reversible, and probability-preserving.</a:t>
            </a:r>
          </a:p>
        </p:txBody>
      </p:sp>
      <p:sp>
        <p:nvSpPr>
          <p:cNvPr id="19" name="Rectangle 18"/>
          <p:cNvSpPr/>
          <p:nvPr/>
        </p:nvSpPr>
        <p:spPr>
          <a:xfrm>
            <a:off x="8049768" y="1783080"/>
            <a:ext cx="3361944"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49768" y="1783080"/>
            <a:ext cx="336194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05800" y="2011680"/>
            <a:ext cx="2849880" cy="640080"/>
          </a:xfrm>
          <a:prstGeom prst="rect">
            <a:avLst/>
          </a:prstGeom>
          <a:noFill/>
        </p:spPr>
        <p:txBody>
          <a:bodyPr wrap="square" anchor="t">
            <a:spAutoFit/>
          </a:bodyPr>
          <a:lstStyle/>
          <a:p>
            <a:pPr algn="l">
              <a:spcAft>
                <a:spcPts val="400"/>
              </a:spcAft>
            </a:pPr>
            <a:r>
              <a:rPr sz="1600" b="1">
                <a:solidFill>
                  <a:srgbClr val="7C3AED"/>
                </a:solidFill>
                <a:latin typeface="Arial"/>
              </a:rPr>
              <a:t>Hermitian operator</a:t>
            </a:r>
          </a:p>
        </p:txBody>
      </p:sp>
      <p:sp>
        <p:nvSpPr>
          <p:cNvPr id="22" name="Rectangle 21"/>
          <p:cNvSpPr/>
          <p:nvPr/>
        </p:nvSpPr>
        <p:spPr>
          <a:xfrm>
            <a:off x="8305800" y="2743200"/>
            <a:ext cx="2849880" cy="137160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415528" y="2743200"/>
            <a:ext cx="2630424" cy="1371600"/>
          </a:xfrm>
          <a:prstGeom prst="rect">
            <a:avLst/>
          </a:prstGeom>
          <a:noFill/>
        </p:spPr>
        <p:txBody>
          <a:bodyPr wrap="square" anchor="ctr">
            <a:spAutoFit/>
          </a:bodyPr>
          <a:lstStyle/>
          <a:p>
            <a:pPr algn="ctr">
              <a:spcAft>
                <a:spcPts val="400"/>
              </a:spcAft>
            </a:pPr>
            <a:r>
              <a:rPr sz="1500" b="1">
                <a:solidFill>
                  <a:srgbClr val="9CDCFE"/>
                </a:solidFill>
                <a:latin typeface="Arial"/>
              </a:rPr>
              <a:t>A† = A</a:t>
            </a:r>
          </a:p>
        </p:txBody>
      </p:sp>
      <p:sp>
        <p:nvSpPr>
          <p:cNvPr id="24" name="TextBox 23"/>
          <p:cNvSpPr txBox="1"/>
          <p:nvPr/>
        </p:nvSpPr>
        <p:spPr>
          <a:xfrm>
            <a:off x="8305800" y="4297680"/>
            <a:ext cx="2849880" cy="1645920"/>
          </a:xfrm>
          <a:prstGeom prst="rect">
            <a:avLst/>
          </a:prstGeom>
          <a:noFill/>
        </p:spPr>
        <p:txBody>
          <a:bodyPr wrap="square" anchor="t">
            <a:spAutoFit/>
          </a:bodyPr>
          <a:lstStyle/>
          <a:p>
            <a:pPr algn="l">
              <a:spcAft>
                <a:spcPts val="400"/>
              </a:spcAft>
            </a:pPr>
            <a:r>
              <a:rPr sz="1250" b="0">
                <a:solidFill>
                  <a:srgbClr val="5B6372"/>
                </a:solidFill>
                <a:latin typeface="Arial"/>
              </a:rPr>
              <a:t>Observables are Hermitian, which guarantees real measured eigenvalues.</a:t>
            </a: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BRA-KET NOTATION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Dirac Notation at a Glance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61944"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6194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33272" y="2011680"/>
            <a:ext cx="2849880" cy="640080"/>
          </a:xfrm>
          <a:prstGeom prst="rect">
            <a:avLst/>
          </a:prstGeom>
          <a:noFill/>
        </p:spPr>
        <p:txBody>
          <a:bodyPr wrap="square" anchor="t">
            <a:spAutoFit/>
          </a:bodyPr>
          <a:lstStyle/>
          <a:p>
            <a:pPr algn="l">
              <a:spcAft>
                <a:spcPts val="400"/>
              </a:spcAft>
            </a:pPr>
            <a:r>
              <a:rPr sz="1600" b="1">
                <a:solidFill>
                  <a:srgbClr val="1F6FEB"/>
                </a:solidFill>
                <a:latin typeface="Arial"/>
              </a:rPr>
              <a:t>Ket / Bra</a:t>
            </a:r>
          </a:p>
        </p:txBody>
      </p:sp>
      <p:sp>
        <p:nvSpPr>
          <p:cNvPr id="10" name="Rectangle 9"/>
          <p:cNvSpPr/>
          <p:nvPr/>
        </p:nvSpPr>
        <p:spPr>
          <a:xfrm>
            <a:off x="1033272" y="2743200"/>
            <a:ext cx="2849880" cy="137160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2743200"/>
            <a:ext cx="2630424" cy="1371600"/>
          </a:xfrm>
          <a:prstGeom prst="rect">
            <a:avLst/>
          </a:prstGeom>
          <a:noFill/>
        </p:spPr>
        <p:txBody>
          <a:bodyPr wrap="square" anchor="ctr">
            <a:spAutoFit/>
          </a:bodyPr>
          <a:lstStyle/>
          <a:p>
            <a:pPr algn="ctr">
              <a:spcAft>
                <a:spcPts val="400"/>
              </a:spcAft>
            </a:pPr>
            <a:r>
              <a:rPr sz="1500" b="1">
                <a:solidFill>
                  <a:srgbClr val="9CDCFE"/>
                </a:solidFill>
                <a:latin typeface="Arial"/>
              </a:rPr>
              <a:t>|ψ⟩   and   ⟨ψ|</a:t>
            </a:r>
          </a:p>
        </p:txBody>
      </p:sp>
      <p:sp>
        <p:nvSpPr>
          <p:cNvPr id="12" name="TextBox 11"/>
          <p:cNvSpPr txBox="1"/>
          <p:nvPr/>
        </p:nvSpPr>
        <p:spPr>
          <a:xfrm>
            <a:off x="1033272" y="4297680"/>
            <a:ext cx="2849880" cy="1645920"/>
          </a:xfrm>
          <a:prstGeom prst="rect">
            <a:avLst/>
          </a:prstGeom>
          <a:noFill/>
        </p:spPr>
        <p:txBody>
          <a:bodyPr wrap="square" anchor="t">
            <a:spAutoFit/>
          </a:bodyPr>
          <a:lstStyle/>
          <a:p>
            <a:pPr algn="l">
              <a:spcAft>
                <a:spcPts val="400"/>
              </a:spcAft>
            </a:pPr>
            <a:r>
              <a:rPr sz="1250" b="0">
                <a:solidFill>
                  <a:srgbClr val="5B6372"/>
                </a:solidFill>
                <a:latin typeface="Arial"/>
              </a:rPr>
              <a:t>A ket is a column vector; a bra is its conjugate transpose (row vector).</a:t>
            </a:r>
          </a:p>
        </p:txBody>
      </p:sp>
      <p:sp>
        <p:nvSpPr>
          <p:cNvPr id="13" name="Rectangle 12"/>
          <p:cNvSpPr/>
          <p:nvPr/>
        </p:nvSpPr>
        <p:spPr>
          <a:xfrm>
            <a:off x="4413504" y="1783080"/>
            <a:ext cx="3361944"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13504" y="1783080"/>
            <a:ext cx="336194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669536" y="2011680"/>
            <a:ext cx="2849880" cy="640080"/>
          </a:xfrm>
          <a:prstGeom prst="rect">
            <a:avLst/>
          </a:prstGeom>
          <a:noFill/>
        </p:spPr>
        <p:txBody>
          <a:bodyPr wrap="square" anchor="t">
            <a:spAutoFit/>
          </a:bodyPr>
          <a:lstStyle/>
          <a:p>
            <a:pPr algn="l">
              <a:spcAft>
                <a:spcPts val="400"/>
              </a:spcAft>
            </a:pPr>
            <a:r>
              <a:rPr sz="1600" b="1">
                <a:solidFill>
                  <a:srgbClr val="10B981"/>
                </a:solidFill>
                <a:latin typeface="Arial"/>
              </a:rPr>
              <a:t>Inner product</a:t>
            </a:r>
          </a:p>
        </p:txBody>
      </p:sp>
      <p:sp>
        <p:nvSpPr>
          <p:cNvPr id="16" name="Rectangle 15"/>
          <p:cNvSpPr/>
          <p:nvPr/>
        </p:nvSpPr>
        <p:spPr>
          <a:xfrm>
            <a:off x="4669536" y="2743200"/>
            <a:ext cx="2849880" cy="137160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779264" y="2743200"/>
            <a:ext cx="2630424" cy="1371600"/>
          </a:xfrm>
          <a:prstGeom prst="rect">
            <a:avLst/>
          </a:prstGeom>
          <a:noFill/>
        </p:spPr>
        <p:txBody>
          <a:bodyPr wrap="square" anchor="ctr">
            <a:spAutoFit/>
          </a:bodyPr>
          <a:lstStyle/>
          <a:p>
            <a:pPr algn="ctr">
              <a:spcAft>
                <a:spcPts val="400"/>
              </a:spcAft>
            </a:pPr>
            <a:r>
              <a:rPr sz="1500" b="1">
                <a:solidFill>
                  <a:srgbClr val="9CDCFE"/>
                </a:solidFill>
                <a:latin typeface="Arial"/>
              </a:rPr>
              <a:t>⟨φ|ψ⟩</a:t>
            </a:r>
          </a:p>
        </p:txBody>
      </p:sp>
      <p:sp>
        <p:nvSpPr>
          <p:cNvPr id="18" name="TextBox 17"/>
          <p:cNvSpPr txBox="1"/>
          <p:nvPr/>
        </p:nvSpPr>
        <p:spPr>
          <a:xfrm>
            <a:off x="4669536" y="4297680"/>
            <a:ext cx="2849880" cy="1645920"/>
          </a:xfrm>
          <a:prstGeom prst="rect">
            <a:avLst/>
          </a:prstGeom>
          <a:noFill/>
        </p:spPr>
        <p:txBody>
          <a:bodyPr wrap="square" anchor="t">
            <a:spAutoFit/>
          </a:bodyPr>
          <a:lstStyle/>
          <a:p>
            <a:pPr algn="l">
              <a:spcAft>
                <a:spcPts val="400"/>
              </a:spcAft>
            </a:pPr>
            <a:r>
              <a:rPr sz="1250" b="0">
                <a:solidFill>
                  <a:srgbClr val="5B6372"/>
                </a:solidFill>
                <a:latin typeface="Arial"/>
              </a:rPr>
              <a:t>A single complex number — the overlap, or probability amplitude, between two states.</a:t>
            </a:r>
          </a:p>
        </p:txBody>
      </p:sp>
      <p:sp>
        <p:nvSpPr>
          <p:cNvPr id="19" name="Rectangle 18"/>
          <p:cNvSpPr/>
          <p:nvPr/>
        </p:nvSpPr>
        <p:spPr>
          <a:xfrm>
            <a:off x="8049768" y="1783080"/>
            <a:ext cx="3361944"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49768" y="1783080"/>
            <a:ext cx="336194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05800" y="2011680"/>
            <a:ext cx="2849880" cy="640080"/>
          </a:xfrm>
          <a:prstGeom prst="rect">
            <a:avLst/>
          </a:prstGeom>
          <a:noFill/>
        </p:spPr>
        <p:txBody>
          <a:bodyPr wrap="square" anchor="t">
            <a:spAutoFit/>
          </a:bodyPr>
          <a:lstStyle/>
          <a:p>
            <a:pPr algn="l">
              <a:spcAft>
                <a:spcPts val="400"/>
              </a:spcAft>
            </a:pPr>
            <a:r>
              <a:rPr sz="1600" b="1">
                <a:solidFill>
                  <a:srgbClr val="7C3AED"/>
                </a:solidFill>
                <a:latin typeface="Arial"/>
              </a:rPr>
              <a:t>Born rule</a:t>
            </a:r>
          </a:p>
        </p:txBody>
      </p:sp>
      <p:sp>
        <p:nvSpPr>
          <p:cNvPr id="22" name="Rectangle 21"/>
          <p:cNvSpPr/>
          <p:nvPr/>
        </p:nvSpPr>
        <p:spPr>
          <a:xfrm>
            <a:off x="8305800" y="2743200"/>
            <a:ext cx="2849880" cy="137160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415528" y="2743200"/>
            <a:ext cx="2630424" cy="1371600"/>
          </a:xfrm>
          <a:prstGeom prst="rect">
            <a:avLst/>
          </a:prstGeom>
          <a:noFill/>
        </p:spPr>
        <p:txBody>
          <a:bodyPr wrap="square" anchor="ctr">
            <a:spAutoFit/>
          </a:bodyPr>
          <a:lstStyle/>
          <a:p>
            <a:pPr algn="ctr">
              <a:spcAft>
                <a:spcPts val="400"/>
              </a:spcAft>
            </a:pPr>
            <a:r>
              <a:rPr sz="1500" b="1">
                <a:solidFill>
                  <a:srgbClr val="9CDCFE"/>
                </a:solidFill>
                <a:latin typeface="Arial"/>
              </a:rPr>
              <a:t>P(x) = |⟨x|ψ⟩|²</a:t>
            </a:r>
          </a:p>
        </p:txBody>
      </p:sp>
      <p:sp>
        <p:nvSpPr>
          <p:cNvPr id="24" name="TextBox 23"/>
          <p:cNvSpPr txBox="1"/>
          <p:nvPr/>
        </p:nvSpPr>
        <p:spPr>
          <a:xfrm>
            <a:off x="8305800" y="4297680"/>
            <a:ext cx="2849880" cy="1645920"/>
          </a:xfrm>
          <a:prstGeom prst="rect">
            <a:avLst/>
          </a:prstGeom>
          <a:noFill/>
        </p:spPr>
        <p:txBody>
          <a:bodyPr wrap="square" anchor="t">
            <a:spAutoFit/>
          </a:bodyPr>
          <a:lstStyle/>
          <a:p>
            <a:pPr algn="l">
              <a:spcAft>
                <a:spcPts val="400"/>
              </a:spcAft>
            </a:pPr>
            <a:r>
              <a:rPr sz="1250" b="0">
                <a:solidFill>
                  <a:srgbClr val="5B6372"/>
                </a:solidFill>
                <a:latin typeface="Arial"/>
              </a:rPr>
              <a:t>The probability of measuring outcome x is the squared magnitude of the amplitude.</a:t>
            </a: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THE AXIOMS OF QUANTUM MECHANICS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The Five Postulates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74519"/>
            <a:ext cx="744413" cy="4754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874519"/>
            <a:ext cx="470093" cy="475488"/>
          </a:xfrm>
          <a:prstGeom prst="rect">
            <a:avLst/>
          </a:prstGeom>
          <a:noFill/>
        </p:spPr>
        <p:txBody>
          <a:bodyPr wrap="square" anchor="ctr">
            <a:spAutoFit/>
          </a:bodyPr>
          <a:lstStyle/>
          <a:p>
            <a:pPr algn="l">
              <a:spcAft>
                <a:spcPts val="400"/>
              </a:spcAft>
            </a:pPr>
            <a:r>
              <a:rPr sz="1300" b="1">
                <a:solidFill>
                  <a:srgbClr val="FFFFFF"/>
                </a:solidFill>
                <a:latin typeface="Arial"/>
              </a:rPr>
              <a:t>#</a:t>
            </a:r>
          </a:p>
        </p:txBody>
      </p:sp>
      <p:sp>
        <p:nvSpPr>
          <p:cNvPr id="9" name="Rectangle 8"/>
          <p:cNvSpPr/>
          <p:nvPr/>
        </p:nvSpPr>
        <p:spPr>
          <a:xfrm>
            <a:off x="1521653" y="1874519"/>
            <a:ext cx="2445928" cy="4754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58813" y="1874519"/>
            <a:ext cx="2171608" cy="475488"/>
          </a:xfrm>
          <a:prstGeom prst="rect">
            <a:avLst/>
          </a:prstGeom>
          <a:noFill/>
        </p:spPr>
        <p:txBody>
          <a:bodyPr wrap="square" anchor="ctr">
            <a:spAutoFit/>
          </a:bodyPr>
          <a:lstStyle/>
          <a:p>
            <a:pPr algn="l">
              <a:spcAft>
                <a:spcPts val="400"/>
              </a:spcAft>
            </a:pPr>
            <a:r>
              <a:rPr sz="1300" b="1">
                <a:solidFill>
                  <a:srgbClr val="FFFFFF"/>
                </a:solidFill>
                <a:latin typeface="Arial"/>
              </a:rPr>
              <a:t>Postulate</a:t>
            </a:r>
          </a:p>
        </p:txBody>
      </p:sp>
      <p:sp>
        <p:nvSpPr>
          <p:cNvPr id="11" name="Rectangle 10"/>
          <p:cNvSpPr/>
          <p:nvPr/>
        </p:nvSpPr>
        <p:spPr>
          <a:xfrm>
            <a:off x="3967581" y="1874519"/>
            <a:ext cx="7444130" cy="4754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04741" y="1874519"/>
            <a:ext cx="7169810" cy="475488"/>
          </a:xfrm>
          <a:prstGeom prst="rect">
            <a:avLst/>
          </a:prstGeom>
          <a:noFill/>
        </p:spPr>
        <p:txBody>
          <a:bodyPr wrap="square" anchor="ctr">
            <a:spAutoFit/>
          </a:bodyPr>
          <a:lstStyle/>
          <a:p>
            <a:pPr algn="l">
              <a:spcAft>
                <a:spcPts val="400"/>
              </a:spcAft>
            </a:pPr>
            <a:r>
              <a:rPr sz="1300" b="1">
                <a:solidFill>
                  <a:srgbClr val="FFFFFF"/>
                </a:solidFill>
                <a:latin typeface="Arial"/>
              </a:rPr>
              <a:t>What it says</a:t>
            </a:r>
          </a:p>
        </p:txBody>
      </p:sp>
      <p:sp>
        <p:nvSpPr>
          <p:cNvPr id="13" name="Rectangle 12"/>
          <p:cNvSpPr/>
          <p:nvPr/>
        </p:nvSpPr>
        <p:spPr>
          <a:xfrm>
            <a:off x="777240" y="2350007"/>
            <a:ext cx="744413"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2350007"/>
            <a:ext cx="470093" cy="475488"/>
          </a:xfrm>
          <a:prstGeom prst="rect">
            <a:avLst/>
          </a:prstGeom>
          <a:noFill/>
        </p:spPr>
        <p:txBody>
          <a:bodyPr wrap="square" anchor="ctr">
            <a:spAutoFit/>
          </a:bodyPr>
          <a:lstStyle/>
          <a:p>
            <a:pPr algn="l">
              <a:spcAft>
                <a:spcPts val="400"/>
              </a:spcAft>
            </a:pPr>
            <a:r>
              <a:rPr sz="1200" b="1">
                <a:solidFill>
                  <a:srgbClr val="161B26"/>
                </a:solidFill>
                <a:latin typeface="Arial"/>
              </a:rPr>
              <a:t>1</a:t>
            </a:r>
          </a:p>
        </p:txBody>
      </p:sp>
      <p:sp>
        <p:nvSpPr>
          <p:cNvPr id="15" name="Rectangle 14"/>
          <p:cNvSpPr/>
          <p:nvPr/>
        </p:nvSpPr>
        <p:spPr>
          <a:xfrm>
            <a:off x="1521653" y="2350007"/>
            <a:ext cx="2445928"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658813" y="2350007"/>
            <a:ext cx="2171608" cy="475488"/>
          </a:xfrm>
          <a:prstGeom prst="rect">
            <a:avLst/>
          </a:prstGeom>
          <a:noFill/>
        </p:spPr>
        <p:txBody>
          <a:bodyPr wrap="square" anchor="ctr">
            <a:spAutoFit/>
          </a:bodyPr>
          <a:lstStyle/>
          <a:p>
            <a:pPr algn="l">
              <a:spcAft>
                <a:spcPts val="400"/>
              </a:spcAft>
            </a:pPr>
            <a:r>
              <a:rPr sz="1200" b="0">
                <a:solidFill>
                  <a:srgbClr val="161B26"/>
                </a:solidFill>
                <a:latin typeface="Arial"/>
              </a:rPr>
              <a:t>State space</a:t>
            </a:r>
          </a:p>
        </p:txBody>
      </p:sp>
      <p:sp>
        <p:nvSpPr>
          <p:cNvPr id="17" name="Rectangle 16"/>
          <p:cNvSpPr/>
          <p:nvPr/>
        </p:nvSpPr>
        <p:spPr>
          <a:xfrm>
            <a:off x="3967581" y="2350007"/>
            <a:ext cx="7444130"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104741" y="2350007"/>
            <a:ext cx="7169810" cy="475488"/>
          </a:xfrm>
          <a:prstGeom prst="rect">
            <a:avLst/>
          </a:prstGeom>
          <a:noFill/>
        </p:spPr>
        <p:txBody>
          <a:bodyPr wrap="square" anchor="ctr">
            <a:spAutoFit/>
          </a:bodyPr>
          <a:lstStyle/>
          <a:p>
            <a:pPr algn="l">
              <a:spcAft>
                <a:spcPts val="400"/>
              </a:spcAft>
            </a:pPr>
            <a:r>
              <a:rPr sz="1200" b="0">
                <a:solidFill>
                  <a:srgbClr val="161B26"/>
                </a:solidFill>
                <a:latin typeface="Arial"/>
              </a:rPr>
              <a:t>A system's state is a unit vector in a complex Hilbert space.</a:t>
            </a:r>
          </a:p>
        </p:txBody>
      </p:sp>
      <p:sp>
        <p:nvSpPr>
          <p:cNvPr id="19" name="Rectangle 18"/>
          <p:cNvSpPr/>
          <p:nvPr/>
        </p:nvSpPr>
        <p:spPr>
          <a:xfrm>
            <a:off x="777240" y="2825495"/>
            <a:ext cx="744413"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2825495"/>
            <a:ext cx="470093" cy="475488"/>
          </a:xfrm>
          <a:prstGeom prst="rect">
            <a:avLst/>
          </a:prstGeom>
          <a:noFill/>
        </p:spPr>
        <p:txBody>
          <a:bodyPr wrap="square" anchor="ctr">
            <a:spAutoFit/>
          </a:bodyPr>
          <a:lstStyle/>
          <a:p>
            <a:pPr algn="l">
              <a:spcAft>
                <a:spcPts val="400"/>
              </a:spcAft>
            </a:pPr>
            <a:r>
              <a:rPr sz="1200" b="1">
                <a:solidFill>
                  <a:srgbClr val="161B26"/>
                </a:solidFill>
                <a:latin typeface="Arial"/>
              </a:rPr>
              <a:t>2</a:t>
            </a:r>
          </a:p>
        </p:txBody>
      </p:sp>
      <p:sp>
        <p:nvSpPr>
          <p:cNvPr id="21" name="Rectangle 20"/>
          <p:cNvSpPr/>
          <p:nvPr/>
        </p:nvSpPr>
        <p:spPr>
          <a:xfrm>
            <a:off x="1521653" y="2825495"/>
            <a:ext cx="2445928"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658813" y="2825495"/>
            <a:ext cx="2171608" cy="475488"/>
          </a:xfrm>
          <a:prstGeom prst="rect">
            <a:avLst/>
          </a:prstGeom>
          <a:noFill/>
        </p:spPr>
        <p:txBody>
          <a:bodyPr wrap="square" anchor="ctr">
            <a:spAutoFit/>
          </a:bodyPr>
          <a:lstStyle/>
          <a:p>
            <a:pPr algn="l">
              <a:spcAft>
                <a:spcPts val="400"/>
              </a:spcAft>
            </a:pPr>
            <a:r>
              <a:rPr sz="1200" b="0">
                <a:solidFill>
                  <a:srgbClr val="161B26"/>
                </a:solidFill>
                <a:latin typeface="Arial"/>
              </a:rPr>
              <a:t>Time evolution</a:t>
            </a:r>
          </a:p>
        </p:txBody>
      </p:sp>
      <p:sp>
        <p:nvSpPr>
          <p:cNvPr id="23" name="Rectangle 22"/>
          <p:cNvSpPr/>
          <p:nvPr/>
        </p:nvSpPr>
        <p:spPr>
          <a:xfrm>
            <a:off x="3967581" y="2825495"/>
            <a:ext cx="7444130"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104741" y="2825495"/>
            <a:ext cx="7169810" cy="475488"/>
          </a:xfrm>
          <a:prstGeom prst="rect">
            <a:avLst/>
          </a:prstGeom>
          <a:noFill/>
        </p:spPr>
        <p:txBody>
          <a:bodyPr wrap="square" anchor="ctr">
            <a:spAutoFit/>
          </a:bodyPr>
          <a:lstStyle/>
          <a:p>
            <a:pPr algn="l">
              <a:spcAft>
                <a:spcPts val="400"/>
              </a:spcAft>
            </a:pPr>
            <a:r>
              <a:rPr sz="1200" b="0">
                <a:solidFill>
                  <a:srgbClr val="161B26"/>
                </a:solidFill>
                <a:latin typeface="Arial"/>
              </a:rPr>
              <a:t>A closed system evolves by a unitary operator: |ψ'⟩ = U|ψ⟩.</a:t>
            </a:r>
          </a:p>
        </p:txBody>
      </p:sp>
      <p:sp>
        <p:nvSpPr>
          <p:cNvPr id="25" name="Rectangle 24"/>
          <p:cNvSpPr/>
          <p:nvPr/>
        </p:nvSpPr>
        <p:spPr>
          <a:xfrm>
            <a:off x="777240" y="3300983"/>
            <a:ext cx="744413"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4400" y="3300983"/>
            <a:ext cx="470093" cy="475488"/>
          </a:xfrm>
          <a:prstGeom prst="rect">
            <a:avLst/>
          </a:prstGeom>
          <a:noFill/>
        </p:spPr>
        <p:txBody>
          <a:bodyPr wrap="square" anchor="ctr">
            <a:spAutoFit/>
          </a:bodyPr>
          <a:lstStyle/>
          <a:p>
            <a:pPr algn="l">
              <a:spcAft>
                <a:spcPts val="400"/>
              </a:spcAft>
            </a:pPr>
            <a:r>
              <a:rPr sz="1200" b="1">
                <a:solidFill>
                  <a:srgbClr val="161B26"/>
                </a:solidFill>
                <a:latin typeface="Arial"/>
              </a:rPr>
              <a:t>3</a:t>
            </a:r>
          </a:p>
        </p:txBody>
      </p:sp>
      <p:sp>
        <p:nvSpPr>
          <p:cNvPr id="27" name="Rectangle 26"/>
          <p:cNvSpPr/>
          <p:nvPr/>
        </p:nvSpPr>
        <p:spPr>
          <a:xfrm>
            <a:off x="1521653" y="3300983"/>
            <a:ext cx="2445928"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658813" y="3300983"/>
            <a:ext cx="2171608" cy="475488"/>
          </a:xfrm>
          <a:prstGeom prst="rect">
            <a:avLst/>
          </a:prstGeom>
          <a:noFill/>
        </p:spPr>
        <p:txBody>
          <a:bodyPr wrap="square" anchor="ctr">
            <a:spAutoFit/>
          </a:bodyPr>
          <a:lstStyle/>
          <a:p>
            <a:pPr algn="l">
              <a:spcAft>
                <a:spcPts val="400"/>
              </a:spcAft>
            </a:pPr>
            <a:r>
              <a:rPr sz="1200" b="0">
                <a:solidFill>
                  <a:srgbClr val="161B26"/>
                </a:solidFill>
                <a:latin typeface="Arial"/>
              </a:rPr>
              <a:t>Observables</a:t>
            </a:r>
          </a:p>
        </p:txBody>
      </p:sp>
      <p:sp>
        <p:nvSpPr>
          <p:cNvPr id="29" name="Rectangle 28"/>
          <p:cNvSpPr/>
          <p:nvPr/>
        </p:nvSpPr>
        <p:spPr>
          <a:xfrm>
            <a:off x="3967581" y="3300983"/>
            <a:ext cx="7444130"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104741" y="3300983"/>
            <a:ext cx="7169810" cy="475488"/>
          </a:xfrm>
          <a:prstGeom prst="rect">
            <a:avLst/>
          </a:prstGeom>
          <a:noFill/>
        </p:spPr>
        <p:txBody>
          <a:bodyPr wrap="square" anchor="ctr">
            <a:spAutoFit/>
          </a:bodyPr>
          <a:lstStyle/>
          <a:p>
            <a:pPr algn="l">
              <a:spcAft>
                <a:spcPts val="400"/>
              </a:spcAft>
            </a:pPr>
            <a:r>
              <a:rPr sz="1200" b="0">
                <a:solidFill>
                  <a:srgbClr val="161B26"/>
                </a:solidFill>
                <a:latin typeface="Arial"/>
              </a:rPr>
              <a:t>Measurable quantities are Hermitian operators with real eigenvalues.</a:t>
            </a:r>
          </a:p>
        </p:txBody>
      </p:sp>
      <p:sp>
        <p:nvSpPr>
          <p:cNvPr id="31" name="Rectangle 30"/>
          <p:cNvSpPr/>
          <p:nvPr/>
        </p:nvSpPr>
        <p:spPr>
          <a:xfrm>
            <a:off x="777240" y="3776471"/>
            <a:ext cx="744413"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14400" y="3776471"/>
            <a:ext cx="470093" cy="475488"/>
          </a:xfrm>
          <a:prstGeom prst="rect">
            <a:avLst/>
          </a:prstGeom>
          <a:noFill/>
        </p:spPr>
        <p:txBody>
          <a:bodyPr wrap="square" anchor="ctr">
            <a:spAutoFit/>
          </a:bodyPr>
          <a:lstStyle/>
          <a:p>
            <a:pPr algn="l">
              <a:spcAft>
                <a:spcPts val="400"/>
              </a:spcAft>
            </a:pPr>
            <a:r>
              <a:rPr sz="1200" b="1">
                <a:solidFill>
                  <a:srgbClr val="161B26"/>
                </a:solidFill>
                <a:latin typeface="Arial"/>
              </a:rPr>
              <a:t>4</a:t>
            </a:r>
          </a:p>
        </p:txBody>
      </p:sp>
      <p:sp>
        <p:nvSpPr>
          <p:cNvPr id="33" name="Rectangle 32"/>
          <p:cNvSpPr/>
          <p:nvPr/>
        </p:nvSpPr>
        <p:spPr>
          <a:xfrm>
            <a:off x="1521653" y="3776471"/>
            <a:ext cx="2445928"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658813" y="3776471"/>
            <a:ext cx="2171608" cy="475488"/>
          </a:xfrm>
          <a:prstGeom prst="rect">
            <a:avLst/>
          </a:prstGeom>
          <a:noFill/>
        </p:spPr>
        <p:txBody>
          <a:bodyPr wrap="square" anchor="ctr">
            <a:spAutoFit/>
          </a:bodyPr>
          <a:lstStyle/>
          <a:p>
            <a:pPr algn="l">
              <a:spcAft>
                <a:spcPts val="400"/>
              </a:spcAft>
            </a:pPr>
            <a:r>
              <a:rPr sz="1200" b="0">
                <a:solidFill>
                  <a:srgbClr val="161B26"/>
                </a:solidFill>
                <a:latin typeface="Arial"/>
              </a:rPr>
              <a:t>Born rule</a:t>
            </a:r>
          </a:p>
        </p:txBody>
      </p:sp>
      <p:sp>
        <p:nvSpPr>
          <p:cNvPr id="35" name="Rectangle 34"/>
          <p:cNvSpPr/>
          <p:nvPr/>
        </p:nvSpPr>
        <p:spPr>
          <a:xfrm>
            <a:off x="3967581" y="3776471"/>
            <a:ext cx="7444130"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104741" y="3776471"/>
            <a:ext cx="7169810" cy="475488"/>
          </a:xfrm>
          <a:prstGeom prst="rect">
            <a:avLst/>
          </a:prstGeom>
          <a:noFill/>
        </p:spPr>
        <p:txBody>
          <a:bodyPr wrap="square" anchor="ctr">
            <a:spAutoFit/>
          </a:bodyPr>
          <a:lstStyle/>
          <a:p>
            <a:pPr algn="l">
              <a:spcAft>
                <a:spcPts val="400"/>
              </a:spcAft>
            </a:pPr>
            <a:r>
              <a:rPr sz="1200" b="0">
                <a:solidFill>
                  <a:srgbClr val="161B26"/>
                </a:solidFill>
                <a:latin typeface="Arial"/>
              </a:rPr>
              <a:t>The probability of an outcome is the squared amplitude.</a:t>
            </a:r>
          </a:p>
        </p:txBody>
      </p:sp>
      <p:sp>
        <p:nvSpPr>
          <p:cNvPr id="37" name="Rectangle 36"/>
          <p:cNvSpPr/>
          <p:nvPr/>
        </p:nvSpPr>
        <p:spPr>
          <a:xfrm>
            <a:off x="777240" y="4251959"/>
            <a:ext cx="744413"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14400" y="4251959"/>
            <a:ext cx="470093" cy="475488"/>
          </a:xfrm>
          <a:prstGeom prst="rect">
            <a:avLst/>
          </a:prstGeom>
          <a:noFill/>
        </p:spPr>
        <p:txBody>
          <a:bodyPr wrap="square" anchor="ctr">
            <a:spAutoFit/>
          </a:bodyPr>
          <a:lstStyle/>
          <a:p>
            <a:pPr algn="l">
              <a:spcAft>
                <a:spcPts val="400"/>
              </a:spcAft>
            </a:pPr>
            <a:r>
              <a:rPr sz="1200" b="1">
                <a:solidFill>
                  <a:srgbClr val="161B26"/>
                </a:solidFill>
                <a:latin typeface="Arial"/>
              </a:rPr>
              <a:t>5</a:t>
            </a:r>
          </a:p>
        </p:txBody>
      </p:sp>
      <p:sp>
        <p:nvSpPr>
          <p:cNvPr id="39" name="Rectangle 38"/>
          <p:cNvSpPr/>
          <p:nvPr/>
        </p:nvSpPr>
        <p:spPr>
          <a:xfrm>
            <a:off x="1521653" y="4251959"/>
            <a:ext cx="2445928"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658813" y="4251959"/>
            <a:ext cx="2171608" cy="475488"/>
          </a:xfrm>
          <a:prstGeom prst="rect">
            <a:avLst/>
          </a:prstGeom>
          <a:noFill/>
        </p:spPr>
        <p:txBody>
          <a:bodyPr wrap="square" anchor="ctr">
            <a:spAutoFit/>
          </a:bodyPr>
          <a:lstStyle/>
          <a:p>
            <a:pPr algn="l">
              <a:spcAft>
                <a:spcPts val="400"/>
              </a:spcAft>
            </a:pPr>
            <a:r>
              <a:rPr sz="1200" b="0">
                <a:solidFill>
                  <a:srgbClr val="161B26"/>
                </a:solidFill>
                <a:latin typeface="Arial"/>
              </a:rPr>
              <a:t>Collapse</a:t>
            </a:r>
          </a:p>
        </p:txBody>
      </p:sp>
      <p:sp>
        <p:nvSpPr>
          <p:cNvPr id="41" name="Rectangle 40"/>
          <p:cNvSpPr/>
          <p:nvPr/>
        </p:nvSpPr>
        <p:spPr>
          <a:xfrm>
            <a:off x="3967581" y="4251959"/>
            <a:ext cx="7444130"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104741" y="4251959"/>
            <a:ext cx="7169810" cy="475488"/>
          </a:xfrm>
          <a:prstGeom prst="rect">
            <a:avLst/>
          </a:prstGeom>
          <a:noFill/>
        </p:spPr>
        <p:txBody>
          <a:bodyPr wrap="square" anchor="ctr">
            <a:spAutoFit/>
          </a:bodyPr>
          <a:lstStyle/>
          <a:p>
            <a:pPr algn="l">
              <a:spcAft>
                <a:spcPts val="400"/>
              </a:spcAft>
            </a:pPr>
            <a:r>
              <a:rPr sz="1200" b="0">
                <a:solidFill>
                  <a:srgbClr val="161B26"/>
                </a:solidFill>
                <a:latin typeface="Arial"/>
              </a:rPr>
              <a:t>After measurement the state collapses to the measured eigenstate.</a:t>
            </a:r>
          </a:p>
        </p:txBody>
      </p:sp>
      <p:sp>
        <p:nvSpPr>
          <p:cNvPr id="43" name="TextBox 4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44" name="TextBox 4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5" name="TextBox 4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WHAT YOU'LL DO</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Hands-On Activities — Quantum Physics Fundamentals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Activity 1</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a:solidFill>
                  <a:srgbClr val="161B26"/>
                </a:solidFill>
                <a:latin typeface="Arial"/>
              </a:rPr>
              <a:t>•  Linear Algebra for Quantum Mechanics in Python</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a:solidFill>
                  <a:srgbClr val="161B26"/>
                </a:solidFill>
                <a:latin typeface="Arial"/>
              </a:rPr>
              <a:t>•  —</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a:solidFill>
                  <a:srgbClr val="161B26"/>
                </a:solidFill>
                <a:latin typeface="Arial"/>
              </a:rPr>
              <a:t>•  —</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01 · HANDS-ON ACTIVITY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Linear Algebra for Quantum Mechanics in Python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646920" y="457200"/>
            <a:ext cx="17830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57200"/>
            <a:ext cx="1783080" cy="457200"/>
          </a:xfrm>
          <a:prstGeom prst="rect">
            <a:avLst/>
          </a:prstGeom>
          <a:noFill/>
        </p:spPr>
        <p:txBody>
          <a:bodyPr wrap="square" anchor="ctr">
            <a:spAutoFit/>
          </a:bodyPr>
          <a:lstStyle/>
          <a:p>
            <a:pPr algn="ctr">
              <a:spcAft>
                <a:spcPts val="400"/>
              </a:spcAft>
            </a:pPr>
            <a:r>
              <a:rPr sz="1300" b="1">
                <a:solidFill>
                  <a:srgbClr val="FFFFFF"/>
                </a:solidFill>
                <a:latin typeface="Arial"/>
              </a:rPr>
              <a:t>ACTIVITY 1</a:t>
            </a:r>
          </a:p>
        </p:txBody>
      </p:sp>
      <p:sp>
        <p:nvSpPr>
          <p:cNvPr id="9" name="TextBox 8"/>
          <p:cNvSpPr txBox="1"/>
          <p:nvPr/>
        </p:nvSpPr>
        <p:spPr>
          <a:xfrm>
            <a:off x="777240" y="1828800"/>
            <a:ext cx="10607040" cy="1051560"/>
          </a:xfrm>
          <a:prstGeom prst="rect">
            <a:avLst/>
          </a:prstGeom>
          <a:noFill/>
        </p:spPr>
        <p:txBody>
          <a:bodyPr wrap="square" anchor="t">
            <a:spAutoFit/>
          </a:bodyPr>
          <a:lstStyle/>
          <a:p>
            <a:pPr algn="l">
              <a:spcAft>
                <a:spcPts val="400"/>
              </a:spcAft>
            </a:pPr>
            <a:r>
              <a:rPr sz="1700" b="0">
                <a:solidFill>
                  <a:srgbClr val="161B26"/>
                </a:solidFill>
                <a:latin typeface="Arial"/>
              </a:rPr>
              <a:t>Work with the mathematical objects every quantum algorithm is built from: state vectors, inner and outer products, unitary and Hermitian operators, eigenvalues and tensor products — all in NumPy.</a:t>
            </a:r>
          </a:p>
        </p:txBody>
      </p:sp>
      <p:sp>
        <p:nvSpPr>
          <p:cNvPr id="10" name="Rectangle 9"/>
          <p:cNvSpPr/>
          <p:nvPr/>
        </p:nvSpPr>
        <p:spPr>
          <a:xfrm>
            <a:off x="777240" y="2971800"/>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2971800"/>
            <a:ext cx="10241280" cy="457200"/>
          </a:xfrm>
          <a:prstGeom prst="rect">
            <a:avLst/>
          </a:prstGeom>
          <a:noFill/>
        </p:spPr>
        <p:txBody>
          <a:bodyPr wrap="square" anchor="ctr">
            <a:spAutoFit/>
          </a:bodyPr>
          <a:lstStyle/>
          <a:p>
            <a:pPr algn="l">
              <a:spcAft>
                <a:spcPts val="400"/>
              </a:spcAft>
            </a:pPr>
            <a:r>
              <a:rPr sz="1100" b="1">
                <a:solidFill>
                  <a:srgbClr val="1F6FEB"/>
                </a:solidFill>
                <a:latin typeface="Arial"/>
              </a:rPr>
              <a:t>MAPS TO  </a:t>
            </a:r>
            <a:r>
              <a:rPr sz="1250" b="0">
                <a:solidFill>
                  <a:srgbClr val="161B26"/>
                </a:solidFill>
                <a:latin typeface="Arial"/>
              </a:rPr>
              <a:t>LO1 — Design mathematical models required for quantum computing applications</a:t>
            </a:r>
          </a:p>
        </p:txBody>
      </p:sp>
      <p:sp>
        <p:nvSpPr>
          <p:cNvPr id="12" name="Rectangle 11"/>
          <p:cNvSpPr/>
          <p:nvPr/>
        </p:nvSpPr>
        <p:spPr>
          <a:xfrm>
            <a:off x="777240" y="3611880"/>
            <a:ext cx="10634472" cy="1234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1560" y="3767328"/>
            <a:ext cx="10058400" cy="365760"/>
          </a:xfrm>
          <a:prstGeom prst="rect">
            <a:avLst/>
          </a:prstGeom>
          <a:noFill/>
        </p:spPr>
        <p:txBody>
          <a:bodyPr wrap="square" anchor="t">
            <a:spAutoFit/>
          </a:bodyPr>
          <a:lstStyle/>
          <a:p>
            <a:pPr algn="l">
              <a:spcAft>
                <a:spcPts val="400"/>
              </a:spcAft>
            </a:pPr>
            <a:r>
              <a:rPr sz="1200" b="1">
                <a:solidFill>
                  <a:srgbClr val="127A3E"/>
                </a:solidFill>
                <a:latin typeface="Arial"/>
              </a:rPr>
              <a:t>YOU'LL PRODUCE</a:t>
            </a:r>
          </a:p>
        </p:txBody>
      </p:sp>
      <p:sp>
        <p:nvSpPr>
          <p:cNvPr id="14" name="TextBox 13"/>
          <p:cNvSpPr txBox="1"/>
          <p:nvPr/>
        </p:nvSpPr>
        <p:spPr>
          <a:xfrm>
            <a:off x="1051560" y="4133087"/>
            <a:ext cx="10058400" cy="640080"/>
          </a:xfrm>
          <a:prstGeom prst="rect">
            <a:avLst/>
          </a:prstGeom>
          <a:noFill/>
        </p:spPr>
        <p:txBody>
          <a:bodyPr wrap="square" anchor="t">
            <a:spAutoFit/>
          </a:bodyPr>
          <a:lstStyle/>
          <a:p>
            <a:pPr algn="l">
              <a:spcAft>
                <a:spcPts val="400"/>
              </a:spcAft>
            </a:pPr>
            <a:r>
              <a:rPr sz="1550" b="1">
                <a:solidFill>
                  <a:srgbClr val="161B26"/>
                </a:solidFill>
                <a:latin typeface="Arial"/>
              </a:rPr>
              <a:t>A Python notebook that verifies unitarity and Hermiticity, computes eigenvalues/eigenvectors, and builds two-qubit states with the tensor product.</a:t>
            </a:r>
          </a:p>
        </p:txBody>
      </p:sp>
      <p:sp>
        <p:nvSpPr>
          <p:cNvPr id="15" name="Rectangle 14"/>
          <p:cNvSpPr/>
          <p:nvPr/>
        </p:nvSpPr>
        <p:spPr>
          <a:xfrm>
            <a:off x="777240" y="5029200"/>
            <a:ext cx="10634472"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5138928"/>
            <a:ext cx="10058400" cy="365760"/>
          </a:xfrm>
          <a:prstGeom prst="rect">
            <a:avLst/>
          </a:prstGeom>
          <a:noFill/>
        </p:spPr>
        <p:txBody>
          <a:bodyPr wrap="square" anchor="t">
            <a:spAutoFit/>
          </a:bodyPr>
          <a:lstStyle/>
          <a:p>
            <a:pPr algn="l">
              <a:spcAft>
                <a:spcPts val="400"/>
              </a:spcAft>
            </a:pPr>
            <a:r>
              <a:rPr sz="1200" b="1">
                <a:solidFill>
                  <a:srgbClr val="5B6372"/>
                </a:solidFill>
                <a:latin typeface="Arial"/>
              </a:rPr>
              <a:t>Tools:  </a:t>
            </a:r>
            <a:r>
              <a:rPr sz="1200" b="0">
                <a:solidFill>
                  <a:srgbClr val="5B6372"/>
                </a:solidFill>
                <a:latin typeface="Arial"/>
              </a:rPr>
              <a:t>Python 3.13, NumPy, Google Colab / VS Code</a:t>
            </a:r>
          </a:p>
        </p:txBody>
      </p:sp>
      <p:sp>
        <p:nvSpPr>
          <p:cNvPr id="17" name="TextBox 16"/>
          <p:cNvSpPr txBox="1"/>
          <p:nvPr/>
        </p:nvSpPr>
        <p:spPr>
          <a:xfrm>
            <a:off x="1051560" y="5504688"/>
            <a:ext cx="10058400" cy="365760"/>
          </a:xfrm>
          <a:prstGeom prst="rect">
            <a:avLst/>
          </a:prstGeom>
          <a:noFill/>
        </p:spPr>
        <p:txBody>
          <a:bodyPr wrap="square" anchor="t">
            <a:spAutoFit/>
          </a:bodyPr>
          <a:lstStyle/>
          <a:p>
            <a:pPr algn="l">
              <a:spcAft>
                <a:spcPts val="400"/>
              </a:spcAft>
            </a:pPr>
            <a:r>
              <a:rPr sz="1200" b="1">
                <a:solidFill>
                  <a:srgbClr val="1F6FEB"/>
                </a:solidFill>
                <a:latin typeface="Arial"/>
              </a:rPr>
              <a:t>Full step-by-step guide:  </a:t>
            </a:r>
            <a:r>
              <a:rPr sz="1200" b="0">
                <a:solidFill>
                  <a:srgbClr val="161B26"/>
                </a:solidFill>
                <a:latin typeface="Arial"/>
              </a:rPr>
              <a:t>Learner Guide — Activity 1: Linear Algebra for Quantum Mechanics in Python</a:t>
            </a:r>
          </a:p>
        </p:txBody>
      </p:sp>
      <p:sp>
        <p:nvSpPr>
          <p:cNvPr id="18" name="TextBox 1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9" name="TextBox 1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0" name="TextBox 1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 · VERIFY &amp; DEBRIEF</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Linear Algebra for Quantum Mechanics in Python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21488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21488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1965960"/>
            <a:ext cx="10058400" cy="411480"/>
          </a:xfrm>
          <a:prstGeom prst="rect">
            <a:avLst/>
          </a:prstGeom>
          <a:noFill/>
        </p:spPr>
        <p:txBody>
          <a:bodyPr wrap="square" anchor="t">
            <a:spAutoFit/>
          </a:bodyPr>
          <a:lstStyle/>
          <a:p>
            <a:pPr algn="l">
              <a:spcAft>
                <a:spcPts val="400"/>
              </a:spcAft>
            </a:pPr>
            <a:r>
              <a:rPr sz="1300" b="1">
                <a:solidFill>
                  <a:srgbClr val="127A3E"/>
                </a:solidFill>
                <a:latin typeface="Arial"/>
              </a:rPr>
              <a:t>TEST IT — HOW YOU KNOW IT WORKED</a:t>
            </a:r>
          </a:p>
        </p:txBody>
      </p:sp>
      <p:sp>
        <p:nvSpPr>
          <p:cNvPr id="10" name="TextBox 9"/>
          <p:cNvSpPr txBox="1"/>
          <p:nvPr/>
        </p:nvSpPr>
        <p:spPr>
          <a:xfrm>
            <a:off x="1143000" y="2423160"/>
            <a:ext cx="10058400" cy="1371600"/>
          </a:xfrm>
          <a:prstGeom prst="rect">
            <a:avLst/>
          </a:prstGeom>
          <a:noFill/>
        </p:spPr>
        <p:txBody>
          <a:bodyPr wrap="square" anchor="t">
            <a:spAutoFit/>
          </a:bodyPr>
          <a:lstStyle/>
          <a:p>
            <a:pPr algn="l">
              <a:spcAft>
                <a:spcPts val="400"/>
              </a:spcAft>
            </a:pPr>
            <a:r>
              <a:rPr sz="1600" b="0">
                <a:solidFill>
                  <a:srgbClr val="161B26"/>
                </a:solidFill>
                <a:latin typeface="Arial"/>
              </a:rPr>
              <a:t>H-dagger H equals the identity, X and Z return real eigenvalues +1 and -1, the Born-rule probability of measuring 0 in |+&gt; is 0.5, and the tensor product produces a 4-component two-qubit state.</a:t>
            </a:r>
          </a:p>
        </p:txBody>
      </p:sp>
      <p:sp>
        <p:nvSpPr>
          <p:cNvPr id="11" name="TextBox 10"/>
          <p:cNvSpPr txBox="1"/>
          <p:nvPr/>
        </p:nvSpPr>
        <p:spPr>
          <a:xfrm>
            <a:off x="777240" y="4096512"/>
            <a:ext cx="10607040" cy="365760"/>
          </a:xfrm>
          <a:prstGeom prst="rect">
            <a:avLst/>
          </a:prstGeom>
          <a:noFill/>
        </p:spPr>
        <p:txBody>
          <a:bodyPr wrap="square" anchor="t">
            <a:spAutoFit/>
          </a:bodyPr>
          <a:lstStyle/>
          <a:p>
            <a:pPr algn="l">
              <a:spcAft>
                <a:spcPts val="400"/>
              </a:spcAft>
            </a:pPr>
            <a:r>
              <a:rPr sz="1300" b="1">
                <a:solidFill>
                  <a:srgbClr val="1F6FEB"/>
                </a:solidFill>
                <a:latin typeface="Arial"/>
              </a:rPr>
              <a:t>DISCUSS WITH YOUR TRAINER</a:t>
            </a:r>
          </a:p>
        </p:txBody>
      </p:sp>
      <p:sp>
        <p:nvSpPr>
          <p:cNvPr id="12" name="Rectangle 11"/>
          <p:cNvSpPr/>
          <p:nvPr/>
        </p:nvSpPr>
        <p:spPr>
          <a:xfrm>
            <a:off x="777240" y="4480560"/>
            <a:ext cx="3447288" cy="1463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480560"/>
            <a:ext cx="3447288"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8" y="4663440"/>
            <a:ext cx="3044952" cy="457200"/>
          </a:xfrm>
          <a:prstGeom prst="rect">
            <a:avLst/>
          </a:prstGeom>
          <a:noFill/>
        </p:spPr>
        <p:txBody>
          <a:bodyPr wrap="square" anchor="t">
            <a:spAutoFit/>
          </a:bodyPr>
          <a:lstStyle/>
          <a:p>
            <a:pPr algn="l">
              <a:spcAft>
                <a:spcPts val="400"/>
              </a:spcAft>
            </a:pPr>
            <a:r>
              <a:rPr sz="1350" b="1">
                <a:solidFill>
                  <a:srgbClr val="1F6FEB"/>
                </a:solidFill>
                <a:latin typeface="Arial"/>
              </a:rPr>
              <a:t>What did the result show?</a:t>
            </a:r>
          </a:p>
        </p:txBody>
      </p:sp>
      <p:sp>
        <p:nvSpPr>
          <p:cNvPr id="15" name="TextBox 14"/>
          <p:cNvSpPr txBox="1"/>
          <p:nvPr/>
        </p:nvSpPr>
        <p:spPr>
          <a:xfrm>
            <a:off x="978408" y="5138928"/>
            <a:ext cx="3044952" cy="731520"/>
          </a:xfrm>
          <a:prstGeom prst="rect">
            <a:avLst/>
          </a:prstGeom>
          <a:noFill/>
        </p:spPr>
        <p:txBody>
          <a:bodyPr wrap="square" anchor="t">
            <a:spAutoFit/>
          </a:bodyPr>
          <a:lstStyle/>
          <a:p>
            <a:pPr algn="l">
              <a:spcAft>
                <a:spcPts val="400"/>
              </a:spcAft>
            </a:pPr>
            <a:r>
              <a:rPr sz="1200" b="0">
                <a:solidFill>
                  <a:srgbClr val="5B6372"/>
                </a:solidFill>
                <a:latin typeface="Arial"/>
              </a:rPr>
              <a:t>Restate the outcome in your own words.</a:t>
            </a:r>
          </a:p>
        </p:txBody>
      </p:sp>
      <p:sp>
        <p:nvSpPr>
          <p:cNvPr id="16" name="Rectangle 15"/>
          <p:cNvSpPr/>
          <p:nvPr/>
        </p:nvSpPr>
        <p:spPr>
          <a:xfrm>
            <a:off x="4370832" y="4480560"/>
            <a:ext cx="3447288" cy="1463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70832" y="4480560"/>
            <a:ext cx="344728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0" y="4663440"/>
            <a:ext cx="3044952" cy="457200"/>
          </a:xfrm>
          <a:prstGeom prst="rect">
            <a:avLst/>
          </a:prstGeom>
          <a:noFill/>
        </p:spPr>
        <p:txBody>
          <a:bodyPr wrap="square" anchor="t">
            <a:spAutoFit/>
          </a:bodyPr>
          <a:lstStyle/>
          <a:p>
            <a:pPr algn="l">
              <a:spcAft>
                <a:spcPts val="400"/>
              </a:spcAft>
            </a:pPr>
            <a:r>
              <a:rPr sz="1350" b="1">
                <a:solidFill>
                  <a:srgbClr val="10B981"/>
                </a:solidFill>
                <a:latin typeface="Arial"/>
              </a:rPr>
              <a:t>Why does it work?</a:t>
            </a:r>
          </a:p>
        </p:txBody>
      </p:sp>
      <p:sp>
        <p:nvSpPr>
          <p:cNvPr id="19" name="TextBox 18"/>
          <p:cNvSpPr txBox="1"/>
          <p:nvPr/>
        </p:nvSpPr>
        <p:spPr>
          <a:xfrm>
            <a:off x="4572000" y="5138928"/>
            <a:ext cx="3044952" cy="731520"/>
          </a:xfrm>
          <a:prstGeom prst="rect">
            <a:avLst/>
          </a:prstGeom>
          <a:noFill/>
        </p:spPr>
        <p:txBody>
          <a:bodyPr wrap="square" anchor="t">
            <a:spAutoFit/>
          </a:bodyPr>
          <a:lstStyle/>
          <a:p>
            <a:pPr algn="l">
              <a:spcAft>
                <a:spcPts val="400"/>
              </a:spcAft>
            </a:pPr>
            <a:r>
              <a:rPr sz="1200" b="0">
                <a:solidFill>
                  <a:srgbClr val="5B6372"/>
                </a:solidFill>
                <a:latin typeface="Arial"/>
              </a:rPr>
              <a:t>Name the quantum principle the activity relies on.</a:t>
            </a:r>
          </a:p>
        </p:txBody>
      </p:sp>
      <p:sp>
        <p:nvSpPr>
          <p:cNvPr id="20" name="Rectangle 19"/>
          <p:cNvSpPr/>
          <p:nvPr/>
        </p:nvSpPr>
        <p:spPr>
          <a:xfrm>
            <a:off x="7964424" y="4480560"/>
            <a:ext cx="3447288" cy="1463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964424" y="4480560"/>
            <a:ext cx="3447288"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65592" y="4663440"/>
            <a:ext cx="3044952" cy="457200"/>
          </a:xfrm>
          <a:prstGeom prst="rect">
            <a:avLst/>
          </a:prstGeom>
          <a:noFill/>
        </p:spPr>
        <p:txBody>
          <a:bodyPr wrap="square" anchor="t">
            <a:spAutoFit/>
          </a:bodyPr>
          <a:lstStyle/>
          <a:p>
            <a:pPr algn="l">
              <a:spcAft>
                <a:spcPts val="400"/>
              </a:spcAft>
            </a:pPr>
            <a:r>
              <a:rPr sz="1350" b="1">
                <a:solidFill>
                  <a:srgbClr val="7C3AED"/>
                </a:solidFill>
                <a:latin typeface="Arial"/>
              </a:rPr>
              <a:t>Where would you use it?</a:t>
            </a:r>
          </a:p>
        </p:txBody>
      </p:sp>
      <p:sp>
        <p:nvSpPr>
          <p:cNvPr id="23" name="TextBox 22"/>
          <p:cNvSpPr txBox="1"/>
          <p:nvPr/>
        </p:nvSpPr>
        <p:spPr>
          <a:xfrm>
            <a:off x="8165592" y="5138928"/>
            <a:ext cx="3044952" cy="731520"/>
          </a:xfrm>
          <a:prstGeom prst="rect">
            <a:avLst/>
          </a:prstGeom>
          <a:noFill/>
        </p:spPr>
        <p:txBody>
          <a:bodyPr wrap="square" anchor="t">
            <a:spAutoFit/>
          </a:bodyPr>
          <a:lstStyle/>
          <a:p>
            <a:pPr algn="l">
              <a:spcAft>
                <a:spcPts val="400"/>
              </a:spcAft>
            </a:pPr>
            <a:r>
              <a:rPr sz="1200" b="0">
                <a:solidFill>
                  <a:srgbClr val="5B6372"/>
                </a:solidFill>
                <a:latin typeface="Arial"/>
              </a:rPr>
              <a:t>Give one realistic application in your own field.</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RECAP</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Recap — Quantum Physics Fundamentals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600">
                <a:solidFill>
                  <a:srgbClr val="161B26"/>
                </a:solidFill>
                <a:latin typeface="Arial"/>
              </a:rPr>
              <a:t>•  The five postulates</a:t>
            </a:r>
          </a:p>
          <a:p>
            <a:pPr>
              <a:spcAft>
                <a:spcPts val="1000"/>
              </a:spcAft>
            </a:pPr>
            <a:r>
              <a:rPr sz="1600">
                <a:solidFill>
                  <a:srgbClr val="161B26"/>
                </a:solidFill>
                <a:latin typeface="Arial"/>
              </a:rPr>
              <a:t>•  Hilbert space</a:t>
            </a:r>
          </a:p>
          <a:p>
            <a:pPr>
              <a:spcAft>
                <a:spcPts val="1000"/>
              </a:spcAft>
            </a:pPr>
            <a:r>
              <a:rPr sz="1600">
                <a:solidFill>
                  <a:srgbClr val="161B26"/>
                </a:solidFill>
                <a:latin typeface="Arial"/>
              </a:rPr>
              <a:t>•  Unitary operators</a:t>
            </a:r>
          </a:p>
          <a:p>
            <a:pPr>
              <a:spcAft>
                <a:spcPts val="1000"/>
              </a:spcAft>
            </a:pPr>
            <a:r>
              <a:rPr sz="1600">
                <a:solidFill>
                  <a:srgbClr val="161B26"/>
                </a:solidFill>
                <a:latin typeface="Arial"/>
              </a:rPr>
              <a:t>•  Hermitian operators</a:t>
            </a:r>
          </a:p>
          <a:p>
            <a:pPr>
              <a:spcAft>
                <a:spcPts val="1000"/>
              </a:spcAft>
            </a:pPr>
            <a:r>
              <a:rPr sz="1600">
                <a:solidFill>
                  <a:srgbClr val="161B26"/>
                </a:solidFill>
                <a:latin typeface="Arial"/>
              </a:rPr>
              <a:t>•  Dirac notation</a:t>
            </a:r>
          </a:p>
          <a:p>
            <a:pPr>
              <a:spcAft>
                <a:spcPts val="1000"/>
              </a:spcAft>
            </a:pPr>
            <a:r>
              <a:rPr sz="1600">
                <a:solidFill>
                  <a:srgbClr val="161B26"/>
                </a:solidFill>
                <a:latin typeface="Arial"/>
              </a:rPr>
              <a:t>•  Tensor products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26</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02</a:t>
            </a:r>
          </a:p>
        </p:txBody>
      </p:sp>
      <p:sp>
        <p:nvSpPr>
          <p:cNvPr id="6" name="TextBox 5"/>
          <p:cNvSpPr txBox="1"/>
          <p:nvPr/>
        </p:nvSpPr>
        <p:spPr>
          <a:xfrm>
            <a:off x="1143000" y="2743200"/>
            <a:ext cx="9509760" cy="1463040"/>
          </a:xfrm>
          <a:prstGeom prst="rect">
            <a:avLst/>
          </a:prstGeom>
          <a:noFill/>
        </p:spPr>
        <p:txBody>
          <a:bodyPr wrap="square" anchor="t">
            <a:spAutoFit/>
          </a:bodyPr>
          <a:lstStyle/>
          <a:p>
            <a:pPr algn="l">
              <a:spcAft>
                <a:spcPts val="400"/>
              </a:spcAft>
            </a:pPr>
            <a:r>
              <a:rPr sz="4000" b="1">
                <a:solidFill>
                  <a:srgbClr val="161B26"/>
                </a:solidFill>
                <a:latin typeface="Arial"/>
              </a:rPr>
              <a:t>Introduction to Quantum Computing Systems</a:t>
            </a:r>
          </a:p>
        </p:txBody>
      </p:sp>
      <p:sp>
        <p:nvSpPr>
          <p:cNvPr id="7" name="TextBox 6"/>
          <p:cNvSpPr txBox="1"/>
          <p:nvPr/>
        </p:nvSpPr>
        <p:spPr>
          <a:xfrm>
            <a:off x="1161288" y="4251960"/>
            <a:ext cx="9692640" cy="822960"/>
          </a:xfrm>
          <a:prstGeom prst="rect">
            <a:avLst/>
          </a:prstGeom>
          <a:noFill/>
        </p:spPr>
        <p:txBody>
          <a:bodyPr wrap="square" anchor="t">
            <a:spAutoFit/>
          </a:bodyPr>
          <a:lstStyle/>
          <a:p>
            <a:pPr algn="l">
              <a:spcAft>
                <a:spcPts val="400"/>
              </a:spcAft>
            </a:pPr>
            <a:r>
              <a:rPr sz="1500" b="0">
                <a:solidFill>
                  <a:srgbClr val="5B6372"/>
                </a:solidFill>
                <a:latin typeface="Arial"/>
              </a:rPr>
              <a:t>Overview of quantum computers · Commercial systems · Superposition and Entanglement</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02</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27</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MAPS TO LO2, LO4</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Key Concepts — Introduction to Quantum Computing Systems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Qubit vs classical bit</a:t>
            </a:r>
          </a:p>
          <a:p>
            <a:pPr algn="l">
              <a:spcAft>
                <a:spcPts val="300"/>
              </a:spcAft>
            </a:pPr>
            <a:r>
              <a:rPr sz="1100" b="0">
                <a:solidFill>
                  <a:srgbClr val="5B6372"/>
                </a:solidFill>
                <a:latin typeface="Arial"/>
              </a:rPr>
              <a:t>A bit is 0 or 1; a qubit is α|0⟩ + β|1⟩ with |α|² + |β|² = 1, allowing superposition of both values.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Bloch sphere</a:t>
            </a:r>
          </a:p>
          <a:p>
            <a:pPr algn="l">
              <a:spcAft>
                <a:spcPts val="300"/>
              </a:spcAft>
            </a:pPr>
            <a:r>
              <a:rPr sz="1100" b="0">
                <a:solidFill>
                  <a:srgbClr val="5B6372"/>
                </a:solidFill>
                <a:latin typeface="Arial"/>
              </a:rPr>
              <a:t>Every pure single-qubit state maps to a point on the unit sphere — the standard geometric picture of qubit state and rotation.</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3429000"/>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Physical qubits</a:t>
            </a:r>
          </a:p>
          <a:p>
            <a:pPr algn="l">
              <a:spcAft>
                <a:spcPts val="300"/>
              </a:spcAft>
            </a:pPr>
            <a:r>
              <a:rPr sz="1100" b="0">
                <a:solidFill>
                  <a:srgbClr val="5B6372"/>
                </a:solidFill>
                <a:latin typeface="Arial"/>
              </a:rPr>
              <a:t>Superconducting (Josephson junction), trapped-ion and topological qubits trade off speed, coherence time and connectivity.</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3429000"/>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Commercial platforms</a:t>
            </a:r>
          </a:p>
          <a:p>
            <a:pPr algn="l">
              <a:spcAft>
                <a:spcPts val="300"/>
              </a:spcAft>
            </a:pPr>
            <a:r>
              <a:rPr sz="1100" b="0">
                <a:solidFill>
                  <a:srgbClr val="5B6372"/>
                </a:solidFill>
                <a:latin typeface="Arial"/>
              </a:rPr>
              <a:t>IBM Quantum, Google, IonQ, Rigetti and D-Wave offer cloud access to real quantum processors today.</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5</a:t>
            </a:r>
          </a:p>
        </p:txBody>
      </p:sp>
      <p:sp>
        <p:nvSpPr>
          <p:cNvPr id="31" name="TextBox 30"/>
          <p:cNvSpPr txBox="1"/>
          <p:nvPr/>
        </p:nvSpPr>
        <p:spPr>
          <a:xfrm>
            <a:off x="1764792" y="4965192"/>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Superposition</a:t>
            </a:r>
          </a:p>
          <a:p>
            <a:pPr algn="l">
              <a:spcAft>
                <a:spcPts val="300"/>
              </a:spcAft>
            </a:pPr>
            <a:r>
              <a:rPr sz="1100" b="0">
                <a:solidFill>
                  <a:srgbClr val="5B6372"/>
                </a:solidFill>
                <a:latin typeface="Arial"/>
              </a:rPr>
              <a:t>A quantum register of n qubits holds a superposition of all 2ⁿ basis states simultaneously — the source of quantum parallelism.</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6</a:t>
            </a:r>
          </a:p>
        </p:txBody>
      </p:sp>
      <p:sp>
        <p:nvSpPr>
          <p:cNvPr id="36" name="TextBox 35"/>
          <p:cNvSpPr txBox="1"/>
          <p:nvPr/>
        </p:nvSpPr>
        <p:spPr>
          <a:xfrm>
            <a:off x="7219188" y="4965192"/>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Entanglement</a:t>
            </a:r>
          </a:p>
          <a:p>
            <a:pPr algn="l">
              <a:spcAft>
                <a:spcPts val="300"/>
              </a:spcAft>
            </a:pPr>
            <a:r>
              <a:rPr sz="1100" b="0">
                <a:solidFill>
                  <a:srgbClr val="5B6372"/>
                </a:solidFill>
                <a:latin typeface="Arial"/>
              </a:rPr>
              <a:t>Entangled states cannot be written as a product of single-qubit states; measuring one qubit instantly correlates with the other.</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28</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GEOMETRY OF A SINGLE QUBIT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Visualising a Qubit — The Bloch Sphere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bloch-sphere.png"/>
          <p:cNvPicPr>
            <a:picLocks noChangeAspect="1"/>
          </p:cNvPicPr>
          <p:nvPr/>
        </p:nvPicPr>
        <p:blipFill>
          <a:blip r:embed="rId2"/>
          <a:stretch>
            <a:fillRect/>
          </a:stretch>
        </p:blipFill>
        <p:spPr>
          <a:xfrm>
            <a:off x="1937614" y="1783080"/>
            <a:ext cx="4080052" cy="4206240"/>
          </a:xfrm>
          <a:prstGeom prst="rect">
            <a:avLst/>
          </a:prstGeom>
        </p:spPr>
      </p:pic>
      <p:sp>
        <p:nvSpPr>
          <p:cNvPr id="8" name="Rectangle 7"/>
          <p:cNvSpPr/>
          <p:nvPr/>
        </p:nvSpPr>
        <p:spPr>
          <a:xfrm>
            <a:off x="7452360" y="1783080"/>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452360" y="1783080"/>
            <a:ext cx="82296" cy="9372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08392" y="1783080"/>
            <a:ext cx="3502152" cy="937260"/>
          </a:xfrm>
          <a:prstGeom prst="rect">
            <a:avLst/>
          </a:prstGeom>
          <a:noFill/>
        </p:spPr>
        <p:txBody>
          <a:bodyPr wrap="square" anchor="ctr">
            <a:spAutoFit/>
          </a:bodyPr>
          <a:lstStyle/>
          <a:p>
            <a:pPr algn="l">
              <a:spcAft>
                <a:spcPts val="300"/>
              </a:spcAft>
            </a:pPr>
            <a:r>
              <a:rPr sz="1400" b="1">
                <a:solidFill>
                  <a:srgbClr val="1F6FEB"/>
                </a:solidFill>
                <a:latin typeface="Arial"/>
              </a:rPr>
              <a:t>North / south poles</a:t>
            </a:r>
          </a:p>
          <a:p>
            <a:pPr algn="l">
              <a:spcAft>
                <a:spcPts val="300"/>
              </a:spcAft>
            </a:pPr>
            <a:r>
              <a:rPr sz="1200" b="0">
                <a:solidFill>
                  <a:srgbClr val="161B26"/>
                </a:solidFill>
                <a:latin typeface="Arial"/>
              </a:rPr>
              <a:t>|0⟩ and |1⟩ — the classical computational basis states.</a:t>
            </a:r>
          </a:p>
        </p:txBody>
      </p:sp>
      <p:sp>
        <p:nvSpPr>
          <p:cNvPr id="11" name="Rectangle 10"/>
          <p:cNvSpPr/>
          <p:nvPr/>
        </p:nvSpPr>
        <p:spPr>
          <a:xfrm>
            <a:off x="7452360" y="2903220"/>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452360" y="2903220"/>
            <a:ext cx="82296" cy="9372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08392" y="2903220"/>
            <a:ext cx="3502152" cy="937260"/>
          </a:xfrm>
          <a:prstGeom prst="rect">
            <a:avLst/>
          </a:prstGeom>
          <a:noFill/>
        </p:spPr>
        <p:txBody>
          <a:bodyPr wrap="square" anchor="ctr">
            <a:spAutoFit/>
          </a:bodyPr>
          <a:lstStyle/>
          <a:p>
            <a:pPr algn="l">
              <a:spcAft>
                <a:spcPts val="300"/>
              </a:spcAft>
            </a:pPr>
            <a:r>
              <a:rPr sz="1400" b="1">
                <a:solidFill>
                  <a:srgbClr val="10B981"/>
                </a:solidFill>
                <a:latin typeface="Arial"/>
              </a:rPr>
              <a:t>The equator</a:t>
            </a:r>
          </a:p>
          <a:p>
            <a:pPr algn="l">
              <a:spcAft>
                <a:spcPts val="300"/>
              </a:spcAft>
            </a:pPr>
            <a:r>
              <a:rPr sz="1200" b="0">
                <a:solidFill>
                  <a:srgbClr val="161B26"/>
                </a:solidFill>
                <a:latin typeface="Arial"/>
              </a:rPr>
              <a:t>Equal superpositions such as |+⟩ and |−⟩ — maximally uncertain in Z.</a:t>
            </a:r>
          </a:p>
        </p:txBody>
      </p:sp>
      <p:sp>
        <p:nvSpPr>
          <p:cNvPr id="14" name="Rectangle 13"/>
          <p:cNvSpPr/>
          <p:nvPr/>
        </p:nvSpPr>
        <p:spPr>
          <a:xfrm>
            <a:off x="7452360" y="4023360"/>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452360" y="4023360"/>
            <a:ext cx="82296" cy="9372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08392" y="4023360"/>
            <a:ext cx="3502152" cy="937260"/>
          </a:xfrm>
          <a:prstGeom prst="rect">
            <a:avLst/>
          </a:prstGeom>
          <a:noFill/>
        </p:spPr>
        <p:txBody>
          <a:bodyPr wrap="square" anchor="ctr">
            <a:spAutoFit/>
          </a:bodyPr>
          <a:lstStyle/>
          <a:p>
            <a:pPr algn="l">
              <a:spcAft>
                <a:spcPts val="300"/>
              </a:spcAft>
            </a:pPr>
            <a:r>
              <a:rPr sz="1400" b="1">
                <a:solidFill>
                  <a:srgbClr val="7C3AED"/>
                </a:solidFill>
                <a:latin typeface="Arial"/>
              </a:rPr>
              <a:t>θ sets probability</a:t>
            </a:r>
          </a:p>
          <a:p>
            <a:pPr algn="l">
              <a:spcAft>
                <a:spcPts val="300"/>
              </a:spcAft>
            </a:pPr>
            <a:r>
              <a:rPr sz="1200" b="0">
                <a:solidFill>
                  <a:srgbClr val="161B26"/>
                </a:solidFill>
                <a:latin typeface="Arial"/>
              </a:rPr>
              <a:t>cos²(θ/2) is the chance of measuring 0.</a:t>
            </a:r>
          </a:p>
        </p:txBody>
      </p:sp>
      <p:sp>
        <p:nvSpPr>
          <p:cNvPr id="17" name="Rectangle 16"/>
          <p:cNvSpPr/>
          <p:nvPr/>
        </p:nvSpPr>
        <p:spPr>
          <a:xfrm>
            <a:off x="7452360" y="5143500"/>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452360" y="5143500"/>
            <a:ext cx="82296" cy="9372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08392" y="5143500"/>
            <a:ext cx="3502152" cy="937260"/>
          </a:xfrm>
          <a:prstGeom prst="rect">
            <a:avLst/>
          </a:prstGeom>
          <a:noFill/>
        </p:spPr>
        <p:txBody>
          <a:bodyPr wrap="square" anchor="ctr">
            <a:spAutoFit/>
          </a:bodyPr>
          <a:lstStyle/>
          <a:p>
            <a:pPr algn="l">
              <a:spcAft>
                <a:spcPts val="300"/>
              </a:spcAft>
            </a:pPr>
            <a:r>
              <a:rPr sz="1400" b="1">
                <a:solidFill>
                  <a:srgbClr val="F59E0B"/>
                </a:solidFill>
                <a:latin typeface="Arial"/>
              </a:rPr>
              <a:t>φ sets phase</a:t>
            </a:r>
          </a:p>
          <a:p>
            <a:pPr algn="l">
              <a:spcAft>
                <a:spcPts val="300"/>
              </a:spcAft>
            </a:pPr>
            <a:r>
              <a:rPr sz="1200" b="0">
                <a:solidFill>
                  <a:srgbClr val="161B26"/>
                </a:solidFill>
                <a:latin typeface="Arial"/>
              </a:rPr>
              <a:t>Invisible to a Z measurement, but it drives interference.</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29</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HOW QUBITS ARE ACTUALLY BUILT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Physical Qubit Technologies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hardware-compare.png"/>
          <p:cNvPicPr>
            <a:picLocks noChangeAspect="1"/>
          </p:cNvPicPr>
          <p:nvPr/>
        </p:nvPicPr>
        <p:blipFill>
          <a:blip r:embed="rId2"/>
          <a:stretch>
            <a:fillRect/>
          </a:stretch>
        </p:blipFill>
        <p:spPr>
          <a:xfrm>
            <a:off x="1505480" y="1755648"/>
            <a:ext cx="9177992" cy="3950208"/>
          </a:xfrm>
          <a:prstGeom prst="rect">
            <a:avLst/>
          </a:prstGeom>
        </p:spPr>
      </p:pic>
      <p:sp>
        <p:nvSpPr>
          <p:cNvPr id="8" name="Rectangle 7"/>
          <p:cNvSpPr/>
          <p:nvPr/>
        </p:nvSpPr>
        <p:spPr>
          <a:xfrm>
            <a:off x="777240" y="5870448"/>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5870448"/>
            <a:ext cx="10241280" cy="457200"/>
          </a:xfrm>
          <a:prstGeom prst="rect">
            <a:avLst/>
          </a:prstGeom>
          <a:noFill/>
        </p:spPr>
        <p:txBody>
          <a:bodyPr wrap="square" anchor="ctr">
            <a:spAutoFit/>
          </a:bodyPr>
          <a:lstStyle/>
          <a:p>
            <a:pPr algn="ctr">
              <a:spcAft>
                <a:spcPts val="400"/>
              </a:spcAft>
            </a:pPr>
            <a:r>
              <a:rPr sz="1350" b="0">
                <a:solidFill>
                  <a:srgbClr val="161B26"/>
                </a:solidFill>
                <a:latin typeface="Arial"/>
              </a:rPr>
              <a:t>No technology has won yet — each trades gate speed against coherence time and connectivity.</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THE MOST IMPORTANT TWO-QUBIT STATE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Entanglement — The Bell State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bell-circuit.png"/>
          <p:cNvPicPr>
            <a:picLocks noChangeAspect="1"/>
          </p:cNvPicPr>
          <p:nvPr/>
        </p:nvPicPr>
        <p:blipFill>
          <a:blip r:embed="rId2"/>
          <a:stretch>
            <a:fillRect/>
          </a:stretch>
        </p:blipFill>
        <p:spPr>
          <a:xfrm>
            <a:off x="777240" y="2530151"/>
            <a:ext cx="6400800" cy="2712097"/>
          </a:xfrm>
          <a:prstGeom prst="rect">
            <a:avLst/>
          </a:prstGeom>
        </p:spPr>
      </p:pic>
      <p:sp>
        <p:nvSpPr>
          <p:cNvPr id="8" name="Rectangle 7"/>
          <p:cNvSpPr/>
          <p:nvPr/>
        </p:nvSpPr>
        <p:spPr>
          <a:xfrm>
            <a:off x="7452360" y="1783080"/>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452360" y="1783080"/>
            <a:ext cx="82296" cy="9372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08392" y="1783080"/>
            <a:ext cx="3502152" cy="937260"/>
          </a:xfrm>
          <a:prstGeom prst="rect">
            <a:avLst/>
          </a:prstGeom>
          <a:noFill/>
        </p:spPr>
        <p:txBody>
          <a:bodyPr wrap="square" anchor="ctr">
            <a:spAutoFit/>
          </a:bodyPr>
          <a:lstStyle/>
          <a:p>
            <a:pPr algn="l">
              <a:spcAft>
                <a:spcPts val="300"/>
              </a:spcAft>
            </a:pPr>
            <a:r>
              <a:rPr sz="1400" b="1">
                <a:solidFill>
                  <a:srgbClr val="1F6FEB"/>
                </a:solidFill>
                <a:latin typeface="Arial"/>
              </a:rPr>
              <a:t>Two gates</a:t>
            </a:r>
          </a:p>
          <a:p>
            <a:pPr algn="l">
              <a:spcAft>
                <a:spcPts val="300"/>
              </a:spcAft>
            </a:pPr>
            <a:r>
              <a:rPr sz="1200" b="0">
                <a:solidFill>
                  <a:srgbClr val="161B26"/>
                </a:solidFill>
                <a:latin typeface="Arial"/>
              </a:rPr>
              <a:t>A Hadamard followed by a CNOT is all it takes.</a:t>
            </a:r>
          </a:p>
        </p:txBody>
      </p:sp>
      <p:sp>
        <p:nvSpPr>
          <p:cNvPr id="11" name="Rectangle 10"/>
          <p:cNvSpPr/>
          <p:nvPr/>
        </p:nvSpPr>
        <p:spPr>
          <a:xfrm>
            <a:off x="7452360" y="2903220"/>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452360" y="2903220"/>
            <a:ext cx="82296" cy="9372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08392" y="2903220"/>
            <a:ext cx="3502152" cy="937260"/>
          </a:xfrm>
          <a:prstGeom prst="rect">
            <a:avLst/>
          </a:prstGeom>
          <a:noFill/>
        </p:spPr>
        <p:txBody>
          <a:bodyPr wrap="square" anchor="ctr">
            <a:spAutoFit/>
          </a:bodyPr>
          <a:lstStyle/>
          <a:p>
            <a:pPr algn="l">
              <a:spcAft>
                <a:spcPts val="300"/>
              </a:spcAft>
            </a:pPr>
            <a:r>
              <a:rPr sz="1400" b="1">
                <a:solidFill>
                  <a:srgbClr val="10B981"/>
                </a:solidFill>
                <a:latin typeface="Arial"/>
              </a:rPr>
              <a:t>Perfect correlation</a:t>
            </a:r>
          </a:p>
          <a:p>
            <a:pPr algn="l">
              <a:spcAft>
                <a:spcPts val="300"/>
              </a:spcAft>
            </a:pPr>
            <a:r>
              <a:rPr sz="1200" b="0">
                <a:solidFill>
                  <a:srgbClr val="161B26"/>
                </a:solidFill>
                <a:latin typeface="Arial"/>
              </a:rPr>
              <a:t>Measure 0 on one qubit and the other is certainly 0.</a:t>
            </a:r>
          </a:p>
        </p:txBody>
      </p:sp>
      <p:sp>
        <p:nvSpPr>
          <p:cNvPr id="14" name="Rectangle 13"/>
          <p:cNvSpPr/>
          <p:nvPr/>
        </p:nvSpPr>
        <p:spPr>
          <a:xfrm>
            <a:off x="7452360" y="4023360"/>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452360" y="4023360"/>
            <a:ext cx="82296" cy="9372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08392" y="4023360"/>
            <a:ext cx="3502152" cy="937260"/>
          </a:xfrm>
          <a:prstGeom prst="rect">
            <a:avLst/>
          </a:prstGeom>
          <a:noFill/>
        </p:spPr>
        <p:txBody>
          <a:bodyPr wrap="square" anchor="ctr">
            <a:spAutoFit/>
          </a:bodyPr>
          <a:lstStyle/>
          <a:p>
            <a:pPr algn="l">
              <a:spcAft>
                <a:spcPts val="300"/>
              </a:spcAft>
            </a:pPr>
            <a:r>
              <a:rPr sz="1400" b="1">
                <a:solidFill>
                  <a:srgbClr val="7C3AED"/>
                </a:solidFill>
                <a:latin typeface="Arial"/>
              </a:rPr>
              <a:t>Not separable</a:t>
            </a:r>
          </a:p>
          <a:p>
            <a:pPr algn="l">
              <a:spcAft>
                <a:spcPts val="300"/>
              </a:spcAft>
            </a:pPr>
            <a:r>
              <a:rPr sz="1200" b="0">
                <a:solidFill>
                  <a:srgbClr val="161B26"/>
                </a:solidFill>
                <a:latin typeface="Arial"/>
              </a:rPr>
              <a:t>The state cannot be written as a product of two single-qubit states.</a:t>
            </a:r>
          </a:p>
        </p:txBody>
      </p:sp>
      <p:sp>
        <p:nvSpPr>
          <p:cNvPr id="17" name="Rectangle 16"/>
          <p:cNvSpPr/>
          <p:nvPr/>
        </p:nvSpPr>
        <p:spPr>
          <a:xfrm>
            <a:off x="7452360" y="5143500"/>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452360" y="5143500"/>
            <a:ext cx="82296" cy="9372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08392" y="5143500"/>
            <a:ext cx="3502152" cy="937260"/>
          </a:xfrm>
          <a:prstGeom prst="rect">
            <a:avLst/>
          </a:prstGeom>
          <a:noFill/>
        </p:spPr>
        <p:txBody>
          <a:bodyPr wrap="square" anchor="ctr">
            <a:spAutoFit/>
          </a:bodyPr>
          <a:lstStyle/>
          <a:p>
            <a:pPr algn="l">
              <a:spcAft>
                <a:spcPts val="300"/>
              </a:spcAft>
            </a:pPr>
            <a:r>
              <a:rPr sz="1400" b="1">
                <a:solidFill>
                  <a:srgbClr val="F59E0B"/>
                </a:solidFill>
                <a:latin typeface="Arial"/>
              </a:rPr>
              <a:t>The resource</a:t>
            </a:r>
          </a:p>
          <a:p>
            <a:pPr algn="l">
              <a:spcAft>
                <a:spcPts val="300"/>
              </a:spcAft>
            </a:pPr>
            <a:r>
              <a:rPr sz="1200" b="0">
                <a:solidFill>
                  <a:srgbClr val="161B26"/>
                </a:solidFill>
                <a:latin typeface="Arial"/>
              </a:rPr>
              <a:t>Teleportation, superdense coding and QKD all consume entanglement.</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31</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WHAT YOU'LL DO</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Hands-On Activities — Introduction to Quantum Computing Systems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Activity 2</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a:solidFill>
                  <a:srgbClr val="161B26"/>
                </a:solidFill>
                <a:latin typeface="Arial"/>
              </a:rPr>
              <a:t>•  Visualising a Qubit on the Bloch Sphere</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Activity 3</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a:solidFill>
                  <a:srgbClr val="161B26"/>
                </a:solidFill>
                <a:latin typeface="Arial"/>
              </a:rPr>
              <a:t>•  Superposition and Entanglement on IBM Quantum</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a:solidFill>
                  <a:srgbClr val="161B26"/>
                </a:solidFill>
                <a:latin typeface="Arial"/>
              </a:rPr>
              <a:t>•  —</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32</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02 · HANDS-ON ACTIVITY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Visualising a Qubit on the Bloch Sphere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646920" y="457200"/>
            <a:ext cx="17830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57200"/>
            <a:ext cx="1783080" cy="457200"/>
          </a:xfrm>
          <a:prstGeom prst="rect">
            <a:avLst/>
          </a:prstGeom>
          <a:noFill/>
        </p:spPr>
        <p:txBody>
          <a:bodyPr wrap="square" anchor="ctr">
            <a:spAutoFit/>
          </a:bodyPr>
          <a:lstStyle/>
          <a:p>
            <a:pPr algn="ctr">
              <a:spcAft>
                <a:spcPts val="400"/>
              </a:spcAft>
            </a:pPr>
            <a:r>
              <a:rPr sz="1300" b="1">
                <a:solidFill>
                  <a:srgbClr val="FFFFFF"/>
                </a:solidFill>
                <a:latin typeface="Arial"/>
              </a:rPr>
              <a:t>ACTIVITY 2</a:t>
            </a:r>
          </a:p>
        </p:txBody>
      </p:sp>
      <p:sp>
        <p:nvSpPr>
          <p:cNvPr id="9" name="TextBox 8"/>
          <p:cNvSpPr txBox="1"/>
          <p:nvPr/>
        </p:nvSpPr>
        <p:spPr>
          <a:xfrm>
            <a:off x="777240" y="1828800"/>
            <a:ext cx="10607040" cy="1051560"/>
          </a:xfrm>
          <a:prstGeom prst="rect">
            <a:avLst/>
          </a:prstGeom>
          <a:noFill/>
        </p:spPr>
        <p:txBody>
          <a:bodyPr wrap="square" anchor="t">
            <a:spAutoFit/>
          </a:bodyPr>
          <a:lstStyle/>
          <a:p>
            <a:pPr algn="l">
              <a:spcAft>
                <a:spcPts val="400"/>
              </a:spcAft>
            </a:pPr>
            <a:r>
              <a:rPr sz="1700" b="0">
                <a:solidFill>
                  <a:srgbClr val="161B26"/>
                </a:solidFill>
                <a:latin typeface="Arial"/>
              </a:rPr>
              <a:t>Build single-qubit states in Qiskit and plot them on the Bloch sphere, so you can see how gates rotate a qubit and what superposition and phase actually look like geometrically.</a:t>
            </a:r>
          </a:p>
        </p:txBody>
      </p:sp>
      <p:sp>
        <p:nvSpPr>
          <p:cNvPr id="10" name="Rectangle 9"/>
          <p:cNvSpPr/>
          <p:nvPr/>
        </p:nvSpPr>
        <p:spPr>
          <a:xfrm>
            <a:off x="777240" y="2971800"/>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2971800"/>
            <a:ext cx="10241280" cy="457200"/>
          </a:xfrm>
          <a:prstGeom prst="rect">
            <a:avLst/>
          </a:prstGeom>
          <a:noFill/>
        </p:spPr>
        <p:txBody>
          <a:bodyPr wrap="square" anchor="ctr">
            <a:spAutoFit/>
          </a:bodyPr>
          <a:lstStyle/>
          <a:p>
            <a:pPr algn="l">
              <a:spcAft>
                <a:spcPts val="400"/>
              </a:spcAft>
            </a:pPr>
            <a:r>
              <a:rPr sz="1100" b="1">
                <a:solidFill>
                  <a:srgbClr val="1F6FEB"/>
                </a:solidFill>
                <a:latin typeface="Arial"/>
              </a:rPr>
              <a:t>MAPS TO  </a:t>
            </a:r>
            <a:r>
              <a:rPr sz="1250" b="0">
                <a:solidFill>
                  <a:srgbClr val="161B26"/>
                </a:solidFill>
                <a:latin typeface="Arial"/>
              </a:rPr>
              <a:t>LO2 — Decide on appropriate physical methodologies specific to quantum computing problems</a:t>
            </a:r>
          </a:p>
        </p:txBody>
      </p:sp>
      <p:sp>
        <p:nvSpPr>
          <p:cNvPr id="12" name="Rectangle 11"/>
          <p:cNvSpPr/>
          <p:nvPr/>
        </p:nvSpPr>
        <p:spPr>
          <a:xfrm>
            <a:off x="777240" y="3611880"/>
            <a:ext cx="10634472" cy="1234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1560" y="3767328"/>
            <a:ext cx="10058400" cy="365760"/>
          </a:xfrm>
          <a:prstGeom prst="rect">
            <a:avLst/>
          </a:prstGeom>
          <a:noFill/>
        </p:spPr>
        <p:txBody>
          <a:bodyPr wrap="square" anchor="t">
            <a:spAutoFit/>
          </a:bodyPr>
          <a:lstStyle/>
          <a:p>
            <a:pPr algn="l">
              <a:spcAft>
                <a:spcPts val="400"/>
              </a:spcAft>
            </a:pPr>
            <a:r>
              <a:rPr sz="1200" b="1">
                <a:solidFill>
                  <a:srgbClr val="127A3E"/>
                </a:solidFill>
                <a:latin typeface="Arial"/>
              </a:rPr>
              <a:t>YOU'LL PRODUCE</a:t>
            </a:r>
          </a:p>
        </p:txBody>
      </p:sp>
      <p:sp>
        <p:nvSpPr>
          <p:cNvPr id="14" name="TextBox 13"/>
          <p:cNvSpPr txBox="1"/>
          <p:nvPr/>
        </p:nvSpPr>
        <p:spPr>
          <a:xfrm>
            <a:off x="1051560" y="4133087"/>
            <a:ext cx="10058400" cy="640080"/>
          </a:xfrm>
          <a:prstGeom prst="rect">
            <a:avLst/>
          </a:prstGeom>
          <a:noFill/>
        </p:spPr>
        <p:txBody>
          <a:bodyPr wrap="square" anchor="t">
            <a:spAutoFit/>
          </a:bodyPr>
          <a:lstStyle/>
          <a:p>
            <a:pPr algn="l">
              <a:spcAft>
                <a:spcPts val="400"/>
              </a:spcAft>
            </a:pPr>
            <a:r>
              <a:rPr sz="1550" b="1">
                <a:solidFill>
                  <a:srgbClr val="161B26"/>
                </a:solidFill>
                <a:latin typeface="Arial"/>
              </a:rPr>
              <a:t>A set of Bloch-sphere plots showing |0&gt;, |1&gt;, |+&gt;, |-&gt; and an arbitrary Ry-rotated state.</a:t>
            </a:r>
          </a:p>
        </p:txBody>
      </p:sp>
      <p:sp>
        <p:nvSpPr>
          <p:cNvPr id="15" name="Rectangle 14"/>
          <p:cNvSpPr/>
          <p:nvPr/>
        </p:nvSpPr>
        <p:spPr>
          <a:xfrm>
            <a:off x="777240" y="5029200"/>
            <a:ext cx="10634472"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5138928"/>
            <a:ext cx="10058400" cy="365760"/>
          </a:xfrm>
          <a:prstGeom prst="rect">
            <a:avLst/>
          </a:prstGeom>
          <a:noFill/>
        </p:spPr>
        <p:txBody>
          <a:bodyPr wrap="square" anchor="t">
            <a:spAutoFit/>
          </a:bodyPr>
          <a:lstStyle/>
          <a:p>
            <a:pPr algn="l">
              <a:spcAft>
                <a:spcPts val="400"/>
              </a:spcAft>
            </a:pPr>
            <a:r>
              <a:rPr sz="1200" b="1">
                <a:solidFill>
                  <a:srgbClr val="5B6372"/>
                </a:solidFill>
                <a:latin typeface="Arial"/>
              </a:rPr>
              <a:t>Tools:  </a:t>
            </a:r>
            <a:r>
              <a:rPr sz="1200" b="0">
                <a:solidFill>
                  <a:srgbClr val="5B6372"/>
                </a:solidFill>
                <a:latin typeface="Arial"/>
              </a:rPr>
              <a:t>Qiskit 2.x, matplotlib, Google Colab</a:t>
            </a:r>
          </a:p>
        </p:txBody>
      </p:sp>
      <p:sp>
        <p:nvSpPr>
          <p:cNvPr id="17" name="TextBox 16"/>
          <p:cNvSpPr txBox="1"/>
          <p:nvPr/>
        </p:nvSpPr>
        <p:spPr>
          <a:xfrm>
            <a:off x="1051560" y="5504688"/>
            <a:ext cx="10058400" cy="365760"/>
          </a:xfrm>
          <a:prstGeom prst="rect">
            <a:avLst/>
          </a:prstGeom>
          <a:noFill/>
        </p:spPr>
        <p:txBody>
          <a:bodyPr wrap="square" anchor="t">
            <a:spAutoFit/>
          </a:bodyPr>
          <a:lstStyle/>
          <a:p>
            <a:pPr algn="l">
              <a:spcAft>
                <a:spcPts val="400"/>
              </a:spcAft>
            </a:pPr>
            <a:r>
              <a:rPr sz="1200" b="1">
                <a:solidFill>
                  <a:srgbClr val="1F6FEB"/>
                </a:solidFill>
                <a:latin typeface="Arial"/>
              </a:rPr>
              <a:t>Full step-by-step guide:  </a:t>
            </a:r>
            <a:r>
              <a:rPr sz="1200" b="0">
                <a:solidFill>
                  <a:srgbClr val="161B26"/>
                </a:solidFill>
                <a:latin typeface="Arial"/>
              </a:rPr>
              <a:t>Learner Guide — Activity 2: Visualising a Qubit on the Bloch Sphere</a:t>
            </a:r>
          </a:p>
        </p:txBody>
      </p:sp>
      <p:sp>
        <p:nvSpPr>
          <p:cNvPr id="18" name="TextBox 1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9" name="TextBox 1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0" name="TextBox 1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33</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2 · VERIFY &amp; DEBRIEF</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Visualising a Qubit on the Bloch Sphere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21488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21488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1965960"/>
            <a:ext cx="10058400" cy="411480"/>
          </a:xfrm>
          <a:prstGeom prst="rect">
            <a:avLst/>
          </a:prstGeom>
          <a:noFill/>
        </p:spPr>
        <p:txBody>
          <a:bodyPr wrap="square" anchor="t">
            <a:spAutoFit/>
          </a:bodyPr>
          <a:lstStyle/>
          <a:p>
            <a:pPr algn="l">
              <a:spcAft>
                <a:spcPts val="400"/>
              </a:spcAft>
            </a:pPr>
            <a:r>
              <a:rPr sz="1300" b="1">
                <a:solidFill>
                  <a:srgbClr val="127A3E"/>
                </a:solidFill>
                <a:latin typeface="Arial"/>
              </a:rPr>
              <a:t>TEST IT — HOW YOU KNOW IT WORKED</a:t>
            </a:r>
          </a:p>
        </p:txBody>
      </p:sp>
      <p:sp>
        <p:nvSpPr>
          <p:cNvPr id="10" name="TextBox 9"/>
          <p:cNvSpPr txBox="1"/>
          <p:nvPr/>
        </p:nvSpPr>
        <p:spPr>
          <a:xfrm>
            <a:off x="1143000" y="2423160"/>
            <a:ext cx="10058400" cy="1371600"/>
          </a:xfrm>
          <a:prstGeom prst="rect">
            <a:avLst/>
          </a:prstGeom>
          <a:noFill/>
        </p:spPr>
        <p:txBody>
          <a:bodyPr wrap="square" anchor="t">
            <a:spAutoFit/>
          </a:bodyPr>
          <a:lstStyle/>
          <a:p>
            <a:pPr algn="l">
              <a:spcAft>
                <a:spcPts val="400"/>
              </a:spcAft>
            </a:pPr>
            <a:r>
              <a:rPr sz="1600" b="0">
                <a:solidFill>
                  <a:srgbClr val="161B26"/>
                </a:solidFill>
                <a:latin typeface="Arial"/>
              </a:rPr>
              <a:t>|0&gt; sits at the north pole, X moves it to the south pole, H places it on the equator at +x, and the S gate rotates it around the equator while leaving the Z-basis probabilities at 50/50.</a:t>
            </a:r>
          </a:p>
        </p:txBody>
      </p:sp>
      <p:sp>
        <p:nvSpPr>
          <p:cNvPr id="11" name="TextBox 10"/>
          <p:cNvSpPr txBox="1"/>
          <p:nvPr/>
        </p:nvSpPr>
        <p:spPr>
          <a:xfrm>
            <a:off x="777240" y="4096512"/>
            <a:ext cx="10607040" cy="365760"/>
          </a:xfrm>
          <a:prstGeom prst="rect">
            <a:avLst/>
          </a:prstGeom>
          <a:noFill/>
        </p:spPr>
        <p:txBody>
          <a:bodyPr wrap="square" anchor="t">
            <a:spAutoFit/>
          </a:bodyPr>
          <a:lstStyle/>
          <a:p>
            <a:pPr algn="l">
              <a:spcAft>
                <a:spcPts val="400"/>
              </a:spcAft>
            </a:pPr>
            <a:r>
              <a:rPr sz="1300" b="1">
                <a:solidFill>
                  <a:srgbClr val="1F6FEB"/>
                </a:solidFill>
                <a:latin typeface="Arial"/>
              </a:rPr>
              <a:t>DISCUSS WITH YOUR TRAINER</a:t>
            </a:r>
          </a:p>
        </p:txBody>
      </p:sp>
      <p:sp>
        <p:nvSpPr>
          <p:cNvPr id="12" name="Rectangle 11"/>
          <p:cNvSpPr/>
          <p:nvPr/>
        </p:nvSpPr>
        <p:spPr>
          <a:xfrm>
            <a:off x="777240" y="4480560"/>
            <a:ext cx="3447288" cy="1463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480560"/>
            <a:ext cx="3447288"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8" y="4663440"/>
            <a:ext cx="3044952" cy="457200"/>
          </a:xfrm>
          <a:prstGeom prst="rect">
            <a:avLst/>
          </a:prstGeom>
          <a:noFill/>
        </p:spPr>
        <p:txBody>
          <a:bodyPr wrap="square" anchor="t">
            <a:spAutoFit/>
          </a:bodyPr>
          <a:lstStyle/>
          <a:p>
            <a:pPr algn="l">
              <a:spcAft>
                <a:spcPts val="400"/>
              </a:spcAft>
            </a:pPr>
            <a:r>
              <a:rPr sz="1350" b="1">
                <a:solidFill>
                  <a:srgbClr val="1F6FEB"/>
                </a:solidFill>
                <a:latin typeface="Arial"/>
              </a:rPr>
              <a:t>What did the result show?</a:t>
            </a:r>
          </a:p>
        </p:txBody>
      </p:sp>
      <p:sp>
        <p:nvSpPr>
          <p:cNvPr id="15" name="TextBox 14"/>
          <p:cNvSpPr txBox="1"/>
          <p:nvPr/>
        </p:nvSpPr>
        <p:spPr>
          <a:xfrm>
            <a:off x="978408" y="5138928"/>
            <a:ext cx="3044952" cy="731520"/>
          </a:xfrm>
          <a:prstGeom prst="rect">
            <a:avLst/>
          </a:prstGeom>
          <a:noFill/>
        </p:spPr>
        <p:txBody>
          <a:bodyPr wrap="square" anchor="t">
            <a:spAutoFit/>
          </a:bodyPr>
          <a:lstStyle/>
          <a:p>
            <a:pPr algn="l">
              <a:spcAft>
                <a:spcPts val="400"/>
              </a:spcAft>
            </a:pPr>
            <a:r>
              <a:rPr sz="1200" b="0">
                <a:solidFill>
                  <a:srgbClr val="5B6372"/>
                </a:solidFill>
                <a:latin typeface="Arial"/>
              </a:rPr>
              <a:t>Restate the outcome in your own words.</a:t>
            </a:r>
          </a:p>
        </p:txBody>
      </p:sp>
      <p:sp>
        <p:nvSpPr>
          <p:cNvPr id="16" name="Rectangle 15"/>
          <p:cNvSpPr/>
          <p:nvPr/>
        </p:nvSpPr>
        <p:spPr>
          <a:xfrm>
            <a:off x="4370832" y="4480560"/>
            <a:ext cx="3447288" cy="1463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70832" y="4480560"/>
            <a:ext cx="344728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0" y="4663440"/>
            <a:ext cx="3044952" cy="457200"/>
          </a:xfrm>
          <a:prstGeom prst="rect">
            <a:avLst/>
          </a:prstGeom>
          <a:noFill/>
        </p:spPr>
        <p:txBody>
          <a:bodyPr wrap="square" anchor="t">
            <a:spAutoFit/>
          </a:bodyPr>
          <a:lstStyle/>
          <a:p>
            <a:pPr algn="l">
              <a:spcAft>
                <a:spcPts val="400"/>
              </a:spcAft>
            </a:pPr>
            <a:r>
              <a:rPr sz="1350" b="1">
                <a:solidFill>
                  <a:srgbClr val="10B981"/>
                </a:solidFill>
                <a:latin typeface="Arial"/>
              </a:rPr>
              <a:t>Why does it work?</a:t>
            </a:r>
          </a:p>
        </p:txBody>
      </p:sp>
      <p:sp>
        <p:nvSpPr>
          <p:cNvPr id="19" name="TextBox 18"/>
          <p:cNvSpPr txBox="1"/>
          <p:nvPr/>
        </p:nvSpPr>
        <p:spPr>
          <a:xfrm>
            <a:off x="4572000" y="5138928"/>
            <a:ext cx="3044952" cy="731520"/>
          </a:xfrm>
          <a:prstGeom prst="rect">
            <a:avLst/>
          </a:prstGeom>
          <a:noFill/>
        </p:spPr>
        <p:txBody>
          <a:bodyPr wrap="square" anchor="t">
            <a:spAutoFit/>
          </a:bodyPr>
          <a:lstStyle/>
          <a:p>
            <a:pPr algn="l">
              <a:spcAft>
                <a:spcPts val="400"/>
              </a:spcAft>
            </a:pPr>
            <a:r>
              <a:rPr sz="1200" b="0">
                <a:solidFill>
                  <a:srgbClr val="5B6372"/>
                </a:solidFill>
                <a:latin typeface="Arial"/>
              </a:rPr>
              <a:t>Name the quantum principle the activity relies on.</a:t>
            </a:r>
          </a:p>
        </p:txBody>
      </p:sp>
      <p:sp>
        <p:nvSpPr>
          <p:cNvPr id="20" name="Rectangle 19"/>
          <p:cNvSpPr/>
          <p:nvPr/>
        </p:nvSpPr>
        <p:spPr>
          <a:xfrm>
            <a:off x="7964424" y="4480560"/>
            <a:ext cx="3447288" cy="1463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964424" y="4480560"/>
            <a:ext cx="3447288"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65592" y="4663440"/>
            <a:ext cx="3044952" cy="457200"/>
          </a:xfrm>
          <a:prstGeom prst="rect">
            <a:avLst/>
          </a:prstGeom>
          <a:noFill/>
        </p:spPr>
        <p:txBody>
          <a:bodyPr wrap="square" anchor="t">
            <a:spAutoFit/>
          </a:bodyPr>
          <a:lstStyle/>
          <a:p>
            <a:pPr algn="l">
              <a:spcAft>
                <a:spcPts val="400"/>
              </a:spcAft>
            </a:pPr>
            <a:r>
              <a:rPr sz="1350" b="1">
                <a:solidFill>
                  <a:srgbClr val="7C3AED"/>
                </a:solidFill>
                <a:latin typeface="Arial"/>
              </a:rPr>
              <a:t>Where would you use it?</a:t>
            </a:r>
          </a:p>
        </p:txBody>
      </p:sp>
      <p:sp>
        <p:nvSpPr>
          <p:cNvPr id="23" name="TextBox 22"/>
          <p:cNvSpPr txBox="1"/>
          <p:nvPr/>
        </p:nvSpPr>
        <p:spPr>
          <a:xfrm>
            <a:off x="8165592" y="5138928"/>
            <a:ext cx="3044952" cy="731520"/>
          </a:xfrm>
          <a:prstGeom prst="rect">
            <a:avLst/>
          </a:prstGeom>
          <a:noFill/>
        </p:spPr>
        <p:txBody>
          <a:bodyPr wrap="square" anchor="t">
            <a:spAutoFit/>
          </a:bodyPr>
          <a:lstStyle/>
          <a:p>
            <a:pPr algn="l">
              <a:spcAft>
                <a:spcPts val="400"/>
              </a:spcAft>
            </a:pPr>
            <a:r>
              <a:rPr sz="1200" b="0">
                <a:solidFill>
                  <a:srgbClr val="5B6372"/>
                </a:solidFill>
                <a:latin typeface="Arial"/>
              </a:rPr>
              <a:t>Give one realistic application in your own field.</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34</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02 · HANDS-ON ACTIVITY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Superposition and Entanglement on IBM Quantum</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646920" y="457200"/>
            <a:ext cx="17830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57200"/>
            <a:ext cx="1783080" cy="457200"/>
          </a:xfrm>
          <a:prstGeom prst="rect">
            <a:avLst/>
          </a:prstGeom>
          <a:noFill/>
        </p:spPr>
        <p:txBody>
          <a:bodyPr wrap="square" anchor="ctr">
            <a:spAutoFit/>
          </a:bodyPr>
          <a:lstStyle/>
          <a:p>
            <a:pPr algn="ctr">
              <a:spcAft>
                <a:spcPts val="400"/>
              </a:spcAft>
            </a:pPr>
            <a:r>
              <a:rPr sz="1300" b="1">
                <a:solidFill>
                  <a:srgbClr val="FFFFFF"/>
                </a:solidFill>
                <a:latin typeface="Arial"/>
              </a:rPr>
              <a:t>ACTIVITY 3</a:t>
            </a:r>
          </a:p>
        </p:txBody>
      </p:sp>
      <p:sp>
        <p:nvSpPr>
          <p:cNvPr id="9" name="TextBox 8"/>
          <p:cNvSpPr txBox="1"/>
          <p:nvPr/>
        </p:nvSpPr>
        <p:spPr>
          <a:xfrm>
            <a:off x="777240" y="1828800"/>
            <a:ext cx="10607040" cy="1051560"/>
          </a:xfrm>
          <a:prstGeom prst="rect">
            <a:avLst/>
          </a:prstGeom>
          <a:noFill/>
        </p:spPr>
        <p:txBody>
          <a:bodyPr wrap="square" anchor="t">
            <a:spAutoFit/>
          </a:bodyPr>
          <a:lstStyle/>
          <a:p>
            <a:pPr algn="l">
              <a:spcAft>
                <a:spcPts val="400"/>
              </a:spcAft>
            </a:pPr>
            <a:r>
              <a:rPr sz="1700" b="0">
                <a:solidFill>
                  <a:srgbClr val="161B26"/>
                </a:solidFill>
                <a:latin typeface="Arial"/>
              </a:rPr>
              <a:t>Create your IBM Quantum account, build a superposition circuit and a two-qubit Bell state, and run them on a real quantum processor to see genuine quantum randomness and correlation in the results.</a:t>
            </a:r>
          </a:p>
        </p:txBody>
      </p:sp>
      <p:sp>
        <p:nvSpPr>
          <p:cNvPr id="10" name="Rectangle 9"/>
          <p:cNvSpPr/>
          <p:nvPr/>
        </p:nvSpPr>
        <p:spPr>
          <a:xfrm>
            <a:off x="777240" y="2971800"/>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2971800"/>
            <a:ext cx="10241280" cy="457200"/>
          </a:xfrm>
          <a:prstGeom prst="rect">
            <a:avLst/>
          </a:prstGeom>
          <a:noFill/>
        </p:spPr>
        <p:txBody>
          <a:bodyPr wrap="square" anchor="ctr">
            <a:spAutoFit/>
          </a:bodyPr>
          <a:lstStyle/>
          <a:p>
            <a:pPr algn="l">
              <a:spcAft>
                <a:spcPts val="400"/>
              </a:spcAft>
            </a:pPr>
            <a:r>
              <a:rPr sz="1100" b="1">
                <a:solidFill>
                  <a:srgbClr val="1F6FEB"/>
                </a:solidFill>
                <a:latin typeface="Arial"/>
              </a:rPr>
              <a:t>MAPS TO  </a:t>
            </a:r>
            <a:r>
              <a:rPr sz="1250" b="0">
                <a:solidFill>
                  <a:srgbClr val="161B26"/>
                </a:solidFill>
                <a:latin typeface="Arial"/>
              </a:rPr>
              <a:t>LO2, LO4 — Evaluate quantum computing applicability in the business context</a:t>
            </a:r>
          </a:p>
        </p:txBody>
      </p:sp>
      <p:sp>
        <p:nvSpPr>
          <p:cNvPr id="12" name="Rectangle 11"/>
          <p:cNvSpPr/>
          <p:nvPr/>
        </p:nvSpPr>
        <p:spPr>
          <a:xfrm>
            <a:off x="777240" y="3611880"/>
            <a:ext cx="10634472" cy="1234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1560" y="3767328"/>
            <a:ext cx="10058400" cy="365760"/>
          </a:xfrm>
          <a:prstGeom prst="rect">
            <a:avLst/>
          </a:prstGeom>
          <a:noFill/>
        </p:spPr>
        <p:txBody>
          <a:bodyPr wrap="square" anchor="t">
            <a:spAutoFit/>
          </a:bodyPr>
          <a:lstStyle/>
          <a:p>
            <a:pPr algn="l">
              <a:spcAft>
                <a:spcPts val="400"/>
              </a:spcAft>
            </a:pPr>
            <a:r>
              <a:rPr sz="1200" b="1">
                <a:solidFill>
                  <a:srgbClr val="127A3E"/>
                </a:solidFill>
                <a:latin typeface="Arial"/>
              </a:rPr>
              <a:t>YOU'LL PRODUCE</a:t>
            </a:r>
          </a:p>
        </p:txBody>
      </p:sp>
      <p:sp>
        <p:nvSpPr>
          <p:cNvPr id="14" name="TextBox 13"/>
          <p:cNvSpPr txBox="1"/>
          <p:nvPr/>
        </p:nvSpPr>
        <p:spPr>
          <a:xfrm>
            <a:off x="1051560" y="4133087"/>
            <a:ext cx="10058400" cy="640080"/>
          </a:xfrm>
          <a:prstGeom prst="rect">
            <a:avLst/>
          </a:prstGeom>
          <a:noFill/>
        </p:spPr>
        <p:txBody>
          <a:bodyPr wrap="square" anchor="t">
            <a:spAutoFit/>
          </a:bodyPr>
          <a:lstStyle/>
          <a:p>
            <a:pPr algn="l">
              <a:spcAft>
                <a:spcPts val="400"/>
              </a:spcAft>
            </a:pPr>
            <a:r>
              <a:rPr sz="1550" b="1">
                <a:solidFill>
                  <a:srgbClr val="161B26"/>
                </a:solidFill>
                <a:latin typeface="Arial"/>
              </a:rPr>
              <a:t>A Bell state circuit executed on real IBM Quantum hardware, with a measured histogram showing the |00&gt; and |11&gt; correlation.</a:t>
            </a:r>
          </a:p>
        </p:txBody>
      </p:sp>
      <p:sp>
        <p:nvSpPr>
          <p:cNvPr id="15" name="Rectangle 14"/>
          <p:cNvSpPr/>
          <p:nvPr/>
        </p:nvSpPr>
        <p:spPr>
          <a:xfrm>
            <a:off x="777240" y="5029200"/>
            <a:ext cx="10634472"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5138928"/>
            <a:ext cx="10058400" cy="365760"/>
          </a:xfrm>
          <a:prstGeom prst="rect">
            <a:avLst/>
          </a:prstGeom>
          <a:noFill/>
        </p:spPr>
        <p:txBody>
          <a:bodyPr wrap="square" anchor="t">
            <a:spAutoFit/>
          </a:bodyPr>
          <a:lstStyle/>
          <a:p>
            <a:pPr algn="l">
              <a:spcAft>
                <a:spcPts val="400"/>
              </a:spcAft>
            </a:pPr>
            <a:r>
              <a:rPr sz="1200" b="1">
                <a:solidFill>
                  <a:srgbClr val="5B6372"/>
                </a:solidFill>
                <a:latin typeface="Arial"/>
              </a:rPr>
              <a:t>Tools:  </a:t>
            </a:r>
            <a:r>
              <a:rPr sz="1200" b="0">
                <a:solidFill>
                  <a:srgbClr val="5B6372"/>
                </a:solidFill>
                <a:latin typeface="Arial"/>
              </a:rPr>
              <a:t>IBM Quantum Platform, Qiskit Runtime, Python 3.13</a:t>
            </a:r>
          </a:p>
        </p:txBody>
      </p:sp>
      <p:sp>
        <p:nvSpPr>
          <p:cNvPr id="17" name="TextBox 16"/>
          <p:cNvSpPr txBox="1"/>
          <p:nvPr/>
        </p:nvSpPr>
        <p:spPr>
          <a:xfrm>
            <a:off x="1051560" y="5504688"/>
            <a:ext cx="10058400" cy="365760"/>
          </a:xfrm>
          <a:prstGeom prst="rect">
            <a:avLst/>
          </a:prstGeom>
          <a:noFill/>
        </p:spPr>
        <p:txBody>
          <a:bodyPr wrap="square" anchor="t">
            <a:spAutoFit/>
          </a:bodyPr>
          <a:lstStyle/>
          <a:p>
            <a:pPr algn="l">
              <a:spcAft>
                <a:spcPts val="400"/>
              </a:spcAft>
            </a:pPr>
            <a:r>
              <a:rPr sz="1200" b="1">
                <a:solidFill>
                  <a:srgbClr val="1F6FEB"/>
                </a:solidFill>
                <a:latin typeface="Arial"/>
              </a:rPr>
              <a:t>Full step-by-step guide:  </a:t>
            </a:r>
            <a:r>
              <a:rPr sz="1200" b="0">
                <a:solidFill>
                  <a:srgbClr val="161B26"/>
                </a:solidFill>
                <a:latin typeface="Arial"/>
              </a:rPr>
              <a:t>Learner Guide — Activity 3: Superposition and Entanglement on IBM Quantum</a:t>
            </a:r>
          </a:p>
        </p:txBody>
      </p:sp>
      <p:sp>
        <p:nvSpPr>
          <p:cNvPr id="18" name="TextBox 1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9" name="TextBox 1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0" name="TextBox 1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35</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3 · VERIFY &amp; DEBRIEF</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Superposition and Entanglement on IBM Quantum</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21488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21488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1965960"/>
            <a:ext cx="10058400" cy="411480"/>
          </a:xfrm>
          <a:prstGeom prst="rect">
            <a:avLst/>
          </a:prstGeom>
          <a:noFill/>
        </p:spPr>
        <p:txBody>
          <a:bodyPr wrap="square" anchor="t">
            <a:spAutoFit/>
          </a:bodyPr>
          <a:lstStyle/>
          <a:p>
            <a:pPr algn="l">
              <a:spcAft>
                <a:spcPts val="400"/>
              </a:spcAft>
            </a:pPr>
            <a:r>
              <a:rPr sz="1300" b="1">
                <a:solidFill>
                  <a:srgbClr val="127A3E"/>
                </a:solidFill>
                <a:latin typeface="Arial"/>
              </a:rPr>
              <a:t>TEST IT — HOW YOU KNOW IT WORKED</a:t>
            </a:r>
          </a:p>
        </p:txBody>
      </p:sp>
      <p:sp>
        <p:nvSpPr>
          <p:cNvPr id="10" name="TextBox 9"/>
          <p:cNvSpPr txBox="1"/>
          <p:nvPr/>
        </p:nvSpPr>
        <p:spPr>
          <a:xfrm>
            <a:off x="1143000" y="2423160"/>
            <a:ext cx="10058400" cy="1371600"/>
          </a:xfrm>
          <a:prstGeom prst="rect">
            <a:avLst/>
          </a:prstGeom>
          <a:noFill/>
        </p:spPr>
        <p:txBody>
          <a:bodyPr wrap="square" anchor="t">
            <a:spAutoFit/>
          </a:bodyPr>
          <a:lstStyle/>
          <a:p>
            <a:pPr algn="l">
              <a:spcAft>
                <a:spcPts val="400"/>
              </a:spcAft>
            </a:pPr>
            <a:r>
              <a:rPr sz="1600" b="0">
                <a:solidFill>
                  <a:srgbClr val="161B26"/>
                </a:solidFill>
                <a:latin typeface="Arial"/>
              </a:rPr>
              <a:t>The superposition circuit gives roughly 50% |0&gt; and 50% |1&gt;; the Bell circuit gives roughly 50% |00&gt; and 50% |11&gt; with only a small percentage of |01&gt; and |10&gt; counts caused by hardware noise.</a:t>
            </a:r>
          </a:p>
        </p:txBody>
      </p:sp>
      <p:sp>
        <p:nvSpPr>
          <p:cNvPr id="11" name="TextBox 10"/>
          <p:cNvSpPr txBox="1"/>
          <p:nvPr/>
        </p:nvSpPr>
        <p:spPr>
          <a:xfrm>
            <a:off x="777240" y="4096512"/>
            <a:ext cx="10607040" cy="365760"/>
          </a:xfrm>
          <a:prstGeom prst="rect">
            <a:avLst/>
          </a:prstGeom>
          <a:noFill/>
        </p:spPr>
        <p:txBody>
          <a:bodyPr wrap="square" anchor="t">
            <a:spAutoFit/>
          </a:bodyPr>
          <a:lstStyle/>
          <a:p>
            <a:pPr algn="l">
              <a:spcAft>
                <a:spcPts val="400"/>
              </a:spcAft>
            </a:pPr>
            <a:r>
              <a:rPr sz="1300" b="1">
                <a:solidFill>
                  <a:srgbClr val="1F6FEB"/>
                </a:solidFill>
                <a:latin typeface="Arial"/>
              </a:rPr>
              <a:t>DISCUSS WITH YOUR TRAINER</a:t>
            </a:r>
          </a:p>
        </p:txBody>
      </p:sp>
      <p:sp>
        <p:nvSpPr>
          <p:cNvPr id="12" name="Rectangle 11"/>
          <p:cNvSpPr/>
          <p:nvPr/>
        </p:nvSpPr>
        <p:spPr>
          <a:xfrm>
            <a:off x="777240" y="4480560"/>
            <a:ext cx="3447288" cy="1463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480560"/>
            <a:ext cx="3447288"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8" y="4663440"/>
            <a:ext cx="3044952" cy="457200"/>
          </a:xfrm>
          <a:prstGeom prst="rect">
            <a:avLst/>
          </a:prstGeom>
          <a:noFill/>
        </p:spPr>
        <p:txBody>
          <a:bodyPr wrap="square" anchor="t">
            <a:spAutoFit/>
          </a:bodyPr>
          <a:lstStyle/>
          <a:p>
            <a:pPr algn="l">
              <a:spcAft>
                <a:spcPts val="400"/>
              </a:spcAft>
            </a:pPr>
            <a:r>
              <a:rPr sz="1350" b="1">
                <a:solidFill>
                  <a:srgbClr val="1F6FEB"/>
                </a:solidFill>
                <a:latin typeface="Arial"/>
              </a:rPr>
              <a:t>What did the result show?</a:t>
            </a:r>
          </a:p>
        </p:txBody>
      </p:sp>
      <p:sp>
        <p:nvSpPr>
          <p:cNvPr id="15" name="TextBox 14"/>
          <p:cNvSpPr txBox="1"/>
          <p:nvPr/>
        </p:nvSpPr>
        <p:spPr>
          <a:xfrm>
            <a:off x="978408" y="5138928"/>
            <a:ext cx="3044952" cy="731520"/>
          </a:xfrm>
          <a:prstGeom prst="rect">
            <a:avLst/>
          </a:prstGeom>
          <a:noFill/>
        </p:spPr>
        <p:txBody>
          <a:bodyPr wrap="square" anchor="t">
            <a:spAutoFit/>
          </a:bodyPr>
          <a:lstStyle/>
          <a:p>
            <a:pPr algn="l">
              <a:spcAft>
                <a:spcPts val="400"/>
              </a:spcAft>
            </a:pPr>
            <a:r>
              <a:rPr sz="1200" b="0">
                <a:solidFill>
                  <a:srgbClr val="5B6372"/>
                </a:solidFill>
                <a:latin typeface="Arial"/>
              </a:rPr>
              <a:t>Restate the outcome in your own words.</a:t>
            </a:r>
          </a:p>
        </p:txBody>
      </p:sp>
      <p:sp>
        <p:nvSpPr>
          <p:cNvPr id="16" name="Rectangle 15"/>
          <p:cNvSpPr/>
          <p:nvPr/>
        </p:nvSpPr>
        <p:spPr>
          <a:xfrm>
            <a:off x="4370832" y="4480560"/>
            <a:ext cx="3447288" cy="1463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70832" y="4480560"/>
            <a:ext cx="344728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0" y="4663440"/>
            <a:ext cx="3044952" cy="457200"/>
          </a:xfrm>
          <a:prstGeom prst="rect">
            <a:avLst/>
          </a:prstGeom>
          <a:noFill/>
        </p:spPr>
        <p:txBody>
          <a:bodyPr wrap="square" anchor="t">
            <a:spAutoFit/>
          </a:bodyPr>
          <a:lstStyle/>
          <a:p>
            <a:pPr algn="l">
              <a:spcAft>
                <a:spcPts val="400"/>
              </a:spcAft>
            </a:pPr>
            <a:r>
              <a:rPr sz="1350" b="1">
                <a:solidFill>
                  <a:srgbClr val="10B981"/>
                </a:solidFill>
                <a:latin typeface="Arial"/>
              </a:rPr>
              <a:t>Why does it work?</a:t>
            </a:r>
          </a:p>
        </p:txBody>
      </p:sp>
      <p:sp>
        <p:nvSpPr>
          <p:cNvPr id="19" name="TextBox 18"/>
          <p:cNvSpPr txBox="1"/>
          <p:nvPr/>
        </p:nvSpPr>
        <p:spPr>
          <a:xfrm>
            <a:off x="4572000" y="5138928"/>
            <a:ext cx="3044952" cy="731520"/>
          </a:xfrm>
          <a:prstGeom prst="rect">
            <a:avLst/>
          </a:prstGeom>
          <a:noFill/>
        </p:spPr>
        <p:txBody>
          <a:bodyPr wrap="square" anchor="t">
            <a:spAutoFit/>
          </a:bodyPr>
          <a:lstStyle/>
          <a:p>
            <a:pPr algn="l">
              <a:spcAft>
                <a:spcPts val="400"/>
              </a:spcAft>
            </a:pPr>
            <a:r>
              <a:rPr sz="1200" b="0">
                <a:solidFill>
                  <a:srgbClr val="5B6372"/>
                </a:solidFill>
                <a:latin typeface="Arial"/>
              </a:rPr>
              <a:t>Name the quantum principle the activity relies on.</a:t>
            </a:r>
          </a:p>
        </p:txBody>
      </p:sp>
      <p:sp>
        <p:nvSpPr>
          <p:cNvPr id="20" name="Rectangle 19"/>
          <p:cNvSpPr/>
          <p:nvPr/>
        </p:nvSpPr>
        <p:spPr>
          <a:xfrm>
            <a:off x="7964424" y="4480560"/>
            <a:ext cx="3447288" cy="1463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964424" y="4480560"/>
            <a:ext cx="3447288"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65592" y="4663440"/>
            <a:ext cx="3044952" cy="457200"/>
          </a:xfrm>
          <a:prstGeom prst="rect">
            <a:avLst/>
          </a:prstGeom>
          <a:noFill/>
        </p:spPr>
        <p:txBody>
          <a:bodyPr wrap="square" anchor="t">
            <a:spAutoFit/>
          </a:bodyPr>
          <a:lstStyle/>
          <a:p>
            <a:pPr algn="l">
              <a:spcAft>
                <a:spcPts val="400"/>
              </a:spcAft>
            </a:pPr>
            <a:r>
              <a:rPr sz="1350" b="1">
                <a:solidFill>
                  <a:srgbClr val="7C3AED"/>
                </a:solidFill>
                <a:latin typeface="Arial"/>
              </a:rPr>
              <a:t>Where would you use it?</a:t>
            </a:r>
          </a:p>
        </p:txBody>
      </p:sp>
      <p:sp>
        <p:nvSpPr>
          <p:cNvPr id="23" name="TextBox 22"/>
          <p:cNvSpPr txBox="1"/>
          <p:nvPr/>
        </p:nvSpPr>
        <p:spPr>
          <a:xfrm>
            <a:off x="8165592" y="5138928"/>
            <a:ext cx="3044952" cy="731520"/>
          </a:xfrm>
          <a:prstGeom prst="rect">
            <a:avLst/>
          </a:prstGeom>
          <a:noFill/>
        </p:spPr>
        <p:txBody>
          <a:bodyPr wrap="square" anchor="t">
            <a:spAutoFit/>
          </a:bodyPr>
          <a:lstStyle/>
          <a:p>
            <a:pPr algn="l">
              <a:spcAft>
                <a:spcPts val="400"/>
              </a:spcAft>
            </a:pPr>
            <a:r>
              <a:rPr sz="1200" b="0">
                <a:solidFill>
                  <a:srgbClr val="5B6372"/>
                </a:solidFill>
                <a:latin typeface="Arial"/>
              </a:rPr>
              <a:t>Give one realistic application in your own field.</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36</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RECAP</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Recap — Introduction to Quantum Computing Systems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600">
                <a:solidFill>
                  <a:srgbClr val="161B26"/>
                </a:solidFill>
                <a:latin typeface="Arial"/>
              </a:rPr>
              <a:t>•  Qubit vs classical bit</a:t>
            </a:r>
          </a:p>
          <a:p>
            <a:pPr>
              <a:spcAft>
                <a:spcPts val="1000"/>
              </a:spcAft>
            </a:pPr>
            <a:r>
              <a:rPr sz="1600">
                <a:solidFill>
                  <a:srgbClr val="161B26"/>
                </a:solidFill>
                <a:latin typeface="Arial"/>
              </a:rPr>
              <a:t>•  Bloch sphere</a:t>
            </a:r>
          </a:p>
          <a:p>
            <a:pPr>
              <a:spcAft>
                <a:spcPts val="1000"/>
              </a:spcAft>
            </a:pPr>
            <a:r>
              <a:rPr sz="1600">
                <a:solidFill>
                  <a:srgbClr val="161B26"/>
                </a:solidFill>
                <a:latin typeface="Arial"/>
              </a:rPr>
              <a:t>•  Physical qubits</a:t>
            </a:r>
          </a:p>
          <a:p>
            <a:pPr>
              <a:spcAft>
                <a:spcPts val="1000"/>
              </a:spcAft>
            </a:pPr>
            <a:r>
              <a:rPr sz="1600">
                <a:solidFill>
                  <a:srgbClr val="161B26"/>
                </a:solidFill>
                <a:latin typeface="Arial"/>
              </a:rPr>
              <a:t>•  Commercial platforms</a:t>
            </a:r>
          </a:p>
          <a:p>
            <a:pPr>
              <a:spcAft>
                <a:spcPts val="1000"/>
              </a:spcAft>
            </a:pPr>
            <a:r>
              <a:rPr sz="1600">
                <a:solidFill>
                  <a:srgbClr val="161B26"/>
                </a:solidFill>
                <a:latin typeface="Arial"/>
              </a:rPr>
              <a:t>•  Superposition</a:t>
            </a:r>
          </a:p>
          <a:p>
            <a:pPr>
              <a:spcAft>
                <a:spcPts val="1000"/>
              </a:spcAft>
            </a:pPr>
            <a:r>
              <a:rPr sz="1600">
                <a:solidFill>
                  <a:srgbClr val="161B26"/>
                </a:solidFill>
                <a:latin typeface="Arial"/>
              </a:rPr>
              <a:t>•  Entanglement</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37</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03</a:t>
            </a:r>
          </a:p>
        </p:txBody>
      </p:sp>
      <p:sp>
        <p:nvSpPr>
          <p:cNvPr id="6" name="TextBox 5"/>
          <p:cNvSpPr txBox="1"/>
          <p:nvPr/>
        </p:nvSpPr>
        <p:spPr>
          <a:xfrm>
            <a:off x="1143000" y="2743200"/>
            <a:ext cx="9509760" cy="1463040"/>
          </a:xfrm>
          <a:prstGeom prst="rect">
            <a:avLst/>
          </a:prstGeom>
          <a:noFill/>
        </p:spPr>
        <p:txBody>
          <a:bodyPr wrap="square" anchor="t">
            <a:spAutoFit/>
          </a:bodyPr>
          <a:lstStyle/>
          <a:p>
            <a:pPr algn="l">
              <a:spcAft>
                <a:spcPts val="400"/>
              </a:spcAft>
            </a:pPr>
            <a:r>
              <a:rPr sz="4000" b="1">
                <a:solidFill>
                  <a:srgbClr val="161B26"/>
                </a:solidFill>
                <a:latin typeface="Arial"/>
              </a:rPr>
              <a:t>Quantum Gates and Circuits</a:t>
            </a:r>
          </a:p>
        </p:txBody>
      </p:sp>
      <p:sp>
        <p:nvSpPr>
          <p:cNvPr id="7" name="TextBox 6"/>
          <p:cNvSpPr txBox="1"/>
          <p:nvPr/>
        </p:nvSpPr>
        <p:spPr>
          <a:xfrm>
            <a:off x="1161288" y="4251960"/>
            <a:ext cx="9692640" cy="822960"/>
          </a:xfrm>
          <a:prstGeom prst="rect">
            <a:avLst/>
          </a:prstGeom>
          <a:noFill/>
        </p:spPr>
        <p:txBody>
          <a:bodyPr wrap="square" anchor="t">
            <a:spAutoFit/>
          </a:bodyPr>
          <a:lstStyle/>
          <a:p>
            <a:pPr algn="l">
              <a:spcAft>
                <a:spcPts val="400"/>
              </a:spcAft>
            </a:pPr>
            <a:r>
              <a:rPr sz="1500" b="0">
                <a:solidFill>
                  <a:srgbClr val="5B6372"/>
                </a:solidFill>
                <a:latin typeface="Arial"/>
              </a:rPr>
              <a:t>Single Qubit Gates · Multi Qubit Gates · Bell and GHZ States · Phase Kickback</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03</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38</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MAPS TO LO3, LO5</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Key Concepts — Quantum Gates and Circuits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Pauli gates</a:t>
            </a:r>
          </a:p>
          <a:p>
            <a:pPr algn="l">
              <a:spcAft>
                <a:spcPts val="300"/>
              </a:spcAft>
            </a:pPr>
            <a:r>
              <a:rPr sz="1100" b="0">
                <a:solidFill>
                  <a:srgbClr val="5B6372"/>
                </a:solidFill>
                <a:latin typeface="Arial"/>
              </a:rPr>
              <a:t>X (bit flip), Y and Z (phase flip) are self-inverse, Hermitian and unitary — the building blocks of single-qubit logic.</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Hadamard gate</a:t>
            </a:r>
          </a:p>
          <a:p>
            <a:pPr algn="l">
              <a:spcAft>
                <a:spcPts val="300"/>
              </a:spcAft>
            </a:pPr>
            <a:r>
              <a:rPr sz="1100" b="0">
                <a:solidFill>
                  <a:srgbClr val="5B6372"/>
                </a:solidFill>
                <a:latin typeface="Arial"/>
              </a:rPr>
              <a:t>H maps |0⟩ → |+⟩ and |1⟩ → |−⟩, creating the equal superposition that starts nearly every quantum algorithm.</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3429000"/>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Rotation and phase gates</a:t>
            </a:r>
          </a:p>
          <a:p>
            <a:pPr algn="l">
              <a:spcAft>
                <a:spcPts val="300"/>
              </a:spcAft>
            </a:pPr>
            <a:r>
              <a:rPr sz="1100" b="0">
                <a:solidFill>
                  <a:srgbClr val="5B6372"/>
                </a:solidFill>
                <a:latin typeface="Arial"/>
              </a:rPr>
              <a:t>Rx, Ry, Rz rotate the Bloch vector; S and T are special cases of the phase gate P(θ).</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3429000"/>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Multi-qubit gates</a:t>
            </a:r>
          </a:p>
          <a:p>
            <a:pPr algn="l">
              <a:spcAft>
                <a:spcPts val="300"/>
              </a:spcAft>
            </a:pPr>
            <a:r>
              <a:rPr sz="1100" b="0">
                <a:solidFill>
                  <a:srgbClr val="5B6372"/>
                </a:solidFill>
                <a:latin typeface="Arial"/>
              </a:rPr>
              <a:t>CNOT, CZ, controlled-phase, SWAP and Toffoli (CCNOT) create the entanglement that makes quantum computing powerful.</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5</a:t>
            </a:r>
          </a:p>
        </p:txBody>
      </p:sp>
      <p:sp>
        <p:nvSpPr>
          <p:cNvPr id="31" name="TextBox 30"/>
          <p:cNvSpPr txBox="1"/>
          <p:nvPr/>
        </p:nvSpPr>
        <p:spPr>
          <a:xfrm>
            <a:off x="1764792" y="4965192"/>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Bell and GHZ states</a:t>
            </a:r>
          </a:p>
          <a:p>
            <a:pPr algn="l">
              <a:spcAft>
                <a:spcPts val="300"/>
              </a:spcAft>
            </a:pPr>
            <a:r>
              <a:rPr sz="1100" b="0">
                <a:solidFill>
                  <a:srgbClr val="5B6372"/>
                </a:solidFill>
                <a:latin typeface="Arial"/>
              </a:rPr>
              <a:t>H followed by CNOT produces a maximally entangled Bell pair; extending to n qubits gives the GHZ state.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6</a:t>
            </a:r>
          </a:p>
        </p:txBody>
      </p:sp>
      <p:sp>
        <p:nvSpPr>
          <p:cNvPr id="36" name="TextBox 35"/>
          <p:cNvSpPr txBox="1"/>
          <p:nvPr/>
        </p:nvSpPr>
        <p:spPr>
          <a:xfrm>
            <a:off x="7219188" y="4965192"/>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Phase kickback</a:t>
            </a:r>
          </a:p>
          <a:p>
            <a:pPr algn="l">
              <a:spcAft>
                <a:spcPts val="300"/>
              </a:spcAft>
            </a:pPr>
            <a:r>
              <a:rPr sz="1100" b="0">
                <a:solidFill>
                  <a:srgbClr val="5B6372"/>
                </a:solidFill>
                <a:latin typeface="Arial"/>
              </a:rPr>
              <a:t>A controlled operation on an eigenstate transfers the eigenvalue phase back to the control qubit — the engine of Deutsch, BV and QPE.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39</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YOUR GATE VOCABULARY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The Quantum Gate Set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gate-reference.png"/>
          <p:cNvPicPr>
            <a:picLocks noChangeAspect="1"/>
          </p:cNvPicPr>
          <p:nvPr/>
        </p:nvPicPr>
        <p:blipFill>
          <a:blip r:embed="rId2"/>
          <a:stretch>
            <a:fillRect/>
          </a:stretch>
        </p:blipFill>
        <p:spPr>
          <a:xfrm>
            <a:off x="1838403" y="1755648"/>
            <a:ext cx="8512145" cy="3950208"/>
          </a:xfrm>
          <a:prstGeom prst="rect">
            <a:avLst/>
          </a:prstGeom>
        </p:spPr>
      </p:pic>
      <p:sp>
        <p:nvSpPr>
          <p:cNvPr id="8" name="Rectangle 7"/>
          <p:cNvSpPr/>
          <p:nvPr/>
        </p:nvSpPr>
        <p:spPr>
          <a:xfrm>
            <a:off x="777240" y="5870448"/>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5870448"/>
            <a:ext cx="10241280" cy="457200"/>
          </a:xfrm>
          <a:prstGeom prst="rect">
            <a:avLst/>
          </a:prstGeom>
          <a:noFill/>
        </p:spPr>
        <p:txBody>
          <a:bodyPr wrap="square" anchor="ctr">
            <a:spAutoFit/>
          </a:bodyPr>
          <a:lstStyle/>
          <a:p>
            <a:pPr algn="ctr">
              <a:spcAft>
                <a:spcPts val="400"/>
              </a:spcAft>
            </a:pPr>
            <a:r>
              <a:rPr sz="1350" b="0">
                <a:solidFill>
                  <a:srgbClr val="161B26"/>
                </a:solidFill>
                <a:latin typeface="Arial"/>
              </a:rPr>
              <a:t>Single-qubit gates rotate the Bloch vector; two-qubit gates create the entanglement that makes quantum computing powerful.</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40</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GATE REFERENCE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Single vs Multi-Qubit Gates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74519"/>
            <a:ext cx="1701515"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874519"/>
            <a:ext cx="1427195" cy="475488"/>
          </a:xfrm>
          <a:prstGeom prst="rect">
            <a:avLst/>
          </a:prstGeom>
          <a:noFill/>
        </p:spPr>
        <p:txBody>
          <a:bodyPr wrap="square" anchor="ctr">
            <a:spAutoFit/>
          </a:bodyPr>
          <a:lstStyle/>
          <a:p>
            <a:pPr algn="l">
              <a:spcAft>
                <a:spcPts val="400"/>
              </a:spcAft>
            </a:pPr>
            <a:r>
              <a:rPr sz="1300" b="1">
                <a:solidFill>
                  <a:srgbClr val="FFFFFF"/>
                </a:solidFill>
                <a:latin typeface="Arial"/>
              </a:rPr>
              <a:t>Gate</a:t>
            </a:r>
          </a:p>
        </p:txBody>
      </p:sp>
      <p:sp>
        <p:nvSpPr>
          <p:cNvPr id="9" name="Rectangle 8"/>
          <p:cNvSpPr/>
          <p:nvPr/>
        </p:nvSpPr>
        <p:spPr>
          <a:xfrm>
            <a:off x="2478755" y="1874519"/>
            <a:ext cx="1063447"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615915" y="1874519"/>
            <a:ext cx="789127" cy="475488"/>
          </a:xfrm>
          <a:prstGeom prst="rect">
            <a:avLst/>
          </a:prstGeom>
          <a:noFill/>
        </p:spPr>
        <p:txBody>
          <a:bodyPr wrap="square" anchor="ctr">
            <a:spAutoFit/>
          </a:bodyPr>
          <a:lstStyle/>
          <a:p>
            <a:pPr algn="l">
              <a:spcAft>
                <a:spcPts val="400"/>
              </a:spcAft>
            </a:pPr>
            <a:r>
              <a:rPr sz="1300" b="1">
                <a:solidFill>
                  <a:srgbClr val="FFFFFF"/>
                </a:solidFill>
                <a:latin typeface="Arial"/>
              </a:rPr>
              <a:t>Qubits</a:t>
            </a:r>
          </a:p>
        </p:txBody>
      </p:sp>
      <p:sp>
        <p:nvSpPr>
          <p:cNvPr id="11" name="Rectangle 10"/>
          <p:cNvSpPr/>
          <p:nvPr/>
        </p:nvSpPr>
        <p:spPr>
          <a:xfrm>
            <a:off x="3542202" y="1874519"/>
            <a:ext cx="3828409"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79362" y="1874519"/>
            <a:ext cx="3554089" cy="475488"/>
          </a:xfrm>
          <a:prstGeom prst="rect">
            <a:avLst/>
          </a:prstGeom>
          <a:noFill/>
        </p:spPr>
        <p:txBody>
          <a:bodyPr wrap="square" anchor="ctr">
            <a:spAutoFit/>
          </a:bodyPr>
          <a:lstStyle/>
          <a:p>
            <a:pPr algn="l">
              <a:spcAft>
                <a:spcPts val="400"/>
              </a:spcAft>
            </a:pPr>
            <a:r>
              <a:rPr sz="1300" b="1">
                <a:solidFill>
                  <a:srgbClr val="FFFFFF"/>
                </a:solidFill>
                <a:latin typeface="Arial"/>
              </a:rPr>
              <a:t>Effect</a:t>
            </a:r>
          </a:p>
        </p:txBody>
      </p:sp>
      <p:sp>
        <p:nvSpPr>
          <p:cNvPr id="13" name="Rectangle 12"/>
          <p:cNvSpPr/>
          <p:nvPr/>
        </p:nvSpPr>
        <p:spPr>
          <a:xfrm>
            <a:off x="7370611" y="1874519"/>
            <a:ext cx="4041099"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507771" y="1874519"/>
            <a:ext cx="3766779" cy="475488"/>
          </a:xfrm>
          <a:prstGeom prst="rect">
            <a:avLst/>
          </a:prstGeom>
          <a:noFill/>
        </p:spPr>
        <p:txBody>
          <a:bodyPr wrap="square" anchor="ctr">
            <a:spAutoFit/>
          </a:bodyPr>
          <a:lstStyle/>
          <a:p>
            <a:pPr algn="l">
              <a:spcAft>
                <a:spcPts val="400"/>
              </a:spcAft>
            </a:pPr>
            <a:r>
              <a:rPr sz="1300" b="1">
                <a:solidFill>
                  <a:srgbClr val="FFFFFF"/>
                </a:solidFill>
                <a:latin typeface="Arial"/>
              </a:rPr>
              <a:t>Used for</a:t>
            </a:r>
          </a:p>
        </p:txBody>
      </p:sp>
      <p:sp>
        <p:nvSpPr>
          <p:cNvPr id="15" name="Rectangle 14"/>
          <p:cNvSpPr/>
          <p:nvPr/>
        </p:nvSpPr>
        <p:spPr>
          <a:xfrm>
            <a:off x="777240" y="2350007"/>
            <a:ext cx="1701515"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2350007"/>
            <a:ext cx="1427195" cy="475488"/>
          </a:xfrm>
          <a:prstGeom prst="rect">
            <a:avLst/>
          </a:prstGeom>
          <a:noFill/>
        </p:spPr>
        <p:txBody>
          <a:bodyPr wrap="square" anchor="ctr">
            <a:spAutoFit/>
          </a:bodyPr>
          <a:lstStyle/>
          <a:p>
            <a:pPr algn="l">
              <a:spcAft>
                <a:spcPts val="400"/>
              </a:spcAft>
            </a:pPr>
            <a:r>
              <a:rPr sz="1200" b="1">
                <a:solidFill>
                  <a:srgbClr val="161B26"/>
                </a:solidFill>
                <a:latin typeface="Arial"/>
              </a:rPr>
              <a:t>X / Y / Z</a:t>
            </a:r>
          </a:p>
        </p:txBody>
      </p:sp>
      <p:sp>
        <p:nvSpPr>
          <p:cNvPr id="17" name="Rectangle 16"/>
          <p:cNvSpPr/>
          <p:nvPr/>
        </p:nvSpPr>
        <p:spPr>
          <a:xfrm>
            <a:off x="2478755" y="2350007"/>
            <a:ext cx="1063447"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615915" y="2350007"/>
            <a:ext cx="789127" cy="475488"/>
          </a:xfrm>
          <a:prstGeom prst="rect">
            <a:avLst/>
          </a:prstGeom>
          <a:noFill/>
        </p:spPr>
        <p:txBody>
          <a:bodyPr wrap="square" anchor="ctr">
            <a:spAutoFit/>
          </a:bodyPr>
          <a:lstStyle/>
          <a:p>
            <a:pPr algn="l">
              <a:spcAft>
                <a:spcPts val="400"/>
              </a:spcAft>
            </a:pPr>
            <a:r>
              <a:rPr sz="1200" b="0">
                <a:solidFill>
                  <a:srgbClr val="161B26"/>
                </a:solidFill>
                <a:latin typeface="Arial"/>
              </a:rPr>
              <a:t>1</a:t>
            </a:r>
          </a:p>
        </p:txBody>
      </p:sp>
      <p:sp>
        <p:nvSpPr>
          <p:cNvPr id="19" name="Rectangle 18"/>
          <p:cNvSpPr/>
          <p:nvPr/>
        </p:nvSpPr>
        <p:spPr>
          <a:xfrm>
            <a:off x="3542202" y="2350007"/>
            <a:ext cx="3828409"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79362" y="2350007"/>
            <a:ext cx="3554089" cy="475488"/>
          </a:xfrm>
          <a:prstGeom prst="rect">
            <a:avLst/>
          </a:prstGeom>
          <a:noFill/>
        </p:spPr>
        <p:txBody>
          <a:bodyPr wrap="square" anchor="ctr">
            <a:spAutoFit/>
          </a:bodyPr>
          <a:lstStyle/>
          <a:p>
            <a:pPr algn="l">
              <a:spcAft>
                <a:spcPts val="400"/>
              </a:spcAft>
            </a:pPr>
            <a:r>
              <a:rPr sz="1200" b="0">
                <a:solidFill>
                  <a:srgbClr val="161B26"/>
                </a:solidFill>
                <a:latin typeface="Arial"/>
              </a:rPr>
              <a:t>Rotate π about an axis</a:t>
            </a:r>
          </a:p>
        </p:txBody>
      </p:sp>
      <p:sp>
        <p:nvSpPr>
          <p:cNvPr id="21" name="Rectangle 20"/>
          <p:cNvSpPr/>
          <p:nvPr/>
        </p:nvSpPr>
        <p:spPr>
          <a:xfrm>
            <a:off x="7370611" y="2350007"/>
            <a:ext cx="4041099"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507771" y="2350007"/>
            <a:ext cx="3766779" cy="475488"/>
          </a:xfrm>
          <a:prstGeom prst="rect">
            <a:avLst/>
          </a:prstGeom>
          <a:noFill/>
        </p:spPr>
        <p:txBody>
          <a:bodyPr wrap="square" anchor="ctr">
            <a:spAutoFit/>
          </a:bodyPr>
          <a:lstStyle/>
          <a:p>
            <a:pPr algn="l">
              <a:spcAft>
                <a:spcPts val="400"/>
              </a:spcAft>
            </a:pPr>
            <a:r>
              <a:rPr sz="1200" b="0">
                <a:solidFill>
                  <a:srgbClr val="161B26"/>
                </a:solidFill>
                <a:latin typeface="Arial"/>
              </a:rPr>
              <a:t>Bit flip, phase flip</a:t>
            </a:r>
          </a:p>
        </p:txBody>
      </p:sp>
      <p:sp>
        <p:nvSpPr>
          <p:cNvPr id="23" name="Rectangle 22"/>
          <p:cNvSpPr/>
          <p:nvPr/>
        </p:nvSpPr>
        <p:spPr>
          <a:xfrm>
            <a:off x="777240" y="2825495"/>
            <a:ext cx="1701515"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4400" y="2825495"/>
            <a:ext cx="1427195" cy="475488"/>
          </a:xfrm>
          <a:prstGeom prst="rect">
            <a:avLst/>
          </a:prstGeom>
          <a:noFill/>
        </p:spPr>
        <p:txBody>
          <a:bodyPr wrap="square" anchor="ctr">
            <a:spAutoFit/>
          </a:bodyPr>
          <a:lstStyle/>
          <a:p>
            <a:pPr algn="l">
              <a:spcAft>
                <a:spcPts val="400"/>
              </a:spcAft>
            </a:pPr>
            <a:r>
              <a:rPr sz="1200" b="1">
                <a:solidFill>
                  <a:srgbClr val="161B26"/>
                </a:solidFill>
                <a:latin typeface="Arial"/>
              </a:rPr>
              <a:t>H</a:t>
            </a:r>
          </a:p>
        </p:txBody>
      </p:sp>
      <p:sp>
        <p:nvSpPr>
          <p:cNvPr id="25" name="Rectangle 24"/>
          <p:cNvSpPr/>
          <p:nvPr/>
        </p:nvSpPr>
        <p:spPr>
          <a:xfrm>
            <a:off x="2478755" y="2825495"/>
            <a:ext cx="1063447"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615915" y="2825495"/>
            <a:ext cx="789127" cy="475488"/>
          </a:xfrm>
          <a:prstGeom prst="rect">
            <a:avLst/>
          </a:prstGeom>
          <a:noFill/>
        </p:spPr>
        <p:txBody>
          <a:bodyPr wrap="square" anchor="ctr">
            <a:spAutoFit/>
          </a:bodyPr>
          <a:lstStyle/>
          <a:p>
            <a:pPr algn="l">
              <a:spcAft>
                <a:spcPts val="400"/>
              </a:spcAft>
            </a:pPr>
            <a:r>
              <a:rPr sz="1200" b="0">
                <a:solidFill>
                  <a:srgbClr val="161B26"/>
                </a:solidFill>
                <a:latin typeface="Arial"/>
              </a:rPr>
              <a:t>1</a:t>
            </a:r>
          </a:p>
        </p:txBody>
      </p:sp>
      <p:sp>
        <p:nvSpPr>
          <p:cNvPr id="27" name="Rectangle 26"/>
          <p:cNvSpPr/>
          <p:nvPr/>
        </p:nvSpPr>
        <p:spPr>
          <a:xfrm>
            <a:off x="3542202" y="2825495"/>
            <a:ext cx="3828409"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79362" y="2825495"/>
            <a:ext cx="3554089" cy="475488"/>
          </a:xfrm>
          <a:prstGeom prst="rect">
            <a:avLst/>
          </a:prstGeom>
          <a:noFill/>
        </p:spPr>
        <p:txBody>
          <a:bodyPr wrap="square" anchor="ctr">
            <a:spAutoFit/>
          </a:bodyPr>
          <a:lstStyle/>
          <a:p>
            <a:pPr algn="l">
              <a:spcAft>
                <a:spcPts val="400"/>
              </a:spcAft>
            </a:pPr>
            <a:r>
              <a:rPr sz="1200" b="0">
                <a:solidFill>
                  <a:srgbClr val="161B26"/>
                </a:solidFill>
                <a:latin typeface="Arial"/>
              </a:rPr>
              <a:t>Basis change</a:t>
            </a:r>
          </a:p>
        </p:txBody>
      </p:sp>
      <p:sp>
        <p:nvSpPr>
          <p:cNvPr id="29" name="Rectangle 28"/>
          <p:cNvSpPr/>
          <p:nvPr/>
        </p:nvSpPr>
        <p:spPr>
          <a:xfrm>
            <a:off x="7370611" y="2825495"/>
            <a:ext cx="4041099"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507771" y="2825495"/>
            <a:ext cx="3766779" cy="475488"/>
          </a:xfrm>
          <a:prstGeom prst="rect">
            <a:avLst/>
          </a:prstGeom>
          <a:noFill/>
        </p:spPr>
        <p:txBody>
          <a:bodyPr wrap="square" anchor="ctr">
            <a:spAutoFit/>
          </a:bodyPr>
          <a:lstStyle/>
          <a:p>
            <a:pPr algn="l">
              <a:spcAft>
                <a:spcPts val="400"/>
              </a:spcAft>
            </a:pPr>
            <a:r>
              <a:rPr sz="1200" b="0">
                <a:solidFill>
                  <a:srgbClr val="161B26"/>
                </a:solidFill>
                <a:latin typeface="Arial"/>
              </a:rPr>
              <a:t>Create superposition</a:t>
            </a:r>
          </a:p>
        </p:txBody>
      </p:sp>
      <p:sp>
        <p:nvSpPr>
          <p:cNvPr id="31" name="Rectangle 30"/>
          <p:cNvSpPr/>
          <p:nvPr/>
        </p:nvSpPr>
        <p:spPr>
          <a:xfrm>
            <a:off x="777240" y="3300983"/>
            <a:ext cx="1701515"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14400" y="3300983"/>
            <a:ext cx="1427195" cy="475488"/>
          </a:xfrm>
          <a:prstGeom prst="rect">
            <a:avLst/>
          </a:prstGeom>
          <a:noFill/>
        </p:spPr>
        <p:txBody>
          <a:bodyPr wrap="square" anchor="ctr">
            <a:spAutoFit/>
          </a:bodyPr>
          <a:lstStyle/>
          <a:p>
            <a:pPr algn="l">
              <a:spcAft>
                <a:spcPts val="400"/>
              </a:spcAft>
            </a:pPr>
            <a:r>
              <a:rPr sz="1200" b="1">
                <a:solidFill>
                  <a:srgbClr val="161B26"/>
                </a:solidFill>
                <a:latin typeface="Arial"/>
              </a:rPr>
              <a:t>S / T</a:t>
            </a:r>
          </a:p>
        </p:txBody>
      </p:sp>
      <p:sp>
        <p:nvSpPr>
          <p:cNvPr id="33" name="Rectangle 32"/>
          <p:cNvSpPr/>
          <p:nvPr/>
        </p:nvSpPr>
        <p:spPr>
          <a:xfrm>
            <a:off x="2478755" y="3300983"/>
            <a:ext cx="1063447"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615915" y="3300983"/>
            <a:ext cx="789127" cy="475488"/>
          </a:xfrm>
          <a:prstGeom prst="rect">
            <a:avLst/>
          </a:prstGeom>
          <a:noFill/>
        </p:spPr>
        <p:txBody>
          <a:bodyPr wrap="square" anchor="ctr">
            <a:spAutoFit/>
          </a:bodyPr>
          <a:lstStyle/>
          <a:p>
            <a:pPr algn="l">
              <a:spcAft>
                <a:spcPts val="400"/>
              </a:spcAft>
            </a:pPr>
            <a:r>
              <a:rPr sz="1200" b="0">
                <a:solidFill>
                  <a:srgbClr val="161B26"/>
                </a:solidFill>
                <a:latin typeface="Arial"/>
              </a:rPr>
              <a:t>1</a:t>
            </a:r>
          </a:p>
        </p:txBody>
      </p:sp>
      <p:sp>
        <p:nvSpPr>
          <p:cNvPr id="35" name="Rectangle 34"/>
          <p:cNvSpPr/>
          <p:nvPr/>
        </p:nvSpPr>
        <p:spPr>
          <a:xfrm>
            <a:off x="3542202" y="3300983"/>
            <a:ext cx="3828409"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679362" y="3300983"/>
            <a:ext cx="3554089" cy="475488"/>
          </a:xfrm>
          <a:prstGeom prst="rect">
            <a:avLst/>
          </a:prstGeom>
          <a:noFill/>
        </p:spPr>
        <p:txBody>
          <a:bodyPr wrap="square" anchor="ctr">
            <a:spAutoFit/>
          </a:bodyPr>
          <a:lstStyle/>
          <a:p>
            <a:pPr algn="l">
              <a:spcAft>
                <a:spcPts val="400"/>
              </a:spcAft>
            </a:pPr>
            <a:r>
              <a:rPr sz="1200" b="0">
                <a:solidFill>
                  <a:srgbClr val="161B26"/>
                </a:solidFill>
                <a:latin typeface="Arial"/>
              </a:rPr>
              <a:t>Phase π/2 and π/4</a:t>
            </a:r>
          </a:p>
        </p:txBody>
      </p:sp>
      <p:sp>
        <p:nvSpPr>
          <p:cNvPr id="37" name="Rectangle 36"/>
          <p:cNvSpPr/>
          <p:nvPr/>
        </p:nvSpPr>
        <p:spPr>
          <a:xfrm>
            <a:off x="7370611" y="3300983"/>
            <a:ext cx="4041099"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507771" y="3300983"/>
            <a:ext cx="3766779" cy="475488"/>
          </a:xfrm>
          <a:prstGeom prst="rect">
            <a:avLst/>
          </a:prstGeom>
          <a:noFill/>
        </p:spPr>
        <p:txBody>
          <a:bodyPr wrap="square" anchor="ctr">
            <a:spAutoFit/>
          </a:bodyPr>
          <a:lstStyle/>
          <a:p>
            <a:pPr algn="l">
              <a:spcAft>
                <a:spcPts val="400"/>
              </a:spcAft>
            </a:pPr>
            <a:r>
              <a:rPr sz="1200" b="0">
                <a:solidFill>
                  <a:srgbClr val="161B26"/>
                </a:solidFill>
                <a:latin typeface="Arial"/>
              </a:rPr>
              <a:t>Fine phase control</a:t>
            </a:r>
          </a:p>
        </p:txBody>
      </p:sp>
      <p:sp>
        <p:nvSpPr>
          <p:cNvPr id="39" name="Rectangle 38"/>
          <p:cNvSpPr/>
          <p:nvPr/>
        </p:nvSpPr>
        <p:spPr>
          <a:xfrm>
            <a:off x="777240" y="3776471"/>
            <a:ext cx="1701515"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14400" y="3776471"/>
            <a:ext cx="1427195" cy="475488"/>
          </a:xfrm>
          <a:prstGeom prst="rect">
            <a:avLst/>
          </a:prstGeom>
          <a:noFill/>
        </p:spPr>
        <p:txBody>
          <a:bodyPr wrap="square" anchor="ctr">
            <a:spAutoFit/>
          </a:bodyPr>
          <a:lstStyle/>
          <a:p>
            <a:pPr algn="l">
              <a:spcAft>
                <a:spcPts val="400"/>
              </a:spcAft>
            </a:pPr>
            <a:r>
              <a:rPr sz="1200" b="1">
                <a:solidFill>
                  <a:srgbClr val="161B26"/>
                </a:solidFill>
                <a:latin typeface="Arial"/>
              </a:rPr>
              <a:t>Rx / Ry / Rz</a:t>
            </a:r>
          </a:p>
        </p:txBody>
      </p:sp>
      <p:sp>
        <p:nvSpPr>
          <p:cNvPr id="41" name="Rectangle 40"/>
          <p:cNvSpPr/>
          <p:nvPr/>
        </p:nvSpPr>
        <p:spPr>
          <a:xfrm>
            <a:off x="2478755" y="3776471"/>
            <a:ext cx="1063447"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615915" y="3776471"/>
            <a:ext cx="789127" cy="475488"/>
          </a:xfrm>
          <a:prstGeom prst="rect">
            <a:avLst/>
          </a:prstGeom>
          <a:noFill/>
        </p:spPr>
        <p:txBody>
          <a:bodyPr wrap="square" anchor="ctr">
            <a:spAutoFit/>
          </a:bodyPr>
          <a:lstStyle/>
          <a:p>
            <a:pPr algn="l">
              <a:spcAft>
                <a:spcPts val="400"/>
              </a:spcAft>
            </a:pPr>
            <a:r>
              <a:rPr sz="1200" b="0">
                <a:solidFill>
                  <a:srgbClr val="161B26"/>
                </a:solidFill>
                <a:latin typeface="Arial"/>
              </a:rPr>
              <a:t>1</a:t>
            </a:r>
          </a:p>
        </p:txBody>
      </p:sp>
      <p:sp>
        <p:nvSpPr>
          <p:cNvPr id="43" name="Rectangle 42"/>
          <p:cNvSpPr/>
          <p:nvPr/>
        </p:nvSpPr>
        <p:spPr>
          <a:xfrm>
            <a:off x="3542202" y="3776471"/>
            <a:ext cx="3828409"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3679362" y="3776471"/>
            <a:ext cx="3554089" cy="475488"/>
          </a:xfrm>
          <a:prstGeom prst="rect">
            <a:avLst/>
          </a:prstGeom>
          <a:noFill/>
        </p:spPr>
        <p:txBody>
          <a:bodyPr wrap="square" anchor="ctr">
            <a:spAutoFit/>
          </a:bodyPr>
          <a:lstStyle/>
          <a:p>
            <a:pPr algn="l">
              <a:spcAft>
                <a:spcPts val="400"/>
              </a:spcAft>
            </a:pPr>
            <a:r>
              <a:rPr sz="1200" b="0">
                <a:solidFill>
                  <a:srgbClr val="161B26"/>
                </a:solidFill>
                <a:latin typeface="Arial"/>
              </a:rPr>
              <a:t>Arbitrary rotation</a:t>
            </a:r>
          </a:p>
        </p:txBody>
      </p:sp>
      <p:sp>
        <p:nvSpPr>
          <p:cNvPr id="45" name="Rectangle 44"/>
          <p:cNvSpPr/>
          <p:nvPr/>
        </p:nvSpPr>
        <p:spPr>
          <a:xfrm>
            <a:off x="7370611" y="3776471"/>
            <a:ext cx="4041099"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507771" y="3776471"/>
            <a:ext cx="3766779" cy="475488"/>
          </a:xfrm>
          <a:prstGeom prst="rect">
            <a:avLst/>
          </a:prstGeom>
          <a:noFill/>
        </p:spPr>
        <p:txBody>
          <a:bodyPr wrap="square" anchor="ctr">
            <a:spAutoFit/>
          </a:bodyPr>
          <a:lstStyle/>
          <a:p>
            <a:pPr algn="l">
              <a:spcAft>
                <a:spcPts val="400"/>
              </a:spcAft>
            </a:pPr>
            <a:r>
              <a:rPr sz="1200" b="0">
                <a:solidFill>
                  <a:srgbClr val="161B26"/>
                </a:solidFill>
                <a:latin typeface="Arial"/>
              </a:rPr>
              <a:t>Variational ansätze</a:t>
            </a:r>
          </a:p>
        </p:txBody>
      </p:sp>
      <p:sp>
        <p:nvSpPr>
          <p:cNvPr id="47" name="Rectangle 46"/>
          <p:cNvSpPr/>
          <p:nvPr/>
        </p:nvSpPr>
        <p:spPr>
          <a:xfrm>
            <a:off x="777240" y="4251959"/>
            <a:ext cx="1701515"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14400" y="4251959"/>
            <a:ext cx="1427195" cy="475488"/>
          </a:xfrm>
          <a:prstGeom prst="rect">
            <a:avLst/>
          </a:prstGeom>
          <a:noFill/>
        </p:spPr>
        <p:txBody>
          <a:bodyPr wrap="square" anchor="ctr">
            <a:spAutoFit/>
          </a:bodyPr>
          <a:lstStyle/>
          <a:p>
            <a:pPr algn="l">
              <a:spcAft>
                <a:spcPts val="400"/>
              </a:spcAft>
            </a:pPr>
            <a:r>
              <a:rPr sz="1200" b="1">
                <a:solidFill>
                  <a:srgbClr val="161B26"/>
                </a:solidFill>
                <a:latin typeface="Arial"/>
              </a:rPr>
              <a:t>CNOT</a:t>
            </a:r>
          </a:p>
        </p:txBody>
      </p:sp>
      <p:sp>
        <p:nvSpPr>
          <p:cNvPr id="49" name="Rectangle 48"/>
          <p:cNvSpPr/>
          <p:nvPr/>
        </p:nvSpPr>
        <p:spPr>
          <a:xfrm>
            <a:off x="2478755" y="4251959"/>
            <a:ext cx="1063447"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2615915" y="4251959"/>
            <a:ext cx="789127" cy="475488"/>
          </a:xfrm>
          <a:prstGeom prst="rect">
            <a:avLst/>
          </a:prstGeom>
          <a:noFill/>
        </p:spPr>
        <p:txBody>
          <a:bodyPr wrap="square" anchor="ctr">
            <a:spAutoFit/>
          </a:bodyPr>
          <a:lstStyle/>
          <a:p>
            <a:pPr algn="l">
              <a:spcAft>
                <a:spcPts val="400"/>
              </a:spcAft>
            </a:pPr>
            <a:r>
              <a:rPr sz="1200" b="0">
                <a:solidFill>
                  <a:srgbClr val="161B26"/>
                </a:solidFill>
                <a:latin typeface="Arial"/>
              </a:rPr>
              <a:t>2</a:t>
            </a:r>
          </a:p>
        </p:txBody>
      </p:sp>
      <p:sp>
        <p:nvSpPr>
          <p:cNvPr id="51" name="Rectangle 50"/>
          <p:cNvSpPr/>
          <p:nvPr/>
        </p:nvSpPr>
        <p:spPr>
          <a:xfrm>
            <a:off x="3542202" y="4251959"/>
            <a:ext cx="3828409"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3679362" y="4251959"/>
            <a:ext cx="3554089" cy="475488"/>
          </a:xfrm>
          <a:prstGeom prst="rect">
            <a:avLst/>
          </a:prstGeom>
          <a:noFill/>
        </p:spPr>
        <p:txBody>
          <a:bodyPr wrap="square" anchor="ctr">
            <a:spAutoFit/>
          </a:bodyPr>
          <a:lstStyle/>
          <a:p>
            <a:pPr algn="l">
              <a:spcAft>
                <a:spcPts val="400"/>
              </a:spcAft>
            </a:pPr>
            <a:r>
              <a:rPr sz="1200" b="0">
                <a:solidFill>
                  <a:srgbClr val="161B26"/>
                </a:solidFill>
                <a:latin typeface="Arial"/>
              </a:rPr>
              <a:t>Flip target if control is 1</a:t>
            </a:r>
          </a:p>
        </p:txBody>
      </p:sp>
      <p:sp>
        <p:nvSpPr>
          <p:cNvPr id="53" name="Rectangle 52"/>
          <p:cNvSpPr/>
          <p:nvPr/>
        </p:nvSpPr>
        <p:spPr>
          <a:xfrm>
            <a:off x="7370611" y="4251959"/>
            <a:ext cx="4041099"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7507771" y="4251959"/>
            <a:ext cx="3766779" cy="475488"/>
          </a:xfrm>
          <a:prstGeom prst="rect">
            <a:avLst/>
          </a:prstGeom>
          <a:noFill/>
        </p:spPr>
        <p:txBody>
          <a:bodyPr wrap="square" anchor="ctr">
            <a:spAutoFit/>
          </a:bodyPr>
          <a:lstStyle/>
          <a:p>
            <a:pPr algn="l">
              <a:spcAft>
                <a:spcPts val="400"/>
              </a:spcAft>
            </a:pPr>
            <a:r>
              <a:rPr sz="1200" b="0">
                <a:solidFill>
                  <a:srgbClr val="161B26"/>
                </a:solidFill>
                <a:latin typeface="Arial"/>
              </a:rPr>
              <a:t>Entanglement, oracles</a:t>
            </a:r>
          </a:p>
        </p:txBody>
      </p:sp>
      <p:sp>
        <p:nvSpPr>
          <p:cNvPr id="55" name="Rectangle 54"/>
          <p:cNvSpPr/>
          <p:nvPr/>
        </p:nvSpPr>
        <p:spPr>
          <a:xfrm>
            <a:off x="777240" y="4727447"/>
            <a:ext cx="1701515"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14400" y="4727447"/>
            <a:ext cx="1427195" cy="475488"/>
          </a:xfrm>
          <a:prstGeom prst="rect">
            <a:avLst/>
          </a:prstGeom>
          <a:noFill/>
        </p:spPr>
        <p:txBody>
          <a:bodyPr wrap="square" anchor="ctr">
            <a:spAutoFit/>
          </a:bodyPr>
          <a:lstStyle/>
          <a:p>
            <a:pPr algn="l">
              <a:spcAft>
                <a:spcPts val="400"/>
              </a:spcAft>
            </a:pPr>
            <a:r>
              <a:rPr sz="1200" b="1">
                <a:solidFill>
                  <a:srgbClr val="161B26"/>
                </a:solidFill>
                <a:latin typeface="Arial"/>
              </a:rPr>
              <a:t>CZ / CP</a:t>
            </a:r>
          </a:p>
        </p:txBody>
      </p:sp>
      <p:sp>
        <p:nvSpPr>
          <p:cNvPr id="57" name="Rectangle 56"/>
          <p:cNvSpPr/>
          <p:nvPr/>
        </p:nvSpPr>
        <p:spPr>
          <a:xfrm>
            <a:off x="2478755" y="4727447"/>
            <a:ext cx="1063447"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2615915" y="4727447"/>
            <a:ext cx="789127" cy="475488"/>
          </a:xfrm>
          <a:prstGeom prst="rect">
            <a:avLst/>
          </a:prstGeom>
          <a:noFill/>
        </p:spPr>
        <p:txBody>
          <a:bodyPr wrap="square" anchor="ctr">
            <a:spAutoFit/>
          </a:bodyPr>
          <a:lstStyle/>
          <a:p>
            <a:pPr algn="l">
              <a:spcAft>
                <a:spcPts val="400"/>
              </a:spcAft>
            </a:pPr>
            <a:r>
              <a:rPr sz="1200" b="0">
                <a:solidFill>
                  <a:srgbClr val="161B26"/>
                </a:solidFill>
                <a:latin typeface="Arial"/>
              </a:rPr>
              <a:t>2</a:t>
            </a:r>
          </a:p>
        </p:txBody>
      </p:sp>
      <p:sp>
        <p:nvSpPr>
          <p:cNvPr id="59" name="Rectangle 58"/>
          <p:cNvSpPr/>
          <p:nvPr/>
        </p:nvSpPr>
        <p:spPr>
          <a:xfrm>
            <a:off x="3542202" y="4727447"/>
            <a:ext cx="3828409"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3679362" y="4727447"/>
            <a:ext cx="3554089" cy="475488"/>
          </a:xfrm>
          <a:prstGeom prst="rect">
            <a:avLst/>
          </a:prstGeom>
          <a:noFill/>
        </p:spPr>
        <p:txBody>
          <a:bodyPr wrap="square" anchor="ctr">
            <a:spAutoFit/>
          </a:bodyPr>
          <a:lstStyle/>
          <a:p>
            <a:pPr algn="l">
              <a:spcAft>
                <a:spcPts val="400"/>
              </a:spcAft>
            </a:pPr>
            <a:r>
              <a:rPr sz="1200" b="0">
                <a:solidFill>
                  <a:srgbClr val="161B26"/>
                </a:solidFill>
                <a:latin typeface="Arial"/>
              </a:rPr>
              <a:t>Conditional phase</a:t>
            </a:r>
          </a:p>
        </p:txBody>
      </p:sp>
      <p:sp>
        <p:nvSpPr>
          <p:cNvPr id="61" name="Rectangle 60"/>
          <p:cNvSpPr/>
          <p:nvPr/>
        </p:nvSpPr>
        <p:spPr>
          <a:xfrm>
            <a:off x="7370611" y="4727447"/>
            <a:ext cx="4041099"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7507771" y="4727447"/>
            <a:ext cx="3766779" cy="475488"/>
          </a:xfrm>
          <a:prstGeom prst="rect">
            <a:avLst/>
          </a:prstGeom>
          <a:noFill/>
        </p:spPr>
        <p:txBody>
          <a:bodyPr wrap="square" anchor="ctr">
            <a:spAutoFit/>
          </a:bodyPr>
          <a:lstStyle/>
          <a:p>
            <a:pPr algn="l">
              <a:spcAft>
                <a:spcPts val="400"/>
              </a:spcAft>
            </a:pPr>
            <a:r>
              <a:rPr sz="1200" b="0">
                <a:solidFill>
                  <a:srgbClr val="161B26"/>
                </a:solidFill>
                <a:latin typeface="Arial"/>
              </a:rPr>
              <a:t>QFT, phase kickback</a:t>
            </a:r>
          </a:p>
        </p:txBody>
      </p:sp>
      <p:sp>
        <p:nvSpPr>
          <p:cNvPr id="63" name="Rectangle 62"/>
          <p:cNvSpPr/>
          <p:nvPr/>
        </p:nvSpPr>
        <p:spPr>
          <a:xfrm>
            <a:off x="777240" y="5202935"/>
            <a:ext cx="1701515"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914400" y="5202935"/>
            <a:ext cx="1427195" cy="475488"/>
          </a:xfrm>
          <a:prstGeom prst="rect">
            <a:avLst/>
          </a:prstGeom>
          <a:noFill/>
        </p:spPr>
        <p:txBody>
          <a:bodyPr wrap="square" anchor="ctr">
            <a:spAutoFit/>
          </a:bodyPr>
          <a:lstStyle/>
          <a:p>
            <a:pPr algn="l">
              <a:spcAft>
                <a:spcPts val="400"/>
              </a:spcAft>
            </a:pPr>
            <a:r>
              <a:rPr sz="1200" b="1">
                <a:solidFill>
                  <a:srgbClr val="161B26"/>
                </a:solidFill>
                <a:latin typeface="Arial"/>
              </a:rPr>
              <a:t>SWAP</a:t>
            </a:r>
          </a:p>
        </p:txBody>
      </p:sp>
      <p:sp>
        <p:nvSpPr>
          <p:cNvPr id="65" name="Rectangle 64"/>
          <p:cNvSpPr/>
          <p:nvPr/>
        </p:nvSpPr>
        <p:spPr>
          <a:xfrm>
            <a:off x="2478755" y="5202935"/>
            <a:ext cx="1063447"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2615915" y="5202935"/>
            <a:ext cx="789127" cy="475488"/>
          </a:xfrm>
          <a:prstGeom prst="rect">
            <a:avLst/>
          </a:prstGeom>
          <a:noFill/>
        </p:spPr>
        <p:txBody>
          <a:bodyPr wrap="square" anchor="ctr">
            <a:spAutoFit/>
          </a:bodyPr>
          <a:lstStyle/>
          <a:p>
            <a:pPr algn="l">
              <a:spcAft>
                <a:spcPts val="400"/>
              </a:spcAft>
            </a:pPr>
            <a:r>
              <a:rPr sz="1200" b="0">
                <a:solidFill>
                  <a:srgbClr val="161B26"/>
                </a:solidFill>
                <a:latin typeface="Arial"/>
              </a:rPr>
              <a:t>2</a:t>
            </a:r>
          </a:p>
        </p:txBody>
      </p:sp>
      <p:sp>
        <p:nvSpPr>
          <p:cNvPr id="67" name="Rectangle 66"/>
          <p:cNvSpPr/>
          <p:nvPr/>
        </p:nvSpPr>
        <p:spPr>
          <a:xfrm>
            <a:off x="3542202" y="5202935"/>
            <a:ext cx="3828409"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3679362" y="5202935"/>
            <a:ext cx="3554089" cy="475488"/>
          </a:xfrm>
          <a:prstGeom prst="rect">
            <a:avLst/>
          </a:prstGeom>
          <a:noFill/>
        </p:spPr>
        <p:txBody>
          <a:bodyPr wrap="square" anchor="ctr">
            <a:spAutoFit/>
          </a:bodyPr>
          <a:lstStyle/>
          <a:p>
            <a:pPr algn="l">
              <a:spcAft>
                <a:spcPts val="400"/>
              </a:spcAft>
            </a:pPr>
            <a:r>
              <a:rPr sz="1200" b="0">
                <a:solidFill>
                  <a:srgbClr val="161B26"/>
                </a:solidFill>
                <a:latin typeface="Arial"/>
              </a:rPr>
              <a:t>Exchange two qubits</a:t>
            </a:r>
          </a:p>
        </p:txBody>
      </p:sp>
      <p:sp>
        <p:nvSpPr>
          <p:cNvPr id="69" name="Rectangle 68"/>
          <p:cNvSpPr/>
          <p:nvPr/>
        </p:nvSpPr>
        <p:spPr>
          <a:xfrm>
            <a:off x="7370611" y="5202935"/>
            <a:ext cx="4041099"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7507771" y="5202935"/>
            <a:ext cx="3766779" cy="475488"/>
          </a:xfrm>
          <a:prstGeom prst="rect">
            <a:avLst/>
          </a:prstGeom>
          <a:noFill/>
        </p:spPr>
        <p:txBody>
          <a:bodyPr wrap="square" anchor="ctr">
            <a:spAutoFit/>
          </a:bodyPr>
          <a:lstStyle/>
          <a:p>
            <a:pPr algn="l">
              <a:spcAft>
                <a:spcPts val="400"/>
              </a:spcAft>
            </a:pPr>
            <a:r>
              <a:rPr sz="1200" b="0">
                <a:solidFill>
                  <a:srgbClr val="161B26"/>
                </a:solidFill>
                <a:latin typeface="Arial"/>
              </a:rPr>
              <a:t>Routing on hardware</a:t>
            </a:r>
          </a:p>
        </p:txBody>
      </p:sp>
      <p:sp>
        <p:nvSpPr>
          <p:cNvPr id="71" name="Rectangle 70"/>
          <p:cNvSpPr/>
          <p:nvPr/>
        </p:nvSpPr>
        <p:spPr>
          <a:xfrm>
            <a:off x="777240" y="5678423"/>
            <a:ext cx="1701515"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914400" y="5678423"/>
            <a:ext cx="1427195" cy="475488"/>
          </a:xfrm>
          <a:prstGeom prst="rect">
            <a:avLst/>
          </a:prstGeom>
          <a:noFill/>
        </p:spPr>
        <p:txBody>
          <a:bodyPr wrap="square" anchor="ctr">
            <a:spAutoFit/>
          </a:bodyPr>
          <a:lstStyle/>
          <a:p>
            <a:pPr algn="l">
              <a:spcAft>
                <a:spcPts val="400"/>
              </a:spcAft>
            </a:pPr>
            <a:r>
              <a:rPr sz="1200" b="1">
                <a:solidFill>
                  <a:srgbClr val="161B26"/>
                </a:solidFill>
                <a:latin typeface="Arial"/>
              </a:rPr>
              <a:t>Toffoli</a:t>
            </a:r>
          </a:p>
        </p:txBody>
      </p:sp>
      <p:sp>
        <p:nvSpPr>
          <p:cNvPr id="73" name="Rectangle 72"/>
          <p:cNvSpPr/>
          <p:nvPr/>
        </p:nvSpPr>
        <p:spPr>
          <a:xfrm>
            <a:off x="2478755" y="5678423"/>
            <a:ext cx="1063447"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2615915" y="5678423"/>
            <a:ext cx="789127" cy="475488"/>
          </a:xfrm>
          <a:prstGeom prst="rect">
            <a:avLst/>
          </a:prstGeom>
          <a:noFill/>
        </p:spPr>
        <p:txBody>
          <a:bodyPr wrap="square" anchor="ctr">
            <a:spAutoFit/>
          </a:bodyPr>
          <a:lstStyle/>
          <a:p>
            <a:pPr algn="l">
              <a:spcAft>
                <a:spcPts val="400"/>
              </a:spcAft>
            </a:pPr>
            <a:r>
              <a:rPr sz="1200" b="0">
                <a:solidFill>
                  <a:srgbClr val="161B26"/>
                </a:solidFill>
                <a:latin typeface="Arial"/>
              </a:rPr>
              <a:t>3</a:t>
            </a:r>
          </a:p>
        </p:txBody>
      </p:sp>
      <p:sp>
        <p:nvSpPr>
          <p:cNvPr id="75" name="Rectangle 74"/>
          <p:cNvSpPr/>
          <p:nvPr/>
        </p:nvSpPr>
        <p:spPr>
          <a:xfrm>
            <a:off x="3542202" y="5678423"/>
            <a:ext cx="3828409"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3679362" y="5678423"/>
            <a:ext cx="3554089" cy="475488"/>
          </a:xfrm>
          <a:prstGeom prst="rect">
            <a:avLst/>
          </a:prstGeom>
          <a:noFill/>
        </p:spPr>
        <p:txBody>
          <a:bodyPr wrap="square" anchor="ctr">
            <a:spAutoFit/>
          </a:bodyPr>
          <a:lstStyle/>
          <a:p>
            <a:pPr algn="l">
              <a:spcAft>
                <a:spcPts val="400"/>
              </a:spcAft>
            </a:pPr>
            <a:r>
              <a:rPr sz="1200" b="0">
                <a:solidFill>
                  <a:srgbClr val="161B26"/>
                </a:solidFill>
                <a:latin typeface="Arial"/>
              </a:rPr>
              <a:t>Flip if both controls are 1</a:t>
            </a:r>
          </a:p>
        </p:txBody>
      </p:sp>
      <p:sp>
        <p:nvSpPr>
          <p:cNvPr id="77" name="Rectangle 76"/>
          <p:cNvSpPr/>
          <p:nvPr/>
        </p:nvSpPr>
        <p:spPr>
          <a:xfrm>
            <a:off x="7370611" y="5678423"/>
            <a:ext cx="4041099"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7507771" y="5678423"/>
            <a:ext cx="3766779" cy="475488"/>
          </a:xfrm>
          <a:prstGeom prst="rect">
            <a:avLst/>
          </a:prstGeom>
          <a:noFill/>
        </p:spPr>
        <p:txBody>
          <a:bodyPr wrap="square" anchor="ctr">
            <a:spAutoFit/>
          </a:bodyPr>
          <a:lstStyle/>
          <a:p>
            <a:pPr algn="l">
              <a:spcAft>
                <a:spcPts val="400"/>
              </a:spcAft>
            </a:pPr>
            <a:r>
              <a:rPr sz="1200" b="0">
                <a:solidFill>
                  <a:srgbClr val="161B26"/>
                </a:solidFill>
                <a:latin typeface="Arial"/>
              </a:rPr>
              <a:t>Reversible classical logic</a:t>
            </a:r>
          </a:p>
        </p:txBody>
      </p:sp>
      <p:sp>
        <p:nvSpPr>
          <p:cNvPr id="79" name="TextBox 7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80" name="TextBox 7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81" name="TextBox 8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41</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7C3AED"/>
                </a:solidFill>
                <a:latin typeface="Arial"/>
              </a:rPr>
              <a:t>THE KEY MECHANISM</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600" b="1">
                <a:solidFill>
                  <a:srgbClr val="161B26"/>
                </a:solidFill>
                <a:latin typeface="Arial"/>
              </a:rPr>
              <a:t>Phase kickback is the trick behind almost every algorithm.</a:t>
            </a:r>
          </a:p>
        </p:txBody>
      </p:sp>
      <p:sp>
        <p:nvSpPr>
          <p:cNvPr id="6" name="TextBox 5"/>
          <p:cNvSpPr txBox="1"/>
          <p:nvPr/>
        </p:nvSpPr>
        <p:spPr>
          <a:xfrm>
            <a:off x="1024128" y="4572000"/>
            <a:ext cx="10058400" cy="1097280"/>
          </a:xfrm>
          <a:prstGeom prst="rect">
            <a:avLst/>
          </a:prstGeom>
          <a:noFill/>
        </p:spPr>
        <p:txBody>
          <a:bodyPr wrap="square" anchor="t">
            <a:spAutoFit/>
          </a:bodyPr>
          <a:lstStyle/>
          <a:p>
            <a:pPr algn="l">
              <a:spcAft>
                <a:spcPts val="400"/>
              </a:spcAft>
            </a:pPr>
            <a:r>
              <a:rPr sz="1900" b="0">
                <a:solidFill>
                  <a:srgbClr val="5B6372"/>
                </a:solidFill>
                <a:latin typeface="Arial"/>
              </a:rPr>
              <a:t>Apply a controlled-U to an eigenstate of U and the eigenvalue phase appears on the CONTROL qubit — that is how Deutsch, Bernstein-Vazirani, phase estimation and Shor all extract their answers.</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42</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WHAT YOU'LL DO</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Hands-On Activities — Quantum Gates and Circuits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Activity 4</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a:solidFill>
                  <a:srgbClr val="161B26"/>
                </a:solidFill>
                <a:latin typeface="Arial"/>
              </a:rPr>
              <a:t>•  Building Circuits in IBM Quantum Composer</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Activity 5</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a:solidFill>
                  <a:srgbClr val="161B26"/>
                </a:solidFill>
                <a:latin typeface="Arial"/>
              </a:rPr>
              <a:t>•  Quantum Gates and Bell/GHZ States with PennyLane</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a:solidFill>
                  <a:srgbClr val="161B26"/>
                </a:solidFill>
                <a:latin typeface="Arial"/>
              </a:rPr>
              <a:t>•  —</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43</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03 · HANDS-ON ACTIVITY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Building Circuits in IBM Quantum Composer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646920" y="457200"/>
            <a:ext cx="17830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57200"/>
            <a:ext cx="1783080" cy="457200"/>
          </a:xfrm>
          <a:prstGeom prst="rect">
            <a:avLst/>
          </a:prstGeom>
          <a:noFill/>
        </p:spPr>
        <p:txBody>
          <a:bodyPr wrap="square" anchor="ctr">
            <a:spAutoFit/>
          </a:bodyPr>
          <a:lstStyle/>
          <a:p>
            <a:pPr algn="ctr">
              <a:spcAft>
                <a:spcPts val="400"/>
              </a:spcAft>
            </a:pPr>
            <a:r>
              <a:rPr sz="1300" b="1">
                <a:solidFill>
                  <a:srgbClr val="FFFFFF"/>
                </a:solidFill>
                <a:latin typeface="Arial"/>
              </a:rPr>
              <a:t>ACTIVITY 4</a:t>
            </a:r>
          </a:p>
        </p:txBody>
      </p:sp>
      <p:sp>
        <p:nvSpPr>
          <p:cNvPr id="9" name="TextBox 8"/>
          <p:cNvSpPr txBox="1"/>
          <p:nvPr/>
        </p:nvSpPr>
        <p:spPr>
          <a:xfrm>
            <a:off x="777240" y="1828800"/>
            <a:ext cx="10607040" cy="1051560"/>
          </a:xfrm>
          <a:prstGeom prst="rect">
            <a:avLst/>
          </a:prstGeom>
          <a:noFill/>
        </p:spPr>
        <p:txBody>
          <a:bodyPr wrap="square" anchor="t">
            <a:spAutoFit/>
          </a:bodyPr>
          <a:lstStyle/>
          <a:p>
            <a:pPr algn="l">
              <a:spcAft>
                <a:spcPts val="400"/>
              </a:spcAft>
            </a:pPr>
            <a:r>
              <a:rPr sz="1700" b="0">
                <a:solidFill>
                  <a:srgbClr val="161B26"/>
                </a:solidFill>
                <a:latin typeface="Arial"/>
              </a:rPr>
              <a:t>Use the drag-and-drop IBM Quantum Composer to build single- and multi-qubit circuits, watch the state vector and probability panels update live, and export the circuit as OpenQASM.</a:t>
            </a:r>
          </a:p>
        </p:txBody>
      </p:sp>
      <p:sp>
        <p:nvSpPr>
          <p:cNvPr id="10" name="Rectangle 9"/>
          <p:cNvSpPr/>
          <p:nvPr/>
        </p:nvSpPr>
        <p:spPr>
          <a:xfrm>
            <a:off x="777240" y="2971800"/>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2971800"/>
            <a:ext cx="10241280" cy="457200"/>
          </a:xfrm>
          <a:prstGeom prst="rect">
            <a:avLst/>
          </a:prstGeom>
          <a:noFill/>
        </p:spPr>
        <p:txBody>
          <a:bodyPr wrap="square" anchor="ctr">
            <a:spAutoFit/>
          </a:bodyPr>
          <a:lstStyle/>
          <a:p>
            <a:pPr algn="l">
              <a:spcAft>
                <a:spcPts val="400"/>
              </a:spcAft>
            </a:pPr>
            <a:r>
              <a:rPr sz="1100" b="1">
                <a:solidFill>
                  <a:srgbClr val="1F6FEB"/>
                </a:solidFill>
                <a:latin typeface="Arial"/>
              </a:rPr>
              <a:t>MAPS TO  </a:t>
            </a:r>
            <a:r>
              <a:rPr sz="1250" b="0">
                <a:solidFill>
                  <a:srgbClr val="161B26"/>
                </a:solidFill>
                <a:latin typeface="Arial"/>
              </a:rPr>
              <a:t>LO5 — Spearhead the application of quantum gates to quantum computing domains</a:t>
            </a:r>
          </a:p>
        </p:txBody>
      </p:sp>
      <p:sp>
        <p:nvSpPr>
          <p:cNvPr id="12" name="Rectangle 11"/>
          <p:cNvSpPr/>
          <p:nvPr/>
        </p:nvSpPr>
        <p:spPr>
          <a:xfrm>
            <a:off x="777240" y="3611880"/>
            <a:ext cx="10634472" cy="1234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1560" y="3767328"/>
            <a:ext cx="10058400" cy="365760"/>
          </a:xfrm>
          <a:prstGeom prst="rect">
            <a:avLst/>
          </a:prstGeom>
          <a:noFill/>
        </p:spPr>
        <p:txBody>
          <a:bodyPr wrap="square" anchor="t">
            <a:spAutoFit/>
          </a:bodyPr>
          <a:lstStyle/>
          <a:p>
            <a:pPr algn="l">
              <a:spcAft>
                <a:spcPts val="400"/>
              </a:spcAft>
            </a:pPr>
            <a:r>
              <a:rPr sz="1200" b="1">
                <a:solidFill>
                  <a:srgbClr val="127A3E"/>
                </a:solidFill>
                <a:latin typeface="Arial"/>
              </a:rPr>
              <a:t>YOU'LL PRODUCE</a:t>
            </a:r>
          </a:p>
        </p:txBody>
      </p:sp>
      <p:sp>
        <p:nvSpPr>
          <p:cNvPr id="14" name="TextBox 13"/>
          <p:cNvSpPr txBox="1"/>
          <p:nvPr/>
        </p:nvSpPr>
        <p:spPr>
          <a:xfrm>
            <a:off x="1051560" y="4133087"/>
            <a:ext cx="10058400" cy="640080"/>
          </a:xfrm>
          <a:prstGeom prst="rect">
            <a:avLst/>
          </a:prstGeom>
          <a:noFill/>
        </p:spPr>
        <p:txBody>
          <a:bodyPr wrap="square" anchor="t">
            <a:spAutoFit/>
          </a:bodyPr>
          <a:lstStyle/>
          <a:p>
            <a:pPr algn="l">
              <a:spcAft>
                <a:spcPts val="400"/>
              </a:spcAft>
            </a:pPr>
            <a:r>
              <a:rPr sz="1550" b="1">
                <a:solidFill>
                  <a:srgbClr val="161B26"/>
                </a:solidFill>
                <a:latin typeface="Arial"/>
              </a:rPr>
              <a:t>A set of Composer circuits (X, H, CNOT, Bell state) with their statevector output, exported as OpenQASM 3 code.</a:t>
            </a:r>
          </a:p>
        </p:txBody>
      </p:sp>
      <p:sp>
        <p:nvSpPr>
          <p:cNvPr id="15" name="Rectangle 14"/>
          <p:cNvSpPr/>
          <p:nvPr/>
        </p:nvSpPr>
        <p:spPr>
          <a:xfrm>
            <a:off x="777240" y="5029200"/>
            <a:ext cx="10634472"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5138928"/>
            <a:ext cx="10058400" cy="365760"/>
          </a:xfrm>
          <a:prstGeom prst="rect">
            <a:avLst/>
          </a:prstGeom>
          <a:noFill/>
        </p:spPr>
        <p:txBody>
          <a:bodyPr wrap="square" anchor="t">
            <a:spAutoFit/>
          </a:bodyPr>
          <a:lstStyle/>
          <a:p>
            <a:pPr algn="l">
              <a:spcAft>
                <a:spcPts val="400"/>
              </a:spcAft>
            </a:pPr>
            <a:r>
              <a:rPr sz="1200" b="1">
                <a:solidFill>
                  <a:srgbClr val="5B6372"/>
                </a:solidFill>
                <a:latin typeface="Arial"/>
              </a:rPr>
              <a:t>Tools:  </a:t>
            </a:r>
            <a:r>
              <a:rPr sz="1200" b="0">
                <a:solidFill>
                  <a:srgbClr val="5B6372"/>
                </a:solidFill>
                <a:latin typeface="Arial"/>
              </a:rPr>
              <a:t>IBM Quantum Composer, OpenQASM 3</a:t>
            </a:r>
          </a:p>
        </p:txBody>
      </p:sp>
      <p:sp>
        <p:nvSpPr>
          <p:cNvPr id="17" name="TextBox 16"/>
          <p:cNvSpPr txBox="1"/>
          <p:nvPr/>
        </p:nvSpPr>
        <p:spPr>
          <a:xfrm>
            <a:off x="1051560" y="5504688"/>
            <a:ext cx="10058400" cy="365760"/>
          </a:xfrm>
          <a:prstGeom prst="rect">
            <a:avLst/>
          </a:prstGeom>
          <a:noFill/>
        </p:spPr>
        <p:txBody>
          <a:bodyPr wrap="square" anchor="t">
            <a:spAutoFit/>
          </a:bodyPr>
          <a:lstStyle/>
          <a:p>
            <a:pPr algn="l">
              <a:spcAft>
                <a:spcPts val="400"/>
              </a:spcAft>
            </a:pPr>
            <a:r>
              <a:rPr sz="1200" b="1">
                <a:solidFill>
                  <a:srgbClr val="1F6FEB"/>
                </a:solidFill>
                <a:latin typeface="Arial"/>
              </a:rPr>
              <a:t>Full step-by-step guide:  </a:t>
            </a:r>
            <a:r>
              <a:rPr sz="1200" b="0">
                <a:solidFill>
                  <a:srgbClr val="161B26"/>
                </a:solidFill>
                <a:latin typeface="Arial"/>
              </a:rPr>
              <a:t>Learner Guide — Activity 4: Building Circuits in IBM Quantum Composer</a:t>
            </a:r>
          </a:p>
        </p:txBody>
      </p:sp>
      <p:sp>
        <p:nvSpPr>
          <p:cNvPr id="18" name="TextBox 1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9" name="TextBox 1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0" name="TextBox 1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44</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4 · VERIFY &amp; DEBRIEF</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Building Circuits in IBM Quantum Composer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21488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21488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1965960"/>
            <a:ext cx="10058400" cy="411480"/>
          </a:xfrm>
          <a:prstGeom prst="rect">
            <a:avLst/>
          </a:prstGeom>
          <a:noFill/>
        </p:spPr>
        <p:txBody>
          <a:bodyPr wrap="square" anchor="t">
            <a:spAutoFit/>
          </a:bodyPr>
          <a:lstStyle/>
          <a:p>
            <a:pPr algn="l">
              <a:spcAft>
                <a:spcPts val="400"/>
              </a:spcAft>
            </a:pPr>
            <a:r>
              <a:rPr sz="1300" b="1">
                <a:solidFill>
                  <a:srgbClr val="127A3E"/>
                </a:solidFill>
                <a:latin typeface="Arial"/>
              </a:rPr>
              <a:t>TEST IT — HOW YOU KNOW IT WORKED</a:t>
            </a:r>
          </a:p>
        </p:txBody>
      </p:sp>
      <p:sp>
        <p:nvSpPr>
          <p:cNvPr id="10" name="TextBox 9"/>
          <p:cNvSpPr txBox="1"/>
          <p:nvPr/>
        </p:nvSpPr>
        <p:spPr>
          <a:xfrm>
            <a:off x="1143000" y="2423160"/>
            <a:ext cx="10058400" cy="1371600"/>
          </a:xfrm>
          <a:prstGeom prst="rect">
            <a:avLst/>
          </a:prstGeom>
          <a:noFill/>
        </p:spPr>
        <p:txBody>
          <a:bodyPr wrap="square" anchor="t">
            <a:spAutoFit/>
          </a:bodyPr>
          <a:lstStyle/>
          <a:p>
            <a:pPr algn="l">
              <a:spcAft>
                <a:spcPts val="400"/>
              </a:spcAft>
            </a:pPr>
            <a:r>
              <a:rPr sz="1600" b="0">
                <a:solidFill>
                  <a:srgbClr val="161B26"/>
                </a:solidFill>
                <a:latin typeface="Arial"/>
              </a:rPr>
              <a:t>The Composer probability panel shows a 50/50 split between |00&gt; and |11&gt; for the Bell circuit, and the exported OpenQASM contains an h instruction followed by a cx instruction.</a:t>
            </a:r>
          </a:p>
        </p:txBody>
      </p:sp>
      <p:sp>
        <p:nvSpPr>
          <p:cNvPr id="11" name="TextBox 10"/>
          <p:cNvSpPr txBox="1"/>
          <p:nvPr/>
        </p:nvSpPr>
        <p:spPr>
          <a:xfrm>
            <a:off x="777240" y="4096512"/>
            <a:ext cx="10607040" cy="365760"/>
          </a:xfrm>
          <a:prstGeom prst="rect">
            <a:avLst/>
          </a:prstGeom>
          <a:noFill/>
        </p:spPr>
        <p:txBody>
          <a:bodyPr wrap="square" anchor="t">
            <a:spAutoFit/>
          </a:bodyPr>
          <a:lstStyle/>
          <a:p>
            <a:pPr algn="l">
              <a:spcAft>
                <a:spcPts val="400"/>
              </a:spcAft>
            </a:pPr>
            <a:r>
              <a:rPr sz="1300" b="1">
                <a:solidFill>
                  <a:srgbClr val="1F6FEB"/>
                </a:solidFill>
                <a:latin typeface="Arial"/>
              </a:rPr>
              <a:t>DISCUSS WITH YOUR TRAINER</a:t>
            </a:r>
          </a:p>
        </p:txBody>
      </p:sp>
      <p:sp>
        <p:nvSpPr>
          <p:cNvPr id="12" name="Rectangle 11"/>
          <p:cNvSpPr/>
          <p:nvPr/>
        </p:nvSpPr>
        <p:spPr>
          <a:xfrm>
            <a:off x="777240" y="4480560"/>
            <a:ext cx="3447288" cy="1463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480560"/>
            <a:ext cx="3447288"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8" y="4663440"/>
            <a:ext cx="3044952" cy="457200"/>
          </a:xfrm>
          <a:prstGeom prst="rect">
            <a:avLst/>
          </a:prstGeom>
          <a:noFill/>
        </p:spPr>
        <p:txBody>
          <a:bodyPr wrap="square" anchor="t">
            <a:spAutoFit/>
          </a:bodyPr>
          <a:lstStyle/>
          <a:p>
            <a:pPr algn="l">
              <a:spcAft>
                <a:spcPts val="400"/>
              </a:spcAft>
            </a:pPr>
            <a:r>
              <a:rPr sz="1350" b="1">
                <a:solidFill>
                  <a:srgbClr val="1F6FEB"/>
                </a:solidFill>
                <a:latin typeface="Arial"/>
              </a:rPr>
              <a:t>What did the result show?</a:t>
            </a:r>
          </a:p>
        </p:txBody>
      </p:sp>
      <p:sp>
        <p:nvSpPr>
          <p:cNvPr id="15" name="TextBox 14"/>
          <p:cNvSpPr txBox="1"/>
          <p:nvPr/>
        </p:nvSpPr>
        <p:spPr>
          <a:xfrm>
            <a:off x="978408" y="5138928"/>
            <a:ext cx="3044952" cy="731520"/>
          </a:xfrm>
          <a:prstGeom prst="rect">
            <a:avLst/>
          </a:prstGeom>
          <a:noFill/>
        </p:spPr>
        <p:txBody>
          <a:bodyPr wrap="square" anchor="t">
            <a:spAutoFit/>
          </a:bodyPr>
          <a:lstStyle/>
          <a:p>
            <a:pPr algn="l">
              <a:spcAft>
                <a:spcPts val="400"/>
              </a:spcAft>
            </a:pPr>
            <a:r>
              <a:rPr sz="1200" b="0">
                <a:solidFill>
                  <a:srgbClr val="5B6372"/>
                </a:solidFill>
                <a:latin typeface="Arial"/>
              </a:rPr>
              <a:t>Restate the outcome in your own words.</a:t>
            </a:r>
          </a:p>
        </p:txBody>
      </p:sp>
      <p:sp>
        <p:nvSpPr>
          <p:cNvPr id="16" name="Rectangle 15"/>
          <p:cNvSpPr/>
          <p:nvPr/>
        </p:nvSpPr>
        <p:spPr>
          <a:xfrm>
            <a:off x="4370832" y="4480560"/>
            <a:ext cx="3447288" cy="1463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70832" y="4480560"/>
            <a:ext cx="344728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0" y="4663440"/>
            <a:ext cx="3044952" cy="457200"/>
          </a:xfrm>
          <a:prstGeom prst="rect">
            <a:avLst/>
          </a:prstGeom>
          <a:noFill/>
        </p:spPr>
        <p:txBody>
          <a:bodyPr wrap="square" anchor="t">
            <a:spAutoFit/>
          </a:bodyPr>
          <a:lstStyle/>
          <a:p>
            <a:pPr algn="l">
              <a:spcAft>
                <a:spcPts val="400"/>
              </a:spcAft>
            </a:pPr>
            <a:r>
              <a:rPr sz="1350" b="1">
                <a:solidFill>
                  <a:srgbClr val="10B981"/>
                </a:solidFill>
                <a:latin typeface="Arial"/>
              </a:rPr>
              <a:t>Why does it work?</a:t>
            </a:r>
          </a:p>
        </p:txBody>
      </p:sp>
      <p:sp>
        <p:nvSpPr>
          <p:cNvPr id="19" name="TextBox 18"/>
          <p:cNvSpPr txBox="1"/>
          <p:nvPr/>
        </p:nvSpPr>
        <p:spPr>
          <a:xfrm>
            <a:off x="4572000" y="5138928"/>
            <a:ext cx="3044952" cy="731520"/>
          </a:xfrm>
          <a:prstGeom prst="rect">
            <a:avLst/>
          </a:prstGeom>
          <a:noFill/>
        </p:spPr>
        <p:txBody>
          <a:bodyPr wrap="square" anchor="t">
            <a:spAutoFit/>
          </a:bodyPr>
          <a:lstStyle/>
          <a:p>
            <a:pPr algn="l">
              <a:spcAft>
                <a:spcPts val="400"/>
              </a:spcAft>
            </a:pPr>
            <a:r>
              <a:rPr sz="1200" b="0">
                <a:solidFill>
                  <a:srgbClr val="5B6372"/>
                </a:solidFill>
                <a:latin typeface="Arial"/>
              </a:rPr>
              <a:t>Name the quantum principle the activity relies on.</a:t>
            </a:r>
          </a:p>
        </p:txBody>
      </p:sp>
      <p:sp>
        <p:nvSpPr>
          <p:cNvPr id="20" name="Rectangle 19"/>
          <p:cNvSpPr/>
          <p:nvPr/>
        </p:nvSpPr>
        <p:spPr>
          <a:xfrm>
            <a:off x="7964424" y="4480560"/>
            <a:ext cx="3447288" cy="1463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964424" y="4480560"/>
            <a:ext cx="3447288"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65592" y="4663440"/>
            <a:ext cx="3044952" cy="457200"/>
          </a:xfrm>
          <a:prstGeom prst="rect">
            <a:avLst/>
          </a:prstGeom>
          <a:noFill/>
        </p:spPr>
        <p:txBody>
          <a:bodyPr wrap="square" anchor="t">
            <a:spAutoFit/>
          </a:bodyPr>
          <a:lstStyle/>
          <a:p>
            <a:pPr algn="l">
              <a:spcAft>
                <a:spcPts val="400"/>
              </a:spcAft>
            </a:pPr>
            <a:r>
              <a:rPr sz="1350" b="1">
                <a:solidFill>
                  <a:srgbClr val="7C3AED"/>
                </a:solidFill>
                <a:latin typeface="Arial"/>
              </a:rPr>
              <a:t>Where would you use it?</a:t>
            </a:r>
          </a:p>
        </p:txBody>
      </p:sp>
      <p:sp>
        <p:nvSpPr>
          <p:cNvPr id="23" name="TextBox 22"/>
          <p:cNvSpPr txBox="1"/>
          <p:nvPr/>
        </p:nvSpPr>
        <p:spPr>
          <a:xfrm>
            <a:off x="8165592" y="5138928"/>
            <a:ext cx="3044952" cy="731520"/>
          </a:xfrm>
          <a:prstGeom prst="rect">
            <a:avLst/>
          </a:prstGeom>
          <a:noFill/>
        </p:spPr>
        <p:txBody>
          <a:bodyPr wrap="square" anchor="t">
            <a:spAutoFit/>
          </a:bodyPr>
          <a:lstStyle/>
          <a:p>
            <a:pPr algn="l">
              <a:spcAft>
                <a:spcPts val="400"/>
              </a:spcAft>
            </a:pPr>
            <a:r>
              <a:rPr sz="1200" b="0">
                <a:solidFill>
                  <a:srgbClr val="5B6372"/>
                </a:solidFill>
                <a:latin typeface="Arial"/>
              </a:rPr>
              <a:t>Give one realistic application in your own field.</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45</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03 · HANDS-ON ACTIVITY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Quantum Gates and Bell/GHZ States with PennyLane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646920" y="457200"/>
            <a:ext cx="17830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57200"/>
            <a:ext cx="1783080" cy="457200"/>
          </a:xfrm>
          <a:prstGeom prst="rect">
            <a:avLst/>
          </a:prstGeom>
          <a:noFill/>
        </p:spPr>
        <p:txBody>
          <a:bodyPr wrap="square" anchor="ctr">
            <a:spAutoFit/>
          </a:bodyPr>
          <a:lstStyle/>
          <a:p>
            <a:pPr algn="ctr">
              <a:spcAft>
                <a:spcPts val="400"/>
              </a:spcAft>
            </a:pPr>
            <a:r>
              <a:rPr sz="1300" b="1">
                <a:solidFill>
                  <a:srgbClr val="FFFFFF"/>
                </a:solidFill>
                <a:latin typeface="Arial"/>
              </a:rPr>
              <a:t>ACTIVITY 5</a:t>
            </a:r>
          </a:p>
        </p:txBody>
      </p:sp>
      <p:sp>
        <p:nvSpPr>
          <p:cNvPr id="9" name="TextBox 8"/>
          <p:cNvSpPr txBox="1"/>
          <p:nvPr/>
        </p:nvSpPr>
        <p:spPr>
          <a:xfrm>
            <a:off x="777240" y="1828800"/>
            <a:ext cx="10607040" cy="1051560"/>
          </a:xfrm>
          <a:prstGeom prst="rect">
            <a:avLst/>
          </a:prstGeom>
          <a:noFill/>
        </p:spPr>
        <p:txBody>
          <a:bodyPr wrap="square" anchor="t">
            <a:spAutoFit/>
          </a:bodyPr>
          <a:lstStyle/>
          <a:p>
            <a:pPr algn="l">
              <a:spcAft>
                <a:spcPts val="400"/>
              </a:spcAft>
            </a:pPr>
            <a:r>
              <a:rPr sz="1700" b="0">
                <a:solidFill>
                  <a:srgbClr val="161B26"/>
                </a:solidFill>
                <a:latin typeface="Arial"/>
              </a:rPr>
              <a:t>Use PennyLane's quantum-function and QNode model to apply the full single- and multi-qubit gate set, then construct Bell and GHZ entangled states and verify their measurement correlations.</a:t>
            </a:r>
          </a:p>
        </p:txBody>
      </p:sp>
      <p:sp>
        <p:nvSpPr>
          <p:cNvPr id="10" name="Rectangle 9"/>
          <p:cNvSpPr/>
          <p:nvPr/>
        </p:nvSpPr>
        <p:spPr>
          <a:xfrm>
            <a:off x="777240" y="2971800"/>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2971800"/>
            <a:ext cx="10241280" cy="457200"/>
          </a:xfrm>
          <a:prstGeom prst="rect">
            <a:avLst/>
          </a:prstGeom>
          <a:noFill/>
        </p:spPr>
        <p:txBody>
          <a:bodyPr wrap="square" anchor="ctr">
            <a:spAutoFit/>
          </a:bodyPr>
          <a:lstStyle/>
          <a:p>
            <a:pPr algn="l">
              <a:spcAft>
                <a:spcPts val="400"/>
              </a:spcAft>
            </a:pPr>
            <a:r>
              <a:rPr sz="1100" b="1">
                <a:solidFill>
                  <a:srgbClr val="1F6FEB"/>
                </a:solidFill>
                <a:latin typeface="Arial"/>
              </a:rPr>
              <a:t>MAPS TO  </a:t>
            </a:r>
            <a:r>
              <a:rPr sz="1250" b="0">
                <a:solidFill>
                  <a:srgbClr val="161B26"/>
                </a:solidFill>
                <a:latin typeface="Arial"/>
              </a:rPr>
              <a:t>LO3, LO5 — Direct two-level quantum models and apply quantum gates</a:t>
            </a:r>
          </a:p>
        </p:txBody>
      </p:sp>
      <p:sp>
        <p:nvSpPr>
          <p:cNvPr id="12" name="Rectangle 11"/>
          <p:cNvSpPr/>
          <p:nvPr/>
        </p:nvSpPr>
        <p:spPr>
          <a:xfrm>
            <a:off x="777240" y="3611880"/>
            <a:ext cx="10634472" cy="1234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1560" y="3767328"/>
            <a:ext cx="10058400" cy="365760"/>
          </a:xfrm>
          <a:prstGeom prst="rect">
            <a:avLst/>
          </a:prstGeom>
          <a:noFill/>
        </p:spPr>
        <p:txBody>
          <a:bodyPr wrap="square" anchor="t">
            <a:spAutoFit/>
          </a:bodyPr>
          <a:lstStyle/>
          <a:p>
            <a:pPr algn="l">
              <a:spcAft>
                <a:spcPts val="400"/>
              </a:spcAft>
            </a:pPr>
            <a:r>
              <a:rPr sz="1200" b="1">
                <a:solidFill>
                  <a:srgbClr val="127A3E"/>
                </a:solidFill>
                <a:latin typeface="Arial"/>
              </a:rPr>
              <a:t>YOU'LL PRODUCE</a:t>
            </a:r>
          </a:p>
        </p:txBody>
      </p:sp>
      <p:sp>
        <p:nvSpPr>
          <p:cNvPr id="14" name="TextBox 13"/>
          <p:cNvSpPr txBox="1"/>
          <p:nvPr/>
        </p:nvSpPr>
        <p:spPr>
          <a:xfrm>
            <a:off x="1051560" y="4133087"/>
            <a:ext cx="10058400" cy="640080"/>
          </a:xfrm>
          <a:prstGeom prst="rect">
            <a:avLst/>
          </a:prstGeom>
          <a:noFill/>
        </p:spPr>
        <p:txBody>
          <a:bodyPr wrap="square" anchor="t">
            <a:spAutoFit/>
          </a:bodyPr>
          <a:lstStyle/>
          <a:p>
            <a:pPr algn="l">
              <a:spcAft>
                <a:spcPts val="400"/>
              </a:spcAft>
            </a:pPr>
            <a:r>
              <a:rPr sz="1550" b="1">
                <a:solidFill>
                  <a:srgbClr val="161B26"/>
                </a:solidFill>
                <a:latin typeface="Arial"/>
              </a:rPr>
              <a:t>A PennyLane script that draws each circuit, returns the state vector, and confirms the Bell and GHZ correlations.</a:t>
            </a:r>
          </a:p>
        </p:txBody>
      </p:sp>
      <p:sp>
        <p:nvSpPr>
          <p:cNvPr id="15" name="Rectangle 14"/>
          <p:cNvSpPr/>
          <p:nvPr/>
        </p:nvSpPr>
        <p:spPr>
          <a:xfrm>
            <a:off x="777240" y="5029200"/>
            <a:ext cx="10634472"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5138928"/>
            <a:ext cx="10058400" cy="365760"/>
          </a:xfrm>
          <a:prstGeom prst="rect">
            <a:avLst/>
          </a:prstGeom>
          <a:noFill/>
        </p:spPr>
        <p:txBody>
          <a:bodyPr wrap="square" anchor="t">
            <a:spAutoFit/>
          </a:bodyPr>
          <a:lstStyle/>
          <a:p>
            <a:pPr algn="l">
              <a:spcAft>
                <a:spcPts val="400"/>
              </a:spcAft>
            </a:pPr>
            <a:r>
              <a:rPr sz="1200" b="1">
                <a:solidFill>
                  <a:srgbClr val="5B6372"/>
                </a:solidFill>
                <a:latin typeface="Arial"/>
              </a:rPr>
              <a:t>Tools:  </a:t>
            </a:r>
            <a:r>
              <a:rPr sz="1200" b="0">
                <a:solidFill>
                  <a:srgbClr val="5B6372"/>
                </a:solidFill>
                <a:latin typeface="Arial"/>
              </a:rPr>
              <a:t>PennyLane, Python 3.13, matplotlib</a:t>
            </a:r>
          </a:p>
        </p:txBody>
      </p:sp>
      <p:sp>
        <p:nvSpPr>
          <p:cNvPr id="17" name="TextBox 16"/>
          <p:cNvSpPr txBox="1"/>
          <p:nvPr/>
        </p:nvSpPr>
        <p:spPr>
          <a:xfrm>
            <a:off x="1051560" y="5504688"/>
            <a:ext cx="10058400" cy="365760"/>
          </a:xfrm>
          <a:prstGeom prst="rect">
            <a:avLst/>
          </a:prstGeom>
          <a:noFill/>
        </p:spPr>
        <p:txBody>
          <a:bodyPr wrap="square" anchor="t">
            <a:spAutoFit/>
          </a:bodyPr>
          <a:lstStyle/>
          <a:p>
            <a:pPr algn="l">
              <a:spcAft>
                <a:spcPts val="400"/>
              </a:spcAft>
            </a:pPr>
            <a:r>
              <a:rPr sz="1200" b="1">
                <a:solidFill>
                  <a:srgbClr val="1F6FEB"/>
                </a:solidFill>
                <a:latin typeface="Arial"/>
              </a:rPr>
              <a:t>Full step-by-step guide:  </a:t>
            </a:r>
            <a:r>
              <a:rPr sz="1200" b="0">
                <a:solidFill>
                  <a:srgbClr val="161B26"/>
                </a:solidFill>
                <a:latin typeface="Arial"/>
              </a:rPr>
              <a:t>Learner Guide — Activity 5: Quantum Gates and Bell/GHZ States with PennyLane</a:t>
            </a:r>
          </a:p>
        </p:txBody>
      </p:sp>
      <p:sp>
        <p:nvSpPr>
          <p:cNvPr id="18" name="TextBox 1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9" name="TextBox 1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0" name="TextBox 1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46</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5 · VERIFY &amp; DEBRIEF</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Quantum Gates and Bell/GHZ States with PennyLane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21488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21488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1965960"/>
            <a:ext cx="10058400" cy="411480"/>
          </a:xfrm>
          <a:prstGeom prst="rect">
            <a:avLst/>
          </a:prstGeom>
          <a:noFill/>
        </p:spPr>
        <p:txBody>
          <a:bodyPr wrap="square" anchor="t">
            <a:spAutoFit/>
          </a:bodyPr>
          <a:lstStyle/>
          <a:p>
            <a:pPr algn="l">
              <a:spcAft>
                <a:spcPts val="400"/>
              </a:spcAft>
            </a:pPr>
            <a:r>
              <a:rPr sz="1300" b="1">
                <a:solidFill>
                  <a:srgbClr val="127A3E"/>
                </a:solidFill>
                <a:latin typeface="Arial"/>
              </a:rPr>
              <a:t>TEST IT — HOW YOU KNOW IT WORKED</a:t>
            </a:r>
          </a:p>
        </p:txBody>
      </p:sp>
      <p:sp>
        <p:nvSpPr>
          <p:cNvPr id="10" name="TextBox 9"/>
          <p:cNvSpPr txBox="1"/>
          <p:nvPr/>
        </p:nvSpPr>
        <p:spPr>
          <a:xfrm>
            <a:off x="1143000" y="2423160"/>
            <a:ext cx="10058400" cy="1371600"/>
          </a:xfrm>
          <a:prstGeom prst="rect">
            <a:avLst/>
          </a:prstGeom>
          <a:noFill/>
        </p:spPr>
        <p:txBody>
          <a:bodyPr wrap="square" anchor="t">
            <a:spAutoFit/>
          </a:bodyPr>
          <a:lstStyle/>
          <a:p>
            <a:pPr algn="l">
              <a:spcAft>
                <a:spcPts val="400"/>
              </a:spcAft>
            </a:pPr>
            <a:r>
              <a:rPr sz="1600" b="0">
                <a:solidFill>
                  <a:srgbClr val="161B26"/>
                </a:solidFill>
                <a:latin typeface="Arial"/>
              </a:rPr>
              <a:t>The Bell state returns amplitudes of about 0.707 on |00&gt; and |11&gt; and zero elsewhere; the GHZ state returns amplitudes only on |000&gt; and |111&gt;; the phase-kickback circuit shows the eigenvalue phase transferred to the control qubit.</a:t>
            </a:r>
          </a:p>
        </p:txBody>
      </p:sp>
      <p:sp>
        <p:nvSpPr>
          <p:cNvPr id="11" name="TextBox 10"/>
          <p:cNvSpPr txBox="1"/>
          <p:nvPr/>
        </p:nvSpPr>
        <p:spPr>
          <a:xfrm>
            <a:off x="777240" y="4096512"/>
            <a:ext cx="10607040" cy="365760"/>
          </a:xfrm>
          <a:prstGeom prst="rect">
            <a:avLst/>
          </a:prstGeom>
          <a:noFill/>
        </p:spPr>
        <p:txBody>
          <a:bodyPr wrap="square" anchor="t">
            <a:spAutoFit/>
          </a:bodyPr>
          <a:lstStyle/>
          <a:p>
            <a:pPr algn="l">
              <a:spcAft>
                <a:spcPts val="400"/>
              </a:spcAft>
            </a:pPr>
            <a:r>
              <a:rPr sz="1300" b="1">
                <a:solidFill>
                  <a:srgbClr val="1F6FEB"/>
                </a:solidFill>
                <a:latin typeface="Arial"/>
              </a:rPr>
              <a:t>DISCUSS WITH YOUR TRAINER</a:t>
            </a:r>
          </a:p>
        </p:txBody>
      </p:sp>
      <p:sp>
        <p:nvSpPr>
          <p:cNvPr id="12" name="Rectangle 11"/>
          <p:cNvSpPr/>
          <p:nvPr/>
        </p:nvSpPr>
        <p:spPr>
          <a:xfrm>
            <a:off x="777240" y="4480560"/>
            <a:ext cx="3447288" cy="1463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480560"/>
            <a:ext cx="3447288"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8" y="4663440"/>
            <a:ext cx="3044952" cy="457200"/>
          </a:xfrm>
          <a:prstGeom prst="rect">
            <a:avLst/>
          </a:prstGeom>
          <a:noFill/>
        </p:spPr>
        <p:txBody>
          <a:bodyPr wrap="square" anchor="t">
            <a:spAutoFit/>
          </a:bodyPr>
          <a:lstStyle/>
          <a:p>
            <a:pPr algn="l">
              <a:spcAft>
                <a:spcPts val="400"/>
              </a:spcAft>
            </a:pPr>
            <a:r>
              <a:rPr sz="1350" b="1">
                <a:solidFill>
                  <a:srgbClr val="1F6FEB"/>
                </a:solidFill>
                <a:latin typeface="Arial"/>
              </a:rPr>
              <a:t>What did the result show?</a:t>
            </a:r>
          </a:p>
        </p:txBody>
      </p:sp>
      <p:sp>
        <p:nvSpPr>
          <p:cNvPr id="15" name="TextBox 14"/>
          <p:cNvSpPr txBox="1"/>
          <p:nvPr/>
        </p:nvSpPr>
        <p:spPr>
          <a:xfrm>
            <a:off x="978408" y="5138928"/>
            <a:ext cx="3044952" cy="731520"/>
          </a:xfrm>
          <a:prstGeom prst="rect">
            <a:avLst/>
          </a:prstGeom>
          <a:noFill/>
        </p:spPr>
        <p:txBody>
          <a:bodyPr wrap="square" anchor="t">
            <a:spAutoFit/>
          </a:bodyPr>
          <a:lstStyle/>
          <a:p>
            <a:pPr algn="l">
              <a:spcAft>
                <a:spcPts val="400"/>
              </a:spcAft>
            </a:pPr>
            <a:r>
              <a:rPr sz="1200" b="0">
                <a:solidFill>
                  <a:srgbClr val="5B6372"/>
                </a:solidFill>
                <a:latin typeface="Arial"/>
              </a:rPr>
              <a:t>Restate the outcome in your own words.</a:t>
            </a:r>
          </a:p>
        </p:txBody>
      </p:sp>
      <p:sp>
        <p:nvSpPr>
          <p:cNvPr id="16" name="Rectangle 15"/>
          <p:cNvSpPr/>
          <p:nvPr/>
        </p:nvSpPr>
        <p:spPr>
          <a:xfrm>
            <a:off x="4370832" y="4480560"/>
            <a:ext cx="3447288" cy="1463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70832" y="4480560"/>
            <a:ext cx="344728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0" y="4663440"/>
            <a:ext cx="3044952" cy="457200"/>
          </a:xfrm>
          <a:prstGeom prst="rect">
            <a:avLst/>
          </a:prstGeom>
          <a:noFill/>
        </p:spPr>
        <p:txBody>
          <a:bodyPr wrap="square" anchor="t">
            <a:spAutoFit/>
          </a:bodyPr>
          <a:lstStyle/>
          <a:p>
            <a:pPr algn="l">
              <a:spcAft>
                <a:spcPts val="400"/>
              </a:spcAft>
            </a:pPr>
            <a:r>
              <a:rPr sz="1350" b="1">
                <a:solidFill>
                  <a:srgbClr val="10B981"/>
                </a:solidFill>
                <a:latin typeface="Arial"/>
              </a:rPr>
              <a:t>Why does it work?</a:t>
            </a:r>
          </a:p>
        </p:txBody>
      </p:sp>
      <p:sp>
        <p:nvSpPr>
          <p:cNvPr id="19" name="TextBox 18"/>
          <p:cNvSpPr txBox="1"/>
          <p:nvPr/>
        </p:nvSpPr>
        <p:spPr>
          <a:xfrm>
            <a:off x="4572000" y="5138928"/>
            <a:ext cx="3044952" cy="731520"/>
          </a:xfrm>
          <a:prstGeom prst="rect">
            <a:avLst/>
          </a:prstGeom>
          <a:noFill/>
        </p:spPr>
        <p:txBody>
          <a:bodyPr wrap="square" anchor="t">
            <a:spAutoFit/>
          </a:bodyPr>
          <a:lstStyle/>
          <a:p>
            <a:pPr algn="l">
              <a:spcAft>
                <a:spcPts val="400"/>
              </a:spcAft>
            </a:pPr>
            <a:r>
              <a:rPr sz="1200" b="0">
                <a:solidFill>
                  <a:srgbClr val="5B6372"/>
                </a:solidFill>
                <a:latin typeface="Arial"/>
              </a:rPr>
              <a:t>Name the quantum principle the activity relies on.</a:t>
            </a:r>
          </a:p>
        </p:txBody>
      </p:sp>
      <p:sp>
        <p:nvSpPr>
          <p:cNvPr id="20" name="Rectangle 19"/>
          <p:cNvSpPr/>
          <p:nvPr/>
        </p:nvSpPr>
        <p:spPr>
          <a:xfrm>
            <a:off x="7964424" y="4480560"/>
            <a:ext cx="3447288" cy="1463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964424" y="4480560"/>
            <a:ext cx="3447288"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65592" y="4663440"/>
            <a:ext cx="3044952" cy="457200"/>
          </a:xfrm>
          <a:prstGeom prst="rect">
            <a:avLst/>
          </a:prstGeom>
          <a:noFill/>
        </p:spPr>
        <p:txBody>
          <a:bodyPr wrap="square" anchor="t">
            <a:spAutoFit/>
          </a:bodyPr>
          <a:lstStyle/>
          <a:p>
            <a:pPr algn="l">
              <a:spcAft>
                <a:spcPts val="400"/>
              </a:spcAft>
            </a:pPr>
            <a:r>
              <a:rPr sz="1350" b="1">
                <a:solidFill>
                  <a:srgbClr val="7C3AED"/>
                </a:solidFill>
                <a:latin typeface="Arial"/>
              </a:rPr>
              <a:t>Where would you use it?</a:t>
            </a:r>
          </a:p>
        </p:txBody>
      </p:sp>
      <p:sp>
        <p:nvSpPr>
          <p:cNvPr id="23" name="TextBox 22"/>
          <p:cNvSpPr txBox="1"/>
          <p:nvPr/>
        </p:nvSpPr>
        <p:spPr>
          <a:xfrm>
            <a:off x="8165592" y="5138928"/>
            <a:ext cx="3044952" cy="731520"/>
          </a:xfrm>
          <a:prstGeom prst="rect">
            <a:avLst/>
          </a:prstGeom>
          <a:noFill/>
        </p:spPr>
        <p:txBody>
          <a:bodyPr wrap="square" anchor="t">
            <a:spAutoFit/>
          </a:bodyPr>
          <a:lstStyle/>
          <a:p>
            <a:pPr algn="l">
              <a:spcAft>
                <a:spcPts val="400"/>
              </a:spcAft>
            </a:pPr>
            <a:r>
              <a:rPr sz="1200" b="0">
                <a:solidFill>
                  <a:srgbClr val="5B6372"/>
                </a:solidFill>
                <a:latin typeface="Arial"/>
              </a:rPr>
              <a:t>Give one realistic application in your own field.</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47</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RECAP</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Recap — Quantum Gates and Circuits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600">
                <a:solidFill>
                  <a:srgbClr val="161B26"/>
                </a:solidFill>
                <a:latin typeface="Arial"/>
              </a:rPr>
              <a:t>•  Pauli gates</a:t>
            </a:r>
          </a:p>
          <a:p>
            <a:pPr>
              <a:spcAft>
                <a:spcPts val="1000"/>
              </a:spcAft>
            </a:pPr>
            <a:r>
              <a:rPr sz="1600">
                <a:solidFill>
                  <a:srgbClr val="161B26"/>
                </a:solidFill>
                <a:latin typeface="Arial"/>
              </a:rPr>
              <a:t>•  Hadamard gate</a:t>
            </a:r>
          </a:p>
          <a:p>
            <a:pPr>
              <a:spcAft>
                <a:spcPts val="1000"/>
              </a:spcAft>
            </a:pPr>
            <a:r>
              <a:rPr sz="1600">
                <a:solidFill>
                  <a:srgbClr val="161B26"/>
                </a:solidFill>
                <a:latin typeface="Arial"/>
              </a:rPr>
              <a:t>•  Rotation and phase gates</a:t>
            </a:r>
          </a:p>
          <a:p>
            <a:pPr>
              <a:spcAft>
                <a:spcPts val="1000"/>
              </a:spcAft>
            </a:pPr>
            <a:r>
              <a:rPr sz="1600">
                <a:solidFill>
                  <a:srgbClr val="161B26"/>
                </a:solidFill>
                <a:latin typeface="Arial"/>
              </a:rPr>
              <a:t>•  Multi-qubit gates</a:t>
            </a:r>
          </a:p>
          <a:p>
            <a:pPr>
              <a:spcAft>
                <a:spcPts val="1000"/>
              </a:spcAft>
            </a:pPr>
            <a:r>
              <a:rPr sz="1600">
                <a:solidFill>
                  <a:srgbClr val="161B26"/>
                </a:solidFill>
                <a:latin typeface="Arial"/>
              </a:rPr>
              <a:t>•  Bell and GHZ states</a:t>
            </a:r>
          </a:p>
          <a:p>
            <a:pPr>
              <a:spcAft>
                <a:spcPts val="1000"/>
              </a:spcAft>
            </a:pPr>
            <a:r>
              <a:rPr sz="1600">
                <a:solidFill>
                  <a:srgbClr val="161B26"/>
                </a:solidFill>
                <a:latin typeface="Arial"/>
              </a:rPr>
              <a:t>•  Phase kickback</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48</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04</a:t>
            </a:r>
          </a:p>
        </p:txBody>
      </p:sp>
      <p:sp>
        <p:nvSpPr>
          <p:cNvPr id="6" name="TextBox 5"/>
          <p:cNvSpPr txBox="1"/>
          <p:nvPr/>
        </p:nvSpPr>
        <p:spPr>
          <a:xfrm>
            <a:off x="1143000" y="2743200"/>
            <a:ext cx="9509760" cy="1463040"/>
          </a:xfrm>
          <a:prstGeom prst="rect">
            <a:avLst/>
          </a:prstGeom>
          <a:noFill/>
        </p:spPr>
        <p:txBody>
          <a:bodyPr wrap="square" anchor="t">
            <a:spAutoFit/>
          </a:bodyPr>
          <a:lstStyle/>
          <a:p>
            <a:pPr algn="l">
              <a:spcAft>
                <a:spcPts val="400"/>
              </a:spcAft>
            </a:pPr>
            <a:r>
              <a:rPr sz="4000" b="1">
                <a:solidFill>
                  <a:srgbClr val="161B26"/>
                </a:solidFill>
                <a:latin typeface="Arial"/>
              </a:rPr>
              <a:t>Quantum Protocols</a:t>
            </a:r>
          </a:p>
        </p:txBody>
      </p:sp>
      <p:sp>
        <p:nvSpPr>
          <p:cNvPr id="7" name="TextBox 6"/>
          <p:cNvSpPr txBox="1"/>
          <p:nvPr/>
        </p:nvSpPr>
        <p:spPr>
          <a:xfrm>
            <a:off x="1161288" y="4251960"/>
            <a:ext cx="9692640" cy="822960"/>
          </a:xfrm>
          <a:prstGeom prst="rect">
            <a:avLst/>
          </a:prstGeom>
          <a:noFill/>
        </p:spPr>
        <p:txBody>
          <a:bodyPr wrap="square" anchor="t">
            <a:spAutoFit/>
          </a:bodyPr>
          <a:lstStyle/>
          <a:p>
            <a:pPr algn="l">
              <a:spcAft>
                <a:spcPts val="400"/>
              </a:spcAft>
            </a:pPr>
            <a:r>
              <a:rPr sz="1500" b="0">
                <a:solidFill>
                  <a:srgbClr val="5B6372"/>
                </a:solidFill>
                <a:latin typeface="Arial"/>
              </a:rPr>
              <a:t>No-Cloning Theorem · Teleportation · Superdense Coding · BB84 QKD · CHSH Game</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04</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49</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MAPS TO LO3, LO7</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Key Concepts — Quantum Protocols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No-cloning theorem</a:t>
            </a:r>
          </a:p>
          <a:p>
            <a:pPr algn="l">
              <a:spcAft>
                <a:spcPts val="300"/>
              </a:spcAft>
            </a:pPr>
            <a:r>
              <a:rPr sz="1100" b="0">
                <a:solidFill>
                  <a:srgbClr val="5B6372"/>
                </a:solidFill>
                <a:latin typeface="Arial"/>
              </a:rPr>
              <a:t>No unitary can copy an arbitrary unknown quantum state — proved by linearity, and the foundation of quantum key security.</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Quantum teleportation</a:t>
            </a:r>
          </a:p>
          <a:p>
            <a:pPr algn="l">
              <a:spcAft>
                <a:spcPts val="300"/>
              </a:spcAft>
            </a:pPr>
            <a:r>
              <a:rPr sz="1100" b="0">
                <a:solidFill>
                  <a:srgbClr val="5B6372"/>
                </a:solidFill>
                <a:latin typeface="Arial"/>
              </a:rPr>
              <a:t>Transfers an unknown qubit state using one shared Bell pair plus two classical bits — no faster-than-light signalling.</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3429000"/>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Superdense coding</a:t>
            </a:r>
          </a:p>
          <a:p>
            <a:pPr algn="l">
              <a:spcAft>
                <a:spcPts val="300"/>
              </a:spcAft>
            </a:pPr>
            <a:r>
              <a:rPr sz="1100" b="0">
                <a:solidFill>
                  <a:srgbClr val="5B6372"/>
                </a:solidFill>
                <a:latin typeface="Arial"/>
              </a:rPr>
              <a:t>The dual of teleportation: send two classical bits by transmitting a single qubit of a pre-shared entangled pair.</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3429000"/>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BB84 QKD</a:t>
            </a:r>
          </a:p>
          <a:p>
            <a:pPr algn="l">
              <a:spcAft>
                <a:spcPts val="300"/>
              </a:spcAft>
            </a:pPr>
            <a:r>
              <a:rPr sz="1100" b="0">
                <a:solidFill>
                  <a:srgbClr val="5B6372"/>
                </a:solidFill>
                <a:latin typeface="Arial"/>
              </a:rPr>
              <a:t>Alice and Bob build a shared secret key using random bases; eavesdropping disturbs the states and raises the error rate.</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5</a:t>
            </a:r>
          </a:p>
        </p:txBody>
      </p:sp>
      <p:sp>
        <p:nvSpPr>
          <p:cNvPr id="31" name="TextBox 30"/>
          <p:cNvSpPr txBox="1"/>
          <p:nvPr/>
        </p:nvSpPr>
        <p:spPr>
          <a:xfrm>
            <a:off x="1764792" y="4965192"/>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Eavesdropping detection</a:t>
            </a:r>
          </a:p>
          <a:p>
            <a:pPr algn="l">
              <a:spcAft>
                <a:spcPts val="300"/>
              </a:spcAft>
            </a:pPr>
            <a:r>
              <a:rPr sz="1100" b="0">
                <a:solidFill>
                  <a:srgbClr val="5B6372"/>
                </a:solidFill>
                <a:latin typeface="Arial"/>
              </a:rPr>
              <a:t>An intercept-resend attack introduces roughly a 25% error rate in the sifted key, revealing Eve's presence.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6</a:t>
            </a:r>
          </a:p>
        </p:txBody>
      </p:sp>
      <p:sp>
        <p:nvSpPr>
          <p:cNvPr id="36" name="TextBox 35"/>
          <p:cNvSpPr txBox="1"/>
          <p:nvPr/>
        </p:nvSpPr>
        <p:spPr>
          <a:xfrm>
            <a:off x="7219188" y="4965192"/>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CHSH game</a:t>
            </a:r>
          </a:p>
          <a:p>
            <a:pPr algn="l">
              <a:spcAft>
                <a:spcPts val="300"/>
              </a:spcAft>
            </a:pPr>
            <a:r>
              <a:rPr sz="1100" b="0">
                <a:solidFill>
                  <a:srgbClr val="5B6372"/>
                </a:solidFill>
                <a:latin typeface="Arial"/>
              </a:rPr>
              <a:t>A quantum strategy using entanglement wins ~85% of the time versus the classical maximum of 75%, disproving local hidden variables.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50</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MOVING A STATE WITHOUT MOVING A PARTICLE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Quantum Teleportation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eleportation-flow.png"/>
          <p:cNvPicPr>
            <a:picLocks noChangeAspect="1"/>
          </p:cNvPicPr>
          <p:nvPr/>
        </p:nvPicPr>
        <p:blipFill>
          <a:blip r:embed="rId2"/>
          <a:stretch>
            <a:fillRect/>
          </a:stretch>
        </p:blipFill>
        <p:spPr>
          <a:xfrm>
            <a:off x="2027128" y="1755648"/>
            <a:ext cx="8134695" cy="3950208"/>
          </a:xfrm>
          <a:prstGeom prst="rect">
            <a:avLst/>
          </a:prstGeom>
        </p:spPr>
      </p:pic>
      <p:sp>
        <p:nvSpPr>
          <p:cNvPr id="8" name="Rectangle 7"/>
          <p:cNvSpPr/>
          <p:nvPr/>
        </p:nvSpPr>
        <p:spPr>
          <a:xfrm>
            <a:off x="777240" y="5870448"/>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5870448"/>
            <a:ext cx="10241280" cy="457200"/>
          </a:xfrm>
          <a:prstGeom prst="rect">
            <a:avLst/>
          </a:prstGeom>
          <a:noFill/>
        </p:spPr>
        <p:txBody>
          <a:bodyPr wrap="square" anchor="ctr">
            <a:spAutoFit/>
          </a:bodyPr>
          <a:lstStyle/>
          <a:p>
            <a:pPr algn="ctr">
              <a:spcAft>
                <a:spcPts val="400"/>
              </a:spcAft>
            </a:pPr>
            <a:r>
              <a:rPr sz="1350" b="0">
                <a:solidFill>
                  <a:srgbClr val="161B26"/>
                </a:solidFill>
                <a:latin typeface="Arial"/>
              </a:rPr>
              <a:t>Two classical bits must still travel — so teleportation never beats the speed of light.</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51</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TWO SIDES OF ONE COIN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Teleportation vs Superdense Coding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Qubit → classical channel</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Classical → qubit channel</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a:solidFill>
                  <a:srgbClr val="161B26"/>
                </a:solidFill>
                <a:latin typeface="Arial"/>
              </a:rPr>
              <a:t>•  Quantum Teleportation</a:t>
            </a:r>
          </a:p>
          <a:p>
            <a:pPr>
              <a:spcAft>
                <a:spcPts val="1000"/>
              </a:spcAft>
            </a:pPr>
            <a:r>
              <a:rPr sz="1400">
                <a:solidFill>
                  <a:srgbClr val="5B6372"/>
                </a:solidFill>
                <a:latin typeface="Arial"/>
              </a:rPr>
              <a:t>–  Sends: 1 unknown QUBIT state</a:t>
            </a:r>
          </a:p>
          <a:p>
            <a:pPr>
              <a:spcAft>
                <a:spcPts val="1000"/>
              </a:spcAft>
            </a:pPr>
            <a:r>
              <a:rPr sz="1400">
                <a:solidFill>
                  <a:srgbClr val="5B6372"/>
                </a:solidFill>
                <a:latin typeface="Arial"/>
              </a:rPr>
              <a:t>–  Costs: 1 Bell pair + 2 classical bits</a:t>
            </a:r>
          </a:p>
          <a:p>
            <a:pPr>
              <a:spcAft>
                <a:spcPts val="1000"/>
              </a:spcAft>
            </a:pPr>
            <a:r>
              <a:rPr sz="1400">
                <a:solidFill>
                  <a:srgbClr val="5B6372"/>
                </a:solidFill>
                <a:latin typeface="Arial"/>
              </a:rPr>
              <a:t>–  Original is destroyed (no cloning)</a:t>
            </a:r>
          </a:p>
          <a:p>
            <a:pPr>
              <a:spcAft>
                <a:spcPts val="1000"/>
              </a:spcAft>
            </a:pPr>
            <a:r>
              <a:rPr sz="1400">
                <a:solidFill>
                  <a:srgbClr val="5B6372"/>
                </a:solidFill>
                <a:latin typeface="Arial"/>
              </a:rPr>
              <a:t>–  Use: moving quantum data</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a:solidFill>
                  <a:srgbClr val="161B26"/>
                </a:solidFill>
                <a:latin typeface="Arial"/>
              </a:rPr>
              <a:t>•  Superdense Coding</a:t>
            </a:r>
          </a:p>
          <a:p>
            <a:pPr>
              <a:spcAft>
                <a:spcPts val="1000"/>
              </a:spcAft>
            </a:pPr>
            <a:r>
              <a:rPr sz="1400">
                <a:solidFill>
                  <a:srgbClr val="5B6372"/>
                </a:solidFill>
                <a:latin typeface="Arial"/>
              </a:rPr>
              <a:t>–  Sends: 2 CLASSICAL bits</a:t>
            </a:r>
          </a:p>
          <a:p>
            <a:pPr>
              <a:spcAft>
                <a:spcPts val="1000"/>
              </a:spcAft>
            </a:pPr>
            <a:r>
              <a:rPr sz="1400">
                <a:solidFill>
                  <a:srgbClr val="5B6372"/>
                </a:solidFill>
                <a:latin typeface="Arial"/>
              </a:rPr>
              <a:t>–  Costs: 1 Bell pair + 1 transmitted qubit</a:t>
            </a:r>
          </a:p>
          <a:p>
            <a:pPr>
              <a:spcAft>
                <a:spcPts val="1000"/>
              </a:spcAft>
            </a:pPr>
            <a:r>
              <a:rPr sz="1400">
                <a:solidFill>
                  <a:srgbClr val="5B6372"/>
                </a:solidFill>
                <a:latin typeface="Arial"/>
              </a:rPr>
              <a:t>–  Encode with I, X, Z or ZX</a:t>
            </a:r>
          </a:p>
          <a:p>
            <a:pPr>
              <a:spcAft>
                <a:spcPts val="1000"/>
              </a:spcAft>
            </a:pPr>
            <a:r>
              <a:rPr sz="1400">
                <a:solidFill>
                  <a:srgbClr val="5B6372"/>
                </a:solidFill>
                <a:latin typeface="Arial"/>
              </a:rPr>
              <a:t>–  Use: doubling channel capacity</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52</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SECURITY FROM PHYSICS, NOT MATHS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BB84 Quantum Key Distribution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bb84-protocol.png"/>
          <p:cNvPicPr>
            <a:picLocks noChangeAspect="1"/>
          </p:cNvPicPr>
          <p:nvPr/>
        </p:nvPicPr>
        <p:blipFill>
          <a:blip r:embed="rId2"/>
          <a:stretch>
            <a:fillRect/>
          </a:stretch>
        </p:blipFill>
        <p:spPr>
          <a:xfrm>
            <a:off x="2175619" y="1755648"/>
            <a:ext cx="7837714" cy="3950208"/>
          </a:xfrm>
          <a:prstGeom prst="rect">
            <a:avLst/>
          </a:prstGeom>
        </p:spPr>
      </p:pic>
      <p:sp>
        <p:nvSpPr>
          <p:cNvPr id="8" name="Rectangle 7"/>
          <p:cNvSpPr/>
          <p:nvPr/>
        </p:nvSpPr>
        <p:spPr>
          <a:xfrm>
            <a:off x="777240" y="5870448"/>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5870448"/>
            <a:ext cx="10241280" cy="457200"/>
          </a:xfrm>
          <a:prstGeom prst="rect">
            <a:avLst/>
          </a:prstGeom>
          <a:noFill/>
        </p:spPr>
        <p:txBody>
          <a:bodyPr wrap="square" anchor="ctr">
            <a:spAutoFit/>
          </a:bodyPr>
          <a:lstStyle/>
          <a:p>
            <a:pPr algn="ctr">
              <a:spcAft>
                <a:spcPts val="400"/>
              </a:spcAft>
            </a:pPr>
            <a:r>
              <a:rPr sz="1350" b="0">
                <a:solidFill>
                  <a:srgbClr val="161B26"/>
                </a:solidFill>
                <a:latin typeface="Arial"/>
              </a:rPr>
              <a:t>Security rests on the no-cloning theorem — an eavesdropper cannot copy the qubits without disturbing them.</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53</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WHAT YOU'LL DO</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Hands-On Activities — Quantum Protocols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Activity 6</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a:solidFill>
                  <a:srgbClr val="161B26"/>
                </a:solidFill>
                <a:latin typeface="Arial"/>
              </a:rPr>
              <a:t>•  Quantum Teleportation</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Activity 7</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a:solidFill>
                  <a:srgbClr val="161B26"/>
                </a:solidFill>
                <a:latin typeface="Arial"/>
              </a:rPr>
              <a:t>•  Superdense Coding Protocol</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Activity 8</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a:solidFill>
                  <a:srgbClr val="161B26"/>
                </a:solidFill>
                <a:latin typeface="Arial"/>
              </a:rPr>
              <a:t>•  BB84 Quantum Key Distribution with Eavesdropping Detection</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54</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04 · HANDS-ON ACTIVITY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Quantum Teleportation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646920" y="457200"/>
            <a:ext cx="17830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57200"/>
            <a:ext cx="1783080" cy="457200"/>
          </a:xfrm>
          <a:prstGeom prst="rect">
            <a:avLst/>
          </a:prstGeom>
          <a:noFill/>
        </p:spPr>
        <p:txBody>
          <a:bodyPr wrap="square" anchor="ctr">
            <a:spAutoFit/>
          </a:bodyPr>
          <a:lstStyle/>
          <a:p>
            <a:pPr algn="ctr">
              <a:spcAft>
                <a:spcPts val="400"/>
              </a:spcAft>
            </a:pPr>
            <a:r>
              <a:rPr sz="1300" b="1">
                <a:solidFill>
                  <a:srgbClr val="FFFFFF"/>
                </a:solidFill>
                <a:latin typeface="Arial"/>
              </a:rPr>
              <a:t>ACTIVITY 6</a:t>
            </a:r>
          </a:p>
        </p:txBody>
      </p:sp>
      <p:sp>
        <p:nvSpPr>
          <p:cNvPr id="9" name="TextBox 8"/>
          <p:cNvSpPr txBox="1"/>
          <p:nvPr/>
        </p:nvSpPr>
        <p:spPr>
          <a:xfrm>
            <a:off x="777240" y="1828800"/>
            <a:ext cx="10607040" cy="1051560"/>
          </a:xfrm>
          <a:prstGeom prst="rect">
            <a:avLst/>
          </a:prstGeom>
          <a:noFill/>
        </p:spPr>
        <p:txBody>
          <a:bodyPr wrap="square" anchor="t">
            <a:spAutoFit/>
          </a:bodyPr>
          <a:lstStyle/>
          <a:p>
            <a:pPr algn="l">
              <a:spcAft>
                <a:spcPts val="400"/>
              </a:spcAft>
            </a:pPr>
            <a:r>
              <a:rPr sz="1700" b="0">
                <a:solidFill>
                  <a:srgbClr val="161B26"/>
                </a:solidFill>
                <a:latin typeface="Arial"/>
              </a:rPr>
              <a:t>Implement the three-qubit teleportation protocol: entangle a shared pair, perform a Bell measurement on the unknown state, and apply the conditional corrections that recreate the original state on Bob's qubit.</a:t>
            </a:r>
          </a:p>
        </p:txBody>
      </p:sp>
      <p:sp>
        <p:nvSpPr>
          <p:cNvPr id="10" name="Rectangle 9"/>
          <p:cNvSpPr/>
          <p:nvPr/>
        </p:nvSpPr>
        <p:spPr>
          <a:xfrm>
            <a:off x="777240" y="2971800"/>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2971800"/>
            <a:ext cx="10241280" cy="457200"/>
          </a:xfrm>
          <a:prstGeom prst="rect">
            <a:avLst/>
          </a:prstGeom>
          <a:noFill/>
        </p:spPr>
        <p:txBody>
          <a:bodyPr wrap="square" anchor="ctr">
            <a:spAutoFit/>
          </a:bodyPr>
          <a:lstStyle/>
          <a:p>
            <a:pPr algn="l">
              <a:spcAft>
                <a:spcPts val="400"/>
              </a:spcAft>
            </a:pPr>
            <a:r>
              <a:rPr sz="1100" b="1">
                <a:solidFill>
                  <a:srgbClr val="1F6FEB"/>
                </a:solidFill>
                <a:latin typeface="Arial"/>
              </a:rPr>
              <a:t>MAPS TO  </a:t>
            </a:r>
            <a:r>
              <a:rPr sz="1250" b="0">
                <a:solidFill>
                  <a:srgbClr val="161B26"/>
                </a:solidFill>
                <a:latin typeface="Arial"/>
              </a:rPr>
              <a:t>LO3, LO7 — Synthesize quantum methodologies to address complex problems</a:t>
            </a:r>
          </a:p>
        </p:txBody>
      </p:sp>
      <p:sp>
        <p:nvSpPr>
          <p:cNvPr id="12" name="Rectangle 11"/>
          <p:cNvSpPr/>
          <p:nvPr/>
        </p:nvSpPr>
        <p:spPr>
          <a:xfrm>
            <a:off x="777240" y="3611880"/>
            <a:ext cx="10634472" cy="1234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1560" y="3767328"/>
            <a:ext cx="10058400" cy="365760"/>
          </a:xfrm>
          <a:prstGeom prst="rect">
            <a:avLst/>
          </a:prstGeom>
          <a:noFill/>
        </p:spPr>
        <p:txBody>
          <a:bodyPr wrap="square" anchor="t">
            <a:spAutoFit/>
          </a:bodyPr>
          <a:lstStyle/>
          <a:p>
            <a:pPr algn="l">
              <a:spcAft>
                <a:spcPts val="400"/>
              </a:spcAft>
            </a:pPr>
            <a:r>
              <a:rPr sz="1200" b="1">
                <a:solidFill>
                  <a:srgbClr val="127A3E"/>
                </a:solidFill>
                <a:latin typeface="Arial"/>
              </a:rPr>
              <a:t>YOU'LL PRODUCE</a:t>
            </a:r>
          </a:p>
        </p:txBody>
      </p:sp>
      <p:sp>
        <p:nvSpPr>
          <p:cNvPr id="14" name="TextBox 13"/>
          <p:cNvSpPr txBox="1"/>
          <p:nvPr/>
        </p:nvSpPr>
        <p:spPr>
          <a:xfrm>
            <a:off x="1051560" y="4133087"/>
            <a:ext cx="10058400" cy="640080"/>
          </a:xfrm>
          <a:prstGeom prst="rect">
            <a:avLst/>
          </a:prstGeom>
          <a:noFill/>
        </p:spPr>
        <p:txBody>
          <a:bodyPr wrap="square" anchor="t">
            <a:spAutoFit/>
          </a:bodyPr>
          <a:lstStyle/>
          <a:p>
            <a:pPr algn="l">
              <a:spcAft>
                <a:spcPts val="400"/>
              </a:spcAft>
            </a:pPr>
            <a:r>
              <a:rPr sz="1550" b="1">
                <a:solidFill>
                  <a:srgbClr val="161B26"/>
                </a:solidFill>
                <a:latin typeface="Arial"/>
              </a:rPr>
              <a:t>A teleportation circuit run on IBM Quantum hardware that reconstructs an arbitrary input state at the receiving qubit.</a:t>
            </a:r>
          </a:p>
        </p:txBody>
      </p:sp>
      <p:sp>
        <p:nvSpPr>
          <p:cNvPr id="15" name="Rectangle 14"/>
          <p:cNvSpPr/>
          <p:nvPr/>
        </p:nvSpPr>
        <p:spPr>
          <a:xfrm>
            <a:off x="777240" y="5029200"/>
            <a:ext cx="10634472"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5138928"/>
            <a:ext cx="10058400" cy="365760"/>
          </a:xfrm>
          <a:prstGeom prst="rect">
            <a:avLst/>
          </a:prstGeom>
          <a:noFill/>
        </p:spPr>
        <p:txBody>
          <a:bodyPr wrap="square" anchor="t">
            <a:spAutoFit/>
          </a:bodyPr>
          <a:lstStyle/>
          <a:p>
            <a:pPr algn="l">
              <a:spcAft>
                <a:spcPts val="400"/>
              </a:spcAft>
            </a:pPr>
            <a:r>
              <a:rPr sz="1200" b="1">
                <a:solidFill>
                  <a:srgbClr val="5B6372"/>
                </a:solidFill>
                <a:latin typeface="Arial"/>
              </a:rPr>
              <a:t>Tools:  </a:t>
            </a:r>
            <a:r>
              <a:rPr sz="1200" b="0">
                <a:solidFill>
                  <a:srgbClr val="5B6372"/>
                </a:solidFill>
                <a:latin typeface="Arial"/>
              </a:rPr>
              <a:t>Qiskit 2.x, IBM Quantum Runtime, OpenQASM</a:t>
            </a:r>
          </a:p>
        </p:txBody>
      </p:sp>
      <p:sp>
        <p:nvSpPr>
          <p:cNvPr id="17" name="TextBox 16"/>
          <p:cNvSpPr txBox="1"/>
          <p:nvPr/>
        </p:nvSpPr>
        <p:spPr>
          <a:xfrm>
            <a:off x="1051560" y="5504688"/>
            <a:ext cx="10058400" cy="365760"/>
          </a:xfrm>
          <a:prstGeom prst="rect">
            <a:avLst/>
          </a:prstGeom>
          <a:noFill/>
        </p:spPr>
        <p:txBody>
          <a:bodyPr wrap="square" anchor="t">
            <a:spAutoFit/>
          </a:bodyPr>
          <a:lstStyle/>
          <a:p>
            <a:pPr algn="l">
              <a:spcAft>
                <a:spcPts val="400"/>
              </a:spcAft>
            </a:pPr>
            <a:r>
              <a:rPr sz="1200" b="1">
                <a:solidFill>
                  <a:srgbClr val="1F6FEB"/>
                </a:solidFill>
                <a:latin typeface="Arial"/>
              </a:rPr>
              <a:t>Full step-by-step guide:  </a:t>
            </a:r>
            <a:r>
              <a:rPr sz="1200" b="0">
                <a:solidFill>
                  <a:srgbClr val="161B26"/>
                </a:solidFill>
                <a:latin typeface="Arial"/>
              </a:rPr>
              <a:t>Learner Guide — Activity 6: Quantum Teleportation</a:t>
            </a:r>
          </a:p>
        </p:txBody>
      </p:sp>
      <p:sp>
        <p:nvSpPr>
          <p:cNvPr id="18" name="TextBox 1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9" name="TextBox 1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0" name="TextBox 1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55</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6 · VERIFY &amp; DEBRIEF</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Quantum Teleportation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21488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21488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1965960"/>
            <a:ext cx="10058400" cy="411480"/>
          </a:xfrm>
          <a:prstGeom prst="rect">
            <a:avLst/>
          </a:prstGeom>
          <a:noFill/>
        </p:spPr>
        <p:txBody>
          <a:bodyPr wrap="square" anchor="t">
            <a:spAutoFit/>
          </a:bodyPr>
          <a:lstStyle/>
          <a:p>
            <a:pPr algn="l">
              <a:spcAft>
                <a:spcPts val="400"/>
              </a:spcAft>
            </a:pPr>
            <a:r>
              <a:rPr sz="1300" b="1">
                <a:solidFill>
                  <a:srgbClr val="127A3E"/>
                </a:solidFill>
                <a:latin typeface="Arial"/>
              </a:rPr>
              <a:t>TEST IT — HOW YOU KNOW IT WORKED</a:t>
            </a:r>
          </a:p>
        </p:txBody>
      </p:sp>
      <p:sp>
        <p:nvSpPr>
          <p:cNvPr id="10" name="TextBox 9"/>
          <p:cNvSpPr txBox="1"/>
          <p:nvPr/>
        </p:nvSpPr>
        <p:spPr>
          <a:xfrm>
            <a:off x="1143000" y="2423160"/>
            <a:ext cx="10058400" cy="1371600"/>
          </a:xfrm>
          <a:prstGeom prst="rect">
            <a:avLst/>
          </a:prstGeom>
          <a:noFill/>
        </p:spPr>
        <p:txBody>
          <a:bodyPr wrap="square" anchor="t">
            <a:spAutoFit/>
          </a:bodyPr>
          <a:lstStyle/>
          <a:p>
            <a:pPr algn="l">
              <a:spcAft>
                <a:spcPts val="400"/>
              </a:spcAft>
            </a:pPr>
            <a:r>
              <a:rPr sz="1600" b="0">
                <a:solidFill>
                  <a:srgbClr val="161B26"/>
                </a:solidFill>
                <a:latin typeface="Arial"/>
              </a:rPr>
              <a:t>The measurement statistics on Bob's qubit q2 match the amplitudes of the state originally prepared on q0, within hardware noise, and the original state no longer exists on q0.</a:t>
            </a:r>
          </a:p>
        </p:txBody>
      </p:sp>
      <p:sp>
        <p:nvSpPr>
          <p:cNvPr id="11" name="TextBox 10"/>
          <p:cNvSpPr txBox="1"/>
          <p:nvPr/>
        </p:nvSpPr>
        <p:spPr>
          <a:xfrm>
            <a:off x="777240" y="4096512"/>
            <a:ext cx="10607040" cy="365760"/>
          </a:xfrm>
          <a:prstGeom prst="rect">
            <a:avLst/>
          </a:prstGeom>
          <a:noFill/>
        </p:spPr>
        <p:txBody>
          <a:bodyPr wrap="square" anchor="t">
            <a:spAutoFit/>
          </a:bodyPr>
          <a:lstStyle/>
          <a:p>
            <a:pPr algn="l">
              <a:spcAft>
                <a:spcPts val="400"/>
              </a:spcAft>
            </a:pPr>
            <a:r>
              <a:rPr sz="1300" b="1">
                <a:solidFill>
                  <a:srgbClr val="1F6FEB"/>
                </a:solidFill>
                <a:latin typeface="Arial"/>
              </a:rPr>
              <a:t>DISCUSS WITH YOUR TRAINER</a:t>
            </a:r>
          </a:p>
        </p:txBody>
      </p:sp>
      <p:sp>
        <p:nvSpPr>
          <p:cNvPr id="12" name="Rectangle 11"/>
          <p:cNvSpPr/>
          <p:nvPr/>
        </p:nvSpPr>
        <p:spPr>
          <a:xfrm>
            <a:off x="777240" y="4480560"/>
            <a:ext cx="3447288" cy="1463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480560"/>
            <a:ext cx="3447288"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8" y="4663440"/>
            <a:ext cx="3044952" cy="457200"/>
          </a:xfrm>
          <a:prstGeom prst="rect">
            <a:avLst/>
          </a:prstGeom>
          <a:noFill/>
        </p:spPr>
        <p:txBody>
          <a:bodyPr wrap="square" anchor="t">
            <a:spAutoFit/>
          </a:bodyPr>
          <a:lstStyle/>
          <a:p>
            <a:pPr algn="l">
              <a:spcAft>
                <a:spcPts val="400"/>
              </a:spcAft>
            </a:pPr>
            <a:r>
              <a:rPr sz="1350" b="1">
                <a:solidFill>
                  <a:srgbClr val="1F6FEB"/>
                </a:solidFill>
                <a:latin typeface="Arial"/>
              </a:rPr>
              <a:t>What did the result show?</a:t>
            </a:r>
          </a:p>
        </p:txBody>
      </p:sp>
      <p:sp>
        <p:nvSpPr>
          <p:cNvPr id="15" name="TextBox 14"/>
          <p:cNvSpPr txBox="1"/>
          <p:nvPr/>
        </p:nvSpPr>
        <p:spPr>
          <a:xfrm>
            <a:off x="978408" y="5138928"/>
            <a:ext cx="3044952" cy="731520"/>
          </a:xfrm>
          <a:prstGeom prst="rect">
            <a:avLst/>
          </a:prstGeom>
          <a:noFill/>
        </p:spPr>
        <p:txBody>
          <a:bodyPr wrap="square" anchor="t">
            <a:spAutoFit/>
          </a:bodyPr>
          <a:lstStyle/>
          <a:p>
            <a:pPr algn="l">
              <a:spcAft>
                <a:spcPts val="400"/>
              </a:spcAft>
            </a:pPr>
            <a:r>
              <a:rPr sz="1200" b="0">
                <a:solidFill>
                  <a:srgbClr val="5B6372"/>
                </a:solidFill>
                <a:latin typeface="Arial"/>
              </a:rPr>
              <a:t>Restate the outcome in your own words.</a:t>
            </a:r>
          </a:p>
        </p:txBody>
      </p:sp>
      <p:sp>
        <p:nvSpPr>
          <p:cNvPr id="16" name="Rectangle 15"/>
          <p:cNvSpPr/>
          <p:nvPr/>
        </p:nvSpPr>
        <p:spPr>
          <a:xfrm>
            <a:off x="4370832" y="4480560"/>
            <a:ext cx="3447288" cy="1463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70832" y="4480560"/>
            <a:ext cx="344728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0" y="4663440"/>
            <a:ext cx="3044952" cy="457200"/>
          </a:xfrm>
          <a:prstGeom prst="rect">
            <a:avLst/>
          </a:prstGeom>
          <a:noFill/>
        </p:spPr>
        <p:txBody>
          <a:bodyPr wrap="square" anchor="t">
            <a:spAutoFit/>
          </a:bodyPr>
          <a:lstStyle/>
          <a:p>
            <a:pPr algn="l">
              <a:spcAft>
                <a:spcPts val="400"/>
              </a:spcAft>
            </a:pPr>
            <a:r>
              <a:rPr sz="1350" b="1">
                <a:solidFill>
                  <a:srgbClr val="10B981"/>
                </a:solidFill>
                <a:latin typeface="Arial"/>
              </a:rPr>
              <a:t>Why does it work?</a:t>
            </a:r>
          </a:p>
        </p:txBody>
      </p:sp>
      <p:sp>
        <p:nvSpPr>
          <p:cNvPr id="19" name="TextBox 18"/>
          <p:cNvSpPr txBox="1"/>
          <p:nvPr/>
        </p:nvSpPr>
        <p:spPr>
          <a:xfrm>
            <a:off x="4572000" y="5138928"/>
            <a:ext cx="3044952" cy="731520"/>
          </a:xfrm>
          <a:prstGeom prst="rect">
            <a:avLst/>
          </a:prstGeom>
          <a:noFill/>
        </p:spPr>
        <p:txBody>
          <a:bodyPr wrap="square" anchor="t">
            <a:spAutoFit/>
          </a:bodyPr>
          <a:lstStyle/>
          <a:p>
            <a:pPr algn="l">
              <a:spcAft>
                <a:spcPts val="400"/>
              </a:spcAft>
            </a:pPr>
            <a:r>
              <a:rPr sz="1200" b="0">
                <a:solidFill>
                  <a:srgbClr val="5B6372"/>
                </a:solidFill>
                <a:latin typeface="Arial"/>
              </a:rPr>
              <a:t>Name the quantum principle the activity relies on.</a:t>
            </a:r>
          </a:p>
        </p:txBody>
      </p:sp>
      <p:sp>
        <p:nvSpPr>
          <p:cNvPr id="20" name="Rectangle 19"/>
          <p:cNvSpPr/>
          <p:nvPr/>
        </p:nvSpPr>
        <p:spPr>
          <a:xfrm>
            <a:off x="7964424" y="4480560"/>
            <a:ext cx="3447288" cy="1463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964424" y="4480560"/>
            <a:ext cx="3447288"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65592" y="4663440"/>
            <a:ext cx="3044952" cy="457200"/>
          </a:xfrm>
          <a:prstGeom prst="rect">
            <a:avLst/>
          </a:prstGeom>
          <a:noFill/>
        </p:spPr>
        <p:txBody>
          <a:bodyPr wrap="square" anchor="t">
            <a:spAutoFit/>
          </a:bodyPr>
          <a:lstStyle/>
          <a:p>
            <a:pPr algn="l">
              <a:spcAft>
                <a:spcPts val="400"/>
              </a:spcAft>
            </a:pPr>
            <a:r>
              <a:rPr sz="1350" b="1">
                <a:solidFill>
                  <a:srgbClr val="7C3AED"/>
                </a:solidFill>
                <a:latin typeface="Arial"/>
              </a:rPr>
              <a:t>Where would you use it?</a:t>
            </a:r>
          </a:p>
        </p:txBody>
      </p:sp>
      <p:sp>
        <p:nvSpPr>
          <p:cNvPr id="23" name="TextBox 22"/>
          <p:cNvSpPr txBox="1"/>
          <p:nvPr/>
        </p:nvSpPr>
        <p:spPr>
          <a:xfrm>
            <a:off x="8165592" y="5138928"/>
            <a:ext cx="3044952" cy="731520"/>
          </a:xfrm>
          <a:prstGeom prst="rect">
            <a:avLst/>
          </a:prstGeom>
          <a:noFill/>
        </p:spPr>
        <p:txBody>
          <a:bodyPr wrap="square" anchor="t">
            <a:spAutoFit/>
          </a:bodyPr>
          <a:lstStyle/>
          <a:p>
            <a:pPr algn="l">
              <a:spcAft>
                <a:spcPts val="400"/>
              </a:spcAft>
            </a:pPr>
            <a:r>
              <a:rPr sz="1200" b="0">
                <a:solidFill>
                  <a:srgbClr val="5B6372"/>
                </a:solidFill>
                <a:latin typeface="Arial"/>
              </a:rPr>
              <a:t>Give one realistic application in your own field.</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56</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04 · HANDS-ON ACTIVITY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Superdense Coding Protocol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646920" y="457200"/>
            <a:ext cx="17830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57200"/>
            <a:ext cx="1783080" cy="457200"/>
          </a:xfrm>
          <a:prstGeom prst="rect">
            <a:avLst/>
          </a:prstGeom>
          <a:noFill/>
        </p:spPr>
        <p:txBody>
          <a:bodyPr wrap="square" anchor="ctr">
            <a:spAutoFit/>
          </a:bodyPr>
          <a:lstStyle/>
          <a:p>
            <a:pPr algn="ctr">
              <a:spcAft>
                <a:spcPts val="400"/>
              </a:spcAft>
            </a:pPr>
            <a:r>
              <a:rPr sz="1300" b="1">
                <a:solidFill>
                  <a:srgbClr val="FFFFFF"/>
                </a:solidFill>
                <a:latin typeface="Arial"/>
              </a:rPr>
              <a:t>ACTIVITY 7</a:t>
            </a:r>
          </a:p>
        </p:txBody>
      </p:sp>
      <p:sp>
        <p:nvSpPr>
          <p:cNvPr id="9" name="TextBox 8"/>
          <p:cNvSpPr txBox="1"/>
          <p:nvPr/>
        </p:nvSpPr>
        <p:spPr>
          <a:xfrm>
            <a:off x="777240" y="1828800"/>
            <a:ext cx="10607040" cy="1051560"/>
          </a:xfrm>
          <a:prstGeom prst="rect">
            <a:avLst/>
          </a:prstGeom>
          <a:noFill/>
        </p:spPr>
        <p:txBody>
          <a:bodyPr wrap="square" anchor="t">
            <a:spAutoFit/>
          </a:bodyPr>
          <a:lstStyle/>
          <a:p>
            <a:pPr algn="l">
              <a:spcAft>
                <a:spcPts val="400"/>
              </a:spcAft>
            </a:pPr>
            <a:r>
              <a:rPr sz="1700" b="0">
                <a:solidFill>
                  <a:srgbClr val="161B26"/>
                </a:solidFill>
                <a:latin typeface="Arial"/>
              </a:rPr>
              <a:t>Implement the dual of teleportation: transmit two classical bits by sending only a single qubit of a pre-shared entangled pair, encoding the message with the I, X, Z and XZ operations.</a:t>
            </a:r>
          </a:p>
        </p:txBody>
      </p:sp>
      <p:sp>
        <p:nvSpPr>
          <p:cNvPr id="10" name="Rectangle 9"/>
          <p:cNvSpPr/>
          <p:nvPr/>
        </p:nvSpPr>
        <p:spPr>
          <a:xfrm>
            <a:off x="777240" y="2971800"/>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2971800"/>
            <a:ext cx="10241280" cy="457200"/>
          </a:xfrm>
          <a:prstGeom prst="rect">
            <a:avLst/>
          </a:prstGeom>
          <a:noFill/>
        </p:spPr>
        <p:txBody>
          <a:bodyPr wrap="square" anchor="ctr">
            <a:spAutoFit/>
          </a:bodyPr>
          <a:lstStyle/>
          <a:p>
            <a:pPr algn="l">
              <a:spcAft>
                <a:spcPts val="400"/>
              </a:spcAft>
            </a:pPr>
            <a:r>
              <a:rPr sz="1100" b="1">
                <a:solidFill>
                  <a:srgbClr val="1F6FEB"/>
                </a:solidFill>
                <a:latin typeface="Arial"/>
              </a:rPr>
              <a:t>MAPS TO  </a:t>
            </a:r>
            <a:r>
              <a:rPr sz="1250" b="0">
                <a:solidFill>
                  <a:srgbClr val="161B26"/>
                </a:solidFill>
                <a:latin typeface="Arial"/>
              </a:rPr>
              <a:t>LO3, LO7 — Direct two-level quantum models for quantum computing</a:t>
            </a:r>
          </a:p>
        </p:txBody>
      </p:sp>
      <p:sp>
        <p:nvSpPr>
          <p:cNvPr id="12" name="Rectangle 11"/>
          <p:cNvSpPr/>
          <p:nvPr/>
        </p:nvSpPr>
        <p:spPr>
          <a:xfrm>
            <a:off x="777240" y="3611880"/>
            <a:ext cx="10634472" cy="1234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1560" y="3767328"/>
            <a:ext cx="10058400" cy="365760"/>
          </a:xfrm>
          <a:prstGeom prst="rect">
            <a:avLst/>
          </a:prstGeom>
          <a:noFill/>
        </p:spPr>
        <p:txBody>
          <a:bodyPr wrap="square" anchor="t">
            <a:spAutoFit/>
          </a:bodyPr>
          <a:lstStyle/>
          <a:p>
            <a:pPr algn="l">
              <a:spcAft>
                <a:spcPts val="400"/>
              </a:spcAft>
            </a:pPr>
            <a:r>
              <a:rPr sz="1200" b="1">
                <a:solidFill>
                  <a:srgbClr val="127A3E"/>
                </a:solidFill>
                <a:latin typeface="Arial"/>
              </a:rPr>
              <a:t>YOU'LL PRODUCE</a:t>
            </a:r>
          </a:p>
        </p:txBody>
      </p:sp>
      <p:sp>
        <p:nvSpPr>
          <p:cNvPr id="14" name="TextBox 13"/>
          <p:cNvSpPr txBox="1"/>
          <p:nvPr/>
        </p:nvSpPr>
        <p:spPr>
          <a:xfrm>
            <a:off x="1051560" y="4133087"/>
            <a:ext cx="10058400" cy="640080"/>
          </a:xfrm>
          <a:prstGeom prst="rect">
            <a:avLst/>
          </a:prstGeom>
          <a:noFill/>
        </p:spPr>
        <p:txBody>
          <a:bodyPr wrap="square" anchor="t">
            <a:spAutoFit/>
          </a:bodyPr>
          <a:lstStyle/>
          <a:p>
            <a:pPr algn="l">
              <a:spcAft>
                <a:spcPts val="400"/>
              </a:spcAft>
            </a:pPr>
            <a:r>
              <a:rPr sz="1550" b="1">
                <a:solidFill>
                  <a:srgbClr val="161B26"/>
                </a:solidFill>
                <a:latin typeface="Arial"/>
              </a:rPr>
              <a:t>A superdense coding circuit that correctly transmits all four two-bit messages 00, 01, 10 and 11.</a:t>
            </a:r>
          </a:p>
        </p:txBody>
      </p:sp>
      <p:sp>
        <p:nvSpPr>
          <p:cNvPr id="15" name="Rectangle 14"/>
          <p:cNvSpPr/>
          <p:nvPr/>
        </p:nvSpPr>
        <p:spPr>
          <a:xfrm>
            <a:off x="777240" y="5029200"/>
            <a:ext cx="10634472"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5138928"/>
            <a:ext cx="10058400" cy="365760"/>
          </a:xfrm>
          <a:prstGeom prst="rect">
            <a:avLst/>
          </a:prstGeom>
          <a:noFill/>
        </p:spPr>
        <p:txBody>
          <a:bodyPr wrap="square" anchor="t">
            <a:spAutoFit/>
          </a:bodyPr>
          <a:lstStyle/>
          <a:p>
            <a:pPr algn="l">
              <a:spcAft>
                <a:spcPts val="400"/>
              </a:spcAft>
            </a:pPr>
            <a:r>
              <a:rPr sz="1200" b="1">
                <a:solidFill>
                  <a:srgbClr val="5B6372"/>
                </a:solidFill>
                <a:latin typeface="Arial"/>
              </a:rPr>
              <a:t>Tools:  </a:t>
            </a:r>
            <a:r>
              <a:rPr sz="1200" b="0">
                <a:solidFill>
                  <a:srgbClr val="5B6372"/>
                </a:solidFill>
                <a:latin typeface="Arial"/>
              </a:rPr>
              <a:t>Qiskit 2.x, IBM Quantum Runtime</a:t>
            </a:r>
          </a:p>
        </p:txBody>
      </p:sp>
      <p:sp>
        <p:nvSpPr>
          <p:cNvPr id="17" name="TextBox 16"/>
          <p:cNvSpPr txBox="1"/>
          <p:nvPr/>
        </p:nvSpPr>
        <p:spPr>
          <a:xfrm>
            <a:off x="1051560" y="5504688"/>
            <a:ext cx="10058400" cy="365760"/>
          </a:xfrm>
          <a:prstGeom prst="rect">
            <a:avLst/>
          </a:prstGeom>
          <a:noFill/>
        </p:spPr>
        <p:txBody>
          <a:bodyPr wrap="square" anchor="t">
            <a:spAutoFit/>
          </a:bodyPr>
          <a:lstStyle/>
          <a:p>
            <a:pPr algn="l">
              <a:spcAft>
                <a:spcPts val="400"/>
              </a:spcAft>
            </a:pPr>
            <a:r>
              <a:rPr sz="1200" b="1">
                <a:solidFill>
                  <a:srgbClr val="1F6FEB"/>
                </a:solidFill>
                <a:latin typeface="Arial"/>
              </a:rPr>
              <a:t>Full step-by-step guide:  </a:t>
            </a:r>
            <a:r>
              <a:rPr sz="1200" b="0">
                <a:solidFill>
                  <a:srgbClr val="161B26"/>
                </a:solidFill>
                <a:latin typeface="Arial"/>
              </a:rPr>
              <a:t>Learner Guide — Activity 7: Superdense Coding Protocol</a:t>
            </a:r>
          </a:p>
        </p:txBody>
      </p:sp>
      <p:sp>
        <p:nvSpPr>
          <p:cNvPr id="18" name="TextBox 1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9" name="TextBox 1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0" name="TextBox 1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57</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7 · VERIFY &amp; DEBRIEF</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Superdense Coding Protocol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21488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21488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1965960"/>
            <a:ext cx="10058400" cy="411480"/>
          </a:xfrm>
          <a:prstGeom prst="rect">
            <a:avLst/>
          </a:prstGeom>
          <a:noFill/>
        </p:spPr>
        <p:txBody>
          <a:bodyPr wrap="square" anchor="t">
            <a:spAutoFit/>
          </a:bodyPr>
          <a:lstStyle/>
          <a:p>
            <a:pPr algn="l">
              <a:spcAft>
                <a:spcPts val="400"/>
              </a:spcAft>
            </a:pPr>
            <a:r>
              <a:rPr sz="1300" b="1">
                <a:solidFill>
                  <a:srgbClr val="127A3E"/>
                </a:solidFill>
                <a:latin typeface="Arial"/>
              </a:rPr>
              <a:t>TEST IT — HOW YOU KNOW IT WORKED</a:t>
            </a:r>
          </a:p>
        </p:txBody>
      </p:sp>
      <p:sp>
        <p:nvSpPr>
          <p:cNvPr id="10" name="TextBox 9"/>
          <p:cNvSpPr txBox="1"/>
          <p:nvPr/>
        </p:nvSpPr>
        <p:spPr>
          <a:xfrm>
            <a:off x="1143000" y="2423160"/>
            <a:ext cx="10058400" cy="1371600"/>
          </a:xfrm>
          <a:prstGeom prst="rect">
            <a:avLst/>
          </a:prstGeom>
          <a:noFill/>
        </p:spPr>
        <p:txBody>
          <a:bodyPr wrap="square" anchor="t">
            <a:spAutoFit/>
          </a:bodyPr>
          <a:lstStyle/>
          <a:p>
            <a:pPr algn="l">
              <a:spcAft>
                <a:spcPts val="400"/>
              </a:spcAft>
            </a:pPr>
            <a:r>
              <a:rPr sz="1600" b="0">
                <a:solidFill>
                  <a:srgbClr val="161B26"/>
                </a:solidFill>
                <a:latin typeface="Arial"/>
              </a:rPr>
              <a:t>Each of the four encodings decodes to its intended message — identity gives 00, X gives 01, Z gives 10 and ZX gives 11 — demonstrating two classical bits carried by one transmitted qubit.</a:t>
            </a:r>
          </a:p>
        </p:txBody>
      </p:sp>
      <p:sp>
        <p:nvSpPr>
          <p:cNvPr id="11" name="TextBox 10"/>
          <p:cNvSpPr txBox="1"/>
          <p:nvPr/>
        </p:nvSpPr>
        <p:spPr>
          <a:xfrm>
            <a:off x="777240" y="4096512"/>
            <a:ext cx="10607040" cy="365760"/>
          </a:xfrm>
          <a:prstGeom prst="rect">
            <a:avLst/>
          </a:prstGeom>
          <a:noFill/>
        </p:spPr>
        <p:txBody>
          <a:bodyPr wrap="square" anchor="t">
            <a:spAutoFit/>
          </a:bodyPr>
          <a:lstStyle/>
          <a:p>
            <a:pPr algn="l">
              <a:spcAft>
                <a:spcPts val="400"/>
              </a:spcAft>
            </a:pPr>
            <a:r>
              <a:rPr sz="1300" b="1">
                <a:solidFill>
                  <a:srgbClr val="1F6FEB"/>
                </a:solidFill>
                <a:latin typeface="Arial"/>
              </a:rPr>
              <a:t>DISCUSS WITH YOUR TRAINER</a:t>
            </a:r>
          </a:p>
        </p:txBody>
      </p:sp>
      <p:sp>
        <p:nvSpPr>
          <p:cNvPr id="12" name="Rectangle 11"/>
          <p:cNvSpPr/>
          <p:nvPr/>
        </p:nvSpPr>
        <p:spPr>
          <a:xfrm>
            <a:off x="777240" y="4480560"/>
            <a:ext cx="3447288" cy="1463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480560"/>
            <a:ext cx="3447288"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8" y="4663440"/>
            <a:ext cx="3044952" cy="457200"/>
          </a:xfrm>
          <a:prstGeom prst="rect">
            <a:avLst/>
          </a:prstGeom>
          <a:noFill/>
        </p:spPr>
        <p:txBody>
          <a:bodyPr wrap="square" anchor="t">
            <a:spAutoFit/>
          </a:bodyPr>
          <a:lstStyle/>
          <a:p>
            <a:pPr algn="l">
              <a:spcAft>
                <a:spcPts val="400"/>
              </a:spcAft>
            </a:pPr>
            <a:r>
              <a:rPr sz="1350" b="1">
                <a:solidFill>
                  <a:srgbClr val="1F6FEB"/>
                </a:solidFill>
                <a:latin typeface="Arial"/>
              </a:rPr>
              <a:t>What did the result show?</a:t>
            </a:r>
          </a:p>
        </p:txBody>
      </p:sp>
      <p:sp>
        <p:nvSpPr>
          <p:cNvPr id="15" name="TextBox 14"/>
          <p:cNvSpPr txBox="1"/>
          <p:nvPr/>
        </p:nvSpPr>
        <p:spPr>
          <a:xfrm>
            <a:off x="978408" y="5138928"/>
            <a:ext cx="3044952" cy="731520"/>
          </a:xfrm>
          <a:prstGeom prst="rect">
            <a:avLst/>
          </a:prstGeom>
          <a:noFill/>
        </p:spPr>
        <p:txBody>
          <a:bodyPr wrap="square" anchor="t">
            <a:spAutoFit/>
          </a:bodyPr>
          <a:lstStyle/>
          <a:p>
            <a:pPr algn="l">
              <a:spcAft>
                <a:spcPts val="400"/>
              </a:spcAft>
            </a:pPr>
            <a:r>
              <a:rPr sz="1200" b="0">
                <a:solidFill>
                  <a:srgbClr val="5B6372"/>
                </a:solidFill>
                <a:latin typeface="Arial"/>
              </a:rPr>
              <a:t>Restate the outcome in your own words.</a:t>
            </a:r>
          </a:p>
        </p:txBody>
      </p:sp>
      <p:sp>
        <p:nvSpPr>
          <p:cNvPr id="16" name="Rectangle 15"/>
          <p:cNvSpPr/>
          <p:nvPr/>
        </p:nvSpPr>
        <p:spPr>
          <a:xfrm>
            <a:off x="4370832" y="4480560"/>
            <a:ext cx="3447288" cy="1463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70832" y="4480560"/>
            <a:ext cx="344728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0" y="4663440"/>
            <a:ext cx="3044952" cy="457200"/>
          </a:xfrm>
          <a:prstGeom prst="rect">
            <a:avLst/>
          </a:prstGeom>
          <a:noFill/>
        </p:spPr>
        <p:txBody>
          <a:bodyPr wrap="square" anchor="t">
            <a:spAutoFit/>
          </a:bodyPr>
          <a:lstStyle/>
          <a:p>
            <a:pPr algn="l">
              <a:spcAft>
                <a:spcPts val="400"/>
              </a:spcAft>
            </a:pPr>
            <a:r>
              <a:rPr sz="1350" b="1">
                <a:solidFill>
                  <a:srgbClr val="10B981"/>
                </a:solidFill>
                <a:latin typeface="Arial"/>
              </a:rPr>
              <a:t>Why does it work?</a:t>
            </a:r>
          </a:p>
        </p:txBody>
      </p:sp>
      <p:sp>
        <p:nvSpPr>
          <p:cNvPr id="19" name="TextBox 18"/>
          <p:cNvSpPr txBox="1"/>
          <p:nvPr/>
        </p:nvSpPr>
        <p:spPr>
          <a:xfrm>
            <a:off x="4572000" y="5138928"/>
            <a:ext cx="3044952" cy="731520"/>
          </a:xfrm>
          <a:prstGeom prst="rect">
            <a:avLst/>
          </a:prstGeom>
          <a:noFill/>
        </p:spPr>
        <p:txBody>
          <a:bodyPr wrap="square" anchor="t">
            <a:spAutoFit/>
          </a:bodyPr>
          <a:lstStyle/>
          <a:p>
            <a:pPr algn="l">
              <a:spcAft>
                <a:spcPts val="400"/>
              </a:spcAft>
            </a:pPr>
            <a:r>
              <a:rPr sz="1200" b="0">
                <a:solidFill>
                  <a:srgbClr val="5B6372"/>
                </a:solidFill>
                <a:latin typeface="Arial"/>
              </a:rPr>
              <a:t>Name the quantum principle the activity relies on.</a:t>
            </a:r>
          </a:p>
        </p:txBody>
      </p:sp>
      <p:sp>
        <p:nvSpPr>
          <p:cNvPr id="20" name="Rectangle 19"/>
          <p:cNvSpPr/>
          <p:nvPr/>
        </p:nvSpPr>
        <p:spPr>
          <a:xfrm>
            <a:off x="7964424" y="4480560"/>
            <a:ext cx="3447288" cy="1463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964424" y="4480560"/>
            <a:ext cx="3447288"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65592" y="4663440"/>
            <a:ext cx="3044952" cy="457200"/>
          </a:xfrm>
          <a:prstGeom prst="rect">
            <a:avLst/>
          </a:prstGeom>
          <a:noFill/>
        </p:spPr>
        <p:txBody>
          <a:bodyPr wrap="square" anchor="t">
            <a:spAutoFit/>
          </a:bodyPr>
          <a:lstStyle/>
          <a:p>
            <a:pPr algn="l">
              <a:spcAft>
                <a:spcPts val="400"/>
              </a:spcAft>
            </a:pPr>
            <a:r>
              <a:rPr sz="1350" b="1">
                <a:solidFill>
                  <a:srgbClr val="7C3AED"/>
                </a:solidFill>
                <a:latin typeface="Arial"/>
              </a:rPr>
              <a:t>Where would you use it?</a:t>
            </a:r>
          </a:p>
        </p:txBody>
      </p:sp>
      <p:sp>
        <p:nvSpPr>
          <p:cNvPr id="23" name="TextBox 22"/>
          <p:cNvSpPr txBox="1"/>
          <p:nvPr/>
        </p:nvSpPr>
        <p:spPr>
          <a:xfrm>
            <a:off x="8165592" y="5138928"/>
            <a:ext cx="3044952" cy="731520"/>
          </a:xfrm>
          <a:prstGeom prst="rect">
            <a:avLst/>
          </a:prstGeom>
          <a:noFill/>
        </p:spPr>
        <p:txBody>
          <a:bodyPr wrap="square" anchor="t">
            <a:spAutoFit/>
          </a:bodyPr>
          <a:lstStyle/>
          <a:p>
            <a:pPr algn="l">
              <a:spcAft>
                <a:spcPts val="400"/>
              </a:spcAft>
            </a:pPr>
            <a:r>
              <a:rPr sz="1200" b="0">
                <a:solidFill>
                  <a:srgbClr val="5B6372"/>
                </a:solidFill>
                <a:latin typeface="Arial"/>
              </a:rPr>
              <a:t>Give one realistic application in your own field.</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58</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04 · HANDS-ON ACTIVITY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BB84 Quantum Key Distribution with Eavesdropping Detection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646920" y="457200"/>
            <a:ext cx="17830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57200"/>
            <a:ext cx="1783080" cy="457200"/>
          </a:xfrm>
          <a:prstGeom prst="rect">
            <a:avLst/>
          </a:prstGeom>
          <a:noFill/>
        </p:spPr>
        <p:txBody>
          <a:bodyPr wrap="square" anchor="ctr">
            <a:spAutoFit/>
          </a:bodyPr>
          <a:lstStyle/>
          <a:p>
            <a:pPr algn="ctr">
              <a:spcAft>
                <a:spcPts val="400"/>
              </a:spcAft>
            </a:pPr>
            <a:r>
              <a:rPr sz="1300" b="1">
                <a:solidFill>
                  <a:srgbClr val="FFFFFF"/>
                </a:solidFill>
                <a:latin typeface="Arial"/>
              </a:rPr>
              <a:t>ACTIVITY 8</a:t>
            </a:r>
          </a:p>
        </p:txBody>
      </p:sp>
      <p:sp>
        <p:nvSpPr>
          <p:cNvPr id="9" name="TextBox 8"/>
          <p:cNvSpPr txBox="1"/>
          <p:nvPr/>
        </p:nvSpPr>
        <p:spPr>
          <a:xfrm>
            <a:off x="777240" y="1828800"/>
            <a:ext cx="10607040" cy="1051560"/>
          </a:xfrm>
          <a:prstGeom prst="rect">
            <a:avLst/>
          </a:prstGeom>
          <a:noFill/>
        </p:spPr>
        <p:txBody>
          <a:bodyPr wrap="square" anchor="t">
            <a:spAutoFit/>
          </a:bodyPr>
          <a:lstStyle/>
          <a:p>
            <a:pPr algn="l">
              <a:spcAft>
                <a:spcPts val="400"/>
              </a:spcAft>
            </a:pPr>
            <a:r>
              <a:rPr sz="1700" b="0">
                <a:solidFill>
                  <a:srgbClr val="161B26"/>
                </a:solidFill>
                <a:latin typeface="Arial"/>
              </a:rPr>
              <a:t>Run the BB84 protocol end to end: random bit and basis selection, quantum transmission, basis sifting and key extraction — then repeat it with an eavesdropper present and measure the error rate that exposes the attack.</a:t>
            </a:r>
          </a:p>
        </p:txBody>
      </p:sp>
      <p:sp>
        <p:nvSpPr>
          <p:cNvPr id="10" name="Rectangle 9"/>
          <p:cNvSpPr/>
          <p:nvPr/>
        </p:nvSpPr>
        <p:spPr>
          <a:xfrm>
            <a:off x="777240" y="2971800"/>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2971800"/>
            <a:ext cx="10241280" cy="457200"/>
          </a:xfrm>
          <a:prstGeom prst="rect">
            <a:avLst/>
          </a:prstGeom>
          <a:noFill/>
        </p:spPr>
        <p:txBody>
          <a:bodyPr wrap="square" anchor="ctr">
            <a:spAutoFit/>
          </a:bodyPr>
          <a:lstStyle/>
          <a:p>
            <a:pPr algn="l">
              <a:spcAft>
                <a:spcPts val="400"/>
              </a:spcAft>
            </a:pPr>
            <a:r>
              <a:rPr sz="1100" b="1">
                <a:solidFill>
                  <a:srgbClr val="1F6FEB"/>
                </a:solidFill>
                <a:latin typeface="Arial"/>
              </a:rPr>
              <a:t>MAPS TO  </a:t>
            </a:r>
            <a:r>
              <a:rPr sz="1250" b="0">
                <a:solidFill>
                  <a:srgbClr val="161B26"/>
                </a:solidFill>
                <a:latin typeface="Arial"/>
              </a:rPr>
              <a:t>LO7 — Synthesize quantum methodologies to address complex problems</a:t>
            </a:r>
          </a:p>
        </p:txBody>
      </p:sp>
      <p:sp>
        <p:nvSpPr>
          <p:cNvPr id="12" name="Rectangle 11"/>
          <p:cNvSpPr/>
          <p:nvPr/>
        </p:nvSpPr>
        <p:spPr>
          <a:xfrm>
            <a:off x="777240" y="3611880"/>
            <a:ext cx="10634472" cy="1234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1560" y="3767328"/>
            <a:ext cx="10058400" cy="365760"/>
          </a:xfrm>
          <a:prstGeom prst="rect">
            <a:avLst/>
          </a:prstGeom>
          <a:noFill/>
        </p:spPr>
        <p:txBody>
          <a:bodyPr wrap="square" anchor="t">
            <a:spAutoFit/>
          </a:bodyPr>
          <a:lstStyle/>
          <a:p>
            <a:pPr algn="l">
              <a:spcAft>
                <a:spcPts val="400"/>
              </a:spcAft>
            </a:pPr>
            <a:r>
              <a:rPr sz="1200" b="1">
                <a:solidFill>
                  <a:srgbClr val="127A3E"/>
                </a:solidFill>
                <a:latin typeface="Arial"/>
              </a:rPr>
              <a:t>YOU'LL PRODUCE</a:t>
            </a:r>
          </a:p>
        </p:txBody>
      </p:sp>
      <p:sp>
        <p:nvSpPr>
          <p:cNvPr id="14" name="TextBox 13"/>
          <p:cNvSpPr txBox="1"/>
          <p:nvPr/>
        </p:nvSpPr>
        <p:spPr>
          <a:xfrm>
            <a:off x="1051560" y="4133087"/>
            <a:ext cx="10058400" cy="640080"/>
          </a:xfrm>
          <a:prstGeom prst="rect">
            <a:avLst/>
          </a:prstGeom>
          <a:noFill/>
        </p:spPr>
        <p:txBody>
          <a:bodyPr wrap="square" anchor="t">
            <a:spAutoFit/>
          </a:bodyPr>
          <a:lstStyle/>
          <a:p>
            <a:pPr algn="l">
              <a:spcAft>
                <a:spcPts val="400"/>
              </a:spcAft>
            </a:pPr>
            <a:r>
              <a:rPr sz="1550" b="1">
                <a:solidFill>
                  <a:srgbClr val="161B26"/>
                </a:solidFill>
                <a:latin typeface="Arial"/>
              </a:rPr>
              <a:t>A working BB84 implementation producing a shared secret key, plus a comparison run showing the ~25% error rate introduced by an intercept-resend eavesdropper.</a:t>
            </a:r>
          </a:p>
        </p:txBody>
      </p:sp>
      <p:sp>
        <p:nvSpPr>
          <p:cNvPr id="15" name="Rectangle 14"/>
          <p:cNvSpPr/>
          <p:nvPr/>
        </p:nvSpPr>
        <p:spPr>
          <a:xfrm>
            <a:off x="777240" y="5029200"/>
            <a:ext cx="10634472"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5138928"/>
            <a:ext cx="10058400" cy="365760"/>
          </a:xfrm>
          <a:prstGeom prst="rect">
            <a:avLst/>
          </a:prstGeom>
          <a:noFill/>
        </p:spPr>
        <p:txBody>
          <a:bodyPr wrap="square" anchor="t">
            <a:spAutoFit/>
          </a:bodyPr>
          <a:lstStyle/>
          <a:p>
            <a:pPr algn="l">
              <a:spcAft>
                <a:spcPts val="400"/>
              </a:spcAft>
            </a:pPr>
            <a:r>
              <a:rPr sz="1200" b="1">
                <a:solidFill>
                  <a:srgbClr val="5B6372"/>
                </a:solidFill>
                <a:latin typeface="Arial"/>
              </a:rPr>
              <a:t>Tools:  </a:t>
            </a:r>
            <a:r>
              <a:rPr sz="1200" b="0">
                <a:solidFill>
                  <a:srgbClr val="5B6372"/>
                </a:solidFill>
                <a:latin typeface="Arial"/>
              </a:rPr>
              <a:t>Qiskit 2.x, IBM Quantum Runtime, Python</a:t>
            </a:r>
          </a:p>
        </p:txBody>
      </p:sp>
      <p:sp>
        <p:nvSpPr>
          <p:cNvPr id="17" name="TextBox 16"/>
          <p:cNvSpPr txBox="1"/>
          <p:nvPr/>
        </p:nvSpPr>
        <p:spPr>
          <a:xfrm>
            <a:off x="1051560" y="5504688"/>
            <a:ext cx="10058400" cy="365760"/>
          </a:xfrm>
          <a:prstGeom prst="rect">
            <a:avLst/>
          </a:prstGeom>
          <a:noFill/>
        </p:spPr>
        <p:txBody>
          <a:bodyPr wrap="square" anchor="t">
            <a:spAutoFit/>
          </a:bodyPr>
          <a:lstStyle/>
          <a:p>
            <a:pPr algn="l">
              <a:spcAft>
                <a:spcPts val="400"/>
              </a:spcAft>
            </a:pPr>
            <a:r>
              <a:rPr sz="1200" b="1">
                <a:solidFill>
                  <a:srgbClr val="1F6FEB"/>
                </a:solidFill>
                <a:latin typeface="Arial"/>
              </a:rPr>
              <a:t>Full step-by-step guide:  </a:t>
            </a:r>
            <a:r>
              <a:rPr sz="1200" b="0">
                <a:solidFill>
                  <a:srgbClr val="161B26"/>
                </a:solidFill>
                <a:latin typeface="Arial"/>
              </a:rPr>
              <a:t>Learner Guide — Activity 8: BB84 Quantum Key Distribution with Eavesdropping Detection</a:t>
            </a:r>
          </a:p>
        </p:txBody>
      </p:sp>
      <p:sp>
        <p:nvSpPr>
          <p:cNvPr id="18" name="TextBox 1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9" name="TextBox 1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0" name="TextBox 1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59</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8 · VERIFY &amp; DEBRIEF</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BB84 Quantum Key Distribution with Eavesdropping Detection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21488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21488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1965960"/>
            <a:ext cx="10058400" cy="411480"/>
          </a:xfrm>
          <a:prstGeom prst="rect">
            <a:avLst/>
          </a:prstGeom>
          <a:noFill/>
        </p:spPr>
        <p:txBody>
          <a:bodyPr wrap="square" anchor="t">
            <a:spAutoFit/>
          </a:bodyPr>
          <a:lstStyle/>
          <a:p>
            <a:pPr algn="l">
              <a:spcAft>
                <a:spcPts val="400"/>
              </a:spcAft>
            </a:pPr>
            <a:r>
              <a:rPr sz="1300" b="1">
                <a:solidFill>
                  <a:srgbClr val="127A3E"/>
                </a:solidFill>
                <a:latin typeface="Arial"/>
              </a:rPr>
              <a:t>TEST IT — HOW YOU KNOW IT WORKED</a:t>
            </a:r>
          </a:p>
        </p:txBody>
      </p:sp>
      <p:sp>
        <p:nvSpPr>
          <p:cNvPr id="10" name="TextBox 9"/>
          <p:cNvSpPr txBox="1"/>
          <p:nvPr/>
        </p:nvSpPr>
        <p:spPr>
          <a:xfrm>
            <a:off x="1143000" y="2423160"/>
            <a:ext cx="10058400" cy="1371600"/>
          </a:xfrm>
          <a:prstGeom prst="rect">
            <a:avLst/>
          </a:prstGeom>
          <a:noFill/>
        </p:spPr>
        <p:txBody>
          <a:bodyPr wrap="square" anchor="t">
            <a:spAutoFit/>
          </a:bodyPr>
          <a:lstStyle/>
          <a:p>
            <a:pPr algn="l">
              <a:spcAft>
                <a:spcPts val="400"/>
              </a:spcAft>
            </a:pPr>
            <a:r>
              <a:rPr sz="1600" b="0">
                <a:solidFill>
                  <a:srgbClr val="161B26"/>
                </a:solidFill>
                <a:latin typeface="Arial"/>
              </a:rPr>
              <a:t>Without an eavesdropper the sifted key error rate is near zero (bounded only by hardware noise); with the intercept-resend eavesdropper the error rate rises to roughly 25%, which is the signal to abort and discard the key.</a:t>
            </a:r>
          </a:p>
        </p:txBody>
      </p:sp>
      <p:sp>
        <p:nvSpPr>
          <p:cNvPr id="11" name="TextBox 10"/>
          <p:cNvSpPr txBox="1"/>
          <p:nvPr/>
        </p:nvSpPr>
        <p:spPr>
          <a:xfrm>
            <a:off x="777240" y="4096512"/>
            <a:ext cx="10607040" cy="365760"/>
          </a:xfrm>
          <a:prstGeom prst="rect">
            <a:avLst/>
          </a:prstGeom>
          <a:noFill/>
        </p:spPr>
        <p:txBody>
          <a:bodyPr wrap="square" anchor="t">
            <a:spAutoFit/>
          </a:bodyPr>
          <a:lstStyle/>
          <a:p>
            <a:pPr algn="l">
              <a:spcAft>
                <a:spcPts val="400"/>
              </a:spcAft>
            </a:pPr>
            <a:r>
              <a:rPr sz="1300" b="1">
                <a:solidFill>
                  <a:srgbClr val="1F6FEB"/>
                </a:solidFill>
                <a:latin typeface="Arial"/>
              </a:rPr>
              <a:t>DISCUSS WITH YOUR TRAINER</a:t>
            </a:r>
          </a:p>
        </p:txBody>
      </p:sp>
      <p:sp>
        <p:nvSpPr>
          <p:cNvPr id="12" name="Rectangle 11"/>
          <p:cNvSpPr/>
          <p:nvPr/>
        </p:nvSpPr>
        <p:spPr>
          <a:xfrm>
            <a:off x="777240" y="4480560"/>
            <a:ext cx="3447288" cy="1463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480560"/>
            <a:ext cx="3447288"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8" y="4663440"/>
            <a:ext cx="3044952" cy="457200"/>
          </a:xfrm>
          <a:prstGeom prst="rect">
            <a:avLst/>
          </a:prstGeom>
          <a:noFill/>
        </p:spPr>
        <p:txBody>
          <a:bodyPr wrap="square" anchor="t">
            <a:spAutoFit/>
          </a:bodyPr>
          <a:lstStyle/>
          <a:p>
            <a:pPr algn="l">
              <a:spcAft>
                <a:spcPts val="400"/>
              </a:spcAft>
            </a:pPr>
            <a:r>
              <a:rPr sz="1350" b="1">
                <a:solidFill>
                  <a:srgbClr val="1F6FEB"/>
                </a:solidFill>
                <a:latin typeface="Arial"/>
              </a:rPr>
              <a:t>What did the result show?</a:t>
            </a:r>
          </a:p>
        </p:txBody>
      </p:sp>
      <p:sp>
        <p:nvSpPr>
          <p:cNvPr id="15" name="TextBox 14"/>
          <p:cNvSpPr txBox="1"/>
          <p:nvPr/>
        </p:nvSpPr>
        <p:spPr>
          <a:xfrm>
            <a:off x="978408" y="5138928"/>
            <a:ext cx="3044952" cy="731520"/>
          </a:xfrm>
          <a:prstGeom prst="rect">
            <a:avLst/>
          </a:prstGeom>
          <a:noFill/>
        </p:spPr>
        <p:txBody>
          <a:bodyPr wrap="square" anchor="t">
            <a:spAutoFit/>
          </a:bodyPr>
          <a:lstStyle/>
          <a:p>
            <a:pPr algn="l">
              <a:spcAft>
                <a:spcPts val="400"/>
              </a:spcAft>
            </a:pPr>
            <a:r>
              <a:rPr sz="1200" b="0">
                <a:solidFill>
                  <a:srgbClr val="5B6372"/>
                </a:solidFill>
                <a:latin typeface="Arial"/>
              </a:rPr>
              <a:t>Restate the outcome in your own words.</a:t>
            </a:r>
          </a:p>
        </p:txBody>
      </p:sp>
      <p:sp>
        <p:nvSpPr>
          <p:cNvPr id="16" name="Rectangle 15"/>
          <p:cNvSpPr/>
          <p:nvPr/>
        </p:nvSpPr>
        <p:spPr>
          <a:xfrm>
            <a:off x="4370832" y="4480560"/>
            <a:ext cx="3447288" cy="1463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70832" y="4480560"/>
            <a:ext cx="344728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0" y="4663440"/>
            <a:ext cx="3044952" cy="457200"/>
          </a:xfrm>
          <a:prstGeom prst="rect">
            <a:avLst/>
          </a:prstGeom>
          <a:noFill/>
        </p:spPr>
        <p:txBody>
          <a:bodyPr wrap="square" anchor="t">
            <a:spAutoFit/>
          </a:bodyPr>
          <a:lstStyle/>
          <a:p>
            <a:pPr algn="l">
              <a:spcAft>
                <a:spcPts val="400"/>
              </a:spcAft>
            </a:pPr>
            <a:r>
              <a:rPr sz="1350" b="1">
                <a:solidFill>
                  <a:srgbClr val="10B981"/>
                </a:solidFill>
                <a:latin typeface="Arial"/>
              </a:rPr>
              <a:t>Why does it work?</a:t>
            </a:r>
          </a:p>
        </p:txBody>
      </p:sp>
      <p:sp>
        <p:nvSpPr>
          <p:cNvPr id="19" name="TextBox 18"/>
          <p:cNvSpPr txBox="1"/>
          <p:nvPr/>
        </p:nvSpPr>
        <p:spPr>
          <a:xfrm>
            <a:off x="4572000" y="5138928"/>
            <a:ext cx="3044952" cy="731520"/>
          </a:xfrm>
          <a:prstGeom prst="rect">
            <a:avLst/>
          </a:prstGeom>
          <a:noFill/>
        </p:spPr>
        <p:txBody>
          <a:bodyPr wrap="square" anchor="t">
            <a:spAutoFit/>
          </a:bodyPr>
          <a:lstStyle/>
          <a:p>
            <a:pPr algn="l">
              <a:spcAft>
                <a:spcPts val="400"/>
              </a:spcAft>
            </a:pPr>
            <a:r>
              <a:rPr sz="1200" b="0">
                <a:solidFill>
                  <a:srgbClr val="5B6372"/>
                </a:solidFill>
                <a:latin typeface="Arial"/>
              </a:rPr>
              <a:t>Name the quantum principle the activity relies on.</a:t>
            </a:r>
          </a:p>
        </p:txBody>
      </p:sp>
      <p:sp>
        <p:nvSpPr>
          <p:cNvPr id="20" name="Rectangle 19"/>
          <p:cNvSpPr/>
          <p:nvPr/>
        </p:nvSpPr>
        <p:spPr>
          <a:xfrm>
            <a:off x="7964424" y="4480560"/>
            <a:ext cx="3447288" cy="1463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964424" y="4480560"/>
            <a:ext cx="3447288"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65592" y="4663440"/>
            <a:ext cx="3044952" cy="457200"/>
          </a:xfrm>
          <a:prstGeom prst="rect">
            <a:avLst/>
          </a:prstGeom>
          <a:noFill/>
        </p:spPr>
        <p:txBody>
          <a:bodyPr wrap="square" anchor="t">
            <a:spAutoFit/>
          </a:bodyPr>
          <a:lstStyle/>
          <a:p>
            <a:pPr algn="l">
              <a:spcAft>
                <a:spcPts val="400"/>
              </a:spcAft>
            </a:pPr>
            <a:r>
              <a:rPr sz="1350" b="1">
                <a:solidFill>
                  <a:srgbClr val="7C3AED"/>
                </a:solidFill>
                <a:latin typeface="Arial"/>
              </a:rPr>
              <a:t>Where would you use it?</a:t>
            </a:r>
          </a:p>
        </p:txBody>
      </p:sp>
      <p:sp>
        <p:nvSpPr>
          <p:cNvPr id="23" name="TextBox 22"/>
          <p:cNvSpPr txBox="1"/>
          <p:nvPr/>
        </p:nvSpPr>
        <p:spPr>
          <a:xfrm>
            <a:off x="8165592" y="5138928"/>
            <a:ext cx="3044952" cy="731520"/>
          </a:xfrm>
          <a:prstGeom prst="rect">
            <a:avLst/>
          </a:prstGeom>
          <a:noFill/>
        </p:spPr>
        <p:txBody>
          <a:bodyPr wrap="square" anchor="t">
            <a:spAutoFit/>
          </a:bodyPr>
          <a:lstStyle/>
          <a:p>
            <a:pPr algn="l">
              <a:spcAft>
                <a:spcPts val="400"/>
              </a:spcAft>
            </a:pPr>
            <a:r>
              <a:rPr sz="1200" b="0">
                <a:solidFill>
                  <a:srgbClr val="5B6372"/>
                </a:solidFill>
                <a:latin typeface="Arial"/>
              </a:rPr>
              <a:t>Give one realistic application in your own field.</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60</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RECAP</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Recap — Quantum Protocols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600">
                <a:solidFill>
                  <a:srgbClr val="161B26"/>
                </a:solidFill>
                <a:latin typeface="Arial"/>
              </a:rPr>
              <a:t>•  No-cloning theorem</a:t>
            </a:r>
          </a:p>
          <a:p>
            <a:pPr>
              <a:spcAft>
                <a:spcPts val="1000"/>
              </a:spcAft>
            </a:pPr>
            <a:r>
              <a:rPr sz="1600">
                <a:solidFill>
                  <a:srgbClr val="161B26"/>
                </a:solidFill>
                <a:latin typeface="Arial"/>
              </a:rPr>
              <a:t>•  Quantum teleportation</a:t>
            </a:r>
          </a:p>
          <a:p>
            <a:pPr>
              <a:spcAft>
                <a:spcPts val="1000"/>
              </a:spcAft>
            </a:pPr>
            <a:r>
              <a:rPr sz="1600">
                <a:solidFill>
                  <a:srgbClr val="161B26"/>
                </a:solidFill>
                <a:latin typeface="Arial"/>
              </a:rPr>
              <a:t>•  Superdense coding</a:t>
            </a:r>
          </a:p>
          <a:p>
            <a:pPr>
              <a:spcAft>
                <a:spcPts val="1000"/>
              </a:spcAft>
            </a:pPr>
            <a:r>
              <a:rPr sz="1600">
                <a:solidFill>
                  <a:srgbClr val="161B26"/>
                </a:solidFill>
                <a:latin typeface="Arial"/>
              </a:rPr>
              <a:t>•  BB84 QKD</a:t>
            </a:r>
          </a:p>
          <a:p>
            <a:pPr>
              <a:spcAft>
                <a:spcPts val="1000"/>
              </a:spcAft>
            </a:pPr>
            <a:r>
              <a:rPr sz="1600">
                <a:solidFill>
                  <a:srgbClr val="161B26"/>
                </a:solidFill>
                <a:latin typeface="Arial"/>
              </a:rPr>
              <a:t>•  Eavesdropping detection</a:t>
            </a:r>
          </a:p>
          <a:p>
            <a:pPr>
              <a:spcAft>
                <a:spcPts val="1000"/>
              </a:spcAft>
            </a:pPr>
            <a:r>
              <a:rPr sz="1600">
                <a:solidFill>
                  <a:srgbClr val="161B26"/>
                </a:solidFill>
                <a:latin typeface="Arial"/>
              </a:rPr>
              <a:t>•  CHSH game</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61</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05</a:t>
            </a:r>
          </a:p>
        </p:txBody>
      </p:sp>
      <p:sp>
        <p:nvSpPr>
          <p:cNvPr id="6" name="TextBox 5"/>
          <p:cNvSpPr txBox="1"/>
          <p:nvPr/>
        </p:nvSpPr>
        <p:spPr>
          <a:xfrm>
            <a:off x="1143000" y="2743200"/>
            <a:ext cx="9509760" cy="1463040"/>
          </a:xfrm>
          <a:prstGeom prst="rect">
            <a:avLst/>
          </a:prstGeom>
          <a:noFill/>
        </p:spPr>
        <p:txBody>
          <a:bodyPr wrap="square" anchor="t">
            <a:spAutoFit/>
          </a:bodyPr>
          <a:lstStyle/>
          <a:p>
            <a:pPr algn="l">
              <a:spcAft>
                <a:spcPts val="400"/>
              </a:spcAft>
            </a:pPr>
            <a:r>
              <a:rPr sz="4000" b="1">
                <a:solidFill>
                  <a:srgbClr val="161B26"/>
                </a:solidFill>
                <a:latin typeface="Arial"/>
              </a:rPr>
              <a:t>Quantum Algorithms</a:t>
            </a:r>
          </a:p>
        </p:txBody>
      </p:sp>
      <p:sp>
        <p:nvSpPr>
          <p:cNvPr id="7" name="TextBox 6"/>
          <p:cNvSpPr txBox="1"/>
          <p:nvPr/>
        </p:nvSpPr>
        <p:spPr>
          <a:xfrm>
            <a:off x="1161288" y="4251960"/>
            <a:ext cx="9692640" cy="822960"/>
          </a:xfrm>
          <a:prstGeom prst="rect">
            <a:avLst/>
          </a:prstGeom>
          <a:noFill/>
        </p:spPr>
        <p:txBody>
          <a:bodyPr wrap="square" anchor="t">
            <a:spAutoFit/>
          </a:bodyPr>
          <a:lstStyle/>
          <a:p>
            <a:pPr algn="l">
              <a:spcAft>
                <a:spcPts val="400"/>
              </a:spcAft>
            </a:pPr>
            <a:r>
              <a:rPr sz="1500" b="0">
                <a:solidFill>
                  <a:srgbClr val="5B6372"/>
                </a:solidFill>
                <a:latin typeface="Arial"/>
              </a:rPr>
              <a:t>Deutsch · Deutsch-Jozsa · Bernstein-Vazirani · Grover · Quantum Fourier Transform</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05</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62</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MAPS TO LO6, LO7</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Key Concepts — Quantum Algorithms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The query (oracle) model</a:t>
            </a:r>
          </a:p>
          <a:p>
            <a:pPr algn="l">
              <a:spcAft>
                <a:spcPts val="300"/>
              </a:spcAft>
            </a:pPr>
            <a:r>
              <a:rPr sz="1100" b="0">
                <a:solidFill>
                  <a:srgbClr val="5B6372"/>
                </a:solidFill>
                <a:latin typeface="Arial"/>
              </a:rPr>
              <a:t>Algorithms are compared by how many times they query a black-box function — the standard measure of quantum advantage.</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Deutsch algorithm</a:t>
            </a:r>
          </a:p>
          <a:p>
            <a:pPr algn="l">
              <a:spcAft>
                <a:spcPts val="300"/>
              </a:spcAft>
            </a:pPr>
            <a:r>
              <a:rPr sz="1100" b="0">
                <a:solidFill>
                  <a:srgbClr val="5B6372"/>
                </a:solidFill>
                <a:latin typeface="Arial"/>
              </a:rPr>
              <a:t>Decides whether f:{0,1}→{0,1} is constant or balanced with ONE query; classically two are required.</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3429000"/>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Deutsch-Jozsa</a:t>
            </a:r>
          </a:p>
          <a:p>
            <a:pPr algn="l">
              <a:spcAft>
                <a:spcPts val="300"/>
              </a:spcAft>
            </a:pPr>
            <a:r>
              <a:rPr sz="1100" b="0">
                <a:solidFill>
                  <a:srgbClr val="5B6372"/>
                </a:solidFill>
                <a:latin typeface="Arial"/>
              </a:rPr>
              <a:t>Extends the idea to n bits — one query versus 2ⁿ⁻¹+1 classical queries in the worst case: exponential separation.</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3429000"/>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Bernstein-Vazirani</a:t>
            </a:r>
          </a:p>
          <a:p>
            <a:pPr algn="l">
              <a:spcAft>
                <a:spcPts val="300"/>
              </a:spcAft>
            </a:pPr>
            <a:r>
              <a:rPr sz="1100" b="0">
                <a:solidFill>
                  <a:srgbClr val="5B6372"/>
                </a:solidFill>
                <a:latin typeface="Arial"/>
              </a:rPr>
              <a:t>Recovers an n-bit hidden string s from f(x) = s·x (mod 2) in a single query instead of n.</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5</a:t>
            </a:r>
          </a:p>
        </p:txBody>
      </p:sp>
      <p:sp>
        <p:nvSpPr>
          <p:cNvPr id="31" name="TextBox 30"/>
          <p:cNvSpPr txBox="1"/>
          <p:nvPr/>
        </p:nvSpPr>
        <p:spPr>
          <a:xfrm>
            <a:off x="1764792" y="4965192"/>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Grover search</a:t>
            </a:r>
          </a:p>
          <a:p>
            <a:pPr algn="l">
              <a:spcAft>
                <a:spcPts val="300"/>
              </a:spcAft>
            </a:pPr>
            <a:r>
              <a:rPr sz="1100" b="0">
                <a:solidFill>
                  <a:srgbClr val="5B6372"/>
                </a:solidFill>
                <a:latin typeface="Arial"/>
              </a:rPr>
              <a:t>Amplitude amplification finds a marked item in an unstructured database in O(√N) instead of O(N) — a quadratic speedup.</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6</a:t>
            </a:r>
          </a:p>
        </p:txBody>
      </p:sp>
      <p:sp>
        <p:nvSpPr>
          <p:cNvPr id="36" name="TextBox 35"/>
          <p:cNvSpPr txBox="1"/>
          <p:nvPr/>
        </p:nvSpPr>
        <p:spPr>
          <a:xfrm>
            <a:off x="7219188" y="4965192"/>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Quantum Fourier Transform</a:t>
            </a:r>
          </a:p>
          <a:p>
            <a:pPr algn="l">
              <a:spcAft>
                <a:spcPts val="300"/>
              </a:spcAft>
            </a:pPr>
            <a:r>
              <a:rPr sz="1100" b="0">
                <a:solidFill>
                  <a:srgbClr val="5B6372"/>
                </a:solidFill>
                <a:latin typeface="Arial"/>
              </a:rPr>
              <a:t>The quantum analogue of the DFT runs in O(n²) gates and underpins phase estimation and Shor's algorithm.</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63</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WHY THESE ALGORITHMS MATTER</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Quantum Query Advantage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algorithm-speedups.png"/>
          <p:cNvPicPr>
            <a:picLocks noChangeAspect="1"/>
          </p:cNvPicPr>
          <p:nvPr/>
        </p:nvPicPr>
        <p:blipFill>
          <a:blip r:embed="rId2"/>
          <a:stretch>
            <a:fillRect/>
          </a:stretch>
        </p:blipFill>
        <p:spPr>
          <a:xfrm>
            <a:off x="1798928" y="1755648"/>
            <a:ext cx="8591096" cy="3950207"/>
          </a:xfrm>
          <a:prstGeom prst="rect">
            <a:avLst/>
          </a:prstGeom>
        </p:spPr>
      </p:pic>
      <p:sp>
        <p:nvSpPr>
          <p:cNvPr id="8" name="Rectangle 7"/>
          <p:cNvSpPr/>
          <p:nvPr/>
        </p:nvSpPr>
        <p:spPr>
          <a:xfrm>
            <a:off x="777240" y="5870448"/>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5870448"/>
            <a:ext cx="10241280" cy="457200"/>
          </a:xfrm>
          <a:prstGeom prst="rect">
            <a:avLst/>
          </a:prstGeom>
          <a:noFill/>
        </p:spPr>
        <p:txBody>
          <a:bodyPr wrap="square" anchor="ctr">
            <a:spAutoFit/>
          </a:bodyPr>
          <a:lstStyle/>
          <a:p>
            <a:pPr algn="ctr">
              <a:spcAft>
                <a:spcPts val="400"/>
              </a:spcAft>
            </a:pPr>
            <a:r>
              <a:rPr sz="1350" b="0">
                <a:solidFill>
                  <a:srgbClr val="161B26"/>
                </a:solidFill>
                <a:latin typeface="Arial"/>
              </a:rPr>
              <a:t>Query counts are illustrative — the point is the SCALING, not the absolute numbers.</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64</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HOW GROVER ACTUALLY WORKS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Grover — Amplitude Amplification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grover-amplification.png"/>
          <p:cNvPicPr>
            <a:picLocks noChangeAspect="1"/>
          </p:cNvPicPr>
          <p:nvPr/>
        </p:nvPicPr>
        <p:blipFill>
          <a:blip r:embed="rId2"/>
          <a:stretch>
            <a:fillRect/>
          </a:stretch>
        </p:blipFill>
        <p:spPr>
          <a:xfrm>
            <a:off x="777240" y="2930433"/>
            <a:ext cx="6400800" cy="1911534"/>
          </a:xfrm>
          <a:prstGeom prst="rect">
            <a:avLst/>
          </a:prstGeom>
        </p:spPr>
      </p:pic>
      <p:sp>
        <p:nvSpPr>
          <p:cNvPr id="8" name="Rectangle 7"/>
          <p:cNvSpPr/>
          <p:nvPr/>
        </p:nvSpPr>
        <p:spPr>
          <a:xfrm>
            <a:off x="7452360" y="1783080"/>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452360" y="1783080"/>
            <a:ext cx="82296" cy="9372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08392" y="1783080"/>
            <a:ext cx="3502152" cy="937260"/>
          </a:xfrm>
          <a:prstGeom prst="rect">
            <a:avLst/>
          </a:prstGeom>
          <a:noFill/>
        </p:spPr>
        <p:txBody>
          <a:bodyPr wrap="square" anchor="ctr">
            <a:spAutoFit/>
          </a:bodyPr>
          <a:lstStyle/>
          <a:p>
            <a:pPr algn="l">
              <a:spcAft>
                <a:spcPts val="300"/>
              </a:spcAft>
            </a:pPr>
            <a:r>
              <a:rPr sz="1400" b="1">
                <a:solidFill>
                  <a:srgbClr val="1F6FEB"/>
                </a:solidFill>
                <a:latin typeface="Arial"/>
              </a:rPr>
              <a:t>Start</a:t>
            </a:r>
          </a:p>
          <a:p>
            <a:pPr algn="l">
              <a:spcAft>
                <a:spcPts val="300"/>
              </a:spcAft>
            </a:pPr>
            <a:r>
              <a:rPr sz="1200" b="0">
                <a:solidFill>
                  <a:srgbClr val="161B26"/>
                </a:solidFill>
                <a:latin typeface="Arial"/>
              </a:rPr>
              <a:t>All N states share an equal amplitude of 1/√N.</a:t>
            </a:r>
          </a:p>
        </p:txBody>
      </p:sp>
      <p:sp>
        <p:nvSpPr>
          <p:cNvPr id="11" name="Rectangle 10"/>
          <p:cNvSpPr/>
          <p:nvPr/>
        </p:nvSpPr>
        <p:spPr>
          <a:xfrm>
            <a:off x="7452360" y="2903220"/>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452360" y="2903220"/>
            <a:ext cx="82296" cy="9372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08392" y="2903220"/>
            <a:ext cx="3502152" cy="937260"/>
          </a:xfrm>
          <a:prstGeom prst="rect">
            <a:avLst/>
          </a:prstGeom>
          <a:noFill/>
        </p:spPr>
        <p:txBody>
          <a:bodyPr wrap="square" anchor="ctr">
            <a:spAutoFit/>
          </a:bodyPr>
          <a:lstStyle/>
          <a:p>
            <a:pPr algn="l">
              <a:spcAft>
                <a:spcPts val="300"/>
              </a:spcAft>
            </a:pPr>
            <a:r>
              <a:rPr sz="1400" b="1">
                <a:solidFill>
                  <a:srgbClr val="10B981"/>
                </a:solidFill>
                <a:latin typeface="Arial"/>
              </a:rPr>
              <a:t>Oracle</a:t>
            </a:r>
          </a:p>
          <a:p>
            <a:pPr algn="l">
              <a:spcAft>
                <a:spcPts val="300"/>
              </a:spcAft>
            </a:pPr>
            <a:r>
              <a:rPr sz="1200" b="0">
                <a:solidFill>
                  <a:srgbClr val="161B26"/>
                </a:solidFill>
                <a:latin typeface="Arial"/>
              </a:rPr>
              <a:t>Flips the SIGN of the marked state — invisible to measurement so far.</a:t>
            </a:r>
          </a:p>
        </p:txBody>
      </p:sp>
      <p:sp>
        <p:nvSpPr>
          <p:cNvPr id="14" name="Rectangle 13"/>
          <p:cNvSpPr/>
          <p:nvPr/>
        </p:nvSpPr>
        <p:spPr>
          <a:xfrm>
            <a:off x="7452360" y="4023360"/>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452360" y="4023360"/>
            <a:ext cx="82296" cy="9372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08392" y="4023360"/>
            <a:ext cx="3502152" cy="937260"/>
          </a:xfrm>
          <a:prstGeom prst="rect">
            <a:avLst/>
          </a:prstGeom>
          <a:noFill/>
        </p:spPr>
        <p:txBody>
          <a:bodyPr wrap="square" anchor="ctr">
            <a:spAutoFit/>
          </a:bodyPr>
          <a:lstStyle/>
          <a:p>
            <a:pPr algn="l">
              <a:spcAft>
                <a:spcPts val="300"/>
              </a:spcAft>
            </a:pPr>
            <a:r>
              <a:rPr sz="1400" b="1">
                <a:solidFill>
                  <a:srgbClr val="7C3AED"/>
                </a:solidFill>
                <a:latin typeface="Arial"/>
              </a:rPr>
              <a:t>Diffuser</a:t>
            </a:r>
          </a:p>
          <a:p>
            <a:pPr algn="l">
              <a:spcAft>
                <a:spcPts val="300"/>
              </a:spcAft>
            </a:pPr>
            <a:r>
              <a:rPr sz="1200" b="0">
                <a:solidFill>
                  <a:srgbClr val="161B26"/>
                </a:solidFill>
                <a:latin typeface="Arial"/>
              </a:rPr>
              <a:t>Reflects every amplitude about the mean, growing the marked one.</a:t>
            </a:r>
          </a:p>
        </p:txBody>
      </p:sp>
      <p:sp>
        <p:nvSpPr>
          <p:cNvPr id="17" name="Rectangle 16"/>
          <p:cNvSpPr/>
          <p:nvPr/>
        </p:nvSpPr>
        <p:spPr>
          <a:xfrm>
            <a:off x="7452360" y="5143500"/>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452360" y="5143500"/>
            <a:ext cx="82296" cy="9372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08392" y="5143500"/>
            <a:ext cx="3502152" cy="937260"/>
          </a:xfrm>
          <a:prstGeom prst="rect">
            <a:avLst/>
          </a:prstGeom>
          <a:noFill/>
        </p:spPr>
        <p:txBody>
          <a:bodyPr wrap="square" anchor="ctr">
            <a:spAutoFit/>
          </a:bodyPr>
          <a:lstStyle/>
          <a:p>
            <a:pPr algn="l">
              <a:spcAft>
                <a:spcPts val="300"/>
              </a:spcAft>
            </a:pPr>
            <a:r>
              <a:rPr sz="1400" b="1">
                <a:solidFill>
                  <a:srgbClr val="F59E0B"/>
                </a:solidFill>
                <a:latin typeface="Arial"/>
              </a:rPr>
              <a:t>Repeat</a:t>
            </a:r>
          </a:p>
          <a:p>
            <a:pPr algn="l">
              <a:spcAft>
                <a:spcPts val="300"/>
              </a:spcAft>
            </a:pPr>
            <a:r>
              <a:rPr sz="1200" b="0">
                <a:solidFill>
                  <a:srgbClr val="161B26"/>
                </a:solidFill>
                <a:latin typeface="Arial"/>
              </a:rPr>
              <a:t>About (π/4)√N times — then measure.</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65</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THE SCALING</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Grover's Quadratic Speedup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grover-scaling.png"/>
          <p:cNvPicPr>
            <a:picLocks noChangeAspect="1"/>
          </p:cNvPicPr>
          <p:nvPr/>
        </p:nvPicPr>
        <p:blipFill>
          <a:blip r:embed="rId2"/>
          <a:stretch>
            <a:fillRect/>
          </a:stretch>
        </p:blipFill>
        <p:spPr>
          <a:xfrm>
            <a:off x="777240" y="2309406"/>
            <a:ext cx="6400800" cy="3153588"/>
          </a:xfrm>
          <a:prstGeom prst="rect">
            <a:avLst/>
          </a:prstGeom>
        </p:spPr>
      </p:pic>
      <p:sp>
        <p:nvSpPr>
          <p:cNvPr id="8" name="Rectangle 7"/>
          <p:cNvSpPr/>
          <p:nvPr/>
        </p:nvSpPr>
        <p:spPr>
          <a:xfrm>
            <a:off x="7452360" y="1783080"/>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452360" y="1783080"/>
            <a:ext cx="82296" cy="9372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08392" y="1783080"/>
            <a:ext cx="3502152" cy="937260"/>
          </a:xfrm>
          <a:prstGeom prst="rect">
            <a:avLst/>
          </a:prstGeom>
          <a:noFill/>
        </p:spPr>
        <p:txBody>
          <a:bodyPr wrap="square" anchor="ctr">
            <a:spAutoFit/>
          </a:bodyPr>
          <a:lstStyle/>
          <a:p>
            <a:pPr algn="l">
              <a:spcAft>
                <a:spcPts val="300"/>
              </a:spcAft>
            </a:pPr>
            <a:r>
              <a:rPr sz="1400" b="1">
                <a:solidFill>
                  <a:srgbClr val="1F6FEB"/>
                </a:solidFill>
                <a:latin typeface="Arial"/>
              </a:rPr>
              <a:t>Classical</a:t>
            </a:r>
          </a:p>
          <a:p>
            <a:pPr algn="l">
              <a:spcAft>
                <a:spcPts val="300"/>
              </a:spcAft>
            </a:pPr>
            <a:r>
              <a:rPr sz="1200" b="0">
                <a:solidFill>
                  <a:srgbClr val="161B26"/>
                </a:solidFill>
                <a:latin typeface="Arial"/>
              </a:rPr>
              <a:t>Checking an unstructured list takes O(N) queries.</a:t>
            </a:r>
          </a:p>
        </p:txBody>
      </p:sp>
      <p:sp>
        <p:nvSpPr>
          <p:cNvPr id="11" name="Rectangle 10"/>
          <p:cNvSpPr/>
          <p:nvPr/>
        </p:nvSpPr>
        <p:spPr>
          <a:xfrm>
            <a:off x="7452360" y="2903220"/>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452360" y="2903220"/>
            <a:ext cx="82296" cy="9372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08392" y="2903220"/>
            <a:ext cx="3502152" cy="937260"/>
          </a:xfrm>
          <a:prstGeom prst="rect">
            <a:avLst/>
          </a:prstGeom>
          <a:noFill/>
        </p:spPr>
        <p:txBody>
          <a:bodyPr wrap="square" anchor="ctr">
            <a:spAutoFit/>
          </a:bodyPr>
          <a:lstStyle/>
          <a:p>
            <a:pPr algn="l">
              <a:spcAft>
                <a:spcPts val="300"/>
              </a:spcAft>
            </a:pPr>
            <a:r>
              <a:rPr sz="1400" b="1">
                <a:solidFill>
                  <a:srgbClr val="10B981"/>
                </a:solidFill>
                <a:latin typeface="Arial"/>
              </a:rPr>
              <a:t>Grover</a:t>
            </a:r>
          </a:p>
          <a:p>
            <a:pPr algn="l">
              <a:spcAft>
                <a:spcPts val="300"/>
              </a:spcAft>
            </a:pPr>
            <a:r>
              <a:rPr sz="1200" b="0">
                <a:solidFill>
                  <a:srgbClr val="161B26"/>
                </a:solidFill>
                <a:latin typeface="Arial"/>
              </a:rPr>
              <a:t>Finds the marked item in O(√N) queries.</a:t>
            </a:r>
          </a:p>
        </p:txBody>
      </p:sp>
      <p:sp>
        <p:nvSpPr>
          <p:cNvPr id="14" name="Rectangle 13"/>
          <p:cNvSpPr/>
          <p:nvPr/>
        </p:nvSpPr>
        <p:spPr>
          <a:xfrm>
            <a:off x="7452360" y="4023360"/>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452360" y="4023360"/>
            <a:ext cx="82296" cy="9372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08392" y="4023360"/>
            <a:ext cx="3502152" cy="937260"/>
          </a:xfrm>
          <a:prstGeom prst="rect">
            <a:avLst/>
          </a:prstGeom>
          <a:noFill/>
        </p:spPr>
        <p:txBody>
          <a:bodyPr wrap="square" anchor="ctr">
            <a:spAutoFit/>
          </a:bodyPr>
          <a:lstStyle/>
          <a:p>
            <a:pPr algn="l">
              <a:spcAft>
                <a:spcPts val="300"/>
              </a:spcAft>
            </a:pPr>
            <a:r>
              <a:rPr sz="1400" b="1">
                <a:solidFill>
                  <a:srgbClr val="7C3AED"/>
                </a:solidFill>
                <a:latin typeface="Arial"/>
              </a:rPr>
              <a:t>1M items</a:t>
            </a:r>
          </a:p>
          <a:p>
            <a:pPr algn="l">
              <a:spcAft>
                <a:spcPts val="300"/>
              </a:spcAft>
            </a:pPr>
            <a:r>
              <a:rPr sz="1200" b="0">
                <a:solidFill>
                  <a:srgbClr val="161B26"/>
                </a:solidFill>
                <a:latin typeface="Arial"/>
              </a:rPr>
              <a:t>1,000,000 checks become roughly 1,000.</a:t>
            </a:r>
          </a:p>
        </p:txBody>
      </p:sp>
      <p:sp>
        <p:nvSpPr>
          <p:cNvPr id="17" name="Rectangle 16"/>
          <p:cNvSpPr/>
          <p:nvPr/>
        </p:nvSpPr>
        <p:spPr>
          <a:xfrm>
            <a:off x="7452360" y="5143500"/>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452360" y="5143500"/>
            <a:ext cx="82296" cy="9372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08392" y="5143500"/>
            <a:ext cx="3502152" cy="937260"/>
          </a:xfrm>
          <a:prstGeom prst="rect">
            <a:avLst/>
          </a:prstGeom>
          <a:noFill/>
        </p:spPr>
        <p:txBody>
          <a:bodyPr wrap="square" anchor="ctr">
            <a:spAutoFit/>
          </a:bodyPr>
          <a:lstStyle/>
          <a:p>
            <a:pPr algn="l">
              <a:spcAft>
                <a:spcPts val="300"/>
              </a:spcAft>
            </a:pPr>
            <a:r>
              <a:rPr sz="1400" b="1">
                <a:solidFill>
                  <a:srgbClr val="F59E0B"/>
                </a:solidFill>
                <a:latin typeface="Arial"/>
              </a:rPr>
              <a:t>Not exponential</a:t>
            </a:r>
          </a:p>
          <a:p>
            <a:pPr algn="l">
              <a:spcAft>
                <a:spcPts val="300"/>
              </a:spcAft>
            </a:pPr>
            <a:r>
              <a:rPr sz="1200" b="0">
                <a:solidFill>
                  <a:srgbClr val="161B26"/>
                </a:solidFill>
                <a:latin typeface="Arial"/>
              </a:rPr>
              <a:t>A real speedup, but far smaller than Shor's.</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66</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WHAT YOU'LL DO</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Hands-On Activities — Quantum Algorithms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Activities 9–10</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a:solidFill>
                  <a:srgbClr val="161B26"/>
                </a:solidFill>
                <a:latin typeface="Arial"/>
              </a:rPr>
              <a:t>•  Deutsch and Deutsch-Jozsa Algorithms</a:t>
            </a:r>
          </a:p>
          <a:p>
            <a:pPr>
              <a:spcAft>
                <a:spcPts val="900"/>
              </a:spcAft>
            </a:pPr>
            <a:r>
              <a:rPr sz="1400">
                <a:solidFill>
                  <a:srgbClr val="161B26"/>
                </a:solidFill>
                <a:latin typeface="Arial"/>
              </a:rPr>
              <a:t>•  Bernstein-Vazirani Algorithm</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Activities 11–12</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a:solidFill>
                  <a:srgbClr val="161B26"/>
                </a:solidFill>
                <a:latin typeface="Arial"/>
              </a:rPr>
              <a:t>•  Grover's Search Algorithm</a:t>
            </a:r>
          </a:p>
          <a:p>
            <a:pPr>
              <a:spcAft>
                <a:spcPts val="900"/>
              </a:spcAft>
            </a:pPr>
            <a:r>
              <a:rPr sz="1400">
                <a:solidFill>
                  <a:srgbClr val="161B26"/>
                </a:solidFill>
                <a:latin typeface="Arial"/>
              </a:rPr>
              <a:t>•  Quantum Fourier Transform</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a:solidFill>
                  <a:srgbClr val="161B26"/>
                </a:solidFill>
                <a:latin typeface="Arial"/>
              </a:rPr>
              <a:t>•  —</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67</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05 · HANDS-ON ACTIVITY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Deutsch and Deutsch-Jozsa Algorithms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646920" y="457200"/>
            <a:ext cx="17830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57200"/>
            <a:ext cx="1783080" cy="457200"/>
          </a:xfrm>
          <a:prstGeom prst="rect">
            <a:avLst/>
          </a:prstGeom>
          <a:noFill/>
        </p:spPr>
        <p:txBody>
          <a:bodyPr wrap="square" anchor="ctr">
            <a:spAutoFit/>
          </a:bodyPr>
          <a:lstStyle/>
          <a:p>
            <a:pPr algn="ctr">
              <a:spcAft>
                <a:spcPts val="400"/>
              </a:spcAft>
            </a:pPr>
            <a:r>
              <a:rPr sz="1300" b="1">
                <a:solidFill>
                  <a:srgbClr val="FFFFFF"/>
                </a:solidFill>
                <a:latin typeface="Arial"/>
              </a:rPr>
              <a:t>ACTIVITY 9</a:t>
            </a:r>
          </a:p>
        </p:txBody>
      </p:sp>
      <p:sp>
        <p:nvSpPr>
          <p:cNvPr id="9" name="TextBox 8"/>
          <p:cNvSpPr txBox="1"/>
          <p:nvPr/>
        </p:nvSpPr>
        <p:spPr>
          <a:xfrm>
            <a:off x="777240" y="1828800"/>
            <a:ext cx="10607040" cy="1051560"/>
          </a:xfrm>
          <a:prstGeom prst="rect">
            <a:avLst/>
          </a:prstGeom>
          <a:noFill/>
        </p:spPr>
        <p:txBody>
          <a:bodyPr wrap="square" anchor="t">
            <a:spAutoFit/>
          </a:bodyPr>
          <a:lstStyle/>
          <a:p>
            <a:pPr algn="l">
              <a:spcAft>
                <a:spcPts val="400"/>
              </a:spcAft>
            </a:pPr>
            <a:r>
              <a:rPr sz="1700" b="0">
                <a:solidFill>
                  <a:srgbClr val="161B26"/>
                </a:solidFill>
                <a:latin typeface="Arial"/>
              </a:rPr>
              <a:t>Implement the first algorithms to show a provable quantum advantage: decide whether a black-box function is constant or balanced with a single query, then generalise from one input bit to n.</a:t>
            </a:r>
          </a:p>
        </p:txBody>
      </p:sp>
      <p:sp>
        <p:nvSpPr>
          <p:cNvPr id="10" name="Rectangle 9"/>
          <p:cNvSpPr/>
          <p:nvPr/>
        </p:nvSpPr>
        <p:spPr>
          <a:xfrm>
            <a:off x="777240" y="2971800"/>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2971800"/>
            <a:ext cx="10241280" cy="457200"/>
          </a:xfrm>
          <a:prstGeom prst="rect">
            <a:avLst/>
          </a:prstGeom>
          <a:noFill/>
        </p:spPr>
        <p:txBody>
          <a:bodyPr wrap="square" anchor="ctr">
            <a:spAutoFit/>
          </a:bodyPr>
          <a:lstStyle/>
          <a:p>
            <a:pPr algn="l">
              <a:spcAft>
                <a:spcPts val="400"/>
              </a:spcAft>
            </a:pPr>
            <a:r>
              <a:rPr sz="1100" b="1">
                <a:solidFill>
                  <a:srgbClr val="1F6FEB"/>
                </a:solidFill>
                <a:latin typeface="Arial"/>
              </a:rPr>
              <a:t>MAPS TO  </a:t>
            </a:r>
            <a:r>
              <a:rPr sz="1250" b="0">
                <a:solidFill>
                  <a:srgbClr val="161B26"/>
                </a:solidFill>
                <a:latin typeface="Arial"/>
              </a:rPr>
              <a:t>LO6 — Establish guidelines for selecting quantum computing algorithms</a:t>
            </a:r>
          </a:p>
        </p:txBody>
      </p:sp>
      <p:sp>
        <p:nvSpPr>
          <p:cNvPr id="12" name="Rectangle 11"/>
          <p:cNvSpPr/>
          <p:nvPr/>
        </p:nvSpPr>
        <p:spPr>
          <a:xfrm>
            <a:off x="777240" y="3611880"/>
            <a:ext cx="10634472" cy="1234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1560" y="3767328"/>
            <a:ext cx="10058400" cy="365760"/>
          </a:xfrm>
          <a:prstGeom prst="rect">
            <a:avLst/>
          </a:prstGeom>
          <a:noFill/>
        </p:spPr>
        <p:txBody>
          <a:bodyPr wrap="square" anchor="t">
            <a:spAutoFit/>
          </a:bodyPr>
          <a:lstStyle/>
          <a:p>
            <a:pPr algn="l">
              <a:spcAft>
                <a:spcPts val="400"/>
              </a:spcAft>
            </a:pPr>
            <a:r>
              <a:rPr sz="1200" b="1">
                <a:solidFill>
                  <a:srgbClr val="127A3E"/>
                </a:solidFill>
                <a:latin typeface="Arial"/>
              </a:rPr>
              <a:t>YOU'LL PRODUCE</a:t>
            </a:r>
          </a:p>
        </p:txBody>
      </p:sp>
      <p:sp>
        <p:nvSpPr>
          <p:cNvPr id="14" name="TextBox 13"/>
          <p:cNvSpPr txBox="1"/>
          <p:nvPr/>
        </p:nvSpPr>
        <p:spPr>
          <a:xfrm>
            <a:off x="1051560" y="4133087"/>
            <a:ext cx="10058400" cy="640080"/>
          </a:xfrm>
          <a:prstGeom prst="rect">
            <a:avLst/>
          </a:prstGeom>
          <a:noFill/>
        </p:spPr>
        <p:txBody>
          <a:bodyPr wrap="square" anchor="t">
            <a:spAutoFit/>
          </a:bodyPr>
          <a:lstStyle/>
          <a:p>
            <a:pPr algn="l">
              <a:spcAft>
                <a:spcPts val="400"/>
              </a:spcAft>
            </a:pPr>
            <a:r>
              <a:rPr sz="1550" b="1">
                <a:solidFill>
                  <a:srgbClr val="161B26"/>
                </a:solidFill>
                <a:latin typeface="Arial"/>
              </a:rPr>
              <a:t>Deutsch and Deutsch-Jozsa circuits with all four oracle types, run on IBM Quantum hardware, correctly classifying each function in one query.</a:t>
            </a:r>
          </a:p>
        </p:txBody>
      </p:sp>
      <p:sp>
        <p:nvSpPr>
          <p:cNvPr id="15" name="Rectangle 14"/>
          <p:cNvSpPr/>
          <p:nvPr/>
        </p:nvSpPr>
        <p:spPr>
          <a:xfrm>
            <a:off x="777240" y="5029200"/>
            <a:ext cx="10634472"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5138928"/>
            <a:ext cx="10058400" cy="365760"/>
          </a:xfrm>
          <a:prstGeom prst="rect">
            <a:avLst/>
          </a:prstGeom>
          <a:noFill/>
        </p:spPr>
        <p:txBody>
          <a:bodyPr wrap="square" anchor="t">
            <a:spAutoFit/>
          </a:bodyPr>
          <a:lstStyle/>
          <a:p>
            <a:pPr algn="l">
              <a:spcAft>
                <a:spcPts val="400"/>
              </a:spcAft>
            </a:pPr>
            <a:r>
              <a:rPr sz="1200" b="1">
                <a:solidFill>
                  <a:srgbClr val="5B6372"/>
                </a:solidFill>
                <a:latin typeface="Arial"/>
              </a:rPr>
              <a:t>Tools:  </a:t>
            </a:r>
            <a:r>
              <a:rPr sz="1200" b="0">
                <a:solidFill>
                  <a:srgbClr val="5B6372"/>
                </a:solidFill>
                <a:latin typeface="Arial"/>
              </a:rPr>
              <a:t>Qiskit 2.x, IBM Quantum Runtime, OpenQASM</a:t>
            </a:r>
          </a:p>
        </p:txBody>
      </p:sp>
      <p:sp>
        <p:nvSpPr>
          <p:cNvPr id="17" name="TextBox 16"/>
          <p:cNvSpPr txBox="1"/>
          <p:nvPr/>
        </p:nvSpPr>
        <p:spPr>
          <a:xfrm>
            <a:off x="1051560" y="5504688"/>
            <a:ext cx="10058400" cy="365760"/>
          </a:xfrm>
          <a:prstGeom prst="rect">
            <a:avLst/>
          </a:prstGeom>
          <a:noFill/>
        </p:spPr>
        <p:txBody>
          <a:bodyPr wrap="square" anchor="t">
            <a:spAutoFit/>
          </a:bodyPr>
          <a:lstStyle/>
          <a:p>
            <a:pPr algn="l">
              <a:spcAft>
                <a:spcPts val="400"/>
              </a:spcAft>
            </a:pPr>
            <a:r>
              <a:rPr sz="1200" b="1">
                <a:solidFill>
                  <a:srgbClr val="1F6FEB"/>
                </a:solidFill>
                <a:latin typeface="Arial"/>
              </a:rPr>
              <a:t>Full step-by-step guide:  </a:t>
            </a:r>
            <a:r>
              <a:rPr sz="1200" b="0">
                <a:solidFill>
                  <a:srgbClr val="161B26"/>
                </a:solidFill>
                <a:latin typeface="Arial"/>
              </a:rPr>
              <a:t>Learner Guide — Activity 9: Deutsch and Deutsch-Jozsa Algorithms</a:t>
            </a:r>
          </a:p>
        </p:txBody>
      </p:sp>
      <p:sp>
        <p:nvSpPr>
          <p:cNvPr id="18" name="TextBox 1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9" name="TextBox 1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0" name="TextBox 1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68</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9 · VERIFY &amp; DEBRIEF</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Deutsch and Deutsch-Jozsa Algorithms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21488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21488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1965960"/>
            <a:ext cx="10058400" cy="411480"/>
          </a:xfrm>
          <a:prstGeom prst="rect">
            <a:avLst/>
          </a:prstGeom>
          <a:noFill/>
        </p:spPr>
        <p:txBody>
          <a:bodyPr wrap="square" anchor="t">
            <a:spAutoFit/>
          </a:bodyPr>
          <a:lstStyle/>
          <a:p>
            <a:pPr algn="l">
              <a:spcAft>
                <a:spcPts val="400"/>
              </a:spcAft>
            </a:pPr>
            <a:r>
              <a:rPr sz="1300" b="1">
                <a:solidFill>
                  <a:srgbClr val="127A3E"/>
                </a:solidFill>
                <a:latin typeface="Arial"/>
              </a:rPr>
              <a:t>TEST IT — HOW YOU KNOW IT WORKED</a:t>
            </a:r>
          </a:p>
        </p:txBody>
      </p:sp>
      <p:sp>
        <p:nvSpPr>
          <p:cNvPr id="10" name="TextBox 9"/>
          <p:cNvSpPr txBox="1"/>
          <p:nvPr/>
        </p:nvSpPr>
        <p:spPr>
          <a:xfrm>
            <a:off x="1143000" y="2423160"/>
            <a:ext cx="10058400" cy="1371600"/>
          </a:xfrm>
          <a:prstGeom prst="rect">
            <a:avLst/>
          </a:prstGeom>
          <a:noFill/>
        </p:spPr>
        <p:txBody>
          <a:bodyPr wrap="square" anchor="t">
            <a:spAutoFit/>
          </a:bodyPr>
          <a:lstStyle/>
          <a:p>
            <a:pPr algn="l">
              <a:spcAft>
                <a:spcPts val="400"/>
              </a:spcAft>
            </a:pPr>
            <a:r>
              <a:rPr sz="1600" b="0">
                <a:solidFill>
                  <a:srgbClr val="161B26"/>
                </a:solidFill>
                <a:latin typeface="Arial"/>
              </a:rPr>
              <a:t>The Deutsch circuit measures 0 for both constant oracles and 1 for both balanced oracles; Deutsch-Jozsa returns the all-zeros string for a constant function and a non-zero string for a balanced function — each using exactly one oracle query.</a:t>
            </a:r>
          </a:p>
        </p:txBody>
      </p:sp>
      <p:sp>
        <p:nvSpPr>
          <p:cNvPr id="11" name="TextBox 10"/>
          <p:cNvSpPr txBox="1"/>
          <p:nvPr/>
        </p:nvSpPr>
        <p:spPr>
          <a:xfrm>
            <a:off x="777240" y="4096512"/>
            <a:ext cx="10607040" cy="365760"/>
          </a:xfrm>
          <a:prstGeom prst="rect">
            <a:avLst/>
          </a:prstGeom>
          <a:noFill/>
        </p:spPr>
        <p:txBody>
          <a:bodyPr wrap="square" anchor="t">
            <a:spAutoFit/>
          </a:bodyPr>
          <a:lstStyle/>
          <a:p>
            <a:pPr algn="l">
              <a:spcAft>
                <a:spcPts val="400"/>
              </a:spcAft>
            </a:pPr>
            <a:r>
              <a:rPr sz="1300" b="1">
                <a:solidFill>
                  <a:srgbClr val="1F6FEB"/>
                </a:solidFill>
                <a:latin typeface="Arial"/>
              </a:rPr>
              <a:t>DISCUSS WITH YOUR TRAINER</a:t>
            </a:r>
          </a:p>
        </p:txBody>
      </p:sp>
      <p:sp>
        <p:nvSpPr>
          <p:cNvPr id="12" name="Rectangle 11"/>
          <p:cNvSpPr/>
          <p:nvPr/>
        </p:nvSpPr>
        <p:spPr>
          <a:xfrm>
            <a:off x="777240" y="4480560"/>
            <a:ext cx="3447288" cy="1463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480560"/>
            <a:ext cx="3447288"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8" y="4663440"/>
            <a:ext cx="3044952" cy="457200"/>
          </a:xfrm>
          <a:prstGeom prst="rect">
            <a:avLst/>
          </a:prstGeom>
          <a:noFill/>
        </p:spPr>
        <p:txBody>
          <a:bodyPr wrap="square" anchor="t">
            <a:spAutoFit/>
          </a:bodyPr>
          <a:lstStyle/>
          <a:p>
            <a:pPr algn="l">
              <a:spcAft>
                <a:spcPts val="400"/>
              </a:spcAft>
            </a:pPr>
            <a:r>
              <a:rPr sz="1350" b="1">
                <a:solidFill>
                  <a:srgbClr val="1F6FEB"/>
                </a:solidFill>
                <a:latin typeface="Arial"/>
              </a:rPr>
              <a:t>What did the result show?</a:t>
            </a:r>
          </a:p>
        </p:txBody>
      </p:sp>
      <p:sp>
        <p:nvSpPr>
          <p:cNvPr id="15" name="TextBox 14"/>
          <p:cNvSpPr txBox="1"/>
          <p:nvPr/>
        </p:nvSpPr>
        <p:spPr>
          <a:xfrm>
            <a:off x="978408" y="5138928"/>
            <a:ext cx="3044952" cy="731520"/>
          </a:xfrm>
          <a:prstGeom prst="rect">
            <a:avLst/>
          </a:prstGeom>
          <a:noFill/>
        </p:spPr>
        <p:txBody>
          <a:bodyPr wrap="square" anchor="t">
            <a:spAutoFit/>
          </a:bodyPr>
          <a:lstStyle/>
          <a:p>
            <a:pPr algn="l">
              <a:spcAft>
                <a:spcPts val="400"/>
              </a:spcAft>
            </a:pPr>
            <a:r>
              <a:rPr sz="1200" b="0">
                <a:solidFill>
                  <a:srgbClr val="5B6372"/>
                </a:solidFill>
                <a:latin typeface="Arial"/>
              </a:rPr>
              <a:t>Restate the outcome in your own words.</a:t>
            </a:r>
          </a:p>
        </p:txBody>
      </p:sp>
      <p:sp>
        <p:nvSpPr>
          <p:cNvPr id="16" name="Rectangle 15"/>
          <p:cNvSpPr/>
          <p:nvPr/>
        </p:nvSpPr>
        <p:spPr>
          <a:xfrm>
            <a:off x="4370832" y="4480560"/>
            <a:ext cx="3447288" cy="1463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70832" y="4480560"/>
            <a:ext cx="344728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0" y="4663440"/>
            <a:ext cx="3044952" cy="457200"/>
          </a:xfrm>
          <a:prstGeom prst="rect">
            <a:avLst/>
          </a:prstGeom>
          <a:noFill/>
        </p:spPr>
        <p:txBody>
          <a:bodyPr wrap="square" anchor="t">
            <a:spAutoFit/>
          </a:bodyPr>
          <a:lstStyle/>
          <a:p>
            <a:pPr algn="l">
              <a:spcAft>
                <a:spcPts val="400"/>
              </a:spcAft>
            </a:pPr>
            <a:r>
              <a:rPr sz="1350" b="1">
                <a:solidFill>
                  <a:srgbClr val="10B981"/>
                </a:solidFill>
                <a:latin typeface="Arial"/>
              </a:rPr>
              <a:t>Why does it work?</a:t>
            </a:r>
          </a:p>
        </p:txBody>
      </p:sp>
      <p:sp>
        <p:nvSpPr>
          <p:cNvPr id="19" name="TextBox 18"/>
          <p:cNvSpPr txBox="1"/>
          <p:nvPr/>
        </p:nvSpPr>
        <p:spPr>
          <a:xfrm>
            <a:off x="4572000" y="5138928"/>
            <a:ext cx="3044952" cy="731520"/>
          </a:xfrm>
          <a:prstGeom prst="rect">
            <a:avLst/>
          </a:prstGeom>
          <a:noFill/>
        </p:spPr>
        <p:txBody>
          <a:bodyPr wrap="square" anchor="t">
            <a:spAutoFit/>
          </a:bodyPr>
          <a:lstStyle/>
          <a:p>
            <a:pPr algn="l">
              <a:spcAft>
                <a:spcPts val="400"/>
              </a:spcAft>
            </a:pPr>
            <a:r>
              <a:rPr sz="1200" b="0">
                <a:solidFill>
                  <a:srgbClr val="5B6372"/>
                </a:solidFill>
                <a:latin typeface="Arial"/>
              </a:rPr>
              <a:t>Name the quantum principle the activity relies on.</a:t>
            </a:r>
          </a:p>
        </p:txBody>
      </p:sp>
      <p:sp>
        <p:nvSpPr>
          <p:cNvPr id="20" name="Rectangle 19"/>
          <p:cNvSpPr/>
          <p:nvPr/>
        </p:nvSpPr>
        <p:spPr>
          <a:xfrm>
            <a:off x="7964424" y="4480560"/>
            <a:ext cx="3447288" cy="1463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964424" y="4480560"/>
            <a:ext cx="3447288"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65592" y="4663440"/>
            <a:ext cx="3044952" cy="457200"/>
          </a:xfrm>
          <a:prstGeom prst="rect">
            <a:avLst/>
          </a:prstGeom>
          <a:noFill/>
        </p:spPr>
        <p:txBody>
          <a:bodyPr wrap="square" anchor="t">
            <a:spAutoFit/>
          </a:bodyPr>
          <a:lstStyle/>
          <a:p>
            <a:pPr algn="l">
              <a:spcAft>
                <a:spcPts val="400"/>
              </a:spcAft>
            </a:pPr>
            <a:r>
              <a:rPr sz="1350" b="1">
                <a:solidFill>
                  <a:srgbClr val="7C3AED"/>
                </a:solidFill>
                <a:latin typeface="Arial"/>
              </a:rPr>
              <a:t>Where would you use it?</a:t>
            </a:r>
          </a:p>
        </p:txBody>
      </p:sp>
      <p:sp>
        <p:nvSpPr>
          <p:cNvPr id="23" name="TextBox 22"/>
          <p:cNvSpPr txBox="1"/>
          <p:nvPr/>
        </p:nvSpPr>
        <p:spPr>
          <a:xfrm>
            <a:off x="8165592" y="5138928"/>
            <a:ext cx="3044952" cy="731520"/>
          </a:xfrm>
          <a:prstGeom prst="rect">
            <a:avLst/>
          </a:prstGeom>
          <a:noFill/>
        </p:spPr>
        <p:txBody>
          <a:bodyPr wrap="square" anchor="t">
            <a:spAutoFit/>
          </a:bodyPr>
          <a:lstStyle/>
          <a:p>
            <a:pPr algn="l">
              <a:spcAft>
                <a:spcPts val="400"/>
              </a:spcAft>
            </a:pPr>
            <a:r>
              <a:rPr sz="1200" b="0">
                <a:solidFill>
                  <a:srgbClr val="5B6372"/>
                </a:solidFill>
                <a:latin typeface="Arial"/>
              </a:rPr>
              <a:t>Give one realistic application in your own field.</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69</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05 · HANDS-ON ACTIVITY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Bernstein-Vazirani Algorithm</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646920" y="457200"/>
            <a:ext cx="17830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57200"/>
            <a:ext cx="1783080" cy="457200"/>
          </a:xfrm>
          <a:prstGeom prst="rect">
            <a:avLst/>
          </a:prstGeom>
          <a:noFill/>
        </p:spPr>
        <p:txBody>
          <a:bodyPr wrap="square" anchor="ctr">
            <a:spAutoFit/>
          </a:bodyPr>
          <a:lstStyle/>
          <a:p>
            <a:pPr algn="ctr">
              <a:spcAft>
                <a:spcPts val="400"/>
              </a:spcAft>
            </a:pPr>
            <a:r>
              <a:rPr sz="1300" b="1">
                <a:solidFill>
                  <a:srgbClr val="FFFFFF"/>
                </a:solidFill>
                <a:latin typeface="Arial"/>
              </a:rPr>
              <a:t>ACTIVITY 10</a:t>
            </a:r>
          </a:p>
        </p:txBody>
      </p:sp>
      <p:sp>
        <p:nvSpPr>
          <p:cNvPr id="9" name="TextBox 8"/>
          <p:cNvSpPr txBox="1"/>
          <p:nvPr/>
        </p:nvSpPr>
        <p:spPr>
          <a:xfrm>
            <a:off x="777240" y="1828800"/>
            <a:ext cx="10607040" cy="1051560"/>
          </a:xfrm>
          <a:prstGeom prst="rect">
            <a:avLst/>
          </a:prstGeom>
          <a:noFill/>
        </p:spPr>
        <p:txBody>
          <a:bodyPr wrap="square" anchor="t">
            <a:spAutoFit/>
          </a:bodyPr>
          <a:lstStyle/>
          <a:p>
            <a:pPr algn="l">
              <a:spcAft>
                <a:spcPts val="400"/>
              </a:spcAft>
            </a:pPr>
            <a:r>
              <a:rPr sz="1700" b="0">
                <a:solidFill>
                  <a:srgbClr val="161B26"/>
                </a:solidFill>
                <a:latin typeface="Arial"/>
              </a:rPr>
              <a:t>Recover an n-bit hidden string in a single oracle query. Classically you would need n queries — one per bit — making this a clean demonstration of linear-to-constant query speedup.</a:t>
            </a:r>
          </a:p>
        </p:txBody>
      </p:sp>
      <p:sp>
        <p:nvSpPr>
          <p:cNvPr id="10" name="Rectangle 9"/>
          <p:cNvSpPr/>
          <p:nvPr/>
        </p:nvSpPr>
        <p:spPr>
          <a:xfrm>
            <a:off x="777240" y="2971800"/>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2971800"/>
            <a:ext cx="10241280" cy="457200"/>
          </a:xfrm>
          <a:prstGeom prst="rect">
            <a:avLst/>
          </a:prstGeom>
          <a:noFill/>
        </p:spPr>
        <p:txBody>
          <a:bodyPr wrap="square" anchor="ctr">
            <a:spAutoFit/>
          </a:bodyPr>
          <a:lstStyle/>
          <a:p>
            <a:pPr algn="l">
              <a:spcAft>
                <a:spcPts val="400"/>
              </a:spcAft>
            </a:pPr>
            <a:r>
              <a:rPr sz="1100" b="1">
                <a:solidFill>
                  <a:srgbClr val="1F6FEB"/>
                </a:solidFill>
                <a:latin typeface="Arial"/>
              </a:rPr>
              <a:t>MAPS TO  </a:t>
            </a:r>
            <a:r>
              <a:rPr sz="1250" b="0">
                <a:solidFill>
                  <a:srgbClr val="161B26"/>
                </a:solidFill>
                <a:latin typeface="Arial"/>
              </a:rPr>
              <a:t>LO6 — Establish guidelines for selecting quantum computing algorithms</a:t>
            </a:r>
          </a:p>
        </p:txBody>
      </p:sp>
      <p:sp>
        <p:nvSpPr>
          <p:cNvPr id="12" name="Rectangle 11"/>
          <p:cNvSpPr/>
          <p:nvPr/>
        </p:nvSpPr>
        <p:spPr>
          <a:xfrm>
            <a:off x="777240" y="3611880"/>
            <a:ext cx="10634472" cy="1234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1560" y="3767328"/>
            <a:ext cx="10058400" cy="365760"/>
          </a:xfrm>
          <a:prstGeom prst="rect">
            <a:avLst/>
          </a:prstGeom>
          <a:noFill/>
        </p:spPr>
        <p:txBody>
          <a:bodyPr wrap="square" anchor="t">
            <a:spAutoFit/>
          </a:bodyPr>
          <a:lstStyle/>
          <a:p>
            <a:pPr algn="l">
              <a:spcAft>
                <a:spcPts val="400"/>
              </a:spcAft>
            </a:pPr>
            <a:r>
              <a:rPr sz="1200" b="1">
                <a:solidFill>
                  <a:srgbClr val="127A3E"/>
                </a:solidFill>
                <a:latin typeface="Arial"/>
              </a:rPr>
              <a:t>YOU'LL PRODUCE</a:t>
            </a:r>
          </a:p>
        </p:txBody>
      </p:sp>
      <p:sp>
        <p:nvSpPr>
          <p:cNvPr id="14" name="TextBox 13"/>
          <p:cNvSpPr txBox="1"/>
          <p:nvPr/>
        </p:nvSpPr>
        <p:spPr>
          <a:xfrm>
            <a:off x="1051560" y="4133087"/>
            <a:ext cx="10058400" cy="640080"/>
          </a:xfrm>
          <a:prstGeom prst="rect">
            <a:avLst/>
          </a:prstGeom>
          <a:noFill/>
        </p:spPr>
        <p:txBody>
          <a:bodyPr wrap="square" anchor="t">
            <a:spAutoFit/>
          </a:bodyPr>
          <a:lstStyle/>
          <a:p>
            <a:pPr algn="l">
              <a:spcAft>
                <a:spcPts val="400"/>
              </a:spcAft>
            </a:pPr>
            <a:r>
              <a:rPr sz="1550" b="1">
                <a:solidFill>
                  <a:srgbClr val="161B26"/>
                </a:solidFill>
                <a:latin typeface="Arial"/>
              </a:rPr>
              <a:t>A Bernstein-Vazirani circuit that recovers a chosen hidden string such as 1011 in one query on real hardware.</a:t>
            </a:r>
          </a:p>
        </p:txBody>
      </p:sp>
      <p:sp>
        <p:nvSpPr>
          <p:cNvPr id="15" name="Rectangle 14"/>
          <p:cNvSpPr/>
          <p:nvPr/>
        </p:nvSpPr>
        <p:spPr>
          <a:xfrm>
            <a:off x="777240" y="5029200"/>
            <a:ext cx="10634472"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5138928"/>
            <a:ext cx="10058400" cy="365760"/>
          </a:xfrm>
          <a:prstGeom prst="rect">
            <a:avLst/>
          </a:prstGeom>
          <a:noFill/>
        </p:spPr>
        <p:txBody>
          <a:bodyPr wrap="square" anchor="t">
            <a:spAutoFit/>
          </a:bodyPr>
          <a:lstStyle/>
          <a:p>
            <a:pPr algn="l">
              <a:spcAft>
                <a:spcPts val="400"/>
              </a:spcAft>
            </a:pPr>
            <a:r>
              <a:rPr sz="1200" b="1">
                <a:solidFill>
                  <a:srgbClr val="5B6372"/>
                </a:solidFill>
                <a:latin typeface="Arial"/>
              </a:rPr>
              <a:t>Tools:  </a:t>
            </a:r>
            <a:r>
              <a:rPr sz="1200" b="0">
                <a:solidFill>
                  <a:srgbClr val="5B6372"/>
                </a:solidFill>
                <a:latin typeface="Arial"/>
              </a:rPr>
              <a:t>Qiskit 2.x, IBM Quantum Runtime</a:t>
            </a:r>
          </a:p>
        </p:txBody>
      </p:sp>
      <p:sp>
        <p:nvSpPr>
          <p:cNvPr id="17" name="TextBox 16"/>
          <p:cNvSpPr txBox="1"/>
          <p:nvPr/>
        </p:nvSpPr>
        <p:spPr>
          <a:xfrm>
            <a:off x="1051560" y="5504688"/>
            <a:ext cx="10058400" cy="365760"/>
          </a:xfrm>
          <a:prstGeom prst="rect">
            <a:avLst/>
          </a:prstGeom>
          <a:noFill/>
        </p:spPr>
        <p:txBody>
          <a:bodyPr wrap="square" anchor="t">
            <a:spAutoFit/>
          </a:bodyPr>
          <a:lstStyle/>
          <a:p>
            <a:pPr algn="l">
              <a:spcAft>
                <a:spcPts val="400"/>
              </a:spcAft>
            </a:pPr>
            <a:r>
              <a:rPr sz="1200" b="1">
                <a:solidFill>
                  <a:srgbClr val="1F6FEB"/>
                </a:solidFill>
                <a:latin typeface="Arial"/>
              </a:rPr>
              <a:t>Full step-by-step guide:  </a:t>
            </a:r>
            <a:r>
              <a:rPr sz="1200" b="0">
                <a:solidFill>
                  <a:srgbClr val="161B26"/>
                </a:solidFill>
                <a:latin typeface="Arial"/>
              </a:rPr>
              <a:t>Learner Guide — Activity 10: Bernstein-Vazirani Algorithm</a:t>
            </a:r>
          </a:p>
        </p:txBody>
      </p:sp>
      <p:sp>
        <p:nvSpPr>
          <p:cNvPr id="18" name="TextBox 1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9" name="TextBox 1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0" name="TextBox 1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70</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10 · VERIFY &amp; DEBRIEF</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Bernstein-Vazirani Algorithm</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21488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21488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1965960"/>
            <a:ext cx="10058400" cy="411480"/>
          </a:xfrm>
          <a:prstGeom prst="rect">
            <a:avLst/>
          </a:prstGeom>
          <a:noFill/>
        </p:spPr>
        <p:txBody>
          <a:bodyPr wrap="square" anchor="t">
            <a:spAutoFit/>
          </a:bodyPr>
          <a:lstStyle/>
          <a:p>
            <a:pPr algn="l">
              <a:spcAft>
                <a:spcPts val="400"/>
              </a:spcAft>
            </a:pPr>
            <a:r>
              <a:rPr sz="1300" b="1">
                <a:solidFill>
                  <a:srgbClr val="127A3E"/>
                </a:solidFill>
                <a:latin typeface="Arial"/>
              </a:rPr>
              <a:t>TEST IT — HOW YOU KNOW IT WORKED</a:t>
            </a:r>
          </a:p>
        </p:txBody>
      </p:sp>
      <p:sp>
        <p:nvSpPr>
          <p:cNvPr id="10" name="TextBox 9"/>
          <p:cNvSpPr txBox="1"/>
          <p:nvPr/>
        </p:nvSpPr>
        <p:spPr>
          <a:xfrm>
            <a:off x="1143000" y="2423160"/>
            <a:ext cx="10058400" cy="1371600"/>
          </a:xfrm>
          <a:prstGeom prst="rect">
            <a:avLst/>
          </a:prstGeom>
          <a:noFill/>
        </p:spPr>
        <p:txBody>
          <a:bodyPr wrap="square" anchor="t">
            <a:spAutoFit/>
          </a:bodyPr>
          <a:lstStyle/>
          <a:p>
            <a:pPr algn="l">
              <a:spcAft>
                <a:spcPts val="400"/>
              </a:spcAft>
            </a:pPr>
            <a:r>
              <a:rPr sz="1600" b="0">
                <a:solidFill>
                  <a:srgbClr val="161B26"/>
                </a:solidFill>
                <a:latin typeface="Arial"/>
              </a:rPr>
              <a:t>The most frequent measured bit string equals the hidden string s that was encoded in the oracle, recovered with a single oracle query regardless of the length of s.</a:t>
            </a:r>
          </a:p>
        </p:txBody>
      </p:sp>
      <p:sp>
        <p:nvSpPr>
          <p:cNvPr id="11" name="TextBox 10"/>
          <p:cNvSpPr txBox="1"/>
          <p:nvPr/>
        </p:nvSpPr>
        <p:spPr>
          <a:xfrm>
            <a:off x="777240" y="4096512"/>
            <a:ext cx="10607040" cy="365760"/>
          </a:xfrm>
          <a:prstGeom prst="rect">
            <a:avLst/>
          </a:prstGeom>
          <a:noFill/>
        </p:spPr>
        <p:txBody>
          <a:bodyPr wrap="square" anchor="t">
            <a:spAutoFit/>
          </a:bodyPr>
          <a:lstStyle/>
          <a:p>
            <a:pPr algn="l">
              <a:spcAft>
                <a:spcPts val="400"/>
              </a:spcAft>
            </a:pPr>
            <a:r>
              <a:rPr sz="1300" b="1">
                <a:solidFill>
                  <a:srgbClr val="1F6FEB"/>
                </a:solidFill>
                <a:latin typeface="Arial"/>
              </a:rPr>
              <a:t>DISCUSS WITH YOUR TRAINER</a:t>
            </a:r>
          </a:p>
        </p:txBody>
      </p:sp>
      <p:sp>
        <p:nvSpPr>
          <p:cNvPr id="12" name="Rectangle 11"/>
          <p:cNvSpPr/>
          <p:nvPr/>
        </p:nvSpPr>
        <p:spPr>
          <a:xfrm>
            <a:off x="777240" y="4480560"/>
            <a:ext cx="3447288" cy="1463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480560"/>
            <a:ext cx="3447288"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8" y="4663440"/>
            <a:ext cx="3044952" cy="457200"/>
          </a:xfrm>
          <a:prstGeom prst="rect">
            <a:avLst/>
          </a:prstGeom>
          <a:noFill/>
        </p:spPr>
        <p:txBody>
          <a:bodyPr wrap="square" anchor="t">
            <a:spAutoFit/>
          </a:bodyPr>
          <a:lstStyle/>
          <a:p>
            <a:pPr algn="l">
              <a:spcAft>
                <a:spcPts val="400"/>
              </a:spcAft>
            </a:pPr>
            <a:r>
              <a:rPr sz="1350" b="1">
                <a:solidFill>
                  <a:srgbClr val="1F6FEB"/>
                </a:solidFill>
                <a:latin typeface="Arial"/>
              </a:rPr>
              <a:t>What did the result show?</a:t>
            </a:r>
          </a:p>
        </p:txBody>
      </p:sp>
      <p:sp>
        <p:nvSpPr>
          <p:cNvPr id="15" name="TextBox 14"/>
          <p:cNvSpPr txBox="1"/>
          <p:nvPr/>
        </p:nvSpPr>
        <p:spPr>
          <a:xfrm>
            <a:off x="978408" y="5138928"/>
            <a:ext cx="3044952" cy="731520"/>
          </a:xfrm>
          <a:prstGeom prst="rect">
            <a:avLst/>
          </a:prstGeom>
          <a:noFill/>
        </p:spPr>
        <p:txBody>
          <a:bodyPr wrap="square" anchor="t">
            <a:spAutoFit/>
          </a:bodyPr>
          <a:lstStyle/>
          <a:p>
            <a:pPr algn="l">
              <a:spcAft>
                <a:spcPts val="400"/>
              </a:spcAft>
            </a:pPr>
            <a:r>
              <a:rPr sz="1200" b="0">
                <a:solidFill>
                  <a:srgbClr val="5B6372"/>
                </a:solidFill>
                <a:latin typeface="Arial"/>
              </a:rPr>
              <a:t>Restate the outcome in your own words.</a:t>
            </a:r>
          </a:p>
        </p:txBody>
      </p:sp>
      <p:sp>
        <p:nvSpPr>
          <p:cNvPr id="16" name="Rectangle 15"/>
          <p:cNvSpPr/>
          <p:nvPr/>
        </p:nvSpPr>
        <p:spPr>
          <a:xfrm>
            <a:off x="4370832" y="4480560"/>
            <a:ext cx="3447288" cy="1463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70832" y="4480560"/>
            <a:ext cx="344728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0" y="4663440"/>
            <a:ext cx="3044952" cy="457200"/>
          </a:xfrm>
          <a:prstGeom prst="rect">
            <a:avLst/>
          </a:prstGeom>
          <a:noFill/>
        </p:spPr>
        <p:txBody>
          <a:bodyPr wrap="square" anchor="t">
            <a:spAutoFit/>
          </a:bodyPr>
          <a:lstStyle/>
          <a:p>
            <a:pPr algn="l">
              <a:spcAft>
                <a:spcPts val="400"/>
              </a:spcAft>
            </a:pPr>
            <a:r>
              <a:rPr sz="1350" b="1">
                <a:solidFill>
                  <a:srgbClr val="10B981"/>
                </a:solidFill>
                <a:latin typeface="Arial"/>
              </a:rPr>
              <a:t>Why does it work?</a:t>
            </a:r>
          </a:p>
        </p:txBody>
      </p:sp>
      <p:sp>
        <p:nvSpPr>
          <p:cNvPr id="19" name="TextBox 18"/>
          <p:cNvSpPr txBox="1"/>
          <p:nvPr/>
        </p:nvSpPr>
        <p:spPr>
          <a:xfrm>
            <a:off x="4572000" y="5138928"/>
            <a:ext cx="3044952" cy="731520"/>
          </a:xfrm>
          <a:prstGeom prst="rect">
            <a:avLst/>
          </a:prstGeom>
          <a:noFill/>
        </p:spPr>
        <p:txBody>
          <a:bodyPr wrap="square" anchor="t">
            <a:spAutoFit/>
          </a:bodyPr>
          <a:lstStyle/>
          <a:p>
            <a:pPr algn="l">
              <a:spcAft>
                <a:spcPts val="400"/>
              </a:spcAft>
            </a:pPr>
            <a:r>
              <a:rPr sz="1200" b="0">
                <a:solidFill>
                  <a:srgbClr val="5B6372"/>
                </a:solidFill>
                <a:latin typeface="Arial"/>
              </a:rPr>
              <a:t>Name the quantum principle the activity relies on.</a:t>
            </a:r>
          </a:p>
        </p:txBody>
      </p:sp>
      <p:sp>
        <p:nvSpPr>
          <p:cNvPr id="20" name="Rectangle 19"/>
          <p:cNvSpPr/>
          <p:nvPr/>
        </p:nvSpPr>
        <p:spPr>
          <a:xfrm>
            <a:off x="7964424" y="4480560"/>
            <a:ext cx="3447288" cy="1463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964424" y="4480560"/>
            <a:ext cx="3447288"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65592" y="4663440"/>
            <a:ext cx="3044952" cy="457200"/>
          </a:xfrm>
          <a:prstGeom prst="rect">
            <a:avLst/>
          </a:prstGeom>
          <a:noFill/>
        </p:spPr>
        <p:txBody>
          <a:bodyPr wrap="square" anchor="t">
            <a:spAutoFit/>
          </a:bodyPr>
          <a:lstStyle/>
          <a:p>
            <a:pPr algn="l">
              <a:spcAft>
                <a:spcPts val="400"/>
              </a:spcAft>
            </a:pPr>
            <a:r>
              <a:rPr sz="1350" b="1">
                <a:solidFill>
                  <a:srgbClr val="7C3AED"/>
                </a:solidFill>
                <a:latin typeface="Arial"/>
              </a:rPr>
              <a:t>Where would you use it?</a:t>
            </a:r>
          </a:p>
        </p:txBody>
      </p:sp>
      <p:sp>
        <p:nvSpPr>
          <p:cNvPr id="23" name="TextBox 22"/>
          <p:cNvSpPr txBox="1"/>
          <p:nvPr/>
        </p:nvSpPr>
        <p:spPr>
          <a:xfrm>
            <a:off x="8165592" y="5138928"/>
            <a:ext cx="3044952" cy="731520"/>
          </a:xfrm>
          <a:prstGeom prst="rect">
            <a:avLst/>
          </a:prstGeom>
          <a:noFill/>
        </p:spPr>
        <p:txBody>
          <a:bodyPr wrap="square" anchor="t">
            <a:spAutoFit/>
          </a:bodyPr>
          <a:lstStyle/>
          <a:p>
            <a:pPr algn="l">
              <a:spcAft>
                <a:spcPts val="400"/>
              </a:spcAft>
            </a:pPr>
            <a:r>
              <a:rPr sz="1200" b="0">
                <a:solidFill>
                  <a:srgbClr val="5B6372"/>
                </a:solidFill>
                <a:latin typeface="Arial"/>
              </a:rPr>
              <a:t>Give one realistic application in your own field.</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71</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05 · HANDS-ON ACTIVITY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Grover's Search Algorithm</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646920" y="457200"/>
            <a:ext cx="17830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57200"/>
            <a:ext cx="1783080" cy="457200"/>
          </a:xfrm>
          <a:prstGeom prst="rect">
            <a:avLst/>
          </a:prstGeom>
          <a:noFill/>
        </p:spPr>
        <p:txBody>
          <a:bodyPr wrap="square" anchor="ctr">
            <a:spAutoFit/>
          </a:bodyPr>
          <a:lstStyle/>
          <a:p>
            <a:pPr algn="ctr">
              <a:spcAft>
                <a:spcPts val="400"/>
              </a:spcAft>
            </a:pPr>
            <a:r>
              <a:rPr sz="1300" b="1">
                <a:solidFill>
                  <a:srgbClr val="FFFFFF"/>
                </a:solidFill>
                <a:latin typeface="Arial"/>
              </a:rPr>
              <a:t>ACTIVITY 11</a:t>
            </a:r>
          </a:p>
        </p:txBody>
      </p:sp>
      <p:sp>
        <p:nvSpPr>
          <p:cNvPr id="9" name="TextBox 8"/>
          <p:cNvSpPr txBox="1"/>
          <p:nvPr/>
        </p:nvSpPr>
        <p:spPr>
          <a:xfrm>
            <a:off x="777240" y="1828800"/>
            <a:ext cx="10607040" cy="1051560"/>
          </a:xfrm>
          <a:prstGeom prst="rect">
            <a:avLst/>
          </a:prstGeom>
          <a:noFill/>
        </p:spPr>
        <p:txBody>
          <a:bodyPr wrap="square" anchor="t">
            <a:spAutoFit/>
          </a:bodyPr>
          <a:lstStyle/>
          <a:p>
            <a:pPr algn="l">
              <a:spcAft>
                <a:spcPts val="400"/>
              </a:spcAft>
            </a:pPr>
            <a:r>
              <a:rPr sz="1700" b="0">
                <a:solidFill>
                  <a:srgbClr val="161B26"/>
                </a:solidFill>
                <a:latin typeface="Arial"/>
              </a:rPr>
              <a:t>Implement amplitude amplification to find a marked item in an unstructured search space, using the phase oracle and the diffuser, and see the quadratic O(sqrt(N)) speedup for 2-qubit and 3-qubit searches.</a:t>
            </a:r>
          </a:p>
        </p:txBody>
      </p:sp>
      <p:sp>
        <p:nvSpPr>
          <p:cNvPr id="10" name="Rectangle 9"/>
          <p:cNvSpPr/>
          <p:nvPr/>
        </p:nvSpPr>
        <p:spPr>
          <a:xfrm>
            <a:off x="777240" y="2971800"/>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2971800"/>
            <a:ext cx="10241280" cy="457200"/>
          </a:xfrm>
          <a:prstGeom prst="rect">
            <a:avLst/>
          </a:prstGeom>
          <a:noFill/>
        </p:spPr>
        <p:txBody>
          <a:bodyPr wrap="square" anchor="ctr">
            <a:spAutoFit/>
          </a:bodyPr>
          <a:lstStyle/>
          <a:p>
            <a:pPr algn="l">
              <a:spcAft>
                <a:spcPts val="400"/>
              </a:spcAft>
            </a:pPr>
            <a:r>
              <a:rPr sz="1100" b="1">
                <a:solidFill>
                  <a:srgbClr val="1F6FEB"/>
                </a:solidFill>
                <a:latin typeface="Arial"/>
              </a:rPr>
              <a:t>MAPS TO  </a:t>
            </a:r>
            <a:r>
              <a:rPr sz="1250" b="0">
                <a:solidFill>
                  <a:srgbClr val="161B26"/>
                </a:solidFill>
                <a:latin typeface="Arial"/>
              </a:rPr>
              <a:t>LO6, LO7 — Select algorithms and synthesize quantum methodologies</a:t>
            </a:r>
          </a:p>
        </p:txBody>
      </p:sp>
      <p:sp>
        <p:nvSpPr>
          <p:cNvPr id="12" name="Rectangle 11"/>
          <p:cNvSpPr/>
          <p:nvPr/>
        </p:nvSpPr>
        <p:spPr>
          <a:xfrm>
            <a:off x="777240" y="3611880"/>
            <a:ext cx="10634472" cy="1234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1560" y="3767328"/>
            <a:ext cx="10058400" cy="365760"/>
          </a:xfrm>
          <a:prstGeom prst="rect">
            <a:avLst/>
          </a:prstGeom>
          <a:noFill/>
        </p:spPr>
        <p:txBody>
          <a:bodyPr wrap="square" anchor="t">
            <a:spAutoFit/>
          </a:bodyPr>
          <a:lstStyle/>
          <a:p>
            <a:pPr algn="l">
              <a:spcAft>
                <a:spcPts val="400"/>
              </a:spcAft>
            </a:pPr>
            <a:r>
              <a:rPr sz="1200" b="1">
                <a:solidFill>
                  <a:srgbClr val="127A3E"/>
                </a:solidFill>
                <a:latin typeface="Arial"/>
              </a:rPr>
              <a:t>YOU'LL PRODUCE</a:t>
            </a:r>
          </a:p>
        </p:txBody>
      </p:sp>
      <p:sp>
        <p:nvSpPr>
          <p:cNvPr id="14" name="TextBox 13"/>
          <p:cNvSpPr txBox="1"/>
          <p:nvPr/>
        </p:nvSpPr>
        <p:spPr>
          <a:xfrm>
            <a:off x="1051560" y="4133087"/>
            <a:ext cx="10058400" cy="640080"/>
          </a:xfrm>
          <a:prstGeom prst="rect">
            <a:avLst/>
          </a:prstGeom>
          <a:noFill/>
        </p:spPr>
        <p:txBody>
          <a:bodyPr wrap="square" anchor="t">
            <a:spAutoFit/>
          </a:bodyPr>
          <a:lstStyle/>
          <a:p>
            <a:pPr algn="l">
              <a:spcAft>
                <a:spcPts val="400"/>
              </a:spcAft>
            </a:pPr>
            <a:r>
              <a:rPr sz="1550" b="1">
                <a:solidFill>
                  <a:srgbClr val="161B26"/>
                </a:solidFill>
                <a:latin typeface="Arial"/>
              </a:rPr>
              <a:t>Grover circuits for 2 and 3 qubits that amplify the marked state to a high measurement probability on real hardware.</a:t>
            </a:r>
          </a:p>
        </p:txBody>
      </p:sp>
      <p:sp>
        <p:nvSpPr>
          <p:cNvPr id="15" name="Rectangle 14"/>
          <p:cNvSpPr/>
          <p:nvPr/>
        </p:nvSpPr>
        <p:spPr>
          <a:xfrm>
            <a:off x="777240" y="5029200"/>
            <a:ext cx="10634472"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5138928"/>
            <a:ext cx="10058400" cy="365760"/>
          </a:xfrm>
          <a:prstGeom prst="rect">
            <a:avLst/>
          </a:prstGeom>
          <a:noFill/>
        </p:spPr>
        <p:txBody>
          <a:bodyPr wrap="square" anchor="t">
            <a:spAutoFit/>
          </a:bodyPr>
          <a:lstStyle/>
          <a:p>
            <a:pPr algn="l">
              <a:spcAft>
                <a:spcPts val="400"/>
              </a:spcAft>
            </a:pPr>
            <a:r>
              <a:rPr sz="1200" b="1">
                <a:solidFill>
                  <a:srgbClr val="5B6372"/>
                </a:solidFill>
                <a:latin typeface="Arial"/>
              </a:rPr>
              <a:t>Tools:  </a:t>
            </a:r>
            <a:r>
              <a:rPr sz="1200" b="0">
                <a:solidFill>
                  <a:srgbClr val="5B6372"/>
                </a:solidFill>
                <a:latin typeface="Arial"/>
              </a:rPr>
              <a:t>Qiskit 2.x, IBM Quantum Runtime, OpenQASM</a:t>
            </a:r>
          </a:p>
        </p:txBody>
      </p:sp>
      <p:sp>
        <p:nvSpPr>
          <p:cNvPr id="17" name="TextBox 16"/>
          <p:cNvSpPr txBox="1"/>
          <p:nvPr/>
        </p:nvSpPr>
        <p:spPr>
          <a:xfrm>
            <a:off x="1051560" y="5504688"/>
            <a:ext cx="10058400" cy="365760"/>
          </a:xfrm>
          <a:prstGeom prst="rect">
            <a:avLst/>
          </a:prstGeom>
          <a:noFill/>
        </p:spPr>
        <p:txBody>
          <a:bodyPr wrap="square" anchor="t">
            <a:spAutoFit/>
          </a:bodyPr>
          <a:lstStyle/>
          <a:p>
            <a:pPr algn="l">
              <a:spcAft>
                <a:spcPts val="400"/>
              </a:spcAft>
            </a:pPr>
            <a:r>
              <a:rPr sz="1200" b="1">
                <a:solidFill>
                  <a:srgbClr val="1F6FEB"/>
                </a:solidFill>
                <a:latin typeface="Arial"/>
              </a:rPr>
              <a:t>Full step-by-step guide:  </a:t>
            </a:r>
            <a:r>
              <a:rPr sz="1200" b="0">
                <a:solidFill>
                  <a:srgbClr val="161B26"/>
                </a:solidFill>
                <a:latin typeface="Arial"/>
              </a:rPr>
              <a:t>Learner Guide — Activity 11: Grover's Search Algorithm</a:t>
            </a:r>
          </a:p>
        </p:txBody>
      </p:sp>
      <p:sp>
        <p:nvSpPr>
          <p:cNvPr id="18" name="TextBox 1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9" name="TextBox 1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0" name="TextBox 1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72</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11 · VERIFY &amp; DEBRIEF</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Grover's Search Algorithm</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21488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21488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1965960"/>
            <a:ext cx="10058400" cy="411480"/>
          </a:xfrm>
          <a:prstGeom prst="rect">
            <a:avLst/>
          </a:prstGeom>
          <a:noFill/>
        </p:spPr>
        <p:txBody>
          <a:bodyPr wrap="square" anchor="t">
            <a:spAutoFit/>
          </a:bodyPr>
          <a:lstStyle/>
          <a:p>
            <a:pPr algn="l">
              <a:spcAft>
                <a:spcPts val="400"/>
              </a:spcAft>
            </a:pPr>
            <a:r>
              <a:rPr sz="1300" b="1">
                <a:solidFill>
                  <a:srgbClr val="127A3E"/>
                </a:solidFill>
                <a:latin typeface="Arial"/>
              </a:rPr>
              <a:t>TEST IT — HOW YOU KNOW IT WORKED</a:t>
            </a:r>
          </a:p>
        </p:txBody>
      </p:sp>
      <p:sp>
        <p:nvSpPr>
          <p:cNvPr id="10" name="TextBox 9"/>
          <p:cNvSpPr txBox="1"/>
          <p:nvPr/>
        </p:nvSpPr>
        <p:spPr>
          <a:xfrm>
            <a:off x="1143000" y="2423160"/>
            <a:ext cx="10058400" cy="1371600"/>
          </a:xfrm>
          <a:prstGeom prst="rect">
            <a:avLst/>
          </a:prstGeom>
          <a:noFill/>
        </p:spPr>
        <p:txBody>
          <a:bodyPr wrap="square" anchor="t">
            <a:spAutoFit/>
          </a:bodyPr>
          <a:lstStyle/>
          <a:p>
            <a:pPr algn="l">
              <a:spcAft>
                <a:spcPts val="400"/>
              </a:spcAft>
            </a:pPr>
            <a:r>
              <a:rPr sz="1600" b="0">
                <a:solidFill>
                  <a:srgbClr val="161B26"/>
                </a:solidFill>
                <a:latin typeface="Arial"/>
              </a:rPr>
              <a:t>For 2 qubits the marked state is measured with near-certainty after one Grover iteration; for 3 qubits it dominates the histogram after two iterations; applying too many iterations visibly reduces the success probability.</a:t>
            </a:r>
          </a:p>
        </p:txBody>
      </p:sp>
      <p:sp>
        <p:nvSpPr>
          <p:cNvPr id="11" name="TextBox 10"/>
          <p:cNvSpPr txBox="1"/>
          <p:nvPr/>
        </p:nvSpPr>
        <p:spPr>
          <a:xfrm>
            <a:off x="777240" y="4096512"/>
            <a:ext cx="10607040" cy="365760"/>
          </a:xfrm>
          <a:prstGeom prst="rect">
            <a:avLst/>
          </a:prstGeom>
          <a:noFill/>
        </p:spPr>
        <p:txBody>
          <a:bodyPr wrap="square" anchor="t">
            <a:spAutoFit/>
          </a:bodyPr>
          <a:lstStyle/>
          <a:p>
            <a:pPr algn="l">
              <a:spcAft>
                <a:spcPts val="400"/>
              </a:spcAft>
            </a:pPr>
            <a:r>
              <a:rPr sz="1300" b="1">
                <a:solidFill>
                  <a:srgbClr val="1F6FEB"/>
                </a:solidFill>
                <a:latin typeface="Arial"/>
              </a:rPr>
              <a:t>DISCUSS WITH YOUR TRAINER</a:t>
            </a:r>
          </a:p>
        </p:txBody>
      </p:sp>
      <p:sp>
        <p:nvSpPr>
          <p:cNvPr id="12" name="Rectangle 11"/>
          <p:cNvSpPr/>
          <p:nvPr/>
        </p:nvSpPr>
        <p:spPr>
          <a:xfrm>
            <a:off x="777240" y="4480560"/>
            <a:ext cx="3447288" cy="1463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480560"/>
            <a:ext cx="3447288"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8" y="4663440"/>
            <a:ext cx="3044952" cy="457200"/>
          </a:xfrm>
          <a:prstGeom prst="rect">
            <a:avLst/>
          </a:prstGeom>
          <a:noFill/>
        </p:spPr>
        <p:txBody>
          <a:bodyPr wrap="square" anchor="t">
            <a:spAutoFit/>
          </a:bodyPr>
          <a:lstStyle/>
          <a:p>
            <a:pPr algn="l">
              <a:spcAft>
                <a:spcPts val="400"/>
              </a:spcAft>
            </a:pPr>
            <a:r>
              <a:rPr sz="1350" b="1">
                <a:solidFill>
                  <a:srgbClr val="1F6FEB"/>
                </a:solidFill>
                <a:latin typeface="Arial"/>
              </a:rPr>
              <a:t>What did the result show?</a:t>
            </a:r>
          </a:p>
        </p:txBody>
      </p:sp>
      <p:sp>
        <p:nvSpPr>
          <p:cNvPr id="15" name="TextBox 14"/>
          <p:cNvSpPr txBox="1"/>
          <p:nvPr/>
        </p:nvSpPr>
        <p:spPr>
          <a:xfrm>
            <a:off x="978408" y="5138928"/>
            <a:ext cx="3044952" cy="731520"/>
          </a:xfrm>
          <a:prstGeom prst="rect">
            <a:avLst/>
          </a:prstGeom>
          <a:noFill/>
        </p:spPr>
        <p:txBody>
          <a:bodyPr wrap="square" anchor="t">
            <a:spAutoFit/>
          </a:bodyPr>
          <a:lstStyle/>
          <a:p>
            <a:pPr algn="l">
              <a:spcAft>
                <a:spcPts val="400"/>
              </a:spcAft>
            </a:pPr>
            <a:r>
              <a:rPr sz="1200" b="0">
                <a:solidFill>
                  <a:srgbClr val="5B6372"/>
                </a:solidFill>
                <a:latin typeface="Arial"/>
              </a:rPr>
              <a:t>Restate the outcome in your own words.</a:t>
            </a:r>
          </a:p>
        </p:txBody>
      </p:sp>
      <p:sp>
        <p:nvSpPr>
          <p:cNvPr id="16" name="Rectangle 15"/>
          <p:cNvSpPr/>
          <p:nvPr/>
        </p:nvSpPr>
        <p:spPr>
          <a:xfrm>
            <a:off x="4370832" y="4480560"/>
            <a:ext cx="3447288" cy="1463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70832" y="4480560"/>
            <a:ext cx="344728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0" y="4663440"/>
            <a:ext cx="3044952" cy="457200"/>
          </a:xfrm>
          <a:prstGeom prst="rect">
            <a:avLst/>
          </a:prstGeom>
          <a:noFill/>
        </p:spPr>
        <p:txBody>
          <a:bodyPr wrap="square" anchor="t">
            <a:spAutoFit/>
          </a:bodyPr>
          <a:lstStyle/>
          <a:p>
            <a:pPr algn="l">
              <a:spcAft>
                <a:spcPts val="400"/>
              </a:spcAft>
            </a:pPr>
            <a:r>
              <a:rPr sz="1350" b="1">
                <a:solidFill>
                  <a:srgbClr val="10B981"/>
                </a:solidFill>
                <a:latin typeface="Arial"/>
              </a:rPr>
              <a:t>Why does it work?</a:t>
            </a:r>
          </a:p>
        </p:txBody>
      </p:sp>
      <p:sp>
        <p:nvSpPr>
          <p:cNvPr id="19" name="TextBox 18"/>
          <p:cNvSpPr txBox="1"/>
          <p:nvPr/>
        </p:nvSpPr>
        <p:spPr>
          <a:xfrm>
            <a:off x="4572000" y="5138928"/>
            <a:ext cx="3044952" cy="731520"/>
          </a:xfrm>
          <a:prstGeom prst="rect">
            <a:avLst/>
          </a:prstGeom>
          <a:noFill/>
        </p:spPr>
        <p:txBody>
          <a:bodyPr wrap="square" anchor="t">
            <a:spAutoFit/>
          </a:bodyPr>
          <a:lstStyle/>
          <a:p>
            <a:pPr algn="l">
              <a:spcAft>
                <a:spcPts val="400"/>
              </a:spcAft>
            </a:pPr>
            <a:r>
              <a:rPr sz="1200" b="0">
                <a:solidFill>
                  <a:srgbClr val="5B6372"/>
                </a:solidFill>
                <a:latin typeface="Arial"/>
              </a:rPr>
              <a:t>Name the quantum principle the activity relies on.</a:t>
            </a:r>
          </a:p>
        </p:txBody>
      </p:sp>
      <p:sp>
        <p:nvSpPr>
          <p:cNvPr id="20" name="Rectangle 19"/>
          <p:cNvSpPr/>
          <p:nvPr/>
        </p:nvSpPr>
        <p:spPr>
          <a:xfrm>
            <a:off x="7964424" y="4480560"/>
            <a:ext cx="3447288" cy="1463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964424" y="4480560"/>
            <a:ext cx="3447288"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65592" y="4663440"/>
            <a:ext cx="3044952" cy="457200"/>
          </a:xfrm>
          <a:prstGeom prst="rect">
            <a:avLst/>
          </a:prstGeom>
          <a:noFill/>
        </p:spPr>
        <p:txBody>
          <a:bodyPr wrap="square" anchor="t">
            <a:spAutoFit/>
          </a:bodyPr>
          <a:lstStyle/>
          <a:p>
            <a:pPr algn="l">
              <a:spcAft>
                <a:spcPts val="400"/>
              </a:spcAft>
            </a:pPr>
            <a:r>
              <a:rPr sz="1350" b="1">
                <a:solidFill>
                  <a:srgbClr val="7C3AED"/>
                </a:solidFill>
                <a:latin typeface="Arial"/>
              </a:rPr>
              <a:t>Where would you use it?</a:t>
            </a:r>
          </a:p>
        </p:txBody>
      </p:sp>
      <p:sp>
        <p:nvSpPr>
          <p:cNvPr id="23" name="TextBox 22"/>
          <p:cNvSpPr txBox="1"/>
          <p:nvPr/>
        </p:nvSpPr>
        <p:spPr>
          <a:xfrm>
            <a:off x="8165592" y="5138928"/>
            <a:ext cx="3044952" cy="731520"/>
          </a:xfrm>
          <a:prstGeom prst="rect">
            <a:avLst/>
          </a:prstGeom>
          <a:noFill/>
        </p:spPr>
        <p:txBody>
          <a:bodyPr wrap="square" anchor="t">
            <a:spAutoFit/>
          </a:bodyPr>
          <a:lstStyle/>
          <a:p>
            <a:pPr algn="l">
              <a:spcAft>
                <a:spcPts val="400"/>
              </a:spcAft>
            </a:pPr>
            <a:r>
              <a:rPr sz="1200" b="0">
                <a:solidFill>
                  <a:srgbClr val="5B6372"/>
                </a:solidFill>
                <a:latin typeface="Arial"/>
              </a:rPr>
              <a:t>Give one realistic application in your own field.</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73</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05 · HANDS-ON ACTIVITY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Quantum Fourier Transform</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646920" y="457200"/>
            <a:ext cx="17830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57200"/>
            <a:ext cx="1783080" cy="457200"/>
          </a:xfrm>
          <a:prstGeom prst="rect">
            <a:avLst/>
          </a:prstGeom>
          <a:noFill/>
        </p:spPr>
        <p:txBody>
          <a:bodyPr wrap="square" anchor="ctr">
            <a:spAutoFit/>
          </a:bodyPr>
          <a:lstStyle/>
          <a:p>
            <a:pPr algn="ctr">
              <a:spcAft>
                <a:spcPts val="400"/>
              </a:spcAft>
            </a:pPr>
            <a:r>
              <a:rPr sz="1300" b="1">
                <a:solidFill>
                  <a:srgbClr val="FFFFFF"/>
                </a:solidFill>
                <a:latin typeface="Arial"/>
              </a:rPr>
              <a:t>ACTIVITY 12</a:t>
            </a:r>
          </a:p>
        </p:txBody>
      </p:sp>
      <p:sp>
        <p:nvSpPr>
          <p:cNvPr id="9" name="TextBox 8"/>
          <p:cNvSpPr txBox="1"/>
          <p:nvPr/>
        </p:nvSpPr>
        <p:spPr>
          <a:xfrm>
            <a:off x="777240" y="1828800"/>
            <a:ext cx="10607040" cy="1051560"/>
          </a:xfrm>
          <a:prstGeom prst="rect">
            <a:avLst/>
          </a:prstGeom>
          <a:noFill/>
        </p:spPr>
        <p:txBody>
          <a:bodyPr wrap="square" anchor="t">
            <a:spAutoFit/>
          </a:bodyPr>
          <a:lstStyle/>
          <a:p>
            <a:pPr algn="l">
              <a:spcAft>
                <a:spcPts val="400"/>
              </a:spcAft>
            </a:pPr>
            <a:r>
              <a:rPr sz="1700" b="0">
                <a:solidFill>
                  <a:srgbClr val="161B26"/>
                </a:solidFill>
                <a:latin typeface="Arial"/>
              </a:rPr>
              <a:t>Build the QFT circuit from Hadamard and controlled-phase gates, verify it against the classical DFT, and understand why it is the engine behind phase estimation and Shor's algorithm.</a:t>
            </a:r>
          </a:p>
        </p:txBody>
      </p:sp>
      <p:sp>
        <p:nvSpPr>
          <p:cNvPr id="10" name="Rectangle 9"/>
          <p:cNvSpPr/>
          <p:nvPr/>
        </p:nvSpPr>
        <p:spPr>
          <a:xfrm>
            <a:off x="777240" y="2971800"/>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2971800"/>
            <a:ext cx="10241280" cy="457200"/>
          </a:xfrm>
          <a:prstGeom prst="rect">
            <a:avLst/>
          </a:prstGeom>
          <a:noFill/>
        </p:spPr>
        <p:txBody>
          <a:bodyPr wrap="square" anchor="ctr">
            <a:spAutoFit/>
          </a:bodyPr>
          <a:lstStyle/>
          <a:p>
            <a:pPr algn="l">
              <a:spcAft>
                <a:spcPts val="400"/>
              </a:spcAft>
            </a:pPr>
            <a:r>
              <a:rPr sz="1100" b="1">
                <a:solidFill>
                  <a:srgbClr val="1F6FEB"/>
                </a:solidFill>
                <a:latin typeface="Arial"/>
              </a:rPr>
              <a:t>MAPS TO  </a:t>
            </a:r>
            <a:r>
              <a:rPr sz="1250" b="0">
                <a:solidFill>
                  <a:srgbClr val="161B26"/>
                </a:solidFill>
                <a:latin typeface="Arial"/>
              </a:rPr>
              <a:t>LO6, LO7 — Establish guidelines for selecting quantum computing algorithms</a:t>
            </a:r>
          </a:p>
        </p:txBody>
      </p:sp>
      <p:sp>
        <p:nvSpPr>
          <p:cNvPr id="12" name="Rectangle 11"/>
          <p:cNvSpPr/>
          <p:nvPr/>
        </p:nvSpPr>
        <p:spPr>
          <a:xfrm>
            <a:off x="777240" y="3611880"/>
            <a:ext cx="10634472" cy="1234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1560" y="3767328"/>
            <a:ext cx="10058400" cy="365760"/>
          </a:xfrm>
          <a:prstGeom prst="rect">
            <a:avLst/>
          </a:prstGeom>
          <a:noFill/>
        </p:spPr>
        <p:txBody>
          <a:bodyPr wrap="square" anchor="t">
            <a:spAutoFit/>
          </a:bodyPr>
          <a:lstStyle/>
          <a:p>
            <a:pPr algn="l">
              <a:spcAft>
                <a:spcPts val="400"/>
              </a:spcAft>
            </a:pPr>
            <a:r>
              <a:rPr sz="1200" b="1">
                <a:solidFill>
                  <a:srgbClr val="127A3E"/>
                </a:solidFill>
                <a:latin typeface="Arial"/>
              </a:rPr>
              <a:t>YOU'LL PRODUCE</a:t>
            </a:r>
          </a:p>
        </p:txBody>
      </p:sp>
      <p:sp>
        <p:nvSpPr>
          <p:cNvPr id="14" name="TextBox 13"/>
          <p:cNvSpPr txBox="1"/>
          <p:nvPr/>
        </p:nvSpPr>
        <p:spPr>
          <a:xfrm>
            <a:off x="1051560" y="4133087"/>
            <a:ext cx="10058400" cy="640080"/>
          </a:xfrm>
          <a:prstGeom prst="rect">
            <a:avLst/>
          </a:prstGeom>
          <a:noFill/>
        </p:spPr>
        <p:txBody>
          <a:bodyPr wrap="square" anchor="t">
            <a:spAutoFit/>
          </a:bodyPr>
          <a:lstStyle/>
          <a:p>
            <a:pPr algn="l">
              <a:spcAft>
                <a:spcPts val="400"/>
              </a:spcAft>
            </a:pPr>
            <a:r>
              <a:rPr sz="1550" b="1">
                <a:solidFill>
                  <a:srgbClr val="161B26"/>
                </a:solidFill>
                <a:latin typeface="Arial"/>
              </a:rPr>
              <a:t>QFT circuits for 3, 4 and 5 qubits, validated against a classical DFT reference and run on IBM Quantum hardware.</a:t>
            </a:r>
          </a:p>
        </p:txBody>
      </p:sp>
      <p:sp>
        <p:nvSpPr>
          <p:cNvPr id="15" name="Rectangle 14"/>
          <p:cNvSpPr/>
          <p:nvPr/>
        </p:nvSpPr>
        <p:spPr>
          <a:xfrm>
            <a:off x="777240" y="5029200"/>
            <a:ext cx="10634472"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5138928"/>
            <a:ext cx="10058400" cy="365760"/>
          </a:xfrm>
          <a:prstGeom prst="rect">
            <a:avLst/>
          </a:prstGeom>
          <a:noFill/>
        </p:spPr>
        <p:txBody>
          <a:bodyPr wrap="square" anchor="t">
            <a:spAutoFit/>
          </a:bodyPr>
          <a:lstStyle/>
          <a:p>
            <a:pPr algn="l">
              <a:spcAft>
                <a:spcPts val="400"/>
              </a:spcAft>
            </a:pPr>
            <a:r>
              <a:rPr sz="1200" b="1">
                <a:solidFill>
                  <a:srgbClr val="5B6372"/>
                </a:solidFill>
                <a:latin typeface="Arial"/>
              </a:rPr>
              <a:t>Tools:  </a:t>
            </a:r>
            <a:r>
              <a:rPr sz="1200" b="0">
                <a:solidFill>
                  <a:srgbClr val="5B6372"/>
                </a:solidFill>
                <a:latin typeface="Arial"/>
              </a:rPr>
              <a:t>Qiskit 2.x, NumPy, IBM Quantum Runtime, OpenQASM</a:t>
            </a:r>
          </a:p>
        </p:txBody>
      </p:sp>
      <p:sp>
        <p:nvSpPr>
          <p:cNvPr id="17" name="TextBox 16"/>
          <p:cNvSpPr txBox="1"/>
          <p:nvPr/>
        </p:nvSpPr>
        <p:spPr>
          <a:xfrm>
            <a:off x="1051560" y="5504688"/>
            <a:ext cx="10058400" cy="365760"/>
          </a:xfrm>
          <a:prstGeom prst="rect">
            <a:avLst/>
          </a:prstGeom>
          <a:noFill/>
        </p:spPr>
        <p:txBody>
          <a:bodyPr wrap="square" anchor="t">
            <a:spAutoFit/>
          </a:bodyPr>
          <a:lstStyle/>
          <a:p>
            <a:pPr algn="l">
              <a:spcAft>
                <a:spcPts val="400"/>
              </a:spcAft>
            </a:pPr>
            <a:r>
              <a:rPr sz="1200" b="1">
                <a:solidFill>
                  <a:srgbClr val="1F6FEB"/>
                </a:solidFill>
                <a:latin typeface="Arial"/>
              </a:rPr>
              <a:t>Full step-by-step guide:  </a:t>
            </a:r>
            <a:r>
              <a:rPr sz="1200" b="0">
                <a:solidFill>
                  <a:srgbClr val="161B26"/>
                </a:solidFill>
                <a:latin typeface="Arial"/>
              </a:rPr>
              <a:t>Learner Guide — Activity 12: Quantum Fourier Transform</a:t>
            </a:r>
          </a:p>
        </p:txBody>
      </p:sp>
      <p:sp>
        <p:nvSpPr>
          <p:cNvPr id="18" name="TextBox 1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9" name="TextBox 1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0" name="TextBox 1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74</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12 · VERIFY &amp; DEBRIEF</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Quantum Fourier Transform</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21488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21488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1965960"/>
            <a:ext cx="10058400" cy="411480"/>
          </a:xfrm>
          <a:prstGeom prst="rect">
            <a:avLst/>
          </a:prstGeom>
          <a:noFill/>
        </p:spPr>
        <p:txBody>
          <a:bodyPr wrap="square" anchor="t">
            <a:spAutoFit/>
          </a:bodyPr>
          <a:lstStyle/>
          <a:p>
            <a:pPr algn="l">
              <a:spcAft>
                <a:spcPts val="400"/>
              </a:spcAft>
            </a:pPr>
            <a:r>
              <a:rPr sz="1300" b="1">
                <a:solidFill>
                  <a:srgbClr val="127A3E"/>
                </a:solidFill>
                <a:latin typeface="Arial"/>
              </a:rPr>
              <a:t>TEST IT — HOW YOU KNOW IT WORKED</a:t>
            </a:r>
          </a:p>
        </p:txBody>
      </p:sp>
      <p:sp>
        <p:nvSpPr>
          <p:cNvPr id="10" name="TextBox 9"/>
          <p:cNvSpPr txBox="1"/>
          <p:nvPr/>
        </p:nvSpPr>
        <p:spPr>
          <a:xfrm>
            <a:off x="1143000" y="2423160"/>
            <a:ext cx="10058400" cy="1371600"/>
          </a:xfrm>
          <a:prstGeom prst="rect">
            <a:avLst/>
          </a:prstGeom>
          <a:noFill/>
        </p:spPr>
        <p:txBody>
          <a:bodyPr wrap="square" anchor="t">
            <a:spAutoFit/>
          </a:bodyPr>
          <a:lstStyle/>
          <a:p>
            <a:pPr algn="l">
              <a:spcAft>
                <a:spcPts val="400"/>
              </a:spcAft>
            </a:pPr>
            <a:r>
              <a:rPr sz="1600" b="0">
                <a:solidFill>
                  <a:srgbClr val="161B26"/>
                </a:solidFill>
                <a:latin typeface="Arial"/>
              </a:rPr>
              <a:t>Your hand-built QFT circuit produces the same state vector as Qiskit's built-in QFT and matches a normalised classical FFT of the same input, using on the order of n^2 gates.</a:t>
            </a:r>
          </a:p>
        </p:txBody>
      </p:sp>
      <p:sp>
        <p:nvSpPr>
          <p:cNvPr id="11" name="TextBox 10"/>
          <p:cNvSpPr txBox="1"/>
          <p:nvPr/>
        </p:nvSpPr>
        <p:spPr>
          <a:xfrm>
            <a:off x="777240" y="4096512"/>
            <a:ext cx="10607040" cy="365760"/>
          </a:xfrm>
          <a:prstGeom prst="rect">
            <a:avLst/>
          </a:prstGeom>
          <a:noFill/>
        </p:spPr>
        <p:txBody>
          <a:bodyPr wrap="square" anchor="t">
            <a:spAutoFit/>
          </a:bodyPr>
          <a:lstStyle/>
          <a:p>
            <a:pPr algn="l">
              <a:spcAft>
                <a:spcPts val="400"/>
              </a:spcAft>
            </a:pPr>
            <a:r>
              <a:rPr sz="1300" b="1">
                <a:solidFill>
                  <a:srgbClr val="1F6FEB"/>
                </a:solidFill>
                <a:latin typeface="Arial"/>
              </a:rPr>
              <a:t>DISCUSS WITH YOUR TRAINER</a:t>
            </a:r>
          </a:p>
        </p:txBody>
      </p:sp>
      <p:sp>
        <p:nvSpPr>
          <p:cNvPr id="12" name="Rectangle 11"/>
          <p:cNvSpPr/>
          <p:nvPr/>
        </p:nvSpPr>
        <p:spPr>
          <a:xfrm>
            <a:off x="777240" y="4480560"/>
            <a:ext cx="3447288" cy="1463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480560"/>
            <a:ext cx="3447288"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8" y="4663440"/>
            <a:ext cx="3044952" cy="457200"/>
          </a:xfrm>
          <a:prstGeom prst="rect">
            <a:avLst/>
          </a:prstGeom>
          <a:noFill/>
        </p:spPr>
        <p:txBody>
          <a:bodyPr wrap="square" anchor="t">
            <a:spAutoFit/>
          </a:bodyPr>
          <a:lstStyle/>
          <a:p>
            <a:pPr algn="l">
              <a:spcAft>
                <a:spcPts val="400"/>
              </a:spcAft>
            </a:pPr>
            <a:r>
              <a:rPr sz="1350" b="1">
                <a:solidFill>
                  <a:srgbClr val="1F6FEB"/>
                </a:solidFill>
                <a:latin typeface="Arial"/>
              </a:rPr>
              <a:t>What did the result show?</a:t>
            </a:r>
          </a:p>
        </p:txBody>
      </p:sp>
      <p:sp>
        <p:nvSpPr>
          <p:cNvPr id="15" name="TextBox 14"/>
          <p:cNvSpPr txBox="1"/>
          <p:nvPr/>
        </p:nvSpPr>
        <p:spPr>
          <a:xfrm>
            <a:off x="978408" y="5138928"/>
            <a:ext cx="3044952" cy="731520"/>
          </a:xfrm>
          <a:prstGeom prst="rect">
            <a:avLst/>
          </a:prstGeom>
          <a:noFill/>
        </p:spPr>
        <p:txBody>
          <a:bodyPr wrap="square" anchor="t">
            <a:spAutoFit/>
          </a:bodyPr>
          <a:lstStyle/>
          <a:p>
            <a:pPr algn="l">
              <a:spcAft>
                <a:spcPts val="400"/>
              </a:spcAft>
            </a:pPr>
            <a:r>
              <a:rPr sz="1200" b="0">
                <a:solidFill>
                  <a:srgbClr val="5B6372"/>
                </a:solidFill>
                <a:latin typeface="Arial"/>
              </a:rPr>
              <a:t>Restate the outcome in your own words.</a:t>
            </a:r>
          </a:p>
        </p:txBody>
      </p:sp>
      <p:sp>
        <p:nvSpPr>
          <p:cNvPr id="16" name="Rectangle 15"/>
          <p:cNvSpPr/>
          <p:nvPr/>
        </p:nvSpPr>
        <p:spPr>
          <a:xfrm>
            <a:off x="4370832" y="4480560"/>
            <a:ext cx="3447288" cy="1463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70832" y="4480560"/>
            <a:ext cx="344728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0" y="4663440"/>
            <a:ext cx="3044952" cy="457200"/>
          </a:xfrm>
          <a:prstGeom prst="rect">
            <a:avLst/>
          </a:prstGeom>
          <a:noFill/>
        </p:spPr>
        <p:txBody>
          <a:bodyPr wrap="square" anchor="t">
            <a:spAutoFit/>
          </a:bodyPr>
          <a:lstStyle/>
          <a:p>
            <a:pPr algn="l">
              <a:spcAft>
                <a:spcPts val="400"/>
              </a:spcAft>
            </a:pPr>
            <a:r>
              <a:rPr sz="1350" b="1">
                <a:solidFill>
                  <a:srgbClr val="10B981"/>
                </a:solidFill>
                <a:latin typeface="Arial"/>
              </a:rPr>
              <a:t>Why does it work?</a:t>
            </a:r>
          </a:p>
        </p:txBody>
      </p:sp>
      <p:sp>
        <p:nvSpPr>
          <p:cNvPr id="19" name="TextBox 18"/>
          <p:cNvSpPr txBox="1"/>
          <p:nvPr/>
        </p:nvSpPr>
        <p:spPr>
          <a:xfrm>
            <a:off x="4572000" y="5138928"/>
            <a:ext cx="3044952" cy="731520"/>
          </a:xfrm>
          <a:prstGeom prst="rect">
            <a:avLst/>
          </a:prstGeom>
          <a:noFill/>
        </p:spPr>
        <p:txBody>
          <a:bodyPr wrap="square" anchor="t">
            <a:spAutoFit/>
          </a:bodyPr>
          <a:lstStyle/>
          <a:p>
            <a:pPr algn="l">
              <a:spcAft>
                <a:spcPts val="400"/>
              </a:spcAft>
            </a:pPr>
            <a:r>
              <a:rPr sz="1200" b="0">
                <a:solidFill>
                  <a:srgbClr val="5B6372"/>
                </a:solidFill>
                <a:latin typeface="Arial"/>
              </a:rPr>
              <a:t>Name the quantum principle the activity relies on.</a:t>
            </a:r>
          </a:p>
        </p:txBody>
      </p:sp>
      <p:sp>
        <p:nvSpPr>
          <p:cNvPr id="20" name="Rectangle 19"/>
          <p:cNvSpPr/>
          <p:nvPr/>
        </p:nvSpPr>
        <p:spPr>
          <a:xfrm>
            <a:off x="7964424" y="4480560"/>
            <a:ext cx="3447288" cy="1463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964424" y="4480560"/>
            <a:ext cx="3447288"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65592" y="4663440"/>
            <a:ext cx="3044952" cy="457200"/>
          </a:xfrm>
          <a:prstGeom prst="rect">
            <a:avLst/>
          </a:prstGeom>
          <a:noFill/>
        </p:spPr>
        <p:txBody>
          <a:bodyPr wrap="square" anchor="t">
            <a:spAutoFit/>
          </a:bodyPr>
          <a:lstStyle/>
          <a:p>
            <a:pPr algn="l">
              <a:spcAft>
                <a:spcPts val="400"/>
              </a:spcAft>
            </a:pPr>
            <a:r>
              <a:rPr sz="1350" b="1">
                <a:solidFill>
                  <a:srgbClr val="7C3AED"/>
                </a:solidFill>
                <a:latin typeface="Arial"/>
              </a:rPr>
              <a:t>Where would you use it?</a:t>
            </a:r>
          </a:p>
        </p:txBody>
      </p:sp>
      <p:sp>
        <p:nvSpPr>
          <p:cNvPr id="23" name="TextBox 22"/>
          <p:cNvSpPr txBox="1"/>
          <p:nvPr/>
        </p:nvSpPr>
        <p:spPr>
          <a:xfrm>
            <a:off x="8165592" y="5138928"/>
            <a:ext cx="3044952" cy="731520"/>
          </a:xfrm>
          <a:prstGeom prst="rect">
            <a:avLst/>
          </a:prstGeom>
          <a:noFill/>
        </p:spPr>
        <p:txBody>
          <a:bodyPr wrap="square" anchor="t">
            <a:spAutoFit/>
          </a:bodyPr>
          <a:lstStyle/>
          <a:p>
            <a:pPr algn="l">
              <a:spcAft>
                <a:spcPts val="400"/>
              </a:spcAft>
            </a:pPr>
            <a:r>
              <a:rPr sz="1200" b="0">
                <a:solidFill>
                  <a:srgbClr val="5B6372"/>
                </a:solidFill>
                <a:latin typeface="Arial"/>
              </a:rPr>
              <a:t>Give one realistic application in your own field.</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75</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RECAP</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Recap — Quantum Algorithms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600">
                <a:solidFill>
                  <a:srgbClr val="161B26"/>
                </a:solidFill>
                <a:latin typeface="Arial"/>
              </a:rPr>
              <a:t>•  The query (oracle) model</a:t>
            </a:r>
          </a:p>
          <a:p>
            <a:pPr>
              <a:spcAft>
                <a:spcPts val="1000"/>
              </a:spcAft>
            </a:pPr>
            <a:r>
              <a:rPr sz="1600">
                <a:solidFill>
                  <a:srgbClr val="161B26"/>
                </a:solidFill>
                <a:latin typeface="Arial"/>
              </a:rPr>
              <a:t>•  Deutsch algorithm</a:t>
            </a:r>
          </a:p>
          <a:p>
            <a:pPr>
              <a:spcAft>
                <a:spcPts val="1000"/>
              </a:spcAft>
            </a:pPr>
            <a:r>
              <a:rPr sz="1600">
                <a:solidFill>
                  <a:srgbClr val="161B26"/>
                </a:solidFill>
                <a:latin typeface="Arial"/>
              </a:rPr>
              <a:t>•  Deutsch-Jozsa</a:t>
            </a:r>
          </a:p>
          <a:p>
            <a:pPr>
              <a:spcAft>
                <a:spcPts val="1000"/>
              </a:spcAft>
            </a:pPr>
            <a:r>
              <a:rPr sz="1600">
                <a:solidFill>
                  <a:srgbClr val="161B26"/>
                </a:solidFill>
                <a:latin typeface="Arial"/>
              </a:rPr>
              <a:t>•  Bernstein-Vazirani</a:t>
            </a:r>
          </a:p>
          <a:p>
            <a:pPr>
              <a:spcAft>
                <a:spcPts val="1000"/>
              </a:spcAft>
            </a:pPr>
            <a:r>
              <a:rPr sz="1600">
                <a:solidFill>
                  <a:srgbClr val="161B26"/>
                </a:solidFill>
                <a:latin typeface="Arial"/>
              </a:rPr>
              <a:t>•  Grover search</a:t>
            </a:r>
          </a:p>
          <a:p>
            <a:pPr>
              <a:spcAft>
                <a:spcPts val="1000"/>
              </a:spcAft>
            </a:pPr>
            <a:r>
              <a:rPr sz="1600">
                <a:solidFill>
                  <a:srgbClr val="161B26"/>
                </a:solidFill>
                <a:latin typeface="Arial"/>
              </a:rPr>
              <a:t>•  Quantum Fourier Transform</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76</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06</a:t>
            </a:r>
          </a:p>
        </p:txBody>
      </p:sp>
      <p:sp>
        <p:nvSpPr>
          <p:cNvPr id="6" name="TextBox 5"/>
          <p:cNvSpPr txBox="1"/>
          <p:nvPr/>
        </p:nvSpPr>
        <p:spPr>
          <a:xfrm>
            <a:off x="1143000" y="2743200"/>
            <a:ext cx="9509760" cy="1463040"/>
          </a:xfrm>
          <a:prstGeom prst="rect">
            <a:avLst/>
          </a:prstGeom>
          <a:noFill/>
        </p:spPr>
        <p:txBody>
          <a:bodyPr wrap="square" anchor="t">
            <a:spAutoFit/>
          </a:bodyPr>
          <a:lstStyle/>
          <a:p>
            <a:pPr algn="l">
              <a:spcAft>
                <a:spcPts val="400"/>
              </a:spcAft>
            </a:pPr>
            <a:r>
              <a:rPr sz="4000" b="1">
                <a:solidFill>
                  <a:srgbClr val="161B26"/>
                </a:solidFill>
                <a:latin typeface="Arial"/>
              </a:rPr>
              <a:t>Quantum Cryptography and Quantum Safety</a:t>
            </a:r>
          </a:p>
        </p:txBody>
      </p:sp>
      <p:sp>
        <p:nvSpPr>
          <p:cNvPr id="7" name="TextBox 6"/>
          <p:cNvSpPr txBox="1"/>
          <p:nvPr/>
        </p:nvSpPr>
        <p:spPr>
          <a:xfrm>
            <a:off x="1161288" y="4251960"/>
            <a:ext cx="9692640" cy="822960"/>
          </a:xfrm>
          <a:prstGeom prst="rect">
            <a:avLst/>
          </a:prstGeom>
          <a:noFill/>
        </p:spPr>
        <p:txBody>
          <a:bodyPr wrap="square" anchor="t">
            <a:spAutoFit/>
          </a:bodyPr>
          <a:lstStyle/>
          <a:p>
            <a:pPr algn="l">
              <a:spcAft>
                <a:spcPts val="400"/>
              </a:spcAft>
            </a:pPr>
            <a:r>
              <a:rPr sz="1500" b="0">
                <a:solidFill>
                  <a:srgbClr val="5B6372"/>
                </a:solidFill>
                <a:latin typeface="Arial"/>
              </a:rPr>
              <a:t>Classical Cryptography · The Quantum Threat · Shor Algorithm · Post-Quantum Cryptography</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06</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77</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MAPS TO LO4, LO7</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Key Concepts — Quantum Cryptography and Quantum Safety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Goals of cryptography</a:t>
            </a:r>
          </a:p>
          <a:p>
            <a:pPr algn="l">
              <a:spcAft>
                <a:spcPts val="300"/>
              </a:spcAft>
            </a:pPr>
            <a:r>
              <a:rPr sz="1100" b="0">
                <a:solidFill>
                  <a:srgbClr val="5B6372"/>
                </a:solidFill>
                <a:latin typeface="Arial"/>
              </a:rPr>
              <a:t>Confidentiality, integrity, authentication and non-repudiation are the four properties every scheme must address.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Classical schemes</a:t>
            </a:r>
          </a:p>
          <a:p>
            <a:pPr algn="l">
              <a:spcAft>
                <a:spcPts val="300"/>
              </a:spcAft>
            </a:pPr>
            <a:r>
              <a:rPr sz="1100" b="0">
                <a:solidFill>
                  <a:srgbClr val="5B6372"/>
                </a:solidFill>
                <a:latin typeface="Arial"/>
              </a:rPr>
              <a:t>Symmetric (AES), asymmetric (RSA, ECC) and hash functions (SHA-256) rest on problems that are hard for classical computers.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3429000"/>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The quantum threat</a:t>
            </a:r>
          </a:p>
          <a:p>
            <a:pPr algn="l">
              <a:spcAft>
                <a:spcPts val="300"/>
              </a:spcAft>
            </a:pPr>
            <a:r>
              <a:rPr sz="1100" b="0">
                <a:solidFill>
                  <a:srgbClr val="5B6372"/>
                </a:solidFill>
                <a:latin typeface="Arial"/>
              </a:rPr>
              <a:t>Shor's algorithm breaks RSA and ECC in polynomial time; Grover halves the effective key length of symmetric ciphers.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3429000"/>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Shor's algorithm</a:t>
            </a:r>
          </a:p>
          <a:p>
            <a:pPr algn="l">
              <a:spcAft>
                <a:spcPts val="300"/>
              </a:spcAft>
            </a:pPr>
            <a:r>
              <a:rPr sz="1100" b="0">
                <a:solidFill>
                  <a:srgbClr val="5B6372"/>
                </a:solidFill>
                <a:latin typeface="Arial"/>
              </a:rPr>
              <a:t>Reduces factoring to period-finding, then uses the QFT to extract the period — turning a hard problem into an easy one.</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5</a:t>
            </a:r>
          </a:p>
        </p:txBody>
      </p:sp>
      <p:sp>
        <p:nvSpPr>
          <p:cNvPr id="31" name="TextBox 30"/>
          <p:cNvSpPr txBox="1"/>
          <p:nvPr/>
        </p:nvSpPr>
        <p:spPr>
          <a:xfrm>
            <a:off x="1764792" y="4965192"/>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Harvest now, decrypt later</a:t>
            </a:r>
          </a:p>
          <a:p>
            <a:pPr algn="l">
              <a:spcAft>
                <a:spcPts val="300"/>
              </a:spcAft>
            </a:pPr>
            <a:r>
              <a:rPr sz="1100" b="0">
                <a:solidFill>
                  <a:srgbClr val="5B6372"/>
                </a:solidFill>
                <a:latin typeface="Arial"/>
              </a:rPr>
              <a:t>Adversaries can record encrypted traffic today and decrypt it once a cryptographically relevant quantum computer exists.</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6</a:t>
            </a:r>
          </a:p>
        </p:txBody>
      </p:sp>
      <p:sp>
        <p:nvSpPr>
          <p:cNvPr id="36" name="TextBox 35"/>
          <p:cNvSpPr txBox="1"/>
          <p:nvPr/>
        </p:nvSpPr>
        <p:spPr>
          <a:xfrm>
            <a:off x="7219188" y="4965192"/>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Post-quantum cryptography</a:t>
            </a:r>
          </a:p>
          <a:p>
            <a:pPr algn="l">
              <a:spcAft>
                <a:spcPts val="300"/>
              </a:spcAft>
            </a:pPr>
            <a:r>
              <a:rPr sz="1100" b="0">
                <a:solidFill>
                  <a:srgbClr val="5B6372"/>
                </a:solidFill>
                <a:latin typeface="Arial"/>
              </a:rPr>
              <a:t>NIST has standardised ML-KEM (Kyber), ML-DSA (Dilithium), SLH-DSA (SPHINCS+) and HQC as quantum-resistant replacements.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78</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WHAT BREAKS AND WHAT SURVIVES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The Quantum Threat to Cryptography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rypto-threat.png"/>
          <p:cNvPicPr>
            <a:picLocks noChangeAspect="1"/>
          </p:cNvPicPr>
          <p:nvPr/>
        </p:nvPicPr>
        <p:blipFill>
          <a:blip r:embed="rId2"/>
          <a:stretch>
            <a:fillRect/>
          </a:stretch>
        </p:blipFill>
        <p:spPr>
          <a:xfrm>
            <a:off x="2027128" y="1755648"/>
            <a:ext cx="8134695" cy="3950208"/>
          </a:xfrm>
          <a:prstGeom prst="rect">
            <a:avLst/>
          </a:prstGeom>
        </p:spPr>
      </p:pic>
      <p:sp>
        <p:nvSpPr>
          <p:cNvPr id="8" name="Rectangle 7"/>
          <p:cNvSpPr/>
          <p:nvPr/>
        </p:nvSpPr>
        <p:spPr>
          <a:xfrm>
            <a:off x="777240" y="5870448"/>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5870448"/>
            <a:ext cx="10241280" cy="457200"/>
          </a:xfrm>
          <a:prstGeom prst="rect">
            <a:avLst/>
          </a:prstGeom>
          <a:noFill/>
        </p:spPr>
        <p:txBody>
          <a:bodyPr wrap="square" anchor="ctr">
            <a:spAutoFit/>
          </a:bodyPr>
          <a:lstStyle/>
          <a:p>
            <a:pPr algn="ctr">
              <a:spcAft>
                <a:spcPts val="400"/>
              </a:spcAft>
            </a:pPr>
            <a:r>
              <a:rPr sz="1350" b="0">
                <a:solidFill>
                  <a:srgbClr val="161B26"/>
                </a:solidFill>
                <a:latin typeface="Arial"/>
              </a:rPr>
              <a:t>Symmetric crypto survives by doubling key length; public-key crypto must be replaced outright.</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79</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FACTORING VIA PERIOD FINDING</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Shor's Algorithm</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hor-flow.png"/>
          <p:cNvPicPr>
            <a:picLocks noChangeAspect="1"/>
          </p:cNvPicPr>
          <p:nvPr/>
        </p:nvPicPr>
        <p:blipFill>
          <a:blip r:embed="rId2"/>
          <a:stretch>
            <a:fillRect/>
          </a:stretch>
        </p:blipFill>
        <p:spPr>
          <a:xfrm>
            <a:off x="777240" y="1837816"/>
            <a:ext cx="10634472" cy="3785872"/>
          </a:xfrm>
          <a:prstGeom prst="rect">
            <a:avLst/>
          </a:prstGeom>
        </p:spPr>
      </p:pic>
      <p:sp>
        <p:nvSpPr>
          <p:cNvPr id="8" name="Rectangle 7"/>
          <p:cNvSpPr/>
          <p:nvPr/>
        </p:nvSpPr>
        <p:spPr>
          <a:xfrm>
            <a:off x="777240" y="5870448"/>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5870448"/>
            <a:ext cx="10241280" cy="457200"/>
          </a:xfrm>
          <a:prstGeom prst="rect">
            <a:avLst/>
          </a:prstGeom>
          <a:noFill/>
        </p:spPr>
        <p:txBody>
          <a:bodyPr wrap="square" anchor="ctr">
            <a:spAutoFit/>
          </a:bodyPr>
          <a:lstStyle/>
          <a:p>
            <a:pPr algn="ctr">
              <a:spcAft>
                <a:spcPts val="400"/>
              </a:spcAft>
            </a:pPr>
            <a:r>
              <a:rPr sz="1350" b="0">
                <a:solidFill>
                  <a:srgbClr val="161B26"/>
                </a:solidFill>
                <a:latin typeface="Arial"/>
              </a:rPr>
              <a:t>Only the period-finding step is quantum — the rest is classical number theory.</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80</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THE FOUR GOALS: CONFIDENTIALITY · INTEGRITY · AUTHENTICATION · NON-REPUDIATION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Classical Cryptography — What You Must Know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74519"/>
            <a:ext cx="1914204"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874519"/>
            <a:ext cx="1639884" cy="475488"/>
          </a:xfrm>
          <a:prstGeom prst="rect">
            <a:avLst/>
          </a:prstGeom>
          <a:noFill/>
        </p:spPr>
        <p:txBody>
          <a:bodyPr wrap="square" anchor="ctr">
            <a:spAutoFit/>
          </a:bodyPr>
          <a:lstStyle/>
          <a:p>
            <a:pPr algn="l">
              <a:spcAft>
                <a:spcPts val="400"/>
              </a:spcAft>
            </a:pPr>
            <a:r>
              <a:rPr sz="1300" b="1">
                <a:solidFill>
                  <a:srgbClr val="FFFFFF"/>
                </a:solidFill>
                <a:latin typeface="Arial"/>
              </a:rPr>
              <a:t>Type</a:t>
            </a:r>
          </a:p>
        </p:txBody>
      </p:sp>
      <p:sp>
        <p:nvSpPr>
          <p:cNvPr id="9" name="Rectangle 8"/>
          <p:cNvSpPr/>
          <p:nvPr/>
        </p:nvSpPr>
        <p:spPr>
          <a:xfrm>
            <a:off x="2691444" y="1874519"/>
            <a:ext cx="2339583"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28604" y="1874519"/>
            <a:ext cx="2065263" cy="475488"/>
          </a:xfrm>
          <a:prstGeom prst="rect">
            <a:avLst/>
          </a:prstGeom>
          <a:noFill/>
        </p:spPr>
        <p:txBody>
          <a:bodyPr wrap="square" anchor="ctr">
            <a:spAutoFit/>
          </a:bodyPr>
          <a:lstStyle/>
          <a:p>
            <a:pPr algn="l">
              <a:spcAft>
                <a:spcPts val="400"/>
              </a:spcAft>
            </a:pPr>
            <a:r>
              <a:rPr sz="1300" b="1">
                <a:solidFill>
                  <a:srgbClr val="FFFFFF"/>
                </a:solidFill>
                <a:latin typeface="Arial"/>
              </a:rPr>
              <a:t>Example</a:t>
            </a:r>
          </a:p>
        </p:txBody>
      </p:sp>
      <p:sp>
        <p:nvSpPr>
          <p:cNvPr id="11" name="Rectangle 10"/>
          <p:cNvSpPr/>
          <p:nvPr/>
        </p:nvSpPr>
        <p:spPr>
          <a:xfrm>
            <a:off x="5031027" y="1874519"/>
            <a:ext cx="3190341"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168187" y="1874519"/>
            <a:ext cx="2916021" cy="475488"/>
          </a:xfrm>
          <a:prstGeom prst="rect">
            <a:avLst/>
          </a:prstGeom>
          <a:noFill/>
        </p:spPr>
        <p:txBody>
          <a:bodyPr wrap="square" anchor="ctr">
            <a:spAutoFit/>
          </a:bodyPr>
          <a:lstStyle/>
          <a:p>
            <a:pPr algn="l">
              <a:spcAft>
                <a:spcPts val="400"/>
              </a:spcAft>
            </a:pPr>
            <a:r>
              <a:rPr sz="1300" b="1">
                <a:solidFill>
                  <a:srgbClr val="FFFFFF"/>
                </a:solidFill>
                <a:latin typeface="Arial"/>
              </a:rPr>
              <a:t>Key</a:t>
            </a:r>
          </a:p>
        </p:txBody>
      </p:sp>
      <p:sp>
        <p:nvSpPr>
          <p:cNvPr id="13" name="Rectangle 12"/>
          <p:cNvSpPr/>
          <p:nvPr/>
        </p:nvSpPr>
        <p:spPr>
          <a:xfrm>
            <a:off x="8221368" y="1874519"/>
            <a:ext cx="3190341"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58528" y="1874519"/>
            <a:ext cx="2916021" cy="475488"/>
          </a:xfrm>
          <a:prstGeom prst="rect">
            <a:avLst/>
          </a:prstGeom>
          <a:noFill/>
        </p:spPr>
        <p:txBody>
          <a:bodyPr wrap="square" anchor="ctr">
            <a:spAutoFit/>
          </a:bodyPr>
          <a:lstStyle/>
          <a:p>
            <a:pPr algn="l">
              <a:spcAft>
                <a:spcPts val="400"/>
              </a:spcAft>
            </a:pPr>
            <a:r>
              <a:rPr sz="1300" b="1">
                <a:solidFill>
                  <a:srgbClr val="FFFFFF"/>
                </a:solidFill>
                <a:latin typeface="Arial"/>
              </a:rPr>
              <a:t>Broken by</a:t>
            </a:r>
          </a:p>
        </p:txBody>
      </p:sp>
      <p:sp>
        <p:nvSpPr>
          <p:cNvPr id="15" name="Rectangle 14"/>
          <p:cNvSpPr/>
          <p:nvPr/>
        </p:nvSpPr>
        <p:spPr>
          <a:xfrm>
            <a:off x="777240" y="2350007"/>
            <a:ext cx="1914204"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2350007"/>
            <a:ext cx="1639884" cy="475488"/>
          </a:xfrm>
          <a:prstGeom prst="rect">
            <a:avLst/>
          </a:prstGeom>
          <a:noFill/>
        </p:spPr>
        <p:txBody>
          <a:bodyPr wrap="square" anchor="ctr">
            <a:spAutoFit/>
          </a:bodyPr>
          <a:lstStyle/>
          <a:p>
            <a:pPr algn="l">
              <a:spcAft>
                <a:spcPts val="400"/>
              </a:spcAft>
            </a:pPr>
            <a:r>
              <a:rPr sz="1200" b="1">
                <a:solidFill>
                  <a:srgbClr val="161B26"/>
                </a:solidFill>
                <a:latin typeface="Arial"/>
              </a:rPr>
              <a:t>Symmetric</a:t>
            </a:r>
          </a:p>
        </p:txBody>
      </p:sp>
      <p:sp>
        <p:nvSpPr>
          <p:cNvPr id="17" name="Rectangle 16"/>
          <p:cNvSpPr/>
          <p:nvPr/>
        </p:nvSpPr>
        <p:spPr>
          <a:xfrm>
            <a:off x="2691444" y="2350007"/>
            <a:ext cx="2339583"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828604" y="2350007"/>
            <a:ext cx="2065263" cy="475488"/>
          </a:xfrm>
          <a:prstGeom prst="rect">
            <a:avLst/>
          </a:prstGeom>
          <a:noFill/>
        </p:spPr>
        <p:txBody>
          <a:bodyPr wrap="square" anchor="ctr">
            <a:spAutoFit/>
          </a:bodyPr>
          <a:lstStyle/>
          <a:p>
            <a:pPr algn="l">
              <a:spcAft>
                <a:spcPts val="400"/>
              </a:spcAft>
            </a:pPr>
            <a:r>
              <a:rPr sz="1200" b="0">
                <a:solidFill>
                  <a:srgbClr val="161B26"/>
                </a:solidFill>
                <a:latin typeface="Arial"/>
              </a:rPr>
              <a:t>AES-256</a:t>
            </a:r>
          </a:p>
        </p:txBody>
      </p:sp>
      <p:sp>
        <p:nvSpPr>
          <p:cNvPr id="19" name="Rectangle 18"/>
          <p:cNvSpPr/>
          <p:nvPr/>
        </p:nvSpPr>
        <p:spPr>
          <a:xfrm>
            <a:off x="5031027" y="2350007"/>
            <a:ext cx="3190341"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168187" y="2350007"/>
            <a:ext cx="2916021" cy="475488"/>
          </a:xfrm>
          <a:prstGeom prst="rect">
            <a:avLst/>
          </a:prstGeom>
          <a:noFill/>
        </p:spPr>
        <p:txBody>
          <a:bodyPr wrap="square" anchor="ctr">
            <a:spAutoFit/>
          </a:bodyPr>
          <a:lstStyle/>
          <a:p>
            <a:pPr algn="l">
              <a:spcAft>
                <a:spcPts val="400"/>
              </a:spcAft>
            </a:pPr>
            <a:r>
              <a:rPr sz="1200" b="0">
                <a:solidFill>
                  <a:srgbClr val="161B26"/>
                </a:solidFill>
                <a:latin typeface="Arial"/>
              </a:rPr>
              <a:t>One shared secret key</a:t>
            </a:r>
          </a:p>
        </p:txBody>
      </p:sp>
      <p:sp>
        <p:nvSpPr>
          <p:cNvPr id="21" name="Rectangle 20"/>
          <p:cNvSpPr/>
          <p:nvPr/>
        </p:nvSpPr>
        <p:spPr>
          <a:xfrm>
            <a:off x="8221368" y="2350007"/>
            <a:ext cx="3190341"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358528" y="2350007"/>
            <a:ext cx="2916021" cy="475488"/>
          </a:xfrm>
          <a:prstGeom prst="rect">
            <a:avLst/>
          </a:prstGeom>
          <a:noFill/>
        </p:spPr>
        <p:txBody>
          <a:bodyPr wrap="square" anchor="ctr">
            <a:spAutoFit/>
          </a:bodyPr>
          <a:lstStyle/>
          <a:p>
            <a:pPr algn="l">
              <a:spcAft>
                <a:spcPts val="400"/>
              </a:spcAft>
            </a:pPr>
            <a:r>
              <a:rPr sz="1200" b="0">
                <a:solidFill>
                  <a:srgbClr val="161B26"/>
                </a:solidFill>
                <a:latin typeface="Arial"/>
              </a:rPr>
              <a:t>Grover (halves strength)</a:t>
            </a:r>
          </a:p>
        </p:txBody>
      </p:sp>
      <p:sp>
        <p:nvSpPr>
          <p:cNvPr id="23" name="Rectangle 22"/>
          <p:cNvSpPr/>
          <p:nvPr/>
        </p:nvSpPr>
        <p:spPr>
          <a:xfrm>
            <a:off x="777240" y="2825495"/>
            <a:ext cx="1914204"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4400" y="2825495"/>
            <a:ext cx="1639884" cy="475488"/>
          </a:xfrm>
          <a:prstGeom prst="rect">
            <a:avLst/>
          </a:prstGeom>
          <a:noFill/>
        </p:spPr>
        <p:txBody>
          <a:bodyPr wrap="square" anchor="ctr">
            <a:spAutoFit/>
          </a:bodyPr>
          <a:lstStyle/>
          <a:p>
            <a:pPr algn="l">
              <a:spcAft>
                <a:spcPts val="400"/>
              </a:spcAft>
            </a:pPr>
            <a:r>
              <a:rPr sz="1200" b="1">
                <a:solidFill>
                  <a:srgbClr val="161B26"/>
                </a:solidFill>
                <a:latin typeface="Arial"/>
              </a:rPr>
              <a:t>Asymmetric</a:t>
            </a:r>
          </a:p>
        </p:txBody>
      </p:sp>
      <p:sp>
        <p:nvSpPr>
          <p:cNvPr id="25" name="Rectangle 24"/>
          <p:cNvSpPr/>
          <p:nvPr/>
        </p:nvSpPr>
        <p:spPr>
          <a:xfrm>
            <a:off x="2691444" y="2825495"/>
            <a:ext cx="2339583"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828604" y="2825495"/>
            <a:ext cx="2065263" cy="475488"/>
          </a:xfrm>
          <a:prstGeom prst="rect">
            <a:avLst/>
          </a:prstGeom>
          <a:noFill/>
        </p:spPr>
        <p:txBody>
          <a:bodyPr wrap="square" anchor="ctr">
            <a:spAutoFit/>
          </a:bodyPr>
          <a:lstStyle/>
          <a:p>
            <a:pPr algn="l">
              <a:spcAft>
                <a:spcPts val="400"/>
              </a:spcAft>
            </a:pPr>
            <a:r>
              <a:rPr sz="1200" b="0">
                <a:solidFill>
                  <a:srgbClr val="161B26"/>
                </a:solidFill>
                <a:latin typeface="Arial"/>
              </a:rPr>
              <a:t>RSA-2048, ECC</a:t>
            </a:r>
          </a:p>
        </p:txBody>
      </p:sp>
      <p:sp>
        <p:nvSpPr>
          <p:cNvPr id="27" name="Rectangle 26"/>
          <p:cNvSpPr/>
          <p:nvPr/>
        </p:nvSpPr>
        <p:spPr>
          <a:xfrm>
            <a:off x="5031027" y="2825495"/>
            <a:ext cx="3190341"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168187" y="2825495"/>
            <a:ext cx="2916021" cy="475488"/>
          </a:xfrm>
          <a:prstGeom prst="rect">
            <a:avLst/>
          </a:prstGeom>
          <a:noFill/>
        </p:spPr>
        <p:txBody>
          <a:bodyPr wrap="square" anchor="ctr">
            <a:spAutoFit/>
          </a:bodyPr>
          <a:lstStyle/>
          <a:p>
            <a:pPr algn="l">
              <a:spcAft>
                <a:spcPts val="400"/>
              </a:spcAft>
            </a:pPr>
            <a:r>
              <a:rPr sz="1200" b="0">
                <a:solidFill>
                  <a:srgbClr val="161B26"/>
                </a:solidFill>
                <a:latin typeface="Arial"/>
              </a:rPr>
              <a:t>Public + private key pair</a:t>
            </a:r>
          </a:p>
        </p:txBody>
      </p:sp>
      <p:sp>
        <p:nvSpPr>
          <p:cNvPr id="29" name="Rectangle 28"/>
          <p:cNvSpPr/>
          <p:nvPr/>
        </p:nvSpPr>
        <p:spPr>
          <a:xfrm>
            <a:off x="8221368" y="2825495"/>
            <a:ext cx="3190341"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358528" y="2825495"/>
            <a:ext cx="2916021" cy="475488"/>
          </a:xfrm>
          <a:prstGeom prst="rect">
            <a:avLst/>
          </a:prstGeom>
          <a:noFill/>
        </p:spPr>
        <p:txBody>
          <a:bodyPr wrap="square" anchor="ctr">
            <a:spAutoFit/>
          </a:bodyPr>
          <a:lstStyle/>
          <a:p>
            <a:pPr algn="l">
              <a:spcAft>
                <a:spcPts val="400"/>
              </a:spcAft>
            </a:pPr>
            <a:r>
              <a:rPr sz="1200" b="0">
                <a:solidFill>
                  <a:srgbClr val="161B26"/>
                </a:solidFill>
                <a:latin typeface="Arial"/>
              </a:rPr>
              <a:t>Shor (fully broken)</a:t>
            </a:r>
          </a:p>
        </p:txBody>
      </p:sp>
      <p:sp>
        <p:nvSpPr>
          <p:cNvPr id="31" name="Rectangle 30"/>
          <p:cNvSpPr/>
          <p:nvPr/>
        </p:nvSpPr>
        <p:spPr>
          <a:xfrm>
            <a:off x="777240" y="3300983"/>
            <a:ext cx="1914204"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14400" y="3300983"/>
            <a:ext cx="1639884" cy="475488"/>
          </a:xfrm>
          <a:prstGeom prst="rect">
            <a:avLst/>
          </a:prstGeom>
          <a:noFill/>
        </p:spPr>
        <p:txBody>
          <a:bodyPr wrap="square" anchor="ctr">
            <a:spAutoFit/>
          </a:bodyPr>
          <a:lstStyle/>
          <a:p>
            <a:pPr algn="l">
              <a:spcAft>
                <a:spcPts val="400"/>
              </a:spcAft>
            </a:pPr>
            <a:r>
              <a:rPr sz="1200" b="1">
                <a:solidFill>
                  <a:srgbClr val="161B26"/>
                </a:solidFill>
                <a:latin typeface="Arial"/>
              </a:rPr>
              <a:t>Hash</a:t>
            </a:r>
          </a:p>
        </p:txBody>
      </p:sp>
      <p:sp>
        <p:nvSpPr>
          <p:cNvPr id="33" name="Rectangle 32"/>
          <p:cNvSpPr/>
          <p:nvPr/>
        </p:nvSpPr>
        <p:spPr>
          <a:xfrm>
            <a:off x="2691444" y="3300983"/>
            <a:ext cx="2339583"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828604" y="3300983"/>
            <a:ext cx="2065263" cy="475488"/>
          </a:xfrm>
          <a:prstGeom prst="rect">
            <a:avLst/>
          </a:prstGeom>
          <a:noFill/>
        </p:spPr>
        <p:txBody>
          <a:bodyPr wrap="square" anchor="ctr">
            <a:spAutoFit/>
          </a:bodyPr>
          <a:lstStyle/>
          <a:p>
            <a:pPr algn="l">
              <a:spcAft>
                <a:spcPts val="400"/>
              </a:spcAft>
            </a:pPr>
            <a:r>
              <a:rPr sz="1200" b="0">
                <a:solidFill>
                  <a:srgbClr val="161B26"/>
                </a:solidFill>
                <a:latin typeface="Arial"/>
              </a:rPr>
              <a:t>SHA-256</a:t>
            </a:r>
          </a:p>
        </p:txBody>
      </p:sp>
      <p:sp>
        <p:nvSpPr>
          <p:cNvPr id="35" name="Rectangle 34"/>
          <p:cNvSpPr/>
          <p:nvPr/>
        </p:nvSpPr>
        <p:spPr>
          <a:xfrm>
            <a:off x="5031027" y="3300983"/>
            <a:ext cx="3190341"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168187" y="3300983"/>
            <a:ext cx="2916021" cy="475488"/>
          </a:xfrm>
          <a:prstGeom prst="rect">
            <a:avLst/>
          </a:prstGeom>
          <a:noFill/>
        </p:spPr>
        <p:txBody>
          <a:bodyPr wrap="square" anchor="ctr">
            <a:spAutoFit/>
          </a:bodyPr>
          <a:lstStyle/>
          <a:p>
            <a:pPr algn="l">
              <a:spcAft>
                <a:spcPts val="400"/>
              </a:spcAft>
            </a:pPr>
            <a:r>
              <a:rPr sz="1200" b="0">
                <a:solidFill>
                  <a:srgbClr val="161B26"/>
                </a:solidFill>
                <a:latin typeface="Arial"/>
              </a:rPr>
              <a:t>No key</a:t>
            </a:r>
          </a:p>
        </p:txBody>
      </p:sp>
      <p:sp>
        <p:nvSpPr>
          <p:cNvPr id="37" name="Rectangle 36"/>
          <p:cNvSpPr/>
          <p:nvPr/>
        </p:nvSpPr>
        <p:spPr>
          <a:xfrm>
            <a:off x="8221368" y="3300983"/>
            <a:ext cx="3190341"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358528" y="3300983"/>
            <a:ext cx="2916021" cy="475488"/>
          </a:xfrm>
          <a:prstGeom prst="rect">
            <a:avLst/>
          </a:prstGeom>
          <a:noFill/>
        </p:spPr>
        <p:txBody>
          <a:bodyPr wrap="square" anchor="ctr">
            <a:spAutoFit/>
          </a:bodyPr>
          <a:lstStyle/>
          <a:p>
            <a:pPr algn="l">
              <a:spcAft>
                <a:spcPts val="400"/>
              </a:spcAft>
            </a:pPr>
            <a:r>
              <a:rPr sz="1200" b="0">
                <a:solidFill>
                  <a:srgbClr val="161B26"/>
                </a:solidFill>
                <a:latin typeface="Arial"/>
              </a:rPr>
              <a:t>Grover (halves strength)</a:t>
            </a:r>
          </a:p>
        </p:txBody>
      </p:sp>
      <p:sp>
        <p:nvSpPr>
          <p:cNvPr id="39" name="Rectangle 38"/>
          <p:cNvSpPr/>
          <p:nvPr/>
        </p:nvSpPr>
        <p:spPr>
          <a:xfrm>
            <a:off x="777240" y="3776471"/>
            <a:ext cx="1914204"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14400" y="3776471"/>
            <a:ext cx="1639884" cy="475488"/>
          </a:xfrm>
          <a:prstGeom prst="rect">
            <a:avLst/>
          </a:prstGeom>
          <a:noFill/>
        </p:spPr>
        <p:txBody>
          <a:bodyPr wrap="square" anchor="ctr">
            <a:spAutoFit/>
          </a:bodyPr>
          <a:lstStyle/>
          <a:p>
            <a:pPr algn="l">
              <a:spcAft>
                <a:spcPts val="400"/>
              </a:spcAft>
            </a:pPr>
            <a:r>
              <a:rPr sz="1200" b="1">
                <a:solidFill>
                  <a:srgbClr val="161B26"/>
                </a:solidFill>
                <a:latin typeface="Arial"/>
              </a:rPr>
              <a:t>PQC KEM</a:t>
            </a:r>
          </a:p>
        </p:txBody>
      </p:sp>
      <p:sp>
        <p:nvSpPr>
          <p:cNvPr id="41" name="Rectangle 40"/>
          <p:cNvSpPr/>
          <p:nvPr/>
        </p:nvSpPr>
        <p:spPr>
          <a:xfrm>
            <a:off x="2691444" y="3776471"/>
            <a:ext cx="2339583"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828604" y="3776471"/>
            <a:ext cx="2065263" cy="475488"/>
          </a:xfrm>
          <a:prstGeom prst="rect">
            <a:avLst/>
          </a:prstGeom>
          <a:noFill/>
        </p:spPr>
        <p:txBody>
          <a:bodyPr wrap="square" anchor="ctr">
            <a:spAutoFit/>
          </a:bodyPr>
          <a:lstStyle/>
          <a:p>
            <a:pPr algn="l">
              <a:spcAft>
                <a:spcPts val="400"/>
              </a:spcAft>
            </a:pPr>
            <a:r>
              <a:rPr sz="1200" b="0">
                <a:solidFill>
                  <a:srgbClr val="161B26"/>
                </a:solidFill>
                <a:latin typeface="Arial"/>
              </a:rPr>
              <a:t>ML-KEM (Kyber)</a:t>
            </a:r>
          </a:p>
        </p:txBody>
      </p:sp>
      <p:sp>
        <p:nvSpPr>
          <p:cNvPr id="43" name="Rectangle 42"/>
          <p:cNvSpPr/>
          <p:nvPr/>
        </p:nvSpPr>
        <p:spPr>
          <a:xfrm>
            <a:off x="5031027" y="3776471"/>
            <a:ext cx="3190341"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168187" y="3776471"/>
            <a:ext cx="2916021" cy="475488"/>
          </a:xfrm>
          <a:prstGeom prst="rect">
            <a:avLst/>
          </a:prstGeom>
          <a:noFill/>
        </p:spPr>
        <p:txBody>
          <a:bodyPr wrap="square" anchor="ctr">
            <a:spAutoFit/>
          </a:bodyPr>
          <a:lstStyle/>
          <a:p>
            <a:pPr algn="l">
              <a:spcAft>
                <a:spcPts val="400"/>
              </a:spcAft>
            </a:pPr>
            <a:r>
              <a:rPr sz="1200" b="0">
                <a:solidFill>
                  <a:srgbClr val="161B26"/>
                </a:solidFill>
                <a:latin typeface="Arial"/>
              </a:rPr>
              <a:t>Lattice-based</a:t>
            </a:r>
          </a:p>
        </p:txBody>
      </p:sp>
      <p:sp>
        <p:nvSpPr>
          <p:cNvPr id="45" name="Rectangle 44"/>
          <p:cNvSpPr/>
          <p:nvPr/>
        </p:nvSpPr>
        <p:spPr>
          <a:xfrm>
            <a:off x="8221368" y="3776471"/>
            <a:ext cx="3190341"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358528" y="3776471"/>
            <a:ext cx="2916021" cy="475488"/>
          </a:xfrm>
          <a:prstGeom prst="rect">
            <a:avLst/>
          </a:prstGeom>
          <a:noFill/>
        </p:spPr>
        <p:txBody>
          <a:bodyPr wrap="square" anchor="ctr">
            <a:spAutoFit/>
          </a:bodyPr>
          <a:lstStyle/>
          <a:p>
            <a:pPr algn="l">
              <a:spcAft>
                <a:spcPts val="400"/>
              </a:spcAft>
            </a:pPr>
            <a:r>
              <a:rPr sz="1200" b="0">
                <a:solidFill>
                  <a:srgbClr val="161B26"/>
                </a:solidFill>
                <a:latin typeface="Arial"/>
              </a:rPr>
              <a:t>Not known to be broken</a:t>
            </a:r>
          </a:p>
        </p:txBody>
      </p:sp>
      <p:sp>
        <p:nvSpPr>
          <p:cNvPr id="47" name="Rectangle 46"/>
          <p:cNvSpPr/>
          <p:nvPr/>
        </p:nvSpPr>
        <p:spPr>
          <a:xfrm>
            <a:off x="777240" y="4251959"/>
            <a:ext cx="1914204"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14400" y="4251959"/>
            <a:ext cx="1639884" cy="475488"/>
          </a:xfrm>
          <a:prstGeom prst="rect">
            <a:avLst/>
          </a:prstGeom>
          <a:noFill/>
        </p:spPr>
        <p:txBody>
          <a:bodyPr wrap="square" anchor="ctr">
            <a:spAutoFit/>
          </a:bodyPr>
          <a:lstStyle/>
          <a:p>
            <a:pPr algn="l">
              <a:spcAft>
                <a:spcPts val="400"/>
              </a:spcAft>
            </a:pPr>
            <a:r>
              <a:rPr sz="1200" b="1">
                <a:solidFill>
                  <a:srgbClr val="161B26"/>
                </a:solidFill>
                <a:latin typeface="Arial"/>
              </a:rPr>
              <a:t>PQC signature</a:t>
            </a:r>
          </a:p>
        </p:txBody>
      </p:sp>
      <p:sp>
        <p:nvSpPr>
          <p:cNvPr id="49" name="Rectangle 48"/>
          <p:cNvSpPr/>
          <p:nvPr/>
        </p:nvSpPr>
        <p:spPr>
          <a:xfrm>
            <a:off x="2691444" y="4251959"/>
            <a:ext cx="2339583"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2828604" y="4251959"/>
            <a:ext cx="2065263" cy="475488"/>
          </a:xfrm>
          <a:prstGeom prst="rect">
            <a:avLst/>
          </a:prstGeom>
          <a:noFill/>
        </p:spPr>
        <p:txBody>
          <a:bodyPr wrap="square" anchor="ctr">
            <a:spAutoFit/>
          </a:bodyPr>
          <a:lstStyle/>
          <a:p>
            <a:pPr algn="l">
              <a:spcAft>
                <a:spcPts val="400"/>
              </a:spcAft>
            </a:pPr>
            <a:r>
              <a:rPr sz="1200" b="0">
                <a:solidFill>
                  <a:srgbClr val="161B26"/>
                </a:solidFill>
                <a:latin typeface="Arial"/>
              </a:rPr>
              <a:t>ML-DSA, SLH-DSA</a:t>
            </a:r>
          </a:p>
        </p:txBody>
      </p:sp>
      <p:sp>
        <p:nvSpPr>
          <p:cNvPr id="51" name="Rectangle 50"/>
          <p:cNvSpPr/>
          <p:nvPr/>
        </p:nvSpPr>
        <p:spPr>
          <a:xfrm>
            <a:off x="5031027" y="4251959"/>
            <a:ext cx="3190341"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168187" y="4251959"/>
            <a:ext cx="2916021" cy="475488"/>
          </a:xfrm>
          <a:prstGeom prst="rect">
            <a:avLst/>
          </a:prstGeom>
          <a:noFill/>
        </p:spPr>
        <p:txBody>
          <a:bodyPr wrap="square" anchor="ctr">
            <a:spAutoFit/>
          </a:bodyPr>
          <a:lstStyle/>
          <a:p>
            <a:pPr algn="l">
              <a:spcAft>
                <a:spcPts val="400"/>
              </a:spcAft>
            </a:pPr>
            <a:r>
              <a:rPr sz="1200" b="0">
                <a:solidFill>
                  <a:srgbClr val="161B26"/>
                </a:solidFill>
                <a:latin typeface="Arial"/>
              </a:rPr>
              <a:t>Lattice / hash-based</a:t>
            </a:r>
          </a:p>
        </p:txBody>
      </p:sp>
      <p:sp>
        <p:nvSpPr>
          <p:cNvPr id="53" name="Rectangle 52"/>
          <p:cNvSpPr/>
          <p:nvPr/>
        </p:nvSpPr>
        <p:spPr>
          <a:xfrm>
            <a:off x="8221368" y="4251959"/>
            <a:ext cx="3190341"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358528" y="4251959"/>
            <a:ext cx="2916021" cy="475488"/>
          </a:xfrm>
          <a:prstGeom prst="rect">
            <a:avLst/>
          </a:prstGeom>
          <a:noFill/>
        </p:spPr>
        <p:txBody>
          <a:bodyPr wrap="square" anchor="ctr">
            <a:spAutoFit/>
          </a:bodyPr>
          <a:lstStyle/>
          <a:p>
            <a:pPr algn="l">
              <a:spcAft>
                <a:spcPts val="400"/>
              </a:spcAft>
            </a:pPr>
            <a:r>
              <a:rPr sz="1200" b="0">
                <a:solidFill>
                  <a:srgbClr val="161B26"/>
                </a:solidFill>
                <a:latin typeface="Arial"/>
              </a:rPr>
              <a:t>Not known to be broken</a:t>
            </a:r>
          </a:p>
        </p:txBody>
      </p:sp>
      <p:sp>
        <p:nvSpPr>
          <p:cNvPr id="55" name="TextBox 5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56" name="TextBox 5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57" name="TextBox 5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81</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DC2626"/>
                </a:solidFill>
                <a:latin typeface="Arial"/>
              </a:rPr>
              <a:t>WHY MIGRATE BEFORE THE THREAT ARRIVES</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600" b="1">
                <a:solidFill>
                  <a:srgbClr val="161B26"/>
                </a:solidFill>
                <a:latin typeface="Arial"/>
              </a:rPr>
              <a:t>Harvest now, decrypt later.</a:t>
            </a:r>
          </a:p>
        </p:txBody>
      </p:sp>
      <p:sp>
        <p:nvSpPr>
          <p:cNvPr id="6" name="TextBox 5"/>
          <p:cNvSpPr txBox="1"/>
          <p:nvPr/>
        </p:nvSpPr>
        <p:spPr>
          <a:xfrm>
            <a:off x="1024128" y="4572000"/>
            <a:ext cx="10058400" cy="1097280"/>
          </a:xfrm>
          <a:prstGeom prst="rect">
            <a:avLst/>
          </a:prstGeom>
          <a:noFill/>
        </p:spPr>
        <p:txBody>
          <a:bodyPr wrap="square" anchor="t">
            <a:spAutoFit/>
          </a:bodyPr>
          <a:lstStyle/>
          <a:p>
            <a:pPr algn="l">
              <a:spcAft>
                <a:spcPts val="400"/>
              </a:spcAft>
            </a:pPr>
            <a:r>
              <a:rPr sz="1900" b="0">
                <a:solidFill>
                  <a:srgbClr val="5B6372"/>
                </a:solidFill>
                <a:latin typeface="Arial"/>
              </a:rPr>
              <a:t>An adversary can record your encrypted traffic today and decrypt it the day a cryptographically relevant quantum computer exists. Any secret that must stay confidential for a decade is already at risk.</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82</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WHAT YOU'LL DO</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Hands-On Activities — Quantum Cryptography and Quantum Safety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Activity 13</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a:solidFill>
                  <a:srgbClr val="161B26"/>
                </a:solidFill>
                <a:latin typeface="Arial"/>
              </a:rPr>
              <a:t>•  Shor's Algorithm and the Quantum Threat to RSA</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Activity 14</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a:solidFill>
                  <a:srgbClr val="161B26"/>
                </a:solidFill>
                <a:latin typeface="Arial"/>
              </a:rPr>
              <a:t>•  Post-Quantum Cryptography Migration Assessment</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a:solidFill>
                  <a:srgbClr val="161B26"/>
                </a:solidFill>
                <a:latin typeface="Arial"/>
              </a:rPr>
              <a:t>•  —</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83</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06 · HANDS-ON ACTIVITY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Shor's Algorithm and the Quantum Threat to RSA</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646920" y="457200"/>
            <a:ext cx="17830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57200"/>
            <a:ext cx="1783080" cy="457200"/>
          </a:xfrm>
          <a:prstGeom prst="rect">
            <a:avLst/>
          </a:prstGeom>
          <a:noFill/>
        </p:spPr>
        <p:txBody>
          <a:bodyPr wrap="square" anchor="ctr">
            <a:spAutoFit/>
          </a:bodyPr>
          <a:lstStyle/>
          <a:p>
            <a:pPr algn="ctr">
              <a:spcAft>
                <a:spcPts val="400"/>
              </a:spcAft>
            </a:pPr>
            <a:r>
              <a:rPr sz="1300" b="1">
                <a:solidFill>
                  <a:srgbClr val="FFFFFF"/>
                </a:solidFill>
                <a:latin typeface="Arial"/>
              </a:rPr>
              <a:t>ACTIVITY 13</a:t>
            </a:r>
          </a:p>
        </p:txBody>
      </p:sp>
      <p:sp>
        <p:nvSpPr>
          <p:cNvPr id="9" name="TextBox 8"/>
          <p:cNvSpPr txBox="1"/>
          <p:nvPr/>
        </p:nvSpPr>
        <p:spPr>
          <a:xfrm>
            <a:off x="777240" y="1828800"/>
            <a:ext cx="10607040" cy="1051560"/>
          </a:xfrm>
          <a:prstGeom prst="rect">
            <a:avLst/>
          </a:prstGeom>
          <a:noFill/>
        </p:spPr>
        <p:txBody>
          <a:bodyPr wrap="square" anchor="t">
            <a:spAutoFit/>
          </a:bodyPr>
          <a:lstStyle/>
          <a:p>
            <a:pPr algn="l">
              <a:spcAft>
                <a:spcPts val="400"/>
              </a:spcAft>
            </a:pPr>
            <a:r>
              <a:rPr sz="1700" b="0">
                <a:solidFill>
                  <a:srgbClr val="161B26"/>
                </a:solidFill>
                <a:latin typeface="Arial"/>
              </a:rPr>
              <a:t>See how factoring reduces to period finding, run the quantum period-finding circuit that sits at the heart of Shor's algorithm, and recover the factors of N = 15 from the measured period.</a:t>
            </a:r>
          </a:p>
        </p:txBody>
      </p:sp>
      <p:sp>
        <p:nvSpPr>
          <p:cNvPr id="10" name="Rectangle 9"/>
          <p:cNvSpPr/>
          <p:nvPr/>
        </p:nvSpPr>
        <p:spPr>
          <a:xfrm>
            <a:off x="777240" y="2971800"/>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2971800"/>
            <a:ext cx="10241280" cy="457200"/>
          </a:xfrm>
          <a:prstGeom prst="rect">
            <a:avLst/>
          </a:prstGeom>
          <a:noFill/>
        </p:spPr>
        <p:txBody>
          <a:bodyPr wrap="square" anchor="ctr">
            <a:spAutoFit/>
          </a:bodyPr>
          <a:lstStyle/>
          <a:p>
            <a:pPr algn="l">
              <a:spcAft>
                <a:spcPts val="400"/>
              </a:spcAft>
            </a:pPr>
            <a:r>
              <a:rPr sz="1100" b="1">
                <a:solidFill>
                  <a:srgbClr val="1F6FEB"/>
                </a:solidFill>
                <a:latin typeface="Arial"/>
              </a:rPr>
              <a:t>MAPS TO  </a:t>
            </a:r>
            <a:r>
              <a:rPr sz="1250" b="0">
                <a:solidFill>
                  <a:srgbClr val="161B26"/>
                </a:solidFill>
                <a:latin typeface="Arial"/>
              </a:rPr>
              <a:t>LO7 — Synthesize quantum methodologies to address complex problems</a:t>
            </a:r>
          </a:p>
        </p:txBody>
      </p:sp>
      <p:sp>
        <p:nvSpPr>
          <p:cNvPr id="12" name="Rectangle 11"/>
          <p:cNvSpPr/>
          <p:nvPr/>
        </p:nvSpPr>
        <p:spPr>
          <a:xfrm>
            <a:off x="777240" y="3611880"/>
            <a:ext cx="10634472" cy="1234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1560" y="3767328"/>
            <a:ext cx="10058400" cy="365760"/>
          </a:xfrm>
          <a:prstGeom prst="rect">
            <a:avLst/>
          </a:prstGeom>
          <a:noFill/>
        </p:spPr>
        <p:txBody>
          <a:bodyPr wrap="square" anchor="t">
            <a:spAutoFit/>
          </a:bodyPr>
          <a:lstStyle/>
          <a:p>
            <a:pPr algn="l">
              <a:spcAft>
                <a:spcPts val="400"/>
              </a:spcAft>
            </a:pPr>
            <a:r>
              <a:rPr sz="1200" b="1">
                <a:solidFill>
                  <a:srgbClr val="127A3E"/>
                </a:solidFill>
                <a:latin typeface="Arial"/>
              </a:rPr>
              <a:t>YOU'LL PRODUCE</a:t>
            </a:r>
          </a:p>
        </p:txBody>
      </p:sp>
      <p:sp>
        <p:nvSpPr>
          <p:cNvPr id="14" name="TextBox 13"/>
          <p:cNvSpPr txBox="1"/>
          <p:nvPr/>
        </p:nvSpPr>
        <p:spPr>
          <a:xfrm>
            <a:off x="1051560" y="4133087"/>
            <a:ext cx="10058400" cy="640080"/>
          </a:xfrm>
          <a:prstGeom prst="rect">
            <a:avLst/>
          </a:prstGeom>
          <a:noFill/>
        </p:spPr>
        <p:txBody>
          <a:bodyPr wrap="square" anchor="t">
            <a:spAutoFit/>
          </a:bodyPr>
          <a:lstStyle/>
          <a:p>
            <a:pPr algn="l">
              <a:spcAft>
                <a:spcPts val="400"/>
              </a:spcAft>
            </a:pPr>
            <a:r>
              <a:rPr sz="1550" b="1">
                <a:solidFill>
                  <a:srgbClr val="161B26"/>
                </a:solidFill>
                <a:latin typeface="Arial"/>
              </a:rPr>
              <a:t>A period-finding circuit whose measured output yields the period r, from which the factors of N = 15 are classically recovered.</a:t>
            </a:r>
          </a:p>
        </p:txBody>
      </p:sp>
      <p:sp>
        <p:nvSpPr>
          <p:cNvPr id="15" name="Rectangle 14"/>
          <p:cNvSpPr/>
          <p:nvPr/>
        </p:nvSpPr>
        <p:spPr>
          <a:xfrm>
            <a:off x="777240" y="5029200"/>
            <a:ext cx="10634472"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5138928"/>
            <a:ext cx="10058400" cy="365760"/>
          </a:xfrm>
          <a:prstGeom prst="rect">
            <a:avLst/>
          </a:prstGeom>
          <a:noFill/>
        </p:spPr>
        <p:txBody>
          <a:bodyPr wrap="square" anchor="t">
            <a:spAutoFit/>
          </a:bodyPr>
          <a:lstStyle/>
          <a:p>
            <a:pPr algn="l">
              <a:spcAft>
                <a:spcPts val="400"/>
              </a:spcAft>
            </a:pPr>
            <a:r>
              <a:rPr sz="1200" b="1">
                <a:solidFill>
                  <a:srgbClr val="5B6372"/>
                </a:solidFill>
                <a:latin typeface="Arial"/>
              </a:rPr>
              <a:t>Tools:  </a:t>
            </a:r>
            <a:r>
              <a:rPr sz="1200" b="0">
                <a:solidFill>
                  <a:srgbClr val="5B6372"/>
                </a:solidFill>
                <a:latin typeface="Arial"/>
              </a:rPr>
              <a:t>Qiskit 2.x, IBM Quantum Runtime, Python, OpenQASM</a:t>
            </a:r>
          </a:p>
        </p:txBody>
      </p:sp>
      <p:sp>
        <p:nvSpPr>
          <p:cNvPr id="17" name="TextBox 16"/>
          <p:cNvSpPr txBox="1"/>
          <p:nvPr/>
        </p:nvSpPr>
        <p:spPr>
          <a:xfrm>
            <a:off x="1051560" y="5504688"/>
            <a:ext cx="10058400" cy="365760"/>
          </a:xfrm>
          <a:prstGeom prst="rect">
            <a:avLst/>
          </a:prstGeom>
          <a:noFill/>
        </p:spPr>
        <p:txBody>
          <a:bodyPr wrap="square" anchor="t">
            <a:spAutoFit/>
          </a:bodyPr>
          <a:lstStyle/>
          <a:p>
            <a:pPr algn="l">
              <a:spcAft>
                <a:spcPts val="400"/>
              </a:spcAft>
            </a:pPr>
            <a:r>
              <a:rPr sz="1200" b="1">
                <a:solidFill>
                  <a:srgbClr val="1F6FEB"/>
                </a:solidFill>
                <a:latin typeface="Arial"/>
              </a:rPr>
              <a:t>Full step-by-step guide:  </a:t>
            </a:r>
            <a:r>
              <a:rPr sz="1200" b="0">
                <a:solidFill>
                  <a:srgbClr val="161B26"/>
                </a:solidFill>
                <a:latin typeface="Arial"/>
              </a:rPr>
              <a:t>Learner Guide — Activity 13: Shor's Algorithm and the Quantum Threat to RSA</a:t>
            </a:r>
          </a:p>
        </p:txBody>
      </p:sp>
      <p:sp>
        <p:nvSpPr>
          <p:cNvPr id="18" name="TextBox 1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9" name="TextBox 1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0" name="TextBox 1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84</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13 · VERIFY &amp; DEBRIEF</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Shor's Algorithm and the Quantum Threat to RSA</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21488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21488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1965960"/>
            <a:ext cx="10058400" cy="411480"/>
          </a:xfrm>
          <a:prstGeom prst="rect">
            <a:avLst/>
          </a:prstGeom>
          <a:noFill/>
        </p:spPr>
        <p:txBody>
          <a:bodyPr wrap="square" anchor="t">
            <a:spAutoFit/>
          </a:bodyPr>
          <a:lstStyle/>
          <a:p>
            <a:pPr algn="l">
              <a:spcAft>
                <a:spcPts val="400"/>
              </a:spcAft>
            </a:pPr>
            <a:r>
              <a:rPr sz="1300" b="1">
                <a:solidFill>
                  <a:srgbClr val="127A3E"/>
                </a:solidFill>
                <a:latin typeface="Arial"/>
              </a:rPr>
              <a:t>TEST IT — HOW YOU KNOW IT WORKED</a:t>
            </a:r>
          </a:p>
        </p:txBody>
      </p:sp>
      <p:sp>
        <p:nvSpPr>
          <p:cNvPr id="10" name="TextBox 9"/>
          <p:cNvSpPr txBox="1"/>
          <p:nvPr/>
        </p:nvSpPr>
        <p:spPr>
          <a:xfrm>
            <a:off x="1143000" y="2423160"/>
            <a:ext cx="10058400" cy="1371600"/>
          </a:xfrm>
          <a:prstGeom prst="rect">
            <a:avLst/>
          </a:prstGeom>
          <a:noFill/>
        </p:spPr>
        <p:txBody>
          <a:bodyPr wrap="square" anchor="t">
            <a:spAutoFit/>
          </a:bodyPr>
          <a:lstStyle/>
          <a:p>
            <a:pPr algn="l">
              <a:spcAft>
                <a:spcPts val="400"/>
              </a:spcAft>
            </a:pPr>
            <a:r>
              <a:rPr sz="1600" b="0">
                <a:solidFill>
                  <a:srgbClr val="161B26"/>
                </a:solidFill>
                <a:latin typeface="Arial"/>
              </a:rPr>
              <a:t>The measured phase yields period r = 4 for a = 7 and N = 15, and the classical post-processing step recovers the correct factors 3 and 5.</a:t>
            </a:r>
          </a:p>
        </p:txBody>
      </p:sp>
      <p:sp>
        <p:nvSpPr>
          <p:cNvPr id="11" name="TextBox 10"/>
          <p:cNvSpPr txBox="1"/>
          <p:nvPr/>
        </p:nvSpPr>
        <p:spPr>
          <a:xfrm>
            <a:off x="777240" y="4096512"/>
            <a:ext cx="10607040" cy="365760"/>
          </a:xfrm>
          <a:prstGeom prst="rect">
            <a:avLst/>
          </a:prstGeom>
          <a:noFill/>
        </p:spPr>
        <p:txBody>
          <a:bodyPr wrap="square" anchor="t">
            <a:spAutoFit/>
          </a:bodyPr>
          <a:lstStyle/>
          <a:p>
            <a:pPr algn="l">
              <a:spcAft>
                <a:spcPts val="400"/>
              </a:spcAft>
            </a:pPr>
            <a:r>
              <a:rPr sz="1300" b="1">
                <a:solidFill>
                  <a:srgbClr val="1F6FEB"/>
                </a:solidFill>
                <a:latin typeface="Arial"/>
              </a:rPr>
              <a:t>DISCUSS WITH YOUR TRAINER</a:t>
            </a:r>
          </a:p>
        </p:txBody>
      </p:sp>
      <p:sp>
        <p:nvSpPr>
          <p:cNvPr id="12" name="Rectangle 11"/>
          <p:cNvSpPr/>
          <p:nvPr/>
        </p:nvSpPr>
        <p:spPr>
          <a:xfrm>
            <a:off x="777240" y="4480560"/>
            <a:ext cx="3447288" cy="1463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480560"/>
            <a:ext cx="3447288"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8" y="4663440"/>
            <a:ext cx="3044952" cy="457200"/>
          </a:xfrm>
          <a:prstGeom prst="rect">
            <a:avLst/>
          </a:prstGeom>
          <a:noFill/>
        </p:spPr>
        <p:txBody>
          <a:bodyPr wrap="square" anchor="t">
            <a:spAutoFit/>
          </a:bodyPr>
          <a:lstStyle/>
          <a:p>
            <a:pPr algn="l">
              <a:spcAft>
                <a:spcPts val="400"/>
              </a:spcAft>
            </a:pPr>
            <a:r>
              <a:rPr sz="1350" b="1">
                <a:solidFill>
                  <a:srgbClr val="1F6FEB"/>
                </a:solidFill>
                <a:latin typeface="Arial"/>
              </a:rPr>
              <a:t>What did the result show?</a:t>
            </a:r>
          </a:p>
        </p:txBody>
      </p:sp>
      <p:sp>
        <p:nvSpPr>
          <p:cNvPr id="15" name="TextBox 14"/>
          <p:cNvSpPr txBox="1"/>
          <p:nvPr/>
        </p:nvSpPr>
        <p:spPr>
          <a:xfrm>
            <a:off x="978408" y="5138928"/>
            <a:ext cx="3044952" cy="731520"/>
          </a:xfrm>
          <a:prstGeom prst="rect">
            <a:avLst/>
          </a:prstGeom>
          <a:noFill/>
        </p:spPr>
        <p:txBody>
          <a:bodyPr wrap="square" anchor="t">
            <a:spAutoFit/>
          </a:bodyPr>
          <a:lstStyle/>
          <a:p>
            <a:pPr algn="l">
              <a:spcAft>
                <a:spcPts val="400"/>
              </a:spcAft>
            </a:pPr>
            <a:r>
              <a:rPr sz="1200" b="0">
                <a:solidFill>
                  <a:srgbClr val="5B6372"/>
                </a:solidFill>
                <a:latin typeface="Arial"/>
              </a:rPr>
              <a:t>Restate the outcome in your own words.</a:t>
            </a:r>
          </a:p>
        </p:txBody>
      </p:sp>
      <p:sp>
        <p:nvSpPr>
          <p:cNvPr id="16" name="Rectangle 15"/>
          <p:cNvSpPr/>
          <p:nvPr/>
        </p:nvSpPr>
        <p:spPr>
          <a:xfrm>
            <a:off x="4370832" y="4480560"/>
            <a:ext cx="3447288" cy="1463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70832" y="4480560"/>
            <a:ext cx="344728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0" y="4663440"/>
            <a:ext cx="3044952" cy="457200"/>
          </a:xfrm>
          <a:prstGeom prst="rect">
            <a:avLst/>
          </a:prstGeom>
          <a:noFill/>
        </p:spPr>
        <p:txBody>
          <a:bodyPr wrap="square" anchor="t">
            <a:spAutoFit/>
          </a:bodyPr>
          <a:lstStyle/>
          <a:p>
            <a:pPr algn="l">
              <a:spcAft>
                <a:spcPts val="400"/>
              </a:spcAft>
            </a:pPr>
            <a:r>
              <a:rPr sz="1350" b="1">
                <a:solidFill>
                  <a:srgbClr val="10B981"/>
                </a:solidFill>
                <a:latin typeface="Arial"/>
              </a:rPr>
              <a:t>Why does it work?</a:t>
            </a:r>
          </a:p>
        </p:txBody>
      </p:sp>
      <p:sp>
        <p:nvSpPr>
          <p:cNvPr id="19" name="TextBox 18"/>
          <p:cNvSpPr txBox="1"/>
          <p:nvPr/>
        </p:nvSpPr>
        <p:spPr>
          <a:xfrm>
            <a:off x="4572000" y="5138928"/>
            <a:ext cx="3044952" cy="731520"/>
          </a:xfrm>
          <a:prstGeom prst="rect">
            <a:avLst/>
          </a:prstGeom>
          <a:noFill/>
        </p:spPr>
        <p:txBody>
          <a:bodyPr wrap="square" anchor="t">
            <a:spAutoFit/>
          </a:bodyPr>
          <a:lstStyle/>
          <a:p>
            <a:pPr algn="l">
              <a:spcAft>
                <a:spcPts val="400"/>
              </a:spcAft>
            </a:pPr>
            <a:r>
              <a:rPr sz="1200" b="0">
                <a:solidFill>
                  <a:srgbClr val="5B6372"/>
                </a:solidFill>
                <a:latin typeface="Arial"/>
              </a:rPr>
              <a:t>Name the quantum principle the activity relies on.</a:t>
            </a:r>
          </a:p>
        </p:txBody>
      </p:sp>
      <p:sp>
        <p:nvSpPr>
          <p:cNvPr id="20" name="Rectangle 19"/>
          <p:cNvSpPr/>
          <p:nvPr/>
        </p:nvSpPr>
        <p:spPr>
          <a:xfrm>
            <a:off x="7964424" y="4480560"/>
            <a:ext cx="3447288" cy="1463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964424" y="4480560"/>
            <a:ext cx="3447288"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65592" y="4663440"/>
            <a:ext cx="3044952" cy="457200"/>
          </a:xfrm>
          <a:prstGeom prst="rect">
            <a:avLst/>
          </a:prstGeom>
          <a:noFill/>
        </p:spPr>
        <p:txBody>
          <a:bodyPr wrap="square" anchor="t">
            <a:spAutoFit/>
          </a:bodyPr>
          <a:lstStyle/>
          <a:p>
            <a:pPr algn="l">
              <a:spcAft>
                <a:spcPts val="400"/>
              </a:spcAft>
            </a:pPr>
            <a:r>
              <a:rPr sz="1350" b="1">
                <a:solidFill>
                  <a:srgbClr val="7C3AED"/>
                </a:solidFill>
                <a:latin typeface="Arial"/>
              </a:rPr>
              <a:t>Where would you use it?</a:t>
            </a:r>
          </a:p>
        </p:txBody>
      </p:sp>
      <p:sp>
        <p:nvSpPr>
          <p:cNvPr id="23" name="TextBox 22"/>
          <p:cNvSpPr txBox="1"/>
          <p:nvPr/>
        </p:nvSpPr>
        <p:spPr>
          <a:xfrm>
            <a:off x="8165592" y="5138928"/>
            <a:ext cx="3044952" cy="731520"/>
          </a:xfrm>
          <a:prstGeom prst="rect">
            <a:avLst/>
          </a:prstGeom>
          <a:noFill/>
        </p:spPr>
        <p:txBody>
          <a:bodyPr wrap="square" anchor="t">
            <a:spAutoFit/>
          </a:bodyPr>
          <a:lstStyle/>
          <a:p>
            <a:pPr algn="l">
              <a:spcAft>
                <a:spcPts val="400"/>
              </a:spcAft>
            </a:pPr>
            <a:r>
              <a:rPr sz="1200" b="0">
                <a:solidFill>
                  <a:srgbClr val="5B6372"/>
                </a:solidFill>
                <a:latin typeface="Arial"/>
              </a:rPr>
              <a:t>Give one realistic application in your own field.</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85</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06 · HANDS-ON ACTIVITY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Post-Quantum Cryptography Migration Assessment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646920" y="457200"/>
            <a:ext cx="17830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57200"/>
            <a:ext cx="1783080" cy="457200"/>
          </a:xfrm>
          <a:prstGeom prst="rect">
            <a:avLst/>
          </a:prstGeom>
          <a:noFill/>
        </p:spPr>
        <p:txBody>
          <a:bodyPr wrap="square" anchor="ctr">
            <a:spAutoFit/>
          </a:bodyPr>
          <a:lstStyle/>
          <a:p>
            <a:pPr algn="ctr">
              <a:spcAft>
                <a:spcPts val="400"/>
              </a:spcAft>
            </a:pPr>
            <a:r>
              <a:rPr sz="1300" b="1">
                <a:solidFill>
                  <a:srgbClr val="FFFFFF"/>
                </a:solidFill>
                <a:latin typeface="Arial"/>
              </a:rPr>
              <a:t>ACTIVITY 14</a:t>
            </a:r>
          </a:p>
        </p:txBody>
      </p:sp>
      <p:sp>
        <p:nvSpPr>
          <p:cNvPr id="9" name="TextBox 8"/>
          <p:cNvSpPr txBox="1"/>
          <p:nvPr/>
        </p:nvSpPr>
        <p:spPr>
          <a:xfrm>
            <a:off x="777240" y="1828800"/>
            <a:ext cx="10607040" cy="1051560"/>
          </a:xfrm>
          <a:prstGeom prst="rect">
            <a:avLst/>
          </a:prstGeom>
          <a:noFill/>
        </p:spPr>
        <p:txBody>
          <a:bodyPr wrap="square" anchor="t">
            <a:spAutoFit/>
          </a:bodyPr>
          <a:lstStyle/>
          <a:p>
            <a:pPr algn="l">
              <a:spcAft>
                <a:spcPts val="400"/>
              </a:spcAft>
            </a:pPr>
            <a:r>
              <a:rPr sz="1700" b="0">
                <a:solidFill>
                  <a:srgbClr val="161B26"/>
                </a:solidFill>
                <a:latin typeface="Arial"/>
              </a:rPr>
              <a:t>Assess which cryptography in a realistic system is broken by a quantum computer, map each algorithm to its NIST post-quantum replacement, and produce a prioritised migration plan against the harvest-now-decrypt-later risk.</a:t>
            </a:r>
          </a:p>
        </p:txBody>
      </p:sp>
      <p:sp>
        <p:nvSpPr>
          <p:cNvPr id="10" name="Rectangle 9"/>
          <p:cNvSpPr/>
          <p:nvPr/>
        </p:nvSpPr>
        <p:spPr>
          <a:xfrm>
            <a:off x="777240" y="2971800"/>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2971800"/>
            <a:ext cx="10241280" cy="457200"/>
          </a:xfrm>
          <a:prstGeom prst="rect">
            <a:avLst/>
          </a:prstGeom>
          <a:noFill/>
        </p:spPr>
        <p:txBody>
          <a:bodyPr wrap="square" anchor="ctr">
            <a:spAutoFit/>
          </a:bodyPr>
          <a:lstStyle/>
          <a:p>
            <a:pPr algn="l">
              <a:spcAft>
                <a:spcPts val="400"/>
              </a:spcAft>
            </a:pPr>
            <a:r>
              <a:rPr sz="1100" b="1">
                <a:solidFill>
                  <a:srgbClr val="1F6FEB"/>
                </a:solidFill>
                <a:latin typeface="Arial"/>
              </a:rPr>
              <a:t>MAPS TO  </a:t>
            </a:r>
            <a:r>
              <a:rPr sz="1250" b="0">
                <a:solidFill>
                  <a:srgbClr val="161B26"/>
                </a:solidFill>
                <a:latin typeface="Arial"/>
              </a:rPr>
              <a:t>LO4, LO7 — Evaluate quantum applicability in the business context</a:t>
            </a:r>
          </a:p>
        </p:txBody>
      </p:sp>
      <p:sp>
        <p:nvSpPr>
          <p:cNvPr id="12" name="Rectangle 11"/>
          <p:cNvSpPr/>
          <p:nvPr/>
        </p:nvSpPr>
        <p:spPr>
          <a:xfrm>
            <a:off x="777240" y="3611880"/>
            <a:ext cx="10634472" cy="1234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1560" y="3767328"/>
            <a:ext cx="10058400" cy="365760"/>
          </a:xfrm>
          <a:prstGeom prst="rect">
            <a:avLst/>
          </a:prstGeom>
          <a:noFill/>
        </p:spPr>
        <p:txBody>
          <a:bodyPr wrap="square" anchor="t">
            <a:spAutoFit/>
          </a:bodyPr>
          <a:lstStyle/>
          <a:p>
            <a:pPr algn="l">
              <a:spcAft>
                <a:spcPts val="400"/>
              </a:spcAft>
            </a:pPr>
            <a:r>
              <a:rPr sz="1200" b="1">
                <a:solidFill>
                  <a:srgbClr val="127A3E"/>
                </a:solidFill>
                <a:latin typeface="Arial"/>
              </a:rPr>
              <a:t>YOU'LL PRODUCE</a:t>
            </a:r>
          </a:p>
        </p:txBody>
      </p:sp>
      <p:sp>
        <p:nvSpPr>
          <p:cNvPr id="14" name="TextBox 13"/>
          <p:cNvSpPr txBox="1"/>
          <p:nvPr/>
        </p:nvSpPr>
        <p:spPr>
          <a:xfrm>
            <a:off x="1051560" y="4133087"/>
            <a:ext cx="10058400" cy="640080"/>
          </a:xfrm>
          <a:prstGeom prst="rect">
            <a:avLst/>
          </a:prstGeom>
          <a:noFill/>
        </p:spPr>
        <p:txBody>
          <a:bodyPr wrap="square" anchor="t">
            <a:spAutoFit/>
          </a:bodyPr>
          <a:lstStyle/>
          <a:p>
            <a:pPr algn="l">
              <a:spcAft>
                <a:spcPts val="400"/>
              </a:spcAft>
            </a:pPr>
            <a:r>
              <a:rPr sz="1550" b="1">
                <a:solidFill>
                  <a:srgbClr val="161B26"/>
                </a:solidFill>
                <a:latin typeface="Arial"/>
              </a:rPr>
              <a:t>A completed cryptographic inventory and a prioritised PQC migration plan for a sample organisation.</a:t>
            </a:r>
          </a:p>
        </p:txBody>
      </p:sp>
      <p:sp>
        <p:nvSpPr>
          <p:cNvPr id="15" name="Rectangle 14"/>
          <p:cNvSpPr/>
          <p:nvPr/>
        </p:nvSpPr>
        <p:spPr>
          <a:xfrm>
            <a:off x="777240" y="5029200"/>
            <a:ext cx="10634472"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5138928"/>
            <a:ext cx="10058400" cy="365760"/>
          </a:xfrm>
          <a:prstGeom prst="rect">
            <a:avLst/>
          </a:prstGeom>
          <a:noFill/>
        </p:spPr>
        <p:txBody>
          <a:bodyPr wrap="square" anchor="t">
            <a:spAutoFit/>
          </a:bodyPr>
          <a:lstStyle/>
          <a:p>
            <a:pPr algn="l">
              <a:spcAft>
                <a:spcPts val="400"/>
              </a:spcAft>
            </a:pPr>
            <a:r>
              <a:rPr sz="1200" b="1">
                <a:solidFill>
                  <a:srgbClr val="5B6372"/>
                </a:solidFill>
                <a:latin typeface="Arial"/>
              </a:rPr>
              <a:t>Tools:  </a:t>
            </a:r>
            <a:r>
              <a:rPr sz="1200" b="0">
                <a:solidFill>
                  <a:srgbClr val="5B6372"/>
                </a:solidFill>
                <a:latin typeface="Arial"/>
              </a:rPr>
              <a:t>NIST FIPS 203/204/205, OpenSSL, Python</a:t>
            </a:r>
          </a:p>
        </p:txBody>
      </p:sp>
      <p:sp>
        <p:nvSpPr>
          <p:cNvPr id="17" name="TextBox 16"/>
          <p:cNvSpPr txBox="1"/>
          <p:nvPr/>
        </p:nvSpPr>
        <p:spPr>
          <a:xfrm>
            <a:off x="1051560" y="5504688"/>
            <a:ext cx="10058400" cy="365760"/>
          </a:xfrm>
          <a:prstGeom prst="rect">
            <a:avLst/>
          </a:prstGeom>
          <a:noFill/>
        </p:spPr>
        <p:txBody>
          <a:bodyPr wrap="square" anchor="t">
            <a:spAutoFit/>
          </a:bodyPr>
          <a:lstStyle/>
          <a:p>
            <a:pPr algn="l">
              <a:spcAft>
                <a:spcPts val="400"/>
              </a:spcAft>
            </a:pPr>
            <a:r>
              <a:rPr sz="1200" b="1">
                <a:solidFill>
                  <a:srgbClr val="1F6FEB"/>
                </a:solidFill>
                <a:latin typeface="Arial"/>
              </a:rPr>
              <a:t>Full step-by-step guide:  </a:t>
            </a:r>
            <a:r>
              <a:rPr sz="1200" b="0">
                <a:solidFill>
                  <a:srgbClr val="161B26"/>
                </a:solidFill>
                <a:latin typeface="Arial"/>
              </a:rPr>
              <a:t>Learner Guide — Activity 14: Post-Quantum Cryptography Migration Assessment</a:t>
            </a:r>
          </a:p>
        </p:txBody>
      </p:sp>
      <p:sp>
        <p:nvSpPr>
          <p:cNvPr id="18" name="TextBox 1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9" name="TextBox 1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0" name="TextBox 1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86</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14 · VERIFY &amp; DEBRIEF</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Post-Quantum Cryptography Migration Assessment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21488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21488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1965960"/>
            <a:ext cx="10058400" cy="411480"/>
          </a:xfrm>
          <a:prstGeom prst="rect">
            <a:avLst/>
          </a:prstGeom>
          <a:noFill/>
        </p:spPr>
        <p:txBody>
          <a:bodyPr wrap="square" anchor="t">
            <a:spAutoFit/>
          </a:bodyPr>
          <a:lstStyle/>
          <a:p>
            <a:pPr algn="l">
              <a:spcAft>
                <a:spcPts val="400"/>
              </a:spcAft>
            </a:pPr>
            <a:r>
              <a:rPr sz="1300" b="1">
                <a:solidFill>
                  <a:srgbClr val="127A3E"/>
                </a:solidFill>
                <a:latin typeface="Arial"/>
              </a:rPr>
              <a:t>TEST IT — HOW YOU KNOW IT WORKED</a:t>
            </a:r>
          </a:p>
        </p:txBody>
      </p:sp>
      <p:sp>
        <p:nvSpPr>
          <p:cNvPr id="10" name="TextBox 9"/>
          <p:cNvSpPr txBox="1"/>
          <p:nvPr/>
        </p:nvSpPr>
        <p:spPr>
          <a:xfrm>
            <a:off x="1143000" y="2423160"/>
            <a:ext cx="10058400" cy="1371600"/>
          </a:xfrm>
          <a:prstGeom prst="rect">
            <a:avLst/>
          </a:prstGeom>
          <a:noFill/>
        </p:spPr>
        <p:txBody>
          <a:bodyPr wrap="square" anchor="t">
            <a:spAutoFit/>
          </a:bodyPr>
          <a:lstStyle/>
          <a:p>
            <a:pPr algn="l">
              <a:spcAft>
                <a:spcPts val="400"/>
              </a:spcAft>
            </a:pPr>
            <a:r>
              <a:rPr sz="1600" b="0">
                <a:solidFill>
                  <a:srgbClr val="161B26"/>
                </a:solidFill>
                <a:latin typeface="Arial"/>
              </a:rPr>
              <a:t>Your inventory correctly separates Shor-broken asymmetric algorithms from Grover-weakened symmetric ones, maps each to the correct NIST FIPS standard, and ranks migration priority by how long the data must remain confidential.</a:t>
            </a:r>
          </a:p>
        </p:txBody>
      </p:sp>
      <p:sp>
        <p:nvSpPr>
          <p:cNvPr id="11" name="TextBox 10"/>
          <p:cNvSpPr txBox="1"/>
          <p:nvPr/>
        </p:nvSpPr>
        <p:spPr>
          <a:xfrm>
            <a:off x="777240" y="4096512"/>
            <a:ext cx="10607040" cy="365760"/>
          </a:xfrm>
          <a:prstGeom prst="rect">
            <a:avLst/>
          </a:prstGeom>
          <a:noFill/>
        </p:spPr>
        <p:txBody>
          <a:bodyPr wrap="square" anchor="t">
            <a:spAutoFit/>
          </a:bodyPr>
          <a:lstStyle/>
          <a:p>
            <a:pPr algn="l">
              <a:spcAft>
                <a:spcPts val="400"/>
              </a:spcAft>
            </a:pPr>
            <a:r>
              <a:rPr sz="1300" b="1">
                <a:solidFill>
                  <a:srgbClr val="1F6FEB"/>
                </a:solidFill>
                <a:latin typeface="Arial"/>
              </a:rPr>
              <a:t>DISCUSS WITH YOUR TRAINER</a:t>
            </a:r>
          </a:p>
        </p:txBody>
      </p:sp>
      <p:sp>
        <p:nvSpPr>
          <p:cNvPr id="12" name="Rectangle 11"/>
          <p:cNvSpPr/>
          <p:nvPr/>
        </p:nvSpPr>
        <p:spPr>
          <a:xfrm>
            <a:off x="777240" y="4480560"/>
            <a:ext cx="3447288" cy="1463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480560"/>
            <a:ext cx="3447288"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8" y="4663440"/>
            <a:ext cx="3044952" cy="457200"/>
          </a:xfrm>
          <a:prstGeom prst="rect">
            <a:avLst/>
          </a:prstGeom>
          <a:noFill/>
        </p:spPr>
        <p:txBody>
          <a:bodyPr wrap="square" anchor="t">
            <a:spAutoFit/>
          </a:bodyPr>
          <a:lstStyle/>
          <a:p>
            <a:pPr algn="l">
              <a:spcAft>
                <a:spcPts val="400"/>
              </a:spcAft>
            </a:pPr>
            <a:r>
              <a:rPr sz="1350" b="1">
                <a:solidFill>
                  <a:srgbClr val="1F6FEB"/>
                </a:solidFill>
                <a:latin typeface="Arial"/>
              </a:rPr>
              <a:t>What did the result show?</a:t>
            </a:r>
          </a:p>
        </p:txBody>
      </p:sp>
      <p:sp>
        <p:nvSpPr>
          <p:cNvPr id="15" name="TextBox 14"/>
          <p:cNvSpPr txBox="1"/>
          <p:nvPr/>
        </p:nvSpPr>
        <p:spPr>
          <a:xfrm>
            <a:off x="978408" y="5138928"/>
            <a:ext cx="3044952" cy="731520"/>
          </a:xfrm>
          <a:prstGeom prst="rect">
            <a:avLst/>
          </a:prstGeom>
          <a:noFill/>
        </p:spPr>
        <p:txBody>
          <a:bodyPr wrap="square" anchor="t">
            <a:spAutoFit/>
          </a:bodyPr>
          <a:lstStyle/>
          <a:p>
            <a:pPr algn="l">
              <a:spcAft>
                <a:spcPts val="400"/>
              </a:spcAft>
            </a:pPr>
            <a:r>
              <a:rPr sz="1200" b="0">
                <a:solidFill>
                  <a:srgbClr val="5B6372"/>
                </a:solidFill>
                <a:latin typeface="Arial"/>
              </a:rPr>
              <a:t>Restate the outcome in your own words.</a:t>
            </a:r>
          </a:p>
        </p:txBody>
      </p:sp>
      <p:sp>
        <p:nvSpPr>
          <p:cNvPr id="16" name="Rectangle 15"/>
          <p:cNvSpPr/>
          <p:nvPr/>
        </p:nvSpPr>
        <p:spPr>
          <a:xfrm>
            <a:off x="4370832" y="4480560"/>
            <a:ext cx="3447288" cy="1463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70832" y="4480560"/>
            <a:ext cx="344728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0" y="4663440"/>
            <a:ext cx="3044952" cy="457200"/>
          </a:xfrm>
          <a:prstGeom prst="rect">
            <a:avLst/>
          </a:prstGeom>
          <a:noFill/>
        </p:spPr>
        <p:txBody>
          <a:bodyPr wrap="square" anchor="t">
            <a:spAutoFit/>
          </a:bodyPr>
          <a:lstStyle/>
          <a:p>
            <a:pPr algn="l">
              <a:spcAft>
                <a:spcPts val="400"/>
              </a:spcAft>
            </a:pPr>
            <a:r>
              <a:rPr sz="1350" b="1">
                <a:solidFill>
                  <a:srgbClr val="10B981"/>
                </a:solidFill>
                <a:latin typeface="Arial"/>
              </a:rPr>
              <a:t>Why does it work?</a:t>
            </a:r>
          </a:p>
        </p:txBody>
      </p:sp>
      <p:sp>
        <p:nvSpPr>
          <p:cNvPr id="19" name="TextBox 18"/>
          <p:cNvSpPr txBox="1"/>
          <p:nvPr/>
        </p:nvSpPr>
        <p:spPr>
          <a:xfrm>
            <a:off x="4572000" y="5138928"/>
            <a:ext cx="3044952" cy="731520"/>
          </a:xfrm>
          <a:prstGeom prst="rect">
            <a:avLst/>
          </a:prstGeom>
          <a:noFill/>
        </p:spPr>
        <p:txBody>
          <a:bodyPr wrap="square" anchor="t">
            <a:spAutoFit/>
          </a:bodyPr>
          <a:lstStyle/>
          <a:p>
            <a:pPr algn="l">
              <a:spcAft>
                <a:spcPts val="400"/>
              </a:spcAft>
            </a:pPr>
            <a:r>
              <a:rPr sz="1200" b="0">
                <a:solidFill>
                  <a:srgbClr val="5B6372"/>
                </a:solidFill>
                <a:latin typeface="Arial"/>
              </a:rPr>
              <a:t>Name the quantum principle the activity relies on.</a:t>
            </a:r>
          </a:p>
        </p:txBody>
      </p:sp>
      <p:sp>
        <p:nvSpPr>
          <p:cNvPr id="20" name="Rectangle 19"/>
          <p:cNvSpPr/>
          <p:nvPr/>
        </p:nvSpPr>
        <p:spPr>
          <a:xfrm>
            <a:off x="7964424" y="4480560"/>
            <a:ext cx="3447288" cy="1463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964424" y="4480560"/>
            <a:ext cx="3447288"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65592" y="4663440"/>
            <a:ext cx="3044952" cy="457200"/>
          </a:xfrm>
          <a:prstGeom prst="rect">
            <a:avLst/>
          </a:prstGeom>
          <a:noFill/>
        </p:spPr>
        <p:txBody>
          <a:bodyPr wrap="square" anchor="t">
            <a:spAutoFit/>
          </a:bodyPr>
          <a:lstStyle/>
          <a:p>
            <a:pPr algn="l">
              <a:spcAft>
                <a:spcPts val="400"/>
              </a:spcAft>
            </a:pPr>
            <a:r>
              <a:rPr sz="1350" b="1">
                <a:solidFill>
                  <a:srgbClr val="7C3AED"/>
                </a:solidFill>
                <a:latin typeface="Arial"/>
              </a:rPr>
              <a:t>Where would you use it?</a:t>
            </a:r>
          </a:p>
        </p:txBody>
      </p:sp>
      <p:sp>
        <p:nvSpPr>
          <p:cNvPr id="23" name="TextBox 22"/>
          <p:cNvSpPr txBox="1"/>
          <p:nvPr/>
        </p:nvSpPr>
        <p:spPr>
          <a:xfrm>
            <a:off x="8165592" y="5138928"/>
            <a:ext cx="3044952" cy="731520"/>
          </a:xfrm>
          <a:prstGeom prst="rect">
            <a:avLst/>
          </a:prstGeom>
          <a:noFill/>
        </p:spPr>
        <p:txBody>
          <a:bodyPr wrap="square" anchor="t">
            <a:spAutoFit/>
          </a:bodyPr>
          <a:lstStyle/>
          <a:p>
            <a:pPr algn="l">
              <a:spcAft>
                <a:spcPts val="400"/>
              </a:spcAft>
            </a:pPr>
            <a:r>
              <a:rPr sz="1200" b="0">
                <a:solidFill>
                  <a:srgbClr val="5B6372"/>
                </a:solidFill>
                <a:latin typeface="Arial"/>
              </a:rPr>
              <a:t>Give one realistic application in your own field.</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87</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RECAP</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Recap — Quantum Cryptography and Quantum Safety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600">
                <a:solidFill>
                  <a:srgbClr val="161B26"/>
                </a:solidFill>
                <a:latin typeface="Arial"/>
              </a:rPr>
              <a:t>•  Goals of cryptography</a:t>
            </a:r>
          </a:p>
          <a:p>
            <a:pPr>
              <a:spcAft>
                <a:spcPts val="1000"/>
              </a:spcAft>
            </a:pPr>
            <a:r>
              <a:rPr sz="1600">
                <a:solidFill>
                  <a:srgbClr val="161B26"/>
                </a:solidFill>
                <a:latin typeface="Arial"/>
              </a:rPr>
              <a:t>•  Classical schemes</a:t>
            </a:r>
          </a:p>
          <a:p>
            <a:pPr>
              <a:spcAft>
                <a:spcPts val="1000"/>
              </a:spcAft>
            </a:pPr>
            <a:r>
              <a:rPr sz="1600">
                <a:solidFill>
                  <a:srgbClr val="161B26"/>
                </a:solidFill>
                <a:latin typeface="Arial"/>
              </a:rPr>
              <a:t>•  The quantum threat</a:t>
            </a:r>
          </a:p>
          <a:p>
            <a:pPr>
              <a:spcAft>
                <a:spcPts val="1000"/>
              </a:spcAft>
            </a:pPr>
            <a:r>
              <a:rPr sz="1600">
                <a:solidFill>
                  <a:srgbClr val="161B26"/>
                </a:solidFill>
                <a:latin typeface="Arial"/>
              </a:rPr>
              <a:t>•  Shor's algorithm</a:t>
            </a:r>
          </a:p>
          <a:p>
            <a:pPr>
              <a:spcAft>
                <a:spcPts val="1000"/>
              </a:spcAft>
            </a:pPr>
            <a:r>
              <a:rPr sz="1600">
                <a:solidFill>
                  <a:srgbClr val="161B26"/>
                </a:solidFill>
                <a:latin typeface="Arial"/>
              </a:rPr>
              <a:t>•  Harvest now, decrypt later</a:t>
            </a:r>
          </a:p>
          <a:p>
            <a:pPr>
              <a:spcAft>
                <a:spcPts val="1000"/>
              </a:spcAft>
            </a:pPr>
            <a:r>
              <a:rPr sz="1600">
                <a:solidFill>
                  <a:srgbClr val="161B26"/>
                </a:solidFill>
                <a:latin typeface="Arial"/>
              </a:rPr>
              <a:t>•  Post-quantum cryptography</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88</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07</a:t>
            </a:r>
          </a:p>
        </p:txBody>
      </p:sp>
      <p:sp>
        <p:nvSpPr>
          <p:cNvPr id="6" name="TextBox 5"/>
          <p:cNvSpPr txBox="1"/>
          <p:nvPr/>
        </p:nvSpPr>
        <p:spPr>
          <a:xfrm>
            <a:off x="1143000" y="2743200"/>
            <a:ext cx="9509760" cy="1463040"/>
          </a:xfrm>
          <a:prstGeom prst="rect">
            <a:avLst/>
          </a:prstGeom>
          <a:noFill/>
        </p:spPr>
        <p:txBody>
          <a:bodyPr wrap="square" anchor="t">
            <a:spAutoFit/>
          </a:bodyPr>
          <a:lstStyle/>
          <a:p>
            <a:pPr algn="l">
              <a:spcAft>
                <a:spcPts val="400"/>
              </a:spcAft>
            </a:pPr>
            <a:r>
              <a:rPr sz="4000" b="1">
                <a:solidFill>
                  <a:srgbClr val="161B26"/>
                </a:solidFill>
                <a:latin typeface="Arial"/>
              </a:rPr>
              <a:t>Quantum Computing Applications and Use Cases</a:t>
            </a:r>
          </a:p>
        </p:txBody>
      </p:sp>
      <p:sp>
        <p:nvSpPr>
          <p:cNvPr id="7" name="TextBox 6"/>
          <p:cNvSpPr txBox="1"/>
          <p:nvPr/>
        </p:nvSpPr>
        <p:spPr>
          <a:xfrm>
            <a:off x="1161288" y="4251960"/>
            <a:ext cx="9692640" cy="822960"/>
          </a:xfrm>
          <a:prstGeom prst="rect">
            <a:avLst/>
          </a:prstGeom>
          <a:noFill/>
        </p:spPr>
        <p:txBody>
          <a:bodyPr wrap="square" anchor="t">
            <a:spAutoFit/>
          </a:bodyPr>
          <a:lstStyle/>
          <a:p>
            <a:pPr algn="l">
              <a:spcAft>
                <a:spcPts val="400"/>
              </a:spcAft>
            </a:pPr>
            <a:r>
              <a:rPr sz="1500" b="0">
                <a:solidFill>
                  <a:srgbClr val="5B6372"/>
                </a:solidFill>
                <a:latin typeface="Arial"/>
              </a:rPr>
              <a:t>Finance · Healthcare · Science</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07</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89</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MAPS TO LO4</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Key Concepts — Quantum Computing Applications and Use Cases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Finance</a:t>
            </a:r>
          </a:p>
          <a:p>
            <a:pPr algn="l">
              <a:spcAft>
                <a:spcPts val="300"/>
              </a:spcAft>
            </a:pPr>
            <a:r>
              <a:rPr sz="1100" b="0">
                <a:solidFill>
                  <a:srgbClr val="5B6372"/>
                </a:solidFill>
                <a:latin typeface="Arial"/>
              </a:rPr>
              <a:t>Portfolio optimisation, derivative pricing via amplitude estimation, credit risk and fraud detection are the leading finance use cases.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Healthcare and life sciences</a:t>
            </a:r>
          </a:p>
          <a:p>
            <a:pPr algn="l">
              <a:spcAft>
                <a:spcPts val="300"/>
              </a:spcAft>
            </a:pPr>
            <a:r>
              <a:rPr sz="1100" b="0">
                <a:solidFill>
                  <a:srgbClr val="5B6372"/>
                </a:solidFill>
                <a:latin typeface="Arial"/>
              </a:rPr>
              <a:t>Molecular simulation with VQE, protein folding and accelerated drug discovery target problems classical HPC cannot reach.</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3429000"/>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Science and materials</a:t>
            </a:r>
          </a:p>
          <a:p>
            <a:pPr algn="l">
              <a:spcAft>
                <a:spcPts val="300"/>
              </a:spcAft>
            </a:pPr>
            <a:r>
              <a:rPr sz="1100" b="0">
                <a:solidFill>
                  <a:srgbClr val="5B6372"/>
                </a:solidFill>
                <a:latin typeface="Arial"/>
              </a:rPr>
              <a:t>Simulating catalysts, superconductors, nitrogen fixation and battery chemistry is quantum computing's most natural application.</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3429000"/>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Optimisation and logistics</a:t>
            </a:r>
          </a:p>
          <a:p>
            <a:pPr algn="l">
              <a:spcAft>
                <a:spcPts val="300"/>
              </a:spcAft>
            </a:pPr>
            <a:r>
              <a:rPr sz="1100" b="0">
                <a:solidFill>
                  <a:srgbClr val="5B6372"/>
                </a:solidFill>
                <a:latin typeface="Arial"/>
              </a:rPr>
              <a:t>QAOA addresses routing, scheduling and Max-Cut style combinatorial problems across supply chains and energy grids.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5</a:t>
            </a:r>
          </a:p>
        </p:txBody>
      </p:sp>
      <p:sp>
        <p:nvSpPr>
          <p:cNvPr id="31" name="TextBox 30"/>
          <p:cNvSpPr txBox="1"/>
          <p:nvPr/>
        </p:nvSpPr>
        <p:spPr>
          <a:xfrm>
            <a:off x="1764792" y="4965192"/>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Quantum machine learning</a:t>
            </a:r>
          </a:p>
          <a:p>
            <a:pPr algn="l">
              <a:spcAft>
                <a:spcPts val="300"/>
              </a:spcAft>
            </a:pPr>
            <a:r>
              <a:rPr sz="1100" b="0">
                <a:solidFill>
                  <a:srgbClr val="5B6372"/>
                </a:solidFill>
                <a:latin typeface="Arial"/>
              </a:rPr>
              <a:t>Quantum kernels and variational classifiers explore feature spaces that are expensive to compute classically.</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6</a:t>
            </a:r>
          </a:p>
        </p:txBody>
      </p:sp>
      <p:sp>
        <p:nvSpPr>
          <p:cNvPr id="36" name="TextBox 35"/>
          <p:cNvSpPr txBox="1"/>
          <p:nvPr/>
        </p:nvSpPr>
        <p:spPr>
          <a:xfrm>
            <a:off x="7219188" y="4965192"/>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Assessing business value</a:t>
            </a:r>
          </a:p>
          <a:p>
            <a:pPr algn="l">
              <a:spcAft>
                <a:spcPts val="300"/>
              </a:spcAft>
            </a:pPr>
            <a:r>
              <a:rPr sz="1100" b="0">
                <a:solidFill>
                  <a:srgbClr val="5B6372"/>
                </a:solidFill>
                <a:latin typeface="Arial"/>
              </a:rPr>
              <a:t>Evaluate a use case on problem structure, data size, required qubit count and whether a classical method already suffices.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90</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USE CASES BY SECTOR</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Where Quantum Creates Value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applications-map.png"/>
          <p:cNvPicPr>
            <a:picLocks noChangeAspect="1"/>
          </p:cNvPicPr>
          <p:nvPr/>
        </p:nvPicPr>
        <p:blipFill>
          <a:blip r:embed="rId2"/>
          <a:stretch>
            <a:fillRect/>
          </a:stretch>
        </p:blipFill>
        <p:spPr>
          <a:xfrm>
            <a:off x="2175619" y="1755648"/>
            <a:ext cx="7837714" cy="3950208"/>
          </a:xfrm>
          <a:prstGeom prst="rect">
            <a:avLst/>
          </a:prstGeom>
        </p:spPr>
      </p:pic>
      <p:sp>
        <p:nvSpPr>
          <p:cNvPr id="8" name="Rectangle 7"/>
          <p:cNvSpPr/>
          <p:nvPr/>
        </p:nvSpPr>
        <p:spPr>
          <a:xfrm>
            <a:off x="777240" y="5870448"/>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5870448"/>
            <a:ext cx="10241280" cy="457200"/>
          </a:xfrm>
          <a:prstGeom prst="rect">
            <a:avLst/>
          </a:prstGeom>
          <a:noFill/>
        </p:spPr>
        <p:txBody>
          <a:bodyPr wrap="square" anchor="ctr">
            <a:spAutoFit/>
          </a:bodyPr>
          <a:lstStyle/>
          <a:p>
            <a:pPr algn="ctr">
              <a:spcAft>
                <a:spcPts val="400"/>
              </a:spcAft>
            </a:pPr>
            <a:r>
              <a:rPr sz="1350" b="0">
                <a:solidFill>
                  <a:srgbClr val="161B26"/>
                </a:solidFill>
                <a:latin typeface="Arial"/>
              </a:rPr>
              <a:t>The best candidates are problems with quantum structure — chemistry and optimisation — not big-data problems.</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91</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THE FLAGSHIP NEAR-TERM APPLICATION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VQE — Simulating Molecules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vqe-convergence.png"/>
          <p:cNvPicPr>
            <a:picLocks noChangeAspect="1"/>
          </p:cNvPicPr>
          <p:nvPr/>
        </p:nvPicPr>
        <p:blipFill>
          <a:blip r:embed="rId2"/>
          <a:stretch>
            <a:fillRect/>
          </a:stretch>
        </p:blipFill>
        <p:spPr>
          <a:xfrm>
            <a:off x="777240" y="2352470"/>
            <a:ext cx="6400800" cy="3067460"/>
          </a:xfrm>
          <a:prstGeom prst="rect">
            <a:avLst/>
          </a:prstGeom>
        </p:spPr>
      </p:pic>
      <p:sp>
        <p:nvSpPr>
          <p:cNvPr id="8" name="Rectangle 7"/>
          <p:cNvSpPr/>
          <p:nvPr/>
        </p:nvSpPr>
        <p:spPr>
          <a:xfrm>
            <a:off x="7452360" y="1783080"/>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452360" y="1783080"/>
            <a:ext cx="82296" cy="9372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08392" y="1783080"/>
            <a:ext cx="3502152" cy="937260"/>
          </a:xfrm>
          <a:prstGeom prst="rect">
            <a:avLst/>
          </a:prstGeom>
          <a:noFill/>
        </p:spPr>
        <p:txBody>
          <a:bodyPr wrap="square" anchor="ctr">
            <a:spAutoFit/>
          </a:bodyPr>
          <a:lstStyle/>
          <a:p>
            <a:pPr algn="l">
              <a:spcAft>
                <a:spcPts val="300"/>
              </a:spcAft>
            </a:pPr>
            <a:r>
              <a:rPr sz="1400" b="1">
                <a:solidFill>
                  <a:srgbClr val="1F6FEB"/>
                </a:solidFill>
                <a:latin typeface="Arial"/>
              </a:rPr>
              <a:t>Hybrid loop</a:t>
            </a:r>
          </a:p>
          <a:p>
            <a:pPr algn="l">
              <a:spcAft>
                <a:spcPts val="300"/>
              </a:spcAft>
            </a:pPr>
            <a:r>
              <a:rPr sz="1200" b="0">
                <a:solidFill>
                  <a:srgbClr val="161B26"/>
                </a:solidFill>
                <a:latin typeface="Arial"/>
              </a:rPr>
              <a:t>A quantum circuit prepares the trial state; a classical optimiser tunes it.</a:t>
            </a:r>
          </a:p>
        </p:txBody>
      </p:sp>
      <p:sp>
        <p:nvSpPr>
          <p:cNvPr id="11" name="Rectangle 10"/>
          <p:cNvSpPr/>
          <p:nvPr/>
        </p:nvSpPr>
        <p:spPr>
          <a:xfrm>
            <a:off x="7452360" y="2903220"/>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452360" y="2903220"/>
            <a:ext cx="82296" cy="9372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08392" y="2903220"/>
            <a:ext cx="3502152" cy="937260"/>
          </a:xfrm>
          <a:prstGeom prst="rect">
            <a:avLst/>
          </a:prstGeom>
          <a:noFill/>
        </p:spPr>
        <p:txBody>
          <a:bodyPr wrap="square" anchor="ctr">
            <a:spAutoFit/>
          </a:bodyPr>
          <a:lstStyle/>
          <a:p>
            <a:pPr algn="l">
              <a:spcAft>
                <a:spcPts val="300"/>
              </a:spcAft>
            </a:pPr>
            <a:r>
              <a:rPr sz="1400" b="1">
                <a:solidFill>
                  <a:srgbClr val="10B981"/>
                </a:solidFill>
                <a:latin typeface="Arial"/>
              </a:rPr>
              <a:t>Noise tolerant</a:t>
            </a:r>
          </a:p>
          <a:p>
            <a:pPr algn="l">
              <a:spcAft>
                <a:spcPts val="300"/>
              </a:spcAft>
            </a:pPr>
            <a:r>
              <a:rPr sz="1200" b="0">
                <a:solidFill>
                  <a:srgbClr val="161B26"/>
                </a:solidFill>
                <a:latin typeface="Arial"/>
              </a:rPr>
              <a:t>Shallow circuits make VQE practical on today's NISQ hardware.</a:t>
            </a:r>
          </a:p>
        </p:txBody>
      </p:sp>
      <p:sp>
        <p:nvSpPr>
          <p:cNvPr id="14" name="Rectangle 13"/>
          <p:cNvSpPr/>
          <p:nvPr/>
        </p:nvSpPr>
        <p:spPr>
          <a:xfrm>
            <a:off x="7452360" y="4023360"/>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452360" y="4023360"/>
            <a:ext cx="82296" cy="9372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08392" y="4023360"/>
            <a:ext cx="3502152" cy="937260"/>
          </a:xfrm>
          <a:prstGeom prst="rect">
            <a:avLst/>
          </a:prstGeom>
          <a:noFill/>
        </p:spPr>
        <p:txBody>
          <a:bodyPr wrap="square" anchor="ctr">
            <a:spAutoFit/>
          </a:bodyPr>
          <a:lstStyle/>
          <a:p>
            <a:pPr algn="l">
              <a:spcAft>
                <a:spcPts val="300"/>
              </a:spcAft>
            </a:pPr>
            <a:r>
              <a:rPr sz="1400" b="1">
                <a:solidFill>
                  <a:srgbClr val="7C3AED"/>
                </a:solidFill>
                <a:latin typeface="Arial"/>
              </a:rPr>
              <a:t>The target</a:t>
            </a:r>
          </a:p>
          <a:p>
            <a:pPr algn="l">
              <a:spcAft>
                <a:spcPts val="300"/>
              </a:spcAft>
            </a:pPr>
            <a:r>
              <a:rPr sz="1200" b="0">
                <a:solidFill>
                  <a:srgbClr val="161B26"/>
                </a:solidFill>
                <a:latin typeface="Arial"/>
              </a:rPr>
              <a:t>Ground-state energy — the quantity that drives chemistry.</a:t>
            </a:r>
          </a:p>
        </p:txBody>
      </p:sp>
      <p:sp>
        <p:nvSpPr>
          <p:cNvPr id="17" name="Rectangle 16"/>
          <p:cNvSpPr/>
          <p:nvPr/>
        </p:nvSpPr>
        <p:spPr>
          <a:xfrm>
            <a:off x="7452360" y="5143500"/>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452360" y="5143500"/>
            <a:ext cx="82296" cy="9372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08392" y="5143500"/>
            <a:ext cx="3502152" cy="937260"/>
          </a:xfrm>
          <a:prstGeom prst="rect">
            <a:avLst/>
          </a:prstGeom>
          <a:noFill/>
        </p:spPr>
        <p:txBody>
          <a:bodyPr wrap="square" anchor="ctr">
            <a:spAutoFit/>
          </a:bodyPr>
          <a:lstStyle/>
          <a:p>
            <a:pPr algn="l">
              <a:spcAft>
                <a:spcPts val="300"/>
              </a:spcAft>
            </a:pPr>
            <a:r>
              <a:rPr sz="1400" b="1">
                <a:solidFill>
                  <a:srgbClr val="F59E0B"/>
                </a:solidFill>
                <a:latin typeface="Arial"/>
              </a:rPr>
              <a:t>The prize</a:t>
            </a:r>
          </a:p>
          <a:p>
            <a:pPr algn="l">
              <a:spcAft>
                <a:spcPts val="300"/>
              </a:spcAft>
            </a:pPr>
            <a:r>
              <a:rPr sz="1200" b="0">
                <a:solidFill>
                  <a:srgbClr val="161B26"/>
                </a:solidFill>
                <a:latin typeface="Arial"/>
              </a:rPr>
              <a:t>Catalysts, batteries and drug candidates simulated exactly.</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92</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A PRACTICAL CHECKLIST FOR LO4</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Assessing a Quantum Use Case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Does the problem have quantum structure?</a:t>
            </a:r>
          </a:p>
          <a:p>
            <a:pPr algn="l">
              <a:spcAft>
                <a:spcPts val="300"/>
              </a:spcAft>
            </a:pPr>
            <a:r>
              <a:rPr sz="1100" b="0">
                <a:solidFill>
                  <a:srgbClr val="5B6372"/>
                </a:solidFill>
                <a:latin typeface="Arial"/>
              </a:rPr>
              <a:t>Chemistry and optimisation map naturally; generic data processing does not.</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How big is the data?</a:t>
            </a:r>
          </a:p>
          <a:p>
            <a:pPr algn="l">
              <a:spcAft>
                <a:spcPts val="300"/>
              </a:spcAft>
            </a:pPr>
            <a:r>
              <a:rPr sz="1100" b="0">
                <a:solidFill>
                  <a:srgbClr val="5B6372"/>
                </a:solidFill>
                <a:latin typeface="Arial"/>
              </a:rPr>
              <a:t>Loading large classical datasets into a quantum computer is itself a bottleneck.</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3429000"/>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What qubit count is needed?</a:t>
            </a:r>
          </a:p>
          <a:p>
            <a:pPr algn="l">
              <a:spcAft>
                <a:spcPts val="300"/>
              </a:spcAft>
            </a:pPr>
            <a:r>
              <a:rPr sz="1100" b="0">
                <a:solidFill>
                  <a:srgbClr val="5B6372"/>
                </a:solidFill>
                <a:latin typeface="Arial"/>
              </a:rPr>
              <a:t>Estimate logical qubits, then multiply for error-correction overhead.</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3429000"/>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Is there a good classical method?</a:t>
            </a:r>
          </a:p>
          <a:p>
            <a:pPr algn="l">
              <a:spcAft>
                <a:spcPts val="300"/>
              </a:spcAft>
            </a:pPr>
            <a:r>
              <a:rPr sz="1100" b="0">
                <a:solidFill>
                  <a:srgbClr val="5B6372"/>
                </a:solidFill>
                <a:latin typeface="Arial"/>
              </a:rPr>
              <a:t>If a classical heuristic already solves it well, quantum adds nothing.</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5</a:t>
            </a:r>
          </a:p>
        </p:txBody>
      </p:sp>
      <p:sp>
        <p:nvSpPr>
          <p:cNvPr id="31" name="TextBox 30"/>
          <p:cNvSpPr txBox="1"/>
          <p:nvPr/>
        </p:nvSpPr>
        <p:spPr>
          <a:xfrm>
            <a:off x="1764792" y="4965192"/>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What is the time horizon?</a:t>
            </a:r>
          </a:p>
          <a:p>
            <a:pPr algn="l">
              <a:spcAft>
                <a:spcPts val="300"/>
              </a:spcAft>
            </a:pPr>
            <a:r>
              <a:rPr sz="1100" b="0">
                <a:solidFill>
                  <a:srgbClr val="5B6372"/>
                </a:solidFill>
                <a:latin typeface="Arial"/>
              </a:rPr>
              <a:t>NISQ demos today; fault-tolerant advantage is a 2030s proposition.</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6</a:t>
            </a:r>
          </a:p>
        </p:txBody>
      </p:sp>
      <p:sp>
        <p:nvSpPr>
          <p:cNvPr id="36" name="TextBox 35"/>
          <p:cNvSpPr txBox="1"/>
          <p:nvPr/>
        </p:nvSpPr>
        <p:spPr>
          <a:xfrm>
            <a:off x="7219188" y="4965192"/>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What is the cost of waiting?</a:t>
            </a:r>
          </a:p>
          <a:p>
            <a:pPr algn="l">
              <a:spcAft>
                <a:spcPts val="300"/>
              </a:spcAft>
            </a:pPr>
            <a:r>
              <a:rPr sz="1100" b="0">
                <a:solidFill>
                  <a:srgbClr val="5B6372"/>
                </a:solidFill>
                <a:latin typeface="Arial"/>
              </a:rPr>
              <a:t>For cryptography the answer is high — migrate now.</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93</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WHAT YOU'LL DO</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Hands-On Activities — Quantum Computing Applications and Use Cases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Activity 15</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a:solidFill>
                  <a:srgbClr val="161B26"/>
                </a:solidFill>
                <a:latin typeface="Arial"/>
              </a:rPr>
              <a:t>•  Molecular Simulation with VQE (Healthcare &amp; Science)</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Activity 16</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a:solidFill>
                  <a:srgbClr val="161B26"/>
                </a:solidFill>
                <a:latin typeface="Arial"/>
              </a:rPr>
              <a:t>•  Portfolio Optimisation with QAOA (Finance)</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a:solidFill>
                  <a:srgbClr val="161B26"/>
                </a:solidFill>
                <a:latin typeface="Arial"/>
              </a:rPr>
              <a:t>•  —</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94</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07 · HANDS-ON ACTIVITY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Molecular Simulation with VQE (Healthcare &amp; Science)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646920" y="457200"/>
            <a:ext cx="17830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57200"/>
            <a:ext cx="1783080" cy="457200"/>
          </a:xfrm>
          <a:prstGeom prst="rect">
            <a:avLst/>
          </a:prstGeom>
          <a:noFill/>
        </p:spPr>
        <p:txBody>
          <a:bodyPr wrap="square" anchor="ctr">
            <a:spAutoFit/>
          </a:bodyPr>
          <a:lstStyle/>
          <a:p>
            <a:pPr algn="ctr">
              <a:spcAft>
                <a:spcPts val="400"/>
              </a:spcAft>
            </a:pPr>
            <a:r>
              <a:rPr sz="1300" b="1">
                <a:solidFill>
                  <a:srgbClr val="FFFFFF"/>
                </a:solidFill>
                <a:latin typeface="Arial"/>
              </a:rPr>
              <a:t>ACTIVITY 15</a:t>
            </a:r>
          </a:p>
        </p:txBody>
      </p:sp>
      <p:sp>
        <p:nvSpPr>
          <p:cNvPr id="9" name="TextBox 8"/>
          <p:cNvSpPr txBox="1"/>
          <p:nvPr/>
        </p:nvSpPr>
        <p:spPr>
          <a:xfrm>
            <a:off x="777240" y="1828800"/>
            <a:ext cx="10607040" cy="1051560"/>
          </a:xfrm>
          <a:prstGeom prst="rect">
            <a:avLst/>
          </a:prstGeom>
          <a:noFill/>
        </p:spPr>
        <p:txBody>
          <a:bodyPr wrap="square" anchor="t">
            <a:spAutoFit/>
          </a:bodyPr>
          <a:lstStyle/>
          <a:p>
            <a:pPr algn="l">
              <a:spcAft>
                <a:spcPts val="400"/>
              </a:spcAft>
            </a:pPr>
            <a:r>
              <a:rPr sz="1700" b="0">
                <a:solidFill>
                  <a:srgbClr val="161B26"/>
                </a:solidFill>
                <a:latin typeface="Arial"/>
              </a:rPr>
              <a:t>Run the Variational Quantum Eigensolver to compute the ground-state energy of the hydrogen molecule — the flagship near-term use case for drug discovery, catalysis and materials science.</a:t>
            </a:r>
          </a:p>
        </p:txBody>
      </p:sp>
      <p:sp>
        <p:nvSpPr>
          <p:cNvPr id="10" name="Rectangle 9"/>
          <p:cNvSpPr/>
          <p:nvPr/>
        </p:nvSpPr>
        <p:spPr>
          <a:xfrm>
            <a:off x="777240" y="2971800"/>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2971800"/>
            <a:ext cx="10241280" cy="457200"/>
          </a:xfrm>
          <a:prstGeom prst="rect">
            <a:avLst/>
          </a:prstGeom>
          <a:noFill/>
        </p:spPr>
        <p:txBody>
          <a:bodyPr wrap="square" anchor="ctr">
            <a:spAutoFit/>
          </a:bodyPr>
          <a:lstStyle/>
          <a:p>
            <a:pPr algn="l">
              <a:spcAft>
                <a:spcPts val="400"/>
              </a:spcAft>
            </a:pPr>
            <a:r>
              <a:rPr sz="1100" b="1">
                <a:solidFill>
                  <a:srgbClr val="1F6FEB"/>
                </a:solidFill>
                <a:latin typeface="Arial"/>
              </a:rPr>
              <a:t>MAPS TO  </a:t>
            </a:r>
            <a:r>
              <a:rPr sz="1250" b="0">
                <a:solidFill>
                  <a:srgbClr val="161B26"/>
                </a:solidFill>
                <a:latin typeface="Arial"/>
              </a:rPr>
              <a:t>LO4, LO7 — Evaluate quantum computing applicability in the business context</a:t>
            </a:r>
          </a:p>
        </p:txBody>
      </p:sp>
      <p:sp>
        <p:nvSpPr>
          <p:cNvPr id="12" name="Rectangle 11"/>
          <p:cNvSpPr/>
          <p:nvPr/>
        </p:nvSpPr>
        <p:spPr>
          <a:xfrm>
            <a:off x="777240" y="3611880"/>
            <a:ext cx="10634472" cy="1234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1560" y="3767328"/>
            <a:ext cx="10058400" cy="365760"/>
          </a:xfrm>
          <a:prstGeom prst="rect">
            <a:avLst/>
          </a:prstGeom>
          <a:noFill/>
        </p:spPr>
        <p:txBody>
          <a:bodyPr wrap="square" anchor="t">
            <a:spAutoFit/>
          </a:bodyPr>
          <a:lstStyle/>
          <a:p>
            <a:pPr algn="l">
              <a:spcAft>
                <a:spcPts val="400"/>
              </a:spcAft>
            </a:pPr>
            <a:r>
              <a:rPr sz="1200" b="1">
                <a:solidFill>
                  <a:srgbClr val="127A3E"/>
                </a:solidFill>
                <a:latin typeface="Arial"/>
              </a:rPr>
              <a:t>YOU'LL PRODUCE</a:t>
            </a:r>
          </a:p>
        </p:txBody>
      </p:sp>
      <p:sp>
        <p:nvSpPr>
          <p:cNvPr id="14" name="TextBox 13"/>
          <p:cNvSpPr txBox="1"/>
          <p:nvPr/>
        </p:nvSpPr>
        <p:spPr>
          <a:xfrm>
            <a:off x="1051560" y="4133087"/>
            <a:ext cx="10058400" cy="640080"/>
          </a:xfrm>
          <a:prstGeom prst="rect">
            <a:avLst/>
          </a:prstGeom>
          <a:noFill/>
        </p:spPr>
        <p:txBody>
          <a:bodyPr wrap="square" anchor="t">
            <a:spAutoFit/>
          </a:bodyPr>
          <a:lstStyle/>
          <a:p>
            <a:pPr algn="l">
              <a:spcAft>
                <a:spcPts val="400"/>
              </a:spcAft>
            </a:pPr>
            <a:r>
              <a:rPr sz="1550" b="1">
                <a:solidFill>
                  <a:srgbClr val="161B26"/>
                </a:solidFill>
                <a:latin typeface="Arial"/>
              </a:rPr>
              <a:t>A VQE run that converges to the H2 ground-state energy, with an energy-versus-iteration convergence plot.</a:t>
            </a:r>
          </a:p>
        </p:txBody>
      </p:sp>
      <p:sp>
        <p:nvSpPr>
          <p:cNvPr id="15" name="Rectangle 14"/>
          <p:cNvSpPr/>
          <p:nvPr/>
        </p:nvSpPr>
        <p:spPr>
          <a:xfrm>
            <a:off x="777240" y="5029200"/>
            <a:ext cx="10634472"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5138928"/>
            <a:ext cx="10058400" cy="365760"/>
          </a:xfrm>
          <a:prstGeom prst="rect">
            <a:avLst/>
          </a:prstGeom>
          <a:noFill/>
        </p:spPr>
        <p:txBody>
          <a:bodyPr wrap="square" anchor="t">
            <a:spAutoFit/>
          </a:bodyPr>
          <a:lstStyle/>
          <a:p>
            <a:pPr algn="l">
              <a:spcAft>
                <a:spcPts val="400"/>
              </a:spcAft>
            </a:pPr>
            <a:r>
              <a:rPr sz="1200" b="1">
                <a:solidFill>
                  <a:srgbClr val="5B6372"/>
                </a:solidFill>
                <a:latin typeface="Arial"/>
              </a:rPr>
              <a:t>Tools:  </a:t>
            </a:r>
            <a:r>
              <a:rPr sz="1200" b="0">
                <a:solidFill>
                  <a:srgbClr val="5B6372"/>
                </a:solidFill>
                <a:latin typeface="Arial"/>
              </a:rPr>
              <a:t>Qiskit 2.x, SciPy optimiser, matplotlib, IBM Quantum</a:t>
            </a:r>
          </a:p>
        </p:txBody>
      </p:sp>
      <p:sp>
        <p:nvSpPr>
          <p:cNvPr id="17" name="TextBox 16"/>
          <p:cNvSpPr txBox="1"/>
          <p:nvPr/>
        </p:nvSpPr>
        <p:spPr>
          <a:xfrm>
            <a:off x="1051560" y="5504688"/>
            <a:ext cx="10058400" cy="365760"/>
          </a:xfrm>
          <a:prstGeom prst="rect">
            <a:avLst/>
          </a:prstGeom>
          <a:noFill/>
        </p:spPr>
        <p:txBody>
          <a:bodyPr wrap="square" anchor="t">
            <a:spAutoFit/>
          </a:bodyPr>
          <a:lstStyle/>
          <a:p>
            <a:pPr algn="l">
              <a:spcAft>
                <a:spcPts val="400"/>
              </a:spcAft>
            </a:pPr>
            <a:r>
              <a:rPr sz="1200" b="1">
                <a:solidFill>
                  <a:srgbClr val="1F6FEB"/>
                </a:solidFill>
                <a:latin typeface="Arial"/>
              </a:rPr>
              <a:t>Full step-by-step guide:  </a:t>
            </a:r>
            <a:r>
              <a:rPr sz="1200" b="0">
                <a:solidFill>
                  <a:srgbClr val="161B26"/>
                </a:solidFill>
                <a:latin typeface="Arial"/>
              </a:rPr>
              <a:t>Learner Guide — Activity 15: Molecular Simulation with VQE (Healthcare &amp; Science)</a:t>
            </a:r>
          </a:p>
        </p:txBody>
      </p:sp>
      <p:sp>
        <p:nvSpPr>
          <p:cNvPr id="18" name="TextBox 1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9" name="TextBox 1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0" name="TextBox 1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95</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15 · VERIFY &amp; DEBRIEF</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Molecular Simulation with VQE (Healthcare &amp; Science)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21488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21488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1965960"/>
            <a:ext cx="10058400" cy="411480"/>
          </a:xfrm>
          <a:prstGeom prst="rect">
            <a:avLst/>
          </a:prstGeom>
          <a:noFill/>
        </p:spPr>
        <p:txBody>
          <a:bodyPr wrap="square" anchor="t">
            <a:spAutoFit/>
          </a:bodyPr>
          <a:lstStyle/>
          <a:p>
            <a:pPr algn="l">
              <a:spcAft>
                <a:spcPts val="400"/>
              </a:spcAft>
            </a:pPr>
            <a:r>
              <a:rPr sz="1300" b="1">
                <a:solidFill>
                  <a:srgbClr val="127A3E"/>
                </a:solidFill>
                <a:latin typeface="Arial"/>
              </a:rPr>
              <a:t>TEST IT — HOW YOU KNOW IT WORKED</a:t>
            </a:r>
          </a:p>
        </p:txBody>
      </p:sp>
      <p:sp>
        <p:nvSpPr>
          <p:cNvPr id="10" name="TextBox 9"/>
          <p:cNvSpPr txBox="1"/>
          <p:nvPr/>
        </p:nvSpPr>
        <p:spPr>
          <a:xfrm>
            <a:off x="1143000" y="2423160"/>
            <a:ext cx="10058400" cy="1371600"/>
          </a:xfrm>
          <a:prstGeom prst="rect">
            <a:avLst/>
          </a:prstGeom>
          <a:noFill/>
        </p:spPr>
        <p:txBody>
          <a:bodyPr wrap="square" anchor="t">
            <a:spAutoFit/>
          </a:bodyPr>
          <a:lstStyle/>
          <a:p>
            <a:pPr algn="l">
              <a:spcAft>
                <a:spcPts val="400"/>
              </a:spcAft>
            </a:pPr>
            <a:r>
              <a:rPr sz="1600" b="0">
                <a:solidFill>
                  <a:srgbClr val="161B26"/>
                </a:solidFill>
                <a:latin typeface="Arial"/>
              </a:rPr>
              <a:t>The VQE optimisation converges to an energy close to the exact H2 ground-state value of about -1.137 Hartree, and the convergence plot shows the energy decreasing monotonically toward that limit.</a:t>
            </a:r>
          </a:p>
        </p:txBody>
      </p:sp>
      <p:sp>
        <p:nvSpPr>
          <p:cNvPr id="11" name="TextBox 10"/>
          <p:cNvSpPr txBox="1"/>
          <p:nvPr/>
        </p:nvSpPr>
        <p:spPr>
          <a:xfrm>
            <a:off x="777240" y="4096512"/>
            <a:ext cx="10607040" cy="365760"/>
          </a:xfrm>
          <a:prstGeom prst="rect">
            <a:avLst/>
          </a:prstGeom>
          <a:noFill/>
        </p:spPr>
        <p:txBody>
          <a:bodyPr wrap="square" anchor="t">
            <a:spAutoFit/>
          </a:bodyPr>
          <a:lstStyle/>
          <a:p>
            <a:pPr algn="l">
              <a:spcAft>
                <a:spcPts val="400"/>
              </a:spcAft>
            </a:pPr>
            <a:r>
              <a:rPr sz="1300" b="1">
                <a:solidFill>
                  <a:srgbClr val="1F6FEB"/>
                </a:solidFill>
                <a:latin typeface="Arial"/>
              </a:rPr>
              <a:t>DISCUSS WITH YOUR TRAINER</a:t>
            </a:r>
          </a:p>
        </p:txBody>
      </p:sp>
      <p:sp>
        <p:nvSpPr>
          <p:cNvPr id="12" name="Rectangle 11"/>
          <p:cNvSpPr/>
          <p:nvPr/>
        </p:nvSpPr>
        <p:spPr>
          <a:xfrm>
            <a:off x="777240" y="4480560"/>
            <a:ext cx="3447288" cy="1463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480560"/>
            <a:ext cx="3447288"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8" y="4663440"/>
            <a:ext cx="3044952" cy="457200"/>
          </a:xfrm>
          <a:prstGeom prst="rect">
            <a:avLst/>
          </a:prstGeom>
          <a:noFill/>
        </p:spPr>
        <p:txBody>
          <a:bodyPr wrap="square" anchor="t">
            <a:spAutoFit/>
          </a:bodyPr>
          <a:lstStyle/>
          <a:p>
            <a:pPr algn="l">
              <a:spcAft>
                <a:spcPts val="400"/>
              </a:spcAft>
            </a:pPr>
            <a:r>
              <a:rPr sz="1350" b="1">
                <a:solidFill>
                  <a:srgbClr val="1F6FEB"/>
                </a:solidFill>
                <a:latin typeface="Arial"/>
              </a:rPr>
              <a:t>What did the result show?</a:t>
            </a:r>
          </a:p>
        </p:txBody>
      </p:sp>
      <p:sp>
        <p:nvSpPr>
          <p:cNvPr id="15" name="TextBox 14"/>
          <p:cNvSpPr txBox="1"/>
          <p:nvPr/>
        </p:nvSpPr>
        <p:spPr>
          <a:xfrm>
            <a:off x="978408" y="5138928"/>
            <a:ext cx="3044952" cy="731520"/>
          </a:xfrm>
          <a:prstGeom prst="rect">
            <a:avLst/>
          </a:prstGeom>
          <a:noFill/>
        </p:spPr>
        <p:txBody>
          <a:bodyPr wrap="square" anchor="t">
            <a:spAutoFit/>
          </a:bodyPr>
          <a:lstStyle/>
          <a:p>
            <a:pPr algn="l">
              <a:spcAft>
                <a:spcPts val="400"/>
              </a:spcAft>
            </a:pPr>
            <a:r>
              <a:rPr sz="1200" b="0">
                <a:solidFill>
                  <a:srgbClr val="5B6372"/>
                </a:solidFill>
                <a:latin typeface="Arial"/>
              </a:rPr>
              <a:t>Restate the outcome in your own words.</a:t>
            </a:r>
          </a:p>
        </p:txBody>
      </p:sp>
      <p:sp>
        <p:nvSpPr>
          <p:cNvPr id="16" name="Rectangle 15"/>
          <p:cNvSpPr/>
          <p:nvPr/>
        </p:nvSpPr>
        <p:spPr>
          <a:xfrm>
            <a:off x="4370832" y="4480560"/>
            <a:ext cx="3447288" cy="1463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70832" y="4480560"/>
            <a:ext cx="344728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0" y="4663440"/>
            <a:ext cx="3044952" cy="457200"/>
          </a:xfrm>
          <a:prstGeom prst="rect">
            <a:avLst/>
          </a:prstGeom>
          <a:noFill/>
        </p:spPr>
        <p:txBody>
          <a:bodyPr wrap="square" anchor="t">
            <a:spAutoFit/>
          </a:bodyPr>
          <a:lstStyle/>
          <a:p>
            <a:pPr algn="l">
              <a:spcAft>
                <a:spcPts val="400"/>
              </a:spcAft>
            </a:pPr>
            <a:r>
              <a:rPr sz="1350" b="1">
                <a:solidFill>
                  <a:srgbClr val="10B981"/>
                </a:solidFill>
                <a:latin typeface="Arial"/>
              </a:rPr>
              <a:t>Why does it work?</a:t>
            </a:r>
          </a:p>
        </p:txBody>
      </p:sp>
      <p:sp>
        <p:nvSpPr>
          <p:cNvPr id="19" name="TextBox 18"/>
          <p:cNvSpPr txBox="1"/>
          <p:nvPr/>
        </p:nvSpPr>
        <p:spPr>
          <a:xfrm>
            <a:off x="4572000" y="5138928"/>
            <a:ext cx="3044952" cy="731520"/>
          </a:xfrm>
          <a:prstGeom prst="rect">
            <a:avLst/>
          </a:prstGeom>
          <a:noFill/>
        </p:spPr>
        <p:txBody>
          <a:bodyPr wrap="square" anchor="t">
            <a:spAutoFit/>
          </a:bodyPr>
          <a:lstStyle/>
          <a:p>
            <a:pPr algn="l">
              <a:spcAft>
                <a:spcPts val="400"/>
              </a:spcAft>
            </a:pPr>
            <a:r>
              <a:rPr sz="1200" b="0">
                <a:solidFill>
                  <a:srgbClr val="5B6372"/>
                </a:solidFill>
                <a:latin typeface="Arial"/>
              </a:rPr>
              <a:t>Name the quantum principle the activity relies on.</a:t>
            </a:r>
          </a:p>
        </p:txBody>
      </p:sp>
      <p:sp>
        <p:nvSpPr>
          <p:cNvPr id="20" name="Rectangle 19"/>
          <p:cNvSpPr/>
          <p:nvPr/>
        </p:nvSpPr>
        <p:spPr>
          <a:xfrm>
            <a:off x="7964424" y="4480560"/>
            <a:ext cx="3447288" cy="1463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964424" y="4480560"/>
            <a:ext cx="3447288"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65592" y="4663440"/>
            <a:ext cx="3044952" cy="457200"/>
          </a:xfrm>
          <a:prstGeom prst="rect">
            <a:avLst/>
          </a:prstGeom>
          <a:noFill/>
        </p:spPr>
        <p:txBody>
          <a:bodyPr wrap="square" anchor="t">
            <a:spAutoFit/>
          </a:bodyPr>
          <a:lstStyle/>
          <a:p>
            <a:pPr algn="l">
              <a:spcAft>
                <a:spcPts val="400"/>
              </a:spcAft>
            </a:pPr>
            <a:r>
              <a:rPr sz="1350" b="1">
                <a:solidFill>
                  <a:srgbClr val="7C3AED"/>
                </a:solidFill>
                <a:latin typeface="Arial"/>
              </a:rPr>
              <a:t>Where would you use it?</a:t>
            </a:r>
          </a:p>
        </p:txBody>
      </p:sp>
      <p:sp>
        <p:nvSpPr>
          <p:cNvPr id="23" name="TextBox 22"/>
          <p:cNvSpPr txBox="1"/>
          <p:nvPr/>
        </p:nvSpPr>
        <p:spPr>
          <a:xfrm>
            <a:off x="8165592" y="5138928"/>
            <a:ext cx="3044952" cy="731520"/>
          </a:xfrm>
          <a:prstGeom prst="rect">
            <a:avLst/>
          </a:prstGeom>
          <a:noFill/>
        </p:spPr>
        <p:txBody>
          <a:bodyPr wrap="square" anchor="t">
            <a:spAutoFit/>
          </a:bodyPr>
          <a:lstStyle/>
          <a:p>
            <a:pPr algn="l">
              <a:spcAft>
                <a:spcPts val="400"/>
              </a:spcAft>
            </a:pPr>
            <a:r>
              <a:rPr sz="1200" b="0">
                <a:solidFill>
                  <a:srgbClr val="5B6372"/>
                </a:solidFill>
                <a:latin typeface="Arial"/>
              </a:rPr>
              <a:t>Give one realistic application in your own field.</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96</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07 · HANDS-ON ACTIVITY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Portfolio Optimisation with QAOA (Finance)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646920" y="457200"/>
            <a:ext cx="17830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57200"/>
            <a:ext cx="1783080" cy="457200"/>
          </a:xfrm>
          <a:prstGeom prst="rect">
            <a:avLst/>
          </a:prstGeom>
          <a:noFill/>
        </p:spPr>
        <p:txBody>
          <a:bodyPr wrap="square" anchor="ctr">
            <a:spAutoFit/>
          </a:bodyPr>
          <a:lstStyle/>
          <a:p>
            <a:pPr algn="ctr">
              <a:spcAft>
                <a:spcPts val="400"/>
              </a:spcAft>
            </a:pPr>
            <a:r>
              <a:rPr sz="1300" b="1">
                <a:solidFill>
                  <a:srgbClr val="FFFFFF"/>
                </a:solidFill>
                <a:latin typeface="Arial"/>
              </a:rPr>
              <a:t>ACTIVITY 16</a:t>
            </a:r>
          </a:p>
        </p:txBody>
      </p:sp>
      <p:sp>
        <p:nvSpPr>
          <p:cNvPr id="9" name="TextBox 8"/>
          <p:cNvSpPr txBox="1"/>
          <p:nvPr/>
        </p:nvSpPr>
        <p:spPr>
          <a:xfrm>
            <a:off x="777240" y="1828800"/>
            <a:ext cx="10607040" cy="1051560"/>
          </a:xfrm>
          <a:prstGeom prst="rect">
            <a:avLst/>
          </a:prstGeom>
          <a:noFill/>
        </p:spPr>
        <p:txBody>
          <a:bodyPr wrap="square" anchor="t">
            <a:spAutoFit/>
          </a:bodyPr>
          <a:lstStyle/>
          <a:p>
            <a:pPr algn="l">
              <a:spcAft>
                <a:spcPts val="400"/>
              </a:spcAft>
            </a:pPr>
            <a:r>
              <a:rPr sz="1700" b="0">
                <a:solidFill>
                  <a:srgbClr val="161B26"/>
                </a:solidFill>
                <a:latin typeface="Arial"/>
              </a:rPr>
              <a:t>Apply the Quantum Approximate Optimization Algorithm to a Max-Cut style combinatorial problem, the same structure that underlies portfolio selection, routing and scheduling in financial services.</a:t>
            </a:r>
          </a:p>
        </p:txBody>
      </p:sp>
      <p:sp>
        <p:nvSpPr>
          <p:cNvPr id="10" name="Rectangle 9"/>
          <p:cNvSpPr/>
          <p:nvPr/>
        </p:nvSpPr>
        <p:spPr>
          <a:xfrm>
            <a:off x="777240" y="2971800"/>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2971800"/>
            <a:ext cx="10241280" cy="457200"/>
          </a:xfrm>
          <a:prstGeom prst="rect">
            <a:avLst/>
          </a:prstGeom>
          <a:noFill/>
        </p:spPr>
        <p:txBody>
          <a:bodyPr wrap="square" anchor="ctr">
            <a:spAutoFit/>
          </a:bodyPr>
          <a:lstStyle/>
          <a:p>
            <a:pPr algn="l">
              <a:spcAft>
                <a:spcPts val="400"/>
              </a:spcAft>
            </a:pPr>
            <a:r>
              <a:rPr sz="1100" b="1">
                <a:solidFill>
                  <a:srgbClr val="1F6FEB"/>
                </a:solidFill>
                <a:latin typeface="Arial"/>
              </a:rPr>
              <a:t>MAPS TO  </a:t>
            </a:r>
            <a:r>
              <a:rPr sz="1250" b="0">
                <a:solidFill>
                  <a:srgbClr val="161B26"/>
                </a:solidFill>
                <a:latin typeface="Arial"/>
              </a:rPr>
              <a:t>LO4, LO6 — Evaluate applicability and select appropriate algorithms</a:t>
            </a:r>
          </a:p>
        </p:txBody>
      </p:sp>
      <p:sp>
        <p:nvSpPr>
          <p:cNvPr id="12" name="Rectangle 11"/>
          <p:cNvSpPr/>
          <p:nvPr/>
        </p:nvSpPr>
        <p:spPr>
          <a:xfrm>
            <a:off x="777240" y="3611880"/>
            <a:ext cx="10634472" cy="1234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1560" y="3767328"/>
            <a:ext cx="10058400" cy="365760"/>
          </a:xfrm>
          <a:prstGeom prst="rect">
            <a:avLst/>
          </a:prstGeom>
          <a:noFill/>
        </p:spPr>
        <p:txBody>
          <a:bodyPr wrap="square" anchor="t">
            <a:spAutoFit/>
          </a:bodyPr>
          <a:lstStyle/>
          <a:p>
            <a:pPr algn="l">
              <a:spcAft>
                <a:spcPts val="400"/>
              </a:spcAft>
            </a:pPr>
            <a:r>
              <a:rPr sz="1200" b="1">
                <a:solidFill>
                  <a:srgbClr val="127A3E"/>
                </a:solidFill>
                <a:latin typeface="Arial"/>
              </a:rPr>
              <a:t>YOU'LL PRODUCE</a:t>
            </a:r>
          </a:p>
        </p:txBody>
      </p:sp>
      <p:sp>
        <p:nvSpPr>
          <p:cNvPr id="14" name="TextBox 13"/>
          <p:cNvSpPr txBox="1"/>
          <p:nvPr/>
        </p:nvSpPr>
        <p:spPr>
          <a:xfrm>
            <a:off x="1051560" y="4133087"/>
            <a:ext cx="10058400" cy="640080"/>
          </a:xfrm>
          <a:prstGeom prst="rect">
            <a:avLst/>
          </a:prstGeom>
          <a:noFill/>
        </p:spPr>
        <p:txBody>
          <a:bodyPr wrap="square" anchor="t">
            <a:spAutoFit/>
          </a:bodyPr>
          <a:lstStyle/>
          <a:p>
            <a:pPr algn="l">
              <a:spcAft>
                <a:spcPts val="400"/>
              </a:spcAft>
            </a:pPr>
            <a:r>
              <a:rPr sz="1550" b="1">
                <a:solidFill>
                  <a:srgbClr val="161B26"/>
                </a:solidFill>
                <a:latin typeface="Arial"/>
              </a:rPr>
              <a:t>A QAOA run that finds the optimal cut on a small graph, with the solution quality compared against brute force.</a:t>
            </a:r>
          </a:p>
        </p:txBody>
      </p:sp>
      <p:sp>
        <p:nvSpPr>
          <p:cNvPr id="15" name="Rectangle 14"/>
          <p:cNvSpPr/>
          <p:nvPr/>
        </p:nvSpPr>
        <p:spPr>
          <a:xfrm>
            <a:off x="777240" y="5029200"/>
            <a:ext cx="10634472"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5138928"/>
            <a:ext cx="10058400" cy="365760"/>
          </a:xfrm>
          <a:prstGeom prst="rect">
            <a:avLst/>
          </a:prstGeom>
          <a:noFill/>
        </p:spPr>
        <p:txBody>
          <a:bodyPr wrap="square" anchor="t">
            <a:spAutoFit/>
          </a:bodyPr>
          <a:lstStyle/>
          <a:p>
            <a:pPr algn="l">
              <a:spcAft>
                <a:spcPts val="400"/>
              </a:spcAft>
            </a:pPr>
            <a:r>
              <a:rPr sz="1200" b="1">
                <a:solidFill>
                  <a:srgbClr val="5B6372"/>
                </a:solidFill>
                <a:latin typeface="Arial"/>
              </a:rPr>
              <a:t>Tools:  </a:t>
            </a:r>
            <a:r>
              <a:rPr sz="1200" b="0">
                <a:solidFill>
                  <a:srgbClr val="5B6372"/>
                </a:solidFill>
                <a:latin typeface="Arial"/>
              </a:rPr>
              <a:t>Qiskit 2.x, NetworkX, SciPy, matplotlib</a:t>
            </a:r>
          </a:p>
        </p:txBody>
      </p:sp>
      <p:sp>
        <p:nvSpPr>
          <p:cNvPr id="17" name="TextBox 16"/>
          <p:cNvSpPr txBox="1"/>
          <p:nvPr/>
        </p:nvSpPr>
        <p:spPr>
          <a:xfrm>
            <a:off x="1051560" y="5504688"/>
            <a:ext cx="10058400" cy="365760"/>
          </a:xfrm>
          <a:prstGeom prst="rect">
            <a:avLst/>
          </a:prstGeom>
          <a:noFill/>
        </p:spPr>
        <p:txBody>
          <a:bodyPr wrap="square" anchor="t">
            <a:spAutoFit/>
          </a:bodyPr>
          <a:lstStyle/>
          <a:p>
            <a:pPr algn="l">
              <a:spcAft>
                <a:spcPts val="400"/>
              </a:spcAft>
            </a:pPr>
            <a:r>
              <a:rPr sz="1200" b="1">
                <a:solidFill>
                  <a:srgbClr val="1F6FEB"/>
                </a:solidFill>
                <a:latin typeface="Arial"/>
              </a:rPr>
              <a:t>Full step-by-step guide:  </a:t>
            </a:r>
            <a:r>
              <a:rPr sz="1200" b="0">
                <a:solidFill>
                  <a:srgbClr val="161B26"/>
                </a:solidFill>
                <a:latin typeface="Arial"/>
              </a:rPr>
              <a:t>Learner Guide — Activity 16: Portfolio Optimisation with QAOA (Finance)</a:t>
            </a:r>
          </a:p>
        </p:txBody>
      </p:sp>
      <p:sp>
        <p:nvSpPr>
          <p:cNvPr id="18" name="TextBox 1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9" name="TextBox 1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0" name="TextBox 1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97</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16 · VERIFY &amp; DEBRIEF</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Portfolio Optimisation with QAOA (Finance)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21488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21488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1965960"/>
            <a:ext cx="10058400" cy="411480"/>
          </a:xfrm>
          <a:prstGeom prst="rect">
            <a:avLst/>
          </a:prstGeom>
          <a:noFill/>
        </p:spPr>
        <p:txBody>
          <a:bodyPr wrap="square" anchor="t">
            <a:spAutoFit/>
          </a:bodyPr>
          <a:lstStyle/>
          <a:p>
            <a:pPr algn="l">
              <a:spcAft>
                <a:spcPts val="400"/>
              </a:spcAft>
            </a:pPr>
            <a:r>
              <a:rPr sz="1300" b="1">
                <a:solidFill>
                  <a:srgbClr val="127A3E"/>
                </a:solidFill>
                <a:latin typeface="Arial"/>
              </a:rPr>
              <a:t>TEST IT — HOW YOU KNOW IT WORKED</a:t>
            </a:r>
          </a:p>
        </p:txBody>
      </p:sp>
      <p:sp>
        <p:nvSpPr>
          <p:cNvPr id="10" name="TextBox 9"/>
          <p:cNvSpPr txBox="1"/>
          <p:nvPr/>
        </p:nvSpPr>
        <p:spPr>
          <a:xfrm>
            <a:off x="1143000" y="2423160"/>
            <a:ext cx="10058400" cy="1371600"/>
          </a:xfrm>
          <a:prstGeom prst="rect">
            <a:avLst/>
          </a:prstGeom>
          <a:noFill/>
        </p:spPr>
        <p:txBody>
          <a:bodyPr wrap="square" anchor="t">
            <a:spAutoFit/>
          </a:bodyPr>
          <a:lstStyle/>
          <a:p>
            <a:pPr algn="l">
              <a:spcAft>
                <a:spcPts val="400"/>
              </a:spcAft>
            </a:pPr>
            <a:r>
              <a:rPr sz="1600" b="0">
                <a:solidFill>
                  <a:srgbClr val="161B26"/>
                </a:solidFill>
                <a:latin typeface="Arial"/>
              </a:rPr>
              <a:t>The most frequently sampled bit string from the optimised QAOA circuit corresponds to the true maximum cut found by brute force, and the approximation ratio improves as the number of layers p increases.</a:t>
            </a:r>
          </a:p>
        </p:txBody>
      </p:sp>
      <p:sp>
        <p:nvSpPr>
          <p:cNvPr id="11" name="TextBox 10"/>
          <p:cNvSpPr txBox="1"/>
          <p:nvPr/>
        </p:nvSpPr>
        <p:spPr>
          <a:xfrm>
            <a:off x="777240" y="4096512"/>
            <a:ext cx="10607040" cy="365760"/>
          </a:xfrm>
          <a:prstGeom prst="rect">
            <a:avLst/>
          </a:prstGeom>
          <a:noFill/>
        </p:spPr>
        <p:txBody>
          <a:bodyPr wrap="square" anchor="t">
            <a:spAutoFit/>
          </a:bodyPr>
          <a:lstStyle/>
          <a:p>
            <a:pPr algn="l">
              <a:spcAft>
                <a:spcPts val="400"/>
              </a:spcAft>
            </a:pPr>
            <a:r>
              <a:rPr sz="1300" b="1">
                <a:solidFill>
                  <a:srgbClr val="1F6FEB"/>
                </a:solidFill>
                <a:latin typeface="Arial"/>
              </a:rPr>
              <a:t>DISCUSS WITH YOUR TRAINER</a:t>
            </a:r>
          </a:p>
        </p:txBody>
      </p:sp>
      <p:sp>
        <p:nvSpPr>
          <p:cNvPr id="12" name="Rectangle 11"/>
          <p:cNvSpPr/>
          <p:nvPr/>
        </p:nvSpPr>
        <p:spPr>
          <a:xfrm>
            <a:off x="777240" y="4480560"/>
            <a:ext cx="3447288" cy="1463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480560"/>
            <a:ext cx="3447288"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8" y="4663440"/>
            <a:ext cx="3044952" cy="457200"/>
          </a:xfrm>
          <a:prstGeom prst="rect">
            <a:avLst/>
          </a:prstGeom>
          <a:noFill/>
        </p:spPr>
        <p:txBody>
          <a:bodyPr wrap="square" anchor="t">
            <a:spAutoFit/>
          </a:bodyPr>
          <a:lstStyle/>
          <a:p>
            <a:pPr algn="l">
              <a:spcAft>
                <a:spcPts val="400"/>
              </a:spcAft>
            </a:pPr>
            <a:r>
              <a:rPr sz="1350" b="1">
                <a:solidFill>
                  <a:srgbClr val="1F6FEB"/>
                </a:solidFill>
                <a:latin typeface="Arial"/>
              </a:rPr>
              <a:t>What did the result show?</a:t>
            </a:r>
          </a:p>
        </p:txBody>
      </p:sp>
      <p:sp>
        <p:nvSpPr>
          <p:cNvPr id="15" name="TextBox 14"/>
          <p:cNvSpPr txBox="1"/>
          <p:nvPr/>
        </p:nvSpPr>
        <p:spPr>
          <a:xfrm>
            <a:off x="978408" y="5138928"/>
            <a:ext cx="3044952" cy="731520"/>
          </a:xfrm>
          <a:prstGeom prst="rect">
            <a:avLst/>
          </a:prstGeom>
          <a:noFill/>
        </p:spPr>
        <p:txBody>
          <a:bodyPr wrap="square" anchor="t">
            <a:spAutoFit/>
          </a:bodyPr>
          <a:lstStyle/>
          <a:p>
            <a:pPr algn="l">
              <a:spcAft>
                <a:spcPts val="400"/>
              </a:spcAft>
            </a:pPr>
            <a:r>
              <a:rPr sz="1200" b="0">
                <a:solidFill>
                  <a:srgbClr val="5B6372"/>
                </a:solidFill>
                <a:latin typeface="Arial"/>
              </a:rPr>
              <a:t>Restate the outcome in your own words.</a:t>
            </a:r>
          </a:p>
        </p:txBody>
      </p:sp>
      <p:sp>
        <p:nvSpPr>
          <p:cNvPr id="16" name="Rectangle 15"/>
          <p:cNvSpPr/>
          <p:nvPr/>
        </p:nvSpPr>
        <p:spPr>
          <a:xfrm>
            <a:off x="4370832" y="4480560"/>
            <a:ext cx="3447288" cy="1463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70832" y="4480560"/>
            <a:ext cx="344728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0" y="4663440"/>
            <a:ext cx="3044952" cy="457200"/>
          </a:xfrm>
          <a:prstGeom prst="rect">
            <a:avLst/>
          </a:prstGeom>
          <a:noFill/>
        </p:spPr>
        <p:txBody>
          <a:bodyPr wrap="square" anchor="t">
            <a:spAutoFit/>
          </a:bodyPr>
          <a:lstStyle/>
          <a:p>
            <a:pPr algn="l">
              <a:spcAft>
                <a:spcPts val="400"/>
              </a:spcAft>
            </a:pPr>
            <a:r>
              <a:rPr sz="1350" b="1">
                <a:solidFill>
                  <a:srgbClr val="10B981"/>
                </a:solidFill>
                <a:latin typeface="Arial"/>
              </a:rPr>
              <a:t>Why does it work?</a:t>
            </a:r>
          </a:p>
        </p:txBody>
      </p:sp>
      <p:sp>
        <p:nvSpPr>
          <p:cNvPr id="19" name="TextBox 18"/>
          <p:cNvSpPr txBox="1"/>
          <p:nvPr/>
        </p:nvSpPr>
        <p:spPr>
          <a:xfrm>
            <a:off x="4572000" y="5138928"/>
            <a:ext cx="3044952" cy="731520"/>
          </a:xfrm>
          <a:prstGeom prst="rect">
            <a:avLst/>
          </a:prstGeom>
          <a:noFill/>
        </p:spPr>
        <p:txBody>
          <a:bodyPr wrap="square" anchor="t">
            <a:spAutoFit/>
          </a:bodyPr>
          <a:lstStyle/>
          <a:p>
            <a:pPr algn="l">
              <a:spcAft>
                <a:spcPts val="400"/>
              </a:spcAft>
            </a:pPr>
            <a:r>
              <a:rPr sz="1200" b="0">
                <a:solidFill>
                  <a:srgbClr val="5B6372"/>
                </a:solidFill>
                <a:latin typeface="Arial"/>
              </a:rPr>
              <a:t>Name the quantum principle the activity relies on.</a:t>
            </a:r>
          </a:p>
        </p:txBody>
      </p:sp>
      <p:sp>
        <p:nvSpPr>
          <p:cNvPr id="20" name="Rectangle 19"/>
          <p:cNvSpPr/>
          <p:nvPr/>
        </p:nvSpPr>
        <p:spPr>
          <a:xfrm>
            <a:off x="7964424" y="4480560"/>
            <a:ext cx="3447288" cy="1463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964424" y="4480560"/>
            <a:ext cx="3447288"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65592" y="4663440"/>
            <a:ext cx="3044952" cy="457200"/>
          </a:xfrm>
          <a:prstGeom prst="rect">
            <a:avLst/>
          </a:prstGeom>
          <a:noFill/>
        </p:spPr>
        <p:txBody>
          <a:bodyPr wrap="square" anchor="t">
            <a:spAutoFit/>
          </a:bodyPr>
          <a:lstStyle/>
          <a:p>
            <a:pPr algn="l">
              <a:spcAft>
                <a:spcPts val="400"/>
              </a:spcAft>
            </a:pPr>
            <a:r>
              <a:rPr sz="1350" b="1">
                <a:solidFill>
                  <a:srgbClr val="7C3AED"/>
                </a:solidFill>
                <a:latin typeface="Arial"/>
              </a:rPr>
              <a:t>Where would you use it?</a:t>
            </a:r>
          </a:p>
        </p:txBody>
      </p:sp>
      <p:sp>
        <p:nvSpPr>
          <p:cNvPr id="23" name="TextBox 22"/>
          <p:cNvSpPr txBox="1"/>
          <p:nvPr/>
        </p:nvSpPr>
        <p:spPr>
          <a:xfrm>
            <a:off x="8165592" y="5138928"/>
            <a:ext cx="3044952" cy="731520"/>
          </a:xfrm>
          <a:prstGeom prst="rect">
            <a:avLst/>
          </a:prstGeom>
          <a:noFill/>
        </p:spPr>
        <p:txBody>
          <a:bodyPr wrap="square" anchor="t">
            <a:spAutoFit/>
          </a:bodyPr>
          <a:lstStyle/>
          <a:p>
            <a:pPr algn="l">
              <a:spcAft>
                <a:spcPts val="400"/>
              </a:spcAft>
            </a:pPr>
            <a:r>
              <a:rPr sz="1200" b="0">
                <a:solidFill>
                  <a:srgbClr val="5B6372"/>
                </a:solidFill>
                <a:latin typeface="Arial"/>
              </a:rPr>
              <a:t>Give one realistic application in your own field.</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98</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RECAP</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Recap — Quantum Computing Applications and Use Cases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600">
                <a:solidFill>
                  <a:srgbClr val="161B26"/>
                </a:solidFill>
                <a:latin typeface="Arial"/>
              </a:rPr>
              <a:t>•  Finance</a:t>
            </a:r>
          </a:p>
          <a:p>
            <a:pPr>
              <a:spcAft>
                <a:spcPts val="1000"/>
              </a:spcAft>
            </a:pPr>
            <a:r>
              <a:rPr sz="1600">
                <a:solidFill>
                  <a:srgbClr val="161B26"/>
                </a:solidFill>
                <a:latin typeface="Arial"/>
              </a:rPr>
              <a:t>•  Healthcare and life sciences</a:t>
            </a:r>
          </a:p>
          <a:p>
            <a:pPr>
              <a:spcAft>
                <a:spcPts val="1000"/>
              </a:spcAft>
            </a:pPr>
            <a:r>
              <a:rPr sz="1600">
                <a:solidFill>
                  <a:srgbClr val="161B26"/>
                </a:solidFill>
                <a:latin typeface="Arial"/>
              </a:rPr>
              <a:t>•  Science and materials</a:t>
            </a:r>
          </a:p>
          <a:p>
            <a:pPr>
              <a:spcAft>
                <a:spcPts val="1000"/>
              </a:spcAft>
            </a:pPr>
            <a:r>
              <a:rPr sz="1600">
                <a:solidFill>
                  <a:srgbClr val="161B26"/>
                </a:solidFill>
                <a:latin typeface="Arial"/>
              </a:rPr>
              <a:t>•  Optimisation and logistics</a:t>
            </a:r>
          </a:p>
          <a:p>
            <a:pPr>
              <a:spcAft>
                <a:spcPts val="1000"/>
              </a:spcAft>
            </a:pPr>
            <a:r>
              <a:rPr sz="1600">
                <a:solidFill>
                  <a:srgbClr val="161B26"/>
                </a:solidFill>
                <a:latin typeface="Arial"/>
              </a:rPr>
              <a:t>•  Quantum machine learning</a:t>
            </a:r>
          </a:p>
          <a:p>
            <a:pPr>
              <a:spcAft>
                <a:spcPts val="1000"/>
              </a:spcAft>
            </a:pPr>
            <a:r>
              <a:rPr sz="1600">
                <a:solidFill>
                  <a:srgbClr val="161B26"/>
                </a:solidFill>
                <a:latin typeface="Arial"/>
              </a:rPr>
              <a:t>•  Assessing business value</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99</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08</a:t>
            </a:r>
          </a:p>
        </p:txBody>
      </p:sp>
      <p:sp>
        <p:nvSpPr>
          <p:cNvPr id="6" name="TextBox 5"/>
          <p:cNvSpPr txBox="1"/>
          <p:nvPr/>
        </p:nvSpPr>
        <p:spPr>
          <a:xfrm>
            <a:off x="1143000" y="2743200"/>
            <a:ext cx="9509760" cy="1463040"/>
          </a:xfrm>
          <a:prstGeom prst="rect">
            <a:avLst/>
          </a:prstGeom>
          <a:noFill/>
        </p:spPr>
        <p:txBody>
          <a:bodyPr wrap="square" anchor="t">
            <a:spAutoFit/>
          </a:bodyPr>
          <a:lstStyle/>
          <a:p>
            <a:pPr algn="l">
              <a:spcAft>
                <a:spcPts val="400"/>
              </a:spcAft>
            </a:pPr>
            <a:r>
              <a:rPr sz="4000" b="1">
                <a:solidFill>
                  <a:srgbClr val="161B26"/>
                </a:solidFill>
                <a:latin typeface="Arial"/>
              </a:rPr>
              <a:t>Quantum Error Correction</a:t>
            </a:r>
          </a:p>
        </p:txBody>
      </p:sp>
      <p:sp>
        <p:nvSpPr>
          <p:cNvPr id="7" name="TextBox 6"/>
          <p:cNvSpPr txBox="1"/>
          <p:nvPr/>
        </p:nvSpPr>
        <p:spPr>
          <a:xfrm>
            <a:off x="1161288" y="4251960"/>
            <a:ext cx="9692640" cy="822960"/>
          </a:xfrm>
          <a:prstGeom prst="rect">
            <a:avLst/>
          </a:prstGeom>
          <a:noFill/>
        </p:spPr>
        <p:txBody>
          <a:bodyPr wrap="square" anchor="t">
            <a:spAutoFit/>
          </a:bodyPr>
          <a:lstStyle/>
          <a:p>
            <a:pPr algn="l">
              <a:spcAft>
                <a:spcPts val="400"/>
              </a:spcAft>
            </a:pPr>
            <a:r>
              <a:rPr sz="1500" b="0">
                <a:solidFill>
                  <a:srgbClr val="5B6372"/>
                </a:solidFill>
                <a:latin typeface="Arial"/>
              </a:rPr>
              <a:t>Bit and Phase Flip Errors · QEC Algorithms · Fault Tolerance · The Future</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08</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100</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MAPS TO LO7</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Key Concepts — Quantum Error Correction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Why QEC is needed</a:t>
            </a:r>
          </a:p>
          <a:p>
            <a:pPr algn="l">
              <a:spcAft>
                <a:spcPts val="300"/>
              </a:spcAft>
            </a:pPr>
            <a:r>
              <a:rPr sz="1100" b="0">
                <a:solidFill>
                  <a:srgbClr val="5B6372"/>
                </a:solidFill>
                <a:latin typeface="Arial"/>
              </a:rPr>
              <a:t>Qubits decohere and gates are imperfect; without correction, errors accumulate long before a useful algorithm completes.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Quantum-specific challenges</a:t>
            </a:r>
          </a:p>
          <a:p>
            <a:pPr algn="l">
              <a:spcAft>
                <a:spcPts val="300"/>
              </a:spcAft>
            </a:pPr>
            <a:r>
              <a:rPr sz="1100" b="0">
                <a:solidFill>
                  <a:srgbClr val="5B6372"/>
                </a:solidFill>
                <a:latin typeface="Arial"/>
              </a:rPr>
              <a:t>No-cloning forbids simple copying, errors are continuous rather than discrete, and measurement destroys the state.</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3429000"/>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Syndrome measurement</a:t>
            </a:r>
          </a:p>
          <a:p>
            <a:pPr algn="l">
              <a:spcAft>
                <a:spcPts val="300"/>
              </a:spcAft>
            </a:pPr>
            <a:r>
              <a:rPr sz="1100" b="0">
                <a:solidFill>
                  <a:srgbClr val="5B6372"/>
                </a:solidFill>
                <a:latin typeface="Arial"/>
              </a:rPr>
              <a:t>Ancilla qubits are measured to reveal WHICH error occurred without ever measuring — and collapsing — the logical state.</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3429000"/>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Bit-flip and phase-flip codes</a:t>
            </a:r>
          </a:p>
          <a:p>
            <a:pPr algn="l">
              <a:spcAft>
                <a:spcPts val="300"/>
              </a:spcAft>
            </a:pPr>
            <a:r>
              <a:rPr sz="1100" b="0">
                <a:solidFill>
                  <a:srgbClr val="5B6372"/>
                </a:solidFill>
                <a:latin typeface="Arial"/>
              </a:rPr>
              <a:t>Three-qubit repetition codes correct X errors; conjugating with Hadamards turns phase flips into bit flips.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5</a:t>
            </a:r>
          </a:p>
        </p:txBody>
      </p:sp>
      <p:sp>
        <p:nvSpPr>
          <p:cNvPr id="31" name="TextBox 30"/>
          <p:cNvSpPr txBox="1"/>
          <p:nvPr/>
        </p:nvSpPr>
        <p:spPr>
          <a:xfrm>
            <a:off x="1764792" y="4965192"/>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Shor, Steane and surface codes</a:t>
            </a:r>
          </a:p>
          <a:p>
            <a:pPr algn="l">
              <a:spcAft>
                <a:spcPts val="300"/>
              </a:spcAft>
            </a:pPr>
            <a:r>
              <a:rPr sz="1100" b="0">
                <a:solidFill>
                  <a:srgbClr val="5B6372"/>
                </a:solidFill>
                <a:latin typeface="Arial"/>
              </a:rPr>
              <a:t>Shor's 9-qubit code corrects arbitrary single-qubit errors; Steane uses 7; surface codes are today's leading practical approach.</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6</a:t>
            </a:r>
          </a:p>
        </p:txBody>
      </p:sp>
      <p:sp>
        <p:nvSpPr>
          <p:cNvPr id="36" name="TextBox 35"/>
          <p:cNvSpPr txBox="1"/>
          <p:nvPr/>
        </p:nvSpPr>
        <p:spPr>
          <a:xfrm>
            <a:off x="7219188" y="4965192"/>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Fault tolerance</a:t>
            </a:r>
          </a:p>
          <a:p>
            <a:pPr algn="l">
              <a:spcAft>
                <a:spcPts val="300"/>
              </a:spcAft>
            </a:pPr>
            <a:r>
              <a:rPr sz="1100" b="0">
                <a:solidFill>
                  <a:srgbClr val="5B6372"/>
                </a:solidFill>
                <a:latin typeface="Arial"/>
              </a:rPr>
              <a:t>Below the error threshold, concatenating codes suppresses errors faster than they accumulate — the path to useful quantum computers.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101</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ENCODE · ERROR · SYNDROME · CORRECT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Bit-Flip Code — The QEC Cycle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qec-bitflip.png"/>
          <p:cNvPicPr>
            <a:picLocks noChangeAspect="1"/>
          </p:cNvPicPr>
          <p:nvPr/>
        </p:nvPicPr>
        <p:blipFill>
          <a:blip r:embed="rId2"/>
          <a:stretch>
            <a:fillRect/>
          </a:stretch>
        </p:blipFill>
        <p:spPr>
          <a:xfrm>
            <a:off x="1866942" y="1755648"/>
            <a:ext cx="8455068" cy="3950208"/>
          </a:xfrm>
          <a:prstGeom prst="rect">
            <a:avLst/>
          </a:prstGeom>
        </p:spPr>
      </p:pic>
      <p:sp>
        <p:nvSpPr>
          <p:cNvPr id="8" name="Rectangle 7"/>
          <p:cNvSpPr/>
          <p:nvPr/>
        </p:nvSpPr>
        <p:spPr>
          <a:xfrm>
            <a:off x="777240" y="5870448"/>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5870448"/>
            <a:ext cx="10241280" cy="457200"/>
          </a:xfrm>
          <a:prstGeom prst="rect">
            <a:avLst/>
          </a:prstGeom>
          <a:noFill/>
        </p:spPr>
        <p:txBody>
          <a:bodyPr wrap="square" anchor="ctr">
            <a:spAutoFit/>
          </a:bodyPr>
          <a:lstStyle/>
          <a:p>
            <a:pPr algn="ctr">
              <a:spcAft>
                <a:spcPts val="400"/>
              </a:spcAft>
            </a:pPr>
            <a:r>
              <a:rPr sz="1350" b="0">
                <a:solidFill>
                  <a:srgbClr val="161B26"/>
                </a:solidFill>
                <a:latin typeface="Arial"/>
              </a:rPr>
              <a:t>The syndrome reveals WHICH qubit flipped without ever measuring — and destroying — the logical state.</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102</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QUBIT COST VS PROTECTION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Error-Correcting Codes Compared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qec-codes.png"/>
          <p:cNvPicPr>
            <a:picLocks noChangeAspect="1"/>
          </p:cNvPicPr>
          <p:nvPr/>
        </p:nvPicPr>
        <p:blipFill>
          <a:blip r:embed="rId2"/>
          <a:stretch>
            <a:fillRect/>
          </a:stretch>
        </p:blipFill>
        <p:spPr>
          <a:xfrm>
            <a:off x="777240" y="2353377"/>
            <a:ext cx="6400800" cy="3065646"/>
          </a:xfrm>
          <a:prstGeom prst="rect">
            <a:avLst/>
          </a:prstGeom>
        </p:spPr>
      </p:pic>
      <p:sp>
        <p:nvSpPr>
          <p:cNvPr id="8" name="Rectangle 7"/>
          <p:cNvSpPr/>
          <p:nvPr/>
        </p:nvSpPr>
        <p:spPr>
          <a:xfrm>
            <a:off x="7452360" y="1783080"/>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452360" y="1783080"/>
            <a:ext cx="82296" cy="9372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08392" y="1783080"/>
            <a:ext cx="3502152" cy="937260"/>
          </a:xfrm>
          <a:prstGeom prst="rect">
            <a:avLst/>
          </a:prstGeom>
          <a:noFill/>
        </p:spPr>
        <p:txBody>
          <a:bodyPr wrap="square" anchor="ctr">
            <a:spAutoFit/>
          </a:bodyPr>
          <a:lstStyle/>
          <a:p>
            <a:pPr algn="l">
              <a:spcAft>
                <a:spcPts val="300"/>
              </a:spcAft>
            </a:pPr>
            <a:r>
              <a:rPr sz="1400" b="1">
                <a:solidFill>
                  <a:srgbClr val="1F6FEB"/>
                </a:solidFill>
                <a:latin typeface="Arial"/>
              </a:rPr>
              <a:t>3-qubit codes</a:t>
            </a:r>
          </a:p>
          <a:p>
            <a:pPr algn="l">
              <a:spcAft>
                <a:spcPts val="300"/>
              </a:spcAft>
            </a:pPr>
            <a:r>
              <a:rPr sz="1200" b="0">
                <a:solidFill>
                  <a:srgbClr val="161B26"/>
                </a:solidFill>
                <a:latin typeface="Arial"/>
              </a:rPr>
              <a:t>Correct either bit flips or phase flips, but not both.</a:t>
            </a:r>
          </a:p>
        </p:txBody>
      </p:sp>
      <p:sp>
        <p:nvSpPr>
          <p:cNvPr id="11" name="Rectangle 10"/>
          <p:cNvSpPr/>
          <p:nvPr/>
        </p:nvSpPr>
        <p:spPr>
          <a:xfrm>
            <a:off x="7452360" y="2903220"/>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452360" y="2903220"/>
            <a:ext cx="82296" cy="9372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08392" y="2903220"/>
            <a:ext cx="3502152" cy="937260"/>
          </a:xfrm>
          <a:prstGeom prst="rect">
            <a:avLst/>
          </a:prstGeom>
          <a:noFill/>
        </p:spPr>
        <p:txBody>
          <a:bodyPr wrap="square" anchor="ctr">
            <a:spAutoFit/>
          </a:bodyPr>
          <a:lstStyle/>
          <a:p>
            <a:pPr algn="l">
              <a:spcAft>
                <a:spcPts val="300"/>
              </a:spcAft>
            </a:pPr>
            <a:r>
              <a:rPr sz="1400" b="1">
                <a:solidFill>
                  <a:srgbClr val="10B981"/>
                </a:solidFill>
                <a:latin typeface="Arial"/>
              </a:rPr>
              <a:t>Shor 9-qubit</a:t>
            </a:r>
          </a:p>
          <a:p>
            <a:pPr algn="l">
              <a:spcAft>
                <a:spcPts val="300"/>
              </a:spcAft>
            </a:pPr>
            <a:r>
              <a:rPr sz="1200" b="0">
                <a:solidFill>
                  <a:srgbClr val="161B26"/>
                </a:solidFill>
                <a:latin typeface="Arial"/>
              </a:rPr>
              <a:t>The first code to correct an arbitrary single-qubit error.</a:t>
            </a:r>
          </a:p>
        </p:txBody>
      </p:sp>
      <p:sp>
        <p:nvSpPr>
          <p:cNvPr id="14" name="Rectangle 13"/>
          <p:cNvSpPr/>
          <p:nvPr/>
        </p:nvSpPr>
        <p:spPr>
          <a:xfrm>
            <a:off x="7452360" y="4023360"/>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452360" y="4023360"/>
            <a:ext cx="82296" cy="9372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08392" y="4023360"/>
            <a:ext cx="3502152" cy="937260"/>
          </a:xfrm>
          <a:prstGeom prst="rect">
            <a:avLst/>
          </a:prstGeom>
          <a:noFill/>
        </p:spPr>
        <p:txBody>
          <a:bodyPr wrap="square" anchor="ctr">
            <a:spAutoFit/>
          </a:bodyPr>
          <a:lstStyle/>
          <a:p>
            <a:pPr algn="l">
              <a:spcAft>
                <a:spcPts val="300"/>
              </a:spcAft>
            </a:pPr>
            <a:r>
              <a:rPr sz="1400" b="1">
                <a:solidFill>
                  <a:srgbClr val="7C3AED"/>
                </a:solidFill>
                <a:latin typeface="Arial"/>
              </a:rPr>
              <a:t>Steane 7-qubit</a:t>
            </a:r>
          </a:p>
          <a:p>
            <a:pPr algn="l">
              <a:spcAft>
                <a:spcPts val="300"/>
              </a:spcAft>
            </a:pPr>
            <a:r>
              <a:rPr sz="1200" b="0">
                <a:solidFill>
                  <a:srgbClr val="161B26"/>
                </a:solidFill>
                <a:latin typeface="Arial"/>
              </a:rPr>
              <a:t>A CSS code achieving the same protection more efficiently.</a:t>
            </a:r>
          </a:p>
        </p:txBody>
      </p:sp>
      <p:sp>
        <p:nvSpPr>
          <p:cNvPr id="17" name="Rectangle 16"/>
          <p:cNvSpPr/>
          <p:nvPr/>
        </p:nvSpPr>
        <p:spPr>
          <a:xfrm>
            <a:off x="7452360" y="5143500"/>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452360" y="5143500"/>
            <a:ext cx="82296" cy="9372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08392" y="5143500"/>
            <a:ext cx="3502152" cy="937260"/>
          </a:xfrm>
          <a:prstGeom prst="rect">
            <a:avLst/>
          </a:prstGeom>
          <a:noFill/>
        </p:spPr>
        <p:txBody>
          <a:bodyPr wrap="square" anchor="ctr">
            <a:spAutoFit/>
          </a:bodyPr>
          <a:lstStyle/>
          <a:p>
            <a:pPr algn="l">
              <a:spcAft>
                <a:spcPts val="300"/>
              </a:spcAft>
            </a:pPr>
            <a:r>
              <a:rPr sz="1400" b="1">
                <a:solidFill>
                  <a:srgbClr val="F59E0B"/>
                </a:solidFill>
                <a:latin typeface="Arial"/>
              </a:rPr>
              <a:t>Surface codes</a:t>
            </a:r>
          </a:p>
          <a:p>
            <a:pPr algn="l">
              <a:spcAft>
                <a:spcPts val="300"/>
              </a:spcAft>
            </a:pPr>
            <a:r>
              <a:rPr sz="1200" b="0">
                <a:solidFill>
                  <a:srgbClr val="161B26"/>
                </a:solidFill>
                <a:latin typeface="Arial"/>
              </a:rPr>
              <a:t>2D nearest-neighbour layout — today's leading practical approach.</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103</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WHERE THE INDUSTRY IS HEADED</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The Road to Fault Tolerance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oadmap.png"/>
          <p:cNvPicPr>
            <a:picLocks noChangeAspect="1"/>
          </p:cNvPicPr>
          <p:nvPr/>
        </p:nvPicPr>
        <p:blipFill>
          <a:blip r:embed="rId2"/>
          <a:stretch>
            <a:fillRect/>
          </a:stretch>
        </p:blipFill>
        <p:spPr>
          <a:xfrm>
            <a:off x="777240" y="1921754"/>
            <a:ext cx="10634472" cy="3617996"/>
          </a:xfrm>
          <a:prstGeom prst="rect">
            <a:avLst/>
          </a:prstGeom>
        </p:spPr>
      </p:pic>
      <p:sp>
        <p:nvSpPr>
          <p:cNvPr id="8" name="Rectangle 7"/>
          <p:cNvSpPr/>
          <p:nvPr/>
        </p:nvSpPr>
        <p:spPr>
          <a:xfrm>
            <a:off x="777240" y="5870448"/>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5870448"/>
            <a:ext cx="10241280" cy="457200"/>
          </a:xfrm>
          <a:prstGeom prst="rect">
            <a:avLst/>
          </a:prstGeom>
          <a:noFill/>
        </p:spPr>
        <p:txBody>
          <a:bodyPr wrap="square" anchor="ctr">
            <a:spAutoFit/>
          </a:bodyPr>
          <a:lstStyle/>
          <a:p>
            <a:pPr algn="ctr">
              <a:spcAft>
                <a:spcPts val="400"/>
              </a:spcAft>
            </a:pPr>
            <a:r>
              <a:rPr sz="1350" b="0">
                <a:solidFill>
                  <a:srgbClr val="161B26"/>
                </a:solidFill>
                <a:latin typeface="Arial"/>
              </a:rPr>
              <a:t>Below the error threshold, adding more physical qubits suppresses errors faster than they accumulate.</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104</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WHAT YOU'LL DO</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Hands-On Activities — Quantum Error Correction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Activity 17</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a:solidFill>
                  <a:srgbClr val="161B26"/>
                </a:solidFill>
                <a:latin typeface="Arial"/>
              </a:rPr>
              <a:t>•  Bit-Flip and Phase-Flip Error Correction Codes</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Activity 18</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a:solidFill>
                  <a:srgbClr val="161B26"/>
                </a:solidFill>
                <a:latin typeface="Arial"/>
              </a:rPr>
              <a:t>•  Shor 9-Qubit and Steane 7-Qubit Codes</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a:solidFill>
                  <a:srgbClr val="161B26"/>
                </a:solidFill>
                <a:latin typeface="Arial"/>
              </a:rPr>
              <a:t>•  —</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105</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08 · HANDS-ON ACTIVITY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Bit-Flip and Phase-Flip Error Correction Codes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646920" y="457200"/>
            <a:ext cx="17830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57200"/>
            <a:ext cx="1783080" cy="457200"/>
          </a:xfrm>
          <a:prstGeom prst="rect">
            <a:avLst/>
          </a:prstGeom>
          <a:noFill/>
        </p:spPr>
        <p:txBody>
          <a:bodyPr wrap="square" anchor="ctr">
            <a:spAutoFit/>
          </a:bodyPr>
          <a:lstStyle/>
          <a:p>
            <a:pPr algn="ctr">
              <a:spcAft>
                <a:spcPts val="400"/>
              </a:spcAft>
            </a:pPr>
            <a:r>
              <a:rPr sz="1300" b="1">
                <a:solidFill>
                  <a:srgbClr val="FFFFFF"/>
                </a:solidFill>
                <a:latin typeface="Arial"/>
              </a:rPr>
              <a:t>ACTIVITY 17</a:t>
            </a:r>
          </a:p>
        </p:txBody>
      </p:sp>
      <p:sp>
        <p:nvSpPr>
          <p:cNvPr id="9" name="TextBox 8"/>
          <p:cNvSpPr txBox="1"/>
          <p:nvPr/>
        </p:nvSpPr>
        <p:spPr>
          <a:xfrm>
            <a:off x="777240" y="1828800"/>
            <a:ext cx="10607040" cy="1051560"/>
          </a:xfrm>
          <a:prstGeom prst="rect">
            <a:avLst/>
          </a:prstGeom>
          <a:noFill/>
        </p:spPr>
        <p:txBody>
          <a:bodyPr wrap="square" anchor="t">
            <a:spAutoFit/>
          </a:bodyPr>
          <a:lstStyle/>
          <a:p>
            <a:pPr algn="l">
              <a:spcAft>
                <a:spcPts val="400"/>
              </a:spcAft>
            </a:pPr>
            <a:r>
              <a:rPr sz="1700" b="0">
                <a:solidFill>
                  <a:srgbClr val="161B26"/>
                </a:solidFill>
                <a:latin typeface="Arial"/>
              </a:rPr>
              <a:t>Build the three-qubit repetition codes that detect and correct X and Z errors: encode a logical qubit, inject an error, measure the syndrome without collapsing the state, and apply the correction.</a:t>
            </a:r>
          </a:p>
        </p:txBody>
      </p:sp>
      <p:sp>
        <p:nvSpPr>
          <p:cNvPr id="10" name="Rectangle 9"/>
          <p:cNvSpPr/>
          <p:nvPr/>
        </p:nvSpPr>
        <p:spPr>
          <a:xfrm>
            <a:off x="777240" y="2971800"/>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2971800"/>
            <a:ext cx="10241280" cy="457200"/>
          </a:xfrm>
          <a:prstGeom prst="rect">
            <a:avLst/>
          </a:prstGeom>
          <a:noFill/>
        </p:spPr>
        <p:txBody>
          <a:bodyPr wrap="square" anchor="ctr">
            <a:spAutoFit/>
          </a:bodyPr>
          <a:lstStyle/>
          <a:p>
            <a:pPr algn="l">
              <a:spcAft>
                <a:spcPts val="400"/>
              </a:spcAft>
            </a:pPr>
            <a:r>
              <a:rPr sz="1100" b="1">
                <a:solidFill>
                  <a:srgbClr val="1F6FEB"/>
                </a:solidFill>
                <a:latin typeface="Arial"/>
              </a:rPr>
              <a:t>MAPS TO  </a:t>
            </a:r>
            <a:r>
              <a:rPr sz="1250" b="0">
                <a:solidFill>
                  <a:srgbClr val="161B26"/>
                </a:solidFill>
                <a:latin typeface="Arial"/>
              </a:rPr>
              <a:t>LO7 — Synthesize quantum methodologies to address complex problems</a:t>
            </a:r>
          </a:p>
        </p:txBody>
      </p:sp>
      <p:sp>
        <p:nvSpPr>
          <p:cNvPr id="12" name="Rectangle 11"/>
          <p:cNvSpPr/>
          <p:nvPr/>
        </p:nvSpPr>
        <p:spPr>
          <a:xfrm>
            <a:off x="777240" y="3611880"/>
            <a:ext cx="10634472" cy="1234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1560" y="3767328"/>
            <a:ext cx="10058400" cy="365760"/>
          </a:xfrm>
          <a:prstGeom prst="rect">
            <a:avLst/>
          </a:prstGeom>
          <a:noFill/>
        </p:spPr>
        <p:txBody>
          <a:bodyPr wrap="square" anchor="t">
            <a:spAutoFit/>
          </a:bodyPr>
          <a:lstStyle/>
          <a:p>
            <a:pPr algn="l">
              <a:spcAft>
                <a:spcPts val="400"/>
              </a:spcAft>
            </a:pPr>
            <a:r>
              <a:rPr sz="1200" b="1">
                <a:solidFill>
                  <a:srgbClr val="127A3E"/>
                </a:solidFill>
                <a:latin typeface="Arial"/>
              </a:rPr>
              <a:t>YOU'LL PRODUCE</a:t>
            </a:r>
          </a:p>
        </p:txBody>
      </p:sp>
      <p:sp>
        <p:nvSpPr>
          <p:cNvPr id="14" name="TextBox 13"/>
          <p:cNvSpPr txBox="1"/>
          <p:nvPr/>
        </p:nvSpPr>
        <p:spPr>
          <a:xfrm>
            <a:off x="1051560" y="4133087"/>
            <a:ext cx="10058400" cy="640080"/>
          </a:xfrm>
          <a:prstGeom prst="rect">
            <a:avLst/>
          </a:prstGeom>
          <a:noFill/>
        </p:spPr>
        <p:txBody>
          <a:bodyPr wrap="square" anchor="t">
            <a:spAutoFit/>
          </a:bodyPr>
          <a:lstStyle/>
          <a:p>
            <a:pPr algn="l">
              <a:spcAft>
                <a:spcPts val="400"/>
              </a:spcAft>
            </a:pPr>
            <a:r>
              <a:rPr sz="1550" b="1">
                <a:solidFill>
                  <a:srgbClr val="161B26"/>
                </a:solidFill>
                <a:latin typeface="Arial"/>
              </a:rPr>
              <a:t>Working bit-flip and phase-flip code circuits that correctly identify and repair an injected single-qubit error.</a:t>
            </a:r>
          </a:p>
        </p:txBody>
      </p:sp>
      <p:sp>
        <p:nvSpPr>
          <p:cNvPr id="15" name="Rectangle 14"/>
          <p:cNvSpPr/>
          <p:nvPr/>
        </p:nvSpPr>
        <p:spPr>
          <a:xfrm>
            <a:off x="777240" y="5029200"/>
            <a:ext cx="10634472"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5138928"/>
            <a:ext cx="10058400" cy="365760"/>
          </a:xfrm>
          <a:prstGeom prst="rect">
            <a:avLst/>
          </a:prstGeom>
          <a:noFill/>
        </p:spPr>
        <p:txBody>
          <a:bodyPr wrap="square" anchor="t">
            <a:spAutoFit/>
          </a:bodyPr>
          <a:lstStyle/>
          <a:p>
            <a:pPr algn="l">
              <a:spcAft>
                <a:spcPts val="400"/>
              </a:spcAft>
            </a:pPr>
            <a:r>
              <a:rPr sz="1200" b="1">
                <a:solidFill>
                  <a:srgbClr val="5B6372"/>
                </a:solidFill>
                <a:latin typeface="Arial"/>
              </a:rPr>
              <a:t>Tools:  </a:t>
            </a:r>
            <a:r>
              <a:rPr sz="1200" b="0">
                <a:solidFill>
                  <a:srgbClr val="5B6372"/>
                </a:solidFill>
                <a:latin typeface="Arial"/>
              </a:rPr>
              <a:t>Qiskit 2.x, IBM Quantum Runtime, OpenQASM</a:t>
            </a:r>
          </a:p>
        </p:txBody>
      </p:sp>
      <p:sp>
        <p:nvSpPr>
          <p:cNvPr id="17" name="TextBox 16"/>
          <p:cNvSpPr txBox="1"/>
          <p:nvPr/>
        </p:nvSpPr>
        <p:spPr>
          <a:xfrm>
            <a:off x="1051560" y="5504688"/>
            <a:ext cx="10058400" cy="365760"/>
          </a:xfrm>
          <a:prstGeom prst="rect">
            <a:avLst/>
          </a:prstGeom>
          <a:noFill/>
        </p:spPr>
        <p:txBody>
          <a:bodyPr wrap="square" anchor="t">
            <a:spAutoFit/>
          </a:bodyPr>
          <a:lstStyle/>
          <a:p>
            <a:pPr algn="l">
              <a:spcAft>
                <a:spcPts val="400"/>
              </a:spcAft>
            </a:pPr>
            <a:r>
              <a:rPr sz="1200" b="1">
                <a:solidFill>
                  <a:srgbClr val="1F6FEB"/>
                </a:solidFill>
                <a:latin typeface="Arial"/>
              </a:rPr>
              <a:t>Full step-by-step guide:  </a:t>
            </a:r>
            <a:r>
              <a:rPr sz="1200" b="0">
                <a:solidFill>
                  <a:srgbClr val="161B26"/>
                </a:solidFill>
                <a:latin typeface="Arial"/>
              </a:rPr>
              <a:t>Learner Guide — Activity 17: Bit-Flip and Phase-Flip Error Correction Codes</a:t>
            </a:r>
          </a:p>
        </p:txBody>
      </p:sp>
      <p:sp>
        <p:nvSpPr>
          <p:cNvPr id="18" name="TextBox 1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9" name="TextBox 1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0" name="TextBox 1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106</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17 · VERIFY &amp; DEBRIEF</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Bit-Flip and Phase-Flip Error Correction Codes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21488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21488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1965960"/>
            <a:ext cx="10058400" cy="411480"/>
          </a:xfrm>
          <a:prstGeom prst="rect">
            <a:avLst/>
          </a:prstGeom>
          <a:noFill/>
        </p:spPr>
        <p:txBody>
          <a:bodyPr wrap="square" anchor="t">
            <a:spAutoFit/>
          </a:bodyPr>
          <a:lstStyle/>
          <a:p>
            <a:pPr algn="l">
              <a:spcAft>
                <a:spcPts val="400"/>
              </a:spcAft>
            </a:pPr>
            <a:r>
              <a:rPr sz="1300" b="1">
                <a:solidFill>
                  <a:srgbClr val="127A3E"/>
                </a:solidFill>
                <a:latin typeface="Arial"/>
              </a:rPr>
              <a:t>TEST IT — HOW YOU KNOW IT WORKED</a:t>
            </a:r>
          </a:p>
        </p:txBody>
      </p:sp>
      <p:sp>
        <p:nvSpPr>
          <p:cNvPr id="10" name="TextBox 9"/>
          <p:cNvSpPr txBox="1"/>
          <p:nvPr/>
        </p:nvSpPr>
        <p:spPr>
          <a:xfrm>
            <a:off x="1143000" y="2423160"/>
            <a:ext cx="10058400" cy="1371600"/>
          </a:xfrm>
          <a:prstGeom prst="rect">
            <a:avLst/>
          </a:prstGeom>
          <a:noFill/>
        </p:spPr>
        <p:txBody>
          <a:bodyPr wrap="square" anchor="t">
            <a:spAutoFit/>
          </a:bodyPr>
          <a:lstStyle/>
          <a:p>
            <a:pPr algn="l">
              <a:spcAft>
                <a:spcPts val="400"/>
              </a:spcAft>
            </a:pPr>
            <a:r>
              <a:rPr sz="1600" b="0">
                <a:solidFill>
                  <a:srgbClr val="161B26"/>
                </a:solidFill>
                <a:latin typeface="Arial"/>
              </a:rPr>
              <a:t>The syndrome measurement correctly identifies which qubit carried the injected error without collapsing the logical state, and applying the indicated correction restores the original logical qubit.</a:t>
            </a:r>
          </a:p>
        </p:txBody>
      </p:sp>
      <p:sp>
        <p:nvSpPr>
          <p:cNvPr id="11" name="TextBox 10"/>
          <p:cNvSpPr txBox="1"/>
          <p:nvPr/>
        </p:nvSpPr>
        <p:spPr>
          <a:xfrm>
            <a:off x="777240" y="4096512"/>
            <a:ext cx="10607040" cy="365760"/>
          </a:xfrm>
          <a:prstGeom prst="rect">
            <a:avLst/>
          </a:prstGeom>
          <a:noFill/>
        </p:spPr>
        <p:txBody>
          <a:bodyPr wrap="square" anchor="t">
            <a:spAutoFit/>
          </a:bodyPr>
          <a:lstStyle/>
          <a:p>
            <a:pPr algn="l">
              <a:spcAft>
                <a:spcPts val="400"/>
              </a:spcAft>
            </a:pPr>
            <a:r>
              <a:rPr sz="1300" b="1">
                <a:solidFill>
                  <a:srgbClr val="1F6FEB"/>
                </a:solidFill>
                <a:latin typeface="Arial"/>
              </a:rPr>
              <a:t>DISCUSS WITH YOUR TRAINER</a:t>
            </a:r>
          </a:p>
        </p:txBody>
      </p:sp>
      <p:sp>
        <p:nvSpPr>
          <p:cNvPr id="12" name="Rectangle 11"/>
          <p:cNvSpPr/>
          <p:nvPr/>
        </p:nvSpPr>
        <p:spPr>
          <a:xfrm>
            <a:off x="777240" y="4480560"/>
            <a:ext cx="3447288" cy="1463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480560"/>
            <a:ext cx="3447288"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8" y="4663440"/>
            <a:ext cx="3044952" cy="457200"/>
          </a:xfrm>
          <a:prstGeom prst="rect">
            <a:avLst/>
          </a:prstGeom>
          <a:noFill/>
        </p:spPr>
        <p:txBody>
          <a:bodyPr wrap="square" anchor="t">
            <a:spAutoFit/>
          </a:bodyPr>
          <a:lstStyle/>
          <a:p>
            <a:pPr algn="l">
              <a:spcAft>
                <a:spcPts val="400"/>
              </a:spcAft>
            </a:pPr>
            <a:r>
              <a:rPr sz="1350" b="1">
                <a:solidFill>
                  <a:srgbClr val="1F6FEB"/>
                </a:solidFill>
                <a:latin typeface="Arial"/>
              </a:rPr>
              <a:t>What did the result show?</a:t>
            </a:r>
          </a:p>
        </p:txBody>
      </p:sp>
      <p:sp>
        <p:nvSpPr>
          <p:cNvPr id="15" name="TextBox 14"/>
          <p:cNvSpPr txBox="1"/>
          <p:nvPr/>
        </p:nvSpPr>
        <p:spPr>
          <a:xfrm>
            <a:off x="978408" y="5138928"/>
            <a:ext cx="3044952" cy="731520"/>
          </a:xfrm>
          <a:prstGeom prst="rect">
            <a:avLst/>
          </a:prstGeom>
          <a:noFill/>
        </p:spPr>
        <p:txBody>
          <a:bodyPr wrap="square" anchor="t">
            <a:spAutoFit/>
          </a:bodyPr>
          <a:lstStyle/>
          <a:p>
            <a:pPr algn="l">
              <a:spcAft>
                <a:spcPts val="400"/>
              </a:spcAft>
            </a:pPr>
            <a:r>
              <a:rPr sz="1200" b="0">
                <a:solidFill>
                  <a:srgbClr val="5B6372"/>
                </a:solidFill>
                <a:latin typeface="Arial"/>
              </a:rPr>
              <a:t>Restate the outcome in your own words.</a:t>
            </a:r>
          </a:p>
        </p:txBody>
      </p:sp>
      <p:sp>
        <p:nvSpPr>
          <p:cNvPr id="16" name="Rectangle 15"/>
          <p:cNvSpPr/>
          <p:nvPr/>
        </p:nvSpPr>
        <p:spPr>
          <a:xfrm>
            <a:off x="4370832" y="4480560"/>
            <a:ext cx="3447288" cy="1463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70832" y="4480560"/>
            <a:ext cx="344728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0" y="4663440"/>
            <a:ext cx="3044952" cy="457200"/>
          </a:xfrm>
          <a:prstGeom prst="rect">
            <a:avLst/>
          </a:prstGeom>
          <a:noFill/>
        </p:spPr>
        <p:txBody>
          <a:bodyPr wrap="square" anchor="t">
            <a:spAutoFit/>
          </a:bodyPr>
          <a:lstStyle/>
          <a:p>
            <a:pPr algn="l">
              <a:spcAft>
                <a:spcPts val="400"/>
              </a:spcAft>
            </a:pPr>
            <a:r>
              <a:rPr sz="1350" b="1">
                <a:solidFill>
                  <a:srgbClr val="10B981"/>
                </a:solidFill>
                <a:latin typeface="Arial"/>
              </a:rPr>
              <a:t>Why does it work?</a:t>
            </a:r>
          </a:p>
        </p:txBody>
      </p:sp>
      <p:sp>
        <p:nvSpPr>
          <p:cNvPr id="19" name="TextBox 18"/>
          <p:cNvSpPr txBox="1"/>
          <p:nvPr/>
        </p:nvSpPr>
        <p:spPr>
          <a:xfrm>
            <a:off x="4572000" y="5138928"/>
            <a:ext cx="3044952" cy="731520"/>
          </a:xfrm>
          <a:prstGeom prst="rect">
            <a:avLst/>
          </a:prstGeom>
          <a:noFill/>
        </p:spPr>
        <p:txBody>
          <a:bodyPr wrap="square" anchor="t">
            <a:spAutoFit/>
          </a:bodyPr>
          <a:lstStyle/>
          <a:p>
            <a:pPr algn="l">
              <a:spcAft>
                <a:spcPts val="400"/>
              </a:spcAft>
            </a:pPr>
            <a:r>
              <a:rPr sz="1200" b="0">
                <a:solidFill>
                  <a:srgbClr val="5B6372"/>
                </a:solidFill>
                <a:latin typeface="Arial"/>
              </a:rPr>
              <a:t>Name the quantum principle the activity relies on.</a:t>
            </a:r>
          </a:p>
        </p:txBody>
      </p:sp>
      <p:sp>
        <p:nvSpPr>
          <p:cNvPr id="20" name="Rectangle 19"/>
          <p:cNvSpPr/>
          <p:nvPr/>
        </p:nvSpPr>
        <p:spPr>
          <a:xfrm>
            <a:off x="7964424" y="4480560"/>
            <a:ext cx="3447288" cy="1463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964424" y="4480560"/>
            <a:ext cx="3447288"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65592" y="4663440"/>
            <a:ext cx="3044952" cy="457200"/>
          </a:xfrm>
          <a:prstGeom prst="rect">
            <a:avLst/>
          </a:prstGeom>
          <a:noFill/>
        </p:spPr>
        <p:txBody>
          <a:bodyPr wrap="square" anchor="t">
            <a:spAutoFit/>
          </a:bodyPr>
          <a:lstStyle/>
          <a:p>
            <a:pPr algn="l">
              <a:spcAft>
                <a:spcPts val="400"/>
              </a:spcAft>
            </a:pPr>
            <a:r>
              <a:rPr sz="1350" b="1">
                <a:solidFill>
                  <a:srgbClr val="7C3AED"/>
                </a:solidFill>
                <a:latin typeface="Arial"/>
              </a:rPr>
              <a:t>Where would you use it?</a:t>
            </a:r>
          </a:p>
        </p:txBody>
      </p:sp>
      <p:sp>
        <p:nvSpPr>
          <p:cNvPr id="23" name="TextBox 22"/>
          <p:cNvSpPr txBox="1"/>
          <p:nvPr/>
        </p:nvSpPr>
        <p:spPr>
          <a:xfrm>
            <a:off x="8165592" y="5138928"/>
            <a:ext cx="3044952" cy="731520"/>
          </a:xfrm>
          <a:prstGeom prst="rect">
            <a:avLst/>
          </a:prstGeom>
          <a:noFill/>
        </p:spPr>
        <p:txBody>
          <a:bodyPr wrap="square" anchor="t">
            <a:spAutoFit/>
          </a:bodyPr>
          <a:lstStyle/>
          <a:p>
            <a:pPr algn="l">
              <a:spcAft>
                <a:spcPts val="400"/>
              </a:spcAft>
            </a:pPr>
            <a:r>
              <a:rPr sz="1200" b="0">
                <a:solidFill>
                  <a:srgbClr val="5B6372"/>
                </a:solidFill>
                <a:latin typeface="Arial"/>
              </a:rPr>
              <a:t>Give one realistic application in your own field.</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107</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08 · HANDS-ON ACTIVITY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Shor 9-Qubit and Steane 7-Qubit Codes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646920" y="457200"/>
            <a:ext cx="17830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57200"/>
            <a:ext cx="1783080" cy="457200"/>
          </a:xfrm>
          <a:prstGeom prst="rect">
            <a:avLst/>
          </a:prstGeom>
          <a:noFill/>
        </p:spPr>
        <p:txBody>
          <a:bodyPr wrap="square" anchor="ctr">
            <a:spAutoFit/>
          </a:bodyPr>
          <a:lstStyle/>
          <a:p>
            <a:pPr algn="ctr">
              <a:spcAft>
                <a:spcPts val="400"/>
              </a:spcAft>
            </a:pPr>
            <a:r>
              <a:rPr sz="1300" b="1">
                <a:solidFill>
                  <a:srgbClr val="FFFFFF"/>
                </a:solidFill>
                <a:latin typeface="Arial"/>
              </a:rPr>
              <a:t>ACTIVITY 18</a:t>
            </a:r>
          </a:p>
        </p:txBody>
      </p:sp>
      <p:sp>
        <p:nvSpPr>
          <p:cNvPr id="9" name="TextBox 8"/>
          <p:cNvSpPr txBox="1"/>
          <p:nvPr/>
        </p:nvSpPr>
        <p:spPr>
          <a:xfrm>
            <a:off x="777240" y="1828800"/>
            <a:ext cx="10607040" cy="1051560"/>
          </a:xfrm>
          <a:prstGeom prst="rect">
            <a:avLst/>
          </a:prstGeom>
          <a:noFill/>
        </p:spPr>
        <p:txBody>
          <a:bodyPr wrap="square" anchor="t">
            <a:spAutoFit/>
          </a:bodyPr>
          <a:lstStyle/>
          <a:p>
            <a:pPr algn="l">
              <a:spcAft>
                <a:spcPts val="400"/>
              </a:spcAft>
            </a:pPr>
            <a:r>
              <a:rPr sz="1700" b="0">
                <a:solidFill>
                  <a:srgbClr val="161B26"/>
                </a:solidFill>
                <a:latin typeface="Arial"/>
              </a:rPr>
              <a:t>Step up to codes that correct arbitrary single-qubit errors: Shor's 9-qubit concatenated code and Steane's more efficient 7-qubit CSS code, then compare their qubit overhead and discuss the road to fault tolerance.</a:t>
            </a:r>
          </a:p>
        </p:txBody>
      </p:sp>
      <p:sp>
        <p:nvSpPr>
          <p:cNvPr id="10" name="Rectangle 9"/>
          <p:cNvSpPr/>
          <p:nvPr/>
        </p:nvSpPr>
        <p:spPr>
          <a:xfrm>
            <a:off x="777240" y="2971800"/>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2971800"/>
            <a:ext cx="10241280" cy="457200"/>
          </a:xfrm>
          <a:prstGeom prst="rect">
            <a:avLst/>
          </a:prstGeom>
          <a:noFill/>
        </p:spPr>
        <p:txBody>
          <a:bodyPr wrap="square" anchor="ctr">
            <a:spAutoFit/>
          </a:bodyPr>
          <a:lstStyle/>
          <a:p>
            <a:pPr algn="l">
              <a:spcAft>
                <a:spcPts val="400"/>
              </a:spcAft>
            </a:pPr>
            <a:r>
              <a:rPr sz="1100" b="1">
                <a:solidFill>
                  <a:srgbClr val="1F6FEB"/>
                </a:solidFill>
                <a:latin typeface="Arial"/>
              </a:rPr>
              <a:t>MAPS TO  </a:t>
            </a:r>
            <a:r>
              <a:rPr sz="1250" b="0">
                <a:solidFill>
                  <a:srgbClr val="161B26"/>
                </a:solidFill>
                <a:latin typeface="Arial"/>
              </a:rPr>
              <a:t>LO7 — Synthesize quantum methodologies to address complex problems</a:t>
            </a:r>
          </a:p>
        </p:txBody>
      </p:sp>
      <p:sp>
        <p:nvSpPr>
          <p:cNvPr id="12" name="Rectangle 11"/>
          <p:cNvSpPr/>
          <p:nvPr/>
        </p:nvSpPr>
        <p:spPr>
          <a:xfrm>
            <a:off x="777240" y="3611880"/>
            <a:ext cx="10634472" cy="1234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1560" y="3767328"/>
            <a:ext cx="10058400" cy="365760"/>
          </a:xfrm>
          <a:prstGeom prst="rect">
            <a:avLst/>
          </a:prstGeom>
          <a:noFill/>
        </p:spPr>
        <p:txBody>
          <a:bodyPr wrap="square" anchor="t">
            <a:spAutoFit/>
          </a:bodyPr>
          <a:lstStyle/>
          <a:p>
            <a:pPr algn="l">
              <a:spcAft>
                <a:spcPts val="400"/>
              </a:spcAft>
            </a:pPr>
            <a:r>
              <a:rPr sz="1200" b="1">
                <a:solidFill>
                  <a:srgbClr val="127A3E"/>
                </a:solidFill>
                <a:latin typeface="Arial"/>
              </a:rPr>
              <a:t>YOU'LL PRODUCE</a:t>
            </a:r>
          </a:p>
        </p:txBody>
      </p:sp>
      <p:sp>
        <p:nvSpPr>
          <p:cNvPr id="14" name="TextBox 13"/>
          <p:cNvSpPr txBox="1"/>
          <p:nvPr/>
        </p:nvSpPr>
        <p:spPr>
          <a:xfrm>
            <a:off x="1051560" y="4133087"/>
            <a:ext cx="10058400" cy="640080"/>
          </a:xfrm>
          <a:prstGeom prst="rect">
            <a:avLst/>
          </a:prstGeom>
          <a:noFill/>
        </p:spPr>
        <p:txBody>
          <a:bodyPr wrap="square" anchor="t">
            <a:spAutoFit/>
          </a:bodyPr>
          <a:lstStyle/>
          <a:p>
            <a:pPr algn="l">
              <a:spcAft>
                <a:spcPts val="400"/>
              </a:spcAft>
            </a:pPr>
            <a:r>
              <a:rPr sz="1550" b="1">
                <a:solidFill>
                  <a:srgbClr val="161B26"/>
                </a:solidFill>
                <a:latin typeface="Arial"/>
              </a:rPr>
              <a:t>Working Shor 9-qubit and Steane 7-qubit code circuits, with a comparison of qubit cost against protection offered.</a:t>
            </a:r>
          </a:p>
        </p:txBody>
      </p:sp>
      <p:sp>
        <p:nvSpPr>
          <p:cNvPr id="15" name="Rectangle 14"/>
          <p:cNvSpPr/>
          <p:nvPr/>
        </p:nvSpPr>
        <p:spPr>
          <a:xfrm>
            <a:off x="777240" y="5029200"/>
            <a:ext cx="10634472"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5138928"/>
            <a:ext cx="10058400" cy="365760"/>
          </a:xfrm>
          <a:prstGeom prst="rect">
            <a:avLst/>
          </a:prstGeom>
          <a:noFill/>
        </p:spPr>
        <p:txBody>
          <a:bodyPr wrap="square" anchor="t">
            <a:spAutoFit/>
          </a:bodyPr>
          <a:lstStyle/>
          <a:p>
            <a:pPr algn="l">
              <a:spcAft>
                <a:spcPts val="400"/>
              </a:spcAft>
            </a:pPr>
            <a:r>
              <a:rPr sz="1200" b="1">
                <a:solidFill>
                  <a:srgbClr val="5B6372"/>
                </a:solidFill>
                <a:latin typeface="Arial"/>
              </a:rPr>
              <a:t>Tools:  </a:t>
            </a:r>
            <a:r>
              <a:rPr sz="1200" b="0">
                <a:solidFill>
                  <a:srgbClr val="5B6372"/>
                </a:solidFill>
                <a:latin typeface="Arial"/>
              </a:rPr>
              <a:t>Qiskit 2.x, IBM Quantum Runtime, OpenQASM</a:t>
            </a:r>
          </a:p>
        </p:txBody>
      </p:sp>
      <p:sp>
        <p:nvSpPr>
          <p:cNvPr id="17" name="TextBox 16"/>
          <p:cNvSpPr txBox="1"/>
          <p:nvPr/>
        </p:nvSpPr>
        <p:spPr>
          <a:xfrm>
            <a:off x="1051560" y="5504688"/>
            <a:ext cx="10058400" cy="365760"/>
          </a:xfrm>
          <a:prstGeom prst="rect">
            <a:avLst/>
          </a:prstGeom>
          <a:noFill/>
        </p:spPr>
        <p:txBody>
          <a:bodyPr wrap="square" anchor="t">
            <a:spAutoFit/>
          </a:bodyPr>
          <a:lstStyle/>
          <a:p>
            <a:pPr algn="l">
              <a:spcAft>
                <a:spcPts val="400"/>
              </a:spcAft>
            </a:pPr>
            <a:r>
              <a:rPr sz="1200" b="1">
                <a:solidFill>
                  <a:srgbClr val="1F6FEB"/>
                </a:solidFill>
                <a:latin typeface="Arial"/>
              </a:rPr>
              <a:t>Full step-by-step guide:  </a:t>
            </a:r>
            <a:r>
              <a:rPr sz="1200" b="0">
                <a:solidFill>
                  <a:srgbClr val="161B26"/>
                </a:solidFill>
                <a:latin typeface="Arial"/>
              </a:rPr>
              <a:t>Learner Guide — Activity 18: Shor 9-Qubit and Steane 7-Qubit Codes</a:t>
            </a:r>
          </a:p>
        </p:txBody>
      </p:sp>
      <p:sp>
        <p:nvSpPr>
          <p:cNvPr id="18" name="TextBox 1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9" name="TextBox 1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0" name="TextBox 1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108</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18 · VERIFY &amp; DEBRIEF</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Shor 9-Qubit and Steane 7-Qubit Codes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21488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21488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1965960"/>
            <a:ext cx="10058400" cy="411480"/>
          </a:xfrm>
          <a:prstGeom prst="rect">
            <a:avLst/>
          </a:prstGeom>
          <a:noFill/>
        </p:spPr>
        <p:txBody>
          <a:bodyPr wrap="square" anchor="t">
            <a:spAutoFit/>
          </a:bodyPr>
          <a:lstStyle/>
          <a:p>
            <a:pPr algn="l">
              <a:spcAft>
                <a:spcPts val="400"/>
              </a:spcAft>
            </a:pPr>
            <a:r>
              <a:rPr sz="1300" b="1">
                <a:solidFill>
                  <a:srgbClr val="127A3E"/>
                </a:solidFill>
                <a:latin typeface="Arial"/>
              </a:rPr>
              <a:t>TEST IT — HOW YOU KNOW IT WORKED</a:t>
            </a:r>
          </a:p>
        </p:txBody>
      </p:sp>
      <p:sp>
        <p:nvSpPr>
          <p:cNvPr id="10" name="TextBox 9"/>
          <p:cNvSpPr txBox="1"/>
          <p:nvPr/>
        </p:nvSpPr>
        <p:spPr>
          <a:xfrm>
            <a:off x="1143000" y="2423160"/>
            <a:ext cx="10058400" cy="1371600"/>
          </a:xfrm>
          <a:prstGeom prst="rect">
            <a:avLst/>
          </a:prstGeom>
          <a:noFill/>
        </p:spPr>
        <p:txBody>
          <a:bodyPr wrap="square" anchor="t">
            <a:spAutoFit/>
          </a:bodyPr>
          <a:lstStyle/>
          <a:p>
            <a:pPr algn="l">
              <a:spcAft>
                <a:spcPts val="400"/>
              </a:spcAft>
            </a:pPr>
            <a:r>
              <a:rPr sz="1600" b="0">
                <a:solidFill>
                  <a:srgbClr val="161B26"/>
                </a:solidFill>
                <a:latin typeface="Arial"/>
              </a:rPr>
              <a:t>Both the Shor 9-qubit and Steane 7-qubit circuits detect and correct an arbitrary injected single-qubit error (X, Y or Z), and you can state the qubit overhead each code requires.</a:t>
            </a:r>
          </a:p>
        </p:txBody>
      </p:sp>
      <p:sp>
        <p:nvSpPr>
          <p:cNvPr id="11" name="TextBox 10"/>
          <p:cNvSpPr txBox="1"/>
          <p:nvPr/>
        </p:nvSpPr>
        <p:spPr>
          <a:xfrm>
            <a:off x="777240" y="4096512"/>
            <a:ext cx="10607040" cy="365760"/>
          </a:xfrm>
          <a:prstGeom prst="rect">
            <a:avLst/>
          </a:prstGeom>
          <a:noFill/>
        </p:spPr>
        <p:txBody>
          <a:bodyPr wrap="square" anchor="t">
            <a:spAutoFit/>
          </a:bodyPr>
          <a:lstStyle/>
          <a:p>
            <a:pPr algn="l">
              <a:spcAft>
                <a:spcPts val="400"/>
              </a:spcAft>
            </a:pPr>
            <a:r>
              <a:rPr sz="1300" b="1">
                <a:solidFill>
                  <a:srgbClr val="1F6FEB"/>
                </a:solidFill>
                <a:latin typeface="Arial"/>
              </a:rPr>
              <a:t>DISCUSS WITH YOUR TRAINER</a:t>
            </a:r>
          </a:p>
        </p:txBody>
      </p:sp>
      <p:sp>
        <p:nvSpPr>
          <p:cNvPr id="12" name="Rectangle 11"/>
          <p:cNvSpPr/>
          <p:nvPr/>
        </p:nvSpPr>
        <p:spPr>
          <a:xfrm>
            <a:off x="777240" y="4480560"/>
            <a:ext cx="3447288" cy="1463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480560"/>
            <a:ext cx="3447288"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8" y="4663440"/>
            <a:ext cx="3044952" cy="457200"/>
          </a:xfrm>
          <a:prstGeom prst="rect">
            <a:avLst/>
          </a:prstGeom>
          <a:noFill/>
        </p:spPr>
        <p:txBody>
          <a:bodyPr wrap="square" anchor="t">
            <a:spAutoFit/>
          </a:bodyPr>
          <a:lstStyle/>
          <a:p>
            <a:pPr algn="l">
              <a:spcAft>
                <a:spcPts val="400"/>
              </a:spcAft>
            </a:pPr>
            <a:r>
              <a:rPr sz="1350" b="1">
                <a:solidFill>
                  <a:srgbClr val="1F6FEB"/>
                </a:solidFill>
                <a:latin typeface="Arial"/>
              </a:rPr>
              <a:t>What did the result show?</a:t>
            </a:r>
          </a:p>
        </p:txBody>
      </p:sp>
      <p:sp>
        <p:nvSpPr>
          <p:cNvPr id="15" name="TextBox 14"/>
          <p:cNvSpPr txBox="1"/>
          <p:nvPr/>
        </p:nvSpPr>
        <p:spPr>
          <a:xfrm>
            <a:off x="978408" y="5138928"/>
            <a:ext cx="3044952" cy="731520"/>
          </a:xfrm>
          <a:prstGeom prst="rect">
            <a:avLst/>
          </a:prstGeom>
          <a:noFill/>
        </p:spPr>
        <p:txBody>
          <a:bodyPr wrap="square" anchor="t">
            <a:spAutoFit/>
          </a:bodyPr>
          <a:lstStyle/>
          <a:p>
            <a:pPr algn="l">
              <a:spcAft>
                <a:spcPts val="400"/>
              </a:spcAft>
            </a:pPr>
            <a:r>
              <a:rPr sz="1200" b="0">
                <a:solidFill>
                  <a:srgbClr val="5B6372"/>
                </a:solidFill>
                <a:latin typeface="Arial"/>
              </a:rPr>
              <a:t>Restate the outcome in your own words.</a:t>
            </a:r>
          </a:p>
        </p:txBody>
      </p:sp>
      <p:sp>
        <p:nvSpPr>
          <p:cNvPr id="16" name="Rectangle 15"/>
          <p:cNvSpPr/>
          <p:nvPr/>
        </p:nvSpPr>
        <p:spPr>
          <a:xfrm>
            <a:off x="4370832" y="4480560"/>
            <a:ext cx="3447288" cy="1463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70832" y="4480560"/>
            <a:ext cx="344728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0" y="4663440"/>
            <a:ext cx="3044952" cy="457200"/>
          </a:xfrm>
          <a:prstGeom prst="rect">
            <a:avLst/>
          </a:prstGeom>
          <a:noFill/>
        </p:spPr>
        <p:txBody>
          <a:bodyPr wrap="square" anchor="t">
            <a:spAutoFit/>
          </a:bodyPr>
          <a:lstStyle/>
          <a:p>
            <a:pPr algn="l">
              <a:spcAft>
                <a:spcPts val="400"/>
              </a:spcAft>
            </a:pPr>
            <a:r>
              <a:rPr sz="1350" b="1">
                <a:solidFill>
                  <a:srgbClr val="10B981"/>
                </a:solidFill>
                <a:latin typeface="Arial"/>
              </a:rPr>
              <a:t>Why does it work?</a:t>
            </a:r>
          </a:p>
        </p:txBody>
      </p:sp>
      <p:sp>
        <p:nvSpPr>
          <p:cNvPr id="19" name="TextBox 18"/>
          <p:cNvSpPr txBox="1"/>
          <p:nvPr/>
        </p:nvSpPr>
        <p:spPr>
          <a:xfrm>
            <a:off x="4572000" y="5138928"/>
            <a:ext cx="3044952" cy="731520"/>
          </a:xfrm>
          <a:prstGeom prst="rect">
            <a:avLst/>
          </a:prstGeom>
          <a:noFill/>
        </p:spPr>
        <p:txBody>
          <a:bodyPr wrap="square" anchor="t">
            <a:spAutoFit/>
          </a:bodyPr>
          <a:lstStyle/>
          <a:p>
            <a:pPr algn="l">
              <a:spcAft>
                <a:spcPts val="400"/>
              </a:spcAft>
            </a:pPr>
            <a:r>
              <a:rPr sz="1200" b="0">
                <a:solidFill>
                  <a:srgbClr val="5B6372"/>
                </a:solidFill>
                <a:latin typeface="Arial"/>
              </a:rPr>
              <a:t>Name the quantum principle the activity relies on.</a:t>
            </a:r>
          </a:p>
        </p:txBody>
      </p:sp>
      <p:sp>
        <p:nvSpPr>
          <p:cNvPr id="20" name="Rectangle 19"/>
          <p:cNvSpPr/>
          <p:nvPr/>
        </p:nvSpPr>
        <p:spPr>
          <a:xfrm>
            <a:off x="7964424" y="4480560"/>
            <a:ext cx="3447288" cy="1463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964424" y="4480560"/>
            <a:ext cx="3447288"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65592" y="4663440"/>
            <a:ext cx="3044952" cy="457200"/>
          </a:xfrm>
          <a:prstGeom prst="rect">
            <a:avLst/>
          </a:prstGeom>
          <a:noFill/>
        </p:spPr>
        <p:txBody>
          <a:bodyPr wrap="square" anchor="t">
            <a:spAutoFit/>
          </a:bodyPr>
          <a:lstStyle/>
          <a:p>
            <a:pPr algn="l">
              <a:spcAft>
                <a:spcPts val="400"/>
              </a:spcAft>
            </a:pPr>
            <a:r>
              <a:rPr sz="1350" b="1">
                <a:solidFill>
                  <a:srgbClr val="7C3AED"/>
                </a:solidFill>
                <a:latin typeface="Arial"/>
              </a:rPr>
              <a:t>Where would you use it?</a:t>
            </a:r>
          </a:p>
        </p:txBody>
      </p:sp>
      <p:sp>
        <p:nvSpPr>
          <p:cNvPr id="23" name="TextBox 22"/>
          <p:cNvSpPr txBox="1"/>
          <p:nvPr/>
        </p:nvSpPr>
        <p:spPr>
          <a:xfrm>
            <a:off x="8165592" y="5138928"/>
            <a:ext cx="3044952" cy="731520"/>
          </a:xfrm>
          <a:prstGeom prst="rect">
            <a:avLst/>
          </a:prstGeom>
          <a:noFill/>
        </p:spPr>
        <p:txBody>
          <a:bodyPr wrap="square" anchor="t">
            <a:spAutoFit/>
          </a:bodyPr>
          <a:lstStyle/>
          <a:p>
            <a:pPr algn="l">
              <a:spcAft>
                <a:spcPts val="400"/>
              </a:spcAft>
            </a:pPr>
            <a:r>
              <a:rPr sz="1200" b="0">
                <a:solidFill>
                  <a:srgbClr val="5B6372"/>
                </a:solidFill>
                <a:latin typeface="Arial"/>
              </a:rPr>
              <a:t>Give one realistic application in your own field.</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109</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RECAP</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Recap — Quantum Error Correction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600">
                <a:solidFill>
                  <a:srgbClr val="161B26"/>
                </a:solidFill>
                <a:latin typeface="Arial"/>
              </a:rPr>
              <a:t>•  Why QEC is needed</a:t>
            </a:r>
          </a:p>
          <a:p>
            <a:pPr>
              <a:spcAft>
                <a:spcPts val="1000"/>
              </a:spcAft>
            </a:pPr>
            <a:r>
              <a:rPr sz="1600">
                <a:solidFill>
                  <a:srgbClr val="161B26"/>
                </a:solidFill>
                <a:latin typeface="Arial"/>
              </a:rPr>
              <a:t>•  Quantum-specific challenges</a:t>
            </a:r>
          </a:p>
          <a:p>
            <a:pPr>
              <a:spcAft>
                <a:spcPts val="1000"/>
              </a:spcAft>
            </a:pPr>
            <a:r>
              <a:rPr sz="1600">
                <a:solidFill>
                  <a:srgbClr val="161B26"/>
                </a:solidFill>
                <a:latin typeface="Arial"/>
              </a:rPr>
              <a:t>•  Syndrome measurement</a:t>
            </a:r>
          </a:p>
          <a:p>
            <a:pPr>
              <a:spcAft>
                <a:spcPts val="1000"/>
              </a:spcAft>
            </a:pPr>
            <a:r>
              <a:rPr sz="1600">
                <a:solidFill>
                  <a:srgbClr val="161B26"/>
                </a:solidFill>
                <a:latin typeface="Arial"/>
              </a:rPr>
              <a:t>•  Bit-flip and phase-flip codes</a:t>
            </a:r>
          </a:p>
          <a:p>
            <a:pPr>
              <a:spcAft>
                <a:spcPts val="1000"/>
              </a:spcAft>
            </a:pPr>
            <a:r>
              <a:rPr sz="1600">
                <a:solidFill>
                  <a:srgbClr val="161B26"/>
                </a:solidFill>
                <a:latin typeface="Arial"/>
              </a:rPr>
              <a:t>•  Shor, Steane and surface codes</a:t>
            </a:r>
          </a:p>
          <a:p>
            <a:pPr>
              <a:spcAft>
                <a:spcPts val="1000"/>
              </a:spcAft>
            </a:pPr>
            <a:r>
              <a:rPr sz="1600">
                <a:solidFill>
                  <a:srgbClr val="161B26"/>
                </a:solidFill>
                <a:latin typeface="Arial"/>
              </a:rPr>
              <a:t>•  Fault tolerance</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110</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WRAP-UP</a:t>
            </a:r>
          </a:p>
        </p:txBody>
      </p:sp>
      <p:sp>
        <p:nvSpPr>
          <p:cNvPr id="6" name="TextBox 5"/>
          <p:cNvSpPr txBox="1"/>
          <p:nvPr/>
        </p:nvSpPr>
        <p:spPr>
          <a:xfrm>
            <a:off x="1143000" y="2743200"/>
            <a:ext cx="9509760" cy="1463040"/>
          </a:xfrm>
          <a:prstGeom prst="rect">
            <a:avLst/>
          </a:prstGeom>
          <a:noFill/>
        </p:spPr>
        <p:txBody>
          <a:bodyPr wrap="square" anchor="t">
            <a:spAutoFit/>
          </a:bodyPr>
          <a:lstStyle/>
          <a:p>
            <a:pPr algn="l">
              <a:spcAft>
                <a:spcPts val="400"/>
              </a:spcAft>
            </a:pPr>
            <a:r>
              <a:rPr sz="4000" b="1">
                <a:solidFill>
                  <a:srgbClr val="161B26"/>
                </a:solidFill>
                <a:latin typeface="Arial"/>
              </a:rPr>
              <a:t>Course Summary &amp; Next Steps</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111</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LEARNING OUTCOMES ACHIEVED</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What You Achieved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96596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965960"/>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731520"/>
          </a:xfrm>
          <a:prstGeom prst="rect">
            <a:avLst/>
          </a:prstGeom>
          <a:noFill/>
        </p:spPr>
        <p:txBody>
          <a:bodyPr wrap="square" anchor="ctr">
            <a:spAutoFit/>
          </a:bodyPr>
          <a:lstStyle/>
          <a:p>
            <a:pPr algn="l">
              <a:spcAft>
                <a:spcPts val="300"/>
              </a:spcAft>
            </a:pPr>
            <a:r>
              <a:rPr sz="1400" b="1">
                <a:solidFill>
                  <a:srgbClr val="161B26"/>
                </a:solidFill>
                <a:latin typeface="Arial"/>
              </a:rPr>
              <a:t>Quantum foundations</a:t>
            </a:r>
          </a:p>
          <a:p>
            <a:pPr algn="l">
              <a:spcAft>
                <a:spcPts val="300"/>
              </a:spcAft>
            </a:pPr>
            <a:r>
              <a:rPr sz="1050" b="0">
                <a:solidFill>
                  <a:srgbClr val="5B6372"/>
                </a:solidFill>
                <a:latin typeface="Arial"/>
              </a:rPr>
              <a:t>Built the state vectors, unitary and Hermitian operators behind every algorithm.</a:t>
            </a:r>
          </a:p>
        </p:txBody>
      </p:sp>
      <p:sp>
        <p:nvSpPr>
          <p:cNvPr id="12" name="Rectangle 11"/>
          <p:cNvSpPr/>
          <p:nvPr/>
        </p:nvSpPr>
        <p:spPr>
          <a:xfrm>
            <a:off x="6231636" y="1783080"/>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196596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1965960"/>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731520"/>
          </a:xfrm>
          <a:prstGeom prst="rect">
            <a:avLst/>
          </a:prstGeom>
          <a:noFill/>
        </p:spPr>
        <p:txBody>
          <a:bodyPr wrap="square" anchor="ctr">
            <a:spAutoFit/>
          </a:bodyPr>
          <a:lstStyle/>
          <a:p>
            <a:pPr algn="l">
              <a:spcAft>
                <a:spcPts val="300"/>
              </a:spcAft>
            </a:pPr>
            <a:r>
              <a:rPr sz="1400" b="1">
                <a:solidFill>
                  <a:srgbClr val="161B26"/>
                </a:solidFill>
                <a:latin typeface="Arial"/>
              </a:rPr>
              <a:t>Quantum systems</a:t>
            </a:r>
          </a:p>
          <a:p>
            <a:pPr algn="l">
              <a:spcAft>
                <a:spcPts val="300"/>
              </a:spcAft>
            </a:pPr>
            <a:r>
              <a:rPr sz="1050" b="0">
                <a:solidFill>
                  <a:srgbClr val="5B6372"/>
                </a:solidFill>
                <a:latin typeface="Arial"/>
              </a:rPr>
              <a:t>Visualised qubits on the Bloch sphere and ran circuits on real IBM hardware.</a:t>
            </a:r>
          </a:p>
        </p:txBody>
      </p:sp>
      <p:sp>
        <p:nvSpPr>
          <p:cNvPr id="17" name="Rectangle 16"/>
          <p:cNvSpPr/>
          <p:nvPr/>
        </p:nvSpPr>
        <p:spPr>
          <a:xfrm>
            <a:off x="777240" y="2935224"/>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2935224"/>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118104"/>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1181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3044952"/>
            <a:ext cx="3973068" cy="731520"/>
          </a:xfrm>
          <a:prstGeom prst="rect">
            <a:avLst/>
          </a:prstGeom>
          <a:noFill/>
        </p:spPr>
        <p:txBody>
          <a:bodyPr wrap="square" anchor="ctr">
            <a:spAutoFit/>
          </a:bodyPr>
          <a:lstStyle/>
          <a:p>
            <a:pPr algn="l">
              <a:spcAft>
                <a:spcPts val="300"/>
              </a:spcAft>
            </a:pPr>
            <a:r>
              <a:rPr sz="1400" b="1">
                <a:solidFill>
                  <a:srgbClr val="161B26"/>
                </a:solidFill>
                <a:latin typeface="Arial"/>
              </a:rPr>
              <a:t>Gates and circuits</a:t>
            </a:r>
          </a:p>
          <a:p>
            <a:pPr algn="l">
              <a:spcAft>
                <a:spcPts val="300"/>
              </a:spcAft>
            </a:pPr>
            <a:r>
              <a:rPr sz="1050" b="0">
                <a:solidFill>
                  <a:srgbClr val="5B6372"/>
                </a:solidFill>
                <a:latin typeface="Arial"/>
              </a:rPr>
              <a:t>Applied the full gate set and constructed Bell and GHZ entangled states.</a:t>
            </a:r>
          </a:p>
        </p:txBody>
      </p:sp>
      <p:sp>
        <p:nvSpPr>
          <p:cNvPr id="22" name="Rectangle 21"/>
          <p:cNvSpPr/>
          <p:nvPr/>
        </p:nvSpPr>
        <p:spPr>
          <a:xfrm>
            <a:off x="6231636" y="2935224"/>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2935224"/>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118104"/>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1181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3044952"/>
            <a:ext cx="3973068" cy="731520"/>
          </a:xfrm>
          <a:prstGeom prst="rect">
            <a:avLst/>
          </a:prstGeom>
          <a:noFill/>
        </p:spPr>
        <p:txBody>
          <a:bodyPr wrap="square" anchor="ctr">
            <a:spAutoFit/>
          </a:bodyPr>
          <a:lstStyle/>
          <a:p>
            <a:pPr algn="l">
              <a:spcAft>
                <a:spcPts val="300"/>
              </a:spcAft>
            </a:pPr>
            <a:r>
              <a:rPr sz="1400" b="1">
                <a:solidFill>
                  <a:srgbClr val="161B26"/>
                </a:solidFill>
                <a:latin typeface="Arial"/>
              </a:rPr>
              <a:t>Quantum protocols</a:t>
            </a:r>
          </a:p>
          <a:p>
            <a:pPr algn="l">
              <a:spcAft>
                <a:spcPts val="300"/>
              </a:spcAft>
            </a:pPr>
            <a:r>
              <a:rPr sz="1050" b="0">
                <a:solidFill>
                  <a:srgbClr val="5B6372"/>
                </a:solidFill>
                <a:latin typeface="Arial"/>
              </a:rPr>
              <a:t>Implemented teleportation, superdense coding and BB84 with eavesdropper detection.</a:t>
            </a:r>
          </a:p>
        </p:txBody>
      </p:sp>
      <p:sp>
        <p:nvSpPr>
          <p:cNvPr id="27" name="Rectangle 26"/>
          <p:cNvSpPr/>
          <p:nvPr/>
        </p:nvSpPr>
        <p:spPr>
          <a:xfrm>
            <a:off x="777240" y="4087368"/>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087368"/>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427024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42702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5</a:t>
            </a:r>
          </a:p>
        </p:txBody>
      </p:sp>
      <p:sp>
        <p:nvSpPr>
          <p:cNvPr id="31" name="TextBox 30"/>
          <p:cNvSpPr txBox="1"/>
          <p:nvPr/>
        </p:nvSpPr>
        <p:spPr>
          <a:xfrm>
            <a:off x="1764792" y="4197096"/>
            <a:ext cx="3973068" cy="731520"/>
          </a:xfrm>
          <a:prstGeom prst="rect">
            <a:avLst/>
          </a:prstGeom>
          <a:noFill/>
        </p:spPr>
        <p:txBody>
          <a:bodyPr wrap="square" anchor="ctr">
            <a:spAutoFit/>
          </a:bodyPr>
          <a:lstStyle/>
          <a:p>
            <a:pPr algn="l">
              <a:spcAft>
                <a:spcPts val="300"/>
              </a:spcAft>
            </a:pPr>
            <a:r>
              <a:rPr sz="1400" b="1">
                <a:solidFill>
                  <a:srgbClr val="161B26"/>
                </a:solidFill>
                <a:latin typeface="Arial"/>
              </a:rPr>
              <a:t>Quantum algorithms</a:t>
            </a:r>
          </a:p>
          <a:p>
            <a:pPr algn="l">
              <a:spcAft>
                <a:spcPts val="300"/>
              </a:spcAft>
            </a:pPr>
            <a:r>
              <a:rPr sz="1050" b="0">
                <a:solidFill>
                  <a:srgbClr val="5B6372"/>
                </a:solidFill>
                <a:latin typeface="Arial"/>
              </a:rPr>
              <a:t>Ran Deutsch, Deutsch-Jozsa, Bernstein-Vazirani, Grover and the QFT.</a:t>
            </a:r>
          </a:p>
        </p:txBody>
      </p:sp>
      <p:sp>
        <p:nvSpPr>
          <p:cNvPr id="32" name="Rectangle 31"/>
          <p:cNvSpPr/>
          <p:nvPr/>
        </p:nvSpPr>
        <p:spPr>
          <a:xfrm>
            <a:off x="6231636" y="4087368"/>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087368"/>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427024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42702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6</a:t>
            </a:r>
          </a:p>
        </p:txBody>
      </p:sp>
      <p:sp>
        <p:nvSpPr>
          <p:cNvPr id="36" name="TextBox 35"/>
          <p:cNvSpPr txBox="1"/>
          <p:nvPr/>
        </p:nvSpPr>
        <p:spPr>
          <a:xfrm>
            <a:off x="7219188" y="4197096"/>
            <a:ext cx="3973068" cy="731520"/>
          </a:xfrm>
          <a:prstGeom prst="rect">
            <a:avLst/>
          </a:prstGeom>
          <a:noFill/>
        </p:spPr>
        <p:txBody>
          <a:bodyPr wrap="square" anchor="ctr">
            <a:spAutoFit/>
          </a:bodyPr>
          <a:lstStyle/>
          <a:p>
            <a:pPr algn="l">
              <a:spcAft>
                <a:spcPts val="300"/>
              </a:spcAft>
            </a:pPr>
            <a:r>
              <a:rPr sz="1400" b="1">
                <a:solidFill>
                  <a:srgbClr val="161B26"/>
                </a:solidFill>
                <a:latin typeface="Arial"/>
              </a:rPr>
              <a:t>Cryptography and safety</a:t>
            </a:r>
          </a:p>
          <a:p>
            <a:pPr algn="l">
              <a:spcAft>
                <a:spcPts val="300"/>
              </a:spcAft>
            </a:pPr>
            <a:r>
              <a:rPr sz="1050" b="0">
                <a:solidFill>
                  <a:srgbClr val="5B6372"/>
                </a:solidFill>
                <a:latin typeface="Arial"/>
              </a:rPr>
              <a:t>Ran Shor's period finding and built a PQC migration plan.</a:t>
            </a:r>
          </a:p>
        </p:txBody>
      </p:sp>
      <p:sp>
        <p:nvSpPr>
          <p:cNvPr id="37" name="Rectangle 36"/>
          <p:cNvSpPr/>
          <p:nvPr/>
        </p:nvSpPr>
        <p:spPr>
          <a:xfrm>
            <a:off x="777240" y="5239512"/>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77240" y="5239512"/>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1033272" y="5422392"/>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33272" y="5422392"/>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7</a:t>
            </a:r>
          </a:p>
        </p:txBody>
      </p:sp>
      <p:sp>
        <p:nvSpPr>
          <p:cNvPr id="41" name="TextBox 40"/>
          <p:cNvSpPr txBox="1"/>
          <p:nvPr/>
        </p:nvSpPr>
        <p:spPr>
          <a:xfrm>
            <a:off x="1764792" y="5349240"/>
            <a:ext cx="3973068" cy="731520"/>
          </a:xfrm>
          <a:prstGeom prst="rect">
            <a:avLst/>
          </a:prstGeom>
          <a:noFill/>
        </p:spPr>
        <p:txBody>
          <a:bodyPr wrap="square" anchor="ctr">
            <a:spAutoFit/>
          </a:bodyPr>
          <a:lstStyle/>
          <a:p>
            <a:pPr algn="l">
              <a:spcAft>
                <a:spcPts val="300"/>
              </a:spcAft>
            </a:pPr>
            <a:r>
              <a:rPr sz="1400" b="1">
                <a:solidFill>
                  <a:srgbClr val="161B26"/>
                </a:solidFill>
                <a:latin typeface="Arial"/>
              </a:rPr>
              <a:t>Applications</a:t>
            </a:r>
          </a:p>
          <a:p>
            <a:pPr algn="l">
              <a:spcAft>
                <a:spcPts val="300"/>
              </a:spcAft>
            </a:pPr>
            <a:r>
              <a:rPr sz="1050" b="0">
                <a:solidFill>
                  <a:srgbClr val="5B6372"/>
                </a:solidFill>
                <a:latin typeface="Arial"/>
              </a:rPr>
              <a:t>Simulated H₂ with VQE and optimised with QAOA.</a:t>
            </a:r>
          </a:p>
        </p:txBody>
      </p:sp>
      <p:sp>
        <p:nvSpPr>
          <p:cNvPr id="42" name="Rectangle 41"/>
          <p:cNvSpPr/>
          <p:nvPr/>
        </p:nvSpPr>
        <p:spPr>
          <a:xfrm>
            <a:off x="6231636" y="5239512"/>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231636"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6487668" y="5422392"/>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487668" y="5422392"/>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8</a:t>
            </a:r>
          </a:p>
        </p:txBody>
      </p:sp>
      <p:sp>
        <p:nvSpPr>
          <p:cNvPr id="46" name="TextBox 45"/>
          <p:cNvSpPr txBox="1"/>
          <p:nvPr/>
        </p:nvSpPr>
        <p:spPr>
          <a:xfrm>
            <a:off x="7219188" y="5349240"/>
            <a:ext cx="3973068" cy="731520"/>
          </a:xfrm>
          <a:prstGeom prst="rect">
            <a:avLst/>
          </a:prstGeom>
          <a:noFill/>
        </p:spPr>
        <p:txBody>
          <a:bodyPr wrap="square" anchor="ctr">
            <a:spAutoFit/>
          </a:bodyPr>
          <a:lstStyle/>
          <a:p>
            <a:pPr algn="l">
              <a:spcAft>
                <a:spcPts val="300"/>
              </a:spcAft>
            </a:pPr>
            <a:r>
              <a:rPr sz="1400" b="1">
                <a:solidFill>
                  <a:srgbClr val="161B26"/>
                </a:solidFill>
                <a:latin typeface="Arial"/>
              </a:rPr>
              <a:t>Error correction</a:t>
            </a:r>
          </a:p>
          <a:p>
            <a:pPr algn="l">
              <a:spcAft>
                <a:spcPts val="300"/>
              </a:spcAft>
            </a:pPr>
            <a:r>
              <a:rPr sz="1050" b="0">
                <a:solidFill>
                  <a:srgbClr val="5B6372"/>
                </a:solidFill>
                <a:latin typeface="Arial"/>
              </a:rPr>
              <a:t>Encoded, diagnosed and corrected errors with the bit-flip, Shor and Steane codes.</a:t>
            </a:r>
          </a:p>
        </p:txBody>
      </p:sp>
      <p:sp>
        <p:nvSpPr>
          <p:cNvPr id="47" name="TextBox 4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48" name="TextBox 4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9" name="TextBox 4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112</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NEXT STEPS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Continue Your Quantum Journey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IBM Quantum Learning</a:t>
            </a:r>
          </a:p>
          <a:p>
            <a:pPr algn="l">
              <a:spcAft>
                <a:spcPts val="300"/>
              </a:spcAft>
            </a:pPr>
            <a:r>
              <a:rPr sz="1100" b="0">
                <a:solidFill>
                  <a:srgbClr val="5B6372"/>
                </a:solidFill>
                <a:latin typeface="Arial"/>
              </a:rPr>
              <a:t>Free courses and challenges at learning.quantum.ibm.com.</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Qiskit documentation</a:t>
            </a:r>
          </a:p>
          <a:p>
            <a:pPr algn="l">
              <a:spcAft>
                <a:spcPts val="300"/>
              </a:spcAft>
            </a:pPr>
            <a:r>
              <a:rPr sz="1100" b="0">
                <a:solidFill>
                  <a:srgbClr val="5B6372"/>
                </a:solidFill>
                <a:latin typeface="Arial"/>
              </a:rPr>
              <a:t>The reference for every gate, primitive and runtime feature.</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3429000"/>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PennyLane demos</a:t>
            </a:r>
          </a:p>
          <a:p>
            <a:pPr algn="l">
              <a:spcAft>
                <a:spcPts val="300"/>
              </a:spcAft>
            </a:pPr>
            <a:r>
              <a:rPr sz="1100" b="0">
                <a:solidFill>
                  <a:srgbClr val="5B6372"/>
                </a:solidFill>
                <a:latin typeface="Arial"/>
              </a:rPr>
              <a:t>Excellent tutorials on variational and quantum-machine-learning methods.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3429000"/>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NIST PQC</a:t>
            </a:r>
          </a:p>
          <a:p>
            <a:pPr algn="l">
              <a:spcAft>
                <a:spcPts val="300"/>
              </a:spcAft>
            </a:pPr>
            <a:r>
              <a:rPr sz="1100" b="0">
                <a:solidFill>
                  <a:srgbClr val="5B6372"/>
                </a:solidFill>
                <a:latin typeface="Arial"/>
              </a:rPr>
              <a:t>Track FIPS 203/204/205 adoption and vendor migration guidance.</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5</a:t>
            </a:r>
          </a:p>
        </p:txBody>
      </p:sp>
      <p:sp>
        <p:nvSpPr>
          <p:cNvPr id="31" name="TextBox 30"/>
          <p:cNvSpPr txBox="1"/>
          <p:nvPr/>
        </p:nvSpPr>
        <p:spPr>
          <a:xfrm>
            <a:off x="1764792" y="4965192"/>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Practise the labs</a:t>
            </a:r>
          </a:p>
          <a:p>
            <a:pPr algn="l">
              <a:spcAft>
                <a:spcPts val="300"/>
              </a:spcAft>
            </a:pPr>
            <a:r>
              <a:rPr sz="1100" b="0">
                <a:solidFill>
                  <a:srgbClr val="5B6372"/>
                </a:solidFill>
                <a:latin typeface="Arial"/>
              </a:rPr>
              <a:t>Re-run every activity in this course from a blank notebook.</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6</a:t>
            </a:r>
          </a:p>
        </p:txBody>
      </p:sp>
      <p:sp>
        <p:nvSpPr>
          <p:cNvPr id="36" name="TextBox 35"/>
          <p:cNvSpPr txBox="1"/>
          <p:nvPr/>
        </p:nvSpPr>
        <p:spPr>
          <a:xfrm>
            <a:off x="7219188" y="4965192"/>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Stay current</a:t>
            </a:r>
          </a:p>
          <a:p>
            <a:pPr algn="l">
              <a:spcAft>
                <a:spcPts val="300"/>
              </a:spcAft>
            </a:pPr>
            <a:r>
              <a:rPr sz="1100" b="0">
                <a:solidFill>
                  <a:srgbClr val="5B6372"/>
                </a:solidFill>
                <a:latin typeface="Arial"/>
              </a:rPr>
              <a:t>Quantum hardware roadmaps shift yearly — follow the vendor announcements.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113</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FINAL ASSESSMENT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Assessment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056632"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5056632"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2011680"/>
            <a:ext cx="4572000" cy="457200"/>
          </a:xfrm>
          <a:prstGeom prst="rect">
            <a:avLst/>
          </a:prstGeom>
          <a:noFill/>
        </p:spPr>
        <p:txBody>
          <a:bodyPr wrap="square" anchor="t">
            <a:spAutoFit/>
          </a:bodyPr>
          <a:lstStyle/>
          <a:p>
            <a:pPr algn="l">
              <a:spcAft>
                <a:spcPts val="400"/>
              </a:spcAft>
            </a:pPr>
            <a:r>
              <a:rPr sz="1900" b="1">
                <a:solidFill>
                  <a:srgbClr val="1F6FEB"/>
                </a:solidFill>
                <a:latin typeface="Arial"/>
              </a:rPr>
              <a:t>Written Assessment (WA)</a:t>
            </a:r>
          </a:p>
        </p:txBody>
      </p:sp>
      <p:sp>
        <p:nvSpPr>
          <p:cNvPr id="10" name="TextBox 9"/>
          <p:cNvSpPr txBox="1"/>
          <p:nvPr/>
        </p:nvSpPr>
        <p:spPr>
          <a:xfrm>
            <a:off x="1051560" y="2606040"/>
            <a:ext cx="4572000" cy="1920240"/>
          </a:xfrm>
          <a:prstGeom prst="rect">
            <a:avLst/>
          </a:prstGeom>
          <a:noFill/>
        </p:spPr>
        <p:txBody>
          <a:bodyPr wrap="square">
            <a:spAutoFit/>
          </a:bodyPr>
          <a:lstStyle/>
          <a:p>
            <a:pPr>
              <a:spcAft>
                <a:spcPts val="800"/>
              </a:spcAft>
            </a:pPr>
            <a:r>
              <a:rPr sz="1400">
                <a:solidFill>
                  <a:srgbClr val="161B26"/>
                </a:solidFill>
                <a:latin typeface="Arial"/>
              </a:rPr>
              <a:t>•  Short-Answer Questions (SAQ)</a:t>
            </a:r>
          </a:p>
          <a:p>
            <a:pPr>
              <a:spcAft>
                <a:spcPts val="800"/>
              </a:spcAft>
            </a:pPr>
            <a:r>
              <a:rPr sz="1400">
                <a:solidFill>
                  <a:srgbClr val="161B26"/>
                </a:solidFill>
                <a:latin typeface="Arial"/>
              </a:rPr>
              <a:t>•  1 hour · open book</a:t>
            </a:r>
          </a:p>
          <a:p>
            <a:pPr>
              <a:spcAft>
                <a:spcPts val="800"/>
              </a:spcAft>
            </a:pPr>
            <a:r>
              <a:rPr sz="1400">
                <a:solidFill>
                  <a:srgbClr val="161B26"/>
                </a:solidFill>
                <a:latin typeface="Arial"/>
              </a:rPr>
              <a:t>•  Tests underpinning KNOWLEDGE</a:t>
            </a:r>
          </a:p>
          <a:p>
            <a:pPr>
              <a:spcAft>
                <a:spcPts val="800"/>
              </a:spcAft>
            </a:pPr>
            <a:r>
              <a:rPr sz="1400">
                <a:solidFill>
                  <a:srgbClr val="161B26"/>
                </a:solidFill>
                <a:latin typeface="Arial"/>
              </a:rPr>
              <a:t>•  Covers all eight topics</a:t>
            </a:r>
          </a:p>
        </p:txBody>
      </p:sp>
      <p:sp>
        <p:nvSpPr>
          <p:cNvPr id="11" name="Rectangle 10"/>
          <p:cNvSpPr/>
          <p:nvPr/>
        </p:nvSpPr>
        <p:spPr>
          <a:xfrm>
            <a:off x="6355080" y="1783080"/>
            <a:ext cx="5056632"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55080" y="1783080"/>
            <a:ext cx="5056632"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29400" y="2011680"/>
            <a:ext cx="4572000" cy="457200"/>
          </a:xfrm>
          <a:prstGeom prst="rect">
            <a:avLst/>
          </a:prstGeom>
          <a:noFill/>
        </p:spPr>
        <p:txBody>
          <a:bodyPr wrap="square" anchor="t">
            <a:spAutoFit/>
          </a:bodyPr>
          <a:lstStyle/>
          <a:p>
            <a:pPr algn="l">
              <a:spcAft>
                <a:spcPts val="400"/>
              </a:spcAft>
            </a:pPr>
            <a:r>
              <a:rPr sz="1900" b="1">
                <a:solidFill>
                  <a:srgbClr val="10B981"/>
                </a:solidFill>
                <a:latin typeface="Arial"/>
              </a:rPr>
              <a:t>Practical Performance (PP)</a:t>
            </a:r>
          </a:p>
        </p:txBody>
      </p:sp>
      <p:sp>
        <p:nvSpPr>
          <p:cNvPr id="14" name="TextBox 13"/>
          <p:cNvSpPr txBox="1"/>
          <p:nvPr/>
        </p:nvSpPr>
        <p:spPr>
          <a:xfrm>
            <a:off x="6629400" y="2606040"/>
            <a:ext cx="4572000" cy="1920240"/>
          </a:xfrm>
          <a:prstGeom prst="rect">
            <a:avLst/>
          </a:prstGeom>
          <a:noFill/>
        </p:spPr>
        <p:txBody>
          <a:bodyPr wrap="square">
            <a:spAutoFit/>
          </a:bodyPr>
          <a:lstStyle/>
          <a:p>
            <a:pPr>
              <a:spcAft>
                <a:spcPts val="800"/>
              </a:spcAft>
            </a:pPr>
            <a:r>
              <a:rPr sz="1400">
                <a:solidFill>
                  <a:srgbClr val="161B26"/>
                </a:solidFill>
                <a:latin typeface="Arial"/>
              </a:rPr>
              <a:t>•  Hands-on quantum tasks</a:t>
            </a:r>
          </a:p>
          <a:p>
            <a:pPr>
              <a:spcAft>
                <a:spcPts val="800"/>
              </a:spcAft>
            </a:pPr>
            <a:r>
              <a:rPr sz="1400">
                <a:solidFill>
                  <a:srgbClr val="161B26"/>
                </a:solidFill>
                <a:latin typeface="Arial"/>
              </a:rPr>
              <a:t>•  1 hour · open book</a:t>
            </a:r>
          </a:p>
          <a:p>
            <a:pPr>
              <a:spcAft>
                <a:spcPts val="800"/>
              </a:spcAft>
            </a:pPr>
            <a:r>
              <a:rPr sz="1400">
                <a:solidFill>
                  <a:srgbClr val="161B26"/>
                </a:solidFill>
                <a:latin typeface="Arial"/>
              </a:rPr>
              <a:t>•  Tests PRACTICAL ability</a:t>
            </a:r>
          </a:p>
          <a:p>
            <a:pPr>
              <a:spcAft>
                <a:spcPts val="800"/>
              </a:spcAft>
            </a:pPr>
            <a:r>
              <a:rPr sz="1400">
                <a:solidFill>
                  <a:srgbClr val="161B26"/>
                </a:solidFill>
                <a:latin typeface="Arial"/>
              </a:rPr>
              <a:t>•  Built on the class activities</a:t>
            </a:r>
          </a:p>
        </p:txBody>
      </p:sp>
      <p:sp>
        <p:nvSpPr>
          <p:cNvPr id="15" name="Rectangle 14"/>
          <p:cNvSpPr/>
          <p:nvPr/>
        </p:nvSpPr>
        <p:spPr>
          <a:xfrm>
            <a:off x="777240" y="4892040"/>
            <a:ext cx="10634472" cy="566928"/>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4892040"/>
            <a:ext cx="10058400" cy="566928"/>
          </a:xfrm>
          <a:prstGeom prst="rect">
            <a:avLst/>
          </a:prstGeom>
          <a:noFill/>
        </p:spPr>
        <p:txBody>
          <a:bodyPr wrap="square" anchor="ctr">
            <a:spAutoFit/>
          </a:bodyPr>
          <a:lstStyle/>
          <a:p>
            <a:pPr algn="l">
              <a:spcAft>
                <a:spcPts val="400"/>
              </a:spcAft>
            </a:pPr>
            <a:r>
              <a:rPr sz="1350" b="1">
                <a:solidFill>
                  <a:srgbClr val="127A3E"/>
                </a:solidFill>
                <a:latin typeface="Arial"/>
              </a:rPr>
              <a:t>OPEN BOOK — course slides, Learner Guide and approved materials only</a:t>
            </a:r>
          </a:p>
        </p:txBody>
      </p:sp>
      <p:sp>
        <p:nvSpPr>
          <p:cNvPr id="17" name="Rectangle 16"/>
          <p:cNvSpPr/>
          <p:nvPr/>
        </p:nvSpPr>
        <p:spPr>
          <a:xfrm>
            <a:off x="777240" y="5596128"/>
            <a:ext cx="10634472"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51560" y="5596128"/>
            <a:ext cx="10058400" cy="566928"/>
          </a:xfrm>
          <a:prstGeom prst="rect">
            <a:avLst/>
          </a:prstGeom>
          <a:noFill/>
        </p:spPr>
        <p:txBody>
          <a:bodyPr wrap="square" anchor="ctr">
            <a:spAutoFit/>
          </a:bodyPr>
          <a:lstStyle/>
          <a:p>
            <a:pPr algn="l">
              <a:spcAft>
                <a:spcPts val="400"/>
              </a:spcAft>
            </a:pPr>
            <a:r>
              <a:rPr sz="1300" b="1">
                <a:solidFill>
                  <a:srgbClr val="1F6FEB"/>
                </a:solidFill>
                <a:latin typeface="Arial"/>
              </a:rPr>
              <a:t>Eligibility:  </a:t>
            </a:r>
            <a:r>
              <a:rPr sz="1300" b="0">
                <a:solidFill>
                  <a:srgbClr val="161B26"/>
                </a:solidFill>
                <a:latin typeface="Arial"/>
              </a:rPr>
              <a:t>minimum 75% attendance + assessed Competent.  An appeal process is available.</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114</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ON ASSESSMENT DAY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Assessment Flow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assessment-flow.png"/>
          <p:cNvPicPr>
            <a:picLocks noChangeAspect="1"/>
          </p:cNvPicPr>
          <p:nvPr/>
        </p:nvPicPr>
        <p:blipFill>
          <a:blip r:embed="rId2"/>
          <a:stretch>
            <a:fillRect/>
          </a:stretch>
        </p:blipFill>
        <p:spPr>
          <a:xfrm>
            <a:off x="1292550" y="1755648"/>
            <a:ext cx="9603851" cy="3950208"/>
          </a:xfrm>
          <a:prstGeom prst="rect">
            <a:avLst/>
          </a:prstGeom>
        </p:spPr>
      </p:pic>
      <p:sp>
        <p:nvSpPr>
          <p:cNvPr id="8" name="Rectangle 7"/>
          <p:cNvSpPr/>
          <p:nvPr/>
        </p:nvSpPr>
        <p:spPr>
          <a:xfrm>
            <a:off x="777240" y="5870448"/>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5870448"/>
            <a:ext cx="10241280" cy="457200"/>
          </a:xfrm>
          <a:prstGeom prst="rect">
            <a:avLst/>
          </a:prstGeom>
          <a:noFill/>
        </p:spPr>
        <p:txBody>
          <a:bodyPr wrap="square" anchor="ctr">
            <a:spAutoFit/>
          </a:bodyPr>
          <a:lstStyle/>
          <a:p>
            <a:pPr algn="ctr">
              <a:spcAft>
                <a:spcPts val="400"/>
              </a:spcAft>
            </a:pPr>
            <a:r>
              <a:rPr sz="1350" b="0">
                <a:solidFill>
                  <a:srgbClr val="161B26"/>
                </a:solidFill>
                <a:latin typeface="Arial"/>
              </a:rPr>
              <a:t>Complete every step in order — the TRAQOM survey and digital attendance are mandatory for funding.</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115</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TRAQOM · SSG DIGITAL ATTENDANCE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Digital Attendance (Mandatory)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2425446"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2425446"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15059" y="2715768"/>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15059"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749040"/>
            <a:ext cx="2132838" cy="1325880"/>
          </a:xfrm>
          <a:prstGeom prst="rect">
            <a:avLst/>
          </a:prstGeom>
          <a:noFill/>
        </p:spPr>
        <p:txBody>
          <a:bodyPr wrap="square" anchor="t">
            <a:spAutoFit/>
          </a:bodyPr>
          <a:lstStyle/>
          <a:p>
            <a:pPr algn="ctr">
              <a:spcAft>
                <a:spcPts val="400"/>
              </a:spcAft>
            </a:pPr>
            <a:r>
              <a:rPr sz="1400" b="0">
                <a:solidFill>
                  <a:srgbClr val="161B26"/>
                </a:solidFill>
                <a:latin typeface="Arial"/>
              </a:rPr>
              <a:t>Trainer displays the digital attendance QR code from the SSG portal</a:t>
            </a:r>
          </a:p>
        </p:txBody>
      </p:sp>
      <p:sp>
        <p:nvSpPr>
          <p:cNvPr id="12" name="TextBox 11"/>
          <p:cNvSpPr txBox="1"/>
          <p:nvPr/>
        </p:nvSpPr>
        <p:spPr>
          <a:xfrm>
            <a:off x="3166110"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13" name="Rectangle 12"/>
          <p:cNvSpPr/>
          <p:nvPr/>
        </p:nvSpPr>
        <p:spPr>
          <a:xfrm>
            <a:off x="3513582" y="2331720"/>
            <a:ext cx="2425446"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13582" y="2331720"/>
            <a:ext cx="2425446"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351401" y="2715768"/>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51401"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3659886" y="3749040"/>
            <a:ext cx="2132838" cy="1325880"/>
          </a:xfrm>
          <a:prstGeom prst="rect">
            <a:avLst/>
          </a:prstGeom>
          <a:noFill/>
        </p:spPr>
        <p:txBody>
          <a:bodyPr wrap="square" anchor="t">
            <a:spAutoFit/>
          </a:bodyPr>
          <a:lstStyle/>
          <a:p>
            <a:pPr algn="ctr">
              <a:spcAft>
                <a:spcPts val="400"/>
              </a:spcAft>
            </a:pPr>
            <a:r>
              <a:rPr sz="1400" b="0">
                <a:solidFill>
                  <a:srgbClr val="161B26"/>
                </a:solidFill>
                <a:latin typeface="Arial"/>
              </a:rPr>
              <a:t>Scan the QR code with your mobile phone camera</a:t>
            </a:r>
          </a:p>
        </p:txBody>
      </p:sp>
      <p:sp>
        <p:nvSpPr>
          <p:cNvPr id="18" name="TextBox 17"/>
          <p:cNvSpPr txBox="1"/>
          <p:nvPr/>
        </p:nvSpPr>
        <p:spPr>
          <a:xfrm>
            <a:off x="5902452"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19" name="Rectangle 18"/>
          <p:cNvSpPr/>
          <p:nvPr/>
        </p:nvSpPr>
        <p:spPr>
          <a:xfrm>
            <a:off x="6249924" y="2331720"/>
            <a:ext cx="2425446"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49924" y="2331720"/>
            <a:ext cx="2425446"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087743" y="2715768"/>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0877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6396228" y="3749040"/>
            <a:ext cx="2132838" cy="1325880"/>
          </a:xfrm>
          <a:prstGeom prst="rect">
            <a:avLst/>
          </a:prstGeom>
          <a:noFill/>
        </p:spPr>
        <p:txBody>
          <a:bodyPr wrap="square" anchor="t">
            <a:spAutoFit/>
          </a:bodyPr>
          <a:lstStyle/>
          <a:p>
            <a:pPr algn="ctr">
              <a:spcAft>
                <a:spcPts val="400"/>
              </a:spcAft>
            </a:pPr>
            <a:r>
              <a:rPr sz="1400" b="0">
                <a:solidFill>
                  <a:srgbClr val="161B26"/>
                </a:solidFill>
                <a:latin typeface="Arial"/>
              </a:rPr>
              <a:t>Submit your attendance — AM, PM and Assessment, every day</a:t>
            </a:r>
          </a:p>
        </p:txBody>
      </p:sp>
      <p:sp>
        <p:nvSpPr>
          <p:cNvPr id="24" name="TextBox 23"/>
          <p:cNvSpPr txBox="1"/>
          <p:nvPr/>
        </p:nvSpPr>
        <p:spPr>
          <a:xfrm>
            <a:off x="8638794"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25" name="Rectangle 24"/>
          <p:cNvSpPr/>
          <p:nvPr/>
        </p:nvSpPr>
        <p:spPr>
          <a:xfrm>
            <a:off x="8986266" y="2331720"/>
            <a:ext cx="2425446"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86266" y="2331720"/>
            <a:ext cx="2425446"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824085" y="2715768"/>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824085"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9132570" y="3749040"/>
            <a:ext cx="2132838" cy="1325880"/>
          </a:xfrm>
          <a:prstGeom prst="rect">
            <a:avLst/>
          </a:prstGeom>
          <a:noFill/>
        </p:spPr>
        <p:txBody>
          <a:bodyPr wrap="square" anchor="t">
            <a:spAutoFit/>
          </a:bodyPr>
          <a:lstStyle/>
          <a:p>
            <a:pPr algn="ctr">
              <a:spcAft>
                <a:spcPts val="400"/>
              </a:spcAft>
            </a:pPr>
            <a:r>
              <a:rPr sz="1400" b="0">
                <a:solidFill>
                  <a:srgbClr val="161B26"/>
                </a:solidFill>
                <a:latin typeface="Arial"/>
              </a:rPr>
              <a:t>75% minimum attendance is required for assessment and funding</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116</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0B981"/>
                </a:solidFill>
                <a:latin typeface="Arial"/>
              </a:rPr>
              <a:t>END OF COURSE</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600" b="1">
                <a:solidFill>
                  <a:srgbClr val="161B26"/>
                </a:solidFill>
                <a:latin typeface="Arial"/>
              </a:rPr>
              <a:t>Thank You!</a:t>
            </a:r>
          </a:p>
        </p:txBody>
      </p:sp>
      <p:sp>
        <p:nvSpPr>
          <p:cNvPr id="6" name="TextBox 5"/>
          <p:cNvSpPr txBox="1"/>
          <p:nvPr/>
        </p:nvSpPr>
        <p:spPr>
          <a:xfrm>
            <a:off x="1024128" y="4572000"/>
            <a:ext cx="10058400" cy="1097280"/>
          </a:xfrm>
          <a:prstGeom prst="rect">
            <a:avLst/>
          </a:prstGeom>
          <a:noFill/>
        </p:spPr>
        <p:txBody>
          <a:bodyPr wrap="square" anchor="t">
            <a:spAutoFit/>
          </a:bodyPr>
          <a:lstStyle/>
          <a:p>
            <a:pPr algn="l">
              <a:spcAft>
                <a:spcPts val="400"/>
              </a:spcAft>
            </a:pPr>
            <a:r>
              <a:rPr sz="1900" b="0">
                <a:solidFill>
                  <a:srgbClr val="5B6372"/>
                </a:solidFill>
                <a:latin typeface="Arial"/>
              </a:rPr>
              <a:t>You can now design quantum models, apply quantum gates, select quantum algorithms and plan a post-quantum migration — the skills that secure the future.</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