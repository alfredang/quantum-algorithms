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Oval 5"/>
          <p:cNvSpPr/>
          <p:nvPr/>
        </p:nvSpPr>
        <p:spPr>
          <a:xfrm>
            <a:off x="9829800" y="566928"/>
            <a:ext cx="1508760" cy="1508760"/>
          </a:xfrm>
          <a:prstGeom prst="ellipse">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332720" y="1069848"/>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29800" y="2139696"/>
            <a:ext cx="1508760" cy="274320"/>
          </a:xfrm>
          <a:prstGeom prst="rect">
            <a:avLst/>
          </a:prstGeom>
          <a:noFill/>
        </p:spPr>
        <p:txBody>
          <a:bodyPr wrap="square" anchor="t">
            <a:spAutoFit/>
          </a:bodyPr>
          <a:lstStyle/>
          <a:p>
            <a:pPr algn="ctr">
              <a:spcAft>
                <a:spcPts val="400"/>
              </a:spcAft>
            </a:pPr>
            <a:r>
              <a:rPr sz="1000" b="1">
                <a:solidFill>
                  <a:srgbClr val="7C3AED"/>
                </a:solidFill>
                <a:latin typeface="Arial"/>
              </a:rPr>
              <a:t>QUANTUM</a:t>
            </a:r>
          </a:p>
        </p:txBody>
      </p:sp>
      <p:sp>
        <p:nvSpPr>
          <p:cNvPr id="9" name="TextBox 8"/>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0" name="TextBox 9"/>
          <p:cNvSpPr txBox="1"/>
          <p:nvPr/>
        </p:nvSpPr>
        <p:spPr>
          <a:xfrm>
            <a:off x="822960" y="2606040"/>
            <a:ext cx="10424160" cy="1828800"/>
          </a:xfrm>
          <a:prstGeom prst="rect">
            <a:avLst/>
          </a:prstGeom>
          <a:noFill/>
        </p:spPr>
        <p:txBody>
          <a:bodyPr wrap="square" anchor="t">
            <a:spAutoFit/>
          </a:bodyPr>
          <a:lstStyle/>
          <a:p>
            <a:pPr algn="l">
              <a:spcAft>
                <a:spcPts val="400"/>
              </a:spcAft>
            </a:pPr>
            <a:r>
              <a:rPr sz="4000" b="1">
                <a:solidFill>
                  <a:srgbClr val="161B26"/>
                </a:solidFill>
                <a:latin typeface="Arial"/>
              </a:rPr>
              <a:t>Securing the Future with Quantum Computing and Cryptography</a:t>
            </a:r>
          </a:p>
        </p:txBody>
      </p:sp>
      <p:sp>
        <p:nvSpPr>
          <p:cNvPr id="11" name="Rectangle 10"/>
          <p:cNvSpPr/>
          <p:nvPr/>
        </p:nvSpPr>
        <p:spPr>
          <a:xfrm>
            <a:off x="841248" y="452628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80060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TGS-2024043419</a:t>
            </a:r>
          </a:p>
          <a:p>
            <a:pPr algn="l">
              <a:spcAft>
                <a:spcPts val="600"/>
              </a:spcAft>
            </a:pPr>
            <a:r>
              <a:rPr sz="1400" b="0">
                <a:solidFill>
                  <a:srgbClr val="5B6372"/>
                </a:solidFill>
                <a:latin typeface="Arial"/>
              </a:rPr>
              <a:t>Conducted by Tertiary Infotech Academy Pte Ltd  ·  UEN 201200696W</a:t>
            </a:r>
          </a:p>
        </p:txBody>
      </p:sp>
      <p:sp>
        <p:nvSpPr>
          <p:cNvPr id="13" name="TextBox 12"/>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11.0  ·  11 August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Trainer displays the digital attendance QR code from the SSG portal</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Scan the QR code with your mobile phone camera</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attendance — AM, PM and Assessment, every day</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75% minimum attendance is required for assessment and funding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679192"/>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679192"/>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679192"/>
            <a:ext cx="6400800" cy="713232"/>
          </a:xfrm>
          <a:prstGeom prst="rect">
            <a:avLst/>
          </a:prstGeom>
          <a:noFill/>
        </p:spPr>
        <p:txBody>
          <a:bodyPr wrap="square" anchor="ctr">
            <a:spAutoFit/>
          </a:bodyPr>
          <a:lstStyle/>
          <a:p>
            <a:pPr algn="l">
              <a:spcAft>
                <a:spcPts val="300"/>
              </a:spcAft>
            </a:pPr>
            <a:r>
              <a:rPr sz="1100" b="1">
                <a:solidFill>
                  <a:srgbClr val="10B981"/>
                </a:solidFill>
                <a:latin typeface="Arial"/>
              </a:rPr>
              <a:t>QUALIFICATIONS</a:t>
            </a:r>
          </a:p>
          <a:p>
            <a:pPr algn="l">
              <a:spcAft>
                <a:spcPts val="300"/>
              </a:spcAft>
            </a:pPr>
            <a:r>
              <a:rPr sz="1400" b="0">
                <a:solidFill>
                  <a:srgbClr val="161B26"/>
                </a:solidFill>
                <a:latin typeface="Arial"/>
              </a:rPr>
              <a:t>PhD; ACTA / DACE certified adult educator.</a:t>
            </a:r>
          </a:p>
        </p:txBody>
      </p:sp>
      <p:sp>
        <p:nvSpPr>
          <p:cNvPr id="19" name="Rectangle 18"/>
          <p:cNvSpPr/>
          <p:nvPr/>
        </p:nvSpPr>
        <p:spPr>
          <a:xfrm>
            <a:off x="4480560" y="3575304"/>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575304"/>
            <a:ext cx="91440"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575304"/>
            <a:ext cx="6400800" cy="713232"/>
          </a:xfrm>
          <a:prstGeom prst="rect">
            <a:avLst/>
          </a:prstGeom>
          <a:noFill/>
        </p:spPr>
        <p:txBody>
          <a:bodyPr wrap="square" anchor="ctr">
            <a:spAutoFit/>
          </a:bodyPr>
          <a:lstStyle/>
          <a:p>
            <a:pPr algn="l">
              <a:spcAft>
                <a:spcPts val="300"/>
              </a:spcAft>
            </a:pPr>
            <a:r>
              <a:rPr sz="1100" b="1">
                <a:solidFill>
                  <a:srgbClr val="7C3AED"/>
                </a:solidFill>
                <a:latin typeface="Arial"/>
              </a:rPr>
              <a:t>EXPERTISE</a:t>
            </a:r>
          </a:p>
          <a:p>
            <a:pPr algn="l">
              <a:spcAft>
                <a:spcPts val="300"/>
              </a:spcAft>
            </a:pPr>
            <a:r>
              <a:rPr sz="1400" b="0">
                <a:solidFill>
                  <a:srgbClr val="161B26"/>
                </a:solidFill>
                <a:latin typeface="Arial"/>
              </a:rPr>
              <a:t>Quantum computing, quantum cryptography, data science and AI engineering.</a:t>
            </a:r>
          </a:p>
        </p:txBody>
      </p:sp>
      <p:sp>
        <p:nvSpPr>
          <p:cNvPr id="22" name="Rectangle 21"/>
          <p:cNvSpPr/>
          <p:nvPr/>
        </p:nvSpPr>
        <p:spPr>
          <a:xfrm>
            <a:off x="4480560" y="4471416"/>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471416"/>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471416"/>
            <a:ext cx="6400800" cy="713232"/>
          </a:xfrm>
          <a:prstGeom prst="rect">
            <a:avLst/>
          </a:prstGeom>
          <a:noFill/>
        </p:spPr>
        <p:txBody>
          <a:bodyPr wrap="square" anchor="ctr">
            <a:spAutoFit/>
          </a:bodyPr>
          <a:lstStyle/>
          <a:p>
            <a:pPr algn="l">
              <a:spcAft>
                <a:spcPts val="300"/>
              </a:spcAft>
            </a:pPr>
            <a:r>
              <a:rPr sz="1100" b="1">
                <a:solidFill>
                  <a:srgbClr val="F59E0B"/>
                </a:solidFill>
                <a:latin typeface="Arial"/>
              </a:rPr>
              <a:t>DELIVERS</a:t>
            </a:r>
          </a:p>
          <a:p>
            <a:pPr algn="l">
              <a:spcAft>
                <a:spcPts val="300"/>
              </a:spcAft>
            </a:pPr>
            <a:r>
              <a:rPr sz="1400" b="0">
                <a:solidFill>
                  <a:srgbClr val="161B26"/>
                </a:solidFill>
                <a:latin typeface="Arial"/>
              </a:rPr>
              <a:t>WSQ courses on quantum computing, cybersecurity and applied machine learning.</a:t>
            </a:r>
          </a:p>
        </p:txBody>
      </p:sp>
      <p:sp>
        <p:nvSpPr>
          <p:cNvPr id="25" name="Rectangle 24"/>
          <p:cNvSpPr/>
          <p:nvPr/>
        </p:nvSpPr>
        <p:spPr>
          <a:xfrm>
            <a:off x="4480560" y="5367528"/>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5367528"/>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5367528"/>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900">
                <a:solidFill>
                  <a:srgbClr val="161B26"/>
                </a:solidFill>
                <a:latin typeface="Arial"/>
              </a:rPr>
              <a:t>•  Your name, organisation and role.</a:t>
            </a:r>
          </a:p>
          <a:p>
            <a:pPr>
              <a:spcAft>
                <a:spcPts val="1000"/>
              </a:spcAft>
            </a:pPr>
            <a:r>
              <a:rPr sz="1900">
                <a:solidFill>
                  <a:srgbClr val="161B26"/>
                </a:solidFill>
                <a:latin typeface="Arial"/>
              </a:rPr>
              <a:t>•  Your background in physics, mathematics or programming (if any).</a:t>
            </a:r>
          </a:p>
          <a:p>
            <a:pPr>
              <a:spcAft>
                <a:spcPts val="1000"/>
              </a:spcAft>
            </a:pPr>
            <a:r>
              <a:rPr sz="1900">
                <a:solidFill>
                  <a:srgbClr val="161B26"/>
                </a:solidFill>
                <a:latin typeface="Arial"/>
              </a:rPr>
              <a:t>•  What you want to be able to do with quantum computing after this course.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 for funding.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 · LMS/TMS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400800" cy="3931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64008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1938528"/>
            <a:ext cx="146304" cy="14630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79576" y="1938528"/>
            <a:ext cx="146304" cy="14630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17320" y="1938528"/>
            <a:ext cx="146304" cy="14630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737360" y="1892808"/>
            <a:ext cx="5166360" cy="2377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74520" y="1892808"/>
            <a:ext cx="5029200" cy="237744"/>
          </a:xfrm>
          <a:prstGeom prst="rect">
            <a:avLst/>
          </a:prstGeom>
          <a:noFill/>
        </p:spPr>
        <p:txBody>
          <a:bodyPr wrap="square" anchor="ctr">
            <a:spAutoFit/>
          </a:bodyPr>
          <a:lstStyle/>
          <a:p>
            <a:pPr algn="l">
              <a:spcAft>
                <a:spcPts val="400"/>
              </a:spcAft>
            </a:pPr>
            <a:r>
              <a:rPr sz="1050" b="0">
                <a:solidFill>
                  <a:srgbClr val="5B6372"/>
                </a:solidFill>
                <a:latin typeface="Arial"/>
              </a:rPr>
              <a:t>https://lms-tms.tertiaryinfotech.com</a:t>
            </a:r>
          </a:p>
        </p:txBody>
      </p:sp>
      <p:sp>
        <p:nvSpPr>
          <p:cNvPr id="14" name="Rectangle 13"/>
          <p:cNvSpPr/>
          <p:nvPr/>
        </p:nvSpPr>
        <p:spPr>
          <a:xfrm>
            <a:off x="1051560" y="2468880"/>
            <a:ext cx="585216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51560" y="2468880"/>
            <a:ext cx="73152"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80160" y="2468880"/>
            <a:ext cx="5486400" cy="713232"/>
          </a:xfrm>
          <a:prstGeom prst="rect">
            <a:avLst/>
          </a:prstGeom>
          <a:noFill/>
        </p:spPr>
        <p:txBody>
          <a:bodyPr wrap="square" anchor="ctr">
            <a:spAutoFit/>
          </a:bodyPr>
          <a:lstStyle/>
          <a:p>
            <a:pPr algn="l">
              <a:spcAft>
                <a:spcPts val="200"/>
              </a:spcAft>
            </a:pPr>
            <a:r>
              <a:rPr sz="1300" b="1">
                <a:solidFill>
                  <a:srgbClr val="161B26"/>
                </a:solidFill>
                <a:latin typeface="Arial"/>
              </a:rPr>
              <a:t>My Courses</a:t>
            </a:r>
          </a:p>
          <a:p>
            <a:pPr algn="l">
              <a:spcAft>
                <a:spcPts val="200"/>
              </a:spcAft>
            </a:pPr>
            <a:r>
              <a:rPr sz="1100" b="0">
                <a:solidFill>
                  <a:srgbClr val="5B6372"/>
                </a:solidFill>
                <a:latin typeface="Arial"/>
              </a:rPr>
              <a:t>Securing the Future with Quantum Computing and Cryptography</a:t>
            </a:r>
          </a:p>
        </p:txBody>
      </p:sp>
      <p:sp>
        <p:nvSpPr>
          <p:cNvPr id="17" name="Rectangle 16"/>
          <p:cNvSpPr/>
          <p:nvPr/>
        </p:nvSpPr>
        <p:spPr>
          <a:xfrm>
            <a:off x="1051560" y="3310128"/>
            <a:ext cx="585216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310128"/>
            <a:ext cx="73152"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80160" y="3310128"/>
            <a:ext cx="5486400" cy="713232"/>
          </a:xfrm>
          <a:prstGeom prst="rect">
            <a:avLst/>
          </a:prstGeom>
          <a:noFill/>
        </p:spPr>
        <p:txBody>
          <a:bodyPr wrap="square" anchor="ctr">
            <a:spAutoFit/>
          </a:bodyPr>
          <a:lstStyle/>
          <a:p>
            <a:pPr algn="l">
              <a:spcAft>
                <a:spcPts val="200"/>
              </a:spcAft>
            </a:pPr>
            <a:r>
              <a:rPr sz="1300" b="1">
                <a:solidFill>
                  <a:srgbClr val="161B26"/>
                </a:solidFill>
                <a:latin typeface="Arial"/>
              </a:rPr>
              <a:t>Course Materials</a:t>
            </a:r>
          </a:p>
          <a:p>
            <a:pPr algn="l">
              <a:spcAft>
                <a:spcPts val="200"/>
              </a:spcAft>
            </a:pPr>
            <a:r>
              <a:rPr sz="1100" b="0">
                <a:solidFill>
                  <a:srgbClr val="5B6372"/>
                </a:solidFill>
                <a:latin typeface="Arial"/>
              </a:rPr>
              <a:t>Trainer Slides · Learner Guide · Lesson Plan</a:t>
            </a:r>
          </a:p>
        </p:txBody>
      </p:sp>
      <p:sp>
        <p:nvSpPr>
          <p:cNvPr id="20" name="Rectangle 19"/>
          <p:cNvSpPr/>
          <p:nvPr/>
        </p:nvSpPr>
        <p:spPr>
          <a:xfrm>
            <a:off x="1051560" y="4151376"/>
            <a:ext cx="585216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51560" y="4151376"/>
            <a:ext cx="73152"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80160" y="4151376"/>
            <a:ext cx="5486400" cy="713232"/>
          </a:xfrm>
          <a:prstGeom prst="rect">
            <a:avLst/>
          </a:prstGeom>
          <a:noFill/>
        </p:spPr>
        <p:txBody>
          <a:bodyPr wrap="square" anchor="ctr">
            <a:spAutoFit/>
          </a:bodyPr>
          <a:lstStyle/>
          <a:p>
            <a:pPr algn="l">
              <a:spcAft>
                <a:spcPts val="200"/>
              </a:spcAft>
            </a:pPr>
            <a:r>
              <a:rPr sz="1300" b="1">
                <a:solidFill>
                  <a:srgbClr val="161B26"/>
                </a:solidFill>
                <a:latin typeface="Arial"/>
              </a:rPr>
              <a:t>Activities / Labs</a:t>
            </a:r>
          </a:p>
          <a:p>
            <a:pPr algn="l">
              <a:spcAft>
                <a:spcPts val="200"/>
              </a:spcAft>
            </a:pPr>
            <a:r>
              <a:rPr sz="1100" b="0">
                <a:solidFill>
                  <a:srgbClr val="5B6372"/>
                </a:solidFill>
                <a:latin typeface="Arial"/>
              </a:rPr>
              <a:t>Lab source code and QASM files</a:t>
            </a:r>
          </a:p>
        </p:txBody>
      </p:sp>
      <p:sp>
        <p:nvSpPr>
          <p:cNvPr id="23" name="Rectangle 22"/>
          <p:cNvSpPr/>
          <p:nvPr/>
        </p:nvSpPr>
        <p:spPr>
          <a:xfrm>
            <a:off x="1051560" y="4992624"/>
            <a:ext cx="585216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51560" y="4992624"/>
            <a:ext cx="73152"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80160" y="4992624"/>
            <a:ext cx="5486400" cy="713232"/>
          </a:xfrm>
          <a:prstGeom prst="rect">
            <a:avLst/>
          </a:prstGeom>
          <a:noFill/>
        </p:spPr>
        <p:txBody>
          <a:bodyPr wrap="square" anchor="ctr">
            <a:spAutoFit/>
          </a:bodyPr>
          <a:lstStyle/>
          <a:p>
            <a:pPr algn="l">
              <a:spcAft>
                <a:spcPts val="200"/>
              </a:spcAft>
            </a:pPr>
            <a:r>
              <a:rPr sz="1300" b="1">
                <a:solidFill>
                  <a:srgbClr val="161B26"/>
                </a:solidFill>
                <a:latin typeface="Arial"/>
              </a:rPr>
              <a:t>Assessment</a:t>
            </a:r>
          </a:p>
          <a:p>
            <a:pPr algn="l">
              <a:spcAft>
                <a:spcPts val="200"/>
              </a:spcAft>
            </a:pPr>
            <a:r>
              <a:rPr sz="1100" b="0">
                <a:solidFill>
                  <a:srgbClr val="5B6372"/>
                </a:solidFill>
                <a:latin typeface="Arial"/>
              </a:rPr>
              <a:t>Submit your WA and PP answers here</a:t>
            </a:r>
          </a:p>
        </p:txBody>
      </p:sp>
      <p:sp>
        <p:nvSpPr>
          <p:cNvPr id="26" name="Rectangle 25"/>
          <p:cNvSpPr/>
          <p:nvPr/>
        </p:nvSpPr>
        <p:spPr>
          <a:xfrm>
            <a:off x="7452360" y="1783080"/>
            <a:ext cx="3959352" cy="8458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452360" y="1783080"/>
            <a:ext cx="82296" cy="8458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680960" y="2013966"/>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80960" y="201396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30" name="TextBox 29"/>
          <p:cNvSpPr txBox="1"/>
          <p:nvPr/>
        </p:nvSpPr>
        <p:spPr>
          <a:xfrm>
            <a:off x="8202168" y="1783080"/>
            <a:ext cx="2999232" cy="845820"/>
          </a:xfrm>
          <a:prstGeom prst="rect">
            <a:avLst/>
          </a:prstGeom>
          <a:noFill/>
        </p:spPr>
        <p:txBody>
          <a:bodyPr wrap="square" anchor="ctr">
            <a:spAutoFit/>
          </a:bodyPr>
          <a:lstStyle/>
          <a:p>
            <a:pPr algn="l">
              <a:spcAft>
                <a:spcPts val="400"/>
              </a:spcAft>
            </a:pPr>
            <a:r>
              <a:rPr sz="1250" b="0">
                <a:solidFill>
                  <a:srgbClr val="161B26"/>
                </a:solidFill>
                <a:latin typeface="Arial"/>
              </a:rPr>
              <a:t>Go to lms-tms.tertiaryinfotech.com and sign in with the account you were issued.</a:t>
            </a:r>
          </a:p>
        </p:txBody>
      </p:sp>
      <p:sp>
        <p:nvSpPr>
          <p:cNvPr id="31" name="Rectangle 30"/>
          <p:cNvSpPr/>
          <p:nvPr/>
        </p:nvSpPr>
        <p:spPr>
          <a:xfrm>
            <a:off x="7452360" y="2811780"/>
            <a:ext cx="3959352" cy="8458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52360" y="2811780"/>
            <a:ext cx="82296" cy="8458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80960" y="3042666"/>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80960" y="304266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35" name="TextBox 34"/>
          <p:cNvSpPr txBox="1"/>
          <p:nvPr/>
        </p:nvSpPr>
        <p:spPr>
          <a:xfrm>
            <a:off x="8202168" y="2811780"/>
            <a:ext cx="2999232" cy="845820"/>
          </a:xfrm>
          <a:prstGeom prst="rect">
            <a:avLst/>
          </a:prstGeom>
          <a:noFill/>
        </p:spPr>
        <p:txBody>
          <a:bodyPr wrap="square" anchor="ctr">
            <a:spAutoFit/>
          </a:bodyPr>
          <a:lstStyle/>
          <a:p>
            <a:pPr algn="l">
              <a:spcAft>
                <a:spcPts val="400"/>
              </a:spcAft>
            </a:pPr>
            <a:r>
              <a:rPr sz="1250" b="0">
                <a:solidFill>
                  <a:srgbClr val="161B26"/>
                </a:solidFill>
                <a:latin typeface="Arial"/>
              </a:rPr>
              <a:t>Open My Courses and select this course.</a:t>
            </a:r>
          </a:p>
        </p:txBody>
      </p:sp>
      <p:sp>
        <p:nvSpPr>
          <p:cNvPr id="36" name="Rectangle 35"/>
          <p:cNvSpPr/>
          <p:nvPr/>
        </p:nvSpPr>
        <p:spPr>
          <a:xfrm>
            <a:off x="7452360" y="3840480"/>
            <a:ext cx="3959352" cy="8458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452360" y="3840480"/>
            <a:ext cx="82296" cy="8458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680960" y="4071366"/>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0" y="407136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40" name="TextBox 39"/>
          <p:cNvSpPr txBox="1"/>
          <p:nvPr/>
        </p:nvSpPr>
        <p:spPr>
          <a:xfrm>
            <a:off x="8202168" y="3840480"/>
            <a:ext cx="2999232" cy="845820"/>
          </a:xfrm>
          <a:prstGeom prst="rect">
            <a:avLst/>
          </a:prstGeom>
          <a:noFill/>
        </p:spPr>
        <p:txBody>
          <a:bodyPr wrap="square" anchor="ctr">
            <a:spAutoFit/>
          </a:bodyPr>
          <a:lstStyle/>
          <a:p>
            <a:pPr algn="l">
              <a:spcAft>
                <a:spcPts val="400"/>
              </a:spcAft>
            </a:pPr>
            <a:r>
              <a:rPr sz="1250" b="0">
                <a:solidFill>
                  <a:srgbClr val="161B26"/>
                </a:solidFill>
                <a:latin typeface="Arial"/>
              </a:rPr>
              <a:t>Download the Trainer Slides, Learner Guide and Lesson Plan.</a:t>
            </a:r>
          </a:p>
        </p:txBody>
      </p:sp>
      <p:sp>
        <p:nvSpPr>
          <p:cNvPr id="41" name="Rectangle 40"/>
          <p:cNvSpPr/>
          <p:nvPr/>
        </p:nvSpPr>
        <p:spPr>
          <a:xfrm>
            <a:off x="7452360" y="4869180"/>
            <a:ext cx="3959352" cy="8458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452360" y="4869180"/>
            <a:ext cx="82296" cy="8458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680960" y="5100066"/>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80960" y="510006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45" name="TextBox 44"/>
          <p:cNvSpPr txBox="1"/>
          <p:nvPr/>
        </p:nvSpPr>
        <p:spPr>
          <a:xfrm>
            <a:off x="8202168" y="4869180"/>
            <a:ext cx="2999232" cy="845820"/>
          </a:xfrm>
          <a:prstGeom prst="rect">
            <a:avLst/>
          </a:prstGeom>
          <a:noFill/>
        </p:spPr>
        <p:txBody>
          <a:bodyPr wrap="square" anchor="ctr">
            <a:spAutoFit/>
          </a:bodyPr>
          <a:lstStyle/>
          <a:p>
            <a:pPr algn="l">
              <a:spcAft>
                <a:spcPts val="400"/>
              </a:spcAft>
            </a:pPr>
            <a:r>
              <a:rPr sz="1250" b="0">
                <a:solidFill>
                  <a:srgbClr val="161B26"/>
                </a:solidFill>
                <a:latin typeface="Arial"/>
              </a:rPr>
              <a:t>Keep them open — the assessment is OPEN BOOK.</a:t>
            </a:r>
          </a:p>
        </p:txBody>
      </p:sp>
      <p:sp>
        <p:nvSpPr>
          <p:cNvPr id="46" name="Rectangle 45"/>
          <p:cNvSpPr/>
          <p:nvPr/>
        </p:nvSpPr>
        <p:spPr>
          <a:xfrm>
            <a:off x="777240" y="5870448"/>
            <a:ext cx="10634472" cy="4572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0120" y="5870448"/>
            <a:ext cx="10241280" cy="457200"/>
          </a:xfrm>
          <a:prstGeom prst="rect">
            <a:avLst/>
          </a:prstGeom>
          <a:noFill/>
        </p:spPr>
        <p:txBody>
          <a:bodyPr wrap="square" anchor="ctr">
            <a:spAutoFit/>
          </a:bodyPr>
          <a:lstStyle/>
          <a:p>
            <a:pPr algn="ctr">
              <a:spcAft>
                <a:spcPts val="400"/>
              </a:spcAft>
            </a:pPr>
            <a:r>
              <a:rPr sz="1250" b="1">
                <a:solidFill>
                  <a:srgbClr val="127A3E"/>
                </a:solidFill>
                <a:latin typeface="Arial"/>
              </a:rPr>
              <a:t>Download the slides and Learner Guide BEFORE the assessment — they are your permitted open-book materials.</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LO1 · Mathematical models</a:t>
            </a:r>
          </a:p>
          <a:p>
            <a:pPr algn="l">
              <a:spcAft>
                <a:spcPts val="300"/>
              </a:spcAft>
            </a:pPr>
            <a:r>
              <a:rPr sz="1100" b="0">
                <a:solidFill>
                  <a:srgbClr val="5B6372"/>
                </a:solidFill>
                <a:latin typeface="Arial"/>
              </a:rPr>
              <a:t>Design the mathematical models required for quantum computing applications.</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LO2 · Physical methodologies</a:t>
            </a:r>
          </a:p>
          <a:p>
            <a:pPr algn="l">
              <a:spcAft>
                <a:spcPts val="300"/>
              </a:spcAft>
            </a:pPr>
            <a:r>
              <a:rPr sz="1100" b="0">
                <a:solidFill>
                  <a:srgbClr val="5B6372"/>
                </a:solidFill>
                <a:latin typeface="Arial"/>
              </a:rPr>
              <a:t>Decide on appropriate physical methodologies for quantum computing problems.</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044952"/>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LO3 · Two-level models</a:t>
            </a:r>
          </a:p>
          <a:p>
            <a:pPr algn="l">
              <a:spcAft>
                <a:spcPts val="300"/>
              </a:spcAft>
            </a:pPr>
            <a:r>
              <a:rPr sz="1100" b="0">
                <a:solidFill>
                  <a:srgbClr val="5B6372"/>
                </a:solidFill>
                <a:latin typeface="Arial"/>
              </a:rPr>
              <a:t>Direct two-level quantum models for quantum computing.</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044952"/>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LO4 · Business applicability</a:t>
            </a:r>
          </a:p>
          <a:p>
            <a:pPr algn="l">
              <a:spcAft>
                <a:spcPts val="300"/>
              </a:spcAft>
            </a:pPr>
            <a:r>
              <a:rPr sz="1100" b="0">
                <a:solidFill>
                  <a:srgbClr val="5B6372"/>
                </a:solidFill>
                <a:latin typeface="Arial"/>
              </a:rPr>
              <a:t>Evaluate quantum computing applicability in the business context.</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197096"/>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LO5 · Quantum gates</a:t>
            </a:r>
          </a:p>
          <a:p>
            <a:pPr algn="l">
              <a:spcAft>
                <a:spcPts val="300"/>
              </a:spcAft>
            </a:pPr>
            <a:r>
              <a:rPr sz="1100" b="0">
                <a:solidFill>
                  <a:srgbClr val="5B6372"/>
                </a:solidFill>
                <a:latin typeface="Arial"/>
              </a:rPr>
              <a:t>Spearhead the application of quantum gates to quantum computing domains.</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197096"/>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LO6 · Algorithm selection</a:t>
            </a:r>
          </a:p>
          <a:p>
            <a:pPr algn="l">
              <a:spcAft>
                <a:spcPts val="300"/>
              </a:spcAft>
            </a:pPr>
            <a:r>
              <a:rPr sz="1100" b="0">
                <a:solidFill>
                  <a:srgbClr val="5B6372"/>
                </a:solidFill>
                <a:latin typeface="Arial"/>
              </a:rPr>
              <a:t>Establish guidelines for selecting quantum computing algorithms.</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7</a:t>
            </a:r>
          </a:p>
        </p:txBody>
      </p:sp>
      <p:sp>
        <p:nvSpPr>
          <p:cNvPr id="41" name="TextBox 40"/>
          <p:cNvSpPr txBox="1"/>
          <p:nvPr/>
        </p:nvSpPr>
        <p:spPr>
          <a:xfrm>
            <a:off x="1764792" y="5349240"/>
            <a:ext cx="3973068" cy="731520"/>
          </a:xfrm>
          <a:prstGeom prst="rect">
            <a:avLst/>
          </a:prstGeom>
          <a:noFill/>
        </p:spPr>
        <p:txBody>
          <a:bodyPr wrap="square" anchor="ctr">
            <a:spAutoFit/>
          </a:bodyPr>
          <a:lstStyle/>
          <a:p>
            <a:pPr algn="l">
              <a:spcAft>
                <a:spcPts val="300"/>
              </a:spcAft>
            </a:pPr>
            <a:r>
              <a:rPr sz="1450" b="1">
                <a:solidFill>
                  <a:srgbClr val="161B26"/>
                </a:solidFill>
                <a:latin typeface="Arial"/>
              </a:rPr>
              <a:t>LO7 · Synthesis</a:t>
            </a:r>
          </a:p>
          <a:p>
            <a:pPr algn="l">
              <a:spcAft>
                <a:spcPts val="300"/>
              </a:spcAft>
            </a:pPr>
            <a:r>
              <a:rPr sz="1100" b="0">
                <a:solidFill>
                  <a:srgbClr val="5B6372"/>
                </a:solidFill>
                <a:latin typeface="Arial"/>
              </a:rPr>
              <a:t>Synthesize quantum methodologies to address complex quantum computing problems.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4 Days, 8 hours/day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Days 1–2</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Days 3–4</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a:solidFill>
                  <a:srgbClr val="161B26"/>
                </a:solidFill>
                <a:latin typeface="Arial"/>
              </a:rPr>
              <a:t>•  Day 1 — Quantum Physics Fundamentals &amp; Quantum Computing Systems</a:t>
            </a:r>
          </a:p>
          <a:p>
            <a:pPr>
              <a:spcAft>
                <a:spcPts val="1000"/>
              </a:spcAft>
            </a:pPr>
            <a:r>
              <a:rPr sz="1400">
                <a:solidFill>
                  <a:srgbClr val="5B6372"/>
                </a:solidFill>
                <a:latin typeface="Arial"/>
              </a:rPr>
              <a:t>–  Topic 1: Quantum Physics Fundamentals (Activity 1)</a:t>
            </a:r>
          </a:p>
          <a:p>
            <a:pPr>
              <a:spcAft>
                <a:spcPts val="1000"/>
              </a:spcAft>
            </a:pPr>
            <a:r>
              <a:rPr sz="1400">
                <a:solidFill>
                  <a:srgbClr val="5B6372"/>
                </a:solidFill>
                <a:latin typeface="Arial"/>
              </a:rPr>
              <a:t>–  Topic 2: Quantum Computing Systems (Activities 2–3)</a:t>
            </a:r>
          </a:p>
          <a:p>
            <a:pPr>
              <a:spcAft>
                <a:spcPts val="1000"/>
              </a:spcAft>
            </a:pPr>
            <a:r>
              <a:rPr sz="1600">
                <a:solidFill>
                  <a:srgbClr val="161B26"/>
                </a:solidFill>
                <a:latin typeface="Arial"/>
              </a:rPr>
              <a:t>•  Day 2 — Quantum Gates, Circuits and Quantum Protocols</a:t>
            </a:r>
          </a:p>
          <a:p>
            <a:pPr>
              <a:spcAft>
                <a:spcPts val="1000"/>
              </a:spcAft>
            </a:pPr>
            <a:r>
              <a:rPr sz="1400">
                <a:solidFill>
                  <a:srgbClr val="5B6372"/>
                </a:solidFill>
                <a:latin typeface="Arial"/>
              </a:rPr>
              <a:t>–  Topic 3: Quantum Gates and Circuits (Activities 4–5)</a:t>
            </a:r>
          </a:p>
          <a:p>
            <a:pPr>
              <a:spcAft>
                <a:spcPts val="1000"/>
              </a:spcAft>
            </a:pPr>
            <a:r>
              <a:rPr sz="1400">
                <a:solidFill>
                  <a:srgbClr val="5B6372"/>
                </a:solidFill>
                <a:latin typeface="Arial"/>
              </a:rPr>
              <a:t>–  Topic 4: Quantum Protocols (Activities 6–8)</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a:solidFill>
                  <a:srgbClr val="161B26"/>
                </a:solidFill>
                <a:latin typeface="Arial"/>
              </a:rPr>
              <a:t>•  Day 3 — Quantum Algorithms and Quantum Cryptography</a:t>
            </a:r>
          </a:p>
          <a:p>
            <a:pPr>
              <a:spcAft>
                <a:spcPts val="1000"/>
              </a:spcAft>
            </a:pPr>
            <a:r>
              <a:rPr sz="1400">
                <a:solidFill>
                  <a:srgbClr val="5B6372"/>
                </a:solidFill>
                <a:latin typeface="Arial"/>
              </a:rPr>
              <a:t>–  Topic 5: Quantum Algorithms (Activities 9–12)</a:t>
            </a:r>
          </a:p>
          <a:p>
            <a:pPr>
              <a:spcAft>
                <a:spcPts val="1000"/>
              </a:spcAft>
            </a:pPr>
            <a:r>
              <a:rPr sz="1400">
                <a:solidFill>
                  <a:srgbClr val="5B6372"/>
                </a:solidFill>
                <a:latin typeface="Arial"/>
              </a:rPr>
              <a:t>–  Topic 6: Quantum Cryptography &amp; Safety (Activities 13–14)</a:t>
            </a:r>
          </a:p>
          <a:p>
            <a:pPr>
              <a:spcAft>
                <a:spcPts val="1000"/>
              </a:spcAft>
            </a:pPr>
            <a:r>
              <a:rPr sz="1600">
                <a:solidFill>
                  <a:srgbClr val="161B26"/>
                </a:solidFill>
                <a:latin typeface="Arial"/>
              </a:rPr>
              <a:t>•  Day 4 — Applications, Error Correction and Assessment</a:t>
            </a:r>
          </a:p>
          <a:p>
            <a:pPr>
              <a:spcAft>
                <a:spcPts val="1000"/>
              </a:spcAft>
            </a:pPr>
            <a:r>
              <a:rPr sz="1400">
                <a:solidFill>
                  <a:srgbClr val="5B6372"/>
                </a:solidFill>
                <a:latin typeface="Arial"/>
              </a:rPr>
              <a:t>–  Topic 7: Applications (Activities 15–16)</a:t>
            </a:r>
          </a:p>
          <a:p>
            <a:pPr>
              <a:spcAft>
                <a:spcPts val="1000"/>
              </a:spcAft>
            </a:pPr>
            <a:r>
              <a:rPr sz="1400">
                <a:solidFill>
                  <a:srgbClr val="5B6372"/>
                </a:solidFill>
                <a:latin typeface="Arial"/>
              </a:rPr>
              <a:t>–  Topic 8: Quantum Error Correction (Activities 17–18)</a:t>
            </a:r>
          </a:p>
          <a:p>
            <a:pPr>
              <a:spcAft>
                <a:spcPts val="1000"/>
              </a:spcAft>
            </a:pPr>
            <a:r>
              <a:rPr sz="1400">
                <a:solidFill>
                  <a:srgbClr val="5B6372"/>
                </a:solidFill>
                <a:latin typeface="Arial"/>
              </a:rPr>
              <a:t>–  Final Assessment: WA (1 hr) + PP (1 hr)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YOU BEGIN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Phones away</a:t>
            </a:r>
          </a:p>
          <a:p>
            <a:pPr algn="l">
              <a:spcAft>
                <a:spcPts val="300"/>
              </a:spcAft>
            </a:pPr>
            <a:r>
              <a:rPr sz="1150" b="0">
                <a:solidFill>
                  <a:srgbClr val="5B6372"/>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 recording</a:t>
            </a:r>
          </a:p>
          <a:p>
            <a:pPr algn="l">
              <a:spcAft>
                <a:spcPts val="300"/>
              </a:spcAft>
            </a:pPr>
            <a:r>
              <a:rPr sz="1150" b="0">
                <a:solidFill>
                  <a:srgbClr val="5B6372"/>
                </a:solidFill>
                <a:latin typeface="Arial"/>
              </a:rPr>
              <a:t>No photos or recording of assessment scripts.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 discussion</a:t>
            </a:r>
          </a:p>
          <a:p>
            <a:pPr algn="l">
              <a:spcAft>
                <a:spcPts val="300"/>
              </a:spcAft>
            </a:pPr>
            <a:r>
              <a:rPr sz="1150" b="0">
                <a:solidFill>
                  <a:srgbClr val="5B6372"/>
                </a:solidFill>
                <a:latin typeface="Arial"/>
              </a:rPr>
              <a:t>Work individually — no discussion during the assessment.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Black or blue pen</a:t>
            </a:r>
          </a:p>
          <a:p>
            <a:pPr algn="l">
              <a:spcAft>
                <a:spcPts val="300"/>
              </a:spcAft>
            </a:pPr>
            <a:r>
              <a:rPr sz="1150" b="0">
                <a:solidFill>
                  <a:srgbClr val="5B6372"/>
                </a:solidFill>
                <a:latin typeface="Arial"/>
              </a:rPr>
              <a:t>Use a black/blue pen for hard-copy assessments.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 correction fluid</a:t>
            </a:r>
          </a:p>
          <a:p>
            <a:pPr algn="l">
              <a:spcAft>
                <a:spcPts val="300"/>
              </a:spcAft>
            </a:pPr>
            <a:r>
              <a:rPr sz="1150" b="0">
                <a:solidFill>
                  <a:srgbClr val="5B6372"/>
                </a:solidFill>
                <a:latin typeface="Arial"/>
              </a:rPr>
              <a:t>No liquid paper or correction tape on any script.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Time is called</a:t>
            </a:r>
          </a:p>
          <a:p>
            <a:pPr algn="l">
              <a:spcAft>
                <a:spcPts val="300"/>
              </a:spcAft>
            </a:pPr>
            <a:r>
              <a:rPr sz="1150" b="0">
                <a:solidFill>
                  <a:srgbClr val="5B6372"/>
                </a:solidFill>
                <a:latin typeface="Arial"/>
              </a:rPr>
              <a:t>Scripts are collected when the time is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0566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05663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011680"/>
            <a:ext cx="4572000" cy="457200"/>
          </a:xfrm>
          <a:prstGeom prst="rect">
            <a:avLst/>
          </a:prstGeom>
          <a:noFill/>
        </p:spPr>
        <p:txBody>
          <a:bodyPr wrap="square" anchor="t">
            <a:spAutoFit/>
          </a:bodyPr>
          <a:lstStyle/>
          <a:p>
            <a:pPr algn="l">
              <a:spcAft>
                <a:spcPts val="400"/>
              </a:spcAft>
            </a:pPr>
            <a:r>
              <a:rPr sz="1900" b="1">
                <a:solidFill>
                  <a:srgbClr val="1F6FEB"/>
                </a:solidFill>
                <a:latin typeface="Arial"/>
              </a:rPr>
              <a:t>Written Assessment (WA)</a:t>
            </a:r>
          </a:p>
        </p:txBody>
      </p:sp>
      <p:sp>
        <p:nvSpPr>
          <p:cNvPr id="10" name="TextBox 9"/>
          <p:cNvSpPr txBox="1"/>
          <p:nvPr/>
        </p:nvSpPr>
        <p:spPr>
          <a:xfrm>
            <a:off x="1051560" y="2606040"/>
            <a:ext cx="4572000" cy="1920240"/>
          </a:xfrm>
          <a:prstGeom prst="rect">
            <a:avLst/>
          </a:prstGeom>
          <a:noFill/>
        </p:spPr>
        <p:txBody>
          <a:bodyPr wrap="square">
            <a:spAutoFit/>
          </a:bodyPr>
          <a:lstStyle/>
          <a:p>
            <a:pPr>
              <a:spcAft>
                <a:spcPts val="800"/>
              </a:spcAft>
            </a:pPr>
            <a:r>
              <a:rPr sz="1400">
                <a:solidFill>
                  <a:srgbClr val="161B26"/>
                </a:solidFill>
                <a:latin typeface="Arial"/>
              </a:rPr>
              <a:t>•  Short-Answer Questions (SAQ)</a:t>
            </a:r>
          </a:p>
          <a:p>
            <a:pPr>
              <a:spcAft>
                <a:spcPts val="800"/>
              </a:spcAft>
            </a:pPr>
            <a:r>
              <a:rPr sz="1400">
                <a:solidFill>
                  <a:srgbClr val="161B26"/>
                </a:solidFill>
                <a:latin typeface="Arial"/>
              </a:rPr>
              <a:t>•  1 hour · open book</a:t>
            </a:r>
          </a:p>
          <a:p>
            <a:pPr>
              <a:spcAft>
                <a:spcPts val="800"/>
              </a:spcAft>
            </a:pPr>
            <a:r>
              <a:rPr sz="1400">
                <a:solidFill>
                  <a:srgbClr val="161B26"/>
                </a:solidFill>
                <a:latin typeface="Arial"/>
              </a:rPr>
              <a:t>•  Tests underpinning KNOWLEDGE</a:t>
            </a:r>
          </a:p>
          <a:p>
            <a:pPr>
              <a:spcAft>
                <a:spcPts val="800"/>
              </a:spcAft>
            </a:pPr>
            <a:r>
              <a:rPr sz="1400">
                <a:solidFill>
                  <a:srgbClr val="161B26"/>
                </a:solidFill>
                <a:latin typeface="Arial"/>
              </a:rPr>
              <a:t>•  Covers all eight topics</a:t>
            </a:r>
          </a:p>
        </p:txBody>
      </p:sp>
      <p:sp>
        <p:nvSpPr>
          <p:cNvPr id="11" name="Rectangle 10"/>
          <p:cNvSpPr/>
          <p:nvPr/>
        </p:nvSpPr>
        <p:spPr>
          <a:xfrm>
            <a:off x="6355080" y="1783080"/>
            <a:ext cx="50566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55080" y="1783080"/>
            <a:ext cx="505663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2011680"/>
            <a:ext cx="4572000" cy="457200"/>
          </a:xfrm>
          <a:prstGeom prst="rect">
            <a:avLst/>
          </a:prstGeom>
          <a:noFill/>
        </p:spPr>
        <p:txBody>
          <a:bodyPr wrap="square" anchor="t">
            <a:spAutoFit/>
          </a:bodyPr>
          <a:lstStyle/>
          <a:p>
            <a:pPr algn="l">
              <a:spcAft>
                <a:spcPts val="400"/>
              </a:spcAft>
            </a:pPr>
            <a:r>
              <a:rPr sz="1900" b="1">
                <a:solidFill>
                  <a:srgbClr val="10B981"/>
                </a:solidFill>
                <a:latin typeface="Arial"/>
              </a:rPr>
              <a:t>Practical Performance (PP)</a:t>
            </a:r>
          </a:p>
        </p:txBody>
      </p:sp>
      <p:sp>
        <p:nvSpPr>
          <p:cNvPr id="14" name="TextBox 13"/>
          <p:cNvSpPr txBox="1"/>
          <p:nvPr/>
        </p:nvSpPr>
        <p:spPr>
          <a:xfrm>
            <a:off x="6629400" y="2606040"/>
            <a:ext cx="4572000" cy="1920240"/>
          </a:xfrm>
          <a:prstGeom prst="rect">
            <a:avLst/>
          </a:prstGeom>
          <a:noFill/>
        </p:spPr>
        <p:txBody>
          <a:bodyPr wrap="square">
            <a:spAutoFit/>
          </a:bodyPr>
          <a:lstStyle/>
          <a:p>
            <a:pPr>
              <a:spcAft>
                <a:spcPts val="800"/>
              </a:spcAft>
            </a:pPr>
            <a:r>
              <a:rPr sz="1400">
                <a:solidFill>
                  <a:srgbClr val="161B26"/>
                </a:solidFill>
                <a:latin typeface="Arial"/>
              </a:rPr>
              <a:t>•  Hands-on quantum tasks</a:t>
            </a:r>
          </a:p>
          <a:p>
            <a:pPr>
              <a:spcAft>
                <a:spcPts val="800"/>
              </a:spcAft>
            </a:pPr>
            <a:r>
              <a:rPr sz="1400">
                <a:solidFill>
                  <a:srgbClr val="161B26"/>
                </a:solidFill>
                <a:latin typeface="Arial"/>
              </a:rPr>
              <a:t>•  1 hour · open book</a:t>
            </a:r>
          </a:p>
          <a:p>
            <a:pPr>
              <a:spcAft>
                <a:spcPts val="800"/>
              </a:spcAft>
            </a:pPr>
            <a:r>
              <a:rPr sz="1400">
                <a:solidFill>
                  <a:srgbClr val="161B26"/>
                </a:solidFill>
                <a:latin typeface="Arial"/>
              </a:rPr>
              <a:t>•  Tests PRACTICAL ability</a:t>
            </a:r>
          </a:p>
          <a:p>
            <a:pPr>
              <a:spcAft>
                <a:spcPts val="800"/>
              </a:spcAft>
            </a:pPr>
            <a:r>
              <a:rPr sz="1400">
                <a:solidFill>
                  <a:srgbClr val="161B26"/>
                </a:solidFill>
                <a:latin typeface="Arial"/>
              </a:rPr>
              <a:t>•  Built on the class activities</a:t>
            </a:r>
          </a:p>
        </p:txBody>
      </p:sp>
      <p:sp>
        <p:nvSpPr>
          <p:cNvPr id="15" name="Rectangle 14"/>
          <p:cNvSpPr/>
          <p:nvPr/>
        </p:nvSpPr>
        <p:spPr>
          <a:xfrm>
            <a:off x="777240" y="4892040"/>
            <a:ext cx="10634472" cy="56692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4892040"/>
            <a:ext cx="10058400" cy="566928"/>
          </a:xfrm>
          <a:prstGeom prst="rect">
            <a:avLst/>
          </a:prstGeom>
          <a:noFill/>
        </p:spPr>
        <p:txBody>
          <a:bodyPr wrap="square" anchor="ctr">
            <a:spAutoFit/>
          </a:bodyPr>
          <a:lstStyle/>
          <a:p>
            <a:pPr algn="l">
              <a:spcAft>
                <a:spcPts val="400"/>
              </a:spcAft>
            </a:pPr>
            <a:r>
              <a:rPr sz="1350" b="1">
                <a:solidFill>
                  <a:srgbClr val="127A3E"/>
                </a:solidFill>
                <a:latin typeface="Arial"/>
              </a:rPr>
              <a:t>OPEN BOOK — course slides, Learner Guide and approved materials only</a:t>
            </a:r>
          </a:p>
        </p:txBody>
      </p:sp>
      <p:sp>
        <p:nvSpPr>
          <p:cNvPr id="17" name="Rectangle 16"/>
          <p:cNvSpPr/>
          <p:nvPr/>
        </p:nvSpPr>
        <p:spPr>
          <a:xfrm>
            <a:off x="777240" y="5596128"/>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5596128"/>
            <a:ext cx="10058400" cy="566928"/>
          </a:xfrm>
          <a:prstGeom prst="rect">
            <a:avLst/>
          </a:prstGeom>
          <a:noFill/>
        </p:spPr>
        <p:txBody>
          <a:bodyPr wrap="square" anchor="ctr">
            <a:spAutoFit/>
          </a:bodyPr>
          <a:lstStyle/>
          <a:p>
            <a:pPr algn="l">
              <a:spcAft>
                <a:spcPts val="400"/>
              </a:spcAft>
            </a:pPr>
            <a:r>
              <a:rPr sz="1300" b="1">
                <a:solidFill>
                  <a:srgbClr val="1F6FEB"/>
                </a:solidFill>
                <a:latin typeface="Arial"/>
              </a:rPr>
              <a:t>Eligibility:  </a:t>
            </a:r>
            <a:r>
              <a:rPr sz="1300" b="0">
                <a:solidFill>
                  <a:srgbClr val="161B26"/>
                </a:solidFill>
                <a:latin typeface="Arial"/>
              </a:rPr>
              <a:t>minimum 75% attendance + assessed Competent.  An appeal process is available.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ssessment-flow.png"/>
          <p:cNvPicPr>
            <a:picLocks noChangeAspect="1"/>
          </p:cNvPicPr>
          <p:nvPr/>
        </p:nvPicPr>
        <p:blipFill>
          <a:blip r:embed="rId2"/>
          <a:stretch>
            <a:fillRect/>
          </a:stretch>
        </p:blipFill>
        <p:spPr>
          <a:xfrm>
            <a:off x="1292550" y="1755648"/>
            <a:ext cx="9603851"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Complete every step in order — the TRAQOM survey and digital attendance are mandatory for funding.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GETTING STARTED</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Why Quantum, Why Now</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CORE IDEA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Makes a Qubit Different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it-vs-qubit.png"/>
          <p:cNvPicPr>
            <a:picLocks noChangeAspect="1"/>
          </p:cNvPicPr>
          <p:nvPr/>
        </p:nvPicPr>
        <p:blipFill>
          <a:blip r:embed="rId2"/>
          <a:stretch>
            <a:fillRect/>
          </a:stretch>
        </p:blipFill>
        <p:spPr>
          <a:xfrm>
            <a:off x="777240" y="2379971"/>
            <a:ext cx="6400800" cy="3012457"/>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Classical bit</a:t>
            </a:r>
          </a:p>
          <a:p>
            <a:pPr algn="l">
              <a:spcAft>
                <a:spcPts val="300"/>
              </a:spcAft>
            </a:pPr>
            <a:r>
              <a:rPr sz="1200" b="0">
                <a:solidFill>
                  <a:srgbClr val="161B26"/>
                </a:solidFill>
                <a:latin typeface="Arial"/>
              </a:rPr>
              <a:t>Holds exactly one value — 0 or 1 — at any instant.</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Qubit</a:t>
            </a:r>
          </a:p>
          <a:p>
            <a:pPr algn="l">
              <a:spcAft>
                <a:spcPts val="300"/>
              </a:spcAft>
            </a:pPr>
            <a:r>
              <a:rPr sz="1200" b="0">
                <a:solidFill>
                  <a:srgbClr val="161B26"/>
                </a:solidFill>
                <a:latin typeface="Arial"/>
              </a:rPr>
              <a:t>Holds a superposition of both, described by two complex amplitudes.</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Measurement</a:t>
            </a:r>
          </a:p>
          <a:p>
            <a:pPr algn="l">
              <a:spcAft>
                <a:spcPts val="300"/>
              </a:spcAft>
            </a:pPr>
            <a:r>
              <a:rPr sz="1200" b="0">
                <a:solidFill>
                  <a:srgbClr val="161B26"/>
                </a:solidFill>
                <a:latin typeface="Arial"/>
              </a:rPr>
              <a:t>Collapses the superposition to a single classical outcome.</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The payoff</a:t>
            </a:r>
          </a:p>
          <a:p>
            <a:pPr algn="l">
              <a:spcAft>
                <a:spcPts val="300"/>
              </a:spcAft>
            </a:pPr>
            <a:r>
              <a:rPr sz="1200" b="0">
                <a:solidFill>
                  <a:srgbClr val="161B26"/>
                </a:solidFill>
                <a:latin typeface="Arial"/>
              </a:rPr>
              <a:t>n qubits carry 2ⁿ amplitudes at once — quantum parallelism.</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WHY IT MATTERS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State Space Explosion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tate-space-growth.png"/>
          <p:cNvPicPr>
            <a:picLocks noChangeAspect="1"/>
          </p:cNvPicPr>
          <p:nvPr/>
        </p:nvPicPr>
        <p:blipFill>
          <a:blip r:embed="rId2"/>
          <a:stretch>
            <a:fillRect/>
          </a:stretch>
        </p:blipFill>
        <p:spPr>
          <a:xfrm>
            <a:off x="777240" y="2237723"/>
            <a:ext cx="6400800" cy="3296953"/>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50 qubits</a:t>
            </a:r>
          </a:p>
          <a:p>
            <a:pPr algn="l">
              <a:spcAft>
                <a:spcPts val="300"/>
              </a:spcAft>
            </a:pPr>
            <a:r>
              <a:rPr sz="1200" b="0">
                <a:solidFill>
                  <a:srgbClr val="161B26"/>
                </a:solidFill>
                <a:latin typeface="Arial"/>
              </a:rPr>
              <a:t>~10¹⁵ amplitudes — beyond any classical supercomputer's memory.</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300 qubits</a:t>
            </a:r>
          </a:p>
          <a:p>
            <a:pPr algn="l">
              <a:spcAft>
                <a:spcPts val="300"/>
              </a:spcAft>
            </a:pPr>
            <a:r>
              <a:rPr sz="1200" b="0">
                <a:solidFill>
                  <a:srgbClr val="161B26"/>
                </a:solidFill>
                <a:latin typeface="Arial"/>
              </a:rPr>
              <a:t>More amplitudes than atoms in the observable universe.</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But</a:t>
            </a:r>
          </a:p>
          <a:p>
            <a:pPr algn="l">
              <a:spcAft>
                <a:spcPts val="300"/>
              </a:spcAft>
            </a:pPr>
            <a:r>
              <a:rPr sz="1200" b="0">
                <a:solidFill>
                  <a:srgbClr val="161B26"/>
                </a:solidFill>
                <a:latin typeface="Arial"/>
              </a:rPr>
              <a:t>You only ever read out n classical bits — algorithms must be clever.</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So</a:t>
            </a:r>
          </a:p>
          <a:p>
            <a:pPr algn="l">
              <a:spcAft>
                <a:spcPts val="300"/>
              </a:spcAft>
            </a:pPr>
            <a:r>
              <a:rPr sz="1200" b="0">
                <a:solidFill>
                  <a:srgbClr val="161B26"/>
                </a:solidFill>
                <a:latin typeface="Arial"/>
              </a:rPr>
              <a:t>Interference, not brute force, is what gives quantum its advantage.</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HOW QUANTUM ALGORITHMS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Interference — The Real Engine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nterference.png"/>
          <p:cNvPicPr>
            <a:picLocks noChangeAspect="1"/>
          </p:cNvPicPr>
          <p:nvPr/>
        </p:nvPicPr>
        <p:blipFill>
          <a:blip r:embed="rId2"/>
          <a:stretch>
            <a:fillRect/>
          </a:stretch>
        </p:blipFill>
        <p:spPr>
          <a:xfrm>
            <a:off x="777240" y="2668751"/>
            <a:ext cx="6400800" cy="2434898"/>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Amplitudes can cancel</a:t>
            </a:r>
          </a:p>
          <a:p>
            <a:pPr algn="l">
              <a:spcAft>
                <a:spcPts val="300"/>
              </a:spcAft>
            </a:pPr>
            <a:r>
              <a:rPr sz="1200" b="0">
                <a:solidFill>
                  <a:srgbClr val="161B26"/>
                </a:solidFill>
                <a:latin typeface="Arial"/>
              </a:rPr>
              <a:t>Unlike probabilities, amplitudes are complex and can be negative.</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Wrong answers cancel</a:t>
            </a:r>
          </a:p>
          <a:p>
            <a:pPr algn="l">
              <a:spcAft>
                <a:spcPts val="300"/>
              </a:spcAft>
            </a:pPr>
            <a:r>
              <a:rPr sz="1200" b="0">
                <a:solidFill>
                  <a:srgbClr val="161B26"/>
                </a:solidFill>
                <a:latin typeface="Arial"/>
              </a:rPr>
              <a:t>A good algorithm arranges destructive interference on wrong paths.</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Right answers add</a:t>
            </a:r>
          </a:p>
          <a:p>
            <a:pPr algn="l">
              <a:spcAft>
                <a:spcPts val="300"/>
              </a:spcAft>
            </a:pPr>
            <a:r>
              <a:rPr sz="1200" b="0">
                <a:solidFill>
                  <a:srgbClr val="161B26"/>
                </a:solidFill>
                <a:latin typeface="Arial"/>
              </a:rPr>
              <a:t>Constructive interference concentrates probability on the answer.</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Every algorithm</a:t>
            </a:r>
          </a:p>
          <a:p>
            <a:pPr algn="l">
              <a:spcAft>
                <a:spcPts val="300"/>
              </a:spcAft>
            </a:pPr>
            <a:r>
              <a:rPr sz="1200" b="0">
                <a:solidFill>
                  <a:srgbClr val="161B26"/>
                </a:solidFill>
                <a:latin typeface="Arial"/>
              </a:rPr>
              <a:t>Deutsch, Grover and Shor are all interference engines.</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MENTAL MODEL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600" b="1">
                <a:solidFill>
                  <a:srgbClr val="161B26"/>
                </a:solidFill>
                <a:latin typeface="Arial"/>
              </a:rPr>
              <a:t>Superposition supplies the paths. Interference picks the answer.</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Every quantum algorithm in this course follows that pattern — prepare a superposition, apply an oracle, then interfere so the correct answer survives.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Quantum Physics Fundamentals</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Postulates of Quantum Mechanics · Mathematics for Quantum Mechanics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Quantum Physics Fundamentals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The five postulates</a:t>
            </a:r>
          </a:p>
          <a:p>
            <a:pPr algn="l">
              <a:spcAft>
                <a:spcPts val="300"/>
              </a:spcAft>
            </a:pPr>
            <a:r>
              <a:rPr sz="1100" b="0">
                <a:solidFill>
                  <a:srgbClr val="5B6372"/>
                </a:solidFill>
                <a:latin typeface="Arial"/>
              </a:rPr>
              <a:t>State space, unitary time evolution, observables, the Born rule and wave-function collapse are the axioms every quantum algorithm obeys.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Hilbert space</a:t>
            </a:r>
          </a:p>
          <a:p>
            <a:pPr algn="l">
              <a:spcAft>
                <a:spcPts val="300"/>
              </a:spcAft>
            </a:pPr>
            <a:r>
              <a:rPr sz="1100" b="0">
                <a:solidFill>
                  <a:srgbClr val="5B6372"/>
                </a:solidFill>
                <a:latin typeface="Arial"/>
              </a:rPr>
              <a:t>Quantum states are unit vectors in a complex inner-product space; a single qubit lives in a 2-dimensional Hilbert space.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Unitary operators</a:t>
            </a:r>
          </a:p>
          <a:p>
            <a:pPr algn="l">
              <a:spcAft>
                <a:spcPts val="300"/>
              </a:spcAft>
            </a:pPr>
            <a:r>
              <a:rPr sz="1100" b="0">
                <a:solidFill>
                  <a:srgbClr val="5B6372"/>
                </a:solidFill>
                <a:latin typeface="Arial"/>
              </a:rPr>
              <a:t>U†U = I preserves the norm — this is why every quantum gate is reversible and probability is conserved.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Hermitian operators</a:t>
            </a:r>
          </a:p>
          <a:p>
            <a:pPr algn="l">
              <a:spcAft>
                <a:spcPts val="300"/>
              </a:spcAft>
            </a:pPr>
            <a:r>
              <a:rPr sz="1100" b="0">
                <a:solidFill>
                  <a:srgbClr val="5B6372"/>
                </a:solidFill>
                <a:latin typeface="Arial"/>
              </a:rPr>
              <a:t>A† = A guarantees real eigenvalues, so Hermitian operators represent physically measurable observables.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Dirac notation</a:t>
            </a:r>
          </a:p>
          <a:p>
            <a:pPr algn="l">
              <a:spcAft>
                <a:spcPts val="300"/>
              </a:spcAft>
            </a:pPr>
            <a:r>
              <a:rPr sz="1100" b="0">
                <a:solidFill>
                  <a:srgbClr val="5B6372"/>
                </a:solidFill>
                <a:latin typeface="Arial"/>
              </a:rPr>
              <a:t>Bra-ket notation compactly expresses states |ψ⟩, dual vectors ⟨ψ|, inner products ⟨φ|ψ⟩ and outer products |ψ⟩⟨φ|.</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Tensor products</a:t>
            </a:r>
          </a:p>
          <a:p>
            <a:pPr algn="l">
              <a:spcAft>
                <a:spcPts val="300"/>
              </a:spcAft>
            </a:pPr>
            <a:r>
              <a:rPr sz="1100" b="0">
                <a:solidFill>
                  <a:srgbClr val="5B6372"/>
                </a:solidFill>
                <a:latin typeface="Arial"/>
              </a:rPr>
              <a:t>The state space of a multi-qubit system is the tensor product of the single-qubit spaces — dimension grows as 2ⁿ.</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THREE OBJECTS YOU NEED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Mathematical Toolkit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011680"/>
            <a:ext cx="2849880" cy="640080"/>
          </a:xfrm>
          <a:prstGeom prst="rect">
            <a:avLst/>
          </a:prstGeom>
          <a:noFill/>
        </p:spPr>
        <p:txBody>
          <a:bodyPr wrap="square" anchor="t">
            <a:spAutoFit/>
          </a:bodyPr>
          <a:lstStyle/>
          <a:p>
            <a:pPr algn="l">
              <a:spcAft>
                <a:spcPts val="400"/>
              </a:spcAft>
            </a:pPr>
            <a:r>
              <a:rPr sz="1600" b="1">
                <a:solidFill>
                  <a:srgbClr val="1F6FEB"/>
                </a:solidFill>
                <a:latin typeface="Arial"/>
              </a:rPr>
              <a:t>State vector</a:t>
            </a:r>
          </a:p>
        </p:txBody>
      </p:sp>
      <p:sp>
        <p:nvSpPr>
          <p:cNvPr id="10" name="Rectangle 9"/>
          <p:cNvSpPr/>
          <p:nvPr/>
        </p:nvSpPr>
        <p:spPr>
          <a:xfrm>
            <a:off x="1033272" y="2743200"/>
            <a:ext cx="2849880"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2743200"/>
            <a:ext cx="2630424" cy="1371600"/>
          </a:xfrm>
          <a:prstGeom prst="rect">
            <a:avLst/>
          </a:prstGeom>
          <a:noFill/>
        </p:spPr>
        <p:txBody>
          <a:bodyPr wrap="square" anchor="ctr">
            <a:spAutoFit/>
          </a:bodyPr>
          <a:lstStyle/>
          <a:p>
            <a:pPr algn="ctr">
              <a:spcAft>
                <a:spcPts val="400"/>
              </a:spcAft>
            </a:pPr>
            <a:r>
              <a:rPr sz="1500" b="1">
                <a:solidFill>
                  <a:srgbClr val="9CDCFE"/>
                </a:solidFill>
                <a:latin typeface="Arial"/>
              </a:rPr>
              <a:t>|ψ⟩ = α|0⟩ + β|1⟩</a:t>
            </a:r>
          </a:p>
        </p:txBody>
      </p:sp>
      <p:sp>
        <p:nvSpPr>
          <p:cNvPr id="12" name="TextBox 11"/>
          <p:cNvSpPr txBox="1"/>
          <p:nvPr/>
        </p:nvSpPr>
        <p:spPr>
          <a:xfrm>
            <a:off x="1033272" y="4297680"/>
            <a:ext cx="2849880" cy="1645920"/>
          </a:xfrm>
          <a:prstGeom prst="rect">
            <a:avLst/>
          </a:prstGeom>
          <a:noFill/>
        </p:spPr>
        <p:txBody>
          <a:bodyPr wrap="square" anchor="t">
            <a:spAutoFit/>
          </a:bodyPr>
          <a:lstStyle/>
          <a:p>
            <a:pPr algn="l">
              <a:spcAft>
                <a:spcPts val="400"/>
              </a:spcAft>
            </a:pPr>
            <a:r>
              <a:rPr sz="1250" b="0">
                <a:solidFill>
                  <a:srgbClr val="5B6372"/>
                </a:solidFill>
                <a:latin typeface="Arial"/>
              </a:rPr>
              <a:t>A qubit is a unit vector in a 2-dimensional Hilbert space, with |α|² + |β|² = 1.</a:t>
            </a:r>
          </a:p>
        </p:txBody>
      </p:sp>
      <p:sp>
        <p:nvSpPr>
          <p:cNvPr id="13" name="Rectangle 12"/>
          <p:cNvSpPr/>
          <p:nvPr/>
        </p:nvSpPr>
        <p:spPr>
          <a:xfrm>
            <a:off x="4413504" y="1783080"/>
            <a:ext cx="336194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78308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011680"/>
            <a:ext cx="2849880" cy="640080"/>
          </a:xfrm>
          <a:prstGeom prst="rect">
            <a:avLst/>
          </a:prstGeom>
          <a:noFill/>
        </p:spPr>
        <p:txBody>
          <a:bodyPr wrap="square" anchor="t">
            <a:spAutoFit/>
          </a:bodyPr>
          <a:lstStyle/>
          <a:p>
            <a:pPr algn="l">
              <a:spcAft>
                <a:spcPts val="400"/>
              </a:spcAft>
            </a:pPr>
            <a:r>
              <a:rPr sz="1600" b="1">
                <a:solidFill>
                  <a:srgbClr val="10B981"/>
                </a:solidFill>
                <a:latin typeface="Arial"/>
              </a:rPr>
              <a:t>Unitary operator</a:t>
            </a:r>
          </a:p>
        </p:txBody>
      </p:sp>
      <p:sp>
        <p:nvSpPr>
          <p:cNvPr id="16" name="Rectangle 15"/>
          <p:cNvSpPr/>
          <p:nvPr/>
        </p:nvSpPr>
        <p:spPr>
          <a:xfrm>
            <a:off x="4669536" y="2743200"/>
            <a:ext cx="2849880"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79264" y="2743200"/>
            <a:ext cx="2630424" cy="1371600"/>
          </a:xfrm>
          <a:prstGeom prst="rect">
            <a:avLst/>
          </a:prstGeom>
          <a:noFill/>
        </p:spPr>
        <p:txBody>
          <a:bodyPr wrap="square" anchor="ctr">
            <a:spAutoFit/>
          </a:bodyPr>
          <a:lstStyle/>
          <a:p>
            <a:pPr algn="ctr">
              <a:spcAft>
                <a:spcPts val="400"/>
              </a:spcAft>
            </a:pPr>
            <a:r>
              <a:rPr sz="1500" b="1">
                <a:solidFill>
                  <a:srgbClr val="9CDCFE"/>
                </a:solidFill>
                <a:latin typeface="Arial"/>
              </a:rPr>
              <a:t>U†U = I</a:t>
            </a:r>
          </a:p>
        </p:txBody>
      </p:sp>
      <p:sp>
        <p:nvSpPr>
          <p:cNvPr id="18" name="TextBox 17"/>
          <p:cNvSpPr txBox="1"/>
          <p:nvPr/>
        </p:nvSpPr>
        <p:spPr>
          <a:xfrm>
            <a:off x="4669536" y="4297680"/>
            <a:ext cx="2849880" cy="1645920"/>
          </a:xfrm>
          <a:prstGeom prst="rect">
            <a:avLst/>
          </a:prstGeom>
          <a:noFill/>
        </p:spPr>
        <p:txBody>
          <a:bodyPr wrap="square" anchor="t">
            <a:spAutoFit/>
          </a:bodyPr>
          <a:lstStyle/>
          <a:p>
            <a:pPr algn="l">
              <a:spcAft>
                <a:spcPts val="400"/>
              </a:spcAft>
            </a:pPr>
            <a:r>
              <a:rPr sz="1250" b="0">
                <a:solidFill>
                  <a:srgbClr val="5B6372"/>
                </a:solidFill>
                <a:latin typeface="Arial"/>
              </a:rPr>
              <a:t>Every quantum gate is unitary — reversible, and probability-preserving.</a:t>
            </a:r>
          </a:p>
        </p:txBody>
      </p:sp>
      <p:sp>
        <p:nvSpPr>
          <p:cNvPr id="19" name="Rectangle 18"/>
          <p:cNvSpPr/>
          <p:nvPr/>
        </p:nvSpPr>
        <p:spPr>
          <a:xfrm>
            <a:off x="8049768" y="1783080"/>
            <a:ext cx="336194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783080"/>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05800" y="2011680"/>
            <a:ext cx="2849880" cy="640080"/>
          </a:xfrm>
          <a:prstGeom prst="rect">
            <a:avLst/>
          </a:prstGeom>
          <a:noFill/>
        </p:spPr>
        <p:txBody>
          <a:bodyPr wrap="square" anchor="t">
            <a:spAutoFit/>
          </a:bodyPr>
          <a:lstStyle/>
          <a:p>
            <a:pPr algn="l">
              <a:spcAft>
                <a:spcPts val="400"/>
              </a:spcAft>
            </a:pPr>
            <a:r>
              <a:rPr sz="1600" b="1">
                <a:solidFill>
                  <a:srgbClr val="7C3AED"/>
                </a:solidFill>
                <a:latin typeface="Arial"/>
              </a:rPr>
              <a:t>Hermitian operator</a:t>
            </a:r>
          </a:p>
        </p:txBody>
      </p:sp>
      <p:sp>
        <p:nvSpPr>
          <p:cNvPr id="22" name="Rectangle 21"/>
          <p:cNvSpPr/>
          <p:nvPr/>
        </p:nvSpPr>
        <p:spPr>
          <a:xfrm>
            <a:off x="8305800" y="2743200"/>
            <a:ext cx="2849880"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5528" y="2743200"/>
            <a:ext cx="2630424" cy="1371600"/>
          </a:xfrm>
          <a:prstGeom prst="rect">
            <a:avLst/>
          </a:prstGeom>
          <a:noFill/>
        </p:spPr>
        <p:txBody>
          <a:bodyPr wrap="square" anchor="ctr">
            <a:spAutoFit/>
          </a:bodyPr>
          <a:lstStyle/>
          <a:p>
            <a:pPr algn="ctr">
              <a:spcAft>
                <a:spcPts val="400"/>
              </a:spcAft>
            </a:pPr>
            <a:r>
              <a:rPr sz="1500" b="1">
                <a:solidFill>
                  <a:srgbClr val="9CDCFE"/>
                </a:solidFill>
                <a:latin typeface="Arial"/>
              </a:rPr>
              <a:t>A† = A</a:t>
            </a:r>
          </a:p>
        </p:txBody>
      </p:sp>
      <p:sp>
        <p:nvSpPr>
          <p:cNvPr id="24" name="TextBox 23"/>
          <p:cNvSpPr txBox="1"/>
          <p:nvPr/>
        </p:nvSpPr>
        <p:spPr>
          <a:xfrm>
            <a:off x="8305800" y="4297680"/>
            <a:ext cx="2849880" cy="1645920"/>
          </a:xfrm>
          <a:prstGeom prst="rect">
            <a:avLst/>
          </a:prstGeom>
          <a:noFill/>
        </p:spPr>
        <p:txBody>
          <a:bodyPr wrap="square" anchor="t">
            <a:spAutoFit/>
          </a:bodyPr>
          <a:lstStyle/>
          <a:p>
            <a:pPr algn="l">
              <a:spcAft>
                <a:spcPts val="400"/>
              </a:spcAft>
            </a:pPr>
            <a:r>
              <a:rPr sz="1250" b="0">
                <a:solidFill>
                  <a:srgbClr val="5B6372"/>
                </a:solidFill>
                <a:latin typeface="Arial"/>
              </a:rPr>
              <a:t>Observables are Hermitian, which guarantees real measured eigenvalues.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BRA-KET NOTATION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Dirac Notation at a Glance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011680"/>
            <a:ext cx="2849880" cy="640080"/>
          </a:xfrm>
          <a:prstGeom prst="rect">
            <a:avLst/>
          </a:prstGeom>
          <a:noFill/>
        </p:spPr>
        <p:txBody>
          <a:bodyPr wrap="square" anchor="t">
            <a:spAutoFit/>
          </a:bodyPr>
          <a:lstStyle/>
          <a:p>
            <a:pPr algn="l">
              <a:spcAft>
                <a:spcPts val="400"/>
              </a:spcAft>
            </a:pPr>
            <a:r>
              <a:rPr sz="1600" b="1">
                <a:solidFill>
                  <a:srgbClr val="1F6FEB"/>
                </a:solidFill>
                <a:latin typeface="Arial"/>
              </a:rPr>
              <a:t>Ket / Bra</a:t>
            </a:r>
          </a:p>
        </p:txBody>
      </p:sp>
      <p:sp>
        <p:nvSpPr>
          <p:cNvPr id="10" name="Rectangle 9"/>
          <p:cNvSpPr/>
          <p:nvPr/>
        </p:nvSpPr>
        <p:spPr>
          <a:xfrm>
            <a:off x="1033272" y="2743200"/>
            <a:ext cx="2849880"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2743200"/>
            <a:ext cx="2630424" cy="1371600"/>
          </a:xfrm>
          <a:prstGeom prst="rect">
            <a:avLst/>
          </a:prstGeom>
          <a:noFill/>
        </p:spPr>
        <p:txBody>
          <a:bodyPr wrap="square" anchor="ctr">
            <a:spAutoFit/>
          </a:bodyPr>
          <a:lstStyle/>
          <a:p>
            <a:pPr algn="ctr">
              <a:spcAft>
                <a:spcPts val="400"/>
              </a:spcAft>
            </a:pPr>
            <a:r>
              <a:rPr sz="1500" b="1">
                <a:solidFill>
                  <a:srgbClr val="9CDCFE"/>
                </a:solidFill>
                <a:latin typeface="Arial"/>
              </a:rPr>
              <a:t>|ψ⟩   and   ⟨ψ|</a:t>
            </a:r>
          </a:p>
        </p:txBody>
      </p:sp>
      <p:sp>
        <p:nvSpPr>
          <p:cNvPr id="12" name="TextBox 11"/>
          <p:cNvSpPr txBox="1"/>
          <p:nvPr/>
        </p:nvSpPr>
        <p:spPr>
          <a:xfrm>
            <a:off x="1033272" y="4297680"/>
            <a:ext cx="2849880" cy="1645920"/>
          </a:xfrm>
          <a:prstGeom prst="rect">
            <a:avLst/>
          </a:prstGeom>
          <a:noFill/>
        </p:spPr>
        <p:txBody>
          <a:bodyPr wrap="square" anchor="t">
            <a:spAutoFit/>
          </a:bodyPr>
          <a:lstStyle/>
          <a:p>
            <a:pPr algn="l">
              <a:spcAft>
                <a:spcPts val="400"/>
              </a:spcAft>
            </a:pPr>
            <a:r>
              <a:rPr sz="1250" b="0">
                <a:solidFill>
                  <a:srgbClr val="5B6372"/>
                </a:solidFill>
                <a:latin typeface="Arial"/>
              </a:rPr>
              <a:t>A ket is a column vector; a bra is its conjugate transpose (row vector).</a:t>
            </a:r>
          </a:p>
        </p:txBody>
      </p:sp>
      <p:sp>
        <p:nvSpPr>
          <p:cNvPr id="13" name="Rectangle 12"/>
          <p:cNvSpPr/>
          <p:nvPr/>
        </p:nvSpPr>
        <p:spPr>
          <a:xfrm>
            <a:off x="4413504" y="1783080"/>
            <a:ext cx="336194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78308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011680"/>
            <a:ext cx="2849880" cy="640080"/>
          </a:xfrm>
          <a:prstGeom prst="rect">
            <a:avLst/>
          </a:prstGeom>
          <a:noFill/>
        </p:spPr>
        <p:txBody>
          <a:bodyPr wrap="square" anchor="t">
            <a:spAutoFit/>
          </a:bodyPr>
          <a:lstStyle/>
          <a:p>
            <a:pPr algn="l">
              <a:spcAft>
                <a:spcPts val="400"/>
              </a:spcAft>
            </a:pPr>
            <a:r>
              <a:rPr sz="1600" b="1">
                <a:solidFill>
                  <a:srgbClr val="10B981"/>
                </a:solidFill>
                <a:latin typeface="Arial"/>
              </a:rPr>
              <a:t>Inner product</a:t>
            </a:r>
          </a:p>
        </p:txBody>
      </p:sp>
      <p:sp>
        <p:nvSpPr>
          <p:cNvPr id="16" name="Rectangle 15"/>
          <p:cNvSpPr/>
          <p:nvPr/>
        </p:nvSpPr>
        <p:spPr>
          <a:xfrm>
            <a:off x="4669536" y="2743200"/>
            <a:ext cx="2849880"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79264" y="2743200"/>
            <a:ext cx="2630424" cy="1371600"/>
          </a:xfrm>
          <a:prstGeom prst="rect">
            <a:avLst/>
          </a:prstGeom>
          <a:noFill/>
        </p:spPr>
        <p:txBody>
          <a:bodyPr wrap="square" anchor="ctr">
            <a:spAutoFit/>
          </a:bodyPr>
          <a:lstStyle/>
          <a:p>
            <a:pPr algn="ctr">
              <a:spcAft>
                <a:spcPts val="400"/>
              </a:spcAft>
            </a:pPr>
            <a:r>
              <a:rPr sz="1500" b="1">
                <a:solidFill>
                  <a:srgbClr val="9CDCFE"/>
                </a:solidFill>
                <a:latin typeface="Arial"/>
              </a:rPr>
              <a:t>⟨φ|ψ⟩</a:t>
            </a:r>
          </a:p>
        </p:txBody>
      </p:sp>
      <p:sp>
        <p:nvSpPr>
          <p:cNvPr id="18" name="TextBox 17"/>
          <p:cNvSpPr txBox="1"/>
          <p:nvPr/>
        </p:nvSpPr>
        <p:spPr>
          <a:xfrm>
            <a:off x="4669536" y="4297680"/>
            <a:ext cx="2849880" cy="1645920"/>
          </a:xfrm>
          <a:prstGeom prst="rect">
            <a:avLst/>
          </a:prstGeom>
          <a:noFill/>
        </p:spPr>
        <p:txBody>
          <a:bodyPr wrap="square" anchor="t">
            <a:spAutoFit/>
          </a:bodyPr>
          <a:lstStyle/>
          <a:p>
            <a:pPr algn="l">
              <a:spcAft>
                <a:spcPts val="400"/>
              </a:spcAft>
            </a:pPr>
            <a:r>
              <a:rPr sz="1250" b="0">
                <a:solidFill>
                  <a:srgbClr val="5B6372"/>
                </a:solidFill>
                <a:latin typeface="Arial"/>
              </a:rPr>
              <a:t>A single complex number — the overlap, or probability amplitude, between two states.</a:t>
            </a:r>
          </a:p>
        </p:txBody>
      </p:sp>
      <p:sp>
        <p:nvSpPr>
          <p:cNvPr id="19" name="Rectangle 18"/>
          <p:cNvSpPr/>
          <p:nvPr/>
        </p:nvSpPr>
        <p:spPr>
          <a:xfrm>
            <a:off x="8049768" y="1783080"/>
            <a:ext cx="336194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783080"/>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05800" y="2011680"/>
            <a:ext cx="2849880" cy="640080"/>
          </a:xfrm>
          <a:prstGeom prst="rect">
            <a:avLst/>
          </a:prstGeom>
          <a:noFill/>
        </p:spPr>
        <p:txBody>
          <a:bodyPr wrap="square" anchor="t">
            <a:spAutoFit/>
          </a:bodyPr>
          <a:lstStyle/>
          <a:p>
            <a:pPr algn="l">
              <a:spcAft>
                <a:spcPts val="400"/>
              </a:spcAft>
            </a:pPr>
            <a:r>
              <a:rPr sz="1600" b="1">
                <a:solidFill>
                  <a:srgbClr val="7C3AED"/>
                </a:solidFill>
                <a:latin typeface="Arial"/>
              </a:rPr>
              <a:t>Born rule</a:t>
            </a:r>
          </a:p>
        </p:txBody>
      </p:sp>
      <p:sp>
        <p:nvSpPr>
          <p:cNvPr id="22" name="Rectangle 21"/>
          <p:cNvSpPr/>
          <p:nvPr/>
        </p:nvSpPr>
        <p:spPr>
          <a:xfrm>
            <a:off x="8305800" y="2743200"/>
            <a:ext cx="2849880"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5528" y="2743200"/>
            <a:ext cx="2630424" cy="1371600"/>
          </a:xfrm>
          <a:prstGeom prst="rect">
            <a:avLst/>
          </a:prstGeom>
          <a:noFill/>
        </p:spPr>
        <p:txBody>
          <a:bodyPr wrap="square" anchor="ctr">
            <a:spAutoFit/>
          </a:bodyPr>
          <a:lstStyle/>
          <a:p>
            <a:pPr algn="ctr">
              <a:spcAft>
                <a:spcPts val="400"/>
              </a:spcAft>
            </a:pPr>
            <a:r>
              <a:rPr sz="1500" b="1">
                <a:solidFill>
                  <a:srgbClr val="9CDCFE"/>
                </a:solidFill>
                <a:latin typeface="Arial"/>
              </a:rPr>
              <a:t>P(x) = |⟨x|ψ⟩|²</a:t>
            </a:r>
          </a:p>
        </p:txBody>
      </p:sp>
      <p:sp>
        <p:nvSpPr>
          <p:cNvPr id="24" name="TextBox 23"/>
          <p:cNvSpPr txBox="1"/>
          <p:nvPr/>
        </p:nvSpPr>
        <p:spPr>
          <a:xfrm>
            <a:off x="8305800" y="4297680"/>
            <a:ext cx="2849880" cy="1645920"/>
          </a:xfrm>
          <a:prstGeom prst="rect">
            <a:avLst/>
          </a:prstGeom>
          <a:noFill/>
        </p:spPr>
        <p:txBody>
          <a:bodyPr wrap="square" anchor="t">
            <a:spAutoFit/>
          </a:bodyPr>
          <a:lstStyle/>
          <a:p>
            <a:pPr algn="l">
              <a:spcAft>
                <a:spcPts val="400"/>
              </a:spcAft>
            </a:pPr>
            <a:r>
              <a:rPr sz="1250" b="0">
                <a:solidFill>
                  <a:srgbClr val="5B6372"/>
                </a:solidFill>
                <a:latin typeface="Arial"/>
              </a:rPr>
              <a:t>The probability of measuring outcome x is the squared magnitude of the amplitude.</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AXIOMS OF QUANTUM MECHANICS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Five Postulates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744413"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74519"/>
            <a:ext cx="470093" cy="475488"/>
          </a:xfrm>
          <a:prstGeom prst="rect">
            <a:avLst/>
          </a:prstGeom>
          <a:noFill/>
        </p:spPr>
        <p:txBody>
          <a:bodyPr wrap="square" anchor="ctr">
            <a:spAutoFit/>
          </a:bodyPr>
          <a:lstStyle/>
          <a:p>
            <a:pPr algn="l">
              <a:spcAft>
                <a:spcPts val="400"/>
              </a:spcAft>
            </a:pPr>
            <a:r>
              <a:rPr sz="1300" b="1">
                <a:solidFill>
                  <a:srgbClr val="FFFFFF"/>
                </a:solidFill>
                <a:latin typeface="Arial"/>
              </a:rPr>
              <a:t>#</a:t>
            </a:r>
          </a:p>
        </p:txBody>
      </p:sp>
      <p:sp>
        <p:nvSpPr>
          <p:cNvPr id="9" name="Rectangle 8"/>
          <p:cNvSpPr/>
          <p:nvPr/>
        </p:nvSpPr>
        <p:spPr>
          <a:xfrm>
            <a:off x="1521653" y="1874519"/>
            <a:ext cx="2445928"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8813" y="1874519"/>
            <a:ext cx="2171608" cy="475488"/>
          </a:xfrm>
          <a:prstGeom prst="rect">
            <a:avLst/>
          </a:prstGeom>
          <a:noFill/>
        </p:spPr>
        <p:txBody>
          <a:bodyPr wrap="square" anchor="ctr">
            <a:spAutoFit/>
          </a:bodyPr>
          <a:lstStyle/>
          <a:p>
            <a:pPr algn="l">
              <a:spcAft>
                <a:spcPts val="400"/>
              </a:spcAft>
            </a:pPr>
            <a:r>
              <a:rPr sz="1300" b="1">
                <a:solidFill>
                  <a:srgbClr val="FFFFFF"/>
                </a:solidFill>
                <a:latin typeface="Arial"/>
              </a:rPr>
              <a:t>Postulate</a:t>
            </a:r>
          </a:p>
        </p:txBody>
      </p:sp>
      <p:sp>
        <p:nvSpPr>
          <p:cNvPr id="11" name="Rectangle 10"/>
          <p:cNvSpPr/>
          <p:nvPr/>
        </p:nvSpPr>
        <p:spPr>
          <a:xfrm>
            <a:off x="3967581" y="1874519"/>
            <a:ext cx="744413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04741" y="1874519"/>
            <a:ext cx="7169810" cy="475488"/>
          </a:xfrm>
          <a:prstGeom prst="rect">
            <a:avLst/>
          </a:prstGeom>
          <a:noFill/>
        </p:spPr>
        <p:txBody>
          <a:bodyPr wrap="square" anchor="ctr">
            <a:spAutoFit/>
          </a:bodyPr>
          <a:lstStyle/>
          <a:p>
            <a:pPr algn="l">
              <a:spcAft>
                <a:spcPts val="400"/>
              </a:spcAft>
            </a:pPr>
            <a:r>
              <a:rPr sz="1300" b="1">
                <a:solidFill>
                  <a:srgbClr val="FFFFFF"/>
                </a:solidFill>
                <a:latin typeface="Arial"/>
              </a:rPr>
              <a:t>What it says</a:t>
            </a:r>
          </a:p>
        </p:txBody>
      </p:sp>
      <p:sp>
        <p:nvSpPr>
          <p:cNvPr id="13" name="Rectangle 12"/>
          <p:cNvSpPr/>
          <p:nvPr/>
        </p:nvSpPr>
        <p:spPr>
          <a:xfrm>
            <a:off x="777240" y="2350007"/>
            <a:ext cx="744413"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350007"/>
            <a:ext cx="470093" cy="475488"/>
          </a:xfrm>
          <a:prstGeom prst="rect">
            <a:avLst/>
          </a:prstGeom>
          <a:noFill/>
        </p:spPr>
        <p:txBody>
          <a:bodyPr wrap="square" anchor="ctr">
            <a:spAutoFit/>
          </a:bodyPr>
          <a:lstStyle/>
          <a:p>
            <a:pPr algn="l">
              <a:spcAft>
                <a:spcPts val="400"/>
              </a:spcAft>
            </a:pPr>
            <a:r>
              <a:rPr sz="1200" b="1">
                <a:solidFill>
                  <a:srgbClr val="161B26"/>
                </a:solidFill>
                <a:latin typeface="Arial"/>
              </a:rPr>
              <a:t>1</a:t>
            </a:r>
          </a:p>
        </p:txBody>
      </p:sp>
      <p:sp>
        <p:nvSpPr>
          <p:cNvPr id="15" name="Rectangle 14"/>
          <p:cNvSpPr/>
          <p:nvPr/>
        </p:nvSpPr>
        <p:spPr>
          <a:xfrm>
            <a:off x="1521653" y="2350007"/>
            <a:ext cx="2445928"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658813" y="2350007"/>
            <a:ext cx="2171608" cy="475488"/>
          </a:xfrm>
          <a:prstGeom prst="rect">
            <a:avLst/>
          </a:prstGeom>
          <a:noFill/>
        </p:spPr>
        <p:txBody>
          <a:bodyPr wrap="square" anchor="ctr">
            <a:spAutoFit/>
          </a:bodyPr>
          <a:lstStyle/>
          <a:p>
            <a:pPr algn="l">
              <a:spcAft>
                <a:spcPts val="400"/>
              </a:spcAft>
            </a:pPr>
            <a:r>
              <a:rPr sz="1200" b="0">
                <a:solidFill>
                  <a:srgbClr val="161B26"/>
                </a:solidFill>
                <a:latin typeface="Arial"/>
              </a:rPr>
              <a:t>State space</a:t>
            </a:r>
          </a:p>
        </p:txBody>
      </p:sp>
      <p:sp>
        <p:nvSpPr>
          <p:cNvPr id="17" name="Rectangle 16"/>
          <p:cNvSpPr/>
          <p:nvPr/>
        </p:nvSpPr>
        <p:spPr>
          <a:xfrm>
            <a:off x="3967581" y="2350007"/>
            <a:ext cx="7444130"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04741" y="2350007"/>
            <a:ext cx="7169810" cy="475488"/>
          </a:xfrm>
          <a:prstGeom prst="rect">
            <a:avLst/>
          </a:prstGeom>
          <a:noFill/>
        </p:spPr>
        <p:txBody>
          <a:bodyPr wrap="square" anchor="ctr">
            <a:spAutoFit/>
          </a:bodyPr>
          <a:lstStyle/>
          <a:p>
            <a:pPr algn="l">
              <a:spcAft>
                <a:spcPts val="400"/>
              </a:spcAft>
            </a:pPr>
            <a:r>
              <a:rPr sz="1200" b="0">
                <a:solidFill>
                  <a:srgbClr val="161B26"/>
                </a:solidFill>
                <a:latin typeface="Arial"/>
              </a:rPr>
              <a:t>A system's state is a unit vector in a complex Hilbert space.</a:t>
            </a:r>
          </a:p>
        </p:txBody>
      </p:sp>
      <p:sp>
        <p:nvSpPr>
          <p:cNvPr id="19" name="Rectangle 18"/>
          <p:cNvSpPr/>
          <p:nvPr/>
        </p:nvSpPr>
        <p:spPr>
          <a:xfrm>
            <a:off x="777240" y="2825495"/>
            <a:ext cx="744413"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825495"/>
            <a:ext cx="470093" cy="475488"/>
          </a:xfrm>
          <a:prstGeom prst="rect">
            <a:avLst/>
          </a:prstGeom>
          <a:noFill/>
        </p:spPr>
        <p:txBody>
          <a:bodyPr wrap="square" anchor="ctr">
            <a:spAutoFit/>
          </a:bodyPr>
          <a:lstStyle/>
          <a:p>
            <a:pPr algn="l">
              <a:spcAft>
                <a:spcPts val="400"/>
              </a:spcAft>
            </a:pPr>
            <a:r>
              <a:rPr sz="1200" b="1">
                <a:solidFill>
                  <a:srgbClr val="161B26"/>
                </a:solidFill>
                <a:latin typeface="Arial"/>
              </a:rPr>
              <a:t>2</a:t>
            </a:r>
          </a:p>
        </p:txBody>
      </p:sp>
      <p:sp>
        <p:nvSpPr>
          <p:cNvPr id="21" name="Rectangle 20"/>
          <p:cNvSpPr/>
          <p:nvPr/>
        </p:nvSpPr>
        <p:spPr>
          <a:xfrm>
            <a:off x="1521653" y="2825495"/>
            <a:ext cx="2445928"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658813" y="2825495"/>
            <a:ext cx="2171608" cy="475488"/>
          </a:xfrm>
          <a:prstGeom prst="rect">
            <a:avLst/>
          </a:prstGeom>
          <a:noFill/>
        </p:spPr>
        <p:txBody>
          <a:bodyPr wrap="square" anchor="ctr">
            <a:spAutoFit/>
          </a:bodyPr>
          <a:lstStyle/>
          <a:p>
            <a:pPr algn="l">
              <a:spcAft>
                <a:spcPts val="400"/>
              </a:spcAft>
            </a:pPr>
            <a:r>
              <a:rPr sz="1200" b="0">
                <a:solidFill>
                  <a:srgbClr val="161B26"/>
                </a:solidFill>
                <a:latin typeface="Arial"/>
              </a:rPr>
              <a:t>Time evolution</a:t>
            </a:r>
          </a:p>
        </p:txBody>
      </p:sp>
      <p:sp>
        <p:nvSpPr>
          <p:cNvPr id="23" name="Rectangle 22"/>
          <p:cNvSpPr/>
          <p:nvPr/>
        </p:nvSpPr>
        <p:spPr>
          <a:xfrm>
            <a:off x="3967581" y="2825495"/>
            <a:ext cx="744413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04741" y="2825495"/>
            <a:ext cx="7169810" cy="475488"/>
          </a:xfrm>
          <a:prstGeom prst="rect">
            <a:avLst/>
          </a:prstGeom>
          <a:noFill/>
        </p:spPr>
        <p:txBody>
          <a:bodyPr wrap="square" anchor="ctr">
            <a:spAutoFit/>
          </a:bodyPr>
          <a:lstStyle/>
          <a:p>
            <a:pPr algn="l">
              <a:spcAft>
                <a:spcPts val="400"/>
              </a:spcAft>
            </a:pPr>
            <a:r>
              <a:rPr sz="1200" b="0">
                <a:solidFill>
                  <a:srgbClr val="161B26"/>
                </a:solidFill>
                <a:latin typeface="Arial"/>
              </a:rPr>
              <a:t>A closed system evolves by a unitary operator: |ψ'⟩ = U|ψ⟩.</a:t>
            </a:r>
          </a:p>
        </p:txBody>
      </p:sp>
      <p:sp>
        <p:nvSpPr>
          <p:cNvPr id="25" name="Rectangle 24"/>
          <p:cNvSpPr/>
          <p:nvPr/>
        </p:nvSpPr>
        <p:spPr>
          <a:xfrm>
            <a:off x="777240" y="3300983"/>
            <a:ext cx="744413"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3300983"/>
            <a:ext cx="470093" cy="475488"/>
          </a:xfrm>
          <a:prstGeom prst="rect">
            <a:avLst/>
          </a:prstGeom>
          <a:noFill/>
        </p:spPr>
        <p:txBody>
          <a:bodyPr wrap="square" anchor="ctr">
            <a:spAutoFit/>
          </a:bodyPr>
          <a:lstStyle/>
          <a:p>
            <a:pPr algn="l">
              <a:spcAft>
                <a:spcPts val="400"/>
              </a:spcAft>
            </a:pPr>
            <a:r>
              <a:rPr sz="1200" b="1">
                <a:solidFill>
                  <a:srgbClr val="161B26"/>
                </a:solidFill>
                <a:latin typeface="Arial"/>
              </a:rPr>
              <a:t>3</a:t>
            </a:r>
          </a:p>
        </p:txBody>
      </p:sp>
      <p:sp>
        <p:nvSpPr>
          <p:cNvPr id="27" name="Rectangle 26"/>
          <p:cNvSpPr/>
          <p:nvPr/>
        </p:nvSpPr>
        <p:spPr>
          <a:xfrm>
            <a:off x="1521653" y="3300983"/>
            <a:ext cx="2445928"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658813" y="3300983"/>
            <a:ext cx="2171608" cy="475488"/>
          </a:xfrm>
          <a:prstGeom prst="rect">
            <a:avLst/>
          </a:prstGeom>
          <a:noFill/>
        </p:spPr>
        <p:txBody>
          <a:bodyPr wrap="square" anchor="ctr">
            <a:spAutoFit/>
          </a:bodyPr>
          <a:lstStyle/>
          <a:p>
            <a:pPr algn="l">
              <a:spcAft>
                <a:spcPts val="400"/>
              </a:spcAft>
            </a:pPr>
            <a:r>
              <a:rPr sz="1200" b="0">
                <a:solidFill>
                  <a:srgbClr val="161B26"/>
                </a:solidFill>
                <a:latin typeface="Arial"/>
              </a:rPr>
              <a:t>Observables</a:t>
            </a:r>
          </a:p>
        </p:txBody>
      </p:sp>
      <p:sp>
        <p:nvSpPr>
          <p:cNvPr id="29" name="Rectangle 28"/>
          <p:cNvSpPr/>
          <p:nvPr/>
        </p:nvSpPr>
        <p:spPr>
          <a:xfrm>
            <a:off x="3967581" y="3300983"/>
            <a:ext cx="7444130"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04741" y="3300983"/>
            <a:ext cx="7169810" cy="475488"/>
          </a:xfrm>
          <a:prstGeom prst="rect">
            <a:avLst/>
          </a:prstGeom>
          <a:noFill/>
        </p:spPr>
        <p:txBody>
          <a:bodyPr wrap="square" anchor="ctr">
            <a:spAutoFit/>
          </a:bodyPr>
          <a:lstStyle/>
          <a:p>
            <a:pPr algn="l">
              <a:spcAft>
                <a:spcPts val="400"/>
              </a:spcAft>
            </a:pPr>
            <a:r>
              <a:rPr sz="1200" b="0">
                <a:solidFill>
                  <a:srgbClr val="161B26"/>
                </a:solidFill>
                <a:latin typeface="Arial"/>
              </a:rPr>
              <a:t>Measurable quantities are Hermitian operators with real eigenvalues.</a:t>
            </a:r>
          </a:p>
        </p:txBody>
      </p:sp>
      <p:sp>
        <p:nvSpPr>
          <p:cNvPr id="31" name="Rectangle 30"/>
          <p:cNvSpPr/>
          <p:nvPr/>
        </p:nvSpPr>
        <p:spPr>
          <a:xfrm>
            <a:off x="777240" y="3776471"/>
            <a:ext cx="744413"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776471"/>
            <a:ext cx="470093" cy="475488"/>
          </a:xfrm>
          <a:prstGeom prst="rect">
            <a:avLst/>
          </a:prstGeom>
          <a:noFill/>
        </p:spPr>
        <p:txBody>
          <a:bodyPr wrap="square" anchor="ctr">
            <a:spAutoFit/>
          </a:bodyPr>
          <a:lstStyle/>
          <a:p>
            <a:pPr algn="l">
              <a:spcAft>
                <a:spcPts val="400"/>
              </a:spcAft>
            </a:pPr>
            <a:r>
              <a:rPr sz="1200" b="1">
                <a:solidFill>
                  <a:srgbClr val="161B26"/>
                </a:solidFill>
                <a:latin typeface="Arial"/>
              </a:rPr>
              <a:t>4</a:t>
            </a:r>
          </a:p>
        </p:txBody>
      </p:sp>
      <p:sp>
        <p:nvSpPr>
          <p:cNvPr id="33" name="Rectangle 32"/>
          <p:cNvSpPr/>
          <p:nvPr/>
        </p:nvSpPr>
        <p:spPr>
          <a:xfrm>
            <a:off x="1521653" y="3776471"/>
            <a:ext cx="2445928"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58813" y="3776471"/>
            <a:ext cx="2171608" cy="475488"/>
          </a:xfrm>
          <a:prstGeom prst="rect">
            <a:avLst/>
          </a:prstGeom>
          <a:noFill/>
        </p:spPr>
        <p:txBody>
          <a:bodyPr wrap="square" anchor="ctr">
            <a:spAutoFit/>
          </a:bodyPr>
          <a:lstStyle/>
          <a:p>
            <a:pPr algn="l">
              <a:spcAft>
                <a:spcPts val="400"/>
              </a:spcAft>
            </a:pPr>
            <a:r>
              <a:rPr sz="1200" b="0">
                <a:solidFill>
                  <a:srgbClr val="161B26"/>
                </a:solidFill>
                <a:latin typeface="Arial"/>
              </a:rPr>
              <a:t>Born rule</a:t>
            </a:r>
          </a:p>
        </p:txBody>
      </p:sp>
      <p:sp>
        <p:nvSpPr>
          <p:cNvPr id="35" name="Rectangle 34"/>
          <p:cNvSpPr/>
          <p:nvPr/>
        </p:nvSpPr>
        <p:spPr>
          <a:xfrm>
            <a:off x="3967581" y="3776471"/>
            <a:ext cx="744413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04741" y="3776471"/>
            <a:ext cx="7169810" cy="475488"/>
          </a:xfrm>
          <a:prstGeom prst="rect">
            <a:avLst/>
          </a:prstGeom>
          <a:noFill/>
        </p:spPr>
        <p:txBody>
          <a:bodyPr wrap="square" anchor="ctr">
            <a:spAutoFit/>
          </a:bodyPr>
          <a:lstStyle/>
          <a:p>
            <a:pPr algn="l">
              <a:spcAft>
                <a:spcPts val="400"/>
              </a:spcAft>
            </a:pPr>
            <a:r>
              <a:rPr sz="1200" b="0">
                <a:solidFill>
                  <a:srgbClr val="161B26"/>
                </a:solidFill>
                <a:latin typeface="Arial"/>
              </a:rPr>
              <a:t>The probability of an outcome is the squared amplitude.</a:t>
            </a:r>
          </a:p>
        </p:txBody>
      </p:sp>
      <p:sp>
        <p:nvSpPr>
          <p:cNvPr id="37" name="Rectangle 36"/>
          <p:cNvSpPr/>
          <p:nvPr/>
        </p:nvSpPr>
        <p:spPr>
          <a:xfrm>
            <a:off x="777240" y="4251959"/>
            <a:ext cx="744413"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4251959"/>
            <a:ext cx="470093" cy="475488"/>
          </a:xfrm>
          <a:prstGeom prst="rect">
            <a:avLst/>
          </a:prstGeom>
          <a:noFill/>
        </p:spPr>
        <p:txBody>
          <a:bodyPr wrap="square" anchor="ctr">
            <a:spAutoFit/>
          </a:bodyPr>
          <a:lstStyle/>
          <a:p>
            <a:pPr algn="l">
              <a:spcAft>
                <a:spcPts val="400"/>
              </a:spcAft>
            </a:pPr>
            <a:r>
              <a:rPr sz="1200" b="1">
                <a:solidFill>
                  <a:srgbClr val="161B26"/>
                </a:solidFill>
                <a:latin typeface="Arial"/>
              </a:rPr>
              <a:t>5</a:t>
            </a:r>
          </a:p>
        </p:txBody>
      </p:sp>
      <p:sp>
        <p:nvSpPr>
          <p:cNvPr id="39" name="Rectangle 38"/>
          <p:cNvSpPr/>
          <p:nvPr/>
        </p:nvSpPr>
        <p:spPr>
          <a:xfrm>
            <a:off x="1521653" y="4251959"/>
            <a:ext cx="2445928"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658813" y="4251959"/>
            <a:ext cx="2171608" cy="475488"/>
          </a:xfrm>
          <a:prstGeom prst="rect">
            <a:avLst/>
          </a:prstGeom>
          <a:noFill/>
        </p:spPr>
        <p:txBody>
          <a:bodyPr wrap="square" anchor="ctr">
            <a:spAutoFit/>
          </a:bodyPr>
          <a:lstStyle/>
          <a:p>
            <a:pPr algn="l">
              <a:spcAft>
                <a:spcPts val="400"/>
              </a:spcAft>
            </a:pPr>
            <a:r>
              <a:rPr sz="1200" b="0">
                <a:solidFill>
                  <a:srgbClr val="161B26"/>
                </a:solidFill>
                <a:latin typeface="Arial"/>
              </a:rPr>
              <a:t>Collapse</a:t>
            </a:r>
          </a:p>
        </p:txBody>
      </p:sp>
      <p:sp>
        <p:nvSpPr>
          <p:cNvPr id="41" name="Rectangle 40"/>
          <p:cNvSpPr/>
          <p:nvPr/>
        </p:nvSpPr>
        <p:spPr>
          <a:xfrm>
            <a:off x="3967581" y="4251959"/>
            <a:ext cx="7444130"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104741" y="4251959"/>
            <a:ext cx="7169810" cy="475488"/>
          </a:xfrm>
          <a:prstGeom prst="rect">
            <a:avLst/>
          </a:prstGeom>
          <a:noFill/>
        </p:spPr>
        <p:txBody>
          <a:bodyPr wrap="square" anchor="ctr">
            <a:spAutoFit/>
          </a:bodyPr>
          <a:lstStyle/>
          <a:p>
            <a:pPr algn="l">
              <a:spcAft>
                <a:spcPts val="400"/>
              </a:spcAft>
            </a:pPr>
            <a:r>
              <a:rPr sz="1200" b="0">
                <a:solidFill>
                  <a:srgbClr val="161B26"/>
                </a:solidFill>
                <a:latin typeface="Arial"/>
              </a:rPr>
              <a:t>After measurement the state collapses to the measured eigenstate.</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Activities — Quantum Physics Fundamentals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Activity 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a:solidFill>
                  <a:srgbClr val="161B26"/>
                </a:solidFill>
                <a:latin typeface="Arial"/>
              </a:rPr>
              <a:t>•  Linear Algebra for Quantum Mechanics in Python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a:solidFill>
                  <a:srgbClr val="161B26"/>
                </a:solidFill>
                <a:latin typeface="Arial"/>
              </a:rPr>
              <a:t>•  —</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Linear Algebra for Quantum Mechanics in Python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Work with the mathematical objects every quantum algorithm is built from: state vectors, inner and outer products, unitary and Hermitian operators, eigenvalues and tensor products — all in NumPy.</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LO1 — Design mathematical models required for quantum computing applications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Python notebook that verifies unitarity and Hermiticity, computes eigenvalues/eigenvectors, and builds two-qubit states with the tensor product.</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Python 3.13, NumPy, Google Colab / VS Code</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 Linear Algebra for Quantum Mechanics in Python</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Linear Algebra for Quantum Mechanics in Python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H-dagger H equals the identity, X and Z return real eigenvalues +1 and -1, the Born-rule probability of measuring 0 in |+&gt; is 0.5, and the tensor product produces a 4-component two-qubit state.</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Quantum Physics Fundamentals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The five postulates</a:t>
            </a:r>
          </a:p>
          <a:p>
            <a:pPr>
              <a:spcAft>
                <a:spcPts val="1000"/>
              </a:spcAft>
            </a:pPr>
            <a:r>
              <a:rPr sz="1600">
                <a:solidFill>
                  <a:srgbClr val="161B26"/>
                </a:solidFill>
                <a:latin typeface="Arial"/>
              </a:rPr>
              <a:t>•  Hilbert space</a:t>
            </a:r>
          </a:p>
          <a:p>
            <a:pPr>
              <a:spcAft>
                <a:spcPts val="1000"/>
              </a:spcAft>
            </a:pPr>
            <a:r>
              <a:rPr sz="1600">
                <a:solidFill>
                  <a:srgbClr val="161B26"/>
                </a:solidFill>
                <a:latin typeface="Arial"/>
              </a:rPr>
              <a:t>•  Unitary operators</a:t>
            </a:r>
          </a:p>
          <a:p>
            <a:pPr>
              <a:spcAft>
                <a:spcPts val="1000"/>
              </a:spcAft>
            </a:pPr>
            <a:r>
              <a:rPr sz="1600">
                <a:solidFill>
                  <a:srgbClr val="161B26"/>
                </a:solidFill>
                <a:latin typeface="Arial"/>
              </a:rPr>
              <a:t>•  Hermitian operators</a:t>
            </a:r>
          </a:p>
          <a:p>
            <a:pPr>
              <a:spcAft>
                <a:spcPts val="1000"/>
              </a:spcAft>
            </a:pPr>
            <a:r>
              <a:rPr sz="1600">
                <a:solidFill>
                  <a:srgbClr val="161B26"/>
                </a:solidFill>
                <a:latin typeface="Arial"/>
              </a:rPr>
              <a:t>•  Dirac notation</a:t>
            </a:r>
          </a:p>
          <a:p>
            <a:pPr>
              <a:spcAft>
                <a:spcPts val="1000"/>
              </a:spcAft>
            </a:pPr>
            <a:r>
              <a:rPr sz="1600">
                <a:solidFill>
                  <a:srgbClr val="161B26"/>
                </a:solidFill>
                <a:latin typeface="Arial"/>
              </a:rPr>
              <a:t>•  Tensor products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Introduction to Quantum Computing Systems</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Overview of quantum computers · Commercial systems · Superposition and Entanglement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LO2, LO4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Introduction to Quantum Computing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Qubit vs classical bit</a:t>
            </a:r>
          </a:p>
          <a:p>
            <a:pPr algn="l">
              <a:spcAft>
                <a:spcPts val="300"/>
              </a:spcAft>
            </a:pPr>
            <a:r>
              <a:rPr sz="1100" b="0">
                <a:solidFill>
                  <a:srgbClr val="5B6372"/>
                </a:solidFill>
                <a:latin typeface="Arial"/>
              </a:rPr>
              <a:t>A bit is 0 or 1; a qubit is α|0⟩ + β|1⟩ with |α|² + |β|² = 1, allowing superposition of both values.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Bloch sphere</a:t>
            </a:r>
          </a:p>
          <a:p>
            <a:pPr algn="l">
              <a:spcAft>
                <a:spcPts val="300"/>
              </a:spcAft>
            </a:pPr>
            <a:r>
              <a:rPr sz="1100" b="0">
                <a:solidFill>
                  <a:srgbClr val="5B6372"/>
                </a:solidFill>
                <a:latin typeface="Arial"/>
              </a:rPr>
              <a:t>Every pure single-qubit state maps to a point on the unit sphere — the standard geometric picture of qubit state and rotation.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Physical qubits</a:t>
            </a:r>
          </a:p>
          <a:p>
            <a:pPr algn="l">
              <a:spcAft>
                <a:spcPts val="300"/>
              </a:spcAft>
            </a:pPr>
            <a:r>
              <a:rPr sz="1100" b="0">
                <a:solidFill>
                  <a:srgbClr val="5B6372"/>
                </a:solidFill>
                <a:latin typeface="Arial"/>
              </a:rPr>
              <a:t>Superconducting (Josephson junction), trapped-ion and topological qubits trade off speed, coherence time and connectivity.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Commercial platforms</a:t>
            </a:r>
          </a:p>
          <a:p>
            <a:pPr algn="l">
              <a:spcAft>
                <a:spcPts val="300"/>
              </a:spcAft>
            </a:pPr>
            <a:r>
              <a:rPr sz="1100" b="0">
                <a:solidFill>
                  <a:srgbClr val="5B6372"/>
                </a:solidFill>
                <a:latin typeface="Arial"/>
              </a:rPr>
              <a:t>IBM Quantum, Google, IonQ, Rigetti and D-Wave offer cloud access to real quantum processors today.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Superposition</a:t>
            </a:r>
          </a:p>
          <a:p>
            <a:pPr algn="l">
              <a:spcAft>
                <a:spcPts val="300"/>
              </a:spcAft>
            </a:pPr>
            <a:r>
              <a:rPr sz="1100" b="0">
                <a:solidFill>
                  <a:srgbClr val="5B6372"/>
                </a:solidFill>
                <a:latin typeface="Arial"/>
              </a:rPr>
              <a:t>A quantum register of n qubits holds a superposition of all 2ⁿ basis states simultaneously — the source of quantum parallelism.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Entanglement</a:t>
            </a:r>
          </a:p>
          <a:p>
            <a:pPr algn="l">
              <a:spcAft>
                <a:spcPts val="300"/>
              </a:spcAft>
            </a:pPr>
            <a:r>
              <a:rPr sz="1100" b="0">
                <a:solidFill>
                  <a:srgbClr val="5B6372"/>
                </a:solidFill>
                <a:latin typeface="Arial"/>
              </a:rPr>
              <a:t>Entangled states cannot be written as a product of single-qubit states; measuring one qubit instantly correlates with the other.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GEOMETRY OF A SINGLE QUBIT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Visualising a Qubit — The Bloch Sphere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loch-sphere.png"/>
          <p:cNvPicPr>
            <a:picLocks noChangeAspect="1"/>
          </p:cNvPicPr>
          <p:nvPr/>
        </p:nvPicPr>
        <p:blipFill>
          <a:blip r:embed="rId2"/>
          <a:stretch>
            <a:fillRect/>
          </a:stretch>
        </p:blipFill>
        <p:spPr>
          <a:xfrm>
            <a:off x="1937614" y="1783080"/>
            <a:ext cx="4080052" cy="4206240"/>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North / south poles</a:t>
            </a:r>
          </a:p>
          <a:p>
            <a:pPr algn="l">
              <a:spcAft>
                <a:spcPts val="300"/>
              </a:spcAft>
            </a:pPr>
            <a:r>
              <a:rPr sz="1200" b="0">
                <a:solidFill>
                  <a:srgbClr val="161B26"/>
                </a:solidFill>
                <a:latin typeface="Arial"/>
              </a:rPr>
              <a:t>|0⟩ and |1⟩ — the classical computational basis states.</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The equator</a:t>
            </a:r>
          </a:p>
          <a:p>
            <a:pPr algn="l">
              <a:spcAft>
                <a:spcPts val="300"/>
              </a:spcAft>
            </a:pPr>
            <a:r>
              <a:rPr sz="1200" b="0">
                <a:solidFill>
                  <a:srgbClr val="161B26"/>
                </a:solidFill>
                <a:latin typeface="Arial"/>
              </a:rPr>
              <a:t>Equal superpositions such as |+⟩ and |−⟩ — maximally uncertain in Z.</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θ sets probability</a:t>
            </a:r>
          </a:p>
          <a:p>
            <a:pPr algn="l">
              <a:spcAft>
                <a:spcPts val="300"/>
              </a:spcAft>
            </a:pPr>
            <a:r>
              <a:rPr sz="1200" b="0">
                <a:solidFill>
                  <a:srgbClr val="161B26"/>
                </a:solidFill>
                <a:latin typeface="Arial"/>
              </a:rPr>
              <a:t>cos²(θ/2) is the chance of measuring 0.</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φ sets phase</a:t>
            </a:r>
          </a:p>
          <a:p>
            <a:pPr algn="l">
              <a:spcAft>
                <a:spcPts val="300"/>
              </a:spcAft>
            </a:pPr>
            <a:r>
              <a:rPr sz="1200" b="0">
                <a:solidFill>
                  <a:srgbClr val="161B26"/>
                </a:solidFill>
                <a:latin typeface="Arial"/>
              </a:rPr>
              <a:t>Invisible to a Z measurement, but it drives interference.</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HOW QUBITS ARE ACTUALLY BUILT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Physical Qubit Technologies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hardware-compare.png"/>
          <p:cNvPicPr>
            <a:picLocks noChangeAspect="1"/>
          </p:cNvPicPr>
          <p:nvPr/>
        </p:nvPicPr>
        <p:blipFill>
          <a:blip r:embed="rId2"/>
          <a:stretch>
            <a:fillRect/>
          </a:stretch>
        </p:blipFill>
        <p:spPr>
          <a:xfrm>
            <a:off x="1505480" y="1755648"/>
            <a:ext cx="9177992"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No technology has won yet — each trades gate speed against coherence time and connectivity.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MOST IMPORTANT TWO-QUBIT STATE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Entanglement — The Bell State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ell-circuit.png"/>
          <p:cNvPicPr>
            <a:picLocks noChangeAspect="1"/>
          </p:cNvPicPr>
          <p:nvPr/>
        </p:nvPicPr>
        <p:blipFill>
          <a:blip r:embed="rId2"/>
          <a:stretch>
            <a:fillRect/>
          </a:stretch>
        </p:blipFill>
        <p:spPr>
          <a:xfrm>
            <a:off x="777240" y="2530151"/>
            <a:ext cx="6400800" cy="2712097"/>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Two gates</a:t>
            </a:r>
          </a:p>
          <a:p>
            <a:pPr algn="l">
              <a:spcAft>
                <a:spcPts val="300"/>
              </a:spcAft>
            </a:pPr>
            <a:r>
              <a:rPr sz="1200" b="0">
                <a:solidFill>
                  <a:srgbClr val="161B26"/>
                </a:solidFill>
                <a:latin typeface="Arial"/>
              </a:rPr>
              <a:t>A Hadamard followed by a CNOT is all it takes.</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Perfect correlation</a:t>
            </a:r>
          </a:p>
          <a:p>
            <a:pPr algn="l">
              <a:spcAft>
                <a:spcPts val="300"/>
              </a:spcAft>
            </a:pPr>
            <a:r>
              <a:rPr sz="1200" b="0">
                <a:solidFill>
                  <a:srgbClr val="161B26"/>
                </a:solidFill>
                <a:latin typeface="Arial"/>
              </a:rPr>
              <a:t>Measure 0 on one qubit and the other is certainly 0.</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Not separable</a:t>
            </a:r>
          </a:p>
          <a:p>
            <a:pPr algn="l">
              <a:spcAft>
                <a:spcPts val="300"/>
              </a:spcAft>
            </a:pPr>
            <a:r>
              <a:rPr sz="1200" b="0">
                <a:solidFill>
                  <a:srgbClr val="161B26"/>
                </a:solidFill>
                <a:latin typeface="Arial"/>
              </a:rPr>
              <a:t>The state cannot be written as a product of two single-qubit states.</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The resource</a:t>
            </a:r>
          </a:p>
          <a:p>
            <a:pPr algn="l">
              <a:spcAft>
                <a:spcPts val="300"/>
              </a:spcAft>
            </a:pPr>
            <a:r>
              <a:rPr sz="1200" b="0">
                <a:solidFill>
                  <a:srgbClr val="161B26"/>
                </a:solidFill>
                <a:latin typeface="Arial"/>
              </a:rPr>
              <a:t>Teleportation, superdense coding and QKD all consume entanglement.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Activities — Introduction to Quantum Computing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Activity 2</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a:solidFill>
                  <a:srgbClr val="161B26"/>
                </a:solidFill>
                <a:latin typeface="Arial"/>
              </a:rPr>
              <a:t>•  Visualising a Qubit on the Bloch Sphere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Activity 3</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a:solidFill>
                  <a:srgbClr val="161B26"/>
                </a:solidFill>
                <a:latin typeface="Arial"/>
              </a:rPr>
              <a:t>•  Superposition and Entanglement on IBM Quantum</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Visualising a Qubit on the Bloch Sphere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2</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Build single-qubit states in Qiskit and plot them on the Bloch sphere, so you can see how gates rotate a qubit and what superposition and phase actually look like geometrically.</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LO2 — Decide on appropriate physical methodologies specific to quantum computing problems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set of Bloch-sphere plots showing |0&gt;, |1&gt;, |+&gt;, |-&gt; and an arbitrary Ry-rotated state.</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matplotlib, Google Colab</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2: Visualising a Qubit on the Bloch Sphere</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Visualising a Qubit on the Bloch Sphere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|0&gt; sits at the north pole, X moves it to the south pole, H places it on the equator at +x, and the S gate rotates it around the equator while leaving the Z-basis probabilities at 50/50.</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Superposition and Entanglement on IBM Quantum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3</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Create your IBM Quantum account, build a superposition circuit and a two-qubit Bell state, and run them on a real quantum processor to see genuine quantum randomness and correlation in the results.</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LO2, LO4 — Evaluate quantum computing applicability in the business context</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Bell state circuit executed on real IBM Quantum hardware, with a measured histogram showing the |00&gt; and |11&gt; correlation.</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IBM Quantum Platform, Qiskit Runtime, Python 3.13</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3: Superposition and Entanglement on IBM Quantum</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Superposition and Entanglement on IBM Quantum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superposition circuit gives roughly 50% |0&gt; and 50% |1&gt;; the Bell circuit gives roughly 50% |00&gt; and 50% |11&gt; with only a small percentage of |01&gt; and |10&gt; counts caused by hardware noise.</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Introduction to Quantum Computing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Qubit vs classical bit</a:t>
            </a:r>
          </a:p>
          <a:p>
            <a:pPr>
              <a:spcAft>
                <a:spcPts val="1000"/>
              </a:spcAft>
            </a:pPr>
            <a:r>
              <a:rPr sz="1600">
                <a:solidFill>
                  <a:srgbClr val="161B26"/>
                </a:solidFill>
                <a:latin typeface="Arial"/>
              </a:rPr>
              <a:t>•  Bloch sphere</a:t>
            </a:r>
          </a:p>
          <a:p>
            <a:pPr>
              <a:spcAft>
                <a:spcPts val="1000"/>
              </a:spcAft>
            </a:pPr>
            <a:r>
              <a:rPr sz="1600">
                <a:solidFill>
                  <a:srgbClr val="161B26"/>
                </a:solidFill>
                <a:latin typeface="Arial"/>
              </a:rPr>
              <a:t>•  Physical qubits</a:t>
            </a:r>
          </a:p>
          <a:p>
            <a:pPr>
              <a:spcAft>
                <a:spcPts val="1000"/>
              </a:spcAft>
            </a:pPr>
            <a:r>
              <a:rPr sz="1600">
                <a:solidFill>
                  <a:srgbClr val="161B26"/>
                </a:solidFill>
                <a:latin typeface="Arial"/>
              </a:rPr>
              <a:t>•  Commercial platforms</a:t>
            </a:r>
          </a:p>
          <a:p>
            <a:pPr>
              <a:spcAft>
                <a:spcPts val="1000"/>
              </a:spcAft>
            </a:pPr>
            <a:r>
              <a:rPr sz="1600">
                <a:solidFill>
                  <a:srgbClr val="161B26"/>
                </a:solidFill>
                <a:latin typeface="Arial"/>
              </a:rPr>
              <a:t>•  Superposition</a:t>
            </a:r>
          </a:p>
          <a:p>
            <a:pPr>
              <a:spcAft>
                <a:spcPts val="1000"/>
              </a:spcAft>
            </a:pPr>
            <a:r>
              <a:rPr sz="1600">
                <a:solidFill>
                  <a:srgbClr val="161B26"/>
                </a:solidFill>
                <a:latin typeface="Arial"/>
              </a:rPr>
              <a:t>•  Entanglement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Quantum Gates and Circuits</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Single Qubit Gates · Multi Qubit Gates · Bell and GHZ States · Phase Kickback</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LO3, LO5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Quantum Gates and Circuits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Pauli gates</a:t>
            </a:r>
          </a:p>
          <a:p>
            <a:pPr algn="l">
              <a:spcAft>
                <a:spcPts val="300"/>
              </a:spcAft>
            </a:pPr>
            <a:r>
              <a:rPr sz="1100" b="0">
                <a:solidFill>
                  <a:srgbClr val="5B6372"/>
                </a:solidFill>
                <a:latin typeface="Arial"/>
              </a:rPr>
              <a:t>X (bit flip), Y and Z (phase flip) are self-inverse, Hermitian and unitary — the building blocks of single-qubit logic.</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Hadamard gate</a:t>
            </a:r>
          </a:p>
          <a:p>
            <a:pPr algn="l">
              <a:spcAft>
                <a:spcPts val="300"/>
              </a:spcAft>
            </a:pPr>
            <a:r>
              <a:rPr sz="1100" b="0">
                <a:solidFill>
                  <a:srgbClr val="5B6372"/>
                </a:solidFill>
                <a:latin typeface="Arial"/>
              </a:rPr>
              <a:t>H maps |0⟩ → |+⟩ and |1⟩ → |−⟩, creating the equal superposition that starts nearly every quantum algorithm.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Rotation and phase gates</a:t>
            </a:r>
          </a:p>
          <a:p>
            <a:pPr algn="l">
              <a:spcAft>
                <a:spcPts val="300"/>
              </a:spcAft>
            </a:pPr>
            <a:r>
              <a:rPr sz="1100" b="0">
                <a:solidFill>
                  <a:srgbClr val="5B6372"/>
                </a:solidFill>
                <a:latin typeface="Arial"/>
              </a:rPr>
              <a:t>Rx, Ry, Rz rotate the Bloch vector; S and T are special cases of the phase gate P(θ).</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Multi-qubit gates</a:t>
            </a:r>
          </a:p>
          <a:p>
            <a:pPr algn="l">
              <a:spcAft>
                <a:spcPts val="300"/>
              </a:spcAft>
            </a:pPr>
            <a:r>
              <a:rPr sz="1100" b="0">
                <a:solidFill>
                  <a:srgbClr val="5B6372"/>
                </a:solidFill>
                <a:latin typeface="Arial"/>
              </a:rPr>
              <a:t>CNOT, CZ, controlled-phase, SWAP and Toffoli (CCNOT) create the entanglement that makes quantum computing powerful.</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Bell and GHZ states</a:t>
            </a:r>
          </a:p>
          <a:p>
            <a:pPr algn="l">
              <a:spcAft>
                <a:spcPts val="300"/>
              </a:spcAft>
            </a:pPr>
            <a:r>
              <a:rPr sz="1100" b="0">
                <a:solidFill>
                  <a:srgbClr val="5B6372"/>
                </a:solidFill>
                <a:latin typeface="Arial"/>
              </a:rPr>
              <a:t>H followed by CNOT produces a maximally entangled Bell pair; extending to n qubits gives the GHZ state.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Phase kickback</a:t>
            </a:r>
          </a:p>
          <a:p>
            <a:pPr algn="l">
              <a:spcAft>
                <a:spcPts val="300"/>
              </a:spcAft>
            </a:pPr>
            <a:r>
              <a:rPr sz="1100" b="0">
                <a:solidFill>
                  <a:srgbClr val="5B6372"/>
                </a:solidFill>
                <a:latin typeface="Arial"/>
              </a:rPr>
              <a:t>A controlled operation on an eigenstate transfers the eigenvalue phase back to the control qubit — the engine of Deutsch, BV and QPE.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GATE VOCABULARY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Quantum Gate Set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ate-reference.png"/>
          <p:cNvPicPr>
            <a:picLocks noChangeAspect="1"/>
          </p:cNvPicPr>
          <p:nvPr/>
        </p:nvPicPr>
        <p:blipFill>
          <a:blip r:embed="rId2"/>
          <a:stretch>
            <a:fillRect/>
          </a:stretch>
        </p:blipFill>
        <p:spPr>
          <a:xfrm>
            <a:off x="1838403" y="1755648"/>
            <a:ext cx="8512145"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Single-qubit gates rotate the Bloch vector; two-qubit gates create the entanglement that makes quantum computing powerful.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GATE REFERENCE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Single vs Multi-Qubit Gates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70151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74519"/>
            <a:ext cx="1427195" cy="475488"/>
          </a:xfrm>
          <a:prstGeom prst="rect">
            <a:avLst/>
          </a:prstGeom>
          <a:noFill/>
        </p:spPr>
        <p:txBody>
          <a:bodyPr wrap="square" anchor="ctr">
            <a:spAutoFit/>
          </a:bodyPr>
          <a:lstStyle/>
          <a:p>
            <a:pPr algn="l">
              <a:spcAft>
                <a:spcPts val="400"/>
              </a:spcAft>
            </a:pPr>
            <a:r>
              <a:rPr sz="1300" b="1">
                <a:solidFill>
                  <a:srgbClr val="FFFFFF"/>
                </a:solidFill>
                <a:latin typeface="Arial"/>
              </a:rPr>
              <a:t>Gate</a:t>
            </a:r>
          </a:p>
        </p:txBody>
      </p:sp>
      <p:sp>
        <p:nvSpPr>
          <p:cNvPr id="9" name="Rectangle 8"/>
          <p:cNvSpPr/>
          <p:nvPr/>
        </p:nvSpPr>
        <p:spPr>
          <a:xfrm>
            <a:off x="2478755" y="1874519"/>
            <a:ext cx="1063447"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15915" y="1874519"/>
            <a:ext cx="789127" cy="475488"/>
          </a:xfrm>
          <a:prstGeom prst="rect">
            <a:avLst/>
          </a:prstGeom>
          <a:noFill/>
        </p:spPr>
        <p:txBody>
          <a:bodyPr wrap="square" anchor="ctr">
            <a:spAutoFit/>
          </a:bodyPr>
          <a:lstStyle/>
          <a:p>
            <a:pPr algn="l">
              <a:spcAft>
                <a:spcPts val="400"/>
              </a:spcAft>
            </a:pPr>
            <a:r>
              <a:rPr sz="1300" b="1">
                <a:solidFill>
                  <a:srgbClr val="FFFFFF"/>
                </a:solidFill>
                <a:latin typeface="Arial"/>
              </a:rPr>
              <a:t>Qubits</a:t>
            </a:r>
          </a:p>
        </p:txBody>
      </p:sp>
      <p:sp>
        <p:nvSpPr>
          <p:cNvPr id="11" name="Rectangle 10"/>
          <p:cNvSpPr/>
          <p:nvPr/>
        </p:nvSpPr>
        <p:spPr>
          <a:xfrm>
            <a:off x="3542202" y="1874519"/>
            <a:ext cx="3828409"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79362" y="1874519"/>
            <a:ext cx="3554089" cy="475488"/>
          </a:xfrm>
          <a:prstGeom prst="rect">
            <a:avLst/>
          </a:prstGeom>
          <a:noFill/>
        </p:spPr>
        <p:txBody>
          <a:bodyPr wrap="square" anchor="ctr">
            <a:spAutoFit/>
          </a:bodyPr>
          <a:lstStyle/>
          <a:p>
            <a:pPr algn="l">
              <a:spcAft>
                <a:spcPts val="400"/>
              </a:spcAft>
            </a:pPr>
            <a:r>
              <a:rPr sz="1300" b="1">
                <a:solidFill>
                  <a:srgbClr val="FFFFFF"/>
                </a:solidFill>
                <a:latin typeface="Arial"/>
              </a:rPr>
              <a:t>Effect</a:t>
            </a:r>
          </a:p>
        </p:txBody>
      </p:sp>
      <p:sp>
        <p:nvSpPr>
          <p:cNvPr id="13" name="Rectangle 12"/>
          <p:cNvSpPr/>
          <p:nvPr/>
        </p:nvSpPr>
        <p:spPr>
          <a:xfrm>
            <a:off x="7370611" y="1874519"/>
            <a:ext cx="4041099"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07771" y="1874519"/>
            <a:ext cx="3766779" cy="475488"/>
          </a:xfrm>
          <a:prstGeom prst="rect">
            <a:avLst/>
          </a:prstGeom>
          <a:noFill/>
        </p:spPr>
        <p:txBody>
          <a:bodyPr wrap="square" anchor="ctr">
            <a:spAutoFit/>
          </a:bodyPr>
          <a:lstStyle/>
          <a:p>
            <a:pPr algn="l">
              <a:spcAft>
                <a:spcPts val="400"/>
              </a:spcAft>
            </a:pPr>
            <a:r>
              <a:rPr sz="1300" b="1">
                <a:solidFill>
                  <a:srgbClr val="FFFFFF"/>
                </a:solidFill>
                <a:latin typeface="Arial"/>
              </a:rPr>
              <a:t>Used for</a:t>
            </a:r>
          </a:p>
        </p:txBody>
      </p:sp>
      <p:sp>
        <p:nvSpPr>
          <p:cNvPr id="15" name="Rectangle 14"/>
          <p:cNvSpPr/>
          <p:nvPr/>
        </p:nvSpPr>
        <p:spPr>
          <a:xfrm>
            <a:off x="777240" y="2350007"/>
            <a:ext cx="170151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2350007"/>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X / Y / Z</a:t>
            </a:r>
          </a:p>
        </p:txBody>
      </p:sp>
      <p:sp>
        <p:nvSpPr>
          <p:cNvPr id="17" name="Rectangle 16"/>
          <p:cNvSpPr/>
          <p:nvPr/>
        </p:nvSpPr>
        <p:spPr>
          <a:xfrm>
            <a:off x="2478755" y="2350007"/>
            <a:ext cx="1063447"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615915" y="2350007"/>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1</a:t>
            </a:r>
          </a:p>
        </p:txBody>
      </p:sp>
      <p:sp>
        <p:nvSpPr>
          <p:cNvPr id="19" name="Rectangle 18"/>
          <p:cNvSpPr/>
          <p:nvPr/>
        </p:nvSpPr>
        <p:spPr>
          <a:xfrm>
            <a:off x="3542202" y="2350007"/>
            <a:ext cx="382840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79362" y="2350007"/>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Rotate π about an axis</a:t>
            </a:r>
          </a:p>
        </p:txBody>
      </p:sp>
      <p:sp>
        <p:nvSpPr>
          <p:cNvPr id="21" name="Rectangle 20"/>
          <p:cNvSpPr/>
          <p:nvPr/>
        </p:nvSpPr>
        <p:spPr>
          <a:xfrm>
            <a:off x="7370611" y="2350007"/>
            <a:ext cx="404109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07771" y="2350007"/>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Bit flip, phase flip</a:t>
            </a:r>
          </a:p>
        </p:txBody>
      </p:sp>
      <p:sp>
        <p:nvSpPr>
          <p:cNvPr id="23" name="Rectangle 22"/>
          <p:cNvSpPr/>
          <p:nvPr/>
        </p:nvSpPr>
        <p:spPr>
          <a:xfrm>
            <a:off x="777240" y="2825495"/>
            <a:ext cx="170151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2825495"/>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H</a:t>
            </a:r>
          </a:p>
        </p:txBody>
      </p:sp>
      <p:sp>
        <p:nvSpPr>
          <p:cNvPr id="25" name="Rectangle 24"/>
          <p:cNvSpPr/>
          <p:nvPr/>
        </p:nvSpPr>
        <p:spPr>
          <a:xfrm>
            <a:off x="2478755" y="2825495"/>
            <a:ext cx="1063447"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615915" y="2825495"/>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1</a:t>
            </a:r>
          </a:p>
        </p:txBody>
      </p:sp>
      <p:sp>
        <p:nvSpPr>
          <p:cNvPr id="27" name="Rectangle 26"/>
          <p:cNvSpPr/>
          <p:nvPr/>
        </p:nvSpPr>
        <p:spPr>
          <a:xfrm>
            <a:off x="3542202" y="2825495"/>
            <a:ext cx="382840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9362" y="2825495"/>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Basis change</a:t>
            </a:r>
          </a:p>
        </p:txBody>
      </p:sp>
      <p:sp>
        <p:nvSpPr>
          <p:cNvPr id="29" name="Rectangle 28"/>
          <p:cNvSpPr/>
          <p:nvPr/>
        </p:nvSpPr>
        <p:spPr>
          <a:xfrm>
            <a:off x="7370611" y="2825495"/>
            <a:ext cx="404109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07771" y="2825495"/>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Create superposition</a:t>
            </a:r>
          </a:p>
        </p:txBody>
      </p:sp>
      <p:sp>
        <p:nvSpPr>
          <p:cNvPr id="31" name="Rectangle 30"/>
          <p:cNvSpPr/>
          <p:nvPr/>
        </p:nvSpPr>
        <p:spPr>
          <a:xfrm>
            <a:off x="777240" y="3300983"/>
            <a:ext cx="170151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300983"/>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S / T</a:t>
            </a:r>
          </a:p>
        </p:txBody>
      </p:sp>
      <p:sp>
        <p:nvSpPr>
          <p:cNvPr id="33" name="Rectangle 32"/>
          <p:cNvSpPr/>
          <p:nvPr/>
        </p:nvSpPr>
        <p:spPr>
          <a:xfrm>
            <a:off x="2478755" y="3300983"/>
            <a:ext cx="1063447"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615915" y="3300983"/>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1</a:t>
            </a:r>
          </a:p>
        </p:txBody>
      </p:sp>
      <p:sp>
        <p:nvSpPr>
          <p:cNvPr id="35" name="Rectangle 34"/>
          <p:cNvSpPr/>
          <p:nvPr/>
        </p:nvSpPr>
        <p:spPr>
          <a:xfrm>
            <a:off x="3542202" y="3300983"/>
            <a:ext cx="382840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79362" y="3300983"/>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Phase π/2 and π/4</a:t>
            </a:r>
          </a:p>
        </p:txBody>
      </p:sp>
      <p:sp>
        <p:nvSpPr>
          <p:cNvPr id="37" name="Rectangle 36"/>
          <p:cNvSpPr/>
          <p:nvPr/>
        </p:nvSpPr>
        <p:spPr>
          <a:xfrm>
            <a:off x="7370611" y="3300983"/>
            <a:ext cx="404109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07771" y="3300983"/>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Fine phase control</a:t>
            </a:r>
          </a:p>
        </p:txBody>
      </p:sp>
      <p:sp>
        <p:nvSpPr>
          <p:cNvPr id="39" name="Rectangle 38"/>
          <p:cNvSpPr/>
          <p:nvPr/>
        </p:nvSpPr>
        <p:spPr>
          <a:xfrm>
            <a:off x="777240" y="3776471"/>
            <a:ext cx="170151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3776471"/>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Rx / Ry / Rz</a:t>
            </a:r>
          </a:p>
        </p:txBody>
      </p:sp>
      <p:sp>
        <p:nvSpPr>
          <p:cNvPr id="41" name="Rectangle 40"/>
          <p:cNvSpPr/>
          <p:nvPr/>
        </p:nvSpPr>
        <p:spPr>
          <a:xfrm>
            <a:off x="2478755" y="3776471"/>
            <a:ext cx="1063447"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15915" y="3776471"/>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1</a:t>
            </a:r>
          </a:p>
        </p:txBody>
      </p:sp>
      <p:sp>
        <p:nvSpPr>
          <p:cNvPr id="43" name="Rectangle 42"/>
          <p:cNvSpPr/>
          <p:nvPr/>
        </p:nvSpPr>
        <p:spPr>
          <a:xfrm>
            <a:off x="3542202" y="3776471"/>
            <a:ext cx="382840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79362" y="3776471"/>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Arbitrary rotation</a:t>
            </a:r>
          </a:p>
        </p:txBody>
      </p:sp>
      <p:sp>
        <p:nvSpPr>
          <p:cNvPr id="45" name="Rectangle 44"/>
          <p:cNvSpPr/>
          <p:nvPr/>
        </p:nvSpPr>
        <p:spPr>
          <a:xfrm>
            <a:off x="7370611" y="3776471"/>
            <a:ext cx="404109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507771" y="3776471"/>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Variational ansätze</a:t>
            </a:r>
          </a:p>
        </p:txBody>
      </p:sp>
      <p:sp>
        <p:nvSpPr>
          <p:cNvPr id="47" name="Rectangle 46"/>
          <p:cNvSpPr/>
          <p:nvPr/>
        </p:nvSpPr>
        <p:spPr>
          <a:xfrm>
            <a:off x="777240" y="4251959"/>
            <a:ext cx="170151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4400" y="4251959"/>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CNOT</a:t>
            </a:r>
          </a:p>
        </p:txBody>
      </p:sp>
      <p:sp>
        <p:nvSpPr>
          <p:cNvPr id="49" name="Rectangle 48"/>
          <p:cNvSpPr/>
          <p:nvPr/>
        </p:nvSpPr>
        <p:spPr>
          <a:xfrm>
            <a:off x="2478755" y="4251959"/>
            <a:ext cx="1063447"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615915" y="4251959"/>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2</a:t>
            </a:r>
          </a:p>
        </p:txBody>
      </p:sp>
      <p:sp>
        <p:nvSpPr>
          <p:cNvPr id="51" name="Rectangle 50"/>
          <p:cNvSpPr/>
          <p:nvPr/>
        </p:nvSpPr>
        <p:spPr>
          <a:xfrm>
            <a:off x="3542202" y="4251959"/>
            <a:ext cx="382840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679362" y="4251959"/>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Flip target if control is 1</a:t>
            </a:r>
          </a:p>
        </p:txBody>
      </p:sp>
      <p:sp>
        <p:nvSpPr>
          <p:cNvPr id="53" name="Rectangle 52"/>
          <p:cNvSpPr/>
          <p:nvPr/>
        </p:nvSpPr>
        <p:spPr>
          <a:xfrm>
            <a:off x="7370611" y="4251959"/>
            <a:ext cx="404109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507771" y="4251959"/>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Entanglement, oracles</a:t>
            </a:r>
          </a:p>
        </p:txBody>
      </p:sp>
      <p:sp>
        <p:nvSpPr>
          <p:cNvPr id="55" name="Rectangle 54"/>
          <p:cNvSpPr/>
          <p:nvPr/>
        </p:nvSpPr>
        <p:spPr>
          <a:xfrm>
            <a:off x="777240" y="4727447"/>
            <a:ext cx="170151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14400" y="4727447"/>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CZ / CP</a:t>
            </a:r>
          </a:p>
        </p:txBody>
      </p:sp>
      <p:sp>
        <p:nvSpPr>
          <p:cNvPr id="57" name="Rectangle 56"/>
          <p:cNvSpPr/>
          <p:nvPr/>
        </p:nvSpPr>
        <p:spPr>
          <a:xfrm>
            <a:off x="2478755" y="4727447"/>
            <a:ext cx="1063447"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615915" y="4727447"/>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2</a:t>
            </a:r>
          </a:p>
        </p:txBody>
      </p:sp>
      <p:sp>
        <p:nvSpPr>
          <p:cNvPr id="59" name="Rectangle 58"/>
          <p:cNvSpPr/>
          <p:nvPr/>
        </p:nvSpPr>
        <p:spPr>
          <a:xfrm>
            <a:off x="3542202" y="4727447"/>
            <a:ext cx="382840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679362" y="4727447"/>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Conditional phase</a:t>
            </a:r>
          </a:p>
        </p:txBody>
      </p:sp>
      <p:sp>
        <p:nvSpPr>
          <p:cNvPr id="61" name="Rectangle 60"/>
          <p:cNvSpPr/>
          <p:nvPr/>
        </p:nvSpPr>
        <p:spPr>
          <a:xfrm>
            <a:off x="7370611" y="4727447"/>
            <a:ext cx="404109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507771" y="4727447"/>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QFT, phase kickback</a:t>
            </a:r>
          </a:p>
        </p:txBody>
      </p:sp>
      <p:sp>
        <p:nvSpPr>
          <p:cNvPr id="63" name="Rectangle 62"/>
          <p:cNvSpPr/>
          <p:nvPr/>
        </p:nvSpPr>
        <p:spPr>
          <a:xfrm>
            <a:off x="777240" y="5202935"/>
            <a:ext cx="170151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14400" y="5202935"/>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SWAP</a:t>
            </a:r>
          </a:p>
        </p:txBody>
      </p:sp>
      <p:sp>
        <p:nvSpPr>
          <p:cNvPr id="65" name="Rectangle 64"/>
          <p:cNvSpPr/>
          <p:nvPr/>
        </p:nvSpPr>
        <p:spPr>
          <a:xfrm>
            <a:off x="2478755" y="5202935"/>
            <a:ext cx="1063447"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615915" y="5202935"/>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2</a:t>
            </a:r>
          </a:p>
        </p:txBody>
      </p:sp>
      <p:sp>
        <p:nvSpPr>
          <p:cNvPr id="67" name="Rectangle 66"/>
          <p:cNvSpPr/>
          <p:nvPr/>
        </p:nvSpPr>
        <p:spPr>
          <a:xfrm>
            <a:off x="3542202" y="5202935"/>
            <a:ext cx="382840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679362" y="5202935"/>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Exchange two qubits</a:t>
            </a:r>
          </a:p>
        </p:txBody>
      </p:sp>
      <p:sp>
        <p:nvSpPr>
          <p:cNvPr id="69" name="Rectangle 68"/>
          <p:cNvSpPr/>
          <p:nvPr/>
        </p:nvSpPr>
        <p:spPr>
          <a:xfrm>
            <a:off x="7370611" y="5202935"/>
            <a:ext cx="404109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507771" y="5202935"/>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Routing on hardware</a:t>
            </a:r>
          </a:p>
        </p:txBody>
      </p:sp>
      <p:sp>
        <p:nvSpPr>
          <p:cNvPr id="71" name="Rectangle 70"/>
          <p:cNvSpPr/>
          <p:nvPr/>
        </p:nvSpPr>
        <p:spPr>
          <a:xfrm>
            <a:off x="777240" y="5678423"/>
            <a:ext cx="170151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14400" y="5678423"/>
            <a:ext cx="1427195" cy="475488"/>
          </a:xfrm>
          <a:prstGeom prst="rect">
            <a:avLst/>
          </a:prstGeom>
          <a:noFill/>
        </p:spPr>
        <p:txBody>
          <a:bodyPr wrap="square" anchor="ctr">
            <a:spAutoFit/>
          </a:bodyPr>
          <a:lstStyle/>
          <a:p>
            <a:pPr algn="l">
              <a:spcAft>
                <a:spcPts val="400"/>
              </a:spcAft>
            </a:pPr>
            <a:r>
              <a:rPr sz="1200" b="1">
                <a:solidFill>
                  <a:srgbClr val="161B26"/>
                </a:solidFill>
                <a:latin typeface="Arial"/>
              </a:rPr>
              <a:t>Toffoli</a:t>
            </a:r>
          </a:p>
        </p:txBody>
      </p:sp>
      <p:sp>
        <p:nvSpPr>
          <p:cNvPr id="73" name="Rectangle 72"/>
          <p:cNvSpPr/>
          <p:nvPr/>
        </p:nvSpPr>
        <p:spPr>
          <a:xfrm>
            <a:off x="2478755" y="5678423"/>
            <a:ext cx="1063447"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615915" y="5678423"/>
            <a:ext cx="789127" cy="475488"/>
          </a:xfrm>
          <a:prstGeom prst="rect">
            <a:avLst/>
          </a:prstGeom>
          <a:noFill/>
        </p:spPr>
        <p:txBody>
          <a:bodyPr wrap="square" anchor="ctr">
            <a:spAutoFit/>
          </a:bodyPr>
          <a:lstStyle/>
          <a:p>
            <a:pPr algn="l">
              <a:spcAft>
                <a:spcPts val="400"/>
              </a:spcAft>
            </a:pPr>
            <a:r>
              <a:rPr sz="1200" b="0">
                <a:solidFill>
                  <a:srgbClr val="161B26"/>
                </a:solidFill>
                <a:latin typeface="Arial"/>
              </a:rPr>
              <a:t>3</a:t>
            </a:r>
          </a:p>
        </p:txBody>
      </p:sp>
      <p:sp>
        <p:nvSpPr>
          <p:cNvPr id="75" name="Rectangle 74"/>
          <p:cNvSpPr/>
          <p:nvPr/>
        </p:nvSpPr>
        <p:spPr>
          <a:xfrm>
            <a:off x="3542202" y="5678423"/>
            <a:ext cx="382840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3679362" y="5678423"/>
            <a:ext cx="3554089" cy="475488"/>
          </a:xfrm>
          <a:prstGeom prst="rect">
            <a:avLst/>
          </a:prstGeom>
          <a:noFill/>
        </p:spPr>
        <p:txBody>
          <a:bodyPr wrap="square" anchor="ctr">
            <a:spAutoFit/>
          </a:bodyPr>
          <a:lstStyle/>
          <a:p>
            <a:pPr algn="l">
              <a:spcAft>
                <a:spcPts val="400"/>
              </a:spcAft>
            </a:pPr>
            <a:r>
              <a:rPr sz="1200" b="0">
                <a:solidFill>
                  <a:srgbClr val="161B26"/>
                </a:solidFill>
                <a:latin typeface="Arial"/>
              </a:rPr>
              <a:t>Flip if both controls are 1</a:t>
            </a:r>
          </a:p>
        </p:txBody>
      </p:sp>
      <p:sp>
        <p:nvSpPr>
          <p:cNvPr id="77" name="Rectangle 76"/>
          <p:cNvSpPr/>
          <p:nvPr/>
        </p:nvSpPr>
        <p:spPr>
          <a:xfrm>
            <a:off x="7370611" y="5678423"/>
            <a:ext cx="404109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507771" y="5678423"/>
            <a:ext cx="3766779" cy="475488"/>
          </a:xfrm>
          <a:prstGeom prst="rect">
            <a:avLst/>
          </a:prstGeom>
          <a:noFill/>
        </p:spPr>
        <p:txBody>
          <a:bodyPr wrap="square" anchor="ctr">
            <a:spAutoFit/>
          </a:bodyPr>
          <a:lstStyle/>
          <a:p>
            <a:pPr algn="l">
              <a:spcAft>
                <a:spcPts val="400"/>
              </a:spcAft>
            </a:pPr>
            <a:r>
              <a:rPr sz="1200" b="0">
                <a:solidFill>
                  <a:srgbClr val="161B26"/>
                </a:solidFill>
                <a:latin typeface="Arial"/>
              </a:rPr>
              <a:t>Reversible classical logic</a:t>
            </a:r>
          </a:p>
        </p:txBody>
      </p:sp>
      <p:sp>
        <p:nvSpPr>
          <p:cNvPr id="79" name="TextBox 7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0" name="TextBox 7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81" name="TextBox 8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THE KEY MECHANISM</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600" b="1">
                <a:solidFill>
                  <a:srgbClr val="161B26"/>
                </a:solidFill>
                <a:latin typeface="Arial"/>
              </a:rPr>
              <a:t>Phase kickback is the trick behind almost every algorithm.</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Apply a controlled-U to an eigenstate of U and the eigenvalue phase appears on the CONTROL qubit — that is how Deutsch, Bernstein-Vazirani, phase estimation and Shor all extract their answers.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Activities — Quantum Gates and Circuits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Activity 4</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a:solidFill>
                  <a:srgbClr val="161B26"/>
                </a:solidFill>
                <a:latin typeface="Arial"/>
              </a:rPr>
              <a:t>•  Building Circuits in IBM Quantum Composer</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Activity 5</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a:solidFill>
                  <a:srgbClr val="161B26"/>
                </a:solidFill>
                <a:latin typeface="Arial"/>
              </a:rPr>
              <a:t>•  Quantum Gates and Bell/GHZ States with PennyLane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Building Circuits in IBM Quantum Composer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4</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Use the drag-and-drop IBM Quantum Composer to build single- and multi-qubit circuits, watch the state vector and probability panels update live, and export the circuit as OpenQASM.</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LO5 — Spearhead the application of quantum gates to quantum computing domains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set of Composer circuits (X, H, CNOT, Bell state) with their statevector output, exported as OpenQASM 3 code.</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IBM Quantum Composer, OpenQASM 3</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4: Building Circuits in IBM Quantum Composer</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Building Circuits in IBM Quantum Composer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Composer probability panel shows a 50/50 split between |00&gt; and |11&gt; for the Bell circuit, and the exported OpenQASM contains an h instruction followed by a cx instruction.</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Gates and Bell/GHZ States with PennyLane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5</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Use PennyLane's quantum-function and QNode model to apply the full single- and multi-qubit gate set, then construct Bell and GHZ entangled states and verify their measurement correlations.</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LO3, LO5 — Direct two-level quantum models and apply quantum gates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PennyLane script that draws each circuit, returns the state vector, and confirms the Bell and GHZ correlations.</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PennyLane, Python 3.13, matplotlib</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5: Quantum Gates and Bell/GHZ States with PennyLane</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Gates and Bell/GHZ States with PennyLane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Bell state returns amplitudes of about 0.707 on |00&gt; and |11&gt; and zero elsewhere; the GHZ state returns amplitudes only on |000&gt; and |111&gt;; the phase-kickback circuit shows the eigenvalue phase transferred to the control qubit.</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Quantum Gates and Circuits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Pauli gates</a:t>
            </a:r>
          </a:p>
          <a:p>
            <a:pPr>
              <a:spcAft>
                <a:spcPts val="1000"/>
              </a:spcAft>
            </a:pPr>
            <a:r>
              <a:rPr sz="1600">
                <a:solidFill>
                  <a:srgbClr val="161B26"/>
                </a:solidFill>
                <a:latin typeface="Arial"/>
              </a:rPr>
              <a:t>•  Hadamard gate</a:t>
            </a:r>
          </a:p>
          <a:p>
            <a:pPr>
              <a:spcAft>
                <a:spcPts val="1000"/>
              </a:spcAft>
            </a:pPr>
            <a:r>
              <a:rPr sz="1600">
                <a:solidFill>
                  <a:srgbClr val="161B26"/>
                </a:solidFill>
                <a:latin typeface="Arial"/>
              </a:rPr>
              <a:t>•  Rotation and phase gates</a:t>
            </a:r>
          </a:p>
          <a:p>
            <a:pPr>
              <a:spcAft>
                <a:spcPts val="1000"/>
              </a:spcAft>
            </a:pPr>
            <a:r>
              <a:rPr sz="1600">
                <a:solidFill>
                  <a:srgbClr val="161B26"/>
                </a:solidFill>
                <a:latin typeface="Arial"/>
              </a:rPr>
              <a:t>•  Multi-qubit gates</a:t>
            </a:r>
          </a:p>
          <a:p>
            <a:pPr>
              <a:spcAft>
                <a:spcPts val="1000"/>
              </a:spcAft>
            </a:pPr>
            <a:r>
              <a:rPr sz="1600">
                <a:solidFill>
                  <a:srgbClr val="161B26"/>
                </a:solidFill>
                <a:latin typeface="Arial"/>
              </a:rPr>
              <a:t>•  Bell and GHZ states</a:t>
            </a:r>
          </a:p>
          <a:p>
            <a:pPr>
              <a:spcAft>
                <a:spcPts val="1000"/>
              </a:spcAft>
            </a:pPr>
            <a:r>
              <a:rPr sz="1600">
                <a:solidFill>
                  <a:srgbClr val="161B26"/>
                </a:solidFill>
                <a:latin typeface="Arial"/>
              </a:rPr>
              <a:t>•  Phase kickback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04</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Quantum Protocols</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No-Cloning Theorem · Teleportation · Superdense Coding · BB84 QKD · CHSH Game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LO3, LO7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Quantum Protocols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No-cloning theorem</a:t>
            </a:r>
          </a:p>
          <a:p>
            <a:pPr algn="l">
              <a:spcAft>
                <a:spcPts val="300"/>
              </a:spcAft>
            </a:pPr>
            <a:r>
              <a:rPr sz="1100" b="0">
                <a:solidFill>
                  <a:srgbClr val="5B6372"/>
                </a:solidFill>
                <a:latin typeface="Arial"/>
              </a:rPr>
              <a:t>No unitary can copy an arbitrary unknown quantum state — proved by linearity, and the foundation of quantum key security.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Quantum teleportation</a:t>
            </a:r>
          </a:p>
          <a:p>
            <a:pPr algn="l">
              <a:spcAft>
                <a:spcPts val="300"/>
              </a:spcAft>
            </a:pPr>
            <a:r>
              <a:rPr sz="1100" b="0">
                <a:solidFill>
                  <a:srgbClr val="5B6372"/>
                </a:solidFill>
                <a:latin typeface="Arial"/>
              </a:rPr>
              <a:t>Transfers an unknown qubit state using one shared Bell pair plus two classical bits — no faster-than-light signalling.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Superdense coding</a:t>
            </a:r>
          </a:p>
          <a:p>
            <a:pPr algn="l">
              <a:spcAft>
                <a:spcPts val="300"/>
              </a:spcAft>
            </a:pPr>
            <a:r>
              <a:rPr sz="1100" b="0">
                <a:solidFill>
                  <a:srgbClr val="5B6372"/>
                </a:solidFill>
                <a:latin typeface="Arial"/>
              </a:rPr>
              <a:t>The dual of teleportation: send two classical bits by transmitting a single qubit of a pre-shared entangled pair.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BB84 QKD</a:t>
            </a:r>
          </a:p>
          <a:p>
            <a:pPr algn="l">
              <a:spcAft>
                <a:spcPts val="300"/>
              </a:spcAft>
            </a:pPr>
            <a:r>
              <a:rPr sz="1100" b="0">
                <a:solidFill>
                  <a:srgbClr val="5B6372"/>
                </a:solidFill>
                <a:latin typeface="Arial"/>
              </a:rPr>
              <a:t>Alice and Bob build a shared secret key using random bases; eavesdropping disturbs the states and raises the error rate.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Eavesdropping detection</a:t>
            </a:r>
          </a:p>
          <a:p>
            <a:pPr algn="l">
              <a:spcAft>
                <a:spcPts val="300"/>
              </a:spcAft>
            </a:pPr>
            <a:r>
              <a:rPr sz="1100" b="0">
                <a:solidFill>
                  <a:srgbClr val="5B6372"/>
                </a:solidFill>
                <a:latin typeface="Arial"/>
              </a:rPr>
              <a:t>An intercept-resend attack introduces roughly a 25% error rate in the sifted key, revealing Eve's presence.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CHSH game</a:t>
            </a:r>
          </a:p>
          <a:p>
            <a:pPr algn="l">
              <a:spcAft>
                <a:spcPts val="300"/>
              </a:spcAft>
            </a:pPr>
            <a:r>
              <a:rPr sz="1100" b="0">
                <a:solidFill>
                  <a:srgbClr val="5B6372"/>
                </a:solidFill>
                <a:latin typeface="Arial"/>
              </a:rPr>
              <a:t>A quantum strategy using entanglement wins ~85% of the time versus the classical maximum of 75%, disproving local hidden variables.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MOVING A STATE WITHOUT MOVING A PARTICLE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Teleportation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eleportation-flow.png"/>
          <p:cNvPicPr>
            <a:picLocks noChangeAspect="1"/>
          </p:cNvPicPr>
          <p:nvPr/>
        </p:nvPicPr>
        <p:blipFill>
          <a:blip r:embed="rId2"/>
          <a:stretch>
            <a:fillRect/>
          </a:stretch>
        </p:blipFill>
        <p:spPr>
          <a:xfrm>
            <a:off x="2027128" y="1755648"/>
            <a:ext cx="8134695"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Two classical bits must still travel — so teleportation never beats the speed of light.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TWO SIDES OF ONE COIN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Teleportation vs Superdense Coding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Qubit → classical channel</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Classical → qubit channel</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a:solidFill>
                  <a:srgbClr val="161B26"/>
                </a:solidFill>
                <a:latin typeface="Arial"/>
              </a:rPr>
              <a:t>•  Quantum Teleportation</a:t>
            </a:r>
          </a:p>
          <a:p>
            <a:pPr>
              <a:spcAft>
                <a:spcPts val="1000"/>
              </a:spcAft>
            </a:pPr>
            <a:r>
              <a:rPr sz="1400">
                <a:solidFill>
                  <a:srgbClr val="5B6372"/>
                </a:solidFill>
                <a:latin typeface="Arial"/>
              </a:rPr>
              <a:t>–  Sends: 1 unknown QUBIT state</a:t>
            </a:r>
          </a:p>
          <a:p>
            <a:pPr>
              <a:spcAft>
                <a:spcPts val="1000"/>
              </a:spcAft>
            </a:pPr>
            <a:r>
              <a:rPr sz="1400">
                <a:solidFill>
                  <a:srgbClr val="5B6372"/>
                </a:solidFill>
                <a:latin typeface="Arial"/>
              </a:rPr>
              <a:t>–  Costs: 1 Bell pair + 2 classical bits</a:t>
            </a:r>
          </a:p>
          <a:p>
            <a:pPr>
              <a:spcAft>
                <a:spcPts val="1000"/>
              </a:spcAft>
            </a:pPr>
            <a:r>
              <a:rPr sz="1400">
                <a:solidFill>
                  <a:srgbClr val="5B6372"/>
                </a:solidFill>
                <a:latin typeface="Arial"/>
              </a:rPr>
              <a:t>–  Original is destroyed (no cloning)</a:t>
            </a:r>
          </a:p>
          <a:p>
            <a:pPr>
              <a:spcAft>
                <a:spcPts val="1000"/>
              </a:spcAft>
            </a:pPr>
            <a:r>
              <a:rPr sz="1400">
                <a:solidFill>
                  <a:srgbClr val="5B6372"/>
                </a:solidFill>
                <a:latin typeface="Arial"/>
              </a:rPr>
              <a:t>–  Use: moving quantum data</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a:solidFill>
                  <a:srgbClr val="161B26"/>
                </a:solidFill>
                <a:latin typeface="Arial"/>
              </a:rPr>
              <a:t>•  Superdense Coding</a:t>
            </a:r>
          </a:p>
          <a:p>
            <a:pPr>
              <a:spcAft>
                <a:spcPts val="1000"/>
              </a:spcAft>
            </a:pPr>
            <a:r>
              <a:rPr sz="1400">
                <a:solidFill>
                  <a:srgbClr val="5B6372"/>
                </a:solidFill>
                <a:latin typeface="Arial"/>
              </a:rPr>
              <a:t>–  Sends: 2 CLASSICAL bits</a:t>
            </a:r>
          </a:p>
          <a:p>
            <a:pPr>
              <a:spcAft>
                <a:spcPts val="1000"/>
              </a:spcAft>
            </a:pPr>
            <a:r>
              <a:rPr sz="1400">
                <a:solidFill>
                  <a:srgbClr val="5B6372"/>
                </a:solidFill>
                <a:latin typeface="Arial"/>
              </a:rPr>
              <a:t>–  Costs: 1 Bell pair + 1 transmitted qubit</a:t>
            </a:r>
          </a:p>
          <a:p>
            <a:pPr>
              <a:spcAft>
                <a:spcPts val="1000"/>
              </a:spcAft>
            </a:pPr>
            <a:r>
              <a:rPr sz="1400">
                <a:solidFill>
                  <a:srgbClr val="5B6372"/>
                </a:solidFill>
                <a:latin typeface="Arial"/>
              </a:rPr>
              <a:t>–  Encode with I, X, Z or ZX</a:t>
            </a:r>
          </a:p>
          <a:p>
            <a:pPr>
              <a:spcAft>
                <a:spcPts val="1000"/>
              </a:spcAft>
            </a:pPr>
            <a:r>
              <a:rPr sz="1400">
                <a:solidFill>
                  <a:srgbClr val="5B6372"/>
                </a:solidFill>
                <a:latin typeface="Arial"/>
              </a:rPr>
              <a:t>–  Use: doubling channel capacity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SECURITY FROM PHYSICS, NOT MATHS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BB84 Quantum Key Distribution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b84-protocol.png"/>
          <p:cNvPicPr>
            <a:picLocks noChangeAspect="1"/>
          </p:cNvPicPr>
          <p:nvPr/>
        </p:nvPicPr>
        <p:blipFill>
          <a:blip r:embed="rId2"/>
          <a:stretch>
            <a:fillRect/>
          </a:stretch>
        </p:blipFill>
        <p:spPr>
          <a:xfrm>
            <a:off x="2175619" y="1755648"/>
            <a:ext cx="7837714"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Security rests on the no-cloning theorem — an eavesdropper cannot copy the qubits without disturbing them.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Activities — Quantum Protocols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Activity 6</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a:solidFill>
                  <a:srgbClr val="161B26"/>
                </a:solidFill>
                <a:latin typeface="Arial"/>
              </a:rPr>
              <a:t>•  Quantum Teleportation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Activity 7</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a:solidFill>
                  <a:srgbClr val="161B26"/>
                </a:solidFill>
                <a:latin typeface="Arial"/>
              </a:rPr>
              <a:t>•  Superdense Coding Protocol</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Activity 8</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a:solidFill>
                  <a:srgbClr val="161B26"/>
                </a:solidFill>
                <a:latin typeface="Arial"/>
              </a:rPr>
              <a:t>•  BB84 Quantum Key Distribution with Eavesdropping Detection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Teleportation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6</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Implement the three-qubit teleportation protocol: entangle a shared pair, perform a Bell measurement on the unknown state, and apply the conditional corrections that recreate the original state on Bob's qubit.</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LO3, LO7 — Synthesize quantum methodologies to address complex problems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teleportation circuit run on IBM Quantum hardware that reconstructs an arbitrary input state at the receiving qubit.</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 OpenQASM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6: Quantum Teleportation</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6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Teleportation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measurement statistics on Bob's qubit q2 match the amplitudes of the state originally prepared on q0, within hardware noise, and the original state no longer exists on q0.</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Superdense Coding Protocol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7</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Implement the dual of teleportation: transmit two classical bits by sending only a single qubit of a pre-shared entangled pair, encoding the message with the I, X, Z and XZ operations.</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LO3, LO7 — Direct two-level quantum models for quantum computing</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superdense coding circuit that correctly transmits all four two-bit messages 00, 01, 10 and 11.</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7: Superdense Coding Protocol</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Superdense Coding Protocol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Each of the four encodings decodes to its intended message — identity gives 00, X gives 01, Z gives 10 and ZX gives 11 — demonstrating two classical bits carried by one transmitted qubit.</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BB84 Quantum Key Distribution with Eavesdropping Detection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8</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Run the BB84 protocol end to end: random bit and basis selection, quantum transmission, basis sifting and key extraction — then repeat it with an eavesdropper present and measure the error rate that exposes the attack.</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LO7 — Synthesize quantum methodologies to address complex problems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working BB84 implementation producing a shared secret key, plus a comparison run showing the ~25% error rate introduced by an intercept-resend eavesdropper.</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 Python</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8: BB84 Quantum Key Distribution with Eavesdropping Detection</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8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BB84 Quantum Key Distribution with Eavesdropping Detection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Without an eavesdropper the sifted key error rate is near zero (bounded only by hardware noise); with the intercept-resend eavesdropper the error rate rises to roughly 25%, which is the signal to abort and discard the key.</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Quantum Protocols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No-cloning theorem</a:t>
            </a:r>
          </a:p>
          <a:p>
            <a:pPr>
              <a:spcAft>
                <a:spcPts val="1000"/>
              </a:spcAft>
            </a:pPr>
            <a:r>
              <a:rPr sz="1600">
                <a:solidFill>
                  <a:srgbClr val="161B26"/>
                </a:solidFill>
                <a:latin typeface="Arial"/>
              </a:rPr>
              <a:t>•  Quantum teleportation</a:t>
            </a:r>
          </a:p>
          <a:p>
            <a:pPr>
              <a:spcAft>
                <a:spcPts val="1000"/>
              </a:spcAft>
            </a:pPr>
            <a:r>
              <a:rPr sz="1600">
                <a:solidFill>
                  <a:srgbClr val="161B26"/>
                </a:solidFill>
                <a:latin typeface="Arial"/>
              </a:rPr>
              <a:t>•  Superdense coding</a:t>
            </a:r>
          </a:p>
          <a:p>
            <a:pPr>
              <a:spcAft>
                <a:spcPts val="1000"/>
              </a:spcAft>
            </a:pPr>
            <a:r>
              <a:rPr sz="1600">
                <a:solidFill>
                  <a:srgbClr val="161B26"/>
                </a:solidFill>
                <a:latin typeface="Arial"/>
              </a:rPr>
              <a:t>•  BB84 QKD</a:t>
            </a:r>
          </a:p>
          <a:p>
            <a:pPr>
              <a:spcAft>
                <a:spcPts val="1000"/>
              </a:spcAft>
            </a:pPr>
            <a:r>
              <a:rPr sz="1600">
                <a:solidFill>
                  <a:srgbClr val="161B26"/>
                </a:solidFill>
                <a:latin typeface="Arial"/>
              </a:rPr>
              <a:t>•  Eavesdropping detection</a:t>
            </a:r>
          </a:p>
          <a:p>
            <a:pPr>
              <a:spcAft>
                <a:spcPts val="1000"/>
              </a:spcAft>
            </a:pPr>
            <a:r>
              <a:rPr sz="1600">
                <a:solidFill>
                  <a:srgbClr val="161B26"/>
                </a:solidFill>
                <a:latin typeface="Arial"/>
              </a:rPr>
              <a:t>•  CHSH game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05</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Quantum Algorithms</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Deutsch · Deutsch-Jozsa · Bernstein-Vazirani · Grover · Quantum Fourier Transform</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LO6, LO7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Quantum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The query (oracle) model</a:t>
            </a:r>
          </a:p>
          <a:p>
            <a:pPr algn="l">
              <a:spcAft>
                <a:spcPts val="300"/>
              </a:spcAft>
            </a:pPr>
            <a:r>
              <a:rPr sz="1100" b="0">
                <a:solidFill>
                  <a:srgbClr val="5B6372"/>
                </a:solidFill>
                <a:latin typeface="Arial"/>
              </a:rPr>
              <a:t>Algorithms are compared by how many times they query a black-box function — the standard measure of quantum advantage.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Deutsch algorithm</a:t>
            </a:r>
          </a:p>
          <a:p>
            <a:pPr algn="l">
              <a:spcAft>
                <a:spcPts val="300"/>
              </a:spcAft>
            </a:pPr>
            <a:r>
              <a:rPr sz="1100" b="0">
                <a:solidFill>
                  <a:srgbClr val="5B6372"/>
                </a:solidFill>
                <a:latin typeface="Arial"/>
              </a:rPr>
              <a:t>Decides whether f:{0,1}→{0,1} is constant or balanced with ONE query; classically two are required.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Deutsch-Jozsa</a:t>
            </a:r>
          </a:p>
          <a:p>
            <a:pPr algn="l">
              <a:spcAft>
                <a:spcPts val="300"/>
              </a:spcAft>
            </a:pPr>
            <a:r>
              <a:rPr sz="1100" b="0">
                <a:solidFill>
                  <a:srgbClr val="5B6372"/>
                </a:solidFill>
                <a:latin typeface="Arial"/>
              </a:rPr>
              <a:t>Extends the idea to n bits — one query versus 2ⁿ⁻¹+1 classical queries in the worst case: exponential separation.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Bernstein-Vazirani</a:t>
            </a:r>
          </a:p>
          <a:p>
            <a:pPr algn="l">
              <a:spcAft>
                <a:spcPts val="300"/>
              </a:spcAft>
            </a:pPr>
            <a:r>
              <a:rPr sz="1100" b="0">
                <a:solidFill>
                  <a:srgbClr val="5B6372"/>
                </a:solidFill>
                <a:latin typeface="Arial"/>
              </a:rPr>
              <a:t>Recovers an n-bit hidden string s from f(x) = s·x (mod 2) in a single query instead of 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Grover search</a:t>
            </a:r>
          </a:p>
          <a:p>
            <a:pPr algn="l">
              <a:spcAft>
                <a:spcPts val="300"/>
              </a:spcAft>
            </a:pPr>
            <a:r>
              <a:rPr sz="1100" b="0">
                <a:solidFill>
                  <a:srgbClr val="5B6372"/>
                </a:solidFill>
                <a:latin typeface="Arial"/>
              </a:rPr>
              <a:t>Amplitude amplification finds a marked item in an unstructured database in O(√N) instead of O(N) — a quadratic speedup.</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Quantum Fourier Transform</a:t>
            </a:r>
          </a:p>
          <a:p>
            <a:pPr algn="l">
              <a:spcAft>
                <a:spcPts val="300"/>
              </a:spcAft>
            </a:pPr>
            <a:r>
              <a:rPr sz="1100" b="0">
                <a:solidFill>
                  <a:srgbClr val="5B6372"/>
                </a:solidFill>
                <a:latin typeface="Arial"/>
              </a:rPr>
              <a:t>The quantum analogue of the DFT runs in O(n²) gates and underpins phase estimation and Shor's algorithm.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WHY THESE ALGORITHMS MATTER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Query Advantage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lgorithm-speedups.png"/>
          <p:cNvPicPr>
            <a:picLocks noChangeAspect="1"/>
          </p:cNvPicPr>
          <p:nvPr/>
        </p:nvPicPr>
        <p:blipFill>
          <a:blip r:embed="rId2"/>
          <a:stretch>
            <a:fillRect/>
          </a:stretch>
        </p:blipFill>
        <p:spPr>
          <a:xfrm>
            <a:off x="1798928" y="1755648"/>
            <a:ext cx="8591096" cy="3950207"/>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Query counts are illustrative — the point is the SCALING, not the absolute numbers.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HOW GROVER ACTUALLY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Grover — Amplitude Amplification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rover-amplification.png"/>
          <p:cNvPicPr>
            <a:picLocks noChangeAspect="1"/>
          </p:cNvPicPr>
          <p:nvPr/>
        </p:nvPicPr>
        <p:blipFill>
          <a:blip r:embed="rId2"/>
          <a:stretch>
            <a:fillRect/>
          </a:stretch>
        </p:blipFill>
        <p:spPr>
          <a:xfrm>
            <a:off x="777240" y="2930433"/>
            <a:ext cx="6400800" cy="1911534"/>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Start</a:t>
            </a:r>
          </a:p>
          <a:p>
            <a:pPr algn="l">
              <a:spcAft>
                <a:spcPts val="300"/>
              </a:spcAft>
            </a:pPr>
            <a:r>
              <a:rPr sz="1200" b="0">
                <a:solidFill>
                  <a:srgbClr val="161B26"/>
                </a:solidFill>
                <a:latin typeface="Arial"/>
              </a:rPr>
              <a:t>All N states share an equal amplitude of 1/√N.</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Oracle</a:t>
            </a:r>
          </a:p>
          <a:p>
            <a:pPr algn="l">
              <a:spcAft>
                <a:spcPts val="300"/>
              </a:spcAft>
            </a:pPr>
            <a:r>
              <a:rPr sz="1200" b="0">
                <a:solidFill>
                  <a:srgbClr val="161B26"/>
                </a:solidFill>
                <a:latin typeface="Arial"/>
              </a:rPr>
              <a:t>Flips the SIGN of the marked state — invisible to measurement so far.</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Diffuser</a:t>
            </a:r>
          </a:p>
          <a:p>
            <a:pPr algn="l">
              <a:spcAft>
                <a:spcPts val="300"/>
              </a:spcAft>
            </a:pPr>
            <a:r>
              <a:rPr sz="1200" b="0">
                <a:solidFill>
                  <a:srgbClr val="161B26"/>
                </a:solidFill>
                <a:latin typeface="Arial"/>
              </a:rPr>
              <a:t>Reflects every amplitude about the mean, growing the marked one.</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Repeat</a:t>
            </a:r>
          </a:p>
          <a:p>
            <a:pPr algn="l">
              <a:spcAft>
                <a:spcPts val="300"/>
              </a:spcAft>
            </a:pPr>
            <a:r>
              <a:rPr sz="1200" b="0">
                <a:solidFill>
                  <a:srgbClr val="161B26"/>
                </a:solidFill>
                <a:latin typeface="Arial"/>
              </a:rPr>
              <a:t>About (π/4)√N times — then measure.</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SCALING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Grover's Quadratic Speedup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rover-scaling.png"/>
          <p:cNvPicPr>
            <a:picLocks noChangeAspect="1"/>
          </p:cNvPicPr>
          <p:nvPr/>
        </p:nvPicPr>
        <p:blipFill>
          <a:blip r:embed="rId2"/>
          <a:stretch>
            <a:fillRect/>
          </a:stretch>
        </p:blipFill>
        <p:spPr>
          <a:xfrm>
            <a:off x="777240" y="2309406"/>
            <a:ext cx="6400800" cy="3153588"/>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Classical</a:t>
            </a:r>
          </a:p>
          <a:p>
            <a:pPr algn="l">
              <a:spcAft>
                <a:spcPts val="300"/>
              </a:spcAft>
            </a:pPr>
            <a:r>
              <a:rPr sz="1200" b="0">
                <a:solidFill>
                  <a:srgbClr val="161B26"/>
                </a:solidFill>
                <a:latin typeface="Arial"/>
              </a:rPr>
              <a:t>Checking an unstructured list takes O(N) queries.</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Grover</a:t>
            </a:r>
          </a:p>
          <a:p>
            <a:pPr algn="l">
              <a:spcAft>
                <a:spcPts val="300"/>
              </a:spcAft>
            </a:pPr>
            <a:r>
              <a:rPr sz="1200" b="0">
                <a:solidFill>
                  <a:srgbClr val="161B26"/>
                </a:solidFill>
                <a:latin typeface="Arial"/>
              </a:rPr>
              <a:t>Finds the marked item in O(√N) queries.</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1M items</a:t>
            </a:r>
          </a:p>
          <a:p>
            <a:pPr algn="l">
              <a:spcAft>
                <a:spcPts val="300"/>
              </a:spcAft>
            </a:pPr>
            <a:r>
              <a:rPr sz="1200" b="0">
                <a:solidFill>
                  <a:srgbClr val="161B26"/>
                </a:solidFill>
                <a:latin typeface="Arial"/>
              </a:rPr>
              <a:t>1,000,000 checks become roughly 1,000.</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Not exponential</a:t>
            </a:r>
          </a:p>
          <a:p>
            <a:pPr algn="l">
              <a:spcAft>
                <a:spcPts val="300"/>
              </a:spcAft>
            </a:pPr>
            <a:r>
              <a:rPr sz="1200" b="0">
                <a:solidFill>
                  <a:srgbClr val="161B26"/>
                </a:solidFill>
                <a:latin typeface="Arial"/>
              </a:rPr>
              <a:t>A real speedup, but far smaller than Shor's.</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Activities — Quantum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Activities 9–10</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a:solidFill>
                  <a:srgbClr val="161B26"/>
                </a:solidFill>
                <a:latin typeface="Arial"/>
              </a:rPr>
              <a:t>•  Deutsch and Deutsch-Jozsa Algorithms</a:t>
            </a:r>
          </a:p>
          <a:p>
            <a:pPr>
              <a:spcAft>
                <a:spcPts val="900"/>
              </a:spcAft>
            </a:pPr>
            <a:r>
              <a:rPr sz="1400">
                <a:solidFill>
                  <a:srgbClr val="161B26"/>
                </a:solidFill>
                <a:latin typeface="Arial"/>
              </a:rPr>
              <a:t>•  Bernstein-Vazirani Algorithm</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Activities 11–12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a:solidFill>
                  <a:srgbClr val="161B26"/>
                </a:solidFill>
                <a:latin typeface="Arial"/>
              </a:rPr>
              <a:t>•  Grover's Search Algorithm</a:t>
            </a:r>
          </a:p>
          <a:p>
            <a:pPr>
              <a:spcAft>
                <a:spcPts val="900"/>
              </a:spcAft>
            </a:pPr>
            <a:r>
              <a:rPr sz="1400">
                <a:solidFill>
                  <a:srgbClr val="161B26"/>
                </a:solidFill>
                <a:latin typeface="Arial"/>
              </a:rPr>
              <a:t>•  Quantum Fourier Transform</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Deutsch and Deutsch-Jozsa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9</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Implement the first algorithms to show a provable quantum advantage: decide whether a black-box function is constant or balanced with a single query, then generalise from one input bit to n.</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LO6 — Establish guidelines for selecting quantum computing algorithms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Deutsch and Deutsch-Jozsa circuits with all four oracle types, run on IBM Quantum hardware, correctly classifying each function in one query.</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 OpenQASM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9: Deutsch and Deutsch-Jozsa Algorithms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9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Deutsch and Deutsch-Jozsa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Deutsch circuit measures 0 for both constant oracles and 1 for both balanced oracles; Deutsch-Jozsa returns the all-zeros string for a constant function and a non-zero string for a balanced function — each using exactly one oracle query.</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Bernstein-Vazirani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10</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Recover an n-bit hidden string in a single oracle query. Classically you would need n queries — one per bit — making this a clean demonstration of linear-to-constant query speedup.</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LO6 — Establish guidelines for selecting quantum computing algorithms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Bernstein-Vazirani circuit that recovers a chosen hidden string such as 1011 in one query on real hardware.</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10: Bernstein-Vazirani Algorithm</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10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Bernstein-Vazirani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most frequent measured bit string equals the hidden string s that was encoded in the oracle, recovered with a single oracle query regardless of the length of s.</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Grover's Search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11</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Implement amplitude amplification to find a marked item in an unstructured search space, using the phase oracle and the diffuser, and see the quadratic O(sqrt(N)) speedup for 2-qubit and 3-qubit searches.</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LO6, LO7 — Select algorithms and synthesize quantum methodologies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Grover circuits for 2 and 3 qubits that amplify the marked state to a high measurement probability on real hardware.</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 OpenQASM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11: Grover's Search Algorithm</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11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Grover's Search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For 2 qubits the marked state is measured with near-certainty after one Grover iteration; for 3 qubits it dominates the histogram after two iterations; applying too many iterations visibly reduces the success probability.</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Fourier Transform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12</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Build the QFT circuit from Hadamard and controlled-phase gates, verify it against the classical DFT, and understand why it is the engine behind phase estimation and Shor's algorithm.</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LO6, LO7 — Establish guidelines for selecting quantum computing algorithms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QFT circuits for 3, 4 and 5 qubits, validated against a classical DFT reference and run on IBM Quantum hardware.</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NumPy, IBM Quantum Runtime, OpenQASM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12: Quantum Fourier Transform</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12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Fourier Transform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Your hand-built QFT circuit produces the same state vector as Qiskit's built-in QFT and matches a normalised classical FFT of the same input, using on the order of n^2 gates.</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Quantum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The query (oracle) model</a:t>
            </a:r>
          </a:p>
          <a:p>
            <a:pPr>
              <a:spcAft>
                <a:spcPts val="1000"/>
              </a:spcAft>
            </a:pPr>
            <a:r>
              <a:rPr sz="1600">
                <a:solidFill>
                  <a:srgbClr val="161B26"/>
                </a:solidFill>
                <a:latin typeface="Arial"/>
              </a:rPr>
              <a:t>•  Deutsch algorithm</a:t>
            </a:r>
          </a:p>
          <a:p>
            <a:pPr>
              <a:spcAft>
                <a:spcPts val="1000"/>
              </a:spcAft>
            </a:pPr>
            <a:r>
              <a:rPr sz="1600">
                <a:solidFill>
                  <a:srgbClr val="161B26"/>
                </a:solidFill>
                <a:latin typeface="Arial"/>
              </a:rPr>
              <a:t>•  Deutsch-Jozsa</a:t>
            </a:r>
          </a:p>
          <a:p>
            <a:pPr>
              <a:spcAft>
                <a:spcPts val="1000"/>
              </a:spcAft>
            </a:pPr>
            <a:r>
              <a:rPr sz="1600">
                <a:solidFill>
                  <a:srgbClr val="161B26"/>
                </a:solidFill>
                <a:latin typeface="Arial"/>
              </a:rPr>
              <a:t>•  Bernstein-Vazirani</a:t>
            </a:r>
          </a:p>
          <a:p>
            <a:pPr>
              <a:spcAft>
                <a:spcPts val="1000"/>
              </a:spcAft>
            </a:pPr>
            <a:r>
              <a:rPr sz="1600">
                <a:solidFill>
                  <a:srgbClr val="161B26"/>
                </a:solidFill>
                <a:latin typeface="Arial"/>
              </a:rPr>
              <a:t>•  Grover search</a:t>
            </a:r>
          </a:p>
          <a:p>
            <a:pPr>
              <a:spcAft>
                <a:spcPts val="1000"/>
              </a:spcAft>
            </a:pPr>
            <a:r>
              <a:rPr sz="1600">
                <a:solidFill>
                  <a:srgbClr val="161B26"/>
                </a:solidFill>
                <a:latin typeface="Arial"/>
              </a:rPr>
              <a:t>•  Quantum Fourier Transform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06</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Quantum Cryptography and Quantum Safety</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Classical Cryptography · The Quantum Threat · Shor Algorithm · Post-Quantum Cryptography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06</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LO4, LO7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Quantum Cryptography and Quantum Safety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Goals of cryptography</a:t>
            </a:r>
          </a:p>
          <a:p>
            <a:pPr algn="l">
              <a:spcAft>
                <a:spcPts val="300"/>
              </a:spcAft>
            </a:pPr>
            <a:r>
              <a:rPr sz="1100" b="0">
                <a:solidFill>
                  <a:srgbClr val="5B6372"/>
                </a:solidFill>
                <a:latin typeface="Arial"/>
              </a:rPr>
              <a:t>Confidentiality, integrity, authentication and non-repudiation are the four properties every scheme must address.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Classical schemes</a:t>
            </a:r>
          </a:p>
          <a:p>
            <a:pPr algn="l">
              <a:spcAft>
                <a:spcPts val="300"/>
              </a:spcAft>
            </a:pPr>
            <a:r>
              <a:rPr sz="1100" b="0">
                <a:solidFill>
                  <a:srgbClr val="5B6372"/>
                </a:solidFill>
                <a:latin typeface="Arial"/>
              </a:rPr>
              <a:t>Symmetric (AES), asymmetric (RSA, ECC) and hash functions (SHA-256) rest on problems that are hard for classical computers.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The quantum threat</a:t>
            </a:r>
          </a:p>
          <a:p>
            <a:pPr algn="l">
              <a:spcAft>
                <a:spcPts val="300"/>
              </a:spcAft>
            </a:pPr>
            <a:r>
              <a:rPr sz="1100" b="0">
                <a:solidFill>
                  <a:srgbClr val="5B6372"/>
                </a:solidFill>
                <a:latin typeface="Arial"/>
              </a:rPr>
              <a:t>Shor's algorithm breaks RSA and ECC in polynomial time; Grover halves the effective key length of symmetric ciphers.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Shor's algorithm</a:t>
            </a:r>
          </a:p>
          <a:p>
            <a:pPr algn="l">
              <a:spcAft>
                <a:spcPts val="300"/>
              </a:spcAft>
            </a:pPr>
            <a:r>
              <a:rPr sz="1100" b="0">
                <a:solidFill>
                  <a:srgbClr val="5B6372"/>
                </a:solidFill>
                <a:latin typeface="Arial"/>
              </a:rPr>
              <a:t>Reduces factoring to period-finding, then uses the QFT to extract the period — turning a hard problem into an easy one.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Harvest now, decrypt later</a:t>
            </a:r>
          </a:p>
          <a:p>
            <a:pPr algn="l">
              <a:spcAft>
                <a:spcPts val="300"/>
              </a:spcAft>
            </a:pPr>
            <a:r>
              <a:rPr sz="1100" b="0">
                <a:solidFill>
                  <a:srgbClr val="5B6372"/>
                </a:solidFill>
                <a:latin typeface="Arial"/>
              </a:rPr>
              <a:t>Adversaries can record encrypted traffic today and decrypt it once a cryptographically relevant quantum computer exists.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Post-quantum cryptography</a:t>
            </a:r>
          </a:p>
          <a:p>
            <a:pPr algn="l">
              <a:spcAft>
                <a:spcPts val="300"/>
              </a:spcAft>
            </a:pPr>
            <a:r>
              <a:rPr sz="1100" b="0">
                <a:solidFill>
                  <a:srgbClr val="5B6372"/>
                </a:solidFill>
                <a:latin typeface="Arial"/>
              </a:rPr>
              <a:t>NIST has standardised ML-KEM (Kyber), ML-DSA (Dilithium), SLH-DSA (SPHINCS+) and HQC as quantum-resistant replacements.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BREAKS AND WHAT SURVIVES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Quantum Threat to Cryptography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rypto-threat.png"/>
          <p:cNvPicPr>
            <a:picLocks noChangeAspect="1"/>
          </p:cNvPicPr>
          <p:nvPr/>
        </p:nvPicPr>
        <p:blipFill>
          <a:blip r:embed="rId2"/>
          <a:stretch>
            <a:fillRect/>
          </a:stretch>
        </p:blipFill>
        <p:spPr>
          <a:xfrm>
            <a:off x="2027128" y="1755648"/>
            <a:ext cx="8134695"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Symmetric crypto survives by doubling key length; public-key crypto must be replaced outright.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FACTORING VIA PERIOD FINDING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Shor's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hor-flow.png"/>
          <p:cNvPicPr>
            <a:picLocks noChangeAspect="1"/>
          </p:cNvPicPr>
          <p:nvPr/>
        </p:nvPicPr>
        <p:blipFill>
          <a:blip r:embed="rId2"/>
          <a:stretch>
            <a:fillRect/>
          </a:stretch>
        </p:blipFill>
        <p:spPr>
          <a:xfrm>
            <a:off x="777240" y="1837816"/>
            <a:ext cx="10634472" cy="3785872"/>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Only the period-finding step is quantum — the rest is classical number theory.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FOUR GOALS: CONFIDENTIALITY · INTEGRITY · AUTHENTICATION · NON-REPUDIATION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Classical Cryptography — What You Must Know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914204"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74519"/>
            <a:ext cx="1639884" cy="475488"/>
          </a:xfrm>
          <a:prstGeom prst="rect">
            <a:avLst/>
          </a:prstGeom>
          <a:noFill/>
        </p:spPr>
        <p:txBody>
          <a:bodyPr wrap="square" anchor="ctr">
            <a:spAutoFit/>
          </a:bodyPr>
          <a:lstStyle/>
          <a:p>
            <a:pPr algn="l">
              <a:spcAft>
                <a:spcPts val="400"/>
              </a:spcAft>
            </a:pPr>
            <a:r>
              <a:rPr sz="1300" b="1">
                <a:solidFill>
                  <a:srgbClr val="FFFFFF"/>
                </a:solidFill>
                <a:latin typeface="Arial"/>
              </a:rPr>
              <a:t>Type</a:t>
            </a:r>
          </a:p>
        </p:txBody>
      </p:sp>
      <p:sp>
        <p:nvSpPr>
          <p:cNvPr id="9" name="Rectangle 8"/>
          <p:cNvSpPr/>
          <p:nvPr/>
        </p:nvSpPr>
        <p:spPr>
          <a:xfrm>
            <a:off x="2691444" y="1874519"/>
            <a:ext cx="2339583"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28604" y="1874519"/>
            <a:ext cx="2065263" cy="475488"/>
          </a:xfrm>
          <a:prstGeom prst="rect">
            <a:avLst/>
          </a:prstGeom>
          <a:noFill/>
        </p:spPr>
        <p:txBody>
          <a:bodyPr wrap="square" anchor="ctr">
            <a:spAutoFit/>
          </a:bodyPr>
          <a:lstStyle/>
          <a:p>
            <a:pPr algn="l">
              <a:spcAft>
                <a:spcPts val="400"/>
              </a:spcAft>
            </a:pPr>
            <a:r>
              <a:rPr sz="1300" b="1">
                <a:solidFill>
                  <a:srgbClr val="FFFFFF"/>
                </a:solidFill>
                <a:latin typeface="Arial"/>
              </a:rPr>
              <a:t>Example</a:t>
            </a:r>
          </a:p>
        </p:txBody>
      </p:sp>
      <p:sp>
        <p:nvSpPr>
          <p:cNvPr id="11" name="Rectangle 10"/>
          <p:cNvSpPr/>
          <p:nvPr/>
        </p:nvSpPr>
        <p:spPr>
          <a:xfrm>
            <a:off x="5031027" y="1874519"/>
            <a:ext cx="3190341"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8187" y="1874519"/>
            <a:ext cx="2916021" cy="475488"/>
          </a:xfrm>
          <a:prstGeom prst="rect">
            <a:avLst/>
          </a:prstGeom>
          <a:noFill/>
        </p:spPr>
        <p:txBody>
          <a:bodyPr wrap="square" anchor="ctr">
            <a:spAutoFit/>
          </a:bodyPr>
          <a:lstStyle/>
          <a:p>
            <a:pPr algn="l">
              <a:spcAft>
                <a:spcPts val="400"/>
              </a:spcAft>
            </a:pPr>
            <a:r>
              <a:rPr sz="1300" b="1">
                <a:solidFill>
                  <a:srgbClr val="FFFFFF"/>
                </a:solidFill>
                <a:latin typeface="Arial"/>
              </a:rPr>
              <a:t>Key</a:t>
            </a:r>
          </a:p>
        </p:txBody>
      </p:sp>
      <p:sp>
        <p:nvSpPr>
          <p:cNvPr id="13" name="Rectangle 12"/>
          <p:cNvSpPr/>
          <p:nvPr/>
        </p:nvSpPr>
        <p:spPr>
          <a:xfrm>
            <a:off x="8221368" y="1874519"/>
            <a:ext cx="3190341"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58528" y="1874519"/>
            <a:ext cx="2916021" cy="475488"/>
          </a:xfrm>
          <a:prstGeom prst="rect">
            <a:avLst/>
          </a:prstGeom>
          <a:noFill/>
        </p:spPr>
        <p:txBody>
          <a:bodyPr wrap="square" anchor="ctr">
            <a:spAutoFit/>
          </a:bodyPr>
          <a:lstStyle/>
          <a:p>
            <a:pPr algn="l">
              <a:spcAft>
                <a:spcPts val="400"/>
              </a:spcAft>
            </a:pPr>
            <a:r>
              <a:rPr sz="1300" b="1">
                <a:solidFill>
                  <a:srgbClr val="FFFFFF"/>
                </a:solidFill>
                <a:latin typeface="Arial"/>
              </a:rPr>
              <a:t>Broken by</a:t>
            </a:r>
          </a:p>
        </p:txBody>
      </p:sp>
      <p:sp>
        <p:nvSpPr>
          <p:cNvPr id="15" name="Rectangle 14"/>
          <p:cNvSpPr/>
          <p:nvPr/>
        </p:nvSpPr>
        <p:spPr>
          <a:xfrm>
            <a:off x="777240" y="2350007"/>
            <a:ext cx="1914204"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2350007"/>
            <a:ext cx="1639884" cy="475488"/>
          </a:xfrm>
          <a:prstGeom prst="rect">
            <a:avLst/>
          </a:prstGeom>
          <a:noFill/>
        </p:spPr>
        <p:txBody>
          <a:bodyPr wrap="square" anchor="ctr">
            <a:spAutoFit/>
          </a:bodyPr>
          <a:lstStyle/>
          <a:p>
            <a:pPr algn="l">
              <a:spcAft>
                <a:spcPts val="400"/>
              </a:spcAft>
            </a:pPr>
            <a:r>
              <a:rPr sz="1200" b="1">
                <a:solidFill>
                  <a:srgbClr val="161B26"/>
                </a:solidFill>
                <a:latin typeface="Arial"/>
              </a:rPr>
              <a:t>Symmetric</a:t>
            </a:r>
          </a:p>
        </p:txBody>
      </p:sp>
      <p:sp>
        <p:nvSpPr>
          <p:cNvPr id="17" name="Rectangle 16"/>
          <p:cNvSpPr/>
          <p:nvPr/>
        </p:nvSpPr>
        <p:spPr>
          <a:xfrm>
            <a:off x="2691444" y="2350007"/>
            <a:ext cx="2339583"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28604" y="2350007"/>
            <a:ext cx="2065263" cy="475488"/>
          </a:xfrm>
          <a:prstGeom prst="rect">
            <a:avLst/>
          </a:prstGeom>
          <a:noFill/>
        </p:spPr>
        <p:txBody>
          <a:bodyPr wrap="square" anchor="ctr">
            <a:spAutoFit/>
          </a:bodyPr>
          <a:lstStyle/>
          <a:p>
            <a:pPr algn="l">
              <a:spcAft>
                <a:spcPts val="400"/>
              </a:spcAft>
            </a:pPr>
            <a:r>
              <a:rPr sz="1200" b="0">
                <a:solidFill>
                  <a:srgbClr val="161B26"/>
                </a:solidFill>
                <a:latin typeface="Arial"/>
              </a:rPr>
              <a:t>AES-256</a:t>
            </a:r>
          </a:p>
        </p:txBody>
      </p:sp>
      <p:sp>
        <p:nvSpPr>
          <p:cNvPr id="19" name="Rectangle 18"/>
          <p:cNvSpPr/>
          <p:nvPr/>
        </p:nvSpPr>
        <p:spPr>
          <a:xfrm>
            <a:off x="5031027" y="2350007"/>
            <a:ext cx="3190341"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68187" y="2350007"/>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One shared secret key</a:t>
            </a:r>
          </a:p>
        </p:txBody>
      </p:sp>
      <p:sp>
        <p:nvSpPr>
          <p:cNvPr id="21" name="Rectangle 20"/>
          <p:cNvSpPr/>
          <p:nvPr/>
        </p:nvSpPr>
        <p:spPr>
          <a:xfrm>
            <a:off x="8221368" y="2350007"/>
            <a:ext cx="3190341"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58528" y="2350007"/>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Grover (halves strength)</a:t>
            </a:r>
          </a:p>
        </p:txBody>
      </p:sp>
      <p:sp>
        <p:nvSpPr>
          <p:cNvPr id="23" name="Rectangle 22"/>
          <p:cNvSpPr/>
          <p:nvPr/>
        </p:nvSpPr>
        <p:spPr>
          <a:xfrm>
            <a:off x="777240" y="2825495"/>
            <a:ext cx="1914204"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2825495"/>
            <a:ext cx="1639884" cy="475488"/>
          </a:xfrm>
          <a:prstGeom prst="rect">
            <a:avLst/>
          </a:prstGeom>
          <a:noFill/>
        </p:spPr>
        <p:txBody>
          <a:bodyPr wrap="square" anchor="ctr">
            <a:spAutoFit/>
          </a:bodyPr>
          <a:lstStyle/>
          <a:p>
            <a:pPr algn="l">
              <a:spcAft>
                <a:spcPts val="400"/>
              </a:spcAft>
            </a:pPr>
            <a:r>
              <a:rPr sz="1200" b="1">
                <a:solidFill>
                  <a:srgbClr val="161B26"/>
                </a:solidFill>
                <a:latin typeface="Arial"/>
              </a:rPr>
              <a:t>Asymmetric</a:t>
            </a:r>
          </a:p>
        </p:txBody>
      </p:sp>
      <p:sp>
        <p:nvSpPr>
          <p:cNvPr id="25" name="Rectangle 24"/>
          <p:cNvSpPr/>
          <p:nvPr/>
        </p:nvSpPr>
        <p:spPr>
          <a:xfrm>
            <a:off x="2691444" y="2825495"/>
            <a:ext cx="2339583"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28604" y="2825495"/>
            <a:ext cx="2065263" cy="475488"/>
          </a:xfrm>
          <a:prstGeom prst="rect">
            <a:avLst/>
          </a:prstGeom>
          <a:noFill/>
        </p:spPr>
        <p:txBody>
          <a:bodyPr wrap="square" anchor="ctr">
            <a:spAutoFit/>
          </a:bodyPr>
          <a:lstStyle/>
          <a:p>
            <a:pPr algn="l">
              <a:spcAft>
                <a:spcPts val="400"/>
              </a:spcAft>
            </a:pPr>
            <a:r>
              <a:rPr sz="1200" b="0">
                <a:solidFill>
                  <a:srgbClr val="161B26"/>
                </a:solidFill>
                <a:latin typeface="Arial"/>
              </a:rPr>
              <a:t>RSA-2048, ECC</a:t>
            </a:r>
          </a:p>
        </p:txBody>
      </p:sp>
      <p:sp>
        <p:nvSpPr>
          <p:cNvPr id="27" name="Rectangle 26"/>
          <p:cNvSpPr/>
          <p:nvPr/>
        </p:nvSpPr>
        <p:spPr>
          <a:xfrm>
            <a:off x="5031027" y="2825495"/>
            <a:ext cx="3190341"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68187" y="2825495"/>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Public + private key pair</a:t>
            </a:r>
          </a:p>
        </p:txBody>
      </p:sp>
      <p:sp>
        <p:nvSpPr>
          <p:cNvPr id="29" name="Rectangle 28"/>
          <p:cNvSpPr/>
          <p:nvPr/>
        </p:nvSpPr>
        <p:spPr>
          <a:xfrm>
            <a:off x="8221368" y="2825495"/>
            <a:ext cx="3190341"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58528" y="2825495"/>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Shor (fully broken)</a:t>
            </a:r>
          </a:p>
        </p:txBody>
      </p:sp>
      <p:sp>
        <p:nvSpPr>
          <p:cNvPr id="31" name="Rectangle 30"/>
          <p:cNvSpPr/>
          <p:nvPr/>
        </p:nvSpPr>
        <p:spPr>
          <a:xfrm>
            <a:off x="777240" y="3300983"/>
            <a:ext cx="1914204"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300983"/>
            <a:ext cx="1639884" cy="475488"/>
          </a:xfrm>
          <a:prstGeom prst="rect">
            <a:avLst/>
          </a:prstGeom>
          <a:noFill/>
        </p:spPr>
        <p:txBody>
          <a:bodyPr wrap="square" anchor="ctr">
            <a:spAutoFit/>
          </a:bodyPr>
          <a:lstStyle/>
          <a:p>
            <a:pPr algn="l">
              <a:spcAft>
                <a:spcPts val="400"/>
              </a:spcAft>
            </a:pPr>
            <a:r>
              <a:rPr sz="1200" b="1">
                <a:solidFill>
                  <a:srgbClr val="161B26"/>
                </a:solidFill>
                <a:latin typeface="Arial"/>
              </a:rPr>
              <a:t>Hash</a:t>
            </a:r>
          </a:p>
        </p:txBody>
      </p:sp>
      <p:sp>
        <p:nvSpPr>
          <p:cNvPr id="33" name="Rectangle 32"/>
          <p:cNvSpPr/>
          <p:nvPr/>
        </p:nvSpPr>
        <p:spPr>
          <a:xfrm>
            <a:off x="2691444" y="3300983"/>
            <a:ext cx="2339583"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28604" y="3300983"/>
            <a:ext cx="2065263" cy="475488"/>
          </a:xfrm>
          <a:prstGeom prst="rect">
            <a:avLst/>
          </a:prstGeom>
          <a:noFill/>
        </p:spPr>
        <p:txBody>
          <a:bodyPr wrap="square" anchor="ctr">
            <a:spAutoFit/>
          </a:bodyPr>
          <a:lstStyle/>
          <a:p>
            <a:pPr algn="l">
              <a:spcAft>
                <a:spcPts val="400"/>
              </a:spcAft>
            </a:pPr>
            <a:r>
              <a:rPr sz="1200" b="0">
                <a:solidFill>
                  <a:srgbClr val="161B26"/>
                </a:solidFill>
                <a:latin typeface="Arial"/>
              </a:rPr>
              <a:t>SHA-256</a:t>
            </a:r>
          </a:p>
        </p:txBody>
      </p:sp>
      <p:sp>
        <p:nvSpPr>
          <p:cNvPr id="35" name="Rectangle 34"/>
          <p:cNvSpPr/>
          <p:nvPr/>
        </p:nvSpPr>
        <p:spPr>
          <a:xfrm>
            <a:off x="5031027" y="3300983"/>
            <a:ext cx="3190341"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68187" y="3300983"/>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No key</a:t>
            </a:r>
          </a:p>
        </p:txBody>
      </p:sp>
      <p:sp>
        <p:nvSpPr>
          <p:cNvPr id="37" name="Rectangle 36"/>
          <p:cNvSpPr/>
          <p:nvPr/>
        </p:nvSpPr>
        <p:spPr>
          <a:xfrm>
            <a:off x="8221368" y="3300983"/>
            <a:ext cx="3190341"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58528" y="3300983"/>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Grover (halves strength)</a:t>
            </a:r>
          </a:p>
        </p:txBody>
      </p:sp>
      <p:sp>
        <p:nvSpPr>
          <p:cNvPr id="39" name="Rectangle 38"/>
          <p:cNvSpPr/>
          <p:nvPr/>
        </p:nvSpPr>
        <p:spPr>
          <a:xfrm>
            <a:off x="777240" y="3776471"/>
            <a:ext cx="1914204"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3776471"/>
            <a:ext cx="1639884" cy="475488"/>
          </a:xfrm>
          <a:prstGeom prst="rect">
            <a:avLst/>
          </a:prstGeom>
          <a:noFill/>
        </p:spPr>
        <p:txBody>
          <a:bodyPr wrap="square" anchor="ctr">
            <a:spAutoFit/>
          </a:bodyPr>
          <a:lstStyle/>
          <a:p>
            <a:pPr algn="l">
              <a:spcAft>
                <a:spcPts val="400"/>
              </a:spcAft>
            </a:pPr>
            <a:r>
              <a:rPr sz="1200" b="1">
                <a:solidFill>
                  <a:srgbClr val="161B26"/>
                </a:solidFill>
                <a:latin typeface="Arial"/>
              </a:rPr>
              <a:t>PQC KEM</a:t>
            </a:r>
          </a:p>
        </p:txBody>
      </p:sp>
      <p:sp>
        <p:nvSpPr>
          <p:cNvPr id="41" name="Rectangle 40"/>
          <p:cNvSpPr/>
          <p:nvPr/>
        </p:nvSpPr>
        <p:spPr>
          <a:xfrm>
            <a:off x="2691444" y="3776471"/>
            <a:ext cx="2339583"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828604" y="3776471"/>
            <a:ext cx="2065263" cy="475488"/>
          </a:xfrm>
          <a:prstGeom prst="rect">
            <a:avLst/>
          </a:prstGeom>
          <a:noFill/>
        </p:spPr>
        <p:txBody>
          <a:bodyPr wrap="square" anchor="ctr">
            <a:spAutoFit/>
          </a:bodyPr>
          <a:lstStyle/>
          <a:p>
            <a:pPr algn="l">
              <a:spcAft>
                <a:spcPts val="400"/>
              </a:spcAft>
            </a:pPr>
            <a:r>
              <a:rPr sz="1200" b="0">
                <a:solidFill>
                  <a:srgbClr val="161B26"/>
                </a:solidFill>
                <a:latin typeface="Arial"/>
              </a:rPr>
              <a:t>ML-KEM (Kyber)</a:t>
            </a:r>
          </a:p>
        </p:txBody>
      </p:sp>
      <p:sp>
        <p:nvSpPr>
          <p:cNvPr id="43" name="Rectangle 42"/>
          <p:cNvSpPr/>
          <p:nvPr/>
        </p:nvSpPr>
        <p:spPr>
          <a:xfrm>
            <a:off x="5031027" y="3776471"/>
            <a:ext cx="3190341"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168187" y="3776471"/>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Lattice-based</a:t>
            </a:r>
          </a:p>
        </p:txBody>
      </p:sp>
      <p:sp>
        <p:nvSpPr>
          <p:cNvPr id="45" name="Rectangle 44"/>
          <p:cNvSpPr/>
          <p:nvPr/>
        </p:nvSpPr>
        <p:spPr>
          <a:xfrm>
            <a:off x="8221368" y="3776471"/>
            <a:ext cx="3190341"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358528" y="3776471"/>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Not known to be broken</a:t>
            </a:r>
          </a:p>
        </p:txBody>
      </p:sp>
      <p:sp>
        <p:nvSpPr>
          <p:cNvPr id="47" name="Rectangle 46"/>
          <p:cNvSpPr/>
          <p:nvPr/>
        </p:nvSpPr>
        <p:spPr>
          <a:xfrm>
            <a:off x="777240" y="4251959"/>
            <a:ext cx="1914204"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4400" y="4251959"/>
            <a:ext cx="1639884" cy="475488"/>
          </a:xfrm>
          <a:prstGeom prst="rect">
            <a:avLst/>
          </a:prstGeom>
          <a:noFill/>
        </p:spPr>
        <p:txBody>
          <a:bodyPr wrap="square" anchor="ctr">
            <a:spAutoFit/>
          </a:bodyPr>
          <a:lstStyle/>
          <a:p>
            <a:pPr algn="l">
              <a:spcAft>
                <a:spcPts val="400"/>
              </a:spcAft>
            </a:pPr>
            <a:r>
              <a:rPr sz="1200" b="1">
                <a:solidFill>
                  <a:srgbClr val="161B26"/>
                </a:solidFill>
                <a:latin typeface="Arial"/>
              </a:rPr>
              <a:t>PQC signature</a:t>
            </a:r>
          </a:p>
        </p:txBody>
      </p:sp>
      <p:sp>
        <p:nvSpPr>
          <p:cNvPr id="49" name="Rectangle 48"/>
          <p:cNvSpPr/>
          <p:nvPr/>
        </p:nvSpPr>
        <p:spPr>
          <a:xfrm>
            <a:off x="2691444" y="4251959"/>
            <a:ext cx="2339583"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828604" y="4251959"/>
            <a:ext cx="2065263" cy="475488"/>
          </a:xfrm>
          <a:prstGeom prst="rect">
            <a:avLst/>
          </a:prstGeom>
          <a:noFill/>
        </p:spPr>
        <p:txBody>
          <a:bodyPr wrap="square" anchor="ctr">
            <a:spAutoFit/>
          </a:bodyPr>
          <a:lstStyle/>
          <a:p>
            <a:pPr algn="l">
              <a:spcAft>
                <a:spcPts val="400"/>
              </a:spcAft>
            </a:pPr>
            <a:r>
              <a:rPr sz="1200" b="0">
                <a:solidFill>
                  <a:srgbClr val="161B26"/>
                </a:solidFill>
                <a:latin typeface="Arial"/>
              </a:rPr>
              <a:t>ML-DSA, SLH-DSA</a:t>
            </a:r>
          </a:p>
        </p:txBody>
      </p:sp>
      <p:sp>
        <p:nvSpPr>
          <p:cNvPr id="51" name="Rectangle 50"/>
          <p:cNvSpPr/>
          <p:nvPr/>
        </p:nvSpPr>
        <p:spPr>
          <a:xfrm>
            <a:off x="5031027" y="4251959"/>
            <a:ext cx="3190341"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68187" y="4251959"/>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Lattice / hash-based</a:t>
            </a:r>
          </a:p>
        </p:txBody>
      </p:sp>
      <p:sp>
        <p:nvSpPr>
          <p:cNvPr id="53" name="Rectangle 52"/>
          <p:cNvSpPr/>
          <p:nvPr/>
        </p:nvSpPr>
        <p:spPr>
          <a:xfrm>
            <a:off x="8221368" y="4251959"/>
            <a:ext cx="3190341"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358528" y="4251959"/>
            <a:ext cx="2916021" cy="475488"/>
          </a:xfrm>
          <a:prstGeom prst="rect">
            <a:avLst/>
          </a:prstGeom>
          <a:noFill/>
        </p:spPr>
        <p:txBody>
          <a:bodyPr wrap="square" anchor="ctr">
            <a:spAutoFit/>
          </a:bodyPr>
          <a:lstStyle/>
          <a:p>
            <a:pPr algn="l">
              <a:spcAft>
                <a:spcPts val="400"/>
              </a:spcAft>
            </a:pPr>
            <a:r>
              <a:rPr sz="1200" b="0">
                <a:solidFill>
                  <a:srgbClr val="161B26"/>
                </a:solidFill>
                <a:latin typeface="Arial"/>
              </a:rPr>
              <a:t>Not known to be broken</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626"/>
                </a:solidFill>
                <a:latin typeface="Arial"/>
              </a:rPr>
              <a:t>WHY MIGRATE BEFORE THE THREAT ARRIVES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600" b="1">
                <a:solidFill>
                  <a:srgbClr val="161B26"/>
                </a:solidFill>
                <a:latin typeface="Arial"/>
              </a:rPr>
              <a:t>Harvest now, decrypt later.</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An adversary can record your encrypted traffic today and decrypt it the day a cryptographically relevant quantum computer exists. Any secret that must stay confidential for a decade is already at risk.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Activities — Quantum Cryptography and Quantum Safety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Activity 13</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a:solidFill>
                  <a:srgbClr val="161B26"/>
                </a:solidFill>
                <a:latin typeface="Arial"/>
              </a:rPr>
              <a:t>•  Shor's Algorithm and the Quantum Threat to RSA</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Activity 14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a:solidFill>
                  <a:srgbClr val="161B26"/>
                </a:solidFill>
                <a:latin typeface="Arial"/>
              </a:rPr>
              <a:t>•  Post-Quantum Cryptography Migration Assessment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Shor's Algorithm and the Quantum Threat to RSA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13</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See how factoring reduces to period finding, run the quantum period-finding circuit that sits at the heart of Shor's algorithm, and recover the factors of N = 15 from the measured period.</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LO7 — Synthesize quantum methodologies to address complex problems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period-finding circuit whose measured output yields the period r, from which the factors of N = 15 are classically recovered.</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 Python, OpenQASM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13: Shor's Algorithm and the Quantum Threat to RSA</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13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Shor's Algorithm and the Quantum Threat to RSA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measured phase yields period r = 4 for a = 7 and N = 15, and the classical post-processing step recovers the correct factors 3 and 5.</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Post-Quantum Cryptography Migration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14</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Assess which cryptography in a realistic system is broken by a quantum computer, map each algorithm to its NIST post-quantum replacement, and produce a prioritised migration plan against the harvest-now-decrypt-later risk.</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LO4, LO7 — Evaluate quantum applicability in the business context</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completed cryptographic inventory and a prioritised PQC migration plan for a sample organisation.</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NIST FIPS 203/204/205, OpenSSL, Python</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14: Post-Quantum Cryptography Migration Assessment</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14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Post-Quantum Cryptography Migration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Your inventory correctly separates Shor-broken asymmetric algorithms from Grover-weakened symmetric ones, maps each to the correct NIST FIPS standard, and ranks migration priority by how long the data must remain confidential.</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Quantum Cryptography and Quantum Safety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Goals of cryptography</a:t>
            </a:r>
          </a:p>
          <a:p>
            <a:pPr>
              <a:spcAft>
                <a:spcPts val="1000"/>
              </a:spcAft>
            </a:pPr>
            <a:r>
              <a:rPr sz="1600">
                <a:solidFill>
                  <a:srgbClr val="161B26"/>
                </a:solidFill>
                <a:latin typeface="Arial"/>
              </a:rPr>
              <a:t>•  Classical schemes</a:t>
            </a:r>
          </a:p>
          <a:p>
            <a:pPr>
              <a:spcAft>
                <a:spcPts val="1000"/>
              </a:spcAft>
            </a:pPr>
            <a:r>
              <a:rPr sz="1600">
                <a:solidFill>
                  <a:srgbClr val="161B26"/>
                </a:solidFill>
                <a:latin typeface="Arial"/>
              </a:rPr>
              <a:t>•  The quantum threat</a:t>
            </a:r>
          </a:p>
          <a:p>
            <a:pPr>
              <a:spcAft>
                <a:spcPts val="1000"/>
              </a:spcAft>
            </a:pPr>
            <a:r>
              <a:rPr sz="1600">
                <a:solidFill>
                  <a:srgbClr val="161B26"/>
                </a:solidFill>
                <a:latin typeface="Arial"/>
              </a:rPr>
              <a:t>•  Shor's algorithm</a:t>
            </a:r>
          </a:p>
          <a:p>
            <a:pPr>
              <a:spcAft>
                <a:spcPts val="1000"/>
              </a:spcAft>
            </a:pPr>
            <a:r>
              <a:rPr sz="1600">
                <a:solidFill>
                  <a:srgbClr val="161B26"/>
                </a:solidFill>
                <a:latin typeface="Arial"/>
              </a:rPr>
              <a:t>•  Harvest now, decrypt later</a:t>
            </a:r>
          </a:p>
          <a:p>
            <a:pPr>
              <a:spcAft>
                <a:spcPts val="1000"/>
              </a:spcAft>
            </a:pPr>
            <a:r>
              <a:rPr sz="1600">
                <a:solidFill>
                  <a:srgbClr val="161B26"/>
                </a:solidFill>
                <a:latin typeface="Arial"/>
              </a:rPr>
              <a:t>•  Post-quantum cryptography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07</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Quantum Computing Applications and Use Cases</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Finance · Healthcare · Science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07</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Quantum Computing Applications and Use Cases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Finance</a:t>
            </a:r>
          </a:p>
          <a:p>
            <a:pPr algn="l">
              <a:spcAft>
                <a:spcPts val="300"/>
              </a:spcAft>
            </a:pPr>
            <a:r>
              <a:rPr sz="1100" b="0">
                <a:solidFill>
                  <a:srgbClr val="5B6372"/>
                </a:solidFill>
                <a:latin typeface="Arial"/>
              </a:rPr>
              <a:t>Portfolio optimisation, derivative pricing via amplitude estimation, credit risk and fraud detection are the leading finance use cases.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Healthcare and life sciences</a:t>
            </a:r>
          </a:p>
          <a:p>
            <a:pPr algn="l">
              <a:spcAft>
                <a:spcPts val="300"/>
              </a:spcAft>
            </a:pPr>
            <a:r>
              <a:rPr sz="1100" b="0">
                <a:solidFill>
                  <a:srgbClr val="5B6372"/>
                </a:solidFill>
                <a:latin typeface="Arial"/>
              </a:rPr>
              <a:t>Molecular simulation with VQE, protein folding and accelerated drug discovery target problems classical HPC cannot reach.</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Science and materials</a:t>
            </a:r>
          </a:p>
          <a:p>
            <a:pPr algn="l">
              <a:spcAft>
                <a:spcPts val="300"/>
              </a:spcAft>
            </a:pPr>
            <a:r>
              <a:rPr sz="1100" b="0">
                <a:solidFill>
                  <a:srgbClr val="5B6372"/>
                </a:solidFill>
                <a:latin typeface="Arial"/>
              </a:rPr>
              <a:t>Simulating catalysts, superconductors, nitrogen fixation and battery chemistry is quantum computing's most natural application.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Optimisation and logistics</a:t>
            </a:r>
          </a:p>
          <a:p>
            <a:pPr algn="l">
              <a:spcAft>
                <a:spcPts val="300"/>
              </a:spcAft>
            </a:pPr>
            <a:r>
              <a:rPr sz="1100" b="0">
                <a:solidFill>
                  <a:srgbClr val="5B6372"/>
                </a:solidFill>
                <a:latin typeface="Arial"/>
              </a:rPr>
              <a:t>QAOA addresses routing, scheduling and Max-Cut style combinatorial problems across supply chains and energy grids.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Quantum machine learning</a:t>
            </a:r>
          </a:p>
          <a:p>
            <a:pPr algn="l">
              <a:spcAft>
                <a:spcPts val="300"/>
              </a:spcAft>
            </a:pPr>
            <a:r>
              <a:rPr sz="1100" b="0">
                <a:solidFill>
                  <a:srgbClr val="5B6372"/>
                </a:solidFill>
                <a:latin typeface="Arial"/>
              </a:rPr>
              <a:t>Quantum kernels and variational classifiers explore feature spaces that are expensive to compute classically.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Assessing business value</a:t>
            </a:r>
          </a:p>
          <a:p>
            <a:pPr algn="l">
              <a:spcAft>
                <a:spcPts val="300"/>
              </a:spcAft>
            </a:pPr>
            <a:r>
              <a:rPr sz="1100" b="0">
                <a:solidFill>
                  <a:srgbClr val="5B6372"/>
                </a:solidFill>
                <a:latin typeface="Arial"/>
              </a:rPr>
              <a:t>Evaluate a use case on problem structure, data size, required qubit count and whether a classical method already suffices.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USE CASES BY SECTOR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Where Quantum Creates Value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pplications-map.png"/>
          <p:cNvPicPr>
            <a:picLocks noChangeAspect="1"/>
          </p:cNvPicPr>
          <p:nvPr/>
        </p:nvPicPr>
        <p:blipFill>
          <a:blip r:embed="rId2"/>
          <a:stretch>
            <a:fillRect/>
          </a:stretch>
        </p:blipFill>
        <p:spPr>
          <a:xfrm>
            <a:off x="2175619" y="1755648"/>
            <a:ext cx="7837714"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The best candidates are problems with quantum structure — chemistry and optimisation — not big-data problems.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FLAGSHIP NEAR-TERM APPLICATION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VQE — Simulating Molecules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vqe-convergence.png"/>
          <p:cNvPicPr>
            <a:picLocks noChangeAspect="1"/>
          </p:cNvPicPr>
          <p:nvPr/>
        </p:nvPicPr>
        <p:blipFill>
          <a:blip r:embed="rId2"/>
          <a:stretch>
            <a:fillRect/>
          </a:stretch>
        </p:blipFill>
        <p:spPr>
          <a:xfrm>
            <a:off x="777240" y="2352470"/>
            <a:ext cx="6400800" cy="3067460"/>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Hybrid loop</a:t>
            </a:r>
          </a:p>
          <a:p>
            <a:pPr algn="l">
              <a:spcAft>
                <a:spcPts val="300"/>
              </a:spcAft>
            </a:pPr>
            <a:r>
              <a:rPr sz="1200" b="0">
                <a:solidFill>
                  <a:srgbClr val="161B26"/>
                </a:solidFill>
                <a:latin typeface="Arial"/>
              </a:rPr>
              <a:t>A quantum circuit prepares the trial state; a classical optimiser tunes it.</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Noise tolerant</a:t>
            </a:r>
          </a:p>
          <a:p>
            <a:pPr algn="l">
              <a:spcAft>
                <a:spcPts val="300"/>
              </a:spcAft>
            </a:pPr>
            <a:r>
              <a:rPr sz="1200" b="0">
                <a:solidFill>
                  <a:srgbClr val="161B26"/>
                </a:solidFill>
                <a:latin typeface="Arial"/>
              </a:rPr>
              <a:t>Shallow circuits make VQE practical on today's NISQ hardware.</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The target</a:t>
            </a:r>
          </a:p>
          <a:p>
            <a:pPr algn="l">
              <a:spcAft>
                <a:spcPts val="300"/>
              </a:spcAft>
            </a:pPr>
            <a:r>
              <a:rPr sz="1200" b="0">
                <a:solidFill>
                  <a:srgbClr val="161B26"/>
                </a:solidFill>
                <a:latin typeface="Arial"/>
              </a:rPr>
              <a:t>Ground-state energy — the quantity that drives chemistry.</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The prize</a:t>
            </a:r>
          </a:p>
          <a:p>
            <a:pPr algn="l">
              <a:spcAft>
                <a:spcPts val="300"/>
              </a:spcAft>
            </a:pPr>
            <a:r>
              <a:rPr sz="1200" b="0">
                <a:solidFill>
                  <a:srgbClr val="161B26"/>
                </a:solidFill>
                <a:latin typeface="Arial"/>
              </a:rPr>
              <a:t>Catalysts, batteries and drug candidates simulated exactly.</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 PRACTICAL CHECKLIST FOR LO4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Assessing a Quantum Use Case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Does the problem have quantum structure?</a:t>
            </a:r>
          </a:p>
          <a:p>
            <a:pPr algn="l">
              <a:spcAft>
                <a:spcPts val="300"/>
              </a:spcAft>
            </a:pPr>
            <a:r>
              <a:rPr sz="1100" b="0">
                <a:solidFill>
                  <a:srgbClr val="5B6372"/>
                </a:solidFill>
                <a:latin typeface="Arial"/>
              </a:rPr>
              <a:t>Chemistry and optimisation map naturally; generic data processing does not.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How big is the data?</a:t>
            </a:r>
          </a:p>
          <a:p>
            <a:pPr algn="l">
              <a:spcAft>
                <a:spcPts val="300"/>
              </a:spcAft>
            </a:pPr>
            <a:r>
              <a:rPr sz="1100" b="0">
                <a:solidFill>
                  <a:srgbClr val="5B6372"/>
                </a:solidFill>
                <a:latin typeface="Arial"/>
              </a:rPr>
              <a:t>Loading large classical datasets into a quantum computer is itself a bottleneck.</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What qubit count is needed?</a:t>
            </a:r>
          </a:p>
          <a:p>
            <a:pPr algn="l">
              <a:spcAft>
                <a:spcPts val="300"/>
              </a:spcAft>
            </a:pPr>
            <a:r>
              <a:rPr sz="1100" b="0">
                <a:solidFill>
                  <a:srgbClr val="5B6372"/>
                </a:solidFill>
                <a:latin typeface="Arial"/>
              </a:rPr>
              <a:t>Estimate logical qubits, then multiply for error-correction overhead.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Is there a good classical method?</a:t>
            </a:r>
          </a:p>
          <a:p>
            <a:pPr algn="l">
              <a:spcAft>
                <a:spcPts val="300"/>
              </a:spcAft>
            </a:pPr>
            <a:r>
              <a:rPr sz="1100" b="0">
                <a:solidFill>
                  <a:srgbClr val="5B6372"/>
                </a:solidFill>
                <a:latin typeface="Arial"/>
              </a:rPr>
              <a:t>If a classical heuristic already solves it well, quantum adds nothing.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What is the time horizon?</a:t>
            </a:r>
          </a:p>
          <a:p>
            <a:pPr algn="l">
              <a:spcAft>
                <a:spcPts val="300"/>
              </a:spcAft>
            </a:pPr>
            <a:r>
              <a:rPr sz="1100" b="0">
                <a:solidFill>
                  <a:srgbClr val="5B6372"/>
                </a:solidFill>
                <a:latin typeface="Arial"/>
              </a:rPr>
              <a:t>NISQ demos today; fault-tolerant advantage is a 2030s proposition.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What is the cost of waiting?</a:t>
            </a:r>
          </a:p>
          <a:p>
            <a:pPr algn="l">
              <a:spcAft>
                <a:spcPts val="300"/>
              </a:spcAft>
            </a:pPr>
            <a:r>
              <a:rPr sz="1100" b="0">
                <a:solidFill>
                  <a:srgbClr val="5B6372"/>
                </a:solidFill>
                <a:latin typeface="Arial"/>
              </a:rPr>
              <a:t>For cryptography the answer is high — migrate now.</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Activities — Quantum Computing Applications and Use Cases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Activity 15</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a:solidFill>
                  <a:srgbClr val="161B26"/>
                </a:solidFill>
                <a:latin typeface="Arial"/>
              </a:rPr>
              <a:t>•  Molecular Simulation with VQE (Healthcare &amp; Science)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Activity 16</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a:solidFill>
                  <a:srgbClr val="161B26"/>
                </a:solidFill>
                <a:latin typeface="Arial"/>
              </a:rPr>
              <a:t>•  Portfolio Optimisation with QAOA (Finance)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Molecular Simulation with VQE (Healthcare &amp; Science)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15</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Run the Variational Quantum Eigensolver to compute the ground-state energy of the hydrogen molecule — the flagship near-term use case for drug discovery, catalysis and materials science.</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LO4, LO7 — Evaluate quantum computing applicability in the business context</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VQE run that converges to the H2 ground-state energy, with an energy-versus-iteration convergence plot.</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SciPy optimiser, matplotlib, IBM Quantum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15: Molecular Simulation with VQE (Healthcare &amp; Science)</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15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Molecular Simulation with VQE (Healthcare &amp; Science)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VQE optimisation converges to an energy close to the exact H2 ground-state value of about -1.137 Hartree, and the convergence plot shows the energy decreasing monotonically toward that limit.</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Portfolio Optimisation with QAOA (Finance)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16</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Apply the Quantum Approximate Optimization Algorithm to a Max-Cut style combinatorial problem, the same structure that underlies portfolio selection, routing and scheduling in financial services.</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LO4, LO6 — Evaluate applicability and select appropriate algorithms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A QAOA run that finds the optimal cut on a small graph, with the solution quality compared against brute force.</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NetworkX, SciPy, matplotlib</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16: Portfolio Optimisation with QAOA (Finance)</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16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Portfolio Optimisation with QAOA (Finance)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most frequently sampled bit string from the optimised QAOA circuit corresponds to the true maximum cut found by brute force, and the approximation ratio improves as the number of layers p increases.</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Quantum Computing Applications and Use Cases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Finance</a:t>
            </a:r>
          </a:p>
          <a:p>
            <a:pPr>
              <a:spcAft>
                <a:spcPts val="1000"/>
              </a:spcAft>
            </a:pPr>
            <a:r>
              <a:rPr sz="1600">
                <a:solidFill>
                  <a:srgbClr val="161B26"/>
                </a:solidFill>
                <a:latin typeface="Arial"/>
              </a:rPr>
              <a:t>•  Healthcare and life sciences</a:t>
            </a:r>
          </a:p>
          <a:p>
            <a:pPr>
              <a:spcAft>
                <a:spcPts val="1000"/>
              </a:spcAft>
            </a:pPr>
            <a:r>
              <a:rPr sz="1600">
                <a:solidFill>
                  <a:srgbClr val="161B26"/>
                </a:solidFill>
                <a:latin typeface="Arial"/>
              </a:rPr>
              <a:t>•  Science and materials</a:t>
            </a:r>
          </a:p>
          <a:p>
            <a:pPr>
              <a:spcAft>
                <a:spcPts val="1000"/>
              </a:spcAft>
            </a:pPr>
            <a:r>
              <a:rPr sz="1600">
                <a:solidFill>
                  <a:srgbClr val="161B26"/>
                </a:solidFill>
                <a:latin typeface="Arial"/>
              </a:rPr>
              <a:t>•  Optimisation and logistics</a:t>
            </a:r>
          </a:p>
          <a:p>
            <a:pPr>
              <a:spcAft>
                <a:spcPts val="1000"/>
              </a:spcAft>
            </a:pPr>
            <a:r>
              <a:rPr sz="1600">
                <a:solidFill>
                  <a:srgbClr val="161B26"/>
                </a:solidFill>
                <a:latin typeface="Arial"/>
              </a:rPr>
              <a:t>•  Quantum machine learning</a:t>
            </a:r>
          </a:p>
          <a:p>
            <a:pPr>
              <a:spcAft>
                <a:spcPts val="1000"/>
              </a:spcAft>
            </a:pPr>
            <a:r>
              <a:rPr sz="1600">
                <a:solidFill>
                  <a:srgbClr val="161B26"/>
                </a:solidFill>
                <a:latin typeface="Arial"/>
              </a:rPr>
              <a:t>•  Assessing business value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08</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Quantum Error Correction</a:t>
            </a:r>
          </a:p>
        </p:txBody>
      </p:sp>
      <p:sp>
        <p:nvSpPr>
          <p:cNvPr id="7" name="TextBox 6"/>
          <p:cNvSpPr txBox="1"/>
          <p:nvPr/>
        </p:nvSpPr>
        <p:spPr>
          <a:xfrm>
            <a:off x="1161288" y="425196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Bit and Phase Flip Errors · QEC Algorithms · Fault Tolerance · The Future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08</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LO7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Quantum Error Correction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Why QEC is needed</a:t>
            </a:r>
          </a:p>
          <a:p>
            <a:pPr algn="l">
              <a:spcAft>
                <a:spcPts val="300"/>
              </a:spcAft>
            </a:pPr>
            <a:r>
              <a:rPr sz="1100" b="0">
                <a:solidFill>
                  <a:srgbClr val="5B6372"/>
                </a:solidFill>
                <a:latin typeface="Arial"/>
              </a:rPr>
              <a:t>Qubits decohere and gates are imperfect; without correction, errors accumulate long before a useful algorithm completes.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Quantum-specific challenges</a:t>
            </a:r>
          </a:p>
          <a:p>
            <a:pPr algn="l">
              <a:spcAft>
                <a:spcPts val="300"/>
              </a:spcAft>
            </a:pPr>
            <a:r>
              <a:rPr sz="1100" b="0">
                <a:solidFill>
                  <a:srgbClr val="5B6372"/>
                </a:solidFill>
                <a:latin typeface="Arial"/>
              </a:rPr>
              <a:t>No-cloning forbids simple copying, errors are continuous rather than discrete, and measurement destroys the state.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Syndrome measurement</a:t>
            </a:r>
          </a:p>
          <a:p>
            <a:pPr algn="l">
              <a:spcAft>
                <a:spcPts val="300"/>
              </a:spcAft>
            </a:pPr>
            <a:r>
              <a:rPr sz="1100" b="0">
                <a:solidFill>
                  <a:srgbClr val="5B6372"/>
                </a:solidFill>
                <a:latin typeface="Arial"/>
              </a:rPr>
              <a:t>Ancilla qubits are measured to reveal WHICH error occurred without ever measuring — and collapsing — the logical state.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Bit-flip and phase-flip codes</a:t>
            </a:r>
          </a:p>
          <a:p>
            <a:pPr algn="l">
              <a:spcAft>
                <a:spcPts val="300"/>
              </a:spcAft>
            </a:pPr>
            <a:r>
              <a:rPr sz="1100" b="0">
                <a:solidFill>
                  <a:srgbClr val="5B6372"/>
                </a:solidFill>
                <a:latin typeface="Arial"/>
              </a:rPr>
              <a:t>Three-qubit repetition codes correct X errors; conjugating with Hadamards turns phase flips into bit flips.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Shor, Steane and surface codes</a:t>
            </a:r>
          </a:p>
          <a:p>
            <a:pPr algn="l">
              <a:spcAft>
                <a:spcPts val="300"/>
              </a:spcAft>
            </a:pPr>
            <a:r>
              <a:rPr sz="1100" b="0">
                <a:solidFill>
                  <a:srgbClr val="5B6372"/>
                </a:solidFill>
                <a:latin typeface="Arial"/>
              </a:rPr>
              <a:t>Shor's 9-qubit code corrects arbitrary single-qubit errors; Steane uses 7; surface codes are today's leading practical approach.</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Fault tolerance</a:t>
            </a:r>
          </a:p>
          <a:p>
            <a:pPr algn="l">
              <a:spcAft>
                <a:spcPts val="300"/>
              </a:spcAft>
            </a:pPr>
            <a:r>
              <a:rPr sz="1100" b="0">
                <a:solidFill>
                  <a:srgbClr val="5B6372"/>
                </a:solidFill>
                <a:latin typeface="Arial"/>
              </a:rPr>
              <a:t>Below the error threshold, concatenating codes suppresses errors faster than they accumulate — the path to useful quantum computers.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ENCODE · ERROR · SYNDROME · CORRECT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Bit-Flip Code — The QEC 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ec-bitflip.png"/>
          <p:cNvPicPr>
            <a:picLocks noChangeAspect="1"/>
          </p:cNvPicPr>
          <p:nvPr/>
        </p:nvPicPr>
        <p:blipFill>
          <a:blip r:embed="rId2"/>
          <a:stretch>
            <a:fillRect/>
          </a:stretch>
        </p:blipFill>
        <p:spPr>
          <a:xfrm>
            <a:off x="1866942" y="1755648"/>
            <a:ext cx="8455068"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The syndrome reveals WHICH qubit flipped without ever measuring — and destroying — the logical state.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QUBIT COST VS PROTECTION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Error-Correcting Codes Compared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ec-codes.png"/>
          <p:cNvPicPr>
            <a:picLocks noChangeAspect="1"/>
          </p:cNvPicPr>
          <p:nvPr/>
        </p:nvPicPr>
        <p:blipFill>
          <a:blip r:embed="rId2"/>
          <a:stretch>
            <a:fillRect/>
          </a:stretch>
        </p:blipFill>
        <p:spPr>
          <a:xfrm>
            <a:off x="777240" y="2353377"/>
            <a:ext cx="6400800" cy="3065646"/>
          </a:xfrm>
          <a:prstGeom prst="rect">
            <a:avLst/>
          </a:prstGeom>
        </p:spPr>
      </p:pic>
      <p:sp>
        <p:nvSpPr>
          <p:cNvPr id="8" name="Rectangle 7"/>
          <p:cNvSpPr/>
          <p:nvPr/>
        </p:nvSpPr>
        <p:spPr>
          <a:xfrm>
            <a:off x="7452360" y="178308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783080"/>
            <a:ext cx="82296"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1783080"/>
            <a:ext cx="3502152" cy="937260"/>
          </a:xfrm>
          <a:prstGeom prst="rect">
            <a:avLst/>
          </a:prstGeom>
          <a:noFill/>
        </p:spPr>
        <p:txBody>
          <a:bodyPr wrap="square" anchor="ctr">
            <a:spAutoFit/>
          </a:bodyPr>
          <a:lstStyle/>
          <a:p>
            <a:pPr algn="l">
              <a:spcAft>
                <a:spcPts val="300"/>
              </a:spcAft>
            </a:pPr>
            <a:r>
              <a:rPr sz="1400" b="1">
                <a:solidFill>
                  <a:srgbClr val="1F6FEB"/>
                </a:solidFill>
                <a:latin typeface="Arial"/>
              </a:rPr>
              <a:t>3-qubit codes</a:t>
            </a:r>
          </a:p>
          <a:p>
            <a:pPr algn="l">
              <a:spcAft>
                <a:spcPts val="300"/>
              </a:spcAft>
            </a:pPr>
            <a:r>
              <a:rPr sz="1200" b="0">
                <a:solidFill>
                  <a:srgbClr val="161B26"/>
                </a:solidFill>
                <a:latin typeface="Arial"/>
              </a:rPr>
              <a:t>Correct either bit flips or phase flips, but not both.</a:t>
            </a:r>
          </a:p>
        </p:txBody>
      </p:sp>
      <p:sp>
        <p:nvSpPr>
          <p:cNvPr id="11" name="Rectangle 10"/>
          <p:cNvSpPr/>
          <p:nvPr/>
        </p:nvSpPr>
        <p:spPr>
          <a:xfrm>
            <a:off x="7452360" y="290322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03220"/>
            <a:ext cx="82296"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03220"/>
            <a:ext cx="3502152" cy="937260"/>
          </a:xfrm>
          <a:prstGeom prst="rect">
            <a:avLst/>
          </a:prstGeom>
          <a:noFill/>
        </p:spPr>
        <p:txBody>
          <a:bodyPr wrap="square" anchor="ctr">
            <a:spAutoFit/>
          </a:bodyPr>
          <a:lstStyle/>
          <a:p>
            <a:pPr algn="l">
              <a:spcAft>
                <a:spcPts val="300"/>
              </a:spcAft>
            </a:pPr>
            <a:r>
              <a:rPr sz="1400" b="1">
                <a:solidFill>
                  <a:srgbClr val="10B981"/>
                </a:solidFill>
                <a:latin typeface="Arial"/>
              </a:rPr>
              <a:t>Shor 9-qubit</a:t>
            </a:r>
          </a:p>
          <a:p>
            <a:pPr algn="l">
              <a:spcAft>
                <a:spcPts val="300"/>
              </a:spcAft>
            </a:pPr>
            <a:r>
              <a:rPr sz="1200" b="0">
                <a:solidFill>
                  <a:srgbClr val="161B26"/>
                </a:solidFill>
                <a:latin typeface="Arial"/>
              </a:rPr>
              <a:t>The first code to correct an arbitrary single-qubit error.</a:t>
            </a:r>
          </a:p>
        </p:txBody>
      </p:sp>
      <p:sp>
        <p:nvSpPr>
          <p:cNvPr id="14" name="Rectangle 13"/>
          <p:cNvSpPr/>
          <p:nvPr/>
        </p:nvSpPr>
        <p:spPr>
          <a:xfrm>
            <a:off x="7452360" y="402336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23360"/>
            <a:ext cx="82296"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08392" y="4023360"/>
            <a:ext cx="3502152" cy="937260"/>
          </a:xfrm>
          <a:prstGeom prst="rect">
            <a:avLst/>
          </a:prstGeom>
          <a:noFill/>
        </p:spPr>
        <p:txBody>
          <a:bodyPr wrap="square" anchor="ctr">
            <a:spAutoFit/>
          </a:bodyPr>
          <a:lstStyle/>
          <a:p>
            <a:pPr algn="l">
              <a:spcAft>
                <a:spcPts val="300"/>
              </a:spcAft>
            </a:pPr>
            <a:r>
              <a:rPr sz="1400" b="1">
                <a:solidFill>
                  <a:srgbClr val="7C3AED"/>
                </a:solidFill>
                <a:latin typeface="Arial"/>
              </a:rPr>
              <a:t>Steane 7-qubit</a:t>
            </a:r>
          </a:p>
          <a:p>
            <a:pPr algn="l">
              <a:spcAft>
                <a:spcPts val="300"/>
              </a:spcAft>
            </a:pPr>
            <a:r>
              <a:rPr sz="1200" b="0">
                <a:solidFill>
                  <a:srgbClr val="161B26"/>
                </a:solidFill>
                <a:latin typeface="Arial"/>
              </a:rPr>
              <a:t>A CSS code achieving the same protection more efficiently.</a:t>
            </a:r>
          </a:p>
        </p:txBody>
      </p:sp>
      <p:sp>
        <p:nvSpPr>
          <p:cNvPr id="17" name="Rectangle 16"/>
          <p:cNvSpPr/>
          <p:nvPr/>
        </p:nvSpPr>
        <p:spPr>
          <a:xfrm>
            <a:off x="7452360" y="5143500"/>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43500"/>
            <a:ext cx="82296"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08392" y="5143500"/>
            <a:ext cx="3502152" cy="937260"/>
          </a:xfrm>
          <a:prstGeom prst="rect">
            <a:avLst/>
          </a:prstGeom>
          <a:noFill/>
        </p:spPr>
        <p:txBody>
          <a:bodyPr wrap="square" anchor="ctr">
            <a:spAutoFit/>
          </a:bodyPr>
          <a:lstStyle/>
          <a:p>
            <a:pPr algn="l">
              <a:spcAft>
                <a:spcPts val="300"/>
              </a:spcAft>
            </a:pPr>
            <a:r>
              <a:rPr sz="1400" b="1">
                <a:solidFill>
                  <a:srgbClr val="F59E0B"/>
                </a:solidFill>
                <a:latin typeface="Arial"/>
              </a:rPr>
              <a:t>Surface codes</a:t>
            </a:r>
          </a:p>
          <a:p>
            <a:pPr algn="l">
              <a:spcAft>
                <a:spcPts val="300"/>
              </a:spcAft>
            </a:pPr>
            <a:r>
              <a:rPr sz="1200" b="0">
                <a:solidFill>
                  <a:srgbClr val="161B26"/>
                </a:solidFill>
                <a:latin typeface="Arial"/>
              </a:rPr>
              <a:t>2D nearest-neighbour layout — today's leading practical approach.</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WHERE THE INDUSTRY IS HEADED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Road to Fault Tolerance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oadmap.png"/>
          <p:cNvPicPr>
            <a:picLocks noChangeAspect="1"/>
          </p:cNvPicPr>
          <p:nvPr/>
        </p:nvPicPr>
        <p:blipFill>
          <a:blip r:embed="rId2"/>
          <a:stretch>
            <a:fillRect/>
          </a:stretch>
        </p:blipFill>
        <p:spPr>
          <a:xfrm>
            <a:off x="777240" y="1921754"/>
            <a:ext cx="10634472" cy="3617996"/>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Below the error threshold, adding more physical qubits suppresses errors faster than they accumulate.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Activities — Quantum Error Correction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Activity 17</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a:solidFill>
                  <a:srgbClr val="161B26"/>
                </a:solidFill>
                <a:latin typeface="Arial"/>
              </a:rPr>
              <a:t>•  Bit-Flip and Phase-Flip Error Correction Codes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Activity 18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a:solidFill>
                  <a:srgbClr val="161B26"/>
                </a:solidFill>
                <a:latin typeface="Arial"/>
              </a:rPr>
              <a:t>•  Shor 9-Qubit and Steane 7-Qubit Codes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08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Bit-Flip and Phase-Flip Error Correction Codes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17</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Build the three-qubit repetition codes that detect and correct X and Z errors: encode a logical qubit, inject an error, measure the syndrome without collapsing the state, and apply the correction.</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LO7 — Synthesize quantum methodologies to address complex problems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Working bit-flip and phase-flip code circuits that correctly identify and repair an injected single-qubit error.</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 OpenQASM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17: Bit-Flip and Phase-Flip Error Correction Codes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17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Bit-Flip and Phase-Flip Error Correction Codes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The syndrome measurement correctly identifies which qubit carried the injected error without collapsing the logical state, and applying the indicated correction restores the original logical qubit.</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08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Shor 9-Qubit and Steane 7-Qubit Codes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45720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57200"/>
            <a:ext cx="1783080" cy="457200"/>
          </a:xfrm>
          <a:prstGeom prst="rect">
            <a:avLst/>
          </a:prstGeom>
          <a:noFill/>
        </p:spPr>
        <p:txBody>
          <a:bodyPr wrap="square" anchor="ctr">
            <a:spAutoFit/>
          </a:bodyPr>
          <a:lstStyle/>
          <a:p>
            <a:pPr algn="ctr">
              <a:spcAft>
                <a:spcPts val="400"/>
              </a:spcAft>
            </a:pPr>
            <a:r>
              <a:rPr sz="1300" b="1">
                <a:solidFill>
                  <a:srgbClr val="FFFFFF"/>
                </a:solidFill>
                <a:latin typeface="Arial"/>
              </a:rPr>
              <a:t>ACTIVITY 18</a:t>
            </a:r>
          </a:p>
        </p:txBody>
      </p:sp>
      <p:sp>
        <p:nvSpPr>
          <p:cNvPr id="9" name="TextBox 8"/>
          <p:cNvSpPr txBox="1"/>
          <p:nvPr/>
        </p:nvSpPr>
        <p:spPr>
          <a:xfrm>
            <a:off x="777240" y="1828800"/>
            <a:ext cx="10607040" cy="1051560"/>
          </a:xfrm>
          <a:prstGeom prst="rect">
            <a:avLst/>
          </a:prstGeom>
          <a:noFill/>
        </p:spPr>
        <p:txBody>
          <a:bodyPr wrap="square" anchor="t">
            <a:spAutoFit/>
          </a:bodyPr>
          <a:lstStyle/>
          <a:p>
            <a:pPr algn="l">
              <a:spcAft>
                <a:spcPts val="400"/>
              </a:spcAft>
            </a:pPr>
            <a:r>
              <a:rPr sz="1700" b="0">
                <a:solidFill>
                  <a:srgbClr val="161B26"/>
                </a:solidFill>
                <a:latin typeface="Arial"/>
              </a:rPr>
              <a:t>Step up to codes that correct arbitrary single-qubit errors: Shor's 9-qubit concatenated code and Steane's more efficient 7-qubit CSS code, then compare their qubit overhead and discuss the road to fault tolerance.</a:t>
            </a:r>
          </a:p>
        </p:txBody>
      </p:sp>
      <p:sp>
        <p:nvSpPr>
          <p:cNvPr id="10" name="Rectangle 9"/>
          <p:cNvSpPr/>
          <p:nvPr/>
        </p:nvSpPr>
        <p:spPr>
          <a:xfrm>
            <a:off x="777240" y="2971800"/>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971800"/>
            <a:ext cx="10241280" cy="457200"/>
          </a:xfrm>
          <a:prstGeom prst="rect">
            <a:avLst/>
          </a:prstGeom>
          <a:noFill/>
        </p:spPr>
        <p:txBody>
          <a:bodyPr wrap="square" anchor="ctr">
            <a:spAutoFit/>
          </a:bodyPr>
          <a:lstStyle/>
          <a:p>
            <a:pPr algn="l">
              <a:spcAft>
                <a:spcPts val="400"/>
              </a:spcAft>
            </a:pPr>
            <a:r>
              <a:rPr sz="1100" b="1">
                <a:solidFill>
                  <a:srgbClr val="1F6FEB"/>
                </a:solidFill>
                <a:latin typeface="Arial"/>
              </a:rPr>
              <a:t>MAPS TO  </a:t>
            </a:r>
            <a:r>
              <a:rPr sz="1250" b="0">
                <a:solidFill>
                  <a:srgbClr val="161B26"/>
                </a:solidFill>
                <a:latin typeface="Arial"/>
              </a:rPr>
              <a:t>LO7 — Synthesize quantum methodologies to address complex problems</a:t>
            </a:r>
          </a:p>
        </p:txBody>
      </p:sp>
      <p:sp>
        <p:nvSpPr>
          <p:cNvPr id="12" name="Rectangle 11"/>
          <p:cNvSpPr/>
          <p:nvPr/>
        </p:nvSpPr>
        <p:spPr>
          <a:xfrm>
            <a:off x="777240" y="3611880"/>
            <a:ext cx="10634472" cy="1234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67328"/>
            <a:ext cx="10058400" cy="365760"/>
          </a:xfrm>
          <a:prstGeom prst="rect">
            <a:avLst/>
          </a:prstGeom>
          <a:noFill/>
        </p:spPr>
        <p:txBody>
          <a:bodyPr wrap="square" anchor="t">
            <a:spAutoFit/>
          </a:bodyPr>
          <a:lstStyle/>
          <a:p>
            <a:pPr algn="l">
              <a:spcAft>
                <a:spcPts val="400"/>
              </a:spcAft>
            </a:pPr>
            <a:r>
              <a:rPr sz="1200" b="1">
                <a:solidFill>
                  <a:srgbClr val="127A3E"/>
                </a:solidFill>
                <a:latin typeface="Arial"/>
              </a:rPr>
              <a:t>YOU'LL PRODUCE</a:t>
            </a:r>
          </a:p>
        </p:txBody>
      </p:sp>
      <p:sp>
        <p:nvSpPr>
          <p:cNvPr id="14" name="TextBox 13"/>
          <p:cNvSpPr txBox="1"/>
          <p:nvPr/>
        </p:nvSpPr>
        <p:spPr>
          <a:xfrm>
            <a:off x="1051560" y="4133087"/>
            <a:ext cx="10058400" cy="640080"/>
          </a:xfrm>
          <a:prstGeom prst="rect">
            <a:avLst/>
          </a:prstGeom>
          <a:noFill/>
        </p:spPr>
        <p:txBody>
          <a:bodyPr wrap="square" anchor="t">
            <a:spAutoFit/>
          </a:bodyPr>
          <a:lstStyle/>
          <a:p>
            <a:pPr algn="l">
              <a:spcAft>
                <a:spcPts val="400"/>
              </a:spcAft>
            </a:pPr>
            <a:r>
              <a:rPr sz="1550" b="1">
                <a:solidFill>
                  <a:srgbClr val="161B26"/>
                </a:solidFill>
                <a:latin typeface="Arial"/>
              </a:rPr>
              <a:t>Working Shor 9-qubit and Steane 7-qubit code circuits, with a comparison of qubit cost against protection offered.</a:t>
            </a:r>
          </a:p>
        </p:txBody>
      </p:sp>
      <p:sp>
        <p:nvSpPr>
          <p:cNvPr id="15" name="Rectangle 14"/>
          <p:cNvSpPr/>
          <p:nvPr/>
        </p:nvSpPr>
        <p:spPr>
          <a:xfrm>
            <a:off x="777240" y="5029200"/>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138928"/>
            <a:ext cx="1005840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Qiskit 2.x, IBM Quantum Runtime, OpenQASM</a:t>
            </a:r>
          </a:p>
        </p:txBody>
      </p:sp>
      <p:sp>
        <p:nvSpPr>
          <p:cNvPr id="17" name="TextBox 16"/>
          <p:cNvSpPr txBox="1"/>
          <p:nvPr/>
        </p:nvSpPr>
        <p:spPr>
          <a:xfrm>
            <a:off x="1051560" y="5504688"/>
            <a:ext cx="10058400" cy="365760"/>
          </a:xfrm>
          <a:prstGeom prst="rect">
            <a:avLst/>
          </a:prstGeom>
          <a:noFill/>
        </p:spPr>
        <p:txBody>
          <a:bodyPr wrap="square" anchor="t">
            <a:spAutoFit/>
          </a:bodyPr>
          <a:lstStyle/>
          <a:p>
            <a:pPr algn="l">
              <a:spcAft>
                <a:spcPts val="400"/>
              </a:spcAft>
            </a:pPr>
            <a:r>
              <a:rPr sz="1200" b="1">
                <a:solidFill>
                  <a:srgbClr val="1F6FEB"/>
                </a:solidFill>
                <a:latin typeface="Arial"/>
              </a:rPr>
              <a:t>Full step-by-step guide:  </a:t>
            </a:r>
            <a:r>
              <a:rPr sz="1200" b="0">
                <a:solidFill>
                  <a:srgbClr val="161B26"/>
                </a:solidFill>
                <a:latin typeface="Arial"/>
              </a:rPr>
              <a:t>Learner Guide — Activity 18: Shor 9-Qubit and Steane 7-Qubit Codes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18 · VERIFY &amp; DEBRIEF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Shor 9-Qubit and Steane 7-Qubit Codes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48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2148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965960"/>
            <a:ext cx="10058400" cy="411480"/>
          </a:xfrm>
          <a:prstGeom prst="rect">
            <a:avLst/>
          </a:prstGeom>
          <a:noFill/>
        </p:spPr>
        <p:txBody>
          <a:bodyPr wrap="square" anchor="t">
            <a:spAutoFit/>
          </a:bodyPr>
          <a:lstStyle/>
          <a:p>
            <a:pPr algn="l">
              <a:spcAft>
                <a:spcPts val="400"/>
              </a:spcAft>
            </a:pPr>
            <a:r>
              <a:rPr sz="1300" b="1">
                <a:solidFill>
                  <a:srgbClr val="127A3E"/>
                </a:solidFill>
                <a:latin typeface="Arial"/>
              </a:rPr>
              <a:t>TEST IT — HOW YOU KNOW IT WORKED</a:t>
            </a:r>
          </a:p>
        </p:txBody>
      </p:sp>
      <p:sp>
        <p:nvSpPr>
          <p:cNvPr id="10" name="TextBox 9"/>
          <p:cNvSpPr txBox="1"/>
          <p:nvPr/>
        </p:nvSpPr>
        <p:spPr>
          <a:xfrm>
            <a:off x="1143000" y="2423160"/>
            <a:ext cx="10058400" cy="1371600"/>
          </a:xfrm>
          <a:prstGeom prst="rect">
            <a:avLst/>
          </a:prstGeom>
          <a:noFill/>
        </p:spPr>
        <p:txBody>
          <a:bodyPr wrap="square" anchor="t">
            <a:spAutoFit/>
          </a:bodyPr>
          <a:lstStyle/>
          <a:p>
            <a:pPr algn="l">
              <a:spcAft>
                <a:spcPts val="400"/>
              </a:spcAft>
            </a:pPr>
            <a:r>
              <a:rPr sz="1600" b="0">
                <a:solidFill>
                  <a:srgbClr val="161B26"/>
                </a:solidFill>
                <a:latin typeface="Arial"/>
              </a:rPr>
              <a:t>Both the Shor 9-qubit and Steane 7-qubit circuits detect and correct an arbitrary injected single-qubit error (X, Y or Z), and you can state the qubit overhead each code requires.</a:t>
            </a:r>
          </a:p>
        </p:txBody>
      </p:sp>
      <p:sp>
        <p:nvSpPr>
          <p:cNvPr id="11" name="TextBox 10"/>
          <p:cNvSpPr txBox="1"/>
          <p:nvPr/>
        </p:nvSpPr>
        <p:spPr>
          <a:xfrm>
            <a:off x="777240" y="4096512"/>
            <a:ext cx="10607040" cy="365760"/>
          </a:xfrm>
          <a:prstGeom prst="rect">
            <a:avLst/>
          </a:prstGeom>
          <a:noFill/>
        </p:spPr>
        <p:txBody>
          <a:bodyPr wrap="square" anchor="t">
            <a:spAutoFit/>
          </a:bodyPr>
          <a:lstStyle/>
          <a:p>
            <a:pPr algn="l">
              <a:spcAft>
                <a:spcPts val="400"/>
              </a:spcAft>
            </a:pPr>
            <a:r>
              <a:rPr sz="1300" b="1">
                <a:solidFill>
                  <a:srgbClr val="1F6FEB"/>
                </a:solidFill>
                <a:latin typeface="Arial"/>
              </a:rPr>
              <a:t>DISCUSS WITH YOUR TRAINER</a:t>
            </a:r>
          </a:p>
        </p:txBody>
      </p:sp>
      <p:sp>
        <p:nvSpPr>
          <p:cNvPr id="12" name="Rectangle 11"/>
          <p:cNvSpPr/>
          <p:nvPr/>
        </p:nvSpPr>
        <p:spPr>
          <a:xfrm>
            <a:off x="777240"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480560"/>
            <a:ext cx="344728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663440"/>
            <a:ext cx="3044952" cy="457200"/>
          </a:xfrm>
          <a:prstGeom prst="rect">
            <a:avLst/>
          </a:prstGeom>
          <a:noFill/>
        </p:spPr>
        <p:txBody>
          <a:bodyPr wrap="square" anchor="t">
            <a:spAutoFit/>
          </a:bodyPr>
          <a:lstStyle/>
          <a:p>
            <a:pPr algn="l">
              <a:spcAft>
                <a:spcPts val="400"/>
              </a:spcAft>
            </a:pPr>
            <a:r>
              <a:rPr sz="1350" b="1">
                <a:solidFill>
                  <a:srgbClr val="1F6FEB"/>
                </a:solidFill>
                <a:latin typeface="Arial"/>
              </a:rPr>
              <a:t>What did the result show?</a:t>
            </a:r>
          </a:p>
        </p:txBody>
      </p:sp>
      <p:sp>
        <p:nvSpPr>
          <p:cNvPr id="15" name="TextBox 14"/>
          <p:cNvSpPr txBox="1"/>
          <p:nvPr/>
        </p:nvSpPr>
        <p:spPr>
          <a:xfrm>
            <a:off x="978408"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Restate the outcome in your own words.</a:t>
            </a:r>
          </a:p>
        </p:txBody>
      </p:sp>
      <p:sp>
        <p:nvSpPr>
          <p:cNvPr id="16" name="Rectangle 15"/>
          <p:cNvSpPr/>
          <p:nvPr/>
        </p:nvSpPr>
        <p:spPr>
          <a:xfrm>
            <a:off x="4370832"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0832" y="4480560"/>
            <a:ext cx="344728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663440"/>
            <a:ext cx="3044952" cy="457200"/>
          </a:xfrm>
          <a:prstGeom prst="rect">
            <a:avLst/>
          </a:prstGeom>
          <a:noFill/>
        </p:spPr>
        <p:txBody>
          <a:bodyPr wrap="square" anchor="t">
            <a:spAutoFit/>
          </a:bodyPr>
          <a:lstStyle/>
          <a:p>
            <a:pPr algn="l">
              <a:spcAft>
                <a:spcPts val="400"/>
              </a:spcAft>
            </a:pPr>
            <a:r>
              <a:rPr sz="1350" b="1">
                <a:solidFill>
                  <a:srgbClr val="10B981"/>
                </a:solidFill>
                <a:latin typeface="Arial"/>
              </a:rPr>
              <a:t>Why does it work?</a:t>
            </a:r>
          </a:p>
        </p:txBody>
      </p:sp>
      <p:sp>
        <p:nvSpPr>
          <p:cNvPr id="19" name="TextBox 18"/>
          <p:cNvSpPr txBox="1"/>
          <p:nvPr/>
        </p:nvSpPr>
        <p:spPr>
          <a:xfrm>
            <a:off x="4572000"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Name the quantum principle the activity relies on.</a:t>
            </a:r>
          </a:p>
        </p:txBody>
      </p:sp>
      <p:sp>
        <p:nvSpPr>
          <p:cNvPr id="20" name="Rectangle 19"/>
          <p:cNvSpPr/>
          <p:nvPr/>
        </p:nvSpPr>
        <p:spPr>
          <a:xfrm>
            <a:off x="7964424" y="4480560"/>
            <a:ext cx="3447288" cy="1463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4480560"/>
            <a:ext cx="344728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5592" y="4663440"/>
            <a:ext cx="3044952" cy="457200"/>
          </a:xfrm>
          <a:prstGeom prst="rect">
            <a:avLst/>
          </a:prstGeom>
          <a:noFill/>
        </p:spPr>
        <p:txBody>
          <a:bodyPr wrap="square" anchor="t">
            <a:spAutoFit/>
          </a:bodyPr>
          <a:lstStyle/>
          <a:p>
            <a:pPr algn="l">
              <a:spcAft>
                <a:spcPts val="400"/>
              </a:spcAft>
            </a:pPr>
            <a:r>
              <a:rPr sz="1350" b="1">
                <a:solidFill>
                  <a:srgbClr val="7C3AED"/>
                </a:solidFill>
                <a:latin typeface="Arial"/>
              </a:rPr>
              <a:t>Where would you use it?</a:t>
            </a:r>
          </a:p>
        </p:txBody>
      </p:sp>
      <p:sp>
        <p:nvSpPr>
          <p:cNvPr id="23" name="TextBox 22"/>
          <p:cNvSpPr txBox="1"/>
          <p:nvPr/>
        </p:nvSpPr>
        <p:spPr>
          <a:xfrm>
            <a:off x="8165592" y="5138928"/>
            <a:ext cx="3044952" cy="731520"/>
          </a:xfrm>
          <a:prstGeom prst="rect">
            <a:avLst/>
          </a:prstGeom>
          <a:noFill/>
        </p:spPr>
        <p:txBody>
          <a:bodyPr wrap="square" anchor="t">
            <a:spAutoFit/>
          </a:bodyPr>
          <a:lstStyle/>
          <a:p>
            <a:pPr algn="l">
              <a:spcAft>
                <a:spcPts val="400"/>
              </a:spcAft>
            </a:pPr>
            <a:r>
              <a:rPr sz="1200" b="0">
                <a:solidFill>
                  <a:srgbClr val="5B6372"/>
                </a:solidFill>
                <a:latin typeface="Arial"/>
              </a:rPr>
              <a:t>Give one realistic application in your own field.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Quantum Error Correction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Why QEC is needed</a:t>
            </a:r>
          </a:p>
          <a:p>
            <a:pPr>
              <a:spcAft>
                <a:spcPts val="1000"/>
              </a:spcAft>
            </a:pPr>
            <a:r>
              <a:rPr sz="1600">
                <a:solidFill>
                  <a:srgbClr val="161B26"/>
                </a:solidFill>
                <a:latin typeface="Arial"/>
              </a:rPr>
              <a:t>•  Quantum-specific challenges</a:t>
            </a:r>
          </a:p>
          <a:p>
            <a:pPr>
              <a:spcAft>
                <a:spcPts val="1000"/>
              </a:spcAft>
            </a:pPr>
            <a:r>
              <a:rPr sz="1600">
                <a:solidFill>
                  <a:srgbClr val="161B26"/>
                </a:solidFill>
                <a:latin typeface="Arial"/>
              </a:rPr>
              <a:t>•  Syndrome measurement</a:t>
            </a:r>
          </a:p>
          <a:p>
            <a:pPr>
              <a:spcAft>
                <a:spcPts val="1000"/>
              </a:spcAft>
            </a:pPr>
            <a:r>
              <a:rPr sz="1600">
                <a:solidFill>
                  <a:srgbClr val="161B26"/>
                </a:solidFill>
                <a:latin typeface="Arial"/>
              </a:rPr>
              <a:t>•  Bit-flip and phase-flip codes</a:t>
            </a:r>
          </a:p>
          <a:p>
            <a:pPr>
              <a:spcAft>
                <a:spcPts val="1000"/>
              </a:spcAft>
            </a:pPr>
            <a:r>
              <a:rPr sz="1600">
                <a:solidFill>
                  <a:srgbClr val="161B26"/>
                </a:solidFill>
                <a:latin typeface="Arial"/>
              </a:rPr>
              <a:t>•  Shor, Steane and surface codes</a:t>
            </a:r>
          </a:p>
          <a:p>
            <a:pPr>
              <a:spcAft>
                <a:spcPts val="1000"/>
              </a:spcAft>
            </a:pPr>
            <a:r>
              <a:rPr sz="1600">
                <a:solidFill>
                  <a:srgbClr val="161B26"/>
                </a:solidFill>
                <a:latin typeface="Arial"/>
              </a:rPr>
              <a:t>•  Fault tolerance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 ACHIEVED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Quantum foundations</a:t>
            </a:r>
          </a:p>
          <a:p>
            <a:pPr algn="l">
              <a:spcAft>
                <a:spcPts val="300"/>
              </a:spcAft>
            </a:pPr>
            <a:r>
              <a:rPr sz="1050" b="0">
                <a:solidFill>
                  <a:srgbClr val="5B6372"/>
                </a:solidFill>
                <a:latin typeface="Arial"/>
              </a:rPr>
              <a:t>Built the state vectors, unitary and Hermitian operators behind every algorithm.</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Quantum systems</a:t>
            </a:r>
          </a:p>
          <a:p>
            <a:pPr algn="l">
              <a:spcAft>
                <a:spcPts val="300"/>
              </a:spcAft>
            </a:pPr>
            <a:r>
              <a:rPr sz="1050" b="0">
                <a:solidFill>
                  <a:srgbClr val="5B6372"/>
                </a:solidFill>
                <a:latin typeface="Arial"/>
              </a:rPr>
              <a:t>Visualised qubits on the Bloch sphere and ran circuits on real IBM hardware.</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044952"/>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Gates and circuits</a:t>
            </a:r>
          </a:p>
          <a:p>
            <a:pPr algn="l">
              <a:spcAft>
                <a:spcPts val="300"/>
              </a:spcAft>
            </a:pPr>
            <a:r>
              <a:rPr sz="1050" b="0">
                <a:solidFill>
                  <a:srgbClr val="5B6372"/>
                </a:solidFill>
                <a:latin typeface="Arial"/>
              </a:rPr>
              <a:t>Applied the full gate set and constructed Bell and GHZ entangled states.</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044952"/>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Quantum protocols</a:t>
            </a:r>
          </a:p>
          <a:p>
            <a:pPr algn="l">
              <a:spcAft>
                <a:spcPts val="300"/>
              </a:spcAft>
            </a:pPr>
            <a:r>
              <a:rPr sz="1050" b="0">
                <a:solidFill>
                  <a:srgbClr val="5B6372"/>
                </a:solidFill>
                <a:latin typeface="Arial"/>
              </a:rPr>
              <a:t>Implemented teleportation, superdense coding and BB84 with eavesdropper detection.</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197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Quantum algorithms</a:t>
            </a:r>
          </a:p>
          <a:p>
            <a:pPr algn="l">
              <a:spcAft>
                <a:spcPts val="300"/>
              </a:spcAft>
            </a:pPr>
            <a:r>
              <a:rPr sz="1050" b="0">
                <a:solidFill>
                  <a:srgbClr val="5B6372"/>
                </a:solidFill>
                <a:latin typeface="Arial"/>
              </a:rPr>
              <a:t>Ran Deutsch, Deutsch-Jozsa, Bernstein-Vazirani, Grover and the QFT.</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197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Cryptography and safety</a:t>
            </a:r>
          </a:p>
          <a:p>
            <a:pPr algn="l">
              <a:spcAft>
                <a:spcPts val="300"/>
              </a:spcAft>
            </a:pPr>
            <a:r>
              <a:rPr sz="1050" b="0">
                <a:solidFill>
                  <a:srgbClr val="5B6372"/>
                </a:solidFill>
                <a:latin typeface="Arial"/>
              </a:rPr>
              <a:t>Ran Shor's period finding and built a PQC migration plan.</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7</a:t>
            </a:r>
          </a:p>
        </p:txBody>
      </p:sp>
      <p:sp>
        <p:nvSpPr>
          <p:cNvPr id="41" name="TextBox 40"/>
          <p:cNvSpPr txBox="1"/>
          <p:nvPr/>
        </p:nvSpPr>
        <p:spPr>
          <a:xfrm>
            <a:off x="1764792" y="5349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Applications</a:t>
            </a:r>
          </a:p>
          <a:p>
            <a:pPr algn="l">
              <a:spcAft>
                <a:spcPts val="300"/>
              </a:spcAft>
            </a:pPr>
            <a:r>
              <a:rPr sz="1050" b="0">
                <a:solidFill>
                  <a:srgbClr val="5B6372"/>
                </a:solidFill>
                <a:latin typeface="Arial"/>
              </a:rPr>
              <a:t>Simulated H₂ with VQE and optimised with QAOA.</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8</a:t>
            </a:r>
          </a:p>
        </p:txBody>
      </p:sp>
      <p:sp>
        <p:nvSpPr>
          <p:cNvPr id="46" name="TextBox 45"/>
          <p:cNvSpPr txBox="1"/>
          <p:nvPr/>
        </p:nvSpPr>
        <p:spPr>
          <a:xfrm>
            <a:off x="7219188" y="5349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Error correction</a:t>
            </a:r>
          </a:p>
          <a:p>
            <a:pPr algn="l">
              <a:spcAft>
                <a:spcPts val="300"/>
              </a:spcAft>
            </a:pPr>
            <a:r>
              <a:rPr sz="1050" b="0">
                <a:solidFill>
                  <a:srgbClr val="5B6372"/>
                </a:solidFill>
                <a:latin typeface="Arial"/>
              </a:rPr>
              <a:t>Encoded, diagnosed and corrected errors with the bit-flip, Shor and Steane codes.</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NEXT STEPS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Continue Your Quantum Journey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IBM Quantum Learning</a:t>
            </a:r>
          </a:p>
          <a:p>
            <a:pPr algn="l">
              <a:spcAft>
                <a:spcPts val="300"/>
              </a:spcAft>
            </a:pPr>
            <a:r>
              <a:rPr sz="1100" b="0">
                <a:solidFill>
                  <a:srgbClr val="5B6372"/>
                </a:solidFill>
                <a:latin typeface="Arial"/>
              </a:rPr>
              <a:t>Free courses and challenges at learning.quantum.ibm.com.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Qiskit documentation</a:t>
            </a:r>
          </a:p>
          <a:p>
            <a:pPr algn="l">
              <a:spcAft>
                <a:spcPts val="300"/>
              </a:spcAft>
            </a:pPr>
            <a:r>
              <a:rPr sz="1100" b="0">
                <a:solidFill>
                  <a:srgbClr val="5B6372"/>
                </a:solidFill>
                <a:latin typeface="Arial"/>
              </a:rPr>
              <a:t>The reference for every gate, primitive and runtime feature.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PennyLane demos</a:t>
            </a:r>
          </a:p>
          <a:p>
            <a:pPr algn="l">
              <a:spcAft>
                <a:spcPts val="300"/>
              </a:spcAft>
            </a:pPr>
            <a:r>
              <a:rPr sz="1100" b="0">
                <a:solidFill>
                  <a:srgbClr val="5B6372"/>
                </a:solidFill>
                <a:latin typeface="Arial"/>
              </a:rPr>
              <a:t>Excellent tutorials on variational and quantum-machine-learning methods.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NIST PQC</a:t>
            </a:r>
          </a:p>
          <a:p>
            <a:pPr algn="l">
              <a:spcAft>
                <a:spcPts val="300"/>
              </a:spcAft>
            </a:pPr>
            <a:r>
              <a:rPr sz="1100" b="0">
                <a:solidFill>
                  <a:srgbClr val="5B6372"/>
                </a:solidFill>
                <a:latin typeface="Arial"/>
              </a:rPr>
              <a:t>Track FIPS 203/204/205 adoption and vendor migration guidance.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Practise the labs</a:t>
            </a:r>
          </a:p>
          <a:p>
            <a:pPr algn="l">
              <a:spcAft>
                <a:spcPts val="300"/>
              </a:spcAft>
            </a:pPr>
            <a:r>
              <a:rPr sz="1100" b="0">
                <a:solidFill>
                  <a:srgbClr val="5B6372"/>
                </a:solidFill>
                <a:latin typeface="Arial"/>
              </a:rPr>
              <a:t>Re-run every activity in this course from a blank notebook.</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Stay current</a:t>
            </a:r>
          </a:p>
          <a:p>
            <a:pPr algn="l">
              <a:spcAft>
                <a:spcPts val="300"/>
              </a:spcAft>
            </a:pPr>
            <a:r>
              <a:rPr sz="1100" b="0">
                <a:solidFill>
                  <a:srgbClr val="5B6372"/>
                </a:solidFill>
                <a:latin typeface="Arial"/>
              </a:rPr>
              <a:t>Quantum hardware roadmaps shift yearly — follow the vendor announcements.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0566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05663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011680"/>
            <a:ext cx="4572000" cy="457200"/>
          </a:xfrm>
          <a:prstGeom prst="rect">
            <a:avLst/>
          </a:prstGeom>
          <a:noFill/>
        </p:spPr>
        <p:txBody>
          <a:bodyPr wrap="square" anchor="t">
            <a:spAutoFit/>
          </a:bodyPr>
          <a:lstStyle/>
          <a:p>
            <a:pPr algn="l">
              <a:spcAft>
                <a:spcPts val="400"/>
              </a:spcAft>
            </a:pPr>
            <a:r>
              <a:rPr sz="1900" b="1">
                <a:solidFill>
                  <a:srgbClr val="1F6FEB"/>
                </a:solidFill>
                <a:latin typeface="Arial"/>
              </a:rPr>
              <a:t>Written Assessment (WA)</a:t>
            </a:r>
          </a:p>
        </p:txBody>
      </p:sp>
      <p:sp>
        <p:nvSpPr>
          <p:cNvPr id="10" name="TextBox 9"/>
          <p:cNvSpPr txBox="1"/>
          <p:nvPr/>
        </p:nvSpPr>
        <p:spPr>
          <a:xfrm>
            <a:off x="1051560" y="2606040"/>
            <a:ext cx="4572000" cy="1920240"/>
          </a:xfrm>
          <a:prstGeom prst="rect">
            <a:avLst/>
          </a:prstGeom>
          <a:noFill/>
        </p:spPr>
        <p:txBody>
          <a:bodyPr wrap="square">
            <a:spAutoFit/>
          </a:bodyPr>
          <a:lstStyle/>
          <a:p>
            <a:pPr>
              <a:spcAft>
                <a:spcPts val="800"/>
              </a:spcAft>
            </a:pPr>
            <a:r>
              <a:rPr sz="1400">
                <a:solidFill>
                  <a:srgbClr val="161B26"/>
                </a:solidFill>
                <a:latin typeface="Arial"/>
              </a:rPr>
              <a:t>•  Short-Answer Questions (SAQ)</a:t>
            </a:r>
          </a:p>
          <a:p>
            <a:pPr>
              <a:spcAft>
                <a:spcPts val="800"/>
              </a:spcAft>
            </a:pPr>
            <a:r>
              <a:rPr sz="1400">
                <a:solidFill>
                  <a:srgbClr val="161B26"/>
                </a:solidFill>
                <a:latin typeface="Arial"/>
              </a:rPr>
              <a:t>•  1 hour · open book</a:t>
            </a:r>
          </a:p>
          <a:p>
            <a:pPr>
              <a:spcAft>
                <a:spcPts val="800"/>
              </a:spcAft>
            </a:pPr>
            <a:r>
              <a:rPr sz="1400">
                <a:solidFill>
                  <a:srgbClr val="161B26"/>
                </a:solidFill>
                <a:latin typeface="Arial"/>
              </a:rPr>
              <a:t>•  Tests underpinning KNOWLEDGE</a:t>
            </a:r>
          </a:p>
          <a:p>
            <a:pPr>
              <a:spcAft>
                <a:spcPts val="800"/>
              </a:spcAft>
            </a:pPr>
            <a:r>
              <a:rPr sz="1400">
                <a:solidFill>
                  <a:srgbClr val="161B26"/>
                </a:solidFill>
                <a:latin typeface="Arial"/>
              </a:rPr>
              <a:t>•  Covers all eight topics</a:t>
            </a:r>
          </a:p>
        </p:txBody>
      </p:sp>
      <p:sp>
        <p:nvSpPr>
          <p:cNvPr id="11" name="Rectangle 10"/>
          <p:cNvSpPr/>
          <p:nvPr/>
        </p:nvSpPr>
        <p:spPr>
          <a:xfrm>
            <a:off x="6355080" y="1783080"/>
            <a:ext cx="50566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55080" y="1783080"/>
            <a:ext cx="505663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2011680"/>
            <a:ext cx="4572000" cy="457200"/>
          </a:xfrm>
          <a:prstGeom prst="rect">
            <a:avLst/>
          </a:prstGeom>
          <a:noFill/>
        </p:spPr>
        <p:txBody>
          <a:bodyPr wrap="square" anchor="t">
            <a:spAutoFit/>
          </a:bodyPr>
          <a:lstStyle/>
          <a:p>
            <a:pPr algn="l">
              <a:spcAft>
                <a:spcPts val="400"/>
              </a:spcAft>
            </a:pPr>
            <a:r>
              <a:rPr sz="1900" b="1">
                <a:solidFill>
                  <a:srgbClr val="10B981"/>
                </a:solidFill>
                <a:latin typeface="Arial"/>
              </a:rPr>
              <a:t>Practical Performance (PP)</a:t>
            </a:r>
          </a:p>
        </p:txBody>
      </p:sp>
      <p:sp>
        <p:nvSpPr>
          <p:cNvPr id="14" name="TextBox 13"/>
          <p:cNvSpPr txBox="1"/>
          <p:nvPr/>
        </p:nvSpPr>
        <p:spPr>
          <a:xfrm>
            <a:off x="6629400" y="2606040"/>
            <a:ext cx="4572000" cy="1920240"/>
          </a:xfrm>
          <a:prstGeom prst="rect">
            <a:avLst/>
          </a:prstGeom>
          <a:noFill/>
        </p:spPr>
        <p:txBody>
          <a:bodyPr wrap="square">
            <a:spAutoFit/>
          </a:bodyPr>
          <a:lstStyle/>
          <a:p>
            <a:pPr>
              <a:spcAft>
                <a:spcPts val="800"/>
              </a:spcAft>
            </a:pPr>
            <a:r>
              <a:rPr sz="1400">
                <a:solidFill>
                  <a:srgbClr val="161B26"/>
                </a:solidFill>
                <a:latin typeface="Arial"/>
              </a:rPr>
              <a:t>•  Hands-on quantum tasks</a:t>
            </a:r>
          </a:p>
          <a:p>
            <a:pPr>
              <a:spcAft>
                <a:spcPts val="800"/>
              </a:spcAft>
            </a:pPr>
            <a:r>
              <a:rPr sz="1400">
                <a:solidFill>
                  <a:srgbClr val="161B26"/>
                </a:solidFill>
                <a:latin typeface="Arial"/>
              </a:rPr>
              <a:t>•  1 hour · open book</a:t>
            </a:r>
          </a:p>
          <a:p>
            <a:pPr>
              <a:spcAft>
                <a:spcPts val="800"/>
              </a:spcAft>
            </a:pPr>
            <a:r>
              <a:rPr sz="1400">
                <a:solidFill>
                  <a:srgbClr val="161B26"/>
                </a:solidFill>
                <a:latin typeface="Arial"/>
              </a:rPr>
              <a:t>•  Tests PRACTICAL ability</a:t>
            </a:r>
          </a:p>
          <a:p>
            <a:pPr>
              <a:spcAft>
                <a:spcPts val="800"/>
              </a:spcAft>
            </a:pPr>
            <a:r>
              <a:rPr sz="1400">
                <a:solidFill>
                  <a:srgbClr val="161B26"/>
                </a:solidFill>
                <a:latin typeface="Arial"/>
              </a:rPr>
              <a:t>•  Built on the class activities</a:t>
            </a:r>
          </a:p>
        </p:txBody>
      </p:sp>
      <p:sp>
        <p:nvSpPr>
          <p:cNvPr id="15" name="Rectangle 14"/>
          <p:cNvSpPr/>
          <p:nvPr/>
        </p:nvSpPr>
        <p:spPr>
          <a:xfrm>
            <a:off x="777240" y="4892040"/>
            <a:ext cx="10634472" cy="56692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4892040"/>
            <a:ext cx="10058400" cy="566928"/>
          </a:xfrm>
          <a:prstGeom prst="rect">
            <a:avLst/>
          </a:prstGeom>
          <a:noFill/>
        </p:spPr>
        <p:txBody>
          <a:bodyPr wrap="square" anchor="ctr">
            <a:spAutoFit/>
          </a:bodyPr>
          <a:lstStyle/>
          <a:p>
            <a:pPr algn="l">
              <a:spcAft>
                <a:spcPts val="400"/>
              </a:spcAft>
            </a:pPr>
            <a:r>
              <a:rPr sz="1350" b="1">
                <a:solidFill>
                  <a:srgbClr val="127A3E"/>
                </a:solidFill>
                <a:latin typeface="Arial"/>
              </a:rPr>
              <a:t>OPEN BOOK — course slides, Learner Guide and approved materials only</a:t>
            </a:r>
          </a:p>
        </p:txBody>
      </p:sp>
      <p:sp>
        <p:nvSpPr>
          <p:cNvPr id="17" name="Rectangle 16"/>
          <p:cNvSpPr/>
          <p:nvPr/>
        </p:nvSpPr>
        <p:spPr>
          <a:xfrm>
            <a:off x="777240" y="5596128"/>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5596128"/>
            <a:ext cx="10058400" cy="566928"/>
          </a:xfrm>
          <a:prstGeom prst="rect">
            <a:avLst/>
          </a:prstGeom>
          <a:noFill/>
        </p:spPr>
        <p:txBody>
          <a:bodyPr wrap="square" anchor="ctr">
            <a:spAutoFit/>
          </a:bodyPr>
          <a:lstStyle/>
          <a:p>
            <a:pPr algn="l">
              <a:spcAft>
                <a:spcPts val="400"/>
              </a:spcAft>
            </a:pPr>
            <a:r>
              <a:rPr sz="1300" b="1">
                <a:solidFill>
                  <a:srgbClr val="1F6FEB"/>
                </a:solidFill>
                <a:latin typeface="Arial"/>
              </a:rPr>
              <a:t>Eligibility:  </a:t>
            </a:r>
            <a:r>
              <a:rPr sz="1300" b="0">
                <a:solidFill>
                  <a:srgbClr val="161B26"/>
                </a:solidFill>
                <a:latin typeface="Arial"/>
              </a:rPr>
              <a:t>minimum 75% attendance + assessed Competent.  An appeal process is available.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ssessment-flow.png"/>
          <p:cNvPicPr>
            <a:picLocks noChangeAspect="1"/>
          </p:cNvPicPr>
          <p:nvPr/>
        </p:nvPicPr>
        <p:blipFill>
          <a:blip r:embed="rId2"/>
          <a:stretch>
            <a:fillRect/>
          </a:stretch>
        </p:blipFill>
        <p:spPr>
          <a:xfrm>
            <a:off x="1292550" y="1755648"/>
            <a:ext cx="9603851" cy="3950208"/>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70448"/>
            <a:ext cx="10241280" cy="457200"/>
          </a:xfrm>
          <a:prstGeom prst="rect">
            <a:avLst/>
          </a:prstGeom>
          <a:noFill/>
        </p:spPr>
        <p:txBody>
          <a:bodyPr wrap="square" anchor="ctr">
            <a:spAutoFit/>
          </a:bodyPr>
          <a:lstStyle/>
          <a:p>
            <a:pPr algn="ctr">
              <a:spcAft>
                <a:spcPts val="400"/>
              </a:spcAft>
            </a:pPr>
            <a:r>
              <a:rPr sz="1350" b="0">
                <a:solidFill>
                  <a:srgbClr val="161B26"/>
                </a:solidFill>
                <a:latin typeface="Arial"/>
              </a:rPr>
              <a:t>Complete every step in order — the TRAQOM survey and digital attendance are mandatory for funding.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Trainer displays the digital attendance QR code from the SSG portal</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Scan the QR code with your mobile phone camera</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attendance — AM, PM and Assessment, every day</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75% minimum attendance is required for assessment and funding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END OF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600" b="1">
                <a:solidFill>
                  <a:srgbClr val="161B26"/>
                </a:solidFill>
                <a:latin typeface="Arial"/>
              </a:rPr>
              <a:t>Thank You!</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You can now design quantum models, apply quantum gates, select quantum algorithms and plan a post-quantum migration — the skills that secure the future.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Securing the Future with Quantum Computing and Cryptography  ·  TGS-2024043419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