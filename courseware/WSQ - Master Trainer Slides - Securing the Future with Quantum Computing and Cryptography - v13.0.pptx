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Oval 5"/>
          <p:cNvSpPr/>
          <p:nvPr/>
        </p:nvSpPr>
        <p:spPr>
          <a:xfrm>
            <a:off x="9829800" y="566928"/>
            <a:ext cx="1508760" cy="1508760"/>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0" y="1069848"/>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29800" y="2139696"/>
            <a:ext cx="1508760" cy="274320"/>
          </a:xfrm>
          <a:prstGeom prst="rect">
            <a:avLst/>
          </a:prstGeom>
          <a:noFill/>
        </p:spPr>
        <p:txBody>
          <a:bodyPr wrap="square" anchor="t">
            <a:spAutoFit/>
          </a:bodyPr>
          <a:lstStyle/>
          <a:p>
            <a:pPr algn="ctr">
              <a:spcAft>
                <a:spcPts val="400"/>
              </a:spcAft>
            </a:pPr>
            <a:r>
              <a:rPr sz="1000" b="1">
                <a:solidFill>
                  <a:srgbClr val="7C3AED"/>
                </a:solidFill>
                <a:latin typeface="Arial"/>
              </a:rPr>
              <a:t>QUANTUM</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424160" cy="1828800"/>
          </a:xfrm>
          <a:prstGeom prst="rect">
            <a:avLst/>
          </a:prstGeom>
          <a:noFill/>
        </p:spPr>
        <p:txBody>
          <a:bodyPr wrap="square" anchor="t">
            <a:spAutoFit/>
          </a:bodyPr>
          <a:lstStyle/>
          <a:p>
            <a:pPr algn="l">
              <a:spcAft>
                <a:spcPts val="400"/>
              </a:spcAft>
            </a:pPr>
            <a:r>
              <a:rPr sz="4000" b="1">
                <a:solidFill>
                  <a:srgbClr val="161B26"/>
                </a:solidFill>
                <a:latin typeface="Arial"/>
              </a:rPr>
              <a:t>Securing the Future with Quantum Computing and Cryptography</a:t>
            </a:r>
          </a:p>
        </p:txBody>
      </p:sp>
      <p:sp>
        <p:nvSpPr>
          <p:cNvPr id="11" name="Rectangle 10"/>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80060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TGS-2024043419</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13.0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400" b="0">
                <a:solidFill>
                  <a:srgbClr val="161B26"/>
                </a:solidFill>
                <a:latin typeface="Arial"/>
              </a:rPr>
              <a:t>PhD; ACTA / DACE certified adult educator.</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EXPERTISE</a:t>
            </a:r>
          </a:p>
          <a:p>
            <a:pPr algn="l">
              <a:spcAft>
                <a:spcPts val="300"/>
              </a:spcAft>
            </a:pPr>
            <a:r>
              <a:rPr sz="1400" b="0">
                <a:solidFill>
                  <a:srgbClr val="161B26"/>
                </a:solidFill>
                <a:latin typeface="Arial"/>
              </a:rPr>
              <a:t>Quantum computing, quantum cryptography, data science and AI engineering.</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WSQ courses on quantum computing, cybersecurity and applied machine learning.</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900">
                <a:solidFill>
                  <a:srgbClr val="161B26"/>
                </a:solidFill>
                <a:latin typeface="Arial"/>
              </a:rPr>
              <a:t>•  Your name, organisation and role.</a:t>
            </a:r>
          </a:p>
          <a:p>
            <a:pPr>
              <a:spcAft>
                <a:spcPts val="1000"/>
              </a:spcAft>
            </a:pPr>
            <a:r>
              <a:rPr sz="1900">
                <a:solidFill>
                  <a:srgbClr val="161B26"/>
                </a:solidFill>
                <a:latin typeface="Arial"/>
              </a:rPr>
              <a:t>•  Your background in physics, mathematics or programming (if any).</a:t>
            </a:r>
          </a:p>
          <a:p>
            <a:pPr>
              <a:spcAft>
                <a:spcPts val="1000"/>
              </a:spcAft>
            </a:pPr>
            <a:r>
              <a:rPr sz="1900">
                <a:solidFill>
                  <a:srgbClr val="161B26"/>
                </a:solidFill>
                <a:latin typeface="Arial"/>
              </a:rPr>
              <a:t>•  What you want to be able to do with quantum computing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https://lms-tms.tertiaryinfotech.com</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My Courses</a:t>
            </a:r>
          </a:p>
          <a:p>
            <a:pPr algn="l">
              <a:spcAft>
                <a:spcPts val="200"/>
              </a:spcAft>
            </a:pPr>
            <a:r>
              <a:rPr sz="1100" b="0">
                <a:solidFill>
                  <a:srgbClr val="5B6372"/>
                </a:solidFill>
                <a:latin typeface="Arial"/>
              </a:rPr>
              <a:t>Securing the Future with Quantum Computing and Cryptography</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Course Materials</a:t>
            </a:r>
          </a:p>
          <a:p>
            <a:pPr algn="l">
              <a:spcAft>
                <a:spcPts val="200"/>
              </a:spcAft>
            </a:pPr>
            <a:r>
              <a:rPr sz="1100" b="0">
                <a:solidFill>
                  <a:srgbClr val="5B6372"/>
                </a:solidFill>
                <a:latin typeface="Arial"/>
              </a:rPr>
              <a:t>Trainer Slides · Learner Guide · Lesson Plan</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Activities / Labs</a:t>
            </a:r>
          </a:p>
          <a:p>
            <a:pPr algn="l">
              <a:spcAft>
                <a:spcPts val="200"/>
              </a:spcAft>
            </a:pPr>
            <a:r>
              <a:rPr sz="1100" b="0">
                <a:solidFill>
                  <a:srgbClr val="5B6372"/>
                </a:solidFill>
                <a:latin typeface="Arial"/>
              </a:rPr>
              <a:t>Lab source code and QASM files</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Assessment</a:t>
            </a:r>
          </a:p>
          <a:p>
            <a:pPr algn="l">
              <a:spcAft>
                <a:spcPts val="200"/>
              </a:spcAft>
            </a:pPr>
            <a:r>
              <a:rPr sz="1100" b="0">
                <a:solidFill>
                  <a:srgbClr val="5B6372"/>
                </a:solidFill>
                <a:latin typeface="Arial"/>
              </a:rPr>
              <a:t>Submit your WA and PP answers here</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Go to lms-tms.tertiaryinfotech.com and sign in with the account you were issued.</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My Courses and select this course.</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Download the Trainer Slides, Learner Guide and Lesson Plan.</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Keep them open — the assessment is OPEN BOOK.</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Download the slides and Learner Guide BEFORE the assessment — they are your permitted open-book materials.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LO1 · Mathematical models</a:t>
            </a:r>
          </a:p>
          <a:p>
            <a:pPr algn="l">
              <a:spcAft>
                <a:spcPts val="300"/>
              </a:spcAft>
            </a:pPr>
            <a:r>
              <a:rPr sz="1100" b="0">
                <a:solidFill>
                  <a:srgbClr val="5B6372"/>
                </a:solidFill>
                <a:latin typeface="Arial"/>
              </a:rPr>
              <a:t>Design the mathematical models required for quantum computing applications.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LO2 · Physical methodologies</a:t>
            </a:r>
          </a:p>
          <a:p>
            <a:pPr algn="l">
              <a:spcAft>
                <a:spcPts val="300"/>
              </a:spcAft>
            </a:pPr>
            <a:r>
              <a:rPr sz="1100" b="0">
                <a:solidFill>
                  <a:srgbClr val="5B6372"/>
                </a:solidFill>
                <a:latin typeface="Arial"/>
              </a:rPr>
              <a:t>Decide on appropriate physical methodologies for quantum computing problems.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LO3 · Two-level models</a:t>
            </a:r>
          </a:p>
          <a:p>
            <a:pPr algn="l">
              <a:spcAft>
                <a:spcPts val="300"/>
              </a:spcAft>
            </a:pPr>
            <a:r>
              <a:rPr sz="1100" b="0">
                <a:solidFill>
                  <a:srgbClr val="5B6372"/>
                </a:solidFill>
                <a:latin typeface="Arial"/>
              </a:rPr>
              <a:t>Direct two-level quantum models for quantum computing.</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LO4 · Business applicability</a:t>
            </a:r>
          </a:p>
          <a:p>
            <a:pPr algn="l">
              <a:spcAft>
                <a:spcPts val="300"/>
              </a:spcAft>
            </a:pPr>
            <a:r>
              <a:rPr sz="1100" b="0">
                <a:solidFill>
                  <a:srgbClr val="5B6372"/>
                </a:solidFill>
                <a:latin typeface="Arial"/>
              </a:rPr>
              <a:t>Evaluate quantum computing applicability in the business context.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LO5 · Quantum gates</a:t>
            </a:r>
          </a:p>
          <a:p>
            <a:pPr algn="l">
              <a:spcAft>
                <a:spcPts val="300"/>
              </a:spcAft>
            </a:pPr>
            <a:r>
              <a:rPr sz="1100" b="0">
                <a:solidFill>
                  <a:srgbClr val="5B6372"/>
                </a:solidFill>
                <a:latin typeface="Arial"/>
              </a:rPr>
              <a:t>Spearhead the application of quantum gates to quantum computing domains.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LO6 · Algorithm selection</a:t>
            </a:r>
          </a:p>
          <a:p>
            <a:pPr algn="l">
              <a:spcAft>
                <a:spcPts val="300"/>
              </a:spcAft>
            </a:pPr>
            <a:r>
              <a:rPr sz="1100" b="0">
                <a:solidFill>
                  <a:srgbClr val="5B6372"/>
                </a:solidFill>
                <a:latin typeface="Arial"/>
              </a:rPr>
              <a:t>Establish guidelines for selecting quantum computing algorithms.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LO7 · Synthesis</a:t>
            </a:r>
          </a:p>
          <a:p>
            <a:pPr algn="l">
              <a:spcAft>
                <a:spcPts val="300"/>
              </a:spcAft>
            </a:pPr>
            <a:r>
              <a:rPr sz="1100" b="0">
                <a:solidFill>
                  <a:srgbClr val="5B6372"/>
                </a:solidFill>
                <a:latin typeface="Arial"/>
              </a:rPr>
              <a:t>Synthesize quantum methodologies to address complex quantum computing problems.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4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3–4</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Day 1 — Quantum Physics Fundamentals &amp; Quantum Computing Systems</a:t>
            </a:r>
          </a:p>
          <a:p>
            <a:pPr>
              <a:spcAft>
                <a:spcPts val="1000"/>
              </a:spcAft>
            </a:pPr>
            <a:r>
              <a:rPr sz="1400">
                <a:solidFill>
                  <a:srgbClr val="5B6372"/>
                </a:solidFill>
                <a:latin typeface="Arial"/>
              </a:rPr>
              <a:t>–  Topic 1: Quantum Physics Fundamentals (Activity 1)</a:t>
            </a:r>
          </a:p>
          <a:p>
            <a:pPr>
              <a:spcAft>
                <a:spcPts val="1000"/>
              </a:spcAft>
            </a:pPr>
            <a:r>
              <a:rPr sz="1400">
                <a:solidFill>
                  <a:srgbClr val="5B6372"/>
                </a:solidFill>
                <a:latin typeface="Arial"/>
              </a:rPr>
              <a:t>–  Topic 2: Quantum Computing Systems (Activities 2–3)</a:t>
            </a:r>
          </a:p>
          <a:p>
            <a:pPr>
              <a:spcAft>
                <a:spcPts val="1000"/>
              </a:spcAft>
            </a:pPr>
            <a:r>
              <a:rPr sz="1600">
                <a:solidFill>
                  <a:srgbClr val="161B26"/>
                </a:solidFill>
                <a:latin typeface="Arial"/>
              </a:rPr>
              <a:t>•  Day 2 — Quantum Gates, Circuits and Quantum Protocols</a:t>
            </a:r>
          </a:p>
          <a:p>
            <a:pPr>
              <a:spcAft>
                <a:spcPts val="1000"/>
              </a:spcAft>
            </a:pPr>
            <a:r>
              <a:rPr sz="1400">
                <a:solidFill>
                  <a:srgbClr val="5B6372"/>
                </a:solidFill>
                <a:latin typeface="Arial"/>
              </a:rPr>
              <a:t>–  Topic 3: Quantum Gates and Circuits (Activities 4–5)</a:t>
            </a:r>
          </a:p>
          <a:p>
            <a:pPr>
              <a:spcAft>
                <a:spcPts val="1000"/>
              </a:spcAft>
            </a:pPr>
            <a:r>
              <a:rPr sz="1400">
                <a:solidFill>
                  <a:srgbClr val="5B6372"/>
                </a:solidFill>
                <a:latin typeface="Arial"/>
              </a:rPr>
              <a:t>–  Topic 4: Quantum Protocols (Activities 6–8)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Day 3 — Quantum Algorithms and Quantum Cryptography</a:t>
            </a:r>
          </a:p>
          <a:p>
            <a:pPr>
              <a:spcAft>
                <a:spcPts val="1000"/>
              </a:spcAft>
            </a:pPr>
            <a:r>
              <a:rPr sz="1400">
                <a:solidFill>
                  <a:srgbClr val="5B6372"/>
                </a:solidFill>
                <a:latin typeface="Arial"/>
              </a:rPr>
              <a:t>–  Topic 5: Quantum Algorithms (Activities 9–12)</a:t>
            </a:r>
          </a:p>
          <a:p>
            <a:pPr>
              <a:spcAft>
                <a:spcPts val="1000"/>
              </a:spcAft>
            </a:pPr>
            <a:r>
              <a:rPr sz="1400">
                <a:solidFill>
                  <a:srgbClr val="5B6372"/>
                </a:solidFill>
                <a:latin typeface="Arial"/>
              </a:rPr>
              <a:t>–  Topic 6: Quantum Cryptography &amp; Safety (Activities 13–14)</a:t>
            </a:r>
          </a:p>
          <a:p>
            <a:pPr>
              <a:spcAft>
                <a:spcPts val="1000"/>
              </a:spcAft>
            </a:pPr>
            <a:r>
              <a:rPr sz="1600">
                <a:solidFill>
                  <a:srgbClr val="161B26"/>
                </a:solidFill>
                <a:latin typeface="Arial"/>
              </a:rPr>
              <a:t>•  Day 4 — Applications, Error Correction and Assessment</a:t>
            </a:r>
          </a:p>
          <a:p>
            <a:pPr>
              <a:spcAft>
                <a:spcPts val="1000"/>
              </a:spcAft>
            </a:pPr>
            <a:r>
              <a:rPr sz="1400">
                <a:solidFill>
                  <a:srgbClr val="5B6372"/>
                </a:solidFill>
                <a:latin typeface="Arial"/>
              </a:rPr>
              <a:t>–  Topic 7: Applications (Activities 15–16)</a:t>
            </a:r>
          </a:p>
          <a:p>
            <a:pPr>
              <a:spcAft>
                <a:spcPts val="1000"/>
              </a:spcAft>
            </a:pPr>
            <a:r>
              <a:rPr sz="1400">
                <a:solidFill>
                  <a:srgbClr val="5B6372"/>
                </a:solidFill>
                <a:latin typeface="Arial"/>
              </a:rPr>
              <a:t>–  Topic 8: Quantum Error Correction (Activities 17–18)</a:t>
            </a:r>
          </a:p>
          <a:p>
            <a:pPr>
              <a:spcAft>
                <a:spcPts val="1000"/>
              </a:spcAft>
            </a:pPr>
            <a:r>
              <a:rPr sz="1400">
                <a:solidFill>
                  <a:srgbClr val="5B6372"/>
                </a:solidFill>
                <a:latin typeface="Arial"/>
              </a:rPr>
              <a:t>–  Final Assessment: WA (1 hr) + PP (1 hr)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5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5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discussion</a:t>
            </a:r>
          </a:p>
          <a:p>
            <a:pPr algn="l">
              <a:spcAft>
                <a:spcPts val="300"/>
              </a:spcAft>
            </a:pPr>
            <a:r>
              <a:rPr sz="115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50" b="0">
                <a:solidFill>
                  <a:srgbClr val="5B6372"/>
                </a:solidFill>
                <a:latin typeface="Arial"/>
              </a:rPr>
              <a:t>Use a black/blue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50" b="0">
                <a:solidFill>
                  <a:srgbClr val="5B6372"/>
                </a:solidFill>
                <a:latin typeface="Arial"/>
              </a:rPr>
              <a:t>No liquid paper or correction tape on any script.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is called</a:t>
            </a:r>
          </a:p>
          <a:p>
            <a:pPr algn="l">
              <a:spcAft>
                <a:spcPts val="300"/>
              </a:spcAft>
            </a:pPr>
            <a:r>
              <a:rPr sz="1150" b="0">
                <a:solidFill>
                  <a:srgbClr val="5B6372"/>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GETTING STARTED</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Why Quantum, Why Now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CORE IDEA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Qubit Different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it-vs-qubit.png"/>
          <p:cNvPicPr>
            <a:picLocks noChangeAspect="1"/>
          </p:cNvPicPr>
          <p:nvPr/>
        </p:nvPicPr>
        <p:blipFill>
          <a:blip r:embed="rId2"/>
          <a:stretch>
            <a:fillRect/>
          </a:stretch>
        </p:blipFill>
        <p:spPr>
          <a:xfrm>
            <a:off x="777240" y="2379971"/>
            <a:ext cx="6400800" cy="301245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 bit</a:t>
            </a:r>
          </a:p>
          <a:p>
            <a:pPr algn="l">
              <a:spcAft>
                <a:spcPts val="300"/>
              </a:spcAft>
            </a:pPr>
            <a:r>
              <a:rPr sz="1200" b="0">
                <a:solidFill>
                  <a:srgbClr val="161B26"/>
                </a:solidFill>
                <a:latin typeface="Arial"/>
              </a:rPr>
              <a:t>Holds exactly one value — 0 or 1 — at any instant.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Qubit</a:t>
            </a:r>
          </a:p>
          <a:p>
            <a:pPr algn="l">
              <a:spcAft>
                <a:spcPts val="300"/>
              </a:spcAft>
            </a:pPr>
            <a:r>
              <a:rPr sz="1200" b="0">
                <a:solidFill>
                  <a:srgbClr val="161B26"/>
                </a:solidFill>
                <a:latin typeface="Arial"/>
              </a:rPr>
              <a:t>Holds a superposition of both, described by two complex amplitudes.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Measurement</a:t>
            </a:r>
          </a:p>
          <a:p>
            <a:pPr algn="l">
              <a:spcAft>
                <a:spcPts val="300"/>
              </a:spcAft>
            </a:pPr>
            <a:r>
              <a:rPr sz="1200" b="0">
                <a:solidFill>
                  <a:srgbClr val="161B26"/>
                </a:solidFill>
                <a:latin typeface="Arial"/>
              </a:rPr>
              <a:t>Collapses the superposition to a single classical outcome.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payoff</a:t>
            </a:r>
          </a:p>
          <a:p>
            <a:pPr algn="l">
              <a:spcAft>
                <a:spcPts val="300"/>
              </a:spcAft>
            </a:pPr>
            <a:r>
              <a:rPr sz="1200" b="0">
                <a:solidFill>
                  <a:srgbClr val="161B26"/>
                </a:solidFill>
                <a:latin typeface="Arial"/>
              </a:rPr>
              <a:t>n qubits carry 2ⁿ amplitudes at once — quantum parallelism.</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IT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State Space Explosion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ate-space-growth.png"/>
          <p:cNvPicPr>
            <a:picLocks noChangeAspect="1"/>
          </p:cNvPicPr>
          <p:nvPr/>
        </p:nvPicPr>
        <p:blipFill>
          <a:blip r:embed="rId2"/>
          <a:stretch>
            <a:fillRect/>
          </a:stretch>
        </p:blipFill>
        <p:spPr>
          <a:xfrm>
            <a:off x="777240" y="2237723"/>
            <a:ext cx="6400800" cy="3296953"/>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50 qubits</a:t>
            </a:r>
          </a:p>
          <a:p>
            <a:pPr algn="l">
              <a:spcAft>
                <a:spcPts val="300"/>
              </a:spcAft>
            </a:pPr>
            <a:r>
              <a:rPr sz="1200" b="0">
                <a:solidFill>
                  <a:srgbClr val="161B26"/>
                </a:solidFill>
                <a:latin typeface="Arial"/>
              </a:rPr>
              <a:t>~10¹⁵ amplitudes — beyond any classical supercomputer's memory.</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300 qubits</a:t>
            </a:r>
          </a:p>
          <a:p>
            <a:pPr algn="l">
              <a:spcAft>
                <a:spcPts val="300"/>
              </a:spcAft>
            </a:pPr>
            <a:r>
              <a:rPr sz="1200" b="0">
                <a:solidFill>
                  <a:srgbClr val="161B26"/>
                </a:solidFill>
                <a:latin typeface="Arial"/>
              </a:rPr>
              <a:t>More amplitudes than atoms in the observable universe.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But</a:t>
            </a:r>
          </a:p>
          <a:p>
            <a:pPr algn="l">
              <a:spcAft>
                <a:spcPts val="300"/>
              </a:spcAft>
            </a:pPr>
            <a:r>
              <a:rPr sz="1200" b="0">
                <a:solidFill>
                  <a:srgbClr val="161B26"/>
                </a:solidFill>
                <a:latin typeface="Arial"/>
              </a:rPr>
              <a:t>You only ever read out n classical bits — algorithms must be clever.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So</a:t>
            </a:r>
          </a:p>
          <a:p>
            <a:pPr algn="l">
              <a:spcAft>
                <a:spcPts val="300"/>
              </a:spcAft>
            </a:pPr>
            <a:r>
              <a:rPr sz="1200" b="0">
                <a:solidFill>
                  <a:srgbClr val="161B26"/>
                </a:solidFill>
                <a:latin typeface="Arial"/>
              </a:rPr>
              <a:t>Interference, not brute force, is what gives quantum its advantage.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QUANTUM ALGORITHMS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Interference — The Real Engine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terference.png"/>
          <p:cNvPicPr>
            <a:picLocks noChangeAspect="1"/>
          </p:cNvPicPr>
          <p:nvPr/>
        </p:nvPicPr>
        <p:blipFill>
          <a:blip r:embed="rId2"/>
          <a:stretch>
            <a:fillRect/>
          </a:stretch>
        </p:blipFill>
        <p:spPr>
          <a:xfrm>
            <a:off x="777240" y="2668751"/>
            <a:ext cx="6400800" cy="243489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Amplitudes can cancel</a:t>
            </a:r>
          </a:p>
          <a:p>
            <a:pPr algn="l">
              <a:spcAft>
                <a:spcPts val="300"/>
              </a:spcAft>
            </a:pPr>
            <a:r>
              <a:rPr sz="1200" b="0">
                <a:solidFill>
                  <a:srgbClr val="161B26"/>
                </a:solidFill>
                <a:latin typeface="Arial"/>
              </a:rPr>
              <a:t>Unlike probabilities, amplitudes are complex and can be negative.</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Wrong answers cancel</a:t>
            </a:r>
          </a:p>
          <a:p>
            <a:pPr algn="l">
              <a:spcAft>
                <a:spcPts val="300"/>
              </a:spcAft>
            </a:pPr>
            <a:r>
              <a:rPr sz="1200" b="0">
                <a:solidFill>
                  <a:srgbClr val="161B26"/>
                </a:solidFill>
                <a:latin typeface="Arial"/>
              </a:rPr>
              <a:t>A good algorithm arranges destructive interference on wrong paths.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Right answers add</a:t>
            </a:r>
          </a:p>
          <a:p>
            <a:pPr algn="l">
              <a:spcAft>
                <a:spcPts val="300"/>
              </a:spcAft>
            </a:pPr>
            <a:r>
              <a:rPr sz="1200" b="0">
                <a:solidFill>
                  <a:srgbClr val="161B26"/>
                </a:solidFill>
                <a:latin typeface="Arial"/>
              </a:rPr>
              <a:t>Constructive interference concentrates probability on the answer.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Every algorithm</a:t>
            </a:r>
          </a:p>
          <a:p>
            <a:pPr algn="l">
              <a:spcAft>
                <a:spcPts val="300"/>
              </a:spcAft>
            </a:pPr>
            <a:r>
              <a:rPr sz="1200" b="0">
                <a:solidFill>
                  <a:srgbClr val="161B26"/>
                </a:solidFill>
                <a:latin typeface="Arial"/>
              </a:rPr>
              <a:t>Deutsch, Grover and Shor are all interference engines.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MENTAL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Superposition supplies the paths. Interference picks the answer.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 quantum algorithm in this course follows that pattern — prepare a superposition, apply an oracle, then interfere so the correct answer survives.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ED-TOOL · QUANTUMLAB BEGINNER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QuantumLab Beginner — Your Practice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https://alfredang.github.io/quantumlabs/</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Math Prerequisites &amp; QM Postulates</a:t>
            </a:r>
          </a:p>
          <a:p>
            <a:pPr algn="l">
              <a:spcAft>
                <a:spcPts val="200"/>
              </a:spcAft>
            </a:pPr>
            <a:r>
              <a:rPr sz="1100" b="0">
                <a:solidFill>
                  <a:srgbClr val="5B6372"/>
                </a:solidFill>
                <a:latin typeface="Arial"/>
              </a:rPr>
              <a:t>Vectors, complex numbers, Hermitian, unitary, the 5 axioms</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Qubits · Bloch Sphere · Superposition</a:t>
            </a:r>
          </a:p>
          <a:p>
            <a:pPr algn="l">
              <a:spcAft>
                <a:spcPts val="200"/>
              </a:spcAft>
            </a:pPr>
            <a:r>
              <a:rPr sz="1100" b="0">
                <a:solidFill>
                  <a:srgbClr val="5B6372"/>
                </a:solidFill>
                <a:latin typeface="Arial"/>
              </a:rPr>
              <a:t>Interactive Bloch disc, probability slider, live Dirac panel</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Entanglement · Bell's Inequality</a:t>
            </a:r>
          </a:p>
          <a:p>
            <a:pPr algn="l">
              <a:spcAft>
                <a:spcPts val="200"/>
              </a:spcAft>
            </a:pPr>
            <a:r>
              <a:rPr sz="1100" b="0">
                <a:solidFill>
                  <a:srgbClr val="5B6372"/>
                </a:solidFill>
                <a:latin typeface="Arial"/>
              </a:rPr>
              <a:t>Bell-pair simulator and a CHSH Monte-Carlo experiment</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Circuits · Phase Kickback · Algorithms</a:t>
            </a:r>
          </a:p>
          <a:p>
            <a:pPr algn="l">
              <a:spcAft>
                <a:spcPts val="200"/>
              </a:spcAft>
            </a:pPr>
            <a:r>
              <a:rPr sz="1100" b="0">
                <a:solidFill>
                  <a:srgbClr val="5B6372"/>
                </a:solidFill>
                <a:latin typeface="Arial"/>
              </a:rPr>
              <a:t>Drag-and-drop builder, kickback explorer, Grover/DJ/QFT/Shor</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alfredang.github.io/quantumlabs in any browser — no install.</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Pick the module matching the topic just taught.</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Use the interactive simulator to build intuition before the maths.</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Take the 3-question module quiz to check your understanding.</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Built by Tertiary Infotech Academy — 18 interactive modules, runs entirely in the browser, no install.</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18 MODULES · alfredang.github.io/quantumlabs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QuantumLab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Reference modules</a:t>
            </a:r>
          </a:p>
          <a:p>
            <a:pPr algn="l">
              <a:spcAft>
                <a:spcPts val="300"/>
              </a:spcAft>
            </a:pPr>
            <a:r>
              <a:rPr sz="1050" b="0">
                <a:solidFill>
                  <a:srgbClr val="5B6372"/>
                </a:solidFill>
                <a:latin typeface="Arial"/>
              </a:rPr>
              <a:t>Math prerequisites, the five QM postulates, density matrices, history of QM.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Core concepts</a:t>
            </a:r>
          </a:p>
          <a:p>
            <a:pPr algn="l">
              <a:spcAft>
                <a:spcPts val="300"/>
              </a:spcAft>
            </a:pPr>
            <a:r>
              <a:rPr sz="1050" b="0">
                <a:solidFill>
                  <a:srgbClr val="5B6372"/>
                </a:solidFill>
                <a:latin typeface="Arial"/>
              </a:rPr>
              <a:t>Qubits, Bloch sphere, superposition, entanglement, measurement.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Bell's inequality</a:t>
            </a:r>
          </a:p>
          <a:p>
            <a:pPr algn="l">
              <a:spcAft>
                <a:spcPts val="300"/>
              </a:spcAft>
            </a:pPr>
            <a:r>
              <a:rPr sz="1050" b="0">
                <a:solidFill>
                  <a:srgbClr val="5B6372"/>
                </a:solidFill>
                <a:latin typeface="Arial"/>
              </a:rPr>
              <a:t>CHSH Monte-Carlo comparing the quantum 2√2 bound against local realism.</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Circuit builder</a:t>
            </a:r>
          </a:p>
          <a:p>
            <a:pPr algn="l">
              <a:spcAft>
                <a:spcPts val="300"/>
              </a:spcAft>
            </a:pPr>
            <a:r>
              <a:rPr sz="1050" b="0">
                <a:solidFill>
                  <a:srgbClr val="5B6372"/>
                </a:solidFill>
                <a:latin typeface="Arial"/>
              </a:rPr>
              <a:t>Drag-and-drop 2ⁿ state-vector simulator with the full gate set.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Phase kickback</a:t>
            </a:r>
          </a:p>
          <a:p>
            <a:pPr algn="l">
              <a:spcAft>
                <a:spcPts val="300"/>
              </a:spcAft>
            </a:pPr>
            <a:r>
              <a:rPr sz="1050" b="0">
                <a:solidFill>
                  <a:srgbClr val="5B6372"/>
                </a:solidFill>
                <a:latin typeface="Arial"/>
              </a:rPr>
              <a:t>Four-state explorer showing the eigenvalue phase moving to the control.</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Algorithms</a:t>
            </a:r>
          </a:p>
          <a:p>
            <a:pPr algn="l">
              <a:spcAft>
                <a:spcPts val="300"/>
              </a:spcAft>
            </a:pPr>
            <a:r>
              <a:rPr sz="1050" b="0">
                <a:solidFill>
                  <a:srgbClr val="5B6372"/>
                </a:solidFill>
                <a:latin typeface="Arial"/>
              </a:rPr>
              <a:t>Coin flip, Grover, Deutsch-Jozsa, teleportation, QFT and Shor with circuit diagrams.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a:t>
            </a:r>
          </a:p>
          <a:p>
            <a:pPr algn="l">
              <a:spcAft>
                <a:spcPts val="300"/>
              </a:spcAft>
            </a:pPr>
            <a:r>
              <a:rPr sz="1050" b="0">
                <a:solidFill>
                  <a:srgbClr val="5B6372"/>
                </a:solidFill>
                <a:latin typeface="Arial"/>
              </a:rPr>
              <a:t>BB84 key distribution with an optional Eve eavesdropper toggle.</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Noise and QEC</a:t>
            </a:r>
          </a:p>
          <a:p>
            <a:pPr algn="l">
              <a:spcAft>
                <a:spcPts val="300"/>
              </a:spcAft>
            </a:pPr>
            <a:r>
              <a:rPr sz="1050" b="0">
                <a:solidFill>
                  <a:srgbClr val="5B6372"/>
                </a:solidFill>
                <a:latin typeface="Arial"/>
              </a:rPr>
              <a:t>Channel-noise propagation and a 3-qubit bit-flip Monte-Carlo.</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PREREQUISITES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The Mathematics of Quantum Mechanics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Linear algebra · Dirac notation · Unitary operators · The five axioms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WHY THIS SECTION COMES FIRST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Quantum mechanics is linear algebra with a probability rule bolted on.</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Everything in this course follows from five axioms and the properties of unitary and Hermitian operators. Get these right and every algorithm becomes readable.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Vectors and Dirac notation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A quantum state is a COLUMN VECTOR. Dirac notation names it compactly.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KET   |ψ&gt;  =  column vector        |0&gt; = [1, 0]ᵀ ,  |1&gt; = [0, 1]ᵀ</a:t>
            </a:r>
          </a:p>
          <a:p>
            <a:pPr algn="l">
              <a:spcAft>
                <a:spcPts val="300"/>
              </a:spcAft>
            </a:pPr>
            <a:r>
              <a:rPr sz="1500" b="0">
                <a:solidFill>
                  <a:srgbClr val="9CDCFE"/>
                </a:solidFill>
                <a:latin typeface="Arial"/>
              </a:rPr>
              <a:t>   BRA   &lt;ψ|  =  conjugate transpose  = (|ψ&gt;)†  = row vector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|ψ&gt; = α|0&gt; + β|1&gt;   =   [α, β]ᵀ</a:t>
            </a:r>
          </a:p>
          <a:p>
            <a:pPr algn="l">
              <a:spcAft>
                <a:spcPts val="300"/>
              </a:spcAft>
            </a:pPr>
            <a:r>
              <a:rPr sz="1500" b="0">
                <a:solidFill>
                  <a:srgbClr val="9CDCFE"/>
                </a:solidFill>
                <a:latin typeface="Arial"/>
              </a:rPr>
              <a:t>   &lt;ψ| = α*&lt;0| + β*&lt;1| =   [α*, β*]</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bra is the DAGGER of the ket: transpose AND complex-conjugate.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Inner product — overlap and probability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&lt;φ|ψ&gt;  =  a single COMPLEX NUMBER (a scalar)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&lt;0|0&gt; = 1     (normalised)</a:t>
            </a:r>
          </a:p>
          <a:p>
            <a:pPr algn="l">
              <a:spcAft>
                <a:spcPts val="300"/>
              </a:spcAft>
            </a:pPr>
            <a:r>
              <a:rPr sz="1500" b="0">
                <a:solidFill>
                  <a:srgbClr val="9CDCFE"/>
                </a:solidFill>
                <a:latin typeface="Arial"/>
              </a:rPr>
              <a:t>   &lt;0|1&gt; = 0     (orthogonal)</a:t>
            </a:r>
          </a:p>
          <a:p>
            <a:pPr algn="l">
              <a:spcAft>
                <a:spcPts val="300"/>
              </a:spcAft>
            </a:pPr>
            <a:r>
              <a:rPr sz="1500" b="0">
                <a:solidFill>
                  <a:srgbClr val="9CDCFE"/>
                </a:solidFill>
                <a:latin typeface="Arial"/>
              </a:rPr>
              <a:t>   &lt;0|+&gt; = 1/√2  (partial overlap)</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Properties:   &lt;φ|ψ&gt; = &lt;ψ|φ&gt;*      and      &lt;ψ|ψ&gt; = 1 for a valid state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inner product IS the probability amplitude — square its magnitude to get a probability (the Born rule).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Outer product — operators and projectors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|ψ&gt;&lt;φ|  =  a MATRIX (an operator), not a number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|0&gt;&lt;0| = [[1,0],[0,0]]     — projector onto |0&gt;</a:t>
            </a:r>
          </a:p>
          <a:p>
            <a:pPr algn="l">
              <a:spcAft>
                <a:spcPts val="300"/>
              </a:spcAft>
            </a:pPr>
            <a:r>
              <a:rPr sz="1500" b="0">
                <a:solidFill>
                  <a:srgbClr val="9CDCFE"/>
                </a:solidFill>
                <a:latin typeface="Arial"/>
              </a:rPr>
              <a:t>   |1&gt;&lt;1| = [[0,0],[0,1]]     — projector onto |1&gt;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Completeness:   |0&gt;&lt;0| + |1&gt;&lt;1|  =  I</a:t>
            </a:r>
          </a:p>
          <a:p>
            <a:pPr algn="l">
              <a:spcAft>
                <a:spcPts val="300"/>
              </a:spcAft>
            </a:pPr>
            <a:r>
              <a:rPr sz="1500" b="0">
                <a:solidFill>
                  <a:srgbClr val="9CDCFE"/>
                </a:solidFill>
                <a:latin typeface="Arial"/>
              </a:rPr>
              <a:t>Any operator:   A  =  Σ_ij  aᵢⱼ |i&gt;&lt;j|</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Inner product = number. Outer product = matrix. Getting these two the right way round prevents most beginner errors.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Tensor product — combining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|a&gt; (x) |b&gt;   written  |a&gt;|b&gt;  or  |ab&gt;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|0&gt; (x) |1&gt;  =  [1,0]ᵀ (x) [0,1]ᵀ  =  [0, 1, 0, 0]ᵀ  =  |01&gt;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Dimensions MULTIPLY:   2 (x) 2 = 4,   and n qubits give 2ⁿ</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Operators too:   (A (x) B)(|a&gt; (x) |b&gt;)  =  A|a&gt; (x) B|b&gt;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tensor product is the mathematical source of exponential state space — and therefore of quantum advantage.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MATHEMATICAL PREREQUISITES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Eigenvalues and eigenvectors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A|v&gt;  =  λ|v&gt;       |v&gt; is unchanged in DIRECTION, only scaled by λ</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Find them by solving the characteristic equation  det(A - λI) = 0.</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Example — Pauli Z = [[1,0],[0,-1]]:</a:t>
            </a:r>
          </a:p>
          <a:p>
            <a:pPr algn="l">
              <a:spcAft>
                <a:spcPts val="300"/>
              </a:spcAft>
            </a:pPr>
            <a:r>
              <a:rPr sz="1500" b="0">
                <a:solidFill>
                  <a:srgbClr val="9CDCFE"/>
                </a:solidFill>
                <a:latin typeface="Arial"/>
              </a:rPr>
              <a:t>   Z|0&gt; = +1|0&gt;     eigenvalue +1, eigenvector |0&gt;</a:t>
            </a:r>
          </a:p>
          <a:p>
            <a:pPr algn="l">
              <a:spcAft>
                <a:spcPts val="300"/>
              </a:spcAft>
            </a:pPr>
            <a:r>
              <a:rPr sz="1500" b="0">
                <a:solidFill>
                  <a:srgbClr val="9CDCFE"/>
                </a:solidFill>
                <a:latin typeface="Arial"/>
              </a:rPr>
              <a:t>   Z|1&gt; = -1|1&gt;     eigenvalue -1, eigenvector |1&gt;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Measurement outcomes ARE eigenvalues, and the measurement basis IS the eigenbasis. Eigenvectors of X are |+&gt; and |-&gt;.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An operator U is UNITARY when: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U†U  =  UU†  =  I           equivalently    U⁻¹ = U†</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where U† is the conjugate transpose (dagger / adjoint):</a:t>
            </a:r>
          </a:p>
          <a:p>
            <a:pPr algn="l">
              <a:spcAft>
                <a:spcPts val="300"/>
              </a:spcAft>
            </a:pPr>
            <a:r>
              <a:rPr sz="1500" b="0">
                <a:solidFill>
                  <a:srgbClr val="9CDCFE"/>
                </a:solidFill>
                <a:latin typeface="Arial"/>
              </a:rPr>
              <a:t>   (U†)ᵢⱼ  =  (Uⱼᵢ)*</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Example — Hadamard:  H = (1/√2)[[1,1],[1,-1]]</a:t>
            </a:r>
          </a:p>
          <a:p>
            <a:pPr algn="l">
              <a:spcAft>
                <a:spcPts val="300"/>
              </a:spcAft>
            </a:pPr>
            <a:r>
              <a:rPr sz="1500" b="0">
                <a:solidFill>
                  <a:srgbClr val="9CDCFE"/>
                </a:solidFill>
                <a:latin typeface="Arial"/>
              </a:rPr>
              <a:t>   H† = H  (real and symmetric),  and  H·H = I    so H is unitary.</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Checking U†U = I is the single most useful sanity test when you build a gate.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1 — Unitary preserves the norm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2951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02536"/>
          </a:xfrm>
          <a:prstGeom prst="rect">
            <a:avLst/>
          </a:prstGeom>
          <a:noFill/>
        </p:spPr>
        <p:txBody>
          <a:bodyPr wrap="square" anchor="t">
            <a:spAutoFit/>
          </a:bodyPr>
          <a:lstStyle/>
          <a:p>
            <a:pPr algn="l">
              <a:spcAft>
                <a:spcPts val="300"/>
              </a:spcAft>
            </a:pPr>
            <a:r>
              <a:rPr sz="1500" b="0">
                <a:solidFill>
                  <a:srgbClr val="9CDCFE"/>
                </a:solidFill>
                <a:latin typeface="Arial"/>
              </a:rPr>
              <a:t>   &lt;Uψ|Uψ&gt;  =  &lt;ψ|U†U|ψ&gt;  =  &lt;ψ|I|ψ&gt;  =  &lt;ψ|ψ&gt;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So a normalised state STAYS normalised.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Consequence: probabilities always sum to 1, at every step of the circuit.</a:t>
            </a:r>
          </a:p>
          <a:p>
            <a:pPr algn="l">
              <a:spcAft>
                <a:spcPts val="300"/>
              </a:spcAft>
            </a:pPr>
            <a:r>
              <a:rPr sz="1500" b="0">
                <a:solidFill>
                  <a:srgbClr val="9CDCFE"/>
                </a:solidFill>
                <a:latin typeface="Arial"/>
              </a:rPr>
              <a:t>A non-unitary gate would create or destroy probability — unphysical.</a:t>
            </a:r>
          </a:p>
        </p:txBody>
      </p:sp>
      <p:sp>
        <p:nvSpPr>
          <p:cNvPr id="9" name="Rectangle 8"/>
          <p:cNvSpPr/>
          <p:nvPr/>
        </p:nvSpPr>
        <p:spPr>
          <a:xfrm>
            <a:off x="777240" y="4306824"/>
            <a:ext cx="10634472" cy="1746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06824"/>
            <a:ext cx="82296" cy="1746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06824"/>
            <a:ext cx="10149840" cy="1746504"/>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is why you never need to renormalise mid-circuit; only measurement (which is not unitary) requires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2 — Unitary preserves inner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2951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02536"/>
          </a:xfrm>
          <a:prstGeom prst="rect">
            <a:avLst/>
          </a:prstGeom>
          <a:noFill/>
        </p:spPr>
        <p:txBody>
          <a:bodyPr wrap="square" anchor="t">
            <a:spAutoFit/>
          </a:bodyPr>
          <a:lstStyle/>
          <a:p>
            <a:pPr algn="l">
              <a:spcAft>
                <a:spcPts val="300"/>
              </a:spcAft>
            </a:pPr>
            <a:r>
              <a:rPr sz="1500" b="0">
                <a:solidFill>
                  <a:srgbClr val="9CDCFE"/>
                </a:solidFill>
                <a:latin typeface="Arial"/>
              </a:rPr>
              <a:t>   &lt;Uφ|Uψ&gt;  =  &lt;φ|U†U|ψ&gt;  =  &lt;φ|ψ&gt;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ANGLES between states are preserved. Orthogonal states stay orthogonal.</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Geometric picture: a unitary is a ROTATION (possibly with reflection) of</a:t>
            </a:r>
          </a:p>
          <a:p>
            <a:pPr algn="l">
              <a:spcAft>
                <a:spcPts val="300"/>
              </a:spcAft>
            </a:pPr>
            <a:r>
              <a:rPr sz="1500" b="0">
                <a:solidFill>
                  <a:srgbClr val="9CDCFE"/>
                </a:solidFill>
                <a:latin typeface="Arial"/>
              </a:rPr>
              <a:t>the state space — it is rigid, it never stretches or squashes.</a:t>
            </a:r>
          </a:p>
        </p:txBody>
      </p:sp>
      <p:sp>
        <p:nvSpPr>
          <p:cNvPr id="9" name="Rectangle 8"/>
          <p:cNvSpPr/>
          <p:nvPr/>
        </p:nvSpPr>
        <p:spPr>
          <a:xfrm>
            <a:off x="777240" y="4306824"/>
            <a:ext cx="10634472" cy="1746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06824"/>
            <a:ext cx="82296" cy="1746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06824"/>
            <a:ext cx="10149840" cy="1746504"/>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single property is what makes the no-cloning proof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3 — Unitary is reversible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U⁻¹ = U†  always EXISTS.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So every quantum gate can be undone:   U†(U|ψ&gt;) = |ψ&gt;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Consequences:</a:t>
            </a:r>
          </a:p>
          <a:p>
            <a:pPr algn="l">
              <a:spcAft>
                <a:spcPts val="300"/>
              </a:spcAft>
            </a:pPr>
            <a:r>
              <a:rPr sz="1500" b="0">
                <a:solidFill>
                  <a:srgbClr val="9CDCFE"/>
                </a:solidFill>
                <a:latin typeface="Arial"/>
              </a:rPr>
              <a:t>   • quantum circuits have equal input and output wire counts</a:t>
            </a:r>
          </a:p>
          <a:p>
            <a:pPr algn="l">
              <a:spcAft>
                <a:spcPts val="300"/>
              </a:spcAft>
            </a:pPr>
            <a:r>
              <a:rPr sz="1500" b="0">
                <a:solidFill>
                  <a:srgbClr val="9CDCFE"/>
                </a:solidFill>
                <a:latin typeface="Arial"/>
              </a:rPr>
              <a:t>   • no information is ever erased (no Landauer heat cost)</a:t>
            </a:r>
          </a:p>
          <a:p>
            <a:pPr algn="l">
              <a:spcAft>
                <a:spcPts val="300"/>
              </a:spcAft>
            </a:pPr>
            <a:r>
              <a:rPr sz="1500" b="0">
                <a:solidFill>
                  <a:srgbClr val="9CDCFE"/>
                </a:solidFill>
                <a:latin typeface="Arial"/>
              </a:rPr>
              <a:t>   • classical AND/OR are NOT valid gates — they lose a bit</a:t>
            </a:r>
          </a:p>
          <a:p>
            <a:pPr algn="l">
              <a:spcAft>
                <a:spcPts val="300"/>
              </a:spcAft>
            </a:pPr>
            <a:r>
              <a:rPr sz="1500" b="0">
                <a:solidFill>
                  <a:srgbClr val="9CDCFE"/>
                </a:solidFill>
                <a:latin typeface="Arial"/>
              </a:rPr>
              <a:t>   • classical logic must be made reversible first (Toffoli gate)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Reversibility is a constraint on circuit design, not a convenience — you cannot 'discard' a qubit mid-computation without consequences.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Property 4 — Eigenvalues lie on the unit circle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If U|v&gt; = λ|v&gt;, then norm preservation forces: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|λ|  =  1        so       λ  =  e^(iθ)   for some real θ</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Unitary operators can only apply PHASES to their eigenvectors —</a:t>
            </a:r>
          </a:p>
          <a:p>
            <a:pPr algn="l">
              <a:spcAft>
                <a:spcPts val="300"/>
              </a:spcAft>
            </a:pPr>
            <a:r>
              <a:rPr sz="1500" b="0">
                <a:solidFill>
                  <a:srgbClr val="9CDCFE"/>
                </a:solidFill>
                <a:latin typeface="Arial"/>
              </a:rPr>
              <a:t>never amplify or damp them.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This fact is the entire basis of QUANTUM PHASE ESTIMATION.</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Phase estimation exists precisely because unitary eigenvalues are pure phases: estimating λ reduces to estimating the single real number θ.</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CENTRAL PROPERTY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Unitary vs Hermitian — do not confuse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UNITARY    U†U = I        describes EVOLUTION (gates)</a:t>
            </a:r>
          </a:p>
          <a:p>
            <a:pPr algn="l">
              <a:spcAft>
                <a:spcPts val="300"/>
              </a:spcAft>
            </a:pPr>
            <a:r>
              <a:rPr sz="1320" b="0">
                <a:solidFill>
                  <a:srgbClr val="9CDCFE"/>
                </a:solidFill>
                <a:latin typeface="Arial"/>
              </a:rPr>
              <a:t>                             eigenvalues on the unit circle, e^(iθ)</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HERMITIAN  A† = A         describes OBSERVABLES (measurements)</a:t>
            </a:r>
          </a:p>
          <a:p>
            <a:pPr algn="l">
              <a:spcAft>
                <a:spcPts val="300"/>
              </a:spcAft>
            </a:pPr>
            <a:r>
              <a:rPr sz="1320" b="0">
                <a:solidFill>
                  <a:srgbClr val="9CDCFE"/>
                </a:solidFill>
                <a:latin typeface="Arial"/>
              </a:rPr>
              <a:t>                             eigenvalues REAL</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The Pauli gates X, Y, Z are BOTH — which is why they serve as gates</a:t>
            </a:r>
          </a:p>
          <a:p>
            <a:pPr algn="l">
              <a:spcAft>
                <a:spcPts val="300"/>
              </a:spcAft>
            </a:pPr>
            <a:r>
              <a:rPr sz="1320" b="0">
                <a:solidFill>
                  <a:srgbClr val="9CDCFE"/>
                </a:solidFill>
                <a:latin typeface="Arial"/>
              </a:rPr>
              <a:t>and as measurement observables. H is also both.</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Link:   A Hermitian  =&gt;  U = e^(iA) is unitary.</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A common exam question. Unitary = evolution; Hermitian = observable; the Paulis happen to be both.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state vectors are not enough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A ket |ψ&gt; describes a PURE state — full knowledge of the system.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But real systems are often:</a:t>
            </a:r>
          </a:p>
          <a:p>
            <a:pPr algn="l">
              <a:spcAft>
                <a:spcPts val="300"/>
              </a:spcAft>
            </a:pPr>
            <a:r>
              <a:rPr sz="1500" b="0">
                <a:solidFill>
                  <a:srgbClr val="9CDCFE"/>
                </a:solidFill>
                <a:latin typeface="Arial"/>
              </a:rPr>
              <a:t>   • statistical mixtures (the source emits |0&gt; or |1&gt; at random)</a:t>
            </a:r>
          </a:p>
          <a:p>
            <a:pPr algn="l">
              <a:spcAft>
                <a:spcPts val="300"/>
              </a:spcAft>
            </a:pPr>
            <a:r>
              <a:rPr sz="1500" b="0">
                <a:solidFill>
                  <a:srgbClr val="9CDCFE"/>
                </a:solidFill>
                <a:latin typeface="Arial"/>
              </a:rPr>
              <a:t>   • entangled with an environment we cannot access</a:t>
            </a:r>
          </a:p>
          <a:p>
            <a:pPr algn="l">
              <a:spcAft>
                <a:spcPts val="300"/>
              </a:spcAft>
            </a:pPr>
            <a:r>
              <a:rPr sz="1500" b="0">
                <a:solidFill>
                  <a:srgbClr val="9CDCFE"/>
                </a:solidFill>
                <a:latin typeface="Arial"/>
              </a:rPr>
              <a:t>   • one half of an entangled pair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None of these can be written as a single ket.</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You need the density matrix as soon as you discuss noise, decoherence or subsystems — which is to say, any real device.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PURE state:    ρ  =  |ψ&gt;&lt;ψ|</a:t>
            </a:r>
          </a:p>
          <a:p>
            <a:pPr algn="l">
              <a:spcAft>
                <a:spcPts val="300"/>
              </a:spcAft>
            </a:pPr>
            <a:r>
              <a:rPr sz="1500" b="0">
                <a:solidFill>
                  <a:srgbClr val="9CDCFE"/>
                </a:solidFill>
                <a:latin typeface="Arial"/>
              </a:rPr>
              <a:t>   MIXED state:   ρ  =  Σ_i pᵢ |ψᵢ&gt;&lt;ψᵢ|      with  Σ pᵢ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Properties of any valid density matrix:</a:t>
            </a:r>
          </a:p>
          <a:p>
            <a:pPr algn="l">
              <a:spcAft>
                <a:spcPts val="300"/>
              </a:spcAft>
            </a:pPr>
            <a:r>
              <a:rPr sz="1500" b="0">
                <a:solidFill>
                  <a:srgbClr val="9CDCFE"/>
                </a:solidFill>
                <a:latin typeface="Arial"/>
              </a:rPr>
              <a:t>   ρ† = ρ            (Hermitian)</a:t>
            </a:r>
          </a:p>
          <a:p>
            <a:pPr algn="l">
              <a:spcAft>
                <a:spcPts val="300"/>
              </a:spcAft>
            </a:pPr>
            <a:r>
              <a:rPr sz="1500" b="0">
                <a:solidFill>
                  <a:srgbClr val="9CDCFE"/>
                </a:solidFill>
                <a:latin typeface="Arial"/>
              </a:rPr>
              <a:t>   Tr(ρ) = 1         (probabilities sum to 1)</a:t>
            </a:r>
          </a:p>
          <a:p>
            <a:pPr algn="l">
              <a:spcAft>
                <a:spcPts val="300"/>
              </a:spcAft>
            </a:pPr>
            <a:r>
              <a:rPr sz="1500" b="0">
                <a:solidFill>
                  <a:srgbClr val="9CDCFE"/>
                </a:solidFill>
                <a:latin typeface="Arial"/>
              </a:rPr>
              <a:t>   ρ ≥ 0             (positive semi-definite)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density matrix generalises the state vector — every ket has a ρ, but not every ρ has a ket.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Distinguishing pure from mixed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Tr(ρ²)  =  1     &lt;=&gt;   PURE</a:t>
            </a:r>
          </a:p>
          <a:p>
            <a:pPr algn="l">
              <a:spcAft>
                <a:spcPts val="300"/>
              </a:spcAft>
            </a:pPr>
            <a:r>
              <a:rPr sz="1500" b="0">
                <a:solidFill>
                  <a:srgbClr val="9CDCFE"/>
                </a:solidFill>
                <a:latin typeface="Arial"/>
              </a:rPr>
              <a:t>   Tr(ρ²)  &lt;  1     &lt;=&gt;   MIXED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maximally mixed single-qubit state:</a:t>
            </a:r>
          </a:p>
          <a:p>
            <a:pPr algn="l">
              <a:spcAft>
                <a:spcPts val="300"/>
              </a:spcAft>
            </a:pPr>
            <a:r>
              <a:rPr sz="1500" b="0">
                <a:solidFill>
                  <a:srgbClr val="9CDCFE"/>
                </a:solidFill>
                <a:latin typeface="Arial"/>
              </a:rPr>
              <a:t>   ρ = I/2 = [[0.5, 0],[0, 0.5]]      Tr(ρ²) = 0.5</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This carries NO information — every measurement gives 50/50 in every basis.</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Bob's qubit before he receives the classical bits in teleportation is exactly I/2 — which is why no faster-than-light signalling occurs.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BEYOND PURE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vs mixture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SUPERPOSITION  |+&gt; = (|0&gt;+|1&gt;)/√2</a:t>
            </a:r>
          </a:p>
          <a:p>
            <a:pPr algn="l">
              <a:spcAft>
                <a:spcPts val="300"/>
              </a:spcAft>
            </a:pPr>
            <a:r>
              <a:rPr sz="1500" b="0">
                <a:solidFill>
                  <a:srgbClr val="9CDCFE"/>
                </a:solidFill>
                <a:latin typeface="Arial"/>
              </a:rPr>
              <a:t>      ρ = [[0.5, 0.5],[0.5, 0.5]]      OFF-DIAGONALS PRESENT</a:t>
            </a:r>
          </a:p>
          <a:p>
            <a:pPr algn="l">
              <a:spcAft>
                <a:spcPts val="300"/>
              </a:spcAft>
            </a:pPr>
            <a:r>
              <a:rPr sz="1500" b="0">
                <a:solidFill>
                  <a:srgbClr val="9CDCFE"/>
                </a:solidFill>
                <a:latin typeface="Arial"/>
              </a:rPr>
              <a:t>      Measure in X basis: always |+&gt;   — deterministic!</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MIXTURE  '50% |0&gt;, 50% |1&gt;'</a:t>
            </a:r>
          </a:p>
          <a:p>
            <a:pPr algn="l">
              <a:spcAft>
                <a:spcPts val="300"/>
              </a:spcAft>
            </a:pPr>
            <a:r>
              <a:rPr sz="1500" b="0">
                <a:solidFill>
                  <a:srgbClr val="9CDCFE"/>
                </a:solidFill>
                <a:latin typeface="Arial"/>
              </a:rPr>
              <a:t>      ρ = [[0.5, 0],[0, 0.5]]          OFF-DIAGONALS ZERO</a:t>
            </a:r>
          </a:p>
          <a:p>
            <a:pPr algn="l">
              <a:spcAft>
                <a:spcPts val="300"/>
              </a:spcAft>
            </a:pPr>
            <a:r>
              <a:rPr sz="1500" b="0">
                <a:solidFill>
                  <a:srgbClr val="9CDCFE"/>
                </a:solidFill>
                <a:latin typeface="Arial"/>
              </a:rPr>
              <a:t>      Measure in X basis: 50/50        — random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In the Z basis BOTH give 50/50 — they look identical.</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off-diagonal terms are the COHERENCES. Decoherence is precisely the process that decays them, turning a superposition into a mixture.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 Overview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a:solidFill>
                  <a:srgbClr val="161B26"/>
                </a:solidFill>
                <a:latin typeface="Arial"/>
              </a:rPr>
              <a:t>•  Postulate 1 — STATE SPACE: a state is a unit vector in a complex Hilbert space.</a:t>
            </a:r>
          </a:p>
          <a:p>
            <a:pPr>
              <a:spcAft>
                <a:spcPts val="1000"/>
              </a:spcAft>
            </a:pPr>
            <a:r>
              <a:rPr sz="1700">
                <a:solidFill>
                  <a:srgbClr val="161B26"/>
                </a:solidFill>
                <a:latin typeface="Arial"/>
              </a:rPr>
              <a:t>•  Postulate 2 — TIME EVOLUTION: closed systems evolve by a unitary operator.</a:t>
            </a:r>
          </a:p>
          <a:p>
            <a:pPr>
              <a:spcAft>
                <a:spcPts val="1000"/>
              </a:spcAft>
            </a:pPr>
            <a:r>
              <a:rPr sz="1700">
                <a:solidFill>
                  <a:srgbClr val="161B26"/>
                </a:solidFill>
                <a:latin typeface="Arial"/>
              </a:rPr>
              <a:t>•  Postulate 3 — OBSERVABLES: measurable quantities are Hermitian operators.</a:t>
            </a:r>
          </a:p>
          <a:p>
            <a:pPr>
              <a:spcAft>
                <a:spcPts val="1000"/>
              </a:spcAft>
            </a:pPr>
            <a:r>
              <a:rPr sz="1700">
                <a:solidFill>
                  <a:srgbClr val="161B26"/>
                </a:solidFill>
                <a:latin typeface="Arial"/>
              </a:rPr>
              <a:t>•  Postulate 4 — BORN RULE: probability is the squared magnitude of the amplitude.</a:t>
            </a:r>
          </a:p>
          <a:p>
            <a:pPr>
              <a:spcAft>
                <a:spcPts val="1000"/>
              </a:spcAft>
            </a:pPr>
            <a:r>
              <a:rPr sz="1700">
                <a:solidFill>
                  <a:srgbClr val="161B26"/>
                </a:solidFill>
                <a:latin typeface="Arial"/>
              </a:rPr>
              <a:t>•  Postulate 5 — COLLAPSE: measurement projects the state onto the observed eigenspace.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1 — State 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The state of an isolated quantum system is a UNIT VECTOR in a complex Hilbert space H.</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|ψ&gt;  ∈  H,      with   &lt;ψ|ψ&gt;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A single qubit:   H = C²,  spanned by |0&gt; and |1&gt;</a:t>
            </a:r>
          </a:p>
          <a:p>
            <a:pPr algn="l">
              <a:spcAft>
                <a:spcPts val="300"/>
              </a:spcAft>
            </a:pPr>
            <a:r>
              <a:rPr sz="1300" b="0">
                <a:solidFill>
                  <a:srgbClr val="9CDCFE"/>
                </a:solidFill>
                <a:latin typeface="Arial"/>
              </a:rPr>
              <a:t>   |ψ&gt; = α|0&gt; + β|1&gt;,     α, β ∈ C,     |α|² + |β|²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n qubits:   H = C² (x) C² (x) … (x) C²  =  C^(2ⁿ)</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 amplitudes α and β are COMPLEX numbers, not probabilities.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Normalisation &lt;ψ|ψ&gt; = 1 says the total probability is 1.</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 GLOBAL phase carries no physics: |ψ&gt; and e^(iφ)|ψ&gt; are the same state.</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 RELATIVE phase between terms is physical — it drives interference.</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This is why n qubits hold 2ⁿ amplitudes: the state space is a TENSOR PRODUCT, so dimensions multiply rather than add. 300 qubits carry more amplitudes than there are atoms in the observable universe.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2 — Time Evolution (Unitarity)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A closed quantum system evolves by a UNITARY operator.</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|ψ(t)&gt;  =  U |ψ(0)&gt;,        where   U†U = UU† = 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Equivalently, from the Schrödinger equation:</a:t>
            </a:r>
          </a:p>
          <a:p>
            <a:pPr algn="l">
              <a:spcAft>
                <a:spcPts val="300"/>
              </a:spcAft>
            </a:pPr>
            <a:r>
              <a:rPr sz="1300" b="0">
                <a:solidFill>
                  <a:srgbClr val="9CDCFE"/>
                </a:solidFill>
                <a:latin typeface="Arial"/>
              </a:rPr>
              <a:t>   iħ d|ψ&gt;/dt  =  H|ψ&gt;        =&gt;        U = e^(-iHt/ħ)</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with H the Hamiltonian (Hermitian, so U is unitary).</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EVERY quantum gate is unitary — this is not a design choice but a law.</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Unitary =&gt; REVERSIBLE: U⁻¹ = U† always exists, so no information is destroyed.</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Unitary =&gt; NORM-PRESERVING: probabilities still sum to 1 after the operation.</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There is no quantum AND or OR gate — those are irreversible and lose information.</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Reversibility is why quantum circuits have the same number of output wires as input wires, and why classical logic must be embedded reversibly (Toffoli) before a quantum computer can run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3 — Observables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Every measurable physical quantity is represented by a HERMITIAN operator.</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A observable    &lt;=&gt;    A† = A</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Spectral decomposition:   A  =  Σ_i λᵢ |i&gt;&lt;i|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  λᵢ  — real eigenvalues  = the possible measurement OUTCOMES</a:t>
            </a:r>
          </a:p>
          <a:p>
            <a:pPr algn="l">
              <a:spcAft>
                <a:spcPts val="300"/>
              </a:spcAft>
            </a:pPr>
            <a:r>
              <a:rPr sz="1300" b="0">
                <a:solidFill>
                  <a:srgbClr val="9CDCFE"/>
                </a:solidFill>
                <a:latin typeface="Arial"/>
              </a:rPr>
              <a:t>  |i&gt; — orthonormal eigenvectors = the measurement BASIS</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Example:  Z = |0&gt;&lt;0| - |1&gt;&lt;1|,  eigenvalues +1 and -1</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Hermitian guarantees REAL eigenvalues — measurement results are real numbers.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Eigenvectors of a Hermitian operator are orthogonal and form a complete basis.</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Measuring 'in the Z basis' means measuring the observable Z.</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Non-commuting observables (like X and Z) cannot be measured simultaneously.</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The uncertainty principle follows directly: if [A,B] ≠ 0 the two observables have no common eigenbasis, so no state has definite values for both. That is why BB84's two bases are conjugate and why eavesdropping is detectable.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4 — The Born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The probability of an outcome is the SQUARED MAGNITUDE of its amplitude.</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P(outcome i)  =  |&lt;i|ψ&gt;|²      =    &lt;ψ|Pᵢ|ψ&gt;      with Pᵢ = |i&gt;&lt;i|</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For |ψ&gt; = α|0&gt; + β|1&gt;:</a:t>
            </a:r>
          </a:p>
          <a:p>
            <a:pPr algn="l">
              <a:spcAft>
                <a:spcPts val="300"/>
              </a:spcAft>
            </a:pPr>
            <a:r>
              <a:rPr sz="1300" b="0">
                <a:solidFill>
                  <a:srgbClr val="9CDCFE"/>
                </a:solidFill>
                <a:latin typeface="Arial"/>
              </a:rPr>
              <a:t>   P(0) = |α|²,    P(1) = |β|²,    |α|² + |β|² = 1</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Expectation value of an observable A:</a:t>
            </a:r>
          </a:p>
          <a:p>
            <a:pPr algn="l">
              <a:spcAft>
                <a:spcPts val="300"/>
              </a:spcAft>
            </a:pPr>
            <a:r>
              <a:rPr sz="1300" b="0">
                <a:solidFill>
                  <a:srgbClr val="9CDCFE"/>
                </a:solidFill>
                <a:latin typeface="Arial"/>
              </a:rPr>
              <a:t>   &lt;A&gt;  =  &lt;ψ|A|ψ&gt;  =  Σ_i λᵢ P(i)</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Amplitudes ADD (and can cancel); probabilities never cancel.</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This squaring is what makes interference possible — the source of quantum advantage.</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The rule is fundamentally PROBABILISTIC: identical states can give different results.</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To estimate a probability you must repeat the circuit many times ('shots').</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The Born rule is why quantum algorithms must ENGINEER interference: you cannot read amplitudes directly, so you must arrange for wrong answers to cancel and the right answer to be amplified before measuring.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FIVE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Postulate 5 — Measurement Collapse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7498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783080"/>
            <a:ext cx="10149840" cy="749808"/>
          </a:xfrm>
          <a:prstGeom prst="rect">
            <a:avLst/>
          </a:prstGeom>
          <a:noFill/>
        </p:spPr>
        <p:txBody>
          <a:bodyPr wrap="square" anchor="ctr">
            <a:spAutoFit/>
          </a:bodyPr>
          <a:lstStyle/>
          <a:p>
            <a:pPr algn="l">
              <a:spcAft>
                <a:spcPts val="400"/>
              </a:spcAft>
            </a:pPr>
            <a:r>
              <a:rPr sz="1450" b="1">
                <a:solidFill>
                  <a:srgbClr val="161B26"/>
                </a:solidFill>
                <a:latin typeface="Arial"/>
              </a:rPr>
              <a:t>Measurement PROJECTS the state onto the observed eigenspace and renormalises.</a:t>
            </a:r>
          </a:p>
        </p:txBody>
      </p:sp>
      <p:sp>
        <p:nvSpPr>
          <p:cNvPr id="10" name="Rectangle 9"/>
          <p:cNvSpPr/>
          <p:nvPr/>
        </p:nvSpPr>
        <p:spPr>
          <a:xfrm>
            <a:off x="777240" y="2697480"/>
            <a:ext cx="6035040" cy="3291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43784"/>
            <a:ext cx="5394960" cy="2999232"/>
          </a:xfrm>
          <a:prstGeom prst="rect">
            <a:avLst/>
          </a:prstGeom>
          <a:noFill/>
        </p:spPr>
        <p:txBody>
          <a:bodyPr wrap="square" anchor="t">
            <a:spAutoFit/>
          </a:bodyPr>
          <a:lstStyle/>
          <a:p>
            <a:pPr algn="l">
              <a:spcAft>
                <a:spcPts val="300"/>
              </a:spcAft>
            </a:pPr>
            <a:r>
              <a:rPr sz="1300" b="0">
                <a:solidFill>
                  <a:srgbClr val="9CDCFE"/>
                </a:solidFill>
                <a:latin typeface="Arial"/>
              </a:rPr>
              <a:t>If outcome i is observed, the post-measurement state is:</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   |ψ'&gt;  =  Pᵢ|ψ&gt; / √(&lt;ψ|Pᵢ|ψ&gt;)</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Example:  |ψ&gt; = (|0&gt; + |1&gt;)/√2 , measure Z and get 0</a:t>
            </a:r>
          </a:p>
          <a:p>
            <a:pPr algn="l">
              <a:spcAft>
                <a:spcPts val="300"/>
              </a:spcAft>
            </a:pPr>
            <a:r>
              <a:rPr sz="1300" b="0">
                <a:solidFill>
                  <a:srgbClr val="9CDCFE"/>
                </a:solidFill>
                <a:latin typeface="Arial"/>
              </a:rPr>
              <a:t>   |ψ'&gt; = |0&gt;       — the superposition is GONE</a:t>
            </a:r>
          </a:p>
          <a:p>
            <a:pPr algn="l">
              <a:spcAft>
                <a:spcPts val="300"/>
              </a:spcAft>
            </a:pPr>
            <a:r>
              <a:rPr sz="1300" b="0">
                <a:solidFill>
                  <a:srgbClr val="0B1220"/>
                </a:solidFill>
                <a:latin typeface="Arial"/>
              </a:rPr>
              <a:t> </a:t>
            </a:r>
          </a:p>
          <a:p>
            <a:pPr algn="l">
              <a:spcAft>
                <a:spcPts val="300"/>
              </a:spcAft>
            </a:pPr>
            <a:r>
              <a:rPr sz="1300" b="0">
                <a:solidFill>
                  <a:srgbClr val="9CDCFE"/>
                </a:solidFill>
                <a:latin typeface="Arial"/>
              </a:rPr>
              <a:t>Measuring again immediately returns 0 with probability 1.</a:t>
            </a:r>
          </a:p>
        </p:txBody>
      </p:sp>
      <p:sp>
        <p:nvSpPr>
          <p:cNvPr id="12" name="TextBox 11"/>
          <p:cNvSpPr txBox="1"/>
          <p:nvPr/>
        </p:nvSpPr>
        <p:spPr>
          <a:xfrm>
            <a:off x="7059168" y="2697480"/>
            <a:ext cx="4352544" cy="320040"/>
          </a:xfrm>
          <a:prstGeom prst="rect">
            <a:avLst/>
          </a:prstGeom>
          <a:noFill/>
        </p:spPr>
        <p:txBody>
          <a:bodyPr wrap="square" anchor="t">
            <a:spAutoFit/>
          </a:bodyPr>
          <a:lstStyle/>
          <a:p>
            <a:pPr algn="l">
              <a:spcAft>
                <a:spcPts val="400"/>
              </a:spcAft>
            </a:pPr>
            <a:r>
              <a:rPr sz="1150" b="1">
                <a:solidFill>
                  <a:srgbClr val="1F6FEB"/>
                </a:solidFill>
                <a:latin typeface="Arial"/>
              </a:rPr>
              <a:t>WHAT IT MEANS</a:t>
            </a:r>
          </a:p>
        </p:txBody>
      </p:sp>
      <p:sp>
        <p:nvSpPr>
          <p:cNvPr id="13" name="Rectangle 12"/>
          <p:cNvSpPr/>
          <p:nvPr/>
        </p:nvSpPr>
        <p:spPr>
          <a:xfrm>
            <a:off x="7059168" y="3063240"/>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063240"/>
            <a:ext cx="73152" cy="3863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3063240"/>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Measurement is IRREVERSIBLE — the only non-unitary operation in quantum mechanics.</a:t>
            </a:r>
          </a:p>
        </p:txBody>
      </p:sp>
      <p:sp>
        <p:nvSpPr>
          <p:cNvPr id="16" name="Rectangle 15"/>
          <p:cNvSpPr/>
          <p:nvPr/>
        </p:nvSpPr>
        <p:spPr>
          <a:xfrm>
            <a:off x="7059168" y="3559301"/>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59168" y="3559301"/>
            <a:ext cx="73152" cy="38633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6" y="3559301"/>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Information about the other branches is destroyed permanently.</a:t>
            </a:r>
          </a:p>
        </p:txBody>
      </p:sp>
      <p:sp>
        <p:nvSpPr>
          <p:cNvPr id="19" name="Rectangle 18"/>
          <p:cNvSpPr/>
          <p:nvPr/>
        </p:nvSpPr>
        <p:spPr>
          <a:xfrm>
            <a:off x="7059168" y="4055362"/>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59168" y="4055362"/>
            <a:ext cx="73152" cy="38633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0336" y="4055362"/>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You cannot 'peek' at a quantum state without disturbing it.</a:t>
            </a:r>
          </a:p>
        </p:txBody>
      </p:sp>
      <p:sp>
        <p:nvSpPr>
          <p:cNvPr id="22" name="Rectangle 21"/>
          <p:cNvSpPr/>
          <p:nvPr/>
        </p:nvSpPr>
        <p:spPr>
          <a:xfrm>
            <a:off x="7059168" y="4551423"/>
            <a:ext cx="4352544" cy="3863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59168" y="4551423"/>
            <a:ext cx="73152" cy="3863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0336" y="4551423"/>
            <a:ext cx="3986784" cy="386333"/>
          </a:xfrm>
          <a:prstGeom prst="rect">
            <a:avLst/>
          </a:prstGeom>
          <a:noFill/>
        </p:spPr>
        <p:txBody>
          <a:bodyPr wrap="square" anchor="ctr">
            <a:spAutoFit/>
          </a:bodyPr>
          <a:lstStyle/>
          <a:p>
            <a:pPr algn="l">
              <a:spcAft>
                <a:spcPts val="400"/>
              </a:spcAft>
            </a:pPr>
            <a:r>
              <a:rPr sz="1150" b="0">
                <a:solidFill>
                  <a:srgbClr val="161B26"/>
                </a:solidFill>
                <a:latin typeface="Arial"/>
              </a:rPr>
              <a:t>This is why you measure ONCE, at the very end of a quantum circuit.</a:t>
            </a:r>
          </a:p>
        </p:txBody>
      </p:sp>
      <p:sp>
        <p:nvSpPr>
          <p:cNvPr id="25" name="Rectangle 24"/>
          <p:cNvSpPr/>
          <p:nvPr/>
        </p:nvSpPr>
        <p:spPr>
          <a:xfrm>
            <a:off x="7059168" y="5074920"/>
            <a:ext cx="4352544" cy="914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5074920"/>
            <a:ext cx="3986784" cy="914400"/>
          </a:xfrm>
          <a:prstGeom prst="rect">
            <a:avLst/>
          </a:prstGeom>
          <a:noFill/>
        </p:spPr>
        <p:txBody>
          <a:bodyPr wrap="square" anchor="ctr">
            <a:spAutoFit/>
          </a:bodyPr>
          <a:lstStyle/>
          <a:p>
            <a:pPr algn="l">
              <a:spcAft>
                <a:spcPts val="400"/>
              </a:spcAft>
            </a:pPr>
            <a:r>
              <a:rPr sz="1050" b="1">
                <a:solidFill>
                  <a:srgbClr val="127A3E"/>
                </a:solidFill>
                <a:latin typeface="Arial"/>
              </a:rPr>
              <a:t>WHY IT MATTERS:  </a:t>
            </a:r>
            <a:r>
              <a:rPr sz="1100" b="0">
                <a:solidFill>
                  <a:srgbClr val="161B26"/>
                </a:solidFill>
                <a:latin typeface="Arial"/>
              </a:rPr>
              <a:t>Collapse is the security mechanism of QKD (Eve's measurement disturbs the state) AND the central obstacle in error correction (you must diagnose an error WITHOUT measuring the data — hence syndrome measurement on ancillas).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KEEP THIS FOR THE OPEN-BOOK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 Reference 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638068"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63748" cy="475488"/>
          </a:xfrm>
          <a:prstGeom prst="rect">
            <a:avLst/>
          </a:prstGeom>
          <a:noFill/>
        </p:spPr>
        <p:txBody>
          <a:bodyPr wrap="square" anchor="ctr">
            <a:spAutoFit/>
          </a:bodyPr>
          <a:lstStyle/>
          <a:p>
            <a:pPr algn="l">
              <a:spcAft>
                <a:spcPts val="400"/>
              </a:spcAft>
            </a:pPr>
            <a:r>
              <a:rPr sz="1300" b="1">
                <a:solidFill>
                  <a:srgbClr val="FFFFFF"/>
                </a:solidFill>
                <a:latin typeface="Arial"/>
              </a:rPr>
              <a:t>#</a:t>
            </a:r>
          </a:p>
        </p:txBody>
      </p:sp>
      <p:sp>
        <p:nvSpPr>
          <p:cNvPr id="9" name="Rectangle 8"/>
          <p:cNvSpPr/>
          <p:nvPr/>
        </p:nvSpPr>
        <p:spPr>
          <a:xfrm>
            <a:off x="1415308" y="1874519"/>
            <a:ext cx="2126894"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2468" y="1874519"/>
            <a:ext cx="1852574" cy="475488"/>
          </a:xfrm>
          <a:prstGeom prst="rect">
            <a:avLst/>
          </a:prstGeom>
          <a:noFill/>
        </p:spPr>
        <p:txBody>
          <a:bodyPr wrap="square" anchor="ctr">
            <a:spAutoFit/>
          </a:bodyPr>
          <a:lstStyle/>
          <a:p>
            <a:pPr algn="l">
              <a:spcAft>
                <a:spcPts val="400"/>
              </a:spcAft>
            </a:pPr>
            <a:r>
              <a:rPr sz="1300" b="1">
                <a:solidFill>
                  <a:srgbClr val="FFFFFF"/>
                </a:solidFill>
                <a:latin typeface="Arial"/>
              </a:rPr>
              <a:t>Postulate</a:t>
            </a:r>
          </a:p>
        </p:txBody>
      </p:sp>
      <p:sp>
        <p:nvSpPr>
          <p:cNvPr id="11" name="Rectangle 10"/>
          <p:cNvSpPr/>
          <p:nvPr/>
        </p:nvSpPr>
        <p:spPr>
          <a:xfrm>
            <a:off x="3542202" y="1874519"/>
            <a:ext cx="404109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Mathematics</a:t>
            </a:r>
          </a:p>
        </p:txBody>
      </p:sp>
      <p:sp>
        <p:nvSpPr>
          <p:cNvPr id="13" name="Rectangle 12"/>
          <p:cNvSpPr/>
          <p:nvPr/>
        </p:nvSpPr>
        <p:spPr>
          <a:xfrm>
            <a:off x="7583301" y="1874519"/>
            <a:ext cx="382840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0461"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Governs</a:t>
            </a:r>
          </a:p>
        </p:txBody>
      </p:sp>
      <p:sp>
        <p:nvSpPr>
          <p:cNvPr id="15" name="Rectangle 14"/>
          <p:cNvSpPr/>
          <p:nvPr/>
        </p:nvSpPr>
        <p:spPr>
          <a:xfrm>
            <a:off x="777240" y="2350007"/>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1</a:t>
            </a:r>
          </a:p>
        </p:txBody>
      </p:sp>
      <p:sp>
        <p:nvSpPr>
          <p:cNvPr id="17" name="Rectangle 16"/>
          <p:cNvSpPr/>
          <p:nvPr/>
        </p:nvSpPr>
        <p:spPr>
          <a:xfrm>
            <a:off x="1415308" y="2350007"/>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52468" y="2350007"/>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State space</a:t>
            </a:r>
          </a:p>
        </p:txBody>
      </p:sp>
      <p:sp>
        <p:nvSpPr>
          <p:cNvPr id="19" name="Rectangle 18"/>
          <p:cNvSpPr/>
          <p:nvPr/>
        </p:nvSpPr>
        <p:spPr>
          <a:xfrm>
            <a:off x="3542202"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H,  &lt;ψ|ψ&gt; = 1</a:t>
            </a:r>
          </a:p>
        </p:txBody>
      </p:sp>
      <p:sp>
        <p:nvSpPr>
          <p:cNvPr id="21" name="Rectangle 20"/>
          <p:cNvSpPr/>
          <p:nvPr/>
        </p:nvSpPr>
        <p:spPr>
          <a:xfrm>
            <a:off x="7583301"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20461"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a state IS</a:t>
            </a:r>
          </a:p>
        </p:txBody>
      </p:sp>
      <p:sp>
        <p:nvSpPr>
          <p:cNvPr id="23" name="Rectangle 22"/>
          <p:cNvSpPr/>
          <p:nvPr/>
        </p:nvSpPr>
        <p:spPr>
          <a:xfrm>
            <a:off x="777240" y="2825495"/>
            <a:ext cx="63806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2</a:t>
            </a:r>
          </a:p>
        </p:txBody>
      </p:sp>
      <p:sp>
        <p:nvSpPr>
          <p:cNvPr id="25" name="Rectangle 24"/>
          <p:cNvSpPr/>
          <p:nvPr/>
        </p:nvSpPr>
        <p:spPr>
          <a:xfrm>
            <a:off x="1415308" y="2825495"/>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2468" y="2825495"/>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Time evolution</a:t>
            </a:r>
          </a:p>
        </p:txBody>
      </p:sp>
      <p:sp>
        <p:nvSpPr>
          <p:cNvPr id="27" name="Rectangle 26"/>
          <p:cNvSpPr/>
          <p:nvPr/>
        </p:nvSpPr>
        <p:spPr>
          <a:xfrm>
            <a:off x="3542202"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U|ψ&gt;,  U†U = I</a:t>
            </a:r>
          </a:p>
        </p:txBody>
      </p:sp>
      <p:sp>
        <p:nvSpPr>
          <p:cNvPr id="29" name="Rectangle 28"/>
          <p:cNvSpPr/>
          <p:nvPr/>
        </p:nvSpPr>
        <p:spPr>
          <a:xfrm>
            <a:off x="7583301"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20461"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How states CHANGE</a:t>
            </a:r>
          </a:p>
        </p:txBody>
      </p:sp>
      <p:sp>
        <p:nvSpPr>
          <p:cNvPr id="31" name="Rectangle 30"/>
          <p:cNvSpPr/>
          <p:nvPr/>
        </p:nvSpPr>
        <p:spPr>
          <a:xfrm>
            <a:off x="777240" y="3300983"/>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3</a:t>
            </a:r>
          </a:p>
        </p:txBody>
      </p:sp>
      <p:sp>
        <p:nvSpPr>
          <p:cNvPr id="33" name="Rectangle 32"/>
          <p:cNvSpPr/>
          <p:nvPr/>
        </p:nvSpPr>
        <p:spPr>
          <a:xfrm>
            <a:off x="1415308" y="3300983"/>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52468" y="3300983"/>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Observables</a:t>
            </a:r>
          </a:p>
        </p:txBody>
      </p:sp>
      <p:sp>
        <p:nvSpPr>
          <p:cNvPr id="35" name="Rectangle 34"/>
          <p:cNvSpPr/>
          <p:nvPr/>
        </p:nvSpPr>
        <p:spPr>
          <a:xfrm>
            <a:off x="3542202"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A† = A,  real eigenvalues</a:t>
            </a:r>
          </a:p>
        </p:txBody>
      </p:sp>
      <p:sp>
        <p:nvSpPr>
          <p:cNvPr id="37" name="Rectangle 36"/>
          <p:cNvSpPr/>
          <p:nvPr/>
        </p:nvSpPr>
        <p:spPr>
          <a:xfrm>
            <a:off x="7583301"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20461"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can be MEASURED</a:t>
            </a:r>
          </a:p>
        </p:txBody>
      </p:sp>
      <p:sp>
        <p:nvSpPr>
          <p:cNvPr id="39" name="Rectangle 38"/>
          <p:cNvSpPr/>
          <p:nvPr/>
        </p:nvSpPr>
        <p:spPr>
          <a:xfrm>
            <a:off x="777240" y="3776471"/>
            <a:ext cx="63806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4</a:t>
            </a:r>
          </a:p>
        </p:txBody>
      </p:sp>
      <p:sp>
        <p:nvSpPr>
          <p:cNvPr id="41" name="Rectangle 40"/>
          <p:cNvSpPr/>
          <p:nvPr/>
        </p:nvSpPr>
        <p:spPr>
          <a:xfrm>
            <a:off x="1415308" y="3776471"/>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52468" y="3776471"/>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Born rule</a:t>
            </a:r>
          </a:p>
        </p:txBody>
      </p:sp>
      <p:sp>
        <p:nvSpPr>
          <p:cNvPr id="43" name="Rectangle 42"/>
          <p:cNvSpPr/>
          <p:nvPr/>
        </p:nvSpPr>
        <p:spPr>
          <a:xfrm>
            <a:off x="3542202"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P(i) = |&lt;i|ψ&gt;|²</a:t>
            </a:r>
          </a:p>
        </p:txBody>
      </p:sp>
      <p:sp>
        <p:nvSpPr>
          <p:cNvPr id="45" name="Rectangle 44"/>
          <p:cNvSpPr/>
          <p:nvPr/>
        </p:nvSpPr>
        <p:spPr>
          <a:xfrm>
            <a:off x="7583301"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20461"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How LIKELY each outcome is</a:t>
            </a:r>
          </a:p>
        </p:txBody>
      </p:sp>
      <p:sp>
        <p:nvSpPr>
          <p:cNvPr id="47" name="Rectangle 46"/>
          <p:cNvSpPr/>
          <p:nvPr/>
        </p:nvSpPr>
        <p:spPr>
          <a:xfrm>
            <a:off x="777240" y="4251959"/>
            <a:ext cx="63806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363748" cy="475488"/>
          </a:xfrm>
          <a:prstGeom prst="rect">
            <a:avLst/>
          </a:prstGeom>
          <a:noFill/>
        </p:spPr>
        <p:txBody>
          <a:bodyPr wrap="square" anchor="ctr">
            <a:spAutoFit/>
          </a:bodyPr>
          <a:lstStyle/>
          <a:p>
            <a:pPr algn="l">
              <a:spcAft>
                <a:spcPts val="400"/>
              </a:spcAft>
            </a:pPr>
            <a:r>
              <a:rPr sz="1200" b="1">
                <a:solidFill>
                  <a:srgbClr val="161B26"/>
                </a:solidFill>
                <a:latin typeface="Arial"/>
              </a:rPr>
              <a:t>5</a:t>
            </a:r>
          </a:p>
        </p:txBody>
      </p:sp>
      <p:sp>
        <p:nvSpPr>
          <p:cNvPr id="49" name="Rectangle 48"/>
          <p:cNvSpPr/>
          <p:nvPr/>
        </p:nvSpPr>
        <p:spPr>
          <a:xfrm>
            <a:off x="1415308" y="4251959"/>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52468" y="4251959"/>
            <a:ext cx="1852574" cy="475488"/>
          </a:xfrm>
          <a:prstGeom prst="rect">
            <a:avLst/>
          </a:prstGeom>
          <a:noFill/>
        </p:spPr>
        <p:txBody>
          <a:bodyPr wrap="square" anchor="ctr">
            <a:spAutoFit/>
          </a:bodyPr>
          <a:lstStyle/>
          <a:p>
            <a:pPr algn="l">
              <a:spcAft>
                <a:spcPts val="400"/>
              </a:spcAft>
            </a:pPr>
            <a:r>
              <a:rPr sz="1200" b="0">
                <a:solidFill>
                  <a:srgbClr val="161B26"/>
                </a:solidFill>
                <a:latin typeface="Arial"/>
              </a:rPr>
              <a:t>Collapse</a:t>
            </a:r>
          </a:p>
        </p:txBody>
      </p:sp>
      <p:sp>
        <p:nvSpPr>
          <p:cNvPr id="51" name="Rectangle 50"/>
          <p:cNvSpPr/>
          <p:nvPr/>
        </p:nvSpPr>
        <p:spPr>
          <a:xfrm>
            <a:off x="3542202"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|ψ'&gt; = Pᵢ|ψ&gt; / √&lt;ψ|Pᵢ|ψ&gt;</a:t>
            </a:r>
          </a:p>
        </p:txBody>
      </p:sp>
      <p:sp>
        <p:nvSpPr>
          <p:cNvPr id="53" name="Rectangle 52"/>
          <p:cNvSpPr/>
          <p:nvPr/>
        </p:nvSpPr>
        <p:spPr>
          <a:xfrm>
            <a:off x="7583301"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20461"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What happens AFTER measuring</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Physics Fundamentals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Postulates of Quantum Mechanics · Mathematics for Quantum Mechanics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five postulates</a:t>
            </a:r>
          </a:p>
          <a:p>
            <a:pPr algn="l">
              <a:spcAft>
                <a:spcPts val="300"/>
              </a:spcAft>
            </a:pPr>
            <a:r>
              <a:rPr sz="1100" b="0">
                <a:solidFill>
                  <a:srgbClr val="5B6372"/>
                </a:solidFill>
                <a:latin typeface="Arial"/>
              </a:rPr>
              <a:t>State space, unitary time evolution, observables, the Born rule and wave-function collapse are the axioms every quantum algorithm obeys.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Hilbert space</a:t>
            </a:r>
          </a:p>
          <a:p>
            <a:pPr algn="l">
              <a:spcAft>
                <a:spcPts val="300"/>
              </a:spcAft>
            </a:pPr>
            <a:r>
              <a:rPr sz="1100" b="0">
                <a:solidFill>
                  <a:srgbClr val="5B6372"/>
                </a:solidFill>
                <a:latin typeface="Arial"/>
              </a:rPr>
              <a:t>Quantum states are unit vectors in a complex inner-product space; a single qubit lives in a 2-dimensional Hilbert 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Unitary operators</a:t>
            </a:r>
          </a:p>
          <a:p>
            <a:pPr algn="l">
              <a:spcAft>
                <a:spcPts val="300"/>
              </a:spcAft>
            </a:pPr>
            <a:r>
              <a:rPr sz="1100" b="0">
                <a:solidFill>
                  <a:srgbClr val="5B6372"/>
                </a:solidFill>
                <a:latin typeface="Arial"/>
              </a:rPr>
              <a:t>U†U = I preserves the norm — this is why every quantum gate is reversible and probability is conserved.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Hermitian operators</a:t>
            </a:r>
          </a:p>
          <a:p>
            <a:pPr algn="l">
              <a:spcAft>
                <a:spcPts val="300"/>
              </a:spcAft>
            </a:pPr>
            <a:r>
              <a:rPr sz="1100" b="0">
                <a:solidFill>
                  <a:srgbClr val="5B6372"/>
                </a:solidFill>
                <a:latin typeface="Arial"/>
              </a:rPr>
              <a:t>A† = A guarantees real eigenvalues, so Hermitian operators represent physically measurable observables.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Dirac notation</a:t>
            </a:r>
          </a:p>
          <a:p>
            <a:pPr algn="l">
              <a:spcAft>
                <a:spcPts val="300"/>
              </a:spcAft>
            </a:pPr>
            <a:r>
              <a:rPr sz="1100" b="0">
                <a:solidFill>
                  <a:srgbClr val="5B6372"/>
                </a:solidFill>
                <a:latin typeface="Arial"/>
              </a:rPr>
              <a:t>Bra-ket notation compactly expresses states |ψ⟩, dual vectors ⟨ψ|, inner products ⟨φ|ψ⟩ and outer products |ψ⟩⟨φ|.</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Tensor products</a:t>
            </a:r>
          </a:p>
          <a:p>
            <a:pPr algn="l">
              <a:spcAft>
                <a:spcPts val="300"/>
              </a:spcAft>
            </a:pPr>
            <a:r>
              <a:rPr sz="1100" b="0">
                <a:solidFill>
                  <a:srgbClr val="5B6372"/>
                </a:solidFill>
                <a:latin typeface="Arial"/>
              </a:rPr>
              <a:t>The state space of a multi-qubit system is the tensor product of the single-qubit spaces — dimension grows as 2ⁿ.</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THREE OBJECTS YOU NEED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Mathematical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State vector</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 α|0⟩ + β|1⟩</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qubit is a unit vector in a 2-dimensional Hilbert space, with |α|² + |β|² = 1.</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Unitary operator</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U†U = I</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Every quantum gate is unitary — reversible, and probability-preserving.</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Hermitian operator</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A† = A</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Observables are Hermitian, which guarantees real measured eigenvalues.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BRA-KET NOTATION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Dirac Notation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Ket / Bra</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and   ⟨ψ|</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ket is a column vector; a bra is its conjugate transpose (row vector).</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Inner product</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⟨φ|ψ⟩</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single complex number — the overlap, or probability amplitude, between two states.</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Born rule</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P(x) = |⟨x|ψ⟩|²</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The probability of measuring outcome x is the squared magnitude of the amplitude.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Hands-On Activities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63447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10177272" cy="548640"/>
          </a:xfrm>
          <a:prstGeom prst="rect">
            <a:avLst/>
          </a:prstGeom>
          <a:noFill/>
        </p:spPr>
        <p:txBody>
          <a:bodyPr wrap="square" anchor="t">
            <a:spAutoFit/>
          </a:bodyPr>
          <a:lstStyle/>
          <a:p>
            <a:pPr algn="l">
              <a:spcAft>
                <a:spcPts val="400"/>
              </a:spcAft>
            </a:pPr>
            <a:r>
              <a:rPr sz="1900" b="1">
                <a:solidFill>
                  <a:srgbClr val="1F6FEB"/>
                </a:solidFill>
                <a:latin typeface="Arial"/>
              </a:rPr>
              <a:t>Activity 1</a:t>
            </a:r>
          </a:p>
        </p:txBody>
      </p:sp>
      <p:sp>
        <p:nvSpPr>
          <p:cNvPr id="10" name="TextBox 9"/>
          <p:cNvSpPr txBox="1"/>
          <p:nvPr/>
        </p:nvSpPr>
        <p:spPr>
          <a:xfrm>
            <a:off x="1005840" y="2697480"/>
            <a:ext cx="10177272" cy="3108960"/>
          </a:xfrm>
          <a:prstGeom prst="rect">
            <a:avLst/>
          </a:prstGeom>
          <a:noFill/>
        </p:spPr>
        <p:txBody>
          <a:bodyPr wrap="square">
            <a:spAutoFit/>
          </a:bodyPr>
          <a:lstStyle/>
          <a:p>
            <a:pPr>
              <a:spcAft>
                <a:spcPts val="900"/>
              </a:spcAft>
            </a:pPr>
            <a:r>
              <a:rPr sz="1400">
                <a:solidFill>
                  <a:srgbClr val="161B26"/>
                </a:solidFill>
                <a:latin typeface="Arial"/>
              </a:rPr>
              <a:t>•  Linear Algebra for Quantum Mechanics in Python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Work with the mathematical objects every quantum algorithm is built from: state vectors, inner and outer products, unitary and Hermitian operators, eigenvalues and tensor products — all in NumPy.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LO1 — Design mathematical models required for quantum computing applications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Python notebook that verifies unitarity and Hermiticity, computes eigenvalues/eigenvectors, and builds two-qubit states with the tensor product.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Python 3.13, NumPy, Google Colab / VS Code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 Linear Algebra for Quantum Mechanics in Python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H-dagger H equals the identity, X and Z return real eigenvalues +1 and -1, the Born-rule probability of measuring 0 in |+&gt; is 0.5, and the tensor product produces a 4-component two-qubit state.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five postulates</a:t>
            </a:r>
          </a:p>
          <a:p>
            <a:pPr>
              <a:spcAft>
                <a:spcPts val="1000"/>
              </a:spcAft>
            </a:pPr>
            <a:r>
              <a:rPr sz="1600">
                <a:solidFill>
                  <a:srgbClr val="161B26"/>
                </a:solidFill>
                <a:latin typeface="Arial"/>
              </a:rPr>
              <a:t>•  Hilbert space</a:t>
            </a:r>
          </a:p>
          <a:p>
            <a:pPr>
              <a:spcAft>
                <a:spcPts val="1000"/>
              </a:spcAft>
            </a:pPr>
            <a:r>
              <a:rPr sz="1600">
                <a:solidFill>
                  <a:srgbClr val="161B26"/>
                </a:solidFill>
                <a:latin typeface="Arial"/>
              </a:rPr>
              <a:t>•  Unitary operators</a:t>
            </a:r>
          </a:p>
          <a:p>
            <a:pPr>
              <a:spcAft>
                <a:spcPts val="1000"/>
              </a:spcAft>
            </a:pPr>
            <a:r>
              <a:rPr sz="1600">
                <a:solidFill>
                  <a:srgbClr val="161B26"/>
                </a:solidFill>
                <a:latin typeface="Arial"/>
              </a:rPr>
              <a:t>•  Hermitian operators</a:t>
            </a:r>
          </a:p>
          <a:p>
            <a:pPr>
              <a:spcAft>
                <a:spcPts val="1000"/>
              </a:spcAft>
            </a:pPr>
            <a:r>
              <a:rPr sz="1600">
                <a:solidFill>
                  <a:srgbClr val="161B26"/>
                </a:solidFill>
                <a:latin typeface="Arial"/>
              </a:rPr>
              <a:t>•  Dirac notation</a:t>
            </a:r>
          </a:p>
          <a:p>
            <a:pPr>
              <a:spcAft>
                <a:spcPts val="1000"/>
              </a:spcAft>
            </a:pPr>
            <a:r>
              <a:rPr sz="1600">
                <a:solidFill>
                  <a:srgbClr val="161B26"/>
                </a:solidFill>
                <a:latin typeface="Arial"/>
              </a:rPr>
              <a:t>•  Tensor products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Quantum Computing Systems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Overview of quantum computers · Commercial systems · Superposition and Entanglement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LO2,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Key Concepts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Qubit vs classical bit</a:t>
            </a:r>
          </a:p>
          <a:p>
            <a:pPr algn="l">
              <a:spcAft>
                <a:spcPts val="300"/>
              </a:spcAft>
            </a:pPr>
            <a:r>
              <a:rPr sz="1100" b="0">
                <a:solidFill>
                  <a:srgbClr val="5B6372"/>
                </a:solidFill>
                <a:latin typeface="Arial"/>
              </a:rPr>
              <a:t>A bit is 0 or 1; a qubit is α|0⟩ + β|1⟩ with |α|² + |β|² = 1, allowing superposition of both values.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Bloch sphere</a:t>
            </a:r>
          </a:p>
          <a:p>
            <a:pPr algn="l">
              <a:spcAft>
                <a:spcPts val="300"/>
              </a:spcAft>
            </a:pPr>
            <a:r>
              <a:rPr sz="1100" b="0">
                <a:solidFill>
                  <a:srgbClr val="5B6372"/>
                </a:solidFill>
                <a:latin typeface="Arial"/>
              </a:rPr>
              <a:t>Every pure single-qubit state maps to a point on the unit sphere — the standard geometric picture of qubit state and rotation.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Physical qubits</a:t>
            </a:r>
          </a:p>
          <a:p>
            <a:pPr algn="l">
              <a:spcAft>
                <a:spcPts val="300"/>
              </a:spcAft>
            </a:pPr>
            <a:r>
              <a:rPr sz="1100" b="0">
                <a:solidFill>
                  <a:srgbClr val="5B6372"/>
                </a:solidFill>
                <a:latin typeface="Arial"/>
              </a:rPr>
              <a:t>Superconducting (Josephson junction), trapped-ion and topological qubits trade off speed, coherence time and connectivity.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Commercial platforms</a:t>
            </a:r>
          </a:p>
          <a:p>
            <a:pPr algn="l">
              <a:spcAft>
                <a:spcPts val="300"/>
              </a:spcAft>
            </a:pPr>
            <a:r>
              <a:rPr sz="1100" b="0">
                <a:solidFill>
                  <a:srgbClr val="5B6372"/>
                </a:solidFill>
                <a:latin typeface="Arial"/>
              </a:rPr>
              <a:t>IBM Quantum, Google, IonQ, Rigetti and D-Wave offer cloud access to real quantum processors today.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Superposition</a:t>
            </a:r>
          </a:p>
          <a:p>
            <a:pPr algn="l">
              <a:spcAft>
                <a:spcPts val="300"/>
              </a:spcAft>
            </a:pPr>
            <a:r>
              <a:rPr sz="1100" b="0">
                <a:solidFill>
                  <a:srgbClr val="5B6372"/>
                </a:solidFill>
                <a:latin typeface="Arial"/>
              </a:rPr>
              <a:t>A quantum register of n qubits holds a superposition of all 2ⁿ basis states simultaneously — the source of quantum parallelism.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Entanglement</a:t>
            </a:r>
          </a:p>
          <a:p>
            <a:pPr algn="l">
              <a:spcAft>
                <a:spcPts val="300"/>
              </a:spcAft>
            </a:pPr>
            <a:r>
              <a:rPr sz="1100" b="0">
                <a:solidFill>
                  <a:srgbClr val="5B6372"/>
                </a:solidFill>
                <a:latin typeface="Arial"/>
              </a:rPr>
              <a:t>Entangled states cannot be written as a product of single-qubit states; measuring one qubit instantly correlates with the other.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GEOMETRY OF A SINGLE QUBIT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loch-sphere.png"/>
          <p:cNvPicPr>
            <a:picLocks noChangeAspect="1"/>
          </p:cNvPicPr>
          <p:nvPr/>
        </p:nvPicPr>
        <p:blipFill>
          <a:blip r:embed="rId2"/>
          <a:stretch>
            <a:fillRect/>
          </a:stretch>
        </p:blipFill>
        <p:spPr>
          <a:xfrm>
            <a:off x="1937614" y="1783080"/>
            <a:ext cx="4080052" cy="420624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North / south poles</a:t>
            </a:r>
          </a:p>
          <a:p>
            <a:pPr algn="l">
              <a:spcAft>
                <a:spcPts val="300"/>
              </a:spcAft>
            </a:pPr>
            <a:r>
              <a:rPr sz="1200" b="0">
                <a:solidFill>
                  <a:srgbClr val="161B26"/>
                </a:solidFill>
                <a:latin typeface="Arial"/>
              </a:rPr>
              <a:t>|0⟩ and |1⟩ — the classical computational basis states.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The equator</a:t>
            </a:r>
          </a:p>
          <a:p>
            <a:pPr algn="l">
              <a:spcAft>
                <a:spcPts val="300"/>
              </a:spcAft>
            </a:pPr>
            <a:r>
              <a:rPr sz="1200" b="0">
                <a:solidFill>
                  <a:srgbClr val="161B26"/>
                </a:solidFill>
                <a:latin typeface="Arial"/>
              </a:rPr>
              <a:t>Equal superpositions such as |+⟩ and |−⟩ — maximally uncertain in Z.</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θ sets probability</a:t>
            </a:r>
          </a:p>
          <a:p>
            <a:pPr algn="l">
              <a:spcAft>
                <a:spcPts val="300"/>
              </a:spcAft>
            </a:pPr>
            <a:r>
              <a:rPr sz="1200" b="0">
                <a:solidFill>
                  <a:srgbClr val="161B26"/>
                </a:solidFill>
                <a:latin typeface="Arial"/>
              </a:rPr>
              <a:t>cos²(θ/2) is the chance of measuring 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φ sets phase</a:t>
            </a:r>
          </a:p>
          <a:p>
            <a:pPr algn="l">
              <a:spcAft>
                <a:spcPts val="300"/>
              </a:spcAft>
            </a:pPr>
            <a:r>
              <a:rPr sz="1200" b="0">
                <a:solidFill>
                  <a:srgbClr val="161B26"/>
                </a:solidFill>
                <a:latin typeface="Arial"/>
              </a:rPr>
              <a:t>Invisible to a Z measurement, but it drives interference.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QUBITS ARE ACTUALLY BUILT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Physical Qubit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ardware-compare.png"/>
          <p:cNvPicPr>
            <a:picLocks noChangeAspect="1"/>
          </p:cNvPicPr>
          <p:nvPr/>
        </p:nvPicPr>
        <p:blipFill>
          <a:blip r:embed="rId2"/>
          <a:stretch>
            <a:fillRect/>
          </a:stretch>
        </p:blipFill>
        <p:spPr>
          <a:xfrm>
            <a:off x="1505480" y="1755648"/>
            <a:ext cx="9177992"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No technology has won yet — each trades gate speed against coherence time and connectivity.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MOST IMPORTANT TWO-QUBIT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Entanglement — The Bell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ll-circuit.png"/>
          <p:cNvPicPr>
            <a:picLocks noChangeAspect="1"/>
          </p:cNvPicPr>
          <p:nvPr/>
        </p:nvPicPr>
        <p:blipFill>
          <a:blip r:embed="rId2"/>
          <a:stretch>
            <a:fillRect/>
          </a:stretch>
        </p:blipFill>
        <p:spPr>
          <a:xfrm>
            <a:off x="777240" y="2530151"/>
            <a:ext cx="6400800" cy="271209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Two gates</a:t>
            </a:r>
          </a:p>
          <a:p>
            <a:pPr algn="l">
              <a:spcAft>
                <a:spcPts val="300"/>
              </a:spcAft>
            </a:pPr>
            <a:r>
              <a:rPr sz="1200" b="0">
                <a:solidFill>
                  <a:srgbClr val="161B26"/>
                </a:solidFill>
                <a:latin typeface="Arial"/>
              </a:rPr>
              <a:t>A Hadamard followed by a CNOT is all it takes.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Perfect correlation</a:t>
            </a:r>
          </a:p>
          <a:p>
            <a:pPr algn="l">
              <a:spcAft>
                <a:spcPts val="300"/>
              </a:spcAft>
            </a:pPr>
            <a:r>
              <a:rPr sz="1200" b="0">
                <a:solidFill>
                  <a:srgbClr val="161B26"/>
                </a:solidFill>
                <a:latin typeface="Arial"/>
              </a:rPr>
              <a:t>Measure 0 on one qubit and the other is certainly 0.</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Not separable</a:t>
            </a:r>
          </a:p>
          <a:p>
            <a:pPr algn="l">
              <a:spcAft>
                <a:spcPts val="300"/>
              </a:spcAft>
            </a:pPr>
            <a:r>
              <a:rPr sz="1200" b="0">
                <a:solidFill>
                  <a:srgbClr val="161B26"/>
                </a:solidFill>
                <a:latin typeface="Arial"/>
              </a:rPr>
              <a:t>The state cannot be written as a product of two single-qubit states.</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resource</a:t>
            </a:r>
          </a:p>
          <a:p>
            <a:pPr algn="l">
              <a:spcAft>
                <a:spcPts val="300"/>
              </a:spcAft>
            </a:pPr>
            <a:r>
              <a:rPr sz="1200" b="0">
                <a:solidFill>
                  <a:srgbClr val="161B26"/>
                </a:solidFill>
                <a:latin typeface="Arial"/>
              </a:rPr>
              <a:t>Teleportation, superdense coding and QKD all consume entanglement.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Hands-On Activities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2</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Visualising a Qubit on the Bloch Sphere</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3</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Superposition and Entanglement on IBM Quantum</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single-qubit states in Qiskit and plot them on the Bloch sphere, so you can see how gates rotate a qubit and what superposition and phase actually look like geometrically.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 Decide on appropriate physical methodologies specific to quantum computing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Bloch-sphere plots showing |0&gt;, |1&gt;, |+&gt;, |-&gt; and an arbitrary Ry-rotated state.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matplotlib, Google Colab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2: Visualising a Qubit on the Bloch Sphere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|0&gt; sits at the north pole, X moves it to the south pole, H places it on the equator at +x, and the S gate rotates it around the equator while leaving the Z-basis probabilities at 50/50.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Create your IBM Quantum account, build a superposition circuit and a two-qubit Bell state, and run them on a real quantum processor to see genuine quantum randomness and correlation in the results.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LO4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Bell state circuit executed on real IBM Quantum hardware, with a measured histogram showing the |00&gt; and |11&gt; correlation.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Platform, Qiskit Runtime, Python 3.13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3: Superposition and Entanglement on IBM Quantum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superposition circuit gives roughly 50% |0&gt; and 50% |1&gt;; the Bell circuit gives roughly 50% |00&gt; and 50% |11&gt; with only a small percentage of |01&gt; and |10&gt; counts caused by hardware noise.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Recap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Qubit vs classical bit</a:t>
            </a:r>
          </a:p>
          <a:p>
            <a:pPr>
              <a:spcAft>
                <a:spcPts val="1000"/>
              </a:spcAft>
            </a:pPr>
            <a:r>
              <a:rPr sz="1600">
                <a:solidFill>
                  <a:srgbClr val="161B26"/>
                </a:solidFill>
                <a:latin typeface="Arial"/>
              </a:rPr>
              <a:t>•  Bloch sphere</a:t>
            </a:r>
          </a:p>
          <a:p>
            <a:pPr>
              <a:spcAft>
                <a:spcPts val="1000"/>
              </a:spcAft>
            </a:pPr>
            <a:r>
              <a:rPr sz="1600">
                <a:solidFill>
                  <a:srgbClr val="161B26"/>
                </a:solidFill>
                <a:latin typeface="Arial"/>
              </a:rPr>
              <a:t>•  Physical qubits</a:t>
            </a:r>
          </a:p>
          <a:p>
            <a:pPr>
              <a:spcAft>
                <a:spcPts val="1000"/>
              </a:spcAft>
            </a:pPr>
            <a:r>
              <a:rPr sz="1600">
                <a:solidFill>
                  <a:srgbClr val="161B26"/>
                </a:solidFill>
                <a:latin typeface="Arial"/>
              </a:rPr>
              <a:t>•  Commercial platforms</a:t>
            </a:r>
          </a:p>
          <a:p>
            <a:pPr>
              <a:spcAft>
                <a:spcPts val="1000"/>
              </a:spcAft>
            </a:pPr>
            <a:r>
              <a:rPr sz="1600">
                <a:solidFill>
                  <a:srgbClr val="161B26"/>
                </a:solidFill>
                <a:latin typeface="Arial"/>
              </a:rPr>
              <a:t>•  Superposition</a:t>
            </a:r>
          </a:p>
          <a:p>
            <a:pPr>
              <a:spcAft>
                <a:spcPts val="1000"/>
              </a:spcAft>
            </a:pPr>
            <a:r>
              <a:rPr sz="1600">
                <a:solidFill>
                  <a:srgbClr val="161B26"/>
                </a:solidFill>
                <a:latin typeface="Arial"/>
              </a:rPr>
              <a:t>•  Entanglement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Gates and Circuits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Single Qubit Gates · Multi Qubit Gates · Bell and GHZ States · Phase Kickback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Pauli gates</a:t>
            </a:r>
          </a:p>
          <a:p>
            <a:pPr algn="l">
              <a:spcAft>
                <a:spcPts val="300"/>
              </a:spcAft>
            </a:pPr>
            <a:r>
              <a:rPr sz="1100" b="0">
                <a:solidFill>
                  <a:srgbClr val="5B6372"/>
                </a:solidFill>
                <a:latin typeface="Arial"/>
              </a:rPr>
              <a:t>X (bit flip), Y and Z (phase flip) are self-inverse, Hermitian and unitary — the building blocks of single-qubit logic.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Hadamard gate</a:t>
            </a:r>
          </a:p>
          <a:p>
            <a:pPr algn="l">
              <a:spcAft>
                <a:spcPts val="300"/>
              </a:spcAft>
            </a:pPr>
            <a:r>
              <a:rPr sz="1100" b="0">
                <a:solidFill>
                  <a:srgbClr val="5B6372"/>
                </a:solidFill>
                <a:latin typeface="Arial"/>
              </a:rPr>
              <a:t>H maps |0⟩ → |+⟩ and |1⟩ → |−⟩, creating the equal superposition that starts nearly every quantum algorithm.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Rotation and phase gates</a:t>
            </a:r>
          </a:p>
          <a:p>
            <a:pPr algn="l">
              <a:spcAft>
                <a:spcPts val="300"/>
              </a:spcAft>
            </a:pPr>
            <a:r>
              <a:rPr sz="1100" b="0">
                <a:solidFill>
                  <a:srgbClr val="5B6372"/>
                </a:solidFill>
                <a:latin typeface="Arial"/>
              </a:rPr>
              <a:t>Rx, Ry, Rz rotate the Bloch vector; S and T are special cases of the phase gate P(θ).</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Multi-qubit gates</a:t>
            </a:r>
          </a:p>
          <a:p>
            <a:pPr algn="l">
              <a:spcAft>
                <a:spcPts val="300"/>
              </a:spcAft>
            </a:pPr>
            <a:r>
              <a:rPr sz="1100" b="0">
                <a:solidFill>
                  <a:srgbClr val="5B6372"/>
                </a:solidFill>
                <a:latin typeface="Arial"/>
              </a:rPr>
              <a:t>CNOT, CZ, controlled-phase, SWAP and Toffoli (CCNOT) create the entanglement that makes quantum computing powerful.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Bell and GHZ states</a:t>
            </a:r>
          </a:p>
          <a:p>
            <a:pPr algn="l">
              <a:spcAft>
                <a:spcPts val="300"/>
              </a:spcAft>
            </a:pPr>
            <a:r>
              <a:rPr sz="1100" b="0">
                <a:solidFill>
                  <a:srgbClr val="5B6372"/>
                </a:solidFill>
                <a:latin typeface="Arial"/>
              </a:rPr>
              <a:t>H followed by CNOT produces a maximally entangled Bell pair; extending to n qubits gives the GHZ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Phase kickback</a:t>
            </a:r>
          </a:p>
          <a:p>
            <a:pPr algn="l">
              <a:spcAft>
                <a:spcPts val="300"/>
              </a:spcAft>
            </a:pPr>
            <a:r>
              <a:rPr sz="1100" b="0">
                <a:solidFill>
                  <a:srgbClr val="5B6372"/>
                </a:solidFill>
                <a:latin typeface="Arial"/>
              </a:rPr>
              <a:t>A controlled operation on an eigenstate transfers the eigenvalue phase back to the control qubit — the engine of Deutsch, BV and QPE.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GATE VOCABULARY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Gate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te-reference.png"/>
          <p:cNvPicPr>
            <a:picLocks noChangeAspect="1"/>
          </p:cNvPicPr>
          <p:nvPr/>
        </p:nvPicPr>
        <p:blipFill>
          <a:blip r:embed="rId2"/>
          <a:stretch>
            <a:fillRect/>
          </a:stretch>
        </p:blipFill>
        <p:spPr>
          <a:xfrm>
            <a:off x="1838403" y="1755648"/>
            <a:ext cx="851214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Single-qubit gates rotate the Bloch vector; two-qubit gates create the entanglement that makes quantum computing powerful.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GATE REFERENCE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Single vs Multi-Qubit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70151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427195" cy="475488"/>
          </a:xfrm>
          <a:prstGeom prst="rect">
            <a:avLst/>
          </a:prstGeom>
          <a:noFill/>
        </p:spPr>
        <p:txBody>
          <a:bodyPr wrap="square" anchor="ctr">
            <a:spAutoFit/>
          </a:bodyPr>
          <a:lstStyle/>
          <a:p>
            <a:pPr algn="l">
              <a:spcAft>
                <a:spcPts val="400"/>
              </a:spcAft>
            </a:pPr>
            <a:r>
              <a:rPr sz="1300" b="1">
                <a:solidFill>
                  <a:srgbClr val="FFFFFF"/>
                </a:solidFill>
                <a:latin typeface="Arial"/>
              </a:rPr>
              <a:t>Gate</a:t>
            </a:r>
          </a:p>
        </p:txBody>
      </p:sp>
      <p:sp>
        <p:nvSpPr>
          <p:cNvPr id="9" name="Rectangle 8"/>
          <p:cNvSpPr/>
          <p:nvPr/>
        </p:nvSpPr>
        <p:spPr>
          <a:xfrm>
            <a:off x="2478755" y="1874519"/>
            <a:ext cx="106344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5915" y="1874519"/>
            <a:ext cx="789127" cy="475488"/>
          </a:xfrm>
          <a:prstGeom prst="rect">
            <a:avLst/>
          </a:prstGeom>
          <a:noFill/>
        </p:spPr>
        <p:txBody>
          <a:bodyPr wrap="square" anchor="ctr">
            <a:spAutoFit/>
          </a:bodyPr>
          <a:lstStyle/>
          <a:p>
            <a:pPr algn="l">
              <a:spcAft>
                <a:spcPts val="400"/>
              </a:spcAft>
            </a:pPr>
            <a:r>
              <a:rPr sz="1300" b="1">
                <a:solidFill>
                  <a:srgbClr val="FFFFFF"/>
                </a:solidFill>
                <a:latin typeface="Arial"/>
              </a:rPr>
              <a:t>Qubits</a:t>
            </a:r>
          </a:p>
        </p:txBody>
      </p:sp>
      <p:sp>
        <p:nvSpPr>
          <p:cNvPr id="11" name="Rectangle 10"/>
          <p:cNvSpPr/>
          <p:nvPr/>
        </p:nvSpPr>
        <p:spPr>
          <a:xfrm>
            <a:off x="3542202" y="1874519"/>
            <a:ext cx="382840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Effect</a:t>
            </a:r>
          </a:p>
        </p:txBody>
      </p:sp>
      <p:sp>
        <p:nvSpPr>
          <p:cNvPr id="13" name="Rectangle 12"/>
          <p:cNvSpPr/>
          <p:nvPr/>
        </p:nvSpPr>
        <p:spPr>
          <a:xfrm>
            <a:off x="7370611" y="1874519"/>
            <a:ext cx="404109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07771"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Used for</a:t>
            </a:r>
          </a:p>
        </p:txBody>
      </p:sp>
      <p:sp>
        <p:nvSpPr>
          <p:cNvPr id="15" name="Rectangle 14"/>
          <p:cNvSpPr/>
          <p:nvPr/>
        </p:nvSpPr>
        <p:spPr>
          <a:xfrm>
            <a:off x="777240" y="2350007"/>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X / Y / Z</a:t>
            </a:r>
          </a:p>
        </p:txBody>
      </p:sp>
      <p:sp>
        <p:nvSpPr>
          <p:cNvPr id="17" name="Rectangle 16"/>
          <p:cNvSpPr/>
          <p:nvPr/>
        </p:nvSpPr>
        <p:spPr>
          <a:xfrm>
            <a:off x="2478755" y="2350007"/>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5915" y="235000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19" name="Rectangle 18"/>
          <p:cNvSpPr/>
          <p:nvPr/>
        </p:nvSpPr>
        <p:spPr>
          <a:xfrm>
            <a:off x="3542202"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Rotate π about an axis</a:t>
            </a:r>
          </a:p>
        </p:txBody>
      </p:sp>
      <p:sp>
        <p:nvSpPr>
          <p:cNvPr id="21" name="Rectangle 20"/>
          <p:cNvSpPr/>
          <p:nvPr/>
        </p:nvSpPr>
        <p:spPr>
          <a:xfrm>
            <a:off x="7370611"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07771"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Bit flip, phase flip</a:t>
            </a:r>
          </a:p>
        </p:txBody>
      </p:sp>
      <p:sp>
        <p:nvSpPr>
          <p:cNvPr id="23" name="Rectangle 22"/>
          <p:cNvSpPr/>
          <p:nvPr/>
        </p:nvSpPr>
        <p:spPr>
          <a:xfrm>
            <a:off x="777240" y="2825495"/>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H</a:t>
            </a:r>
          </a:p>
        </p:txBody>
      </p:sp>
      <p:sp>
        <p:nvSpPr>
          <p:cNvPr id="25" name="Rectangle 24"/>
          <p:cNvSpPr/>
          <p:nvPr/>
        </p:nvSpPr>
        <p:spPr>
          <a:xfrm>
            <a:off x="2478755" y="2825495"/>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15915" y="282549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27" name="Rectangle 26"/>
          <p:cNvSpPr/>
          <p:nvPr/>
        </p:nvSpPr>
        <p:spPr>
          <a:xfrm>
            <a:off x="3542202"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Basis change</a:t>
            </a:r>
          </a:p>
        </p:txBody>
      </p:sp>
      <p:sp>
        <p:nvSpPr>
          <p:cNvPr id="29" name="Rectangle 28"/>
          <p:cNvSpPr/>
          <p:nvPr/>
        </p:nvSpPr>
        <p:spPr>
          <a:xfrm>
            <a:off x="7370611"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7771"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Create superposition</a:t>
            </a:r>
          </a:p>
        </p:txBody>
      </p:sp>
      <p:sp>
        <p:nvSpPr>
          <p:cNvPr id="31" name="Rectangle 30"/>
          <p:cNvSpPr/>
          <p:nvPr/>
        </p:nvSpPr>
        <p:spPr>
          <a:xfrm>
            <a:off x="777240" y="3300983"/>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 / T</a:t>
            </a:r>
          </a:p>
        </p:txBody>
      </p:sp>
      <p:sp>
        <p:nvSpPr>
          <p:cNvPr id="33" name="Rectangle 32"/>
          <p:cNvSpPr/>
          <p:nvPr/>
        </p:nvSpPr>
        <p:spPr>
          <a:xfrm>
            <a:off x="2478755" y="3300983"/>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5915" y="330098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35" name="Rectangle 34"/>
          <p:cNvSpPr/>
          <p:nvPr/>
        </p:nvSpPr>
        <p:spPr>
          <a:xfrm>
            <a:off x="3542202"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Phase π/2 and π/4</a:t>
            </a:r>
          </a:p>
        </p:txBody>
      </p:sp>
      <p:sp>
        <p:nvSpPr>
          <p:cNvPr id="37" name="Rectangle 36"/>
          <p:cNvSpPr/>
          <p:nvPr/>
        </p:nvSpPr>
        <p:spPr>
          <a:xfrm>
            <a:off x="7370611"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07771"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Fine phase control</a:t>
            </a:r>
          </a:p>
        </p:txBody>
      </p:sp>
      <p:sp>
        <p:nvSpPr>
          <p:cNvPr id="39" name="Rectangle 38"/>
          <p:cNvSpPr/>
          <p:nvPr/>
        </p:nvSpPr>
        <p:spPr>
          <a:xfrm>
            <a:off x="777240" y="3776471"/>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Rx / Ry / Rz</a:t>
            </a:r>
          </a:p>
        </p:txBody>
      </p:sp>
      <p:sp>
        <p:nvSpPr>
          <p:cNvPr id="41" name="Rectangle 40"/>
          <p:cNvSpPr/>
          <p:nvPr/>
        </p:nvSpPr>
        <p:spPr>
          <a:xfrm>
            <a:off x="2478755" y="3776471"/>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15915" y="3776471"/>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43" name="Rectangle 42"/>
          <p:cNvSpPr/>
          <p:nvPr/>
        </p:nvSpPr>
        <p:spPr>
          <a:xfrm>
            <a:off x="3542202"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Arbitrary rotation</a:t>
            </a:r>
          </a:p>
        </p:txBody>
      </p:sp>
      <p:sp>
        <p:nvSpPr>
          <p:cNvPr id="45" name="Rectangle 44"/>
          <p:cNvSpPr/>
          <p:nvPr/>
        </p:nvSpPr>
        <p:spPr>
          <a:xfrm>
            <a:off x="7370611"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7771"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Variational ansätze</a:t>
            </a:r>
          </a:p>
        </p:txBody>
      </p:sp>
      <p:sp>
        <p:nvSpPr>
          <p:cNvPr id="47" name="Rectangle 46"/>
          <p:cNvSpPr/>
          <p:nvPr/>
        </p:nvSpPr>
        <p:spPr>
          <a:xfrm>
            <a:off x="777240" y="4251959"/>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CNOT</a:t>
            </a:r>
          </a:p>
        </p:txBody>
      </p:sp>
      <p:sp>
        <p:nvSpPr>
          <p:cNvPr id="49" name="Rectangle 48"/>
          <p:cNvSpPr/>
          <p:nvPr/>
        </p:nvSpPr>
        <p:spPr>
          <a:xfrm>
            <a:off x="2478755" y="4251959"/>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15915" y="4251959"/>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1" name="Rectangle 50"/>
          <p:cNvSpPr/>
          <p:nvPr/>
        </p:nvSpPr>
        <p:spPr>
          <a:xfrm>
            <a:off x="3542202"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target if control is 1</a:t>
            </a:r>
          </a:p>
        </p:txBody>
      </p:sp>
      <p:sp>
        <p:nvSpPr>
          <p:cNvPr id="53" name="Rectangle 52"/>
          <p:cNvSpPr/>
          <p:nvPr/>
        </p:nvSpPr>
        <p:spPr>
          <a:xfrm>
            <a:off x="7370611"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07771"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Entanglement, oracles</a:t>
            </a:r>
          </a:p>
        </p:txBody>
      </p:sp>
      <p:sp>
        <p:nvSpPr>
          <p:cNvPr id="55" name="Rectangle 54"/>
          <p:cNvSpPr/>
          <p:nvPr/>
        </p:nvSpPr>
        <p:spPr>
          <a:xfrm>
            <a:off x="777240" y="4727447"/>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72744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CZ / CP</a:t>
            </a:r>
          </a:p>
        </p:txBody>
      </p:sp>
      <p:sp>
        <p:nvSpPr>
          <p:cNvPr id="57" name="Rectangle 56"/>
          <p:cNvSpPr/>
          <p:nvPr/>
        </p:nvSpPr>
        <p:spPr>
          <a:xfrm>
            <a:off x="2478755" y="4727447"/>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5915" y="472744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9" name="Rectangle 58"/>
          <p:cNvSpPr/>
          <p:nvPr/>
        </p:nvSpPr>
        <p:spPr>
          <a:xfrm>
            <a:off x="3542202" y="4727447"/>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9362" y="472744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Conditional phase</a:t>
            </a:r>
          </a:p>
        </p:txBody>
      </p:sp>
      <p:sp>
        <p:nvSpPr>
          <p:cNvPr id="61" name="Rectangle 60"/>
          <p:cNvSpPr/>
          <p:nvPr/>
        </p:nvSpPr>
        <p:spPr>
          <a:xfrm>
            <a:off x="7370611" y="4727447"/>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07771" y="472744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QFT, phase kickback</a:t>
            </a:r>
          </a:p>
        </p:txBody>
      </p:sp>
      <p:sp>
        <p:nvSpPr>
          <p:cNvPr id="63" name="Rectangle 62"/>
          <p:cNvSpPr/>
          <p:nvPr/>
        </p:nvSpPr>
        <p:spPr>
          <a:xfrm>
            <a:off x="777240" y="5202935"/>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520293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SWAP</a:t>
            </a:r>
          </a:p>
        </p:txBody>
      </p:sp>
      <p:sp>
        <p:nvSpPr>
          <p:cNvPr id="65" name="Rectangle 64"/>
          <p:cNvSpPr/>
          <p:nvPr/>
        </p:nvSpPr>
        <p:spPr>
          <a:xfrm>
            <a:off x="2478755" y="5202935"/>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15915" y="520293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67" name="Rectangle 66"/>
          <p:cNvSpPr/>
          <p:nvPr/>
        </p:nvSpPr>
        <p:spPr>
          <a:xfrm>
            <a:off x="3542202" y="5202935"/>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79362" y="520293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Exchange two qubits</a:t>
            </a:r>
          </a:p>
        </p:txBody>
      </p:sp>
      <p:sp>
        <p:nvSpPr>
          <p:cNvPr id="69" name="Rectangle 68"/>
          <p:cNvSpPr/>
          <p:nvPr/>
        </p:nvSpPr>
        <p:spPr>
          <a:xfrm>
            <a:off x="7370611" y="5202935"/>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507771" y="520293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Routing on hardware</a:t>
            </a:r>
          </a:p>
        </p:txBody>
      </p:sp>
      <p:sp>
        <p:nvSpPr>
          <p:cNvPr id="71" name="Rectangle 70"/>
          <p:cNvSpPr/>
          <p:nvPr/>
        </p:nvSpPr>
        <p:spPr>
          <a:xfrm>
            <a:off x="777240" y="5678423"/>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567842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Toffoli</a:t>
            </a:r>
          </a:p>
        </p:txBody>
      </p:sp>
      <p:sp>
        <p:nvSpPr>
          <p:cNvPr id="73" name="Rectangle 72"/>
          <p:cNvSpPr/>
          <p:nvPr/>
        </p:nvSpPr>
        <p:spPr>
          <a:xfrm>
            <a:off x="2478755" y="5678423"/>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15915" y="567842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3</a:t>
            </a:r>
          </a:p>
        </p:txBody>
      </p:sp>
      <p:sp>
        <p:nvSpPr>
          <p:cNvPr id="75" name="Rectangle 74"/>
          <p:cNvSpPr/>
          <p:nvPr/>
        </p:nvSpPr>
        <p:spPr>
          <a:xfrm>
            <a:off x="3542202" y="5678423"/>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79362" y="567842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if both controls are 1</a:t>
            </a:r>
          </a:p>
        </p:txBody>
      </p:sp>
      <p:sp>
        <p:nvSpPr>
          <p:cNvPr id="77" name="Rectangle 76"/>
          <p:cNvSpPr/>
          <p:nvPr/>
        </p:nvSpPr>
        <p:spPr>
          <a:xfrm>
            <a:off x="7370611" y="5678423"/>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507771" y="567842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Reversible classical logic</a:t>
            </a:r>
          </a:p>
        </p:txBody>
      </p:sp>
      <p:sp>
        <p:nvSpPr>
          <p:cNvPr id="79" name="TextBox 7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0" name="TextBox 7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1" name="TextBox 8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KEY MECHANISM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Phase kickback is the trick behind almost every algorithm.</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Apply a controlled-U to an eigenstate of U and the eigenvalue phase appears on the CONTROL qubit — that is how Deutsch, Bernstein-Vazirani, phase estimation and Shor all extract their answers.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 controlled-U acting on an EIGENSTATE of U leaves the target unchanged and transfers the eigenvalue phase onto the CONTROL qubit.</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U is a unitary operator with eigenvector |u&gt; and eigenvalue e^(iθ):  U|u&gt; = e^(iθ)|u&gt;.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control qubit starts in |0&gt;; the target starts in the eigenstate |u&gt;.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CU is the controlled-U gate: it applies U to the target only when the control is |1&gt;.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Put the control into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Start:            |0&gt; (x) |u&gt;</a:t>
            </a:r>
          </a:p>
          <a:p>
            <a:pPr algn="l">
              <a:spcAft>
                <a:spcPts val="300"/>
              </a:spcAft>
            </a:pPr>
            <a:r>
              <a:rPr sz="1550" b="0">
                <a:solidFill>
                  <a:srgbClr val="9CDCFE"/>
                </a:solidFill>
                <a:latin typeface="Arial"/>
              </a:rPr>
              <a:t>Apply H to the control qubit:</a:t>
            </a:r>
          </a:p>
          <a:p>
            <a:pPr algn="l">
              <a:spcAft>
                <a:spcPts val="300"/>
              </a:spcAft>
            </a:pPr>
            <a:r>
              <a:rPr sz="1550" b="0">
                <a:solidFill>
                  <a:srgbClr val="9CDCFE"/>
                </a:solidFill>
                <a:latin typeface="Arial"/>
              </a:rPr>
              <a:t>H|0&gt; = (|0&gt; + |1&gt;)/√2</a:t>
            </a:r>
          </a:p>
          <a:p>
            <a:pPr algn="l">
              <a:spcAft>
                <a:spcPts val="300"/>
              </a:spcAft>
            </a:pPr>
            <a:r>
              <a:rPr sz="1550" b="0">
                <a:solidFill>
                  <a:srgbClr val="9CDCFE"/>
                </a:solidFill>
                <a:latin typeface="Arial"/>
              </a:rPr>
              <a:t>State:            (1/√2)( |0&gt; + |1&gt; ) (x) |u&gt;</a:t>
            </a:r>
          </a:p>
          <a:p>
            <a:pPr algn="l">
              <a:spcAft>
                <a:spcPts val="300"/>
              </a:spcAft>
            </a:pPr>
            <a:r>
              <a:rPr sz="1550" b="0">
                <a:solidFill>
                  <a:srgbClr val="9CDCFE"/>
                </a:solidFill>
                <a:latin typeface="Arial"/>
              </a:rPr>
              <a:t>                = (1/√2)( |0&gt;|u&gt; + |1&gt;|u&gt; )</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control is now in an equal superposition; the target still holds the eigenstate.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Apply the controlled-U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CU acts term by term (linearity):</a:t>
            </a:r>
          </a:p>
          <a:p>
            <a:pPr algn="l">
              <a:spcAft>
                <a:spcPts val="300"/>
              </a:spcAft>
            </a:pPr>
            <a:r>
              <a:rPr sz="1550" b="0">
                <a:solidFill>
                  <a:srgbClr val="9CDCFE"/>
                </a:solidFill>
                <a:latin typeface="Arial"/>
              </a:rPr>
              <a:t>  CU |0&gt;|u&gt;  =  |0&gt;|u&gt;          (control is 0 -&gt; do nothing)</a:t>
            </a:r>
          </a:p>
          <a:p>
            <a:pPr algn="l">
              <a:spcAft>
                <a:spcPts val="300"/>
              </a:spcAft>
            </a:pPr>
            <a:r>
              <a:rPr sz="1550" b="0">
                <a:solidFill>
                  <a:srgbClr val="9CDCFE"/>
                </a:solidFill>
                <a:latin typeface="Arial"/>
              </a:rPr>
              <a:t>  CU |1&gt;|u&gt;  =  |1&gt; U|u&gt;        (control is 1 -&gt; apply U)</a:t>
            </a:r>
          </a:p>
          <a:p>
            <a:pPr algn="l">
              <a:spcAft>
                <a:spcPts val="300"/>
              </a:spcAft>
            </a:pPr>
            <a:r>
              <a:rPr sz="1550" b="0">
                <a:solidFill>
                  <a:srgbClr val="9CDCFE"/>
                </a:solidFill>
                <a:latin typeface="Arial"/>
              </a:rPr>
              <a:t>Now use the eigenvalue relation U|u&gt; = e^(iθ)|u&gt;:</a:t>
            </a:r>
          </a:p>
          <a:p>
            <a:pPr algn="l">
              <a:spcAft>
                <a:spcPts val="300"/>
              </a:spcAft>
            </a:pPr>
            <a:r>
              <a:rPr sz="1550" b="0">
                <a:solidFill>
                  <a:srgbClr val="9CDCFE"/>
                </a:solidFill>
                <a:latin typeface="Arial"/>
              </a:rPr>
              <a:t>  CU |1&gt;|u&gt;  =  |1&gt; e^(iθ)|u&gt;  =  e^(iθ) |1&gt;|u&gt;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scalar e^(iθ) can be moved freely — it multiplies the WHOLE term.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Collect the terms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3898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097280"/>
          </a:xfrm>
          <a:prstGeom prst="rect">
            <a:avLst/>
          </a:prstGeom>
          <a:noFill/>
        </p:spPr>
        <p:txBody>
          <a:bodyPr wrap="square" anchor="t">
            <a:spAutoFit/>
          </a:bodyPr>
          <a:lstStyle/>
          <a:p>
            <a:pPr algn="l">
              <a:spcAft>
                <a:spcPts val="300"/>
              </a:spcAft>
            </a:pPr>
            <a:r>
              <a:rPr sz="1550" b="0">
                <a:solidFill>
                  <a:srgbClr val="9CDCFE"/>
                </a:solidFill>
                <a:latin typeface="Arial"/>
              </a:rPr>
              <a:t>State:  (1/√2)( |0&gt;|u&gt;  +  e^(iθ) |1&gt;|u&gt; )</a:t>
            </a:r>
          </a:p>
          <a:p>
            <a:pPr algn="l">
              <a:spcAft>
                <a:spcPts val="300"/>
              </a:spcAft>
            </a:pPr>
            <a:r>
              <a:rPr sz="1550" b="0">
                <a:solidFill>
                  <a:srgbClr val="9CDCFE"/>
                </a:solidFill>
                <a:latin typeface="Arial"/>
              </a:rPr>
              <a:t>Factor the target |u&gt; out of both terms:</a:t>
            </a:r>
          </a:p>
          <a:p>
            <a:pPr algn="l">
              <a:spcAft>
                <a:spcPts val="300"/>
              </a:spcAft>
            </a:pPr>
            <a:r>
              <a:rPr sz="1550" b="0">
                <a:solidFill>
                  <a:srgbClr val="9CDCFE"/>
                </a:solidFill>
                <a:latin typeface="Arial"/>
              </a:rPr>
              <a:t>        = (1/√2)( |0&gt; + e^(iθ)|1&gt; ) (x) |u&gt;</a:t>
            </a:r>
          </a:p>
        </p:txBody>
      </p:sp>
      <p:sp>
        <p:nvSpPr>
          <p:cNvPr id="9" name="Rectangle 8"/>
          <p:cNvSpPr/>
          <p:nvPr/>
        </p:nvSpPr>
        <p:spPr>
          <a:xfrm>
            <a:off x="777240" y="3401568"/>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401568"/>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01568"/>
            <a:ext cx="10149840" cy="265176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factorisation is the heart of the proof — the state is SEPARABLE again.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Read off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Target register:   |u&gt;       —  UNCHANGED</a:t>
            </a:r>
          </a:p>
          <a:p>
            <a:pPr algn="l">
              <a:spcAft>
                <a:spcPts val="300"/>
              </a:spcAft>
            </a:pPr>
            <a:r>
              <a:rPr sz="1550" b="0">
                <a:solidFill>
                  <a:srgbClr val="9CDCFE"/>
                </a:solidFill>
                <a:latin typeface="Arial"/>
              </a:rPr>
              <a:t>Control register:  (|0&gt; + e^(iθ)|1&gt;)/√2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phase e^(iθ), which belonged to the TARGET's eigenvalue,</a:t>
            </a:r>
          </a:p>
          <a:p>
            <a:pPr algn="l">
              <a:spcAft>
                <a:spcPts val="300"/>
              </a:spcAft>
            </a:pPr>
            <a:r>
              <a:rPr sz="1550" b="0">
                <a:solidFill>
                  <a:srgbClr val="9CDCFE"/>
                </a:solidFill>
                <a:latin typeface="Arial"/>
              </a:rPr>
              <a:t>now sits as a RELATIVE PHASE on the CONTROL qubit.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information moved from the target to the control without the target changing.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KICKBACK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oracle special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Take U = X (the NOT gate) and |u&gt; = |-&gt; = (|0&gt; - |1&gt;)/√2.</a:t>
            </a:r>
          </a:p>
          <a:p>
            <a:pPr algn="l">
              <a:spcAft>
                <a:spcPts val="300"/>
              </a:spcAft>
            </a:pPr>
            <a:r>
              <a:rPr sz="1550" b="0">
                <a:solidFill>
                  <a:srgbClr val="9CDCFE"/>
                </a:solidFill>
                <a:latin typeface="Arial"/>
              </a:rPr>
              <a:t>Check it is an eigenstate:   X|-&gt; = (X|0&gt; - X|1&gt;)/√2</a:t>
            </a:r>
          </a:p>
          <a:p>
            <a:pPr algn="l">
              <a:spcAft>
                <a:spcPts val="300"/>
              </a:spcAft>
            </a:pPr>
            <a:r>
              <a:rPr sz="1550" b="0">
                <a:solidFill>
                  <a:srgbClr val="9CDCFE"/>
                </a:solidFill>
                <a:latin typeface="Arial"/>
              </a:rPr>
              <a:t>                                  = (|1&gt; - |0&gt;)/√2</a:t>
            </a:r>
          </a:p>
          <a:p>
            <a:pPr algn="l">
              <a:spcAft>
                <a:spcPts val="300"/>
              </a:spcAft>
            </a:pPr>
            <a:r>
              <a:rPr sz="1550" b="0">
                <a:solidFill>
                  <a:srgbClr val="9CDCFE"/>
                </a:solidFill>
                <a:latin typeface="Arial"/>
              </a:rPr>
              <a:t>                                  = -(|0&gt; - |1&gt;)/√2  =  (-1)|-&gt;</a:t>
            </a:r>
          </a:p>
          <a:p>
            <a:pPr algn="l">
              <a:spcAft>
                <a:spcPts val="300"/>
              </a:spcAft>
            </a:pPr>
            <a:r>
              <a:rPr sz="1550" b="0">
                <a:solidFill>
                  <a:srgbClr val="9CDCFE"/>
                </a:solidFill>
                <a:latin typeface="Arial"/>
              </a:rPr>
              <a:t>So |-&gt; is an eigenvector of X with eigenvalue -1, i.e. e^(iπ).</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an oracle U_f: |x&gt;|y&gt; -&gt; |x&gt;|y ⊕ f(x)&gt;, setting the target to |-&gt;:</a:t>
            </a:r>
          </a:p>
          <a:p>
            <a:pPr algn="l">
              <a:spcAft>
                <a:spcPts val="300"/>
              </a:spcAft>
            </a:pPr>
            <a:r>
              <a:rPr sz="1550" b="0">
                <a:solidFill>
                  <a:srgbClr val="9CDCFE"/>
                </a:solidFill>
                <a:latin typeface="Arial"/>
              </a:rPr>
              <a:t>   U_f |x&gt;|-&gt;  =  (-1)^f(x) |x&gt;|-&gt;</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identity that powers Deutsch, Deutsch-Jozsa, Bernstein-Vazirani, Grover's oracle and quantum phase estimation.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Phase Kickback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Controlled-U on an eigenstate |u&gt; gives (|0&gt; + e^(iθ)|1&gt;)/√2 (x) |u&gt; — the eigenvalue phase is 'kicked back' onto the control. With U = X and target |-&gt;, the oracle marks inputs with the sign (-1)^f(x).</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Measurement cannot see a GLOBAL phase, but a RELATIVE phase on the control is converted into a measurable amplitude by a final Hadamard. Phase kickback is how a quantum computer extracts a global property of f without evaluating f at every input.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4</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Building Circuits in IBM Quantum Composer</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5</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Quantum Gates and Bell/GHZ States with PennyLane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the drag-and-drop IBM Quantum Composer to build single- and multi-qubit circuits, watch the state vector and probability panels update live, and export the circuit as OpenQASM.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LO5 — Spearhead the application of quantum gates to quantum computing domains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Composer circuits (X, H, CNOT, Bell state) with their statevector output, exported as OpenQASM 3 code.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Composer, OpenQASM 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4: Building Circuits in IBM Quantum Composer</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Composer probability panel shows a 50/50 split between |00&gt; and |11&gt; for the Bell circuit, and the exported OpenQASM contains an h instruction followed by a cx instruction.</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PennyLane's quantum-function and QNode model to apply the full single- and multi-qubit gate set, then construct Bell and GHZ entangled states and verify their measurement correlations.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LO5 — Direct two-level quantum models and apply quantum gates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PennyLane script that draws each circuit, returns the state vector, and confirms the Bell and GHZ correlations.</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PennyLane, Python 3.13,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5: Quantum Gates and Bell/GHZ States with PennyLane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Bell state returns amplitudes of about 0.707 on |00&gt; and |11&gt; and zero elsewhere; the GHZ state returns amplitudes only on |000&gt; and |111&gt;; the phase-kickback circuit shows the eigenvalue phase transferred to the control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Pauli gates</a:t>
            </a:r>
          </a:p>
          <a:p>
            <a:pPr>
              <a:spcAft>
                <a:spcPts val="1000"/>
              </a:spcAft>
            </a:pPr>
            <a:r>
              <a:rPr sz="1600">
                <a:solidFill>
                  <a:srgbClr val="161B26"/>
                </a:solidFill>
                <a:latin typeface="Arial"/>
              </a:rPr>
              <a:t>•  Hadamard gate</a:t>
            </a:r>
          </a:p>
          <a:p>
            <a:pPr>
              <a:spcAft>
                <a:spcPts val="1000"/>
              </a:spcAft>
            </a:pPr>
            <a:r>
              <a:rPr sz="1600">
                <a:solidFill>
                  <a:srgbClr val="161B26"/>
                </a:solidFill>
                <a:latin typeface="Arial"/>
              </a:rPr>
              <a:t>•  Rotation and phase gates</a:t>
            </a:r>
          </a:p>
          <a:p>
            <a:pPr>
              <a:spcAft>
                <a:spcPts val="1000"/>
              </a:spcAft>
            </a:pPr>
            <a:r>
              <a:rPr sz="1600">
                <a:solidFill>
                  <a:srgbClr val="161B26"/>
                </a:solidFill>
                <a:latin typeface="Arial"/>
              </a:rPr>
              <a:t>•  Multi-qubit gates</a:t>
            </a:r>
          </a:p>
          <a:p>
            <a:pPr>
              <a:spcAft>
                <a:spcPts val="1000"/>
              </a:spcAft>
            </a:pPr>
            <a:r>
              <a:rPr sz="1600">
                <a:solidFill>
                  <a:srgbClr val="161B26"/>
                </a:solidFill>
                <a:latin typeface="Arial"/>
              </a:rPr>
              <a:t>•  Bell and GHZ states</a:t>
            </a:r>
          </a:p>
          <a:p>
            <a:pPr>
              <a:spcAft>
                <a:spcPts val="1000"/>
              </a:spcAft>
            </a:pPr>
            <a:r>
              <a:rPr sz="1600">
                <a:solidFill>
                  <a:srgbClr val="161B26"/>
                </a:solidFill>
                <a:latin typeface="Arial"/>
              </a:rPr>
              <a:t>•  Phase kickback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Protocols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No-Cloning Theorem · Teleportation · Superdense Coding · BB84 QKD · CHSH Game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No-cloning theorem</a:t>
            </a:r>
          </a:p>
          <a:p>
            <a:pPr algn="l">
              <a:spcAft>
                <a:spcPts val="300"/>
              </a:spcAft>
            </a:pPr>
            <a:r>
              <a:rPr sz="1100" b="0">
                <a:solidFill>
                  <a:srgbClr val="5B6372"/>
                </a:solidFill>
                <a:latin typeface="Arial"/>
              </a:rPr>
              <a:t>No unitary can copy an arbitrary unknown quantum state — proved by linearity, and the foundation of quantum key security.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teleportation</a:t>
            </a:r>
          </a:p>
          <a:p>
            <a:pPr algn="l">
              <a:spcAft>
                <a:spcPts val="300"/>
              </a:spcAft>
            </a:pPr>
            <a:r>
              <a:rPr sz="1100" b="0">
                <a:solidFill>
                  <a:srgbClr val="5B6372"/>
                </a:solidFill>
                <a:latin typeface="Arial"/>
              </a:rPr>
              <a:t>Transfers an unknown qubit state using one shared Bell pair plus two classical bits — no faster-than-light signalling.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Superdense coding</a:t>
            </a:r>
          </a:p>
          <a:p>
            <a:pPr algn="l">
              <a:spcAft>
                <a:spcPts val="300"/>
              </a:spcAft>
            </a:pPr>
            <a:r>
              <a:rPr sz="1100" b="0">
                <a:solidFill>
                  <a:srgbClr val="5B6372"/>
                </a:solidFill>
                <a:latin typeface="Arial"/>
              </a:rPr>
              <a:t>The dual of teleportation: send two classical bits by transmitting a single qubit of a pre-shared entangled pair.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BB84 QKD</a:t>
            </a:r>
          </a:p>
          <a:p>
            <a:pPr algn="l">
              <a:spcAft>
                <a:spcPts val="300"/>
              </a:spcAft>
            </a:pPr>
            <a:r>
              <a:rPr sz="1100" b="0">
                <a:solidFill>
                  <a:srgbClr val="5B6372"/>
                </a:solidFill>
                <a:latin typeface="Arial"/>
              </a:rPr>
              <a:t>Alice and Bob build a shared secret key using random bases; eavesdropping disturbs the states and raises the error rate.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Eavesdropping detection</a:t>
            </a:r>
          </a:p>
          <a:p>
            <a:pPr algn="l">
              <a:spcAft>
                <a:spcPts val="300"/>
              </a:spcAft>
            </a:pPr>
            <a:r>
              <a:rPr sz="1100" b="0">
                <a:solidFill>
                  <a:srgbClr val="5B6372"/>
                </a:solidFill>
                <a:latin typeface="Arial"/>
              </a:rPr>
              <a:t>An intercept-resend attack introduces roughly a 25% error rate in the sifted key, revealing Eve's presence.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CHSH game</a:t>
            </a:r>
          </a:p>
          <a:p>
            <a:pPr algn="l">
              <a:spcAft>
                <a:spcPts val="300"/>
              </a:spcAft>
            </a:pPr>
            <a:r>
              <a:rPr sz="1100" b="0">
                <a:solidFill>
                  <a:srgbClr val="5B6372"/>
                </a:solidFill>
                <a:latin typeface="Arial"/>
              </a:rPr>
              <a:t>A quantum strategy using entanglement wins ~85% of the time versus the classical maximum of 75%, disproving local hidden variables.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MOVING A STATE WITHOUT MOVING A PARTICLE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leportation-flow.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Two classical bits must still travel — so teleportation never beats the speed of light.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SIDES OF ONE COIN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Teleportation vs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Qubit → classical channel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Classical → qubit channel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Quantum Teleportation</a:t>
            </a:r>
          </a:p>
          <a:p>
            <a:pPr>
              <a:spcAft>
                <a:spcPts val="1000"/>
              </a:spcAft>
            </a:pPr>
            <a:r>
              <a:rPr sz="1400">
                <a:solidFill>
                  <a:srgbClr val="5B6372"/>
                </a:solidFill>
                <a:latin typeface="Arial"/>
              </a:rPr>
              <a:t>–  Sends: 1 unknown QUBIT state</a:t>
            </a:r>
          </a:p>
          <a:p>
            <a:pPr>
              <a:spcAft>
                <a:spcPts val="1000"/>
              </a:spcAft>
            </a:pPr>
            <a:r>
              <a:rPr sz="1400">
                <a:solidFill>
                  <a:srgbClr val="5B6372"/>
                </a:solidFill>
                <a:latin typeface="Arial"/>
              </a:rPr>
              <a:t>–  Costs: 1 Bell pair + 2 classical bits</a:t>
            </a:r>
          </a:p>
          <a:p>
            <a:pPr>
              <a:spcAft>
                <a:spcPts val="1000"/>
              </a:spcAft>
            </a:pPr>
            <a:r>
              <a:rPr sz="1400">
                <a:solidFill>
                  <a:srgbClr val="5B6372"/>
                </a:solidFill>
                <a:latin typeface="Arial"/>
              </a:rPr>
              <a:t>–  Original is destroyed (no cloning)</a:t>
            </a:r>
          </a:p>
          <a:p>
            <a:pPr>
              <a:spcAft>
                <a:spcPts val="1000"/>
              </a:spcAft>
            </a:pPr>
            <a:r>
              <a:rPr sz="1400">
                <a:solidFill>
                  <a:srgbClr val="5B6372"/>
                </a:solidFill>
                <a:latin typeface="Arial"/>
              </a:rPr>
              <a:t>–  Use: moving quantum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Superdense Coding</a:t>
            </a:r>
          </a:p>
          <a:p>
            <a:pPr>
              <a:spcAft>
                <a:spcPts val="1000"/>
              </a:spcAft>
            </a:pPr>
            <a:r>
              <a:rPr sz="1400">
                <a:solidFill>
                  <a:srgbClr val="5B6372"/>
                </a:solidFill>
                <a:latin typeface="Arial"/>
              </a:rPr>
              <a:t>–  Sends: 2 CLASSICAL bits</a:t>
            </a:r>
          </a:p>
          <a:p>
            <a:pPr>
              <a:spcAft>
                <a:spcPts val="1000"/>
              </a:spcAft>
            </a:pPr>
            <a:r>
              <a:rPr sz="1400">
                <a:solidFill>
                  <a:srgbClr val="5B6372"/>
                </a:solidFill>
                <a:latin typeface="Arial"/>
              </a:rPr>
              <a:t>–  Costs: 1 Bell pair + 1 transmitted qubit</a:t>
            </a:r>
          </a:p>
          <a:p>
            <a:pPr>
              <a:spcAft>
                <a:spcPts val="1000"/>
              </a:spcAft>
            </a:pPr>
            <a:r>
              <a:rPr sz="1400">
                <a:solidFill>
                  <a:srgbClr val="5B6372"/>
                </a:solidFill>
                <a:latin typeface="Arial"/>
              </a:rPr>
              <a:t>–  Encode with I, X, Z or ZX</a:t>
            </a:r>
          </a:p>
          <a:p>
            <a:pPr>
              <a:spcAft>
                <a:spcPts val="1000"/>
              </a:spcAft>
            </a:pPr>
            <a:r>
              <a:rPr sz="1400">
                <a:solidFill>
                  <a:srgbClr val="5B6372"/>
                </a:solidFill>
                <a:latin typeface="Arial"/>
              </a:rPr>
              <a:t>–  Use: doubling channel capacity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SECURITY FROM PHYSICS, NOT MATHS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b84-protocol.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Security rests on the no-cloning theorem — an eavesdropper cannot copy the qubits without disturbing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An unknown qubit state can be transferred using one shared Bell pair and two classical bits — without ever measuring or copying the state itself.</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holds an unknown qubit  |ψ&gt; = a|0&gt; + b|1&gt;,  with |a|² + |b|² = 1.</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and Bob share the Bell pair  |Φ+&gt; = (|00&gt; + |11&gt;)/√2.</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Qubit ordering:  q0 = Alice's unknown state, q1 = Alice's half, q2 = Bob's half.</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Neither party knows a or b — and neither learns them at any point.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1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Write the full three-qubit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|Ψ₀&gt;  =  |ψ&gt;₀ (x) |Φ+&gt;₁₂</a:t>
            </a:r>
          </a:p>
          <a:p>
            <a:pPr algn="l">
              <a:spcAft>
                <a:spcPts val="300"/>
              </a:spcAft>
            </a:pPr>
            <a:r>
              <a:rPr sz="1550" b="0">
                <a:solidFill>
                  <a:srgbClr val="9CDCFE"/>
                </a:solidFill>
                <a:latin typeface="Arial"/>
              </a:rPr>
              <a:t>      =  (a|0&gt; + b|1&gt;) (x) (|00&gt; + |11&gt;)/√2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Expand:</a:t>
            </a:r>
          </a:p>
          <a:p>
            <a:pPr algn="l">
              <a:spcAft>
                <a:spcPts val="300"/>
              </a:spcAft>
            </a:pPr>
            <a:r>
              <a:rPr sz="1550" b="0">
                <a:solidFill>
                  <a:srgbClr val="9CDCFE"/>
                </a:solidFill>
                <a:latin typeface="Arial"/>
              </a:rPr>
              <a:t>      =  (1/√2)( a|000&gt; + a|011&gt; + b|100&gt; + b|111&gt; )</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Three qubits, so the state space has 2³ = 8 dimensions; four terms are populated.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2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Alice applies CNOT (q0 -&gt; q1)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CNOT flips q1 when q0 = 1. Term by term:</a:t>
            </a:r>
          </a:p>
          <a:p>
            <a:pPr algn="l">
              <a:spcAft>
                <a:spcPts val="300"/>
              </a:spcAft>
            </a:pPr>
            <a:r>
              <a:rPr sz="1550" b="0">
                <a:solidFill>
                  <a:srgbClr val="9CDCFE"/>
                </a:solidFill>
                <a:latin typeface="Arial"/>
              </a:rPr>
              <a:t>   a|000&gt; -&gt; a|000&gt;       (q0=0, unchanged)</a:t>
            </a:r>
          </a:p>
          <a:p>
            <a:pPr algn="l">
              <a:spcAft>
                <a:spcPts val="300"/>
              </a:spcAft>
            </a:pPr>
            <a:r>
              <a:rPr sz="1550" b="0">
                <a:solidFill>
                  <a:srgbClr val="9CDCFE"/>
                </a:solidFill>
                <a:latin typeface="Arial"/>
              </a:rPr>
              <a:t>   a|011&gt; -&gt; a|011&gt;       (q0=0, unchanged)</a:t>
            </a:r>
          </a:p>
          <a:p>
            <a:pPr algn="l">
              <a:spcAft>
                <a:spcPts val="300"/>
              </a:spcAft>
            </a:pPr>
            <a:r>
              <a:rPr sz="1550" b="0">
                <a:solidFill>
                  <a:srgbClr val="9CDCFE"/>
                </a:solidFill>
                <a:latin typeface="Arial"/>
              </a:rPr>
              <a:t>   b|100&gt; -&gt; b|110&gt;       (q0=1, flip q1)</a:t>
            </a:r>
          </a:p>
          <a:p>
            <a:pPr algn="l">
              <a:spcAft>
                <a:spcPts val="300"/>
              </a:spcAft>
            </a:pPr>
            <a:r>
              <a:rPr sz="1550" b="0">
                <a:solidFill>
                  <a:srgbClr val="9CDCFE"/>
                </a:solidFill>
                <a:latin typeface="Arial"/>
              </a:rPr>
              <a:t>   b|111&gt; -&gt; b|101&gt;       (q0=1, flip q1)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|Ψ₁&gt; = (1/√2)( a|000&gt; + a|011&gt; + b|110&gt; + b|101&gt; )</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begins Alice's Bell-basis measurement — CNOT then H rotates the Bell basis into the computational basis.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3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Alice applies H to q0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H|0&gt; = (|0&gt;+|1&gt;)/√2 ,  H|1&gt; = (|0&gt;-|1&gt;)/√2. Substituting:</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a(|0&gt;+|1&gt;)|00&gt; + a(|0&gt;+|1&gt;)|11&gt;</a:t>
            </a:r>
          </a:p>
          <a:p>
            <a:pPr algn="l">
              <a:spcAft>
                <a:spcPts val="300"/>
              </a:spcAft>
            </a:pPr>
            <a:r>
              <a:rPr sz="1550" b="0">
                <a:solidFill>
                  <a:srgbClr val="9CDCFE"/>
                </a:solidFill>
                <a:latin typeface="Arial"/>
              </a:rPr>
              <a:t>            + b(|0&gt;-|1&gt;)|10&gt; + b(|0&gt;-|1&gt;)|01&gt; ]</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Now expand and regroup by Alice's two qubits (q0 q1) — the next step.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4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Regroup by Alice's measurement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Collecting terms with the same q0q1 prefix:</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  |00&gt;(a|0&gt; + b|1&gt;)</a:t>
            </a:r>
          </a:p>
          <a:p>
            <a:pPr algn="l">
              <a:spcAft>
                <a:spcPts val="300"/>
              </a:spcAft>
            </a:pPr>
            <a:r>
              <a:rPr sz="1550" b="0">
                <a:solidFill>
                  <a:srgbClr val="9CDCFE"/>
                </a:solidFill>
                <a:latin typeface="Arial"/>
              </a:rPr>
              <a:t>              + |01&gt;(a|1&gt; + b|0&gt;)</a:t>
            </a:r>
          </a:p>
          <a:p>
            <a:pPr algn="l">
              <a:spcAft>
                <a:spcPts val="300"/>
              </a:spcAft>
            </a:pPr>
            <a:r>
              <a:rPr sz="1550" b="0">
                <a:solidFill>
                  <a:srgbClr val="9CDCFE"/>
                </a:solidFill>
                <a:latin typeface="Arial"/>
              </a:rPr>
              <a:t>              + |10&gt;(a|0&gt; - b|1&gt;)</a:t>
            </a:r>
          </a:p>
          <a:p>
            <a:pPr algn="l">
              <a:spcAft>
                <a:spcPts val="300"/>
              </a:spcAft>
            </a:pPr>
            <a:r>
              <a:rPr sz="1550" b="0">
                <a:solidFill>
                  <a:srgbClr val="9CDCFE"/>
                </a:solidFill>
                <a:latin typeface="Arial"/>
              </a:rPr>
              <a:t>              + |11&gt;(a|1&gt; - b|0&gt;) ]</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KEY LINE. Bob's qubit is already |ψ&gt; up to a known correction, in every branch.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5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Alice measures; Bob's state collapses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Each outcome has probability |1/2|² = 1/4 — independent of a and b.</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00  -&gt;  Bob has  a|0&gt; + b|1&gt;   =  |ψ&gt;</a:t>
            </a:r>
          </a:p>
          <a:p>
            <a:pPr algn="l">
              <a:spcAft>
                <a:spcPts val="300"/>
              </a:spcAft>
            </a:pPr>
            <a:r>
              <a:rPr sz="1550" b="0">
                <a:solidFill>
                  <a:srgbClr val="9CDCFE"/>
                </a:solidFill>
                <a:latin typeface="Arial"/>
              </a:rPr>
              <a:t>   01  -&gt;  Bob has  a|1&gt; + b|0&gt;   =  X|ψ&gt;</a:t>
            </a:r>
          </a:p>
          <a:p>
            <a:pPr algn="l">
              <a:spcAft>
                <a:spcPts val="300"/>
              </a:spcAft>
            </a:pPr>
            <a:r>
              <a:rPr sz="1550" b="0">
                <a:solidFill>
                  <a:srgbClr val="9CDCFE"/>
                </a:solidFill>
                <a:latin typeface="Arial"/>
              </a:rPr>
              <a:t>   10  -&gt;  Bob has  a|0&gt; - b|1&gt;   =  Z|ψ&gt;</a:t>
            </a:r>
          </a:p>
          <a:p>
            <a:pPr algn="l">
              <a:spcAft>
                <a:spcPts val="300"/>
              </a:spcAft>
            </a:pPr>
            <a:r>
              <a:rPr sz="1550" b="0">
                <a:solidFill>
                  <a:srgbClr val="9CDCFE"/>
                </a:solidFill>
                <a:latin typeface="Arial"/>
              </a:rPr>
              <a:t>   11  -&gt;  Bob has  a|1&gt; - b|0&gt;   =  XZ|ψ&gt; (up to phase)</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Because every outcome is equally likely REGARDLESS of a and b, Alice's measurement reveals nothing about the state — this is why no information leaks.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6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Bob applies the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sends the two classical bits (b₀b₁). Bob applies: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00  -&gt;  I    (do nothing)         -&gt;  |ψ&gt;</a:t>
            </a:r>
          </a:p>
          <a:p>
            <a:pPr algn="l">
              <a:spcAft>
                <a:spcPts val="300"/>
              </a:spcAft>
            </a:pPr>
            <a:r>
              <a:rPr sz="1550" b="0">
                <a:solidFill>
                  <a:srgbClr val="9CDCFE"/>
                </a:solidFill>
                <a:latin typeface="Arial"/>
              </a:rPr>
              <a:t>   01  -&gt;  X                          -&gt;  X·X|ψ&gt;  = |ψ&gt;</a:t>
            </a:r>
          </a:p>
          <a:p>
            <a:pPr algn="l">
              <a:spcAft>
                <a:spcPts val="300"/>
              </a:spcAft>
            </a:pPr>
            <a:r>
              <a:rPr sz="1550" b="0">
                <a:solidFill>
                  <a:srgbClr val="9CDCFE"/>
                </a:solidFill>
                <a:latin typeface="Arial"/>
              </a:rPr>
              <a:t>   10  -&gt;  Z                          -&gt;  Z·Z|ψ&gt;  = |ψ&gt;</a:t>
            </a:r>
          </a:p>
          <a:p>
            <a:pPr algn="l">
              <a:spcAft>
                <a:spcPts val="300"/>
              </a:spcAft>
            </a:pPr>
            <a:r>
              <a:rPr sz="1550" b="0">
                <a:solidFill>
                  <a:srgbClr val="9CDCFE"/>
                </a:solidFill>
                <a:latin typeface="Arial"/>
              </a:rPr>
              <a:t>   11  -&gt;  ZX                         -&gt;            |ψ&gt;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using X² = Z² = I.</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In every branch Bob ends holding exactly a|0&gt; + b|1&gt;.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TELEPORTATION  ·  STEP 7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Consistency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NO CLONING</a:t>
            </a:r>
          </a:p>
          <a:p>
            <a:pPr algn="l">
              <a:spcAft>
                <a:spcPts val="300"/>
              </a:spcAft>
            </a:pPr>
            <a:r>
              <a:rPr sz="1350" b="0">
                <a:solidFill>
                  <a:srgbClr val="9CDCFE"/>
                </a:solidFill>
                <a:latin typeface="Arial"/>
              </a:rPr>
              <a:t>   Alice's q0 was measured, so her copy is destroyed.</a:t>
            </a:r>
          </a:p>
          <a:p>
            <a:pPr algn="l">
              <a:spcAft>
                <a:spcPts val="300"/>
              </a:spcAft>
            </a:pPr>
            <a:r>
              <a:rPr sz="1350" b="0">
                <a:solidFill>
                  <a:srgbClr val="9CDCFE"/>
                </a:solidFill>
                <a:latin typeface="Arial"/>
              </a:rPr>
              <a:t>   Only ONE |ψ&gt; exists at the end — no cloning occurred.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NO FASTER-THAN-LIGHT SIGNALLING</a:t>
            </a:r>
          </a:p>
          <a:p>
            <a:pPr algn="l">
              <a:spcAft>
                <a:spcPts val="300"/>
              </a:spcAft>
            </a:pPr>
            <a:r>
              <a:rPr sz="1350" b="0">
                <a:solidFill>
                  <a:srgbClr val="9CDCFE"/>
                </a:solidFill>
                <a:latin typeface="Arial"/>
              </a:rPr>
              <a:t>   Before the classical bits arrive, Bob's qubit is the maximally</a:t>
            </a:r>
          </a:p>
          <a:p>
            <a:pPr algn="l">
              <a:spcAft>
                <a:spcPts val="300"/>
              </a:spcAft>
            </a:pPr>
            <a:r>
              <a:rPr sz="1350" b="0">
                <a:solidFill>
                  <a:srgbClr val="9CDCFE"/>
                </a:solidFill>
                <a:latin typeface="Arial"/>
              </a:rPr>
              <a:t>   mixed state ρ = I/2 — it carries no information at all.</a:t>
            </a:r>
          </a:p>
          <a:p>
            <a:pPr algn="l">
              <a:spcAft>
                <a:spcPts val="300"/>
              </a:spcAft>
            </a:pPr>
            <a:r>
              <a:rPr sz="1350" b="0">
                <a:solidFill>
                  <a:srgbClr val="9CDCFE"/>
                </a:solidFill>
                <a:latin typeface="Arial"/>
              </a:rPr>
              <a:t>   The two classical bits travel at or below light speed.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NO STATE KNOWLEDGE</a:t>
            </a:r>
          </a:p>
          <a:p>
            <a:pPr algn="l">
              <a:spcAft>
                <a:spcPts val="300"/>
              </a:spcAft>
            </a:pPr>
            <a:r>
              <a:rPr sz="1350" b="0">
                <a:solidFill>
                  <a:srgbClr val="9CDCFE"/>
                </a:solidFill>
                <a:latin typeface="Arial"/>
              </a:rPr>
              <a:t>   Neither party ever learns the amplitudes a or b.</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Teleportation respects both quantum and relativistic limits.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Bob's qubit is exactly |ψ&gt; = a|0&gt; + b|1&gt; after applying the correction indicated by Alice's two classical bits. The original was destroyed by the measurement.</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Teleportation is the foundation of quantum networking and the quantum internet, and is used inside fault-tolerant architectures to move logical qubits between code blocks. It shows entanglement + classical communication can substitute for sending a qubit.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No-Cloning Theorem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No unitary operation can copy an arbitrary unknown quantum state.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Suppose a cloning machine U exists with  U(|ψ&gt;|0&gt;) = |ψ&gt;|ψ&gt;  for EVERY state |ψ&gt;.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|0&gt; is a blank slate; |ψ&gt; is the state to copy.</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We derive a contradiction — this is a proof by contradiction.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Assume two arbitrary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Let |ψ&gt; and |φ&gt; be any two states. By assumption: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U(|ψ&gt;|0&gt;)  =  |ψ&gt;|ψ&gt;</a:t>
            </a:r>
          </a:p>
          <a:p>
            <a:pPr algn="l">
              <a:spcAft>
                <a:spcPts val="300"/>
              </a:spcAft>
            </a:pPr>
            <a:r>
              <a:rPr sz="1550" b="0">
                <a:solidFill>
                  <a:srgbClr val="9CDCFE"/>
                </a:solidFill>
                <a:latin typeface="Arial"/>
              </a:rPr>
              <a:t>   U(|φ&gt;|0&gt;)  =  |φ&gt;|φ&gt;</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 restriction yet — this is just the definition of a universal cloner.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Unitary preserves inner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For any unitary U:   &lt;Uα|Uβ&gt; = &lt;α|U†U|β&gt; = &lt;α|I|β&gt; = &lt;α|β&gt;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Apply this to our two inputs:</a:t>
            </a:r>
          </a:p>
          <a:p>
            <a:pPr algn="l">
              <a:spcAft>
                <a:spcPts val="300"/>
              </a:spcAft>
            </a:pPr>
            <a:r>
              <a:rPr sz="1550" b="0">
                <a:solidFill>
                  <a:srgbClr val="9CDCFE"/>
                </a:solidFill>
                <a:latin typeface="Arial"/>
              </a:rPr>
              <a:t>   LHS  =  &lt;ψ|φ&gt; · &lt;0|0&gt;  =  &lt;ψ|φ&gt;</a:t>
            </a:r>
          </a:p>
          <a:p>
            <a:pPr algn="l">
              <a:spcAft>
                <a:spcPts val="300"/>
              </a:spcAft>
            </a:pPr>
            <a:r>
              <a:rPr sz="1550" b="0">
                <a:solidFill>
                  <a:srgbClr val="9CDCFE"/>
                </a:solidFill>
                <a:latin typeface="Arial"/>
              </a:rPr>
              <a:t>   RHS  =  &lt;ψ|φ&gt; · &lt;ψ|φ&gt;  =  &lt;ψ|φ&gt;²</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Unitarity is the only physical assumption used — this is why the theorem is so general.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Solve the resulting equation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Setting LHS = RHS and writing z = &lt;ψ|φ&gt;: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z  =  z²</a:t>
            </a:r>
          </a:p>
          <a:p>
            <a:pPr algn="l">
              <a:spcAft>
                <a:spcPts val="300"/>
              </a:spcAft>
            </a:pPr>
            <a:r>
              <a:rPr sz="1550" b="0">
                <a:solidFill>
                  <a:srgbClr val="9CDCFE"/>
                </a:solidFill>
                <a:latin typeface="Arial"/>
              </a:rPr>
              <a:t>   z² - z  =  0</a:t>
            </a:r>
          </a:p>
          <a:p>
            <a:pPr algn="l">
              <a:spcAft>
                <a:spcPts val="300"/>
              </a:spcAft>
            </a:pPr>
            <a:r>
              <a:rPr sz="1550" b="0">
                <a:solidFill>
                  <a:srgbClr val="9CDCFE"/>
                </a:solidFill>
                <a:latin typeface="Arial"/>
              </a:rPr>
              <a:t>   z(z - 1) =  0</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either  z = 0  or  z = 1.</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Only two possibilities survive.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Interpret the two solutions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z = &lt;ψ|φ&gt; = 1  =&gt;  |ψ&gt; and |φ&gt; are the SAME state.</a:t>
            </a:r>
          </a:p>
          <a:p>
            <a:pPr algn="l">
              <a:spcAft>
                <a:spcPts val="300"/>
              </a:spcAft>
            </a:pPr>
            <a:r>
              <a:rPr sz="1550" b="0">
                <a:solidFill>
                  <a:srgbClr val="9CDCFE"/>
                </a:solidFill>
                <a:latin typeface="Arial"/>
              </a:rPr>
              <a:t>z = &lt;ψ|φ&gt; = 0  =&gt;  |ψ&gt; and |φ&gt; are ORTHOGONAL.</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But we assumed U clones ARBITRARY states — including states that are</a:t>
            </a:r>
          </a:p>
          <a:p>
            <a:pPr algn="l">
              <a:spcAft>
                <a:spcPts val="300"/>
              </a:spcAft>
            </a:pPr>
            <a:r>
              <a:rPr sz="1550" b="0">
                <a:solidFill>
                  <a:srgbClr val="9CDCFE"/>
                </a:solidFill>
                <a:latin typeface="Arial"/>
              </a:rPr>
              <a:t>neither identical nor orthogonal, e.g. |0&gt; and |+&gt;, where &lt;0|+&gt;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1/√2 is neither 0 nor 1  -&gt;  CONTRADICTION.</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assumption fails for any pair of non-orthogonal, non-identical states.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NO-CLONING THEOREM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No unitary can clone an arbitrary unknown state.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What IS possible:</a:t>
            </a:r>
          </a:p>
          <a:p>
            <a:pPr algn="l">
              <a:spcAft>
                <a:spcPts val="300"/>
              </a:spcAft>
            </a:pPr>
            <a:r>
              <a:rPr sz="1550" b="0">
                <a:solidFill>
                  <a:srgbClr val="9CDCFE"/>
                </a:solidFill>
                <a:latin typeface="Arial"/>
              </a:rPr>
              <a:t>  • copying states known to be from an ORTHOGONAL set (classical copying)</a:t>
            </a:r>
          </a:p>
          <a:p>
            <a:pPr algn="l">
              <a:spcAft>
                <a:spcPts val="300"/>
              </a:spcAft>
            </a:pPr>
            <a:r>
              <a:rPr sz="1550" b="0">
                <a:solidFill>
                  <a:srgbClr val="9CDCFE"/>
                </a:solidFill>
                <a:latin typeface="Arial"/>
              </a:rPr>
              <a:t>  • MOVING a state (teleportation — the original is destroyed)</a:t>
            </a:r>
          </a:p>
          <a:p>
            <a:pPr algn="l">
              <a:spcAft>
                <a:spcPts val="300"/>
              </a:spcAft>
            </a:pPr>
            <a:r>
              <a:rPr sz="1550" b="0">
                <a:solidFill>
                  <a:srgbClr val="9CDCFE"/>
                </a:solidFill>
                <a:latin typeface="Arial"/>
              </a:rPr>
              <a:t>  • approximate cloning with bounded fidelity (max ~5/6 for a universal cloner)</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Note the theorem forbids perfect copying of UNKNOWN states — classical bits, which are always in an orthogonal set, remain copyable.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No-Cloning Theorem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Perfect cloning of an arbitrary unknown quantum state is impossible — it would violate the linearity/unitarity of quantum mechanics.</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No-cloning is the security foundation of QKD: an eavesdropper cannot copy the qubits in transit and must instead measure them, which disturbs the state and reveals her presence. It is also why quantum error correction cannot work by simple redundancy.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BB84 Security and Eavesdropper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An intercept-resend eavesdropper introduces a 25% error rate in the sifted key and is therefore detected with near-certainty.</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Two conjugate bases:  Z = {|0&gt;, |1&gt;}  and  X = {|+&gt;, |-&gt;}.</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Encoding:  bit 0 -&gt; |0&gt; or |+&gt; ;  bit 1 -&gt; |1&gt; or |-&gt;  (basis chosen at random).</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The bases are UNBIASED: |&lt;0|+&gt;|² = |&lt;0|-&gt;|² = |&lt;1|+&gt;|² = |&lt;1|-&gt;|² = 1/2.</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Alice and Bob each choose their basis independently and uniformly at random.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Sifting (no eavesdropper)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Alice sends n qubits. Bob measures each in a random basis.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P(bases match) = 1/2, so about n/2 qubits survive sifting.</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When the bases MATCH, Bob's measurement is deterministic:</a:t>
            </a:r>
          </a:p>
          <a:p>
            <a:pPr algn="l">
              <a:spcAft>
                <a:spcPts val="300"/>
              </a:spcAft>
            </a:pPr>
            <a:r>
              <a:rPr sz="1550" b="0">
                <a:solidFill>
                  <a:srgbClr val="9CDCFE"/>
                </a:solidFill>
                <a:latin typeface="Arial"/>
              </a:rPr>
              <a:t>   Alice sends |0&gt; in Z, Bob measures Z  -&gt;  gets 0 with probability 1</a:t>
            </a:r>
          </a:p>
          <a:p>
            <a:pPr algn="l">
              <a:spcAft>
                <a:spcPts val="300"/>
              </a:spcAft>
            </a:pPr>
            <a:r>
              <a:rPr sz="1550" b="0">
                <a:solidFill>
                  <a:srgbClr val="9CDCFE"/>
                </a:solidFill>
                <a:latin typeface="Arial"/>
              </a:rPr>
              <a:t>So the sifted key agrees perfectly (up to channel noise).</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bits where the bases differed are publicly discarded — they carry no key.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Eve intercepts and resends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Eve does not know Alice's basis, so she guesses:</a:t>
            </a:r>
          </a:p>
          <a:p>
            <a:pPr algn="l">
              <a:spcAft>
                <a:spcPts val="300"/>
              </a:spcAft>
            </a:pPr>
            <a:r>
              <a:rPr sz="1550" b="0">
                <a:solidFill>
                  <a:srgbClr val="9CDCFE"/>
                </a:solidFill>
                <a:latin typeface="Arial"/>
              </a:rPr>
              <a:t>   P(Eve picks the right basis)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1 — Eve guesses RIGHT (prob 1/2):</a:t>
            </a:r>
          </a:p>
          <a:p>
            <a:pPr algn="l">
              <a:spcAft>
                <a:spcPts val="300"/>
              </a:spcAft>
            </a:pPr>
            <a:r>
              <a:rPr sz="1550" b="0">
                <a:solidFill>
                  <a:srgbClr val="9CDCFE"/>
                </a:solidFill>
                <a:latin typeface="Arial"/>
              </a:rPr>
              <a:t>   She measures correctly, resends the same state.</a:t>
            </a:r>
          </a:p>
          <a:p>
            <a:pPr algn="l">
              <a:spcAft>
                <a:spcPts val="300"/>
              </a:spcAft>
            </a:pPr>
            <a:r>
              <a:rPr sz="1550" b="0">
                <a:solidFill>
                  <a:srgbClr val="9CDCFE"/>
                </a:solidFill>
                <a:latin typeface="Arial"/>
              </a:rPr>
              <a:t>   Bob (same basis as Alice) gets the right bit. NO error introduced.</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Half the time Eve is invisible on that qubit.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Eve guesses the WRONG basis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CASE 2 — Eve guesses WRONG (prob 1/2):</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Say Alice sent |0&gt; (Z basis) but Eve measures in X.</a:t>
            </a:r>
          </a:p>
          <a:p>
            <a:pPr algn="l">
              <a:spcAft>
                <a:spcPts val="300"/>
              </a:spcAft>
            </a:pPr>
            <a:r>
              <a:rPr sz="1350" b="0">
                <a:solidFill>
                  <a:srgbClr val="9CDCFE"/>
                </a:solidFill>
                <a:latin typeface="Arial"/>
              </a:rPr>
              <a:t>   |0&gt; = (|+&gt; + |-&gt;)/√2</a:t>
            </a:r>
          </a:p>
          <a:p>
            <a:pPr algn="l">
              <a:spcAft>
                <a:spcPts val="300"/>
              </a:spcAft>
            </a:pPr>
            <a:r>
              <a:rPr sz="1350" b="0">
                <a:solidFill>
                  <a:srgbClr val="9CDCFE"/>
                </a:solidFill>
                <a:latin typeface="Arial"/>
              </a:rPr>
              <a:t>   Eve gets |+&gt; or |-&gt; with probability 1/2 each — and RESENDS that.</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Bob now measures in Z (matching Alice). Say Eve resent |+&gt;:</a:t>
            </a:r>
          </a:p>
          <a:p>
            <a:pPr algn="l">
              <a:spcAft>
                <a:spcPts val="300"/>
              </a:spcAft>
            </a:pPr>
            <a:r>
              <a:rPr sz="1350" b="0">
                <a:solidFill>
                  <a:srgbClr val="9CDCFE"/>
                </a:solidFill>
                <a:latin typeface="Arial"/>
              </a:rPr>
              <a:t>   |+&gt; = (|0&gt; + |1&gt;)/√2</a:t>
            </a:r>
          </a:p>
          <a:p>
            <a:pPr algn="l">
              <a:spcAft>
                <a:spcPts val="300"/>
              </a:spcAft>
            </a:pPr>
            <a:r>
              <a:rPr sz="1350" b="0">
                <a:solidFill>
                  <a:srgbClr val="9CDCFE"/>
                </a:solidFill>
                <a:latin typeface="Arial"/>
              </a:rPr>
              <a:t>   Bob gets 0 or 1 with probability 1/2 each.</a:t>
            </a:r>
          </a:p>
          <a:p>
            <a:pPr algn="l">
              <a:spcAft>
                <a:spcPts val="300"/>
              </a:spcAft>
            </a:pPr>
            <a:r>
              <a:rPr sz="1350" b="0">
                <a:solidFill>
                  <a:srgbClr val="9CDCFE"/>
                </a:solidFill>
                <a:latin typeface="Arial"/>
              </a:rPr>
              <a:t>   -&gt; Bob's bit is WRONG with probability 1/2.</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Eve's wrong-basis measurement has destroyed the original state. She cannot restore it — that is the no-cloning theorem doing the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Compute the total error 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P(error) = P(Eve wrong basis) × P(Bob then errs)</a:t>
            </a:r>
          </a:p>
          <a:p>
            <a:pPr algn="l">
              <a:spcAft>
                <a:spcPts val="300"/>
              </a:spcAft>
            </a:pPr>
            <a:r>
              <a:rPr sz="1550" b="0">
                <a:solidFill>
                  <a:srgbClr val="9CDCFE"/>
                </a:solidFill>
                <a:latin typeface="Arial"/>
              </a:rPr>
              <a:t>         = 1/2 × 1/2</a:t>
            </a:r>
          </a:p>
          <a:p>
            <a:pPr algn="l">
              <a:spcAft>
                <a:spcPts val="300"/>
              </a:spcAft>
            </a:pPr>
            <a:r>
              <a:rPr sz="1550" b="0">
                <a:solidFill>
                  <a:srgbClr val="9CDCFE"/>
                </a:solidFill>
                <a:latin typeface="Arial"/>
              </a:rPr>
              <a:t>         = 1/4  =  25%</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on the sifted key, roughly 1 bit in 4 disagrees between Alice and Bob.</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25% figure — the Quantum Bit Error Rate (QBER) — is the signature of intercept-resend.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Detection probability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and Bob publicly compare a random sample of m sifted 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P(a given compared bit fails to reveal Eve) = 1 - 1/4 = 3/4</a:t>
            </a:r>
          </a:p>
          <a:p>
            <a:pPr algn="l">
              <a:spcAft>
                <a:spcPts val="300"/>
              </a:spcAft>
            </a:pPr>
            <a:r>
              <a:rPr sz="1550" b="0">
                <a:solidFill>
                  <a:srgbClr val="9CDCFE"/>
                </a:solidFill>
                <a:latin typeface="Arial"/>
              </a:rPr>
              <a:t>P(Eve escapes detection over m bits)        = (3/4)^m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m = 10   -&gt;  5.6% escape chance</a:t>
            </a:r>
          </a:p>
          <a:p>
            <a:pPr algn="l">
              <a:spcAft>
                <a:spcPts val="300"/>
              </a:spcAft>
            </a:pPr>
            <a:r>
              <a:rPr sz="1550" b="0">
                <a:solidFill>
                  <a:srgbClr val="9CDCFE"/>
                </a:solidFill>
                <a:latin typeface="Arial"/>
              </a:rPr>
              <a:t>   m = 50   -&gt;  0.000006%</a:t>
            </a:r>
          </a:p>
          <a:p>
            <a:pPr algn="l">
              <a:spcAft>
                <a:spcPts val="300"/>
              </a:spcAft>
            </a:pPr>
            <a:r>
              <a:rPr sz="1550" b="0">
                <a:solidFill>
                  <a:srgbClr val="9CDCFE"/>
                </a:solidFill>
                <a:latin typeface="Arial"/>
              </a:rPr>
              <a:t>   m = 100  -&gt;  ~3 × 10⁻¹³</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Detection probability rises exponentially with the size of the test sample.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BB84 SECURITY AND EAVESDROPPER DETECTION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Decision rule and post-processing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Alice and Bob measure the QBER on the test sample: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QBER below threshold (~11%)  -&gt;  proceed:</a:t>
            </a:r>
          </a:p>
          <a:p>
            <a:pPr algn="l">
              <a:spcAft>
                <a:spcPts val="300"/>
              </a:spcAft>
            </a:pPr>
            <a:r>
              <a:rPr sz="1550" b="0">
                <a:solidFill>
                  <a:srgbClr val="9CDCFE"/>
                </a:solidFill>
                <a:latin typeface="Arial"/>
              </a:rPr>
              <a:t>        • error correction (reconcile the remaining differences)</a:t>
            </a:r>
          </a:p>
          <a:p>
            <a:pPr algn="l">
              <a:spcAft>
                <a:spcPts val="300"/>
              </a:spcAft>
            </a:pPr>
            <a:r>
              <a:rPr sz="1550" b="0">
                <a:solidFill>
                  <a:srgbClr val="9CDCFE"/>
                </a:solidFill>
                <a:latin typeface="Arial"/>
              </a:rPr>
              <a:t>        • privacy amplification (hash down to a shorter, secure key)</a:t>
            </a:r>
          </a:p>
          <a:p>
            <a:pPr algn="l">
              <a:spcAft>
                <a:spcPts val="300"/>
              </a:spcAft>
            </a:pPr>
            <a:r>
              <a:rPr sz="1550" b="0">
                <a:solidFill>
                  <a:srgbClr val="9CDCFE"/>
                </a:solidFill>
                <a:latin typeface="Arial"/>
              </a:rPr>
              <a:t>   QBER above threshold          -&gt;  ABORT and discard the key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discarded test bits are never reused as key material.</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Real systems tolerate a few percent QBER from hardware noise; the threshold separates tolerable noise from an active attack.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BB84 Security and Eavesdropper Detection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Intercept-resend produces a 25% QBER. Comparing 100 random sifted bits detects Eve with probability 1 - (3/4)¹⁰⁰ ≈ 1 - 3×10⁻¹³.</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BB84's security rests on PHYSICS (no-cloning + measurement disturbance), not on a computational hardness assumption. A quantum computer does not weaken it — unlike RSA and ECC, which Shor's algorithm breaks outright.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CHSH Inequality and Bell Violation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Local hidden-variable theories obey |S| ≤ 2, but quantum mechanics reaches 2√2 ≈ 2.828.</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measures A₀ or A₁; Bob measures B₀ or B₁. Each outcome is ±1.</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CHSH quantity:  S = &lt;A₀B₀&gt; + &lt;A₀B₁&gt; + &lt;A₁B₀&gt; - &lt;A₁B₁&gt;.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LOCAL REALISM assumes each measurement has a definite pre-existing value.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The classical bound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Under local realism every a₀,a₁,b₀,b₁ ∈ {+1,-1} exists simultaneously.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 = a₀b₀ + a₀b₁ + a₁b₀ - a₁b₁</a:t>
            </a:r>
          </a:p>
          <a:p>
            <a:pPr algn="l">
              <a:spcAft>
                <a:spcPts val="300"/>
              </a:spcAft>
            </a:pPr>
            <a:r>
              <a:rPr sz="1550" b="0">
                <a:solidFill>
                  <a:srgbClr val="9CDCFE"/>
                </a:solidFill>
                <a:latin typeface="Arial"/>
              </a:rPr>
              <a:t>     = a₀(b₀ + b₁) + a₁(b₀ - b₁)</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Since b₀,b₁ = ±1, one of (b₀+b₁), (b₀-b₁) is 0 and the other is ±2.</a:t>
            </a:r>
          </a:p>
          <a:p>
            <a:pPr algn="l">
              <a:spcAft>
                <a:spcPts val="300"/>
              </a:spcAft>
            </a:pPr>
            <a:r>
              <a:rPr sz="1550" b="0">
                <a:solidFill>
                  <a:srgbClr val="9CDCFE"/>
                </a:solidFill>
                <a:latin typeface="Arial"/>
              </a:rPr>
              <a:t>So S = ±2 in every case, hence  |S| ≤ 2.</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CHSH inequality. It assumes ONLY locality and realism — no physics beyond that.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The quantum prediction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Take the singlet  |Ψ-&gt; = (|01&gt; - |10&gt;)/√2.</a:t>
            </a:r>
          </a:p>
          <a:p>
            <a:pPr algn="l">
              <a:spcAft>
                <a:spcPts val="300"/>
              </a:spcAft>
            </a:pPr>
            <a:r>
              <a:rPr sz="1550" b="0">
                <a:solidFill>
                  <a:srgbClr val="9CDCFE"/>
                </a:solidFill>
                <a:latin typeface="Arial"/>
              </a:rPr>
              <a:t>For measurement directions a and b, quantum mechanics predicts: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&lt;A(a)B(b)&gt;  =  -cos(θ_ab)</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where θ_ab is the angle between the two measurement axes.</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correlation is derived from the Born rule alone.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Choose the optimal angles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Pick A₀ = 0°, A₁ = 45°, B₀ = 22.5°, B₁ = 67.5°. Then: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&lt;A₀B₀&gt; = -cos(22.5°) = -0.9239</a:t>
            </a:r>
          </a:p>
          <a:p>
            <a:pPr algn="l">
              <a:spcAft>
                <a:spcPts val="300"/>
              </a:spcAft>
            </a:pPr>
            <a:r>
              <a:rPr sz="1550" b="0">
                <a:solidFill>
                  <a:srgbClr val="9CDCFE"/>
                </a:solidFill>
                <a:latin typeface="Arial"/>
              </a:rPr>
              <a:t>   &lt;A₀B₁&gt; = -cos(67.5°) = -0.3827</a:t>
            </a:r>
          </a:p>
          <a:p>
            <a:pPr algn="l">
              <a:spcAft>
                <a:spcPts val="300"/>
              </a:spcAft>
            </a:pPr>
            <a:r>
              <a:rPr sz="1550" b="0">
                <a:solidFill>
                  <a:srgbClr val="9CDCFE"/>
                </a:solidFill>
                <a:latin typeface="Arial"/>
              </a:rPr>
              <a:t>   &lt;A₁B₀&gt; = -cos(22.5°) = -0.9239</a:t>
            </a:r>
          </a:p>
          <a:p>
            <a:pPr algn="l">
              <a:spcAft>
                <a:spcPts val="300"/>
              </a:spcAft>
            </a:pPr>
            <a:r>
              <a:rPr sz="1550" b="0">
                <a:solidFill>
                  <a:srgbClr val="9CDCFE"/>
                </a:solidFill>
                <a:latin typeface="Arial"/>
              </a:rPr>
              <a:t>   &lt;A₁B₁&gt; = -cos(22.5°) = -0.9239   (angle 22.5° the other way)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 = |−0.9239 − 0.3827 − 0.9239 + 0.9239| … = 2√2 ≈ 2.828</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2√2 is the Tsirelson bound — the maximum quantum mechanics allows.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CHSH INEQUALITY AND BELL VIOLATION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What the violation means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   Classical (local realism):  |S| ≤ 2</a:t>
            </a:r>
          </a:p>
          <a:p>
            <a:pPr algn="l">
              <a:spcAft>
                <a:spcPts val="300"/>
              </a:spcAft>
            </a:pPr>
            <a:r>
              <a:rPr sz="1550" b="0">
                <a:solidFill>
                  <a:srgbClr val="9CDCFE"/>
                </a:solidFill>
                <a:latin typeface="Arial"/>
              </a:rPr>
              <a:t>   Quantum mechanics:          |S| = 2√2 ≈ 2.828</a:t>
            </a:r>
          </a:p>
          <a:p>
            <a:pPr algn="l">
              <a:spcAft>
                <a:spcPts val="300"/>
              </a:spcAft>
            </a:pPr>
            <a:r>
              <a:rPr sz="1550" b="0">
                <a:solidFill>
                  <a:srgbClr val="9CDCFE"/>
                </a:solidFill>
                <a:latin typeface="Arial"/>
              </a:rPr>
              <a:t>   Experiment (Aspect 1982, loophole-free 2015):  ~2.4-2.8</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Nature VIOLATES the classical bound. Therefore no local hidden-variable</a:t>
            </a:r>
          </a:p>
          <a:p>
            <a:pPr algn="l">
              <a:spcAft>
                <a:spcPts val="300"/>
              </a:spcAft>
            </a:pPr>
            <a:r>
              <a:rPr sz="1550" b="0">
                <a:solidFill>
                  <a:srgbClr val="9CDCFE"/>
                </a:solidFill>
                <a:latin typeface="Arial"/>
              </a:rPr>
              <a:t>theory can reproduce quantum mechanics.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2022 Nobel Prize: Aspect, Clauser and Zeilinger.</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Entanglement is not 'hidden classical correlation' — it is a genuinely non-classical resource.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CHSH Inequality and Bell Violation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Local hidden variables force |S| ≤ 2; entangled qubits achieve 2√2. Experiments confirm the quantum value, ruling out local realism.</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The CHSH violation is the basis of DEVICE-INDEPENDENT cryptography: if your devices violate the inequality, entanglement is genuine and a key can be certified secure even with untrusted hardware. It also underpins the E91 QKD protocol.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One qubit of a pre-shared entangled pair carries TWO classical bits.</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and Bob share  |Φ+&gt; = (|00&gt; + |11&gt;)/√2  in advance.</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Alice wants to send a 2-bit message; she may transmit only ONE qubit.</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The four Bell states form an orthonormal basis of the 2-qubit space.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Alice encodes with a local operation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Alice applies one gate to HER qubit only: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message 00 -&gt; I   -&gt;  (|00&gt; + |11&gt;)/√2  =  |Φ+&gt;</a:t>
            </a:r>
          </a:p>
          <a:p>
            <a:pPr algn="l">
              <a:spcAft>
                <a:spcPts val="300"/>
              </a:spcAft>
            </a:pPr>
            <a:r>
              <a:rPr sz="1550" b="0">
                <a:solidFill>
                  <a:srgbClr val="9CDCFE"/>
                </a:solidFill>
                <a:latin typeface="Arial"/>
              </a:rPr>
              <a:t>   message 01 -&gt; X   -&gt;  (|10&gt; + |01&gt;)/√2  =  |Ψ+&gt;</a:t>
            </a:r>
          </a:p>
          <a:p>
            <a:pPr algn="l">
              <a:spcAft>
                <a:spcPts val="300"/>
              </a:spcAft>
            </a:pPr>
            <a:r>
              <a:rPr sz="1550" b="0">
                <a:solidFill>
                  <a:srgbClr val="9CDCFE"/>
                </a:solidFill>
                <a:latin typeface="Arial"/>
              </a:rPr>
              <a:t>   message 10 -&gt; Z   -&gt;  (|00&gt; - |11&gt;)/√2  =  |Φ-&gt;</a:t>
            </a:r>
          </a:p>
          <a:p>
            <a:pPr algn="l">
              <a:spcAft>
                <a:spcPts val="300"/>
              </a:spcAft>
            </a:pPr>
            <a:r>
              <a:rPr sz="1550" b="0">
                <a:solidFill>
                  <a:srgbClr val="9CDCFE"/>
                </a:solidFill>
                <a:latin typeface="Arial"/>
              </a:rPr>
              <a:t>   message 11 -&gt; ZX  -&gt;  (|10&gt; - |01&gt;)/√2  =  |Ψ-&gt;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Alice never touches Bob's qubit — yet the GLOBAL state changes, because the pair is entangled.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The four results are orthogonal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&lt;Φ+|Φ-&gt; = 0,  &lt;Φ+|Ψ+&gt; = 0,  &lt;Φ+|Ψ-&gt; = 0,  and so 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All four Bell states are mutually ORTHOGONAL, so they can be</a:t>
            </a:r>
          </a:p>
          <a:p>
            <a:pPr algn="l">
              <a:spcAft>
                <a:spcPts val="300"/>
              </a:spcAft>
            </a:pPr>
            <a:r>
              <a:rPr sz="1550" b="0">
                <a:solidFill>
                  <a:srgbClr val="9CDCFE"/>
                </a:solidFill>
                <a:latin typeface="Arial"/>
              </a:rPr>
              <a:t>distinguished perfectly by a single measurement in the Bell basis.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Orthogonality is exactly what makes perfect discrimination possible — contrast with BB84, where non-orthogonal states protect the key.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Bob decodes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Alice sends her single qubit to Bob. He now holds both and undoes the</a:t>
            </a:r>
          </a:p>
          <a:p>
            <a:pPr algn="l">
              <a:spcAft>
                <a:spcPts val="300"/>
              </a:spcAft>
            </a:pPr>
            <a:r>
              <a:rPr sz="1550" b="0">
                <a:solidFill>
                  <a:srgbClr val="9CDCFE"/>
                </a:solidFill>
                <a:latin typeface="Arial"/>
              </a:rPr>
              <a:t>entangling circuit: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CNOT (control = Alice's qubit, target = Bob's), then H on Alice's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|Φ+&gt; -&gt; |00&gt;     |Ψ+&gt; -&gt; |01&gt;</a:t>
            </a:r>
          </a:p>
          <a:p>
            <a:pPr algn="l">
              <a:spcAft>
                <a:spcPts val="300"/>
              </a:spcAft>
            </a:pPr>
            <a:r>
              <a:rPr sz="1550" b="0">
                <a:solidFill>
                  <a:srgbClr val="9CDCFE"/>
                </a:solidFill>
                <a:latin typeface="Arial"/>
              </a:rPr>
              <a:t>   |Φ-&gt; -&gt; |10&gt;     |Ψ-&gt; -&gt; |11&gt;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Bob measures both qubits and reads the 2-bit message.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Bell measurement maps the four Bell states back to the computational basis.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SUPERDENSE CODING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Accounting and limits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Total qubits transmitted: 1.   Classical bits delivered: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This does NOT violate Holevo's bound: the entangled pair had to be</a:t>
            </a:r>
          </a:p>
          <a:p>
            <a:pPr algn="l">
              <a:spcAft>
                <a:spcPts val="300"/>
              </a:spcAft>
            </a:pPr>
            <a:r>
              <a:rPr sz="1550" b="0">
                <a:solidFill>
                  <a:srgbClr val="9CDCFE"/>
                </a:solidFill>
                <a:latin typeface="Arial"/>
              </a:rPr>
              <a:t>distributed in advance, which itself required sending a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Superdense coding is the DUAL of teleportation:</a:t>
            </a:r>
          </a:p>
          <a:p>
            <a:pPr algn="l">
              <a:spcAft>
                <a:spcPts val="300"/>
              </a:spcAft>
            </a:pPr>
            <a:r>
              <a:rPr sz="1550" b="0">
                <a:solidFill>
                  <a:srgbClr val="9CDCFE"/>
                </a:solidFill>
                <a:latin typeface="Arial"/>
              </a:rPr>
              <a:t>   teleportation:      2 classical bits + 1 ebit  -&gt;  1 qubit</a:t>
            </a:r>
          </a:p>
          <a:p>
            <a:pPr algn="l">
              <a:spcAft>
                <a:spcPts val="300"/>
              </a:spcAft>
            </a:pPr>
            <a:r>
              <a:rPr sz="1550" b="0">
                <a:solidFill>
                  <a:srgbClr val="9CDCFE"/>
                </a:solidFill>
                <a:latin typeface="Arial"/>
              </a:rPr>
              <a:t>   superdense coding:  1 qubit + 1 ebit           -&gt;  2 classical bits</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Entanglement is a RESOURCE that can be traded against communication.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Alice transmits two classical bits by sending a single qubit, using a pre-shared entangled pair and a local Pauli operation.</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Superdense coding proved entanglement has quantitative communication value, launching quantum information theory as a discipline and motivating entanglement-distribution networks.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270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7050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13304" cy="548640"/>
          </a:xfrm>
          <a:prstGeom prst="rect">
            <a:avLst/>
          </a:prstGeom>
          <a:noFill/>
        </p:spPr>
        <p:txBody>
          <a:bodyPr wrap="square" anchor="t">
            <a:spAutoFit/>
          </a:bodyPr>
          <a:lstStyle/>
          <a:p>
            <a:pPr algn="l">
              <a:spcAft>
                <a:spcPts val="400"/>
              </a:spcAft>
            </a:pPr>
            <a:r>
              <a:rPr sz="1900" b="1">
                <a:solidFill>
                  <a:srgbClr val="1F6FEB"/>
                </a:solidFill>
                <a:latin typeface="Arial"/>
              </a:rPr>
              <a:t>Activity 6</a:t>
            </a:r>
          </a:p>
        </p:txBody>
      </p:sp>
      <p:sp>
        <p:nvSpPr>
          <p:cNvPr id="10" name="TextBox 9"/>
          <p:cNvSpPr txBox="1"/>
          <p:nvPr/>
        </p:nvSpPr>
        <p:spPr>
          <a:xfrm>
            <a:off x="1005840" y="2697480"/>
            <a:ext cx="2813304" cy="3108960"/>
          </a:xfrm>
          <a:prstGeom prst="rect">
            <a:avLst/>
          </a:prstGeom>
          <a:noFill/>
        </p:spPr>
        <p:txBody>
          <a:bodyPr wrap="square">
            <a:spAutoFit/>
          </a:bodyPr>
          <a:lstStyle/>
          <a:p>
            <a:pPr>
              <a:spcAft>
                <a:spcPts val="900"/>
              </a:spcAft>
            </a:pPr>
            <a:r>
              <a:rPr sz="1400">
                <a:solidFill>
                  <a:srgbClr val="161B26"/>
                </a:solidFill>
                <a:latin typeface="Arial"/>
              </a:rPr>
              <a:t>•  Quantum Teleportation</a:t>
            </a:r>
          </a:p>
        </p:txBody>
      </p:sp>
      <p:sp>
        <p:nvSpPr>
          <p:cNvPr id="11" name="Rectangle 10"/>
          <p:cNvSpPr/>
          <p:nvPr/>
        </p:nvSpPr>
        <p:spPr>
          <a:xfrm>
            <a:off x="4459224" y="1783080"/>
            <a:ext cx="3270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59224" y="1783080"/>
            <a:ext cx="327050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7824" y="2011680"/>
            <a:ext cx="2813304" cy="548640"/>
          </a:xfrm>
          <a:prstGeom prst="rect">
            <a:avLst/>
          </a:prstGeom>
          <a:noFill/>
        </p:spPr>
        <p:txBody>
          <a:bodyPr wrap="square" anchor="t">
            <a:spAutoFit/>
          </a:bodyPr>
          <a:lstStyle/>
          <a:p>
            <a:pPr algn="l">
              <a:spcAft>
                <a:spcPts val="400"/>
              </a:spcAft>
            </a:pPr>
            <a:r>
              <a:rPr sz="1900" b="1">
                <a:solidFill>
                  <a:srgbClr val="10B981"/>
                </a:solidFill>
                <a:latin typeface="Arial"/>
              </a:rPr>
              <a:t>Activity 7</a:t>
            </a:r>
          </a:p>
        </p:txBody>
      </p:sp>
      <p:sp>
        <p:nvSpPr>
          <p:cNvPr id="14" name="TextBox 13"/>
          <p:cNvSpPr txBox="1"/>
          <p:nvPr/>
        </p:nvSpPr>
        <p:spPr>
          <a:xfrm>
            <a:off x="4687824" y="2697480"/>
            <a:ext cx="2813304" cy="3108960"/>
          </a:xfrm>
          <a:prstGeom prst="rect">
            <a:avLst/>
          </a:prstGeom>
          <a:noFill/>
        </p:spPr>
        <p:txBody>
          <a:bodyPr wrap="square">
            <a:spAutoFit/>
          </a:bodyPr>
          <a:lstStyle/>
          <a:p>
            <a:pPr>
              <a:spcAft>
                <a:spcPts val="900"/>
              </a:spcAft>
            </a:pPr>
            <a:r>
              <a:rPr sz="1400">
                <a:solidFill>
                  <a:srgbClr val="161B26"/>
                </a:solidFill>
                <a:latin typeface="Arial"/>
              </a:rPr>
              <a:t>•  Superdense Coding Protocol</a:t>
            </a:r>
          </a:p>
        </p:txBody>
      </p:sp>
      <p:sp>
        <p:nvSpPr>
          <p:cNvPr id="15" name="Rectangle 14"/>
          <p:cNvSpPr/>
          <p:nvPr/>
        </p:nvSpPr>
        <p:spPr>
          <a:xfrm>
            <a:off x="8141208" y="1783080"/>
            <a:ext cx="3270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41208" y="1783080"/>
            <a:ext cx="327050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9808" y="2011680"/>
            <a:ext cx="2813304" cy="548640"/>
          </a:xfrm>
          <a:prstGeom prst="rect">
            <a:avLst/>
          </a:prstGeom>
          <a:noFill/>
        </p:spPr>
        <p:txBody>
          <a:bodyPr wrap="square" anchor="t">
            <a:spAutoFit/>
          </a:bodyPr>
          <a:lstStyle/>
          <a:p>
            <a:pPr algn="l">
              <a:spcAft>
                <a:spcPts val="400"/>
              </a:spcAft>
            </a:pPr>
            <a:r>
              <a:rPr sz="1900" b="1">
                <a:solidFill>
                  <a:srgbClr val="7C3AED"/>
                </a:solidFill>
                <a:latin typeface="Arial"/>
              </a:rPr>
              <a:t>Activity 8</a:t>
            </a:r>
          </a:p>
        </p:txBody>
      </p:sp>
      <p:sp>
        <p:nvSpPr>
          <p:cNvPr id="18" name="TextBox 17"/>
          <p:cNvSpPr txBox="1"/>
          <p:nvPr/>
        </p:nvSpPr>
        <p:spPr>
          <a:xfrm>
            <a:off x="8369808" y="2697480"/>
            <a:ext cx="2813304" cy="3108960"/>
          </a:xfrm>
          <a:prstGeom prst="rect">
            <a:avLst/>
          </a:prstGeom>
          <a:noFill/>
        </p:spPr>
        <p:txBody>
          <a:bodyPr wrap="square">
            <a:spAutoFit/>
          </a:bodyPr>
          <a:lstStyle/>
          <a:p>
            <a:pPr>
              <a:spcAft>
                <a:spcPts val="900"/>
              </a:spcAft>
            </a:pPr>
            <a:r>
              <a:rPr sz="1400">
                <a:solidFill>
                  <a:srgbClr val="161B26"/>
                </a:solidFill>
                <a:latin typeface="Arial"/>
              </a:rPr>
              <a:t>•  BB84 Quantum Key Distribution with Eavesdropping Detection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three-qubit teleportation protocol: entangle a shared pair, perform a Bell measurement on the unknown state, and apply the conditional corrections that recreate the original state on Bob's qubit.</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teleportation circuit run on IBM Quantum hardware that reconstructs an arbitrary input state at the receiving qubit.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6: Quantum Teleportation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measurement statistics on Bob's qubit q2 match the amplitudes of the state originally prepared on q0, within hardware noise, and the original state no longer exists on q0.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dual of teleportation: transmit two classical bits by sending only a single qubit of a pre-shared entangled pair, encoding the message with the I, X, Z and XZ operations.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Direct two-level quantum models for quantum computing</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superdense coding circuit that correctly transmits all four two-bit messages 00, 01, 10 and 11.</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7: Superdense Coding Protocol</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Each of the four encodings decodes to its intended message — identity gives 00, X gives 01, Z gives 10 and ZX gives 11 — demonstrating two classical bits carried by one transmitted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BB84 protocol end to end: random bit and basis selection, quantum transmission, basis sifting and key extraction — then repeat it with an eavesdropper present and measure the error rate that exposes the attack.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working BB84 implementation producing a shared secret key, plus a comparison run showing the ~25% error rate introduced by an intercept-resend eavesdropper.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8: BB84 Quantum Key Distribution with Eavesdropping Detection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Without an eavesdropper the sifted key error rate is near zero (bounded only by hardware noise); with the intercept-resend eavesdropper the error rate rises to roughly 25%, which is the signal to abort and discard the key.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No-cloning theorem</a:t>
            </a:r>
          </a:p>
          <a:p>
            <a:pPr>
              <a:spcAft>
                <a:spcPts val="1000"/>
              </a:spcAft>
            </a:pPr>
            <a:r>
              <a:rPr sz="1600">
                <a:solidFill>
                  <a:srgbClr val="161B26"/>
                </a:solidFill>
                <a:latin typeface="Arial"/>
              </a:rPr>
              <a:t>•  Quantum teleportation</a:t>
            </a:r>
          </a:p>
          <a:p>
            <a:pPr>
              <a:spcAft>
                <a:spcPts val="1000"/>
              </a:spcAft>
            </a:pPr>
            <a:r>
              <a:rPr sz="1600">
                <a:solidFill>
                  <a:srgbClr val="161B26"/>
                </a:solidFill>
                <a:latin typeface="Arial"/>
              </a:rPr>
              <a:t>•  Superdense coding</a:t>
            </a:r>
          </a:p>
          <a:p>
            <a:pPr>
              <a:spcAft>
                <a:spcPts val="1000"/>
              </a:spcAft>
            </a:pPr>
            <a:r>
              <a:rPr sz="1600">
                <a:solidFill>
                  <a:srgbClr val="161B26"/>
                </a:solidFill>
                <a:latin typeface="Arial"/>
              </a:rPr>
              <a:t>•  BB84 QKD</a:t>
            </a:r>
          </a:p>
          <a:p>
            <a:pPr>
              <a:spcAft>
                <a:spcPts val="1000"/>
              </a:spcAft>
            </a:pPr>
            <a:r>
              <a:rPr sz="1600">
                <a:solidFill>
                  <a:srgbClr val="161B26"/>
                </a:solidFill>
                <a:latin typeface="Arial"/>
              </a:rPr>
              <a:t>•  Eavesdropping detection</a:t>
            </a:r>
          </a:p>
          <a:p>
            <a:pPr>
              <a:spcAft>
                <a:spcPts val="1000"/>
              </a:spcAft>
            </a:pPr>
            <a:r>
              <a:rPr sz="1600">
                <a:solidFill>
                  <a:srgbClr val="161B26"/>
                </a:solidFill>
                <a:latin typeface="Arial"/>
              </a:rPr>
              <a:t>•  CHSH game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Algorithms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Deutsch · Deutsch-Jozsa · Bernstein-Vazirani · Grover · Quantum Fourier Transform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LO6,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query (oracle) model</a:t>
            </a:r>
          </a:p>
          <a:p>
            <a:pPr algn="l">
              <a:spcAft>
                <a:spcPts val="300"/>
              </a:spcAft>
            </a:pPr>
            <a:r>
              <a:rPr sz="1100" b="0">
                <a:solidFill>
                  <a:srgbClr val="5B6372"/>
                </a:solidFill>
                <a:latin typeface="Arial"/>
              </a:rPr>
              <a:t>Algorithms are compared by how many times they query a black-box function — the standard measure of quantum advantage.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 algorithm</a:t>
            </a:r>
          </a:p>
          <a:p>
            <a:pPr algn="l">
              <a:spcAft>
                <a:spcPts val="300"/>
              </a:spcAft>
            </a:pPr>
            <a:r>
              <a:rPr sz="1100" b="0">
                <a:solidFill>
                  <a:srgbClr val="5B6372"/>
                </a:solidFill>
                <a:latin typeface="Arial"/>
              </a:rPr>
              <a:t>Decides whether f:{0,1}→{0,1} is constant or balanced with ONE query; classically two are required.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Deutsch-Jozsa</a:t>
            </a:r>
          </a:p>
          <a:p>
            <a:pPr algn="l">
              <a:spcAft>
                <a:spcPts val="300"/>
              </a:spcAft>
            </a:pPr>
            <a:r>
              <a:rPr sz="1100" b="0">
                <a:solidFill>
                  <a:srgbClr val="5B6372"/>
                </a:solidFill>
                <a:latin typeface="Arial"/>
              </a:rPr>
              <a:t>Extends the idea to n bits — one query versus 2ⁿ⁻¹+1 classical queries in the worst case: exponential separation.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Bernstein-Vazirani</a:t>
            </a:r>
          </a:p>
          <a:p>
            <a:pPr algn="l">
              <a:spcAft>
                <a:spcPts val="300"/>
              </a:spcAft>
            </a:pPr>
            <a:r>
              <a:rPr sz="1100" b="0">
                <a:solidFill>
                  <a:srgbClr val="5B6372"/>
                </a:solidFill>
                <a:latin typeface="Arial"/>
              </a:rPr>
              <a:t>Recovers an n-bit hidden string s from f(x) = s·x (mod 2) in a single query instead of 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Grover search</a:t>
            </a:r>
          </a:p>
          <a:p>
            <a:pPr algn="l">
              <a:spcAft>
                <a:spcPts val="300"/>
              </a:spcAft>
            </a:pPr>
            <a:r>
              <a:rPr sz="1100" b="0">
                <a:solidFill>
                  <a:srgbClr val="5B6372"/>
                </a:solidFill>
                <a:latin typeface="Arial"/>
              </a:rPr>
              <a:t>Amplitude amplification finds a marked item in an unstructured database in O(√N) instead of O(N) — a quadratic speedup.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Fourier Transform</a:t>
            </a:r>
          </a:p>
          <a:p>
            <a:pPr algn="l">
              <a:spcAft>
                <a:spcPts val="300"/>
              </a:spcAft>
            </a:pPr>
            <a:r>
              <a:rPr sz="1100" b="0">
                <a:solidFill>
                  <a:srgbClr val="5B6372"/>
                </a:solidFill>
                <a:latin typeface="Arial"/>
              </a:rPr>
              <a:t>The quantum analogue of the DFT runs in O(n²) gates and underpins phase estimation and Shor's algorithm.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THESE ALGORITHMS MATTER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Query Advantage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gorithm-speedups.png"/>
          <p:cNvPicPr>
            <a:picLocks noChangeAspect="1"/>
          </p:cNvPicPr>
          <p:nvPr/>
        </p:nvPicPr>
        <p:blipFill>
          <a:blip r:embed="rId2"/>
          <a:stretch>
            <a:fillRect/>
          </a:stretch>
        </p:blipFill>
        <p:spPr>
          <a:xfrm>
            <a:off x="1798928" y="1755648"/>
            <a:ext cx="8591096" cy="3950207"/>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Query counts are illustrative — the point is the SCALING, not the absolute numbers.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GROVER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 — Amplitude Amplification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amplification.png"/>
          <p:cNvPicPr>
            <a:picLocks noChangeAspect="1"/>
          </p:cNvPicPr>
          <p:nvPr/>
        </p:nvPicPr>
        <p:blipFill>
          <a:blip r:embed="rId2"/>
          <a:stretch>
            <a:fillRect/>
          </a:stretch>
        </p:blipFill>
        <p:spPr>
          <a:xfrm>
            <a:off x="777240" y="2930433"/>
            <a:ext cx="6400800" cy="1911534"/>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Start</a:t>
            </a:r>
          </a:p>
          <a:p>
            <a:pPr algn="l">
              <a:spcAft>
                <a:spcPts val="300"/>
              </a:spcAft>
            </a:pPr>
            <a:r>
              <a:rPr sz="1200" b="0">
                <a:solidFill>
                  <a:srgbClr val="161B26"/>
                </a:solidFill>
                <a:latin typeface="Arial"/>
              </a:rPr>
              <a:t>All N states share an equal amplitude of 1/√N.</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Oracle</a:t>
            </a:r>
          </a:p>
          <a:p>
            <a:pPr algn="l">
              <a:spcAft>
                <a:spcPts val="300"/>
              </a:spcAft>
            </a:pPr>
            <a:r>
              <a:rPr sz="1200" b="0">
                <a:solidFill>
                  <a:srgbClr val="161B26"/>
                </a:solidFill>
                <a:latin typeface="Arial"/>
              </a:rPr>
              <a:t>Flips the SIGN of the marked state — invisible to measurement so far.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Diffuser</a:t>
            </a:r>
          </a:p>
          <a:p>
            <a:pPr algn="l">
              <a:spcAft>
                <a:spcPts val="300"/>
              </a:spcAft>
            </a:pPr>
            <a:r>
              <a:rPr sz="1200" b="0">
                <a:solidFill>
                  <a:srgbClr val="161B26"/>
                </a:solidFill>
                <a:latin typeface="Arial"/>
              </a:rPr>
              <a:t>Reflects every amplitude about the mean, growing the marked one.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Repeat</a:t>
            </a:r>
          </a:p>
          <a:p>
            <a:pPr algn="l">
              <a:spcAft>
                <a:spcPts val="300"/>
              </a:spcAft>
            </a:pPr>
            <a:r>
              <a:rPr sz="1200" b="0">
                <a:solidFill>
                  <a:srgbClr val="161B26"/>
                </a:solidFill>
                <a:latin typeface="Arial"/>
              </a:rPr>
              <a:t>About (π/4)√N times — then measure.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SCALING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Quadratic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scaling.png"/>
          <p:cNvPicPr>
            <a:picLocks noChangeAspect="1"/>
          </p:cNvPicPr>
          <p:nvPr/>
        </p:nvPicPr>
        <p:blipFill>
          <a:blip r:embed="rId2"/>
          <a:stretch>
            <a:fillRect/>
          </a:stretch>
        </p:blipFill>
        <p:spPr>
          <a:xfrm>
            <a:off x="777240" y="2309406"/>
            <a:ext cx="6400800" cy="315358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a:t>
            </a:r>
          </a:p>
          <a:p>
            <a:pPr algn="l">
              <a:spcAft>
                <a:spcPts val="300"/>
              </a:spcAft>
            </a:pPr>
            <a:r>
              <a:rPr sz="1200" b="0">
                <a:solidFill>
                  <a:srgbClr val="161B26"/>
                </a:solidFill>
                <a:latin typeface="Arial"/>
              </a:rPr>
              <a:t>Checking an unstructured list takes O(N) queries.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Grover</a:t>
            </a:r>
          </a:p>
          <a:p>
            <a:pPr algn="l">
              <a:spcAft>
                <a:spcPts val="300"/>
              </a:spcAft>
            </a:pPr>
            <a:r>
              <a:rPr sz="1200" b="0">
                <a:solidFill>
                  <a:srgbClr val="161B26"/>
                </a:solidFill>
                <a:latin typeface="Arial"/>
              </a:rPr>
              <a:t>Finds the marked item in O(√N) queries.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1M items</a:t>
            </a:r>
          </a:p>
          <a:p>
            <a:pPr algn="l">
              <a:spcAft>
                <a:spcPts val="300"/>
              </a:spcAft>
            </a:pPr>
            <a:r>
              <a:rPr sz="1200" b="0">
                <a:solidFill>
                  <a:srgbClr val="161B26"/>
                </a:solidFill>
                <a:latin typeface="Arial"/>
              </a:rPr>
              <a:t>1,000,000 checks become roughly 1,000.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Not exponential</a:t>
            </a:r>
          </a:p>
          <a:p>
            <a:pPr algn="l">
              <a:spcAft>
                <a:spcPts val="300"/>
              </a:spcAft>
            </a:pPr>
            <a:r>
              <a:rPr sz="1200" b="0">
                <a:solidFill>
                  <a:srgbClr val="161B26"/>
                </a:solidFill>
                <a:latin typeface="Arial"/>
              </a:rPr>
              <a:t>A real speedup, but far smaller than Shor's.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GIVEN:  a unitary U and one of its eigenvectors |u&gt;, with</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U|u&gt;  =  e^(2πiφ) |u&gt;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FIND:   the phase φ ∈ [0,1), to n bits of precision.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Recall: unitary eigenvalues always have magnitude 1 (Axiom 2), so all</a:t>
            </a:r>
          </a:p>
          <a:p>
            <a:pPr algn="l">
              <a:spcAft>
                <a:spcPts val="300"/>
              </a:spcAft>
            </a:pPr>
            <a:r>
              <a:rPr sz="1500" b="0">
                <a:solidFill>
                  <a:srgbClr val="9CDCFE"/>
                </a:solidFill>
                <a:latin typeface="Arial"/>
              </a:rPr>
              <a:t>the information is in the single real number φ.</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QPE is the workhorse subroutine: order finding, factoring, quantum chemistry energies and HHL all reduce to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Superpose the counting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Use two registers:</a:t>
            </a:r>
          </a:p>
          <a:p>
            <a:pPr algn="l">
              <a:spcAft>
                <a:spcPts val="300"/>
              </a:spcAft>
            </a:pPr>
            <a:r>
              <a:rPr sz="1500" b="0">
                <a:solidFill>
                  <a:srgbClr val="9CDCFE"/>
                </a:solidFill>
                <a:latin typeface="Arial"/>
              </a:rPr>
              <a:t>   counting register:  t qubits, initialised |0&gt;ᵗ</a:t>
            </a:r>
          </a:p>
          <a:p>
            <a:pPr algn="l">
              <a:spcAft>
                <a:spcPts val="300"/>
              </a:spcAft>
            </a:pPr>
            <a:r>
              <a:rPr sz="1500" b="0">
                <a:solidFill>
                  <a:srgbClr val="9CDCFE"/>
                </a:solidFill>
                <a:latin typeface="Arial"/>
              </a:rPr>
              <a:t>   eigenstate register: holds |u&gt;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Apply H to every counting qubit: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(1/√2ᵗ) Σ_(k=0..2ᵗ-1) |k&gt;  (x)  |u&gt;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 controls the precision: t bits give φ to t binary places.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Controlled powers of U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Apply controlled-U^(2^j) from counting qubit j onto the eigenstate register.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By PHASE KICKBACK, since |u&gt; is an eigenvector:</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C-U^(2^j) |1&gt;|u&gt;  =  e^(2πi 2^j φ) |1&gt;|u&gt;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Result over the whole register:</a:t>
            </a:r>
          </a:p>
          <a:p>
            <a:pPr algn="l">
              <a:spcAft>
                <a:spcPts val="300"/>
              </a:spcAft>
            </a:pPr>
            <a:r>
              <a:rPr sz="1500" b="0">
                <a:solidFill>
                  <a:srgbClr val="9CDCFE"/>
                </a:solidFill>
                <a:latin typeface="Arial"/>
              </a:rPr>
              <a:t>   (1/√2ᵗ) Σ_k  e^(2πi k φ) |k&gt;  (x)  |u&gt;</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eigenstate register is UNCHANGED throughout — every bit of the phase has been written onto the counting register. This is phase kickback at scale.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Inverse QFT extracts the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The counting register now holds  Σ_k e^(2πi kφ)|k&gt;  — exactly the Fourier</a:t>
            </a:r>
          </a:p>
          <a:p>
            <a:pPr algn="l">
              <a:spcAft>
                <a:spcPts val="300"/>
              </a:spcAft>
            </a:pPr>
            <a:r>
              <a:rPr sz="1500" b="0">
                <a:solidFill>
                  <a:srgbClr val="9CDCFE"/>
                </a:solidFill>
                <a:latin typeface="Arial"/>
              </a:rPr>
              <a:t>transform of a peak at φ.</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Apply the INVERSE QFT: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QFT⁻¹ ( Σ_k e^(2πi kφ)|k&gt; )   -&gt;   |2ᵗ φ&gt;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Measure the counting register: the result read as a binary fraction is φ.</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If φ has an exact t-bit expansion the answer is exact; otherwise you get the best t-bit approximation with probability ≥ 4/π² ≈ 40%.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Precision and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To get φ to n bits with success probability 1-ε:</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t  =  n + ⌈log₂(2 + 1/(2ε))⌉   qubits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Cost is dominated by the controlled-U^(2^j) operations.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Worked example — U = Z, |u&gt; = |1&gt;:  Z|1&gt; = -|1&gt; = e^(2πi·0.5)|1&gt;</a:t>
            </a:r>
          </a:p>
          <a:p>
            <a:pPr algn="l">
              <a:spcAft>
                <a:spcPts val="300"/>
              </a:spcAft>
            </a:pPr>
            <a:r>
              <a:rPr sz="1500" b="0">
                <a:solidFill>
                  <a:srgbClr val="9CDCFE"/>
                </a:solidFill>
                <a:latin typeface="Arial"/>
              </a:rPr>
              <a:t>   so φ = 0.5, and QPE returns binary 0.1 = 0.5. Verifiable by hand.</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Z example is the standard classroom check — small enough to trace through by hand, and it exercises the whole pipeline.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ALGORITHM BEHIND SHOR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QPE is used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ORDER FINDING / SHOR — U: |y&gt; -&gt; |ay mod N&gt;. The phase encodes the</a:t>
            </a:r>
          </a:p>
          <a:p>
            <a:pPr algn="l">
              <a:spcAft>
                <a:spcPts val="300"/>
              </a:spcAft>
            </a:pPr>
            <a:r>
              <a:rPr sz="1320" b="0">
                <a:solidFill>
                  <a:srgbClr val="9CDCFE"/>
                </a:solidFill>
                <a:latin typeface="Arial"/>
              </a:rPr>
              <a:t>   period r, so factoring reduces to QPE.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QUANTUM CHEMISTRY — U = e^(-iHt). The phase gives the ENERGY eigenvalue,</a:t>
            </a:r>
          </a:p>
          <a:p>
            <a:pPr algn="l">
              <a:spcAft>
                <a:spcPts val="300"/>
              </a:spcAft>
            </a:pPr>
            <a:r>
              <a:rPr sz="1320" b="0">
                <a:solidFill>
                  <a:srgbClr val="9CDCFE"/>
                </a:solidFill>
                <a:latin typeface="Arial"/>
              </a:rPr>
              <a:t>   the fault-tolerant successor to VQE.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HHL (linear systems) — QPE finds the eigenvalues of the matrix A so they</a:t>
            </a:r>
          </a:p>
          <a:p>
            <a:pPr algn="l">
              <a:spcAft>
                <a:spcPts val="300"/>
              </a:spcAft>
            </a:pPr>
            <a:r>
              <a:rPr sz="1320" b="0">
                <a:solidFill>
                  <a:srgbClr val="9CDCFE"/>
                </a:solidFill>
                <a:latin typeface="Arial"/>
              </a:rPr>
              <a:t>   can be inverted.</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QUANTUM COUNTING — QPE applied to the Grover operator counts solutions.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If you understand phase kickback and the QFT, you understand the engine inside most of the exponentially-fast quantum algorithms.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the classical DFT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classical Discrete Fourier Transform maps a vector to its spectrum: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y_k  =  (1/√N) Σ_(j=0..N-1)  x_j · e^(2πi jk/N)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QFT is the SAME transform, applied to quantum AMPLITUDES: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 |j&gt;  =  (1/√N) Σ_(k=0..N-1) e^(2πi jk/N) |k&gt;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and by linearity it acts on a whole superposition at once.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Same mathematics, different substrate: the DFT transforms data in memory, the QFT transforms amplitudes inside a superposition.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Worked example — QFT on one qubit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For n = 1, N = 2, and e^(2πi/2) = e^(iπ) = -1:</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QFT|0&gt;  =  (|0&gt; + |1&gt;)/√2   =  |+&gt;</a:t>
            </a:r>
          </a:p>
          <a:p>
            <a:pPr algn="l">
              <a:spcAft>
                <a:spcPts val="300"/>
              </a:spcAft>
            </a:pPr>
            <a:r>
              <a:rPr sz="1500" b="0">
                <a:solidFill>
                  <a:srgbClr val="9CDCFE"/>
                </a:solidFill>
                <a:latin typeface="Arial"/>
              </a:rPr>
              <a:t>   QFT|1&gt;  =  (|0&gt; - |1&gt;)/√2   =  |-&gt;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That is exactly the HADAMARD gate.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QFT₁  =  H</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Hadamard is the single-qubit QFT — a useful anchor for intuition.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circuit for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For each qubit, in order:</a:t>
            </a:r>
          </a:p>
          <a:p>
            <a:pPr algn="l">
              <a:spcAft>
                <a:spcPts val="300"/>
              </a:spcAft>
            </a:pPr>
            <a:r>
              <a:rPr sz="1320" b="0">
                <a:solidFill>
                  <a:srgbClr val="9CDCFE"/>
                </a:solidFill>
                <a:latin typeface="Arial"/>
              </a:rPr>
              <a:t>   1. apply H</a:t>
            </a:r>
          </a:p>
          <a:p>
            <a:pPr algn="l">
              <a:spcAft>
                <a:spcPts val="300"/>
              </a:spcAft>
            </a:pPr>
            <a:r>
              <a:rPr sz="1320" b="0">
                <a:solidFill>
                  <a:srgbClr val="9CDCFE"/>
                </a:solidFill>
                <a:latin typeface="Arial"/>
              </a:rPr>
              <a:t>   2. apply controlled-phase rotations R_k from each lower qubit,</a:t>
            </a:r>
          </a:p>
          <a:p>
            <a:pPr algn="l">
              <a:spcAft>
                <a:spcPts val="300"/>
              </a:spcAft>
            </a:pPr>
            <a:r>
              <a:rPr sz="1320" b="0">
                <a:solidFill>
                  <a:srgbClr val="9CDCFE"/>
                </a:solidFill>
                <a:latin typeface="Arial"/>
              </a:rPr>
              <a:t>      where R_k adds the phase 2π/2^k</a:t>
            </a:r>
          </a:p>
          <a:p>
            <a:pPr algn="l">
              <a:spcAft>
                <a:spcPts val="300"/>
              </a:spcAft>
            </a:pPr>
            <a:r>
              <a:rPr sz="1320" b="0">
                <a:solidFill>
                  <a:srgbClr val="9CDCFE"/>
                </a:solidFill>
                <a:latin typeface="Arial"/>
              </a:rPr>
              <a:t>Finally, SWAP to reverse the qubit order.</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3-qubit QFT:</a:t>
            </a:r>
          </a:p>
          <a:p>
            <a:pPr algn="l">
              <a:spcAft>
                <a:spcPts val="300"/>
              </a:spcAft>
            </a:pPr>
            <a:r>
              <a:rPr sz="1320" b="0">
                <a:solidFill>
                  <a:srgbClr val="9CDCFE"/>
                </a:solidFill>
                <a:latin typeface="Arial"/>
              </a:rPr>
              <a:t>   H(q2) · CP(π/2: q1-&gt;q2) · CP(π/4: q0-&gt;q2)</a:t>
            </a:r>
          </a:p>
          <a:p>
            <a:pPr algn="l">
              <a:spcAft>
                <a:spcPts val="300"/>
              </a:spcAft>
            </a:pPr>
            <a:r>
              <a:rPr sz="1320" b="0">
                <a:solidFill>
                  <a:srgbClr val="9CDCFE"/>
                </a:solidFill>
                <a:latin typeface="Arial"/>
              </a:rPr>
              <a:t>   H(q1) · CP(π/2: q0-&gt;q1)</a:t>
            </a:r>
          </a:p>
          <a:p>
            <a:pPr algn="l">
              <a:spcAft>
                <a:spcPts val="300"/>
              </a:spcAft>
            </a:pPr>
            <a:r>
              <a:rPr sz="1320" b="0">
                <a:solidFill>
                  <a:srgbClr val="9CDCFE"/>
                </a:solidFill>
                <a:latin typeface="Arial"/>
              </a:rPr>
              <a:t>   H(q0) · SWAP(q0,q2)</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Each controlled rotation adds one further binary digit of phase precision.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DFT TO QFT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Cost and the honest caveat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QFT gate count:  O(n²)          on N = 2ⁿ amplitudes</a:t>
            </a:r>
          </a:p>
          <a:p>
            <a:pPr algn="l">
              <a:spcAft>
                <a:spcPts val="300"/>
              </a:spcAft>
            </a:pPr>
            <a:r>
              <a:rPr sz="1500" b="0">
                <a:solidFill>
                  <a:srgbClr val="9CDCFE"/>
                </a:solidFill>
                <a:latin typeface="Arial"/>
              </a:rPr>
              <a:t>   Classical FFT:   O(N log N)  =  O(n·2ⁿ)</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Exponentially fewer operations — BUT:</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You cannot READ OUT the transformed amplitudes. Measuring gives ONE</a:t>
            </a:r>
          </a:p>
          <a:p>
            <a:pPr algn="l">
              <a:spcAft>
                <a:spcPts val="300"/>
              </a:spcAft>
            </a:pPr>
            <a:r>
              <a:rPr sz="1500" b="0">
                <a:solidFill>
                  <a:srgbClr val="9CDCFE"/>
                </a:solidFill>
                <a:latin typeface="Arial"/>
              </a:rPr>
              <a:t>   sample, not the spectrum. So the QFT does not accelerate signal</a:t>
            </a:r>
          </a:p>
          <a:p>
            <a:pPr algn="l">
              <a:spcAft>
                <a:spcPts val="300"/>
              </a:spcAft>
            </a:pPr>
            <a:r>
              <a:rPr sz="1500" b="0">
                <a:solidFill>
                  <a:srgbClr val="9CDCFE"/>
                </a:solidFill>
                <a:latin typeface="Arial"/>
              </a:rPr>
              <a:t>   processing; it accelerates finding a PERIOD or a PHASE.</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State this caveat explicitly in class — it is the most commonly over-claimed result in quantum computing.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The Deutsch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One oracle query decides whether f:{0,1} -&gt; {0,1} is CONSTANT or BALANCED. Any classical algorithm needs two.</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f is a black box with f(0), f(1) in {0,1}.</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CONSTANT means f(0) = f(1);  BALANCED means f(0) ≠ f(1).</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The oracle is reversible:  U_f |x&gt;|y&gt; = |x&gt;|y ⊕ f(x)&gt;.</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Classically you must learn BOTH f(0) and f(1) — two queries — to compare them.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Prepare the registers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Start:                    |0&gt; |1&gt;</a:t>
            </a:r>
          </a:p>
          <a:p>
            <a:pPr algn="l">
              <a:spcAft>
                <a:spcPts val="300"/>
              </a:spcAft>
            </a:pPr>
            <a:r>
              <a:rPr sz="1550" b="0">
                <a:solidFill>
                  <a:srgbClr val="9CDCFE"/>
                </a:solidFill>
                <a:latin typeface="Arial"/>
              </a:rPr>
              <a:t>Apply H to both qubits:</a:t>
            </a:r>
          </a:p>
          <a:p>
            <a:pPr algn="l">
              <a:spcAft>
                <a:spcPts val="300"/>
              </a:spcAft>
            </a:pPr>
            <a:r>
              <a:rPr sz="1550" b="0">
                <a:solidFill>
                  <a:srgbClr val="9CDCFE"/>
                </a:solidFill>
                <a:latin typeface="Arial"/>
              </a:rPr>
              <a:t>  H|0&gt; = |+&gt; = (|0&gt; + |1&gt;)/√2</a:t>
            </a:r>
          </a:p>
          <a:p>
            <a:pPr algn="l">
              <a:spcAft>
                <a:spcPts val="300"/>
              </a:spcAft>
            </a:pPr>
            <a:r>
              <a:rPr sz="1550" b="0">
                <a:solidFill>
                  <a:srgbClr val="9CDCFE"/>
                </a:solidFill>
                <a:latin typeface="Arial"/>
              </a:rPr>
              <a:t>  H|1&gt; = |-&gt; = (|0&gt; - |1&gt;)/√2</a:t>
            </a:r>
          </a:p>
          <a:p>
            <a:pPr algn="l">
              <a:spcAft>
                <a:spcPts val="300"/>
              </a:spcAft>
            </a:pPr>
            <a:r>
              <a:rPr sz="1550" b="0">
                <a:solidFill>
                  <a:srgbClr val="9CDCFE"/>
                </a:solidFill>
                <a:latin typeface="Arial"/>
              </a:rPr>
              <a:t>State  |ψ₁&gt; =  |+&gt; |-&gt;</a:t>
            </a:r>
          </a:p>
          <a:p>
            <a:pPr algn="l">
              <a:spcAft>
                <a:spcPts val="300"/>
              </a:spcAft>
            </a:pPr>
            <a:r>
              <a:rPr sz="1550" b="0">
                <a:solidFill>
                  <a:srgbClr val="9CDCFE"/>
                </a:solidFill>
                <a:latin typeface="Arial"/>
              </a:rPr>
              <a:t>             =  (1/√2)( |0&gt; + |1&gt; ) (x) |-&gt;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target is deliberately put in |-&gt; so phase kickback will fire.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Apply the oracle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By the kickback identity:   U_f |x&gt;|-&gt;  =  (-1)^f(x) |x&gt;|-&gt;</a:t>
            </a:r>
          </a:p>
          <a:p>
            <a:pPr algn="l">
              <a:spcAft>
                <a:spcPts val="300"/>
              </a:spcAft>
            </a:pPr>
            <a:r>
              <a:rPr sz="1550" b="0">
                <a:solidFill>
                  <a:srgbClr val="9CDCFE"/>
                </a:solidFill>
                <a:latin typeface="Arial"/>
              </a:rPr>
              <a:t>Apply it to each term of the superposition: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(1/√2)( (-1)^f(0)|0&gt; + (-1)^f(1)|1&gt; ) (x) |-&gt;</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One query — but the oracle has acted on BOTH inputs at once. The target |-&gt; is unchanged and now factors out entirely.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Factor out the global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Pull (-1)^f(0) out of the bracket: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|ψ₂&gt; = (-1)^f(0) · (1/√2)( |0&gt; + (-1)^(f(0) ⊕ f(1)) |1&gt; ) (x) |-&gt;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(-1)^f(0) is a GLOBAL phase — unobservable, so we may drop it.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Everything now depends on the single bit f(0) ⊕ f(1) — exactly the question we are asking.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Split into the two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CASE A — f is CONSTANT:  f(0) = f(1)  =&gt;  f(0) ⊕ f(1) = 0</a:t>
            </a:r>
          </a:p>
          <a:p>
            <a:pPr algn="l">
              <a:spcAft>
                <a:spcPts val="300"/>
              </a:spcAft>
            </a:pPr>
            <a:r>
              <a:rPr sz="1550" b="0">
                <a:solidFill>
                  <a:srgbClr val="9CDCFE"/>
                </a:solidFill>
                <a:latin typeface="Arial"/>
              </a:rPr>
              <a:t>   control = (|0&gt; + |1&gt;)/√2  =  |+&gt;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B — f is BALANCED:  f(0) ≠ f(1)  =&gt;  f(0) ⊕ f(1) = 1</a:t>
            </a:r>
          </a:p>
          <a:p>
            <a:pPr algn="l">
              <a:spcAft>
                <a:spcPts val="300"/>
              </a:spcAft>
            </a:pPr>
            <a:r>
              <a:rPr sz="1550" b="0">
                <a:solidFill>
                  <a:srgbClr val="9CDCFE"/>
                </a:solidFill>
                <a:latin typeface="Arial"/>
              </a:rPr>
              <a:t>   control = (|0&gt; - |1&gt;)/√2  =  |-&gt;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two cases are ORTHOGONAL states: &lt;+|-&gt; = 0. Orthogonal states can be distinguished perfectly by a single measurement.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Interfere with a final Hadamard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H is its own inverse and maps the |+&gt;/|-&gt; basis to the |0&gt;/|1&gt; basis:</a:t>
            </a:r>
          </a:p>
          <a:p>
            <a:pPr algn="l">
              <a:spcAft>
                <a:spcPts val="300"/>
              </a:spcAft>
            </a:pPr>
            <a:r>
              <a:rPr sz="1550" b="0">
                <a:solidFill>
                  <a:srgbClr val="9CDCFE"/>
                </a:solidFill>
                <a:latin typeface="Arial"/>
              </a:rPr>
              <a:t>   H|+&gt; = |0&gt;</a:t>
            </a:r>
          </a:p>
          <a:p>
            <a:pPr algn="l">
              <a:spcAft>
                <a:spcPts val="300"/>
              </a:spcAft>
            </a:pPr>
            <a:r>
              <a:rPr sz="1550" b="0">
                <a:solidFill>
                  <a:srgbClr val="9CDCFE"/>
                </a:solidFill>
                <a:latin typeface="Arial"/>
              </a:rPr>
              <a:t>   H|-&gt; = |1&gt;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CASE A (constant):  H|+&gt; = |0&gt;   -&gt; measure 0 with probability 1</a:t>
            </a:r>
          </a:p>
          <a:p>
            <a:pPr algn="l">
              <a:spcAft>
                <a:spcPts val="300"/>
              </a:spcAft>
            </a:pPr>
            <a:r>
              <a:rPr sz="1550" b="0">
                <a:solidFill>
                  <a:srgbClr val="9CDCFE"/>
                </a:solidFill>
                <a:latin typeface="Arial"/>
              </a:rPr>
              <a:t>CASE B (balanced):  H|-&gt; = |1&gt;   -&gt; measure 1 with probability 1</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interference step: a phase difference becomes an amplitude difference.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DEUTSCH ALGORITHM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Measure the control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result 0  =&gt;  f is CONSTANT</a:t>
            </a:r>
          </a:p>
          <a:p>
            <a:pPr algn="l">
              <a:spcAft>
                <a:spcPts val="300"/>
              </a:spcAft>
            </a:pPr>
            <a:r>
              <a:rPr sz="1550" b="0">
                <a:solidFill>
                  <a:srgbClr val="9CDCFE"/>
                </a:solidFill>
                <a:latin typeface="Arial"/>
              </a:rPr>
              <a:t>   result 1  =&gt;  f is BALANCED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Total oracle queries used: ONE.</a:t>
            </a:r>
          </a:p>
          <a:p>
            <a:pPr algn="l">
              <a:spcAft>
                <a:spcPts val="300"/>
              </a:spcAft>
            </a:pPr>
            <a:r>
              <a:rPr sz="1550" b="0">
                <a:solidFill>
                  <a:srgbClr val="9CDCFE"/>
                </a:solidFill>
                <a:latin typeface="Arial"/>
              </a:rPr>
              <a:t>Classical worst case: TWO.</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answer is deterministic — not probabilistic. No repetition is needed.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Deutsch Algorithm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Measuring 0 proves f is constant; measuring 1 proves f is balanced — with certainty, after a single oracle query.</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Deutsch was the first proof that a quantum computer can beat every classical algorithm at a well-defined task. It answers a GLOBAL question (is f constant?) without learning the LOCAL values f(0) and f(1) — the template every later algorithm follows.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Deutsch-Jozsa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For f:{0,1}ⁿ -&gt; {0,1} PROMISED to be constant or balanced, one query decides which. Classically the worst case is 2^(n-1) + 1 queries.</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12390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Promise: f is either constant (same output for all 2ⁿ inputs) or balanced (exactly half the inputs give 0).</a:t>
            </a:r>
          </a:p>
        </p:txBody>
      </p:sp>
      <p:sp>
        <p:nvSpPr>
          <p:cNvPr id="15" name="Rectangle 14"/>
          <p:cNvSpPr/>
          <p:nvPr/>
        </p:nvSpPr>
        <p:spPr>
          <a:xfrm>
            <a:off x="777240" y="5097780"/>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097780"/>
            <a:ext cx="82296" cy="12390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7780"/>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Register: n input qubits in |0&gt;ⁿ, plus one target qubit in |1&gt;.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1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Superposition over ALL 2ⁿ inputs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Apply H to each of the n input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Hⁿ |0&gt;ⁿ  =  (1/√2ⁿ) Σ_x |x&gt;        (sum over all x in {0,1}ⁿ)</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Target: H|1&gt; = |-&gt;</a:t>
            </a:r>
          </a:p>
          <a:p>
            <a:pPr algn="l">
              <a:spcAft>
                <a:spcPts val="300"/>
              </a:spcAft>
            </a:pPr>
            <a:r>
              <a:rPr sz="1550" b="0">
                <a:solidFill>
                  <a:srgbClr val="9CDCFE"/>
                </a:solidFill>
                <a:latin typeface="Arial"/>
              </a:rPr>
              <a:t>State:  (1/√2ⁿ) Σ_x |x&gt; (x) |-&gt;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 single register now holds all 2ⁿ input strings simultaneously.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2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Oracle applies the 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3898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097280"/>
          </a:xfrm>
          <a:prstGeom prst="rect">
            <a:avLst/>
          </a:prstGeom>
          <a:noFill/>
        </p:spPr>
        <p:txBody>
          <a:bodyPr wrap="square" anchor="t">
            <a:spAutoFit/>
          </a:bodyPr>
          <a:lstStyle/>
          <a:p>
            <a:pPr algn="l">
              <a:spcAft>
                <a:spcPts val="300"/>
              </a:spcAft>
            </a:pPr>
            <a:r>
              <a:rPr sz="1550" b="0">
                <a:solidFill>
                  <a:srgbClr val="9CDCFE"/>
                </a:solidFill>
                <a:latin typeface="Arial"/>
              </a:rPr>
              <a:t>   U_f |x&gt;|-&gt;  =  (-1)^f(x) |x&gt;|-&gt;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State:  (1/√2ⁿ) Σ_x (-1)^f(x) |x&gt;  (x) |-&gt;</a:t>
            </a:r>
          </a:p>
        </p:txBody>
      </p:sp>
      <p:sp>
        <p:nvSpPr>
          <p:cNvPr id="9" name="Rectangle 8"/>
          <p:cNvSpPr/>
          <p:nvPr/>
        </p:nvSpPr>
        <p:spPr>
          <a:xfrm>
            <a:off x="777240" y="3401568"/>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401568"/>
            <a:ext cx="82296" cy="2651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01568"/>
            <a:ext cx="10149840" cy="265176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ONE query has tagged every one of the 2ⁿ inputs with the sign of f(x).</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3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Final Hadamard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The n-qubit Hadamard acts as:</a:t>
            </a:r>
          </a:p>
          <a:p>
            <a:pPr algn="l">
              <a:spcAft>
                <a:spcPts val="300"/>
              </a:spcAft>
            </a:pPr>
            <a:r>
              <a:rPr sz="1550" b="0">
                <a:solidFill>
                  <a:srgbClr val="9CDCFE"/>
                </a:solidFill>
                <a:latin typeface="Arial"/>
              </a:rPr>
              <a:t>   Hⁿ |x&gt;  =  (1/√2ⁿ) Σ_z (-1)^(x·z) |z&gt;      where x·z = Σ xᵢzᵢ mod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Applying it:</a:t>
            </a:r>
          </a:p>
          <a:p>
            <a:pPr algn="l">
              <a:spcAft>
                <a:spcPts val="300"/>
              </a:spcAft>
            </a:pPr>
            <a:r>
              <a:rPr sz="1550" b="0">
                <a:solidFill>
                  <a:srgbClr val="9CDCFE"/>
                </a:solidFill>
                <a:latin typeface="Arial"/>
              </a:rPr>
              <a:t>   (1/2ⁿ) Σ_z [ Σ_x (-1)^(f(x) + x·z) ] |z&gt;</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bracket is the amplitude of outcome |z&gt; — a sum of ±1 terms.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4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Amplitude of the all-zeros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Set z = 0…0. Then x·z = 0 for every x, so:</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amplitude(|0…0&gt;)  =  (1/2ⁿ) Σ_x (-1)^f(x)</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CONSTANT: every term is the same sign, so the sum is ±2ⁿ</a:t>
            </a:r>
          </a:p>
          <a:p>
            <a:pPr algn="l">
              <a:spcAft>
                <a:spcPts val="300"/>
              </a:spcAft>
            </a:pPr>
            <a:r>
              <a:rPr sz="1550" b="0">
                <a:solidFill>
                  <a:srgbClr val="9CDCFE"/>
                </a:solidFill>
                <a:latin typeface="Arial"/>
              </a:rPr>
              <a:t>   amplitude = ±1   -&gt;  probability |±1|² =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BALANCED: half the terms are +1 and half are -1, so the sum is 0</a:t>
            </a:r>
          </a:p>
          <a:p>
            <a:pPr algn="l">
              <a:spcAft>
                <a:spcPts val="300"/>
              </a:spcAft>
            </a:pPr>
            <a:r>
              <a:rPr sz="1550" b="0">
                <a:solidFill>
                  <a:srgbClr val="9CDCFE"/>
                </a:solidFill>
                <a:latin typeface="Arial"/>
              </a:rPr>
              <a:t>   amplitude = 0    -&gt;  probability 0</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Perfect constructive interference in one case, perfect destructive in the other.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DEUTSCH-JOZSA (N QUBITS)  ·  STEP 5 OF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Conclusion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Measure the n input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all zeros (000…0)  =&gt;  f is CONSTANT   (certainty)</a:t>
            </a:r>
          </a:p>
          <a:p>
            <a:pPr algn="l">
              <a:spcAft>
                <a:spcPts val="300"/>
              </a:spcAft>
            </a:pPr>
            <a:r>
              <a:rPr sz="1550" b="0">
                <a:solidFill>
                  <a:srgbClr val="9CDCFE"/>
                </a:solidFill>
                <a:latin typeface="Arial"/>
              </a:rPr>
              <a:t>   anything else      =&gt;  f is BALANCED   (certainty)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Quantum: 1 query.   Classical worst case: 2^(n-1) + 1 queries.</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For n = 20 that is 1 query versus 524,289 — an exponential separation.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Deutsch-Jozsa (n qubits)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An all-zeros measurement proves f is constant; any other outcome proves f is balanced. One query, with certainty.</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Deutsch-Jozsa gives the first EXPONENTIAL separation between quantum and classical query complexity. The pattern — superpose, kick back the phase, interfere — is the skeleton of Bernstein-Vazirani, Simon and ultimately Shor.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Grover's Algorithm and the √N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Grover finds a marked item among N in O(√N) queries, and (π/4)√N iterations is optimal.</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Search space of N = 2ⁿ items with exactly one marked item |w&gt;.</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Oracle:  O|x&gt; = -|x&gt; if x = w, else O|x&gt; = |x&gt;   (a phase oracle).</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Classical search needs O(N) queries — on average N/2.</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1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Uniform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   |s&gt;  =  Hⁿ|0&gt;ⁿ  =  (1/√N) Σ_x |x&gt;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Overlap with the marked item:   &lt;w|s&gt; = 1/√N</a:t>
            </a:r>
          </a:p>
          <a:p>
            <a:pPr algn="l">
              <a:spcAft>
                <a:spcPts val="300"/>
              </a:spcAft>
            </a:pPr>
            <a:r>
              <a:rPr sz="1550" b="0">
                <a:solidFill>
                  <a:srgbClr val="9CDCFE"/>
                </a:solidFill>
                <a:latin typeface="Arial"/>
              </a:rPr>
              <a:t>So P(measuring w now) = 1/N — no better than a random guess.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Superposition alone gives NO advantage. Interference must do the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2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Work in a 2-D plane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Define the state orthogonal to the marked item:</a:t>
            </a:r>
          </a:p>
          <a:p>
            <a:pPr algn="l">
              <a:spcAft>
                <a:spcPts val="300"/>
              </a:spcAft>
            </a:pPr>
            <a:r>
              <a:rPr sz="1550" b="0">
                <a:solidFill>
                  <a:srgbClr val="9CDCFE"/>
                </a:solidFill>
                <a:latin typeface="Arial"/>
              </a:rPr>
              <a:t>   |s'&gt;  =  (1/√(N-1)) Σ_(x≠w) |x&gt;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Then  |s&gt; = sin(θ)|w&gt; + cos(θ)|s'&gt;   where  sin(θ) = 1/√N.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Everything that follows stays in the 2-D plane spanned by |w&gt; and |s'&gt;.</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Reducing a 2ⁿ-dimensional problem to a 2-D rotation is the key simplification.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3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The oracle is a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O flips the sign of the |w&gt; component only:</a:t>
            </a:r>
          </a:p>
          <a:p>
            <a:pPr algn="l">
              <a:spcAft>
                <a:spcPts val="300"/>
              </a:spcAft>
            </a:pPr>
            <a:r>
              <a:rPr sz="1550" b="0">
                <a:solidFill>
                  <a:srgbClr val="9CDCFE"/>
                </a:solidFill>
                <a:latin typeface="Arial"/>
              </a:rPr>
              <a:t>   O( sin θ|w&gt; + cos θ|s'&gt; )  =  -sin θ|w&gt; + cos θ|s'&gt;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Geometrically: a REFLECTION about the |s'&gt; axis.</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marked item is now 'marked' by a phase — still invisible to measurement.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4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diffuser is a second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   D  =  2|s&gt;&lt;s| - I</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This reflects any state about |s&gt;. Equivalently: 'invert about the mean'.</a:t>
            </a:r>
          </a:p>
          <a:p>
            <a:pPr algn="l">
              <a:spcAft>
                <a:spcPts val="300"/>
              </a:spcAft>
            </a:pPr>
            <a:r>
              <a:rPr sz="1550" b="0">
                <a:solidFill>
                  <a:srgbClr val="9CDCFE"/>
                </a:solidFill>
                <a:latin typeface="Arial"/>
              </a:rPr>
              <a:t>Circuit:  Hⁿ · (2|0&gt;&lt;0| - I) · Hⁿ</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Two reflections in a plane compose to a ROTATION — that is the whole trick.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5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Each Grover iteration rotates by 2θ</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Composing the two reflections:</a:t>
            </a:r>
          </a:p>
          <a:p>
            <a:pPr algn="l">
              <a:spcAft>
                <a:spcPts val="300"/>
              </a:spcAft>
            </a:pPr>
            <a:r>
              <a:rPr sz="1550" b="0">
                <a:solidFill>
                  <a:srgbClr val="9CDCFE"/>
                </a:solidFill>
                <a:latin typeface="Arial"/>
              </a:rPr>
              <a:t>   G = D·O  rotates the state by angle 2θ toward |w&gt;.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After k iterations:</a:t>
            </a:r>
          </a:p>
          <a:p>
            <a:pPr algn="l">
              <a:spcAft>
                <a:spcPts val="300"/>
              </a:spcAft>
            </a:pPr>
            <a:r>
              <a:rPr sz="1550" b="0">
                <a:solidFill>
                  <a:srgbClr val="9CDCFE"/>
                </a:solidFill>
                <a:latin typeface="Arial"/>
              </a:rPr>
              <a:t>   |ψ_k&gt;  =  sin((2k+1)θ)|w&gt;  +  cos((2k+1)θ)|s'&gt;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P(measure w)  =  sin²((2k+1)θ).</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amplitude on |w&gt; grows roughly LINEARLY in k — while probability grows quadratically.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6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Optimal number of iterations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Maximise by setting (2k+1)θ = π/2: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k  =  π/(4θ) - 1/2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large N, sin θ = 1/√N gives θ ≈ 1/√N, so:</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k  ≈  (π/4)√N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Example N = 10⁶:  k ≈ 785 queries versus ~500,000 classically.</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OVER-ROTATION IS REAL: run too many iterations and the state rotates PAST |w&gt;, and the success probability falls again.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GROVER'S ALGORITHM AND THE √N SPEEDUP  ·  STEP 7 OF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Optimality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170078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408176"/>
          </a:xfrm>
          <a:prstGeom prst="rect">
            <a:avLst/>
          </a:prstGeom>
          <a:noFill/>
        </p:spPr>
        <p:txBody>
          <a:bodyPr wrap="square" anchor="t">
            <a:spAutoFit/>
          </a:bodyPr>
          <a:lstStyle/>
          <a:p>
            <a:pPr algn="l">
              <a:spcAft>
                <a:spcPts val="300"/>
              </a:spcAft>
            </a:pPr>
            <a:r>
              <a:rPr sz="1550" b="0">
                <a:solidFill>
                  <a:srgbClr val="9CDCFE"/>
                </a:solidFill>
                <a:latin typeface="Arial"/>
              </a:rPr>
              <a:t>Bennett, Bernstein, Brassard and Vazirani (1997) proved that ANY quantum</a:t>
            </a:r>
          </a:p>
          <a:p>
            <a:pPr algn="l">
              <a:spcAft>
                <a:spcPts val="300"/>
              </a:spcAft>
            </a:pPr>
            <a:r>
              <a:rPr sz="1550" b="0">
                <a:solidFill>
                  <a:srgbClr val="9CDCFE"/>
                </a:solidFill>
                <a:latin typeface="Arial"/>
              </a:rPr>
              <a:t>algorithm needs Ω(√N) queries for unstructured search.</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Grover therefore achieves the optimal scaling — it cannot be improved.</a:t>
            </a:r>
          </a:p>
        </p:txBody>
      </p:sp>
      <p:sp>
        <p:nvSpPr>
          <p:cNvPr id="9" name="Rectangle 8"/>
          <p:cNvSpPr/>
          <p:nvPr/>
        </p:nvSpPr>
        <p:spPr>
          <a:xfrm>
            <a:off x="777240" y="3712464"/>
            <a:ext cx="10634472" cy="2340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712464"/>
            <a:ext cx="82296" cy="2340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12464"/>
            <a:ext cx="10149840" cy="234086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speedup is QUADRATIC, not exponential. This is why Grover only halves effective symmetric key lengths rather than breaking them.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Algorithm and the √N Speedup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After ≈(π/4)√N iterations the marked state is measured with probability ≈1. The quadratic speedup is provably optimal for unstructured search.</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Grover is the reason AES-128 drops to ~64-bit effective security against a quantum adversary and why NIST recommends AES-256. Its amplitude-amplification core also underpins quantum counting and amplitude estimation.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Proof — The Quantum Fourier Transform is Efficient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The QFT on n qubits needs only O(n²) gates, versus O(N log N) = O(n·2ⁿ) for the classical FFT.</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12390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N = 2ⁿ. The QFT acts as  |j&gt;  -&gt;  (1/√N) Σ_k e^(2πi jk/N) |k&gt;.</a:t>
            </a:r>
          </a:p>
        </p:txBody>
      </p:sp>
      <p:sp>
        <p:nvSpPr>
          <p:cNvPr id="15" name="Rectangle 14"/>
          <p:cNvSpPr/>
          <p:nvPr/>
        </p:nvSpPr>
        <p:spPr>
          <a:xfrm>
            <a:off x="777240" y="5097780"/>
            <a:ext cx="10634472" cy="12390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097780"/>
            <a:ext cx="82296" cy="12390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97780"/>
            <a:ext cx="10149840" cy="1239012"/>
          </a:xfrm>
          <a:prstGeom prst="rect">
            <a:avLst/>
          </a:prstGeom>
          <a:noFill/>
        </p:spPr>
        <p:txBody>
          <a:bodyPr wrap="square" anchor="ctr">
            <a:spAutoFit/>
          </a:bodyPr>
          <a:lstStyle/>
          <a:p>
            <a:pPr algn="l">
              <a:spcAft>
                <a:spcPts val="400"/>
              </a:spcAft>
            </a:pPr>
            <a:r>
              <a:rPr sz="1300" b="0">
                <a:solidFill>
                  <a:srgbClr val="161B26"/>
                </a:solidFill>
                <a:latin typeface="Arial"/>
              </a:rPr>
              <a:t>ω = e^(2πi/N) is the primitive N-th root of unity.</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1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The product-form identity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Write k in binary and expand the exponent. The 2ⁿ-term sum FACTORISES: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QFT|j&gt;  =  (1/√N) ⊗_(l=1..n) ( |0&gt; + e^(2πi j/2^l) |1&gt; )</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n-qubit output is a PRODUCT of n single-qubit states.</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factorisation is why the QFT is efficient — an exponentially large sum collapses into n independent factors.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2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Build each factor: H + CPhase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Qubit l needs the phase  e^(2πi j/2^l), assembled from: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H              — creates (|0&gt; + e^(2πi 0.j_l) |1&gt;)/√2</a:t>
            </a:r>
          </a:p>
          <a:p>
            <a:pPr algn="l">
              <a:spcAft>
                <a:spcPts val="300"/>
              </a:spcAft>
            </a:pPr>
            <a:r>
              <a:rPr sz="1550" b="0">
                <a:solidFill>
                  <a:srgbClr val="9CDCFE"/>
                </a:solidFill>
                <a:latin typeface="Arial"/>
              </a:rPr>
              <a:t>   CROT_k         — adds the phase 2π/2^k, controlled on a lower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Qubit 1 needs 1 H + (n-1) controlled rotations</a:t>
            </a:r>
          </a:p>
          <a:p>
            <a:pPr algn="l">
              <a:spcAft>
                <a:spcPts val="300"/>
              </a:spcAft>
            </a:pPr>
            <a:r>
              <a:rPr sz="1550" b="0">
                <a:solidFill>
                  <a:srgbClr val="9CDCFE"/>
                </a:solidFill>
                <a:latin typeface="Arial"/>
              </a:rPr>
              <a:t>Qubit 2 needs 1 H + (n-2) controlled rotations  …</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Each controlled rotation contributes one more bit of phase precision.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3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Count the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Total = n Hadamards + Σ(n-1) + (n-2) + … + 1 controlled rotations</a:t>
            </a:r>
          </a:p>
          <a:p>
            <a:pPr algn="l">
              <a:spcAft>
                <a:spcPts val="300"/>
              </a:spcAft>
            </a:pPr>
            <a:r>
              <a:rPr sz="1550" b="0">
                <a:solidFill>
                  <a:srgbClr val="9CDCFE"/>
                </a:solidFill>
                <a:latin typeface="Arial"/>
              </a:rPr>
              <a:t>      = n + n(n-1)/2</a:t>
            </a:r>
          </a:p>
          <a:p>
            <a:pPr algn="l">
              <a:spcAft>
                <a:spcPts val="300"/>
              </a:spcAft>
            </a:pPr>
            <a:r>
              <a:rPr sz="1550" b="0">
                <a:solidFill>
                  <a:srgbClr val="9CDCFE"/>
                </a:solidFill>
                <a:latin typeface="Arial"/>
              </a:rPr>
              <a:t>      = O(n²)</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Plus n/2 SWAPs to reverse the qubit order.</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For n = 10:  ~55 gates.     Classical FFT on N = 1024: ~10,240 operations.</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Quadratic in the number of QUBITS, versus linearithmic in the number of AMPLITUDES — an exponential saving.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QUANTUM FOURIER TRANSFORM IS EFFICIENT  ·  STEP 4 OF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essential caveat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The QFT transforms AMPLITUDES, which cannot be read out directly.</a:t>
            </a:r>
          </a:p>
          <a:p>
            <a:pPr algn="l">
              <a:spcAft>
                <a:spcPts val="300"/>
              </a:spcAft>
            </a:pPr>
            <a:r>
              <a:rPr sz="1550" b="0">
                <a:solidFill>
                  <a:srgbClr val="9CDCFE"/>
                </a:solidFill>
                <a:latin typeface="Arial"/>
              </a:rPr>
              <a:t>Measuring gives ONE sample from the transformed distribution, not the</a:t>
            </a:r>
          </a:p>
          <a:p>
            <a:pPr algn="l">
              <a:spcAft>
                <a:spcPts val="300"/>
              </a:spcAft>
            </a:pPr>
            <a:r>
              <a:rPr sz="1550" b="0">
                <a:solidFill>
                  <a:srgbClr val="9CDCFE"/>
                </a:solidFill>
                <a:latin typeface="Arial"/>
              </a:rPr>
              <a:t>whole spectrum.</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the QFT is NOT a drop-in replacement for the FFT in signal processing.</a:t>
            </a:r>
          </a:p>
          <a:p>
            <a:pPr algn="l">
              <a:spcAft>
                <a:spcPts val="300"/>
              </a:spcAft>
            </a:pPr>
            <a:r>
              <a:rPr sz="1550" b="0">
                <a:solidFill>
                  <a:srgbClr val="9CDCFE"/>
                </a:solidFill>
                <a:latin typeface="Arial"/>
              </a:rPr>
              <a:t>Its power is in extracting a PERIOD or a PHASE — which is exactly what</a:t>
            </a:r>
          </a:p>
          <a:p>
            <a:pPr algn="l">
              <a:spcAft>
                <a:spcPts val="300"/>
              </a:spcAft>
            </a:pPr>
            <a:r>
              <a:rPr sz="1550" b="0">
                <a:solidFill>
                  <a:srgbClr val="9CDCFE"/>
                </a:solidFill>
                <a:latin typeface="Arial"/>
              </a:rPr>
              <a:t>Shor's algorithm and quantum phase estimation need.</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An honest statement of what the speedup does and does not buy — a common source of hype.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Quantum Fourier Transform is Efficient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The QFT runs in O(n²) gates thanks to the product-form factorisation, providing the exponential engine inside phase estimation and Shor's algorithm.</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The QFT is the single most important subroutine in quantum computing — it is what turns period finding, and therefore factoring, from exponential into polynomial.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Activities 9–10</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Deutsch and Deutsch-Jozsa Algorithms</a:t>
            </a:r>
          </a:p>
          <a:p>
            <a:pPr>
              <a:spcAft>
                <a:spcPts val="900"/>
              </a:spcAft>
            </a:pPr>
            <a:r>
              <a:rPr sz="1400">
                <a:solidFill>
                  <a:srgbClr val="161B26"/>
                </a:solidFill>
                <a:latin typeface="Arial"/>
              </a:rPr>
              <a:t>•  Bernstein-Vazirani Algorithm</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Activities 11–12</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Grover's Search Algorithm</a:t>
            </a:r>
          </a:p>
          <a:p>
            <a:pPr>
              <a:spcAft>
                <a:spcPts val="900"/>
              </a:spcAft>
            </a:pPr>
            <a:r>
              <a:rPr sz="1400">
                <a:solidFill>
                  <a:srgbClr val="161B26"/>
                </a:solidFill>
                <a:latin typeface="Arial"/>
              </a:rPr>
              <a:t>•  Quantum Fourier Transform</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9</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first algorithms to show a provable quantum advantage: decide whether a black-box function is constant or balanced with a single query, then generalise from one input bit to 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Deutsch and Deutsch-Jozsa circuits with all four oracle types, run on IBM Quantum hardware, correctly classifying each function in one query.</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9: Deutsch and Deutsch-Jozsa Algorithms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Deutsch circuit measures 0 for both constant oracles and 1 for both balanced oracles; Deutsch-Jozsa returns the all-zeros string for a constant function and a non-zero string for a balanced function — each using exactly one oracle query.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10</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Recover an n-bit hidden string in a single oracle query. Classically you would need n queries — one per bit — making this a clean demonstration of linear-to-constant query speedup.</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Bernstein-Vazirani circuit that recovers a chosen hidden string such as 1011 in one query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10: Bernstein-Vazirani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 measured bit string equals the hidden string s that was encoded in the oracle, recovered with a single oracle query regardless of the length of 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amplitude amplification to find a marked item in an unstructured search space, using the phase oracle and the diffuser, and see the quadratic O(sqrt(N)) speedup for 2-qubit and 3-qubit searches.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Select algorithms and synthesize quantum methodologies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Grover circuits for 2 and 3 qubits that amplify the marked state to a high measurement probability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11: Grover's Search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For 2 qubits the marked state is measured with near-certainty after one Grover iteration; for 3 qubits it dominates the histogram after two iterations; applying too many iterations visibly reduces the success probability.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QFT circuit from Hadamard and controlled-phase gates, verify it against the classical DFT, and understand why it is the engine behind phase estimation and Shor's algorithm.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QFT circuits for 3, 4 and 5 qubits, validated against a classical DFT reference and run on IBM Quantum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NumPy,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12: Quantum Fourier Transform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hand-built QFT circuit produces the same state vector as Qiskit's built-in QFT and matches a normalised classical FFT of the same input, using on the order of n^2 gates.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query (oracle) model</a:t>
            </a:r>
          </a:p>
          <a:p>
            <a:pPr>
              <a:spcAft>
                <a:spcPts val="1000"/>
              </a:spcAft>
            </a:pPr>
            <a:r>
              <a:rPr sz="1600">
                <a:solidFill>
                  <a:srgbClr val="161B26"/>
                </a:solidFill>
                <a:latin typeface="Arial"/>
              </a:rPr>
              <a:t>•  Deutsch algorithm</a:t>
            </a:r>
          </a:p>
          <a:p>
            <a:pPr>
              <a:spcAft>
                <a:spcPts val="1000"/>
              </a:spcAft>
            </a:pPr>
            <a:r>
              <a:rPr sz="1600">
                <a:solidFill>
                  <a:srgbClr val="161B26"/>
                </a:solidFill>
                <a:latin typeface="Arial"/>
              </a:rPr>
              <a:t>•  Deutsch-Jozsa</a:t>
            </a:r>
          </a:p>
          <a:p>
            <a:pPr>
              <a:spcAft>
                <a:spcPts val="1000"/>
              </a:spcAft>
            </a:pPr>
            <a:r>
              <a:rPr sz="1600">
                <a:solidFill>
                  <a:srgbClr val="161B26"/>
                </a:solidFill>
                <a:latin typeface="Arial"/>
              </a:rPr>
              <a:t>•  Bernstein-Vazirani</a:t>
            </a:r>
          </a:p>
          <a:p>
            <a:pPr>
              <a:spcAft>
                <a:spcPts val="1000"/>
              </a:spcAft>
            </a:pPr>
            <a:r>
              <a:rPr sz="1600">
                <a:solidFill>
                  <a:srgbClr val="161B26"/>
                </a:solidFill>
                <a:latin typeface="Arial"/>
              </a:rPr>
              <a:t>•  Grover search</a:t>
            </a:r>
          </a:p>
          <a:p>
            <a:pPr>
              <a:spcAft>
                <a:spcPts val="1000"/>
              </a:spcAft>
            </a:pPr>
            <a:r>
              <a:rPr sz="1600">
                <a:solidFill>
                  <a:srgbClr val="161B26"/>
                </a:solidFill>
                <a:latin typeface="Arial"/>
              </a:rPr>
              <a:t>•  Quantum Fourier Transform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Cryptography and Quantum Safety</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Classical Cryptography · The Quantum Threat · Shor Algorithm · Post-Quantum Cryptography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Key Concepts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Goals of cryptography</a:t>
            </a:r>
          </a:p>
          <a:p>
            <a:pPr algn="l">
              <a:spcAft>
                <a:spcPts val="300"/>
              </a:spcAft>
            </a:pPr>
            <a:r>
              <a:rPr sz="1100" b="0">
                <a:solidFill>
                  <a:srgbClr val="5B6372"/>
                </a:solidFill>
                <a:latin typeface="Arial"/>
              </a:rPr>
              <a:t>Confidentiality, integrity, authentication and non-repudiation are the four properties every scheme must address.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Classical schemes</a:t>
            </a:r>
          </a:p>
          <a:p>
            <a:pPr algn="l">
              <a:spcAft>
                <a:spcPts val="300"/>
              </a:spcAft>
            </a:pPr>
            <a:r>
              <a:rPr sz="1100" b="0">
                <a:solidFill>
                  <a:srgbClr val="5B6372"/>
                </a:solidFill>
                <a:latin typeface="Arial"/>
              </a:rPr>
              <a:t>Symmetric (AES), asymmetric (RSA, ECC) and hash functions (SHA-256) rest on problems that are hard for classical computers.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quantum threat</a:t>
            </a:r>
          </a:p>
          <a:p>
            <a:pPr algn="l">
              <a:spcAft>
                <a:spcPts val="300"/>
              </a:spcAft>
            </a:pPr>
            <a:r>
              <a:rPr sz="1100" b="0">
                <a:solidFill>
                  <a:srgbClr val="5B6372"/>
                </a:solidFill>
                <a:latin typeface="Arial"/>
              </a:rPr>
              <a:t>Shor's algorithm breaks RSA and ECC in polynomial time; Grover halves the effective key length of symmetric ciphers.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Shor's algorithm</a:t>
            </a:r>
          </a:p>
          <a:p>
            <a:pPr algn="l">
              <a:spcAft>
                <a:spcPts val="300"/>
              </a:spcAft>
            </a:pPr>
            <a:r>
              <a:rPr sz="1100" b="0">
                <a:solidFill>
                  <a:srgbClr val="5B6372"/>
                </a:solidFill>
                <a:latin typeface="Arial"/>
              </a:rPr>
              <a:t>Reduces factoring to period-finding, then uses the QFT to extract the period — turning a hard problem into an easy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Harvest now, decrypt later</a:t>
            </a:r>
          </a:p>
          <a:p>
            <a:pPr algn="l">
              <a:spcAft>
                <a:spcPts val="300"/>
              </a:spcAft>
            </a:pPr>
            <a:r>
              <a:rPr sz="1100" b="0">
                <a:solidFill>
                  <a:srgbClr val="5B6372"/>
                </a:solidFill>
                <a:latin typeface="Arial"/>
              </a:rPr>
              <a:t>Adversaries can record encrypted traffic today and decrypt it once a cryptographically relevant quantum computer exists.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Post-quantum cryptography</a:t>
            </a:r>
          </a:p>
          <a:p>
            <a:pPr algn="l">
              <a:spcAft>
                <a:spcPts val="300"/>
              </a:spcAft>
            </a:pPr>
            <a:r>
              <a:rPr sz="1100" b="0">
                <a:solidFill>
                  <a:srgbClr val="5B6372"/>
                </a:solidFill>
                <a:latin typeface="Arial"/>
              </a:rPr>
              <a:t>NIST has standardised ML-KEM (Kyber), ML-DSA (Dilithium), SLH-DSA (SPHINCS+) and HQC as quantum-resistant replacements.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BREAKS AND WHAT SURVIVES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to Cryptography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ypto-threat.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Symmetric crypto survives by doubling key length; public-key crypto must be replaced outright.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FACTORING VIA PERIOD FINDING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r-flow.png"/>
          <p:cNvPicPr>
            <a:picLocks noChangeAspect="1"/>
          </p:cNvPicPr>
          <p:nvPr/>
        </p:nvPicPr>
        <p:blipFill>
          <a:blip r:embed="rId2"/>
          <a:stretch>
            <a:fillRect/>
          </a:stretch>
        </p:blipFill>
        <p:spPr>
          <a:xfrm>
            <a:off x="777240" y="1837816"/>
            <a:ext cx="10634472" cy="3785872"/>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Only the period-finding step is quantum — the rest is classical number theory.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GOALS: CONFIDENTIALITY · INTEGRITY · AUTHENTICATION · NON-REPUDIATION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Classical Cryptography — What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91420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639884"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2691444" y="1874519"/>
            <a:ext cx="2339583"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28604" y="1874519"/>
            <a:ext cx="206526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1" name="Rectangle 10"/>
          <p:cNvSpPr/>
          <p:nvPr/>
        </p:nvSpPr>
        <p:spPr>
          <a:xfrm>
            <a:off x="5031027"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8187"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Key</a:t>
            </a:r>
          </a:p>
        </p:txBody>
      </p:sp>
      <p:sp>
        <p:nvSpPr>
          <p:cNvPr id="13" name="Rectangle 12"/>
          <p:cNvSpPr/>
          <p:nvPr/>
        </p:nvSpPr>
        <p:spPr>
          <a:xfrm>
            <a:off x="8221368"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8528"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Broken by</a:t>
            </a:r>
          </a:p>
        </p:txBody>
      </p:sp>
      <p:sp>
        <p:nvSpPr>
          <p:cNvPr id="15" name="Rectangle 14"/>
          <p:cNvSpPr/>
          <p:nvPr/>
        </p:nvSpPr>
        <p:spPr>
          <a:xfrm>
            <a:off x="777240" y="2350007"/>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Symmetric</a:t>
            </a:r>
          </a:p>
        </p:txBody>
      </p:sp>
      <p:sp>
        <p:nvSpPr>
          <p:cNvPr id="17" name="Rectangle 16"/>
          <p:cNvSpPr/>
          <p:nvPr/>
        </p:nvSpPr>
        <p:spPr>
          <a:xfrm>
            <a:off x="2691444" y="2350007"/>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8604" y="2350007"/>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AES-256</a:t>
            </a:r>
          </a:p>
        </p:txBody>
      </p:sp>
      <p:sp>
        <p:nvSpPr>
          <p:cNvPr id="19" name="Rectangle 18"/>
          <p:cNvSpPr/>
          <p:nvPr/>
        </p:nvSpPr>
        <p:spPr>
          <a:xfrm>
            <a:off x="5031027"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8187"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One shared secret key</a:t>
            </a:r>
          </a:p>
        </p:txBody>
      </p:sp>
      <p:sp>
        <p:nvSpPr>
          <p:cNvPr id="21" name="Rectangle 20"/>
          <p:cNvSpPr/>
          <p:nvPr/>
        </p:nvSpPr>
        <p:spPr>
          <a:xfrm>
            <a:off x="8221368"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8528"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23" name="Rectangle 22"/>
          <p:cNvSpPr/>
          <p:nvPr/>
        </p:nvSpPr>
        <p:spPr>
          <a:xfrm>
            <a:off x="777240" y="2825495"/>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Asymmetric</a:t>
            </a:r>
          </a:p>
        </p:txBody>
      </p:sp>
      <p:sp>
        <p:nvSpPr>
          <p:cNvPr id="25" name="Rectangle 24"/>
          <p:cNvSpPr/>
          <p:nvPr/>
        </p:nvSpPr>
        <p:spPr>
          <a:xfrm>
            <a:off x="2691444" y="2825495"/>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28604" y="2825495"/>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RSA-2048, ECC</a:t>
            </a:r>
          </a:p>
        </p:txBody>
      </p:sp>
      <p:sp>
        <p:nvSpPr>
          <p:cNvPr id="27" name="Rectangle 26"/>
          <p:cNvSpPr/>
          <p:nvPr/>
        </p:nvSpPr>
        <p:spPr>
          <a:xfrm>
            <a:off x="5031027"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8187"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Public + private key pair</a:t>
            </a:r>
          </a:p>
        </p:txBody>
      </p:sp>
      <p:sp>
        <p:nvSpPr>
          <p:cNvPr id="29" name="Rectangle 28"/>
          <p:cNvSpPr/>
          <p:nvPr/>
        </p:nvSpPr>
        <p:spPr>
          <a:xfrm>
            <a:off x="8221368"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8528"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Shor (fully broken)</a:t>
            </a:r>
          </a:p>
        </p:txBody>
      </p:sp>
      <p:sp>
        <p:nvSpPr>
          <p:cNvPr id="31" name="Rectangle 30"/>
          <p:cNvSpPr/>
          <p:nvPr/>
        </p:nvSpPr>
        <p:spPr>
          <a:xfrm>
            <a:off x="777240" y="3300983"/>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Hash</a:t>
            </a:r>
          </a:p>
        </p:txBody>
      </p:sp>
      <p:sp>
        <p:nvSpPr>
          <p:cNvPr id="33" name="Rectangle 32"/>
          <p:cNvSpPr/>
          <p:nvPr/>
        </p:nvSpPr>
        <p:spPr>
          <a:xfrm>
            <a:off x="2691444" y="3300983"/>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604" y="3300983"/>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SHA-256</a:t>
            </a:r>
          </a:p>
        </p:txBody>
      </p:sp>
      <p:sp>
        <p:nvSpPr>
          <p:cNvPr id="35" name="Rectangle 34"/>
          <p:cNvSpPr/>
          <p:nvPr/>
        </p:nvSpPr>
        <p:spPr>
          <a:xfrm>
            <a:off x="5031027"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8187"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 key</a:t>
            </a:r>
          </a:p>
        </p:txBody>
      </p:sp>
      <p:sp>
        <p:nvSpPr>
          <p:cNvPr id="37" name="Rectangle 36"/>
          <p:cNvSpPr/>
          <p:nvPr/>
        </p:nvSpPr>
        <p:spPr>
          <a:xfrm>
            <a:off x="8221368"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8528"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39" name="Rectangle 38"/>
          <p:cNvSpPr/>
          <p:nvPr/>
        </p:nvSpPr>
        <p:spPr>
          <a:xfrm>
            <a:off x="777240" y="3776471"/>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KEM</a:t>
            </a:r>
          </a:p>
        </p:txBody>
      </p:sp>
      <p:sp>
        <p:nvSpPr>
          <p:cNvPr id="41" name="Rectangle 40"/>
          <p:cNvSpPr/>
          <p:nvPr/>
        </p:nvSpPr>
        <p:spPr>
          <a:xfrm>
            <a:off x="2691444" y="3776471"/>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28604" y="3776471"/>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ML-KEM (Kyber)</a:t>
            </a:r>
          </a:p>
        </p:txBody>
      </p:sp>
      <p:sp>
        <p:nvSpPr>
          <p:cNvPr id="43" name="Rectangle 42"/>
          <p:cNvSpPr/>
          <p:nvPr/>
        </p:nvSpPr>
        <p:spPr>
          <a:xfrm>
            <a:off x="5031027"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8187"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Lattice-based</a:t>
            </a:r>
          </a:p>
        </p:txBody>
      </p:sp>
      <p:sp>
        <p:nvSpPr>
          <p:cNvPr id="45" name="Rectangle 44"/>
          <p:cNvSpPr/>
          <p:nvPr/>
        </p:nvSpPr>
        <p:spPr>
          <a:xfrm>
            <a:off x="8221368"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58528"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47" name="Rectangle 46"/>
          <p:cNvSpPr/>
          <p:nvPr/>
        </p:nvSpPr>
        <p:spPr>
          <a:xfrm>
            <a:off x="777240" y="4251959"/>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signature</a:t>
            </a:r>
          </a:p>
        </p:txBody>
      </p:sp>
      <p:sp>
        <p:nvSpPr>
          <p:cNvPr id="49" name="Rectangle 48"/>
          <p:cNvSpPr/>
          <p:nvPr/>
        </p:nvSpPr>
        <p:spPr>
          <a:xfrm>
            <a:off x="2691444" y="4251959"/>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28604" y="4251959"/>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ML-DSA, SLH-DSA</a:t>
            </a:r>
          </a:p>
        </p:txBody>
      </p:sp>
      <p:sp>
        <p:nvSpPr>
          <p:cNvPr id="51" name="Rectangle 50"/>
          <p:cNvSpPr/>
          <p:nvPr/>
        </p:nvSpPr>
        <p:spPr>
          <a:xfrm>
            <a:off x="5031027"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68187"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 / hash-based</a:t>
            </a:r>
          </a:p>
        </p:txBody>
      </p:sp>
      <p:sp>
        <p:nvSpPr>
          <p:cNvPr id="53" name="Rectangle 52"/>
          <p:cNvSpPr/>
          <p:nvPr/>
        </p:nvSpPr>
        <p:spPr>
          <a:xfrm>
            <a:off x="8221368"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58528"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WHY MIGRATE BEFORE THE THREAT ARRIVES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Harvest now, decrypt later.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An adversary can record your encrypted traffic today and decrypt it the day a cryptographically relevant quantum computer exists. Any secret that must stay confidential for a decade is already at risk.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threat timeline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Three dates decide your risk (Mosca's theorem):</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X  =  how long your data must stay secret        (years)</a:t>
            </a:r>
          </a:p>
          <a:p>
            <a:pPr algn="l">
              <a:spcAft>
                <a:spcPts val="300"/>
              </a:spcAft>
            </a:pPr>
            <a:r>
              <a:rPr sz="1500" b="0">
                <a:solidFill>
                  <a:srgbClr val="9CDCFE"/>
                </a:solidFill>
                <a:latin typeface="Arial"/>
              </a:rPr>
              <a:t>   Y  =  how long migration will take you           (years)</a:t>
            </a:r>
          </a:p>
          <a:p>
            <a:pPr algn="l">
              <a:spcAft>
                <a:spcPts val="300"/>
              </a:spcAft>
            </a:pPr>
            <a:r>
              <a:rPr sz="1500" b="0">
                <a:solidFill>
                  <a:srgbClr val="9CDCFE"/>
                </a:solidFill>
                <a:latin typeface="Arial"/>
              </a:rPr>
              <a:t>   Z  =  time until a cryptographically relevant QC (years)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IF   X + Y  &gt;  Z    then you are ALREADY exposed.</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Health records X=25y, migration Y=5y, Z estimated 10-15y  -&gt;  act now.</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Mosca's inequality turns a vague fear into a concrete deadline you can put in front of a board.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Build a cryptographic inventory (CBOM)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You cannot migrate what you cannot see. Enumerate: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TLS certificates and their key algorithms</a:t>
            </a:r>
          </a:p>
          <a:p>
            <a:pPr algn="l">
              <a:spcAft>
                <a:spcPts val="300"/>
              </a:spcAft>
            </a:pPr>
            <a:r>
              <a:rPr sz="1320" b="0">
                <a:solidFill>
                  <a:srgbClr val="9CDCFE"/>
                </a:solidFill>
                <a:latin typeface="Arial"/>
              </a:rPr>
              <a:t>   • VPNs, SSH keys, code-signing certificates</a:t>
            </a:r>
          </a:p>
          <a:p>
            <a:pPr algn="l">
              <a:spcAft>
                <a:spcPts val="300"/>
              </a:spcAft>
            </a:pPr>
            <a:r>
              <a:rPr sz="1320" b="0">
                <a:solidFill>
                  <a:srgbClr val="9CDCFE"/>
                </a:solidFill>
                <a:latin typeface="Arial"/>
              </a:rPr>
              <a:t>   • database and backup encryption</a:t>
            </a:r>
          </a:p>
          <a:p>
            <a:pPr algn="l">
              <a:spcAft>
                <a:spcPts val="300"/>
              </a:spcAft>
            </a:pPr>
            <a:r>
              <a:rPr sz="1320" b="0">
                <a:solidFill>
                  <a:srgbClr val="9CDCFE"/>
                </a:solidFill>
                <a:latin typeface="Arial"/>
              </a:rPr>
              <a:t>   • hardcoded crypto in applications and firmware</a:t>
            </a:r>
          </a:p>
          <a:p>
            <a:pPr algn="l">
              <a:spcAft>
                <a:spcPts val="300"/>
              </a:spcAft>
            </a:pPr>
            <a:r>
              <a:rPr sz="1320" b="0">
                <a:solidFill>
                  <a:srgbClr val="9CDCFE"/>
                </a:solidFill>
                <a:latin typeface="Arial"/>
              </a:rPr>
              <a:t>   • third-party and SaaS dependencies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Produce a Cryptographic Bill of Materials (CBOM). Tools: CBOM/CycloneDX,</a:t>
            </a:r>
          </a:p>
          <a:p>
            <a:pPr algn="l">
              <a:spcAft>
                <a:spcPts val="300"/>
              </a:spcAft>
            </a:pPr>
            <a:r>
              <a:rPr sz="1320" b="0">
                <a:solidFill>
                  <a:srgbClr val="9CDCFE"/>
                </a:solidFill>
                <a:latin typeface="Arial"/>
              </a:rPr>
              <a:t>sslyze, openssl scanning, source-code scanners.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Most organisations discover far more RSA and ECC than they expected, especially embedded in vendor products.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Classify and prioritise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BROKEN by Shor      RSA, ECC, ECDSA, ECDH, DH, DSA   -&gt;  must replace</a:t>
            </a:r>
          </a:p>
          <a:p>
            <a:pPr algn="l">
              <a:spcAft>
                <a:spcPts val="300"/>
              </a:spcAft>
            </a:pPr>
            <a:r>
              <a:rPr sz="1500" b="0">
                <a:solidFill>
                  <a:srgbClr val="9CDCFE"/>
                </a:solidFill>
                <a:latin typeface="Arial"/>
              </a:rPr>
              <a:t>   WEAKENED by Grover  AES-128, SHA-256                 -&gt;  double key size</a:t>
            </a:r>
          </a:p>
          <a:p>
            <a:pPr algn="l">
              <a:spcAft>
                <a:spcPts val="300"/>
              </a:spcAft>
            </a:pPr>
            <a:r>
              <a:rPr sz="1500" b="0">
                <a:solidFill>
                  <a:srgbClr val="9CDCFE"/>
                </a:solidFill>
                <a:latin typeface="Arial"/>
              </a:rPr>
              <a:t>   SAFE                AES-256, SHA-512, SHA-3          -&gt;  keep</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Priority score = (data lifetime) × (exposure) × (replacement difficulty)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Rank highest: long-lived secrets, long-lived devices, anything whose</a:t>
            </a:r>
          </a:p>
          <a:p>
            <a:pPr algn="l">
              <a:spcAft>
                <a:spcPts val="300"/>
              </a:spcAft>
            </a:pPr>
            <a:r>
              <a:rPr sz="1500" b="0">
                <a:solidFill>
                  <a:srgbClr val="9CDCFE"/>
                </a:solidFill>
                <a:latin typeface="Arial"/>
              </a:rPr>
              <a:t>traffic crosses an untrusted network today.</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Harvest-now-decrypt-later means long confidentiality lifetimes dominate the ranking — not how sensitive the system feels today.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Deploy the NIST standards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FIPS 203  ML-KEM   (Kyber)     key encapsulation — replaces RSA/ECDH</a:t>
            </a:r>
          </a:p>
          <a:p>
            <a:pPr algn="l">
              <a:spcAft>
                <a:spcPts val="300"/>
              </a:spcAft>
            </a:pPr>
            <a:r>
              <a:rPr sz="1500" b="0">
                <a:solidFill>
                  <a:srgbClr val="9CDCFE"/>
                </a:solidFill>
                <a:latin typeface="Arial"/>
              </a:rPr>
              <a:t>   FIPS 204  ML-DSA   (Dilithium) signatures — the general-purpose default</a:t>
            </a:r>
          </a:p>
          <a:p>
            <a:pPr algn="l">
              <a:spcAft>
                <a:spcPts val="300"/>
              </a:spcAft>
            </a:pPr>
            <a:r>
              <a:rPr sz="1500" b="0">
                <a:solidFill>
                  <a:srgbClr val="9CDCFE"/>
                </a:solidFill>
                <a:latin typeface="Arial"/>
              </a:rPr>
              <a:t>   FIPS 205  SLH-DSA  (SPHINCS+)  hash-based signatures — conservative backup</a:t>
            </a:r>
          </a:p>
          <a:p>
            <a:pPr algn="l">
              <a:spcAft>
                <a:spcPts val="300"/>
              </a:spcAft>
            </a:pPr>
            <a:r>
              <a:rPr sz="1500" b="0">
                <a:solidFill>
                  <a:srgbClr val="9CDCFE"/>
                </a:solidFill>
                <a:latin typeface="Arial"/>
              </a:rPr>
              <a:t>   2025      HQC                  code-based KEM — algorithmic diversity</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Chosen for structural DIVERSITY: lattice, hash and code-based problems,</a:t>
            </a:r>
          </a:p>
          <a:p>
            <a:pPr algn="l">
              <a:spcAft>
                <a:spcPts val="300"/>
              </a:spcAft>
            </a:pPr>
            <a:r>
              <a:rPr sz="1500" b="0">
                <a:solidFill>
                  <a:srgbClr val="9CDCFE"/>
                </a:solidFill>
                <a:latin typeface="Arial"/>
              </a:rPr>
              <a:t>so one mathematical breakthrough cannot break everything at once.</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SLH-DSA has larger signatures but rests only on hash-function security — the most conservative assumption available.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Hybrid mode during transition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Run classical AND post-quantum together, combining both shared secrets: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shared_secret  =  KDF( ECDH_secret  ||  ML-KEM_secret )</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The session stays secure if EITHER component holds.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Already deployed: X25519+ML-KEM768 in Chrome, Firefox, Cloudflare,</a:t>
            </a:r>
          </a:p>
          <a:p>
            <a:pPr algn="l">
              <a:spcAft>
                <a:spcPts val="300"/>
              </a:spcAft>
            </a:pPr>
            <a:r>
              <a:rPr sz="1500" b="0">
                <a:solidFill>
                  <a:srgbClr val="9CDCFE"/>
                </a:solidFill>
                <a:latin typeface="Arial"/>
              </a:rPr>
              <a:t>Signal (PQXDH), Apple iMessage (PQ3), OpenSSH 9.x.</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Hybrid protects against both a future quantum attack AND an implementation flaw in the new, less battle-tested PQC code.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DO ON MONDAY MORNING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Build crypto-agility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real lesson of this migration is that there will be ANOTHER one.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 never hardcode algorithms — make them configuration</a:t>
            </a:r>
          </a:p>
          <a:p>
            <a:pPr algn="l">
              <a:spcAft>
                <a:spcPts val="300"/>
              </a:spcAft>
            </a:pPr>
            <a:r>
              <a:rPr sz="1500" b="0">
                <a:solidFill>
                  <a:srgbClr val="9CDCFE"/>
                </a:solidFill>
                <a:latin typeface="Arial"/>
              </a:rPr>
              <a:t>   • negotiate algorithms at the protocol level</a:t>
            </a:r>
          </a:p>
          <a:p>
            <a:pPr algn="l">
              <a:spcAft>
                <a:spcPts val="300"/>
              </a:spcAft>
            </a:pPr>
            <a:r>
              <a:rPr sz="1500" b="0">
                <a:solidFill>
                  <a:srgbClr val="9CDCFE"/>
                </a:solidFill>
                <a:latin typeface="Arial"/>
              </a:rPr>
              <a:t>   • centralise crypto in a library or service, not scattered in apps</a:t>
            </a:r>
          </a:p>
          <a:p>
            <a:pPr algn="l">
              <a:spcAft>
                <a:spcPts val="300"/>
              </a:spcAft>
            </a:pPr>
            <a:r>
              <a:rPr sz="1500" b="0">
                <a:solidFill>
                  <a:srgbClr val="9CDCFE"/>
                </a:solidFill>
                <a:latin typeface="Arial"/>
              </a:rPr>
              <a:t>   • keep certificate lifetimes short so rotation is routine</a:t>
            </a:r>
          </a:p>
          <a:p>
            <a:pPr algn="l">
              <a:spcAft>
                <a:spcPts val="300"/>
              </a:spcAft>
            </a:pPr>
            <a:r>
              <a:rPr sz="1500" b="0">
                <a:solidFill>
                  <a:srgbClr val="9CDCFE"/>
                </a:solidFill>
                <a:latin typeface="Arial"/>
              </a:rPr>
              <a:t>   • test algorithm swaps in CI</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Design goal: changing algorithm should be a CONFIG change, not a rewrite.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Organisations that built crypto-agility for the SHA-1 to SHA-2 migration are finding the PQC transition dramatically cheaper.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Two meanings of 'quantum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1. SECURITY AGAINST quantum computers</a:t>
            </a:r>
          </a:p>
          <a:p>
            <a:pPr algn="l">
              <a:spcAft>
                <a:spcPts val="300"/>
              </a:spcAft>
            </a:pPr>
            <a:r>
              <a:rPr sz="1500" b="0">
                <a:solidFill>
                  <a:srgbClr val="9CDCFE"/>
                </a:solidFill>
                <a:latin typeface="Arial"/>
              </a:rPr>
              <a:t>      = Post-Quantum Cryptography (PQC)</a:t>
            </a:r>
          </a:p>
          <a:p>
            <a:pPr algn="l">
              <a:spcAft>
                <a:spcPts val="300"/>
              </a:spcAft>
            </a:pPr>
            <a:r>
              <a:rPr sz="1500" b="0">
                <a:solidFill>
                  <a:srgbClr val="9CDCFE"/>
                </a:solidFill>
                <a:latin typeface="Arial"/>
              </a:rPr>
              <a:t>      Classical maths, classical hardware, believed quantum-resistant.</a:t>
            </a:r>
          </a:p>
          <a:p>
            <a:pPr algn="l">
              <a:spcAft>
                <a:spcPts val="300"/>
              </a:spcAft>
            </a:pPr>
            <a:r>
              <a:rPr sz="1500" b="0">
                <a:solidFill>
                  <a:srgbClr val="9CDCFE"/>
                </a:solidFill>
                <a:latin typeface="Arial"/>
              </a:rPr>
              <a:t>      Runs on the machines you already own.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2. SECURITY USING quantum physics</a:t>
            </a:r>
          </a:p>
          <a:p>
            <a:pPr algn="l">
              <a:spcAft>
                <a:spcPts val="300"/>
              </a:spcAft>
            </a:pPr>
            <a:r>
              <a:rPr sz="1500" b="0">
                <a:solidFill>
                  <a:srgbClr val="9CDCFE"/>
                </a:solidFill>
                <a:latin typeface="Arial"/>
              </a:rPr>
              <a:t>      = QKD, QRNG, device-independent cryptography</a:t>
            </a:r>
          </a:p>
          <a:p>
            <a:pPr algn="l">
              <a:spcAft>
                <a:spcPts val="300"/>
              </a:spcAft>
            </a:pPr>
            <a:r>
              <a:rPr sz="1500" b="0">
                <a:solidFill>
                  <a:srgbClr val="9CDCFE"/>
                </a:solidFill>
                <a:latin typeface="Arial"/>
              </a:rPr>
              <a:t>      Needs quantum hardware; security from physical law.</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These are constantly conflated in vendor marketing. Know which one is being sold to you.</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SHOR   breaks RSA, DH, ECC, ECDSA outright — polynomial time.</a:t>
            </a:r>
          </a:p>
          <a:p>
            <a:pPr algn="l">
              <a:spcAft>
                <a:spcPts val="300"/>
              </a:spcAft>
            </a:pPr>
            <a:r>
              <a:rPr sz="1320" b="0">
                <a:solidFill>
                  <a:srgbClr val="9CDCFE"/>
                </a:solidFill>
                <a:latin typeface="Arial"/>
              </a:rPr>
              <a:t>          All public-key crypto in use today fails.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GROVER halves effective symmetric key length.</a:t>
            </a:r>
          </a:p>
          <a:p>
            <a:pPr algn="l">
              <a:spcAft>
                <a:spcPts val="300"/>
              </a:spcAft>
            </a:pPr>
            <a:r>
              <a:rPr sz="1320" b="0">
                <a:solidFill>
                  <a:srgbClr val="9CDCFE"/>
                </a:solidFill>
                <a:latin typeface="Arial"/>
              </a:rPr>
              <a:t>          AES-128 -&gt; ~64-bit security;  AES-256 stays safe.</a:t>
            </a:r>
          </a:p>
          <a:p>
            <a:pPr algn="l">
              <a:spcAft>
                <a:spcPts val="300"/>
              </a:spcAft>
            </a:pPr>
            <a:r>
              <a:rPr sz="1320" b="0">
                <a:solidFill>
                  <a:srgbClr val="9CDCFE"/>
                </a:solidFill>
                <a:latin typeface="Arial"/>
              </a:rPr>
              <a:t>          (In practice the parallelisation penalty makes this weaker still.)</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HARVEST NOW, DECRYPT LATER</a:t>
            </a:r>
          </a:p>
          <a:p>
            <a:pPr algn="l">
              <a:spcAft>
                <a:spcPts val="300"/>
              </a:spcAft>
            </a:pPr>
            <a:r>
              <a:rPr sz="1320" b="0">
                <a:solidFill>
                  <a:srgbClr val="9CDCFE"/>
                </a:solidFill>
                <a:latin typeface="Arial"/>
              </a:rPr>
              <a:t>          The attack is happening TODAY. Encrypted traffic is being</a:t>
            </a:r>
          </a:p>
          <a:p>
            <a:pPr algn="l">
              <a:spcAft>
                <a:spcPts val="300"/>
              </a:spcAft>
            </a:pPr>
            <a:r>
              <a:rPr sz="1320" b="0">
                <a:solidFill>
                  <a:srgbClr val="9CDCFE"/>
                </a:solidFill>
                <a:latin typeface="Arial"/>
              </a:rPr>
              <a:t>          recorded now for decryption once a CRQC exists.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Note the asymmetry: symmetric crypto survives with bigger keys; public-key crypto must be replaced entirely.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QKD vs PQC — an honest comparison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   QKD                              PQC</a:t>
            </a:r>
          </a:p>
          <a:p>
            <a:pPr algn="l">
              <a:spcAft>
                <a:spcPts val="300"/>
              </a:spcAft>
            </a:pPr>
            <a:r>
              <a:rPr sz="1500" b="0">
                <a:solidFill>
                  <a:srgbClr val="9CDCFE"/>
                </a:solidFill>
                <a:latin typeface="Arial"/>
              </a:rPr>
              <a:t>   security from physics            security from hard maths</a:t>
            </a:r>
          </a:p>
          <a:p>
            <a:pPr algn="l">
              <a:spcAft>
                <a:spcPts val="300"/>
              </a:spcAft>
            </a:pPr>
            <a:r>
              <a:rPr sz="1500" b="0">
                <a:solidFill>
                  <a:srgbClr val="9CDCFE"/>
                </a:solidFill>
                <a:latin typeface="Arial"/>
              </a:rPr>
              <a:t>   needs dedicated fibre/satellite  runs on existing hardware</a:t>
            </a:r>
          </a:p>
          <a:p>
            <a:pPr algn="l">
              <a:spcAft>
                <a:spcPts val="300"/>
              </a:spcAft>
            </a:pPr>
            <a:r>
              <a:rPr sz="1500" b="0">
                <a:solidFill>
                  <a:srgbClr val="9CDCFE"/>
                </a:solidFill>
                <a:latin typeface="Arial"/>
              </a:rPr>
              <a:t>   ~100-500 km without repeaters    unlimited range (internet)</a:t>
            </a:r>
          </a:p>
          <a:p>
            <a:pPr algn="l">
              <a:spcAft>
                <a:spcPts val="300"/>
              </a:spcAft>
            </a:pPr>
            <a:r>
              <a:rPr sz="1500" b="0">
                <a:solidFill>
                  <a:srgbClr val="9CDCFE"/>
                </a:solidFill>
                <a:latin typeface="Arial"/>
              </a:rPr>
              <a:t>   expensive dedicated hardware     software update</a:t>
            </a:r>
          </a:p>
          <a:p>
            <a:pPr algn="l">
              <a:spcAft>
                <a:spcPts val="300"/>
              </a:spcAft>
            </a:pPr>
            <a:r>
              <a:rPr sz="1500" b="0">
                <a:solidFill>
                  <a:srgbClr val="9CDCFE"/>
                </a:solidFill>
                <a:latin typeface="Arial"/>
              </a:rPr>
              <a:t>   no authentication built in       signatures included</a:t>
            </a:r>
          </a:p>
          <a:p>
            <a:pPr algn="l">
              <a:spcAft>
                <a:spcPts val="300"/>
              </a:spcAft>
            </a:pPr>
            <a:r>
              <a:rPr sz="1500" b="0">
                <a:solidFill>
                  <a:srgbClr val="9CDCFE"/>
                </a:solidFill>
                <a:latin typeface="Arial"/>
              </a:rPr>
              <a:t>   point-to-point links             works at internet scale</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NSA/NCSC advise PQC for general use; QKD suits specific high-value links.</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QKD is NOT a drop-in replacement for public-key infrastructure — it still needs an authenticated classical channel to prevent man-in-the-middle.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random number generation (QRNG)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Classical PRNGs are DETERMINISTIC — given the seed, the output follows.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QRNG derives randomness from a genuinely indeterministic quantum event:</a:t>
            </a:r>
          </a:p>
          <a:p>
            <a:pPr algn="l">
              <a:spcAft>
                <a:spcPts val="300"/>
              </a:spcAft>
            </a:pPr>
            <a:r>
              <a:rPr sz="1500" b="0">
                <a:solidFill>
                  <a:srgbClr val="9CDCFE"/>
                </a:solidFill>
                <a:latin typeface="Arial"/>
              </a:rPr>
              <a:t>   • which path a photon takes at a beamsplitter</a:t>
            </a:r>
          </a:p>
          <a:p>
            <a:pPr algn="l">
              <a:spcAft>
                <a:spcPts val="300"/>
              </a:spcAft>
            </a:pPr>
            <a:r>
              <a:rPr sz="1500" b="0">
                <a:solidFill>
                  <a:srgbClr val="9CDCFE"/>
                </a:solidFill>
                <a:latin typeface="Arial"/>
              </a:rPr>
              <a:t>   • vacuum fluctuation amplitude</a:t>
            </a:r>
          </a:p>
          <a:p>
            <a:pPr algn="l">
              <a:spcAft>
                <a:spcPts val="300"/>
              </a:spcAft>
            </a:pPr>
            <a:r>
              <a:rPr sz="1500" b="0">
                <a:solidFill>
                  <a:srgbClr val="9CDCFE"/>
                </a:solidFill>
                <a:latin typeface="Arial"/>
              </a:rPr>
              <a:t>   • arrival-time jitter of photons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Axiom 4 (the Born rule) guarantees the outcome is fundamentally random,</a:t>
            </a:r>
          </a:p>
          <a:p>
            <a:pPr algn="l">
              <a:spcAft>
                <a:spcPts val="300"/>
              </a:spcAft>
            </a:pPr>
            <a:r>
              <a:rPr sz="1500" b="0">
                <a:solidFill>
                  <a:srgbClr val="9CDCFE"/>
                </a:solidFill>
                <a:latin typeface="Arial"/>
              </a:rPr>
              <a:t>not merely hard to predict.</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QRNG is the most mature and deployable quantum security technology today — and weak randomness is a very common real-world failure.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THREATS, DEFENCES AND WHAT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Defence-in-depth for the quantum era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NOW      inventory crypto; switch to AES-256 and SHA-384/512;</a:t>
            </a:r>
          </a:p>
          <a:p>
            <a:pPr algn="l">
              <a:spcAft>
                <a:spcPts val="300"/>
              </a:spcAft>
            </a:pPr>
            <a:r>
              <a:rPr sz="1320" b="0">
                <a:solidFill>
                  <a:srgbClr val="9CDCFE"/>
                </a:solidFill>
                <a:latin typeface="Arial"/>
              </a:rPr>
              <a:t>            deploy hybrid key exchange; buy crypto-agility</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NEXT     migrate signatures to ML-DSA; PQC certificate chains;</a:t>
            </a:r>
          </a:p>
          <a:p>
            <a:pPr algn="l">
              <a:spcAft>
                <a:spcPts val="300"/>
              </a:spcAft>
            </a:pPr>
            <a:r>
              <a:rPr sz="1320" b="0">
                <a:solidFill>
                  <a:srgbClr val="9CDCFE"/>
                </a:solidFill>
                <a:latin typeface="Arial"/>
              </a:rPr>
              <a:t>            update embedded and IoT firmware pipelines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ONGOING  monitor NIST/vendor guidance; re-run the CBOM;</a:t>
            </a:r>
          </a:p>
          <a:p>
            <a:pPr algn="l">
              <a:spcAft>
                <a:spcPts val="300"/>
              </a:spcAft>
            </a:pPr>
            <a:r>
              <a:rPr sz="1320" b="0">
                <a:solidFill>
                  <a:srgbClr val="9CDCFE"/>
                </a:solidFill>
                <a:latin typeface="Arial"/>
              </a:rPr>
              <a:t>            treat algorithm agility as a permanent capability</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SPECIAL  QKD only where the threat model and budget genuinely justify it</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sequencing matters: confidentiality (harvest-now risk) before authenticity (which an attacker must break in real time).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Shor's Algorithm Breaks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Factoring reduces to period finding, which a quantum computer solves in polynomial time.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7833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Goal: factor a composite N (e.g. an RSA modulus).</a:t>
            </a:r>
          </a:p>
        </p:txBody>
      </p:sp>
      <p:sp>
        <p:nvSpPr>
          <p:cNvPr id="15" name="Rectangle 14"/>
          <p:cNvSpPr/>
          <p:nvPr/>
        </p:nvSpPr>
        <p:spPr>
          <a:xfrm>
            <a:off x="777240" y="4642104"/>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642104"/>
            <a:ext cx="82296" cy="7833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642104"/>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Best known classical method (GNFS) is sub-exponential: exp(O((log N)^(1/3))).</a:t>
            </a:r>
          </a:p>
        </p:txBody>
      </p:sp>
      <p:sp>
        <p:nvSpPr>
          <p:cNvPr id="18" name="Rectangle 17"/>
          <p:cNvSpPr/>
          <p:nvPr/>
        </p:nvSpPr>
        <p:spPr>
          <a:xfrm>
            <a:off x="777240" y="5553456"/>
            <a:ext cx="10634472" cy="7833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53456"/>
            <a:ext cx="82296" cy="7833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553456"/>
            <a:ext cx="10149840" cy="783336"/>
          </a:xfrm>
          <a:prstGeom prst="rect">
            <a:avLst/>
          </a:prstGeom>
          <a:noFill/>
        </p:spPr>
        <p:txBody>
          <a:bodyPr wrap="square" anchor="ctr">
            <a:spAutoFit/>
          </a:bodyPr>
          <a:lstStyle/>
          <a:p>
            <a:pPr algn="l">
              <a:spcAft>
                <a:spcPts val="400"/>
              </a:spcAft>
            </a:pPr>
            <a:r>
              <a:rPr sz="1300" b="0">
                <a:solidFill>
                  <a:srgbClr val="161B26"/>
                </a:solidFill>
                <a:latin typeface="Arial"/>
              </a:rPr>
              <a:t>Shor runs in O((log N)³) — polynomial.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Reduce factoring to order finding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011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1719072"/>
          </a:xfrm>
          <a:prstGeom prst="rect">
            <a:avLst/>
          </a:prstGeom>
          <a:noFill/>
        </p:spPr>
        <p:txBody>
          <a:bodyPr wrap="square" anchor="t">
            <a:spAutoFit/>
          </a:bodyPr>
          <a:lstStyle/>
          <a:p>
            <a:pPr algn="l">
              <a:spcAft>
                <a:spcPts val="300"/>
              </a:spcAft>
            </a:pPr>
            <a:r>
              <a:rPr sz="1550" b="0">
                <a:solidFill>
                  <a:srgbClr val="9CDCFE"/>
                </a:solidFill>
                <a:latin typeface="Arial"/>
              </a:rPr>
              <a:t>Pick a random a with 1 &lt; a &lt; N.</a:t>
            </a:r>
          </a:p>
          <a:p>
            <a:pPr algn="l">
              <a:spcAft>
                <a:spcPts val="300"/>
              </a:spcAft>
            </a:pPr>
            <a:r>
              <a:rPr sz="1550" b="0">
                <a:solidFill>
                  <a:srgbClr val="9CDCFE"/>
                </a:solidFill>
                <a:latin typeface="Arial"/>
              </a:rPr>
              <a:t>If gcd(a, N) ≠ 1 we already have a factor (lucky — done).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Otherwise find the ORDER r: the smallest r &gt; 0 with</a:t>
            </a:r>
          </a:p>
          <a:p>
            <a:pPr algn="l">
              <a:spcAft>
                <a:spcPts val="300"/>
              </a:spcAft>
            </a:pPr>
            <a:r>
              <a:rPr sz="1550" b="0">
                <a:solidFill>
                  <a:srgbClr val="9CDCFE"/>
                </a:solidFill>
                <a:latin typeface="Arial"/>
              </a:rPr>
              <a:t>   a^r ≡ 1  (mod N)</a:t>
            </a:r>
          </a:p>
        </p:txBody>
      </p:sp>
      <p:sp>
        <p:nvSpPr>
          <p:cNvPr id="9" name="Rectangle 8"/>
          <p:cNvSpPr/>
          <p:nvPr/>
        </p:nvSpPr>
        <p:spPr>
          <a:xfrm>
            <a:off x="777240" y="4023360"/>
            <a:ext cx="10634472" cy="20299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023360"/>
            <a:ext cx="82296"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23360"/>
            <a:ext cx="10149840" cy="202996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reduction is entirely CLASSICAL number theory — no quantum yet.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Why the order gives a factor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If r is EVEN, then a^r - 1 ≡ 0 (mod N) factors as: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(a^(r/2) - 1)(a^(r/2) + 1)  ≡  0   (mod 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So N divides that product. Provided a^(r/2) ≢ -1 (mod N),</a:t>
            </a:r>
          </a:p>
          <a:p>
            <a:pPr algn="l">
              <a:spcAft>
                <a:spcPts val="300"/>
              </a:spcAft>
            </a:pPr>
            <a:r>
              <a:rPr sz="1550" b="0">
                <a:solidFill>
                  <a:srgbClr val="9CDCFE"/>
                </a:solidFill>
                <a:latin typeface="Arial"/>
              </a:rPr>
              <a:t>   gcd(a^(r/2) - 1, N)  and  gcd(a^(r/2) + 1, N)</a:t>
            </a:r>
          </a:p>
          <a:p>
            <a:pPr algn="l">
              <a:spcAft>
                <a:spcPts val="300"/>
              </a:spcAft>
            </a:pPr>
            <a:r>
              <a:rPr sz="1550" b="0">
                <a:solidFill>
                  <a:srgbClr val="9CDCFE"/>
                </a:solidFill>
                <a:latin typeface="Arial"/>
              </a:rPr>
              <a:t>are NON-TRIVIAL factors of N.</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P(r even AND the condition holds) ≥ 1/2 for random a — so a few tries suffice.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gcd is computed classically in polynomial time by Euclid's algorithm.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Worked example: N = 15, a =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Powers of 7 mod 15:</a:t>
            </a:r>
          </a:p>
          <a:p>
            <a:pPr algn="l">
              <a:spcAft>
                <a:spcPts val="300"/>
              </a:spcAft>
            </a:pPr>
            <a:r>
              <a:rPr sz="1350" b="0">
                <a:solidFill>
                  <a:srgbClr val="9CDCFE"/>
                </a:solidFill>
                <a:latin typeface="Arial"/>
              </a:rPr>
              <a:t>   7¹ = 7,  7² = 49 ≡ 4,  7³ ≡ 28 ≡ 13,  7⁴ ≡ 91 ≡ 1</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So r = 4 (even, good).</a:t>
            </a:r>
          </a:p>
          <a:p>
            <a:pPr algn="l">
              <a:spcAft>
                <a:spcPts val="300"/>
              </a:spcAft>
            </a:pPr>
            <a:r>
              <a:rPr sz="1350" b="0">
                <a:solidFill>
                  <a:srgbClr val="9CDCFE"/>
                </a:solidFill>
                <a:latin typeface="Arial"/>
              </a:rPr>
              <a:t>   a^(r/2) = 7² = 49 ≡ 4 (mod 15),  and 4 ≢ -1, so we may proceed.</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gcd(4 - 1, 15) = gcd(3, 15) = 3</a:t>
            </a:r>
          </a:p>
          <a:p>
            <a:pPr algn="l">
              <a:spcAft>
                <a:spcPts val="300"/>
              </a:spcAft>
            </a:pPr>
            <a:r>
              <a:rPr sz="1350" b="0">
                <a:solidFill>
                  <a:srgbClr val="9CDCFE"/>
                </a:solidFill>
                <a:latin typeface="Arial"/>
              </a:rPr>
              <a:t>   gcd(4 + 1, 15) = gcd(5, 15) = 5</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15 = 3 × 5      FACTORED</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Everything here was classical — the only hard step is FINDING 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The quantum part: period finding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661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73552"/>
          </a:xfrm>
          <a:prstGeom prst="rect">
            <a:avLst/>
          </a:prstGeom>
          <a:noFill/>
        </p:spPr>
        <p:txBody>
          <a:bodyPr wrap="square" anchor="t">
            <a:spAutoFit/>
          </a:bodyPr>
          <a:lstStyle/>
          <a:p>
            <a:pPr algn="l">
              <a:spcAft>
                <a:spcPts val="300"/>
              </a:spcAft>
            </a:pPr>
            <a:r>
              <a:rPr sz="1350" b="0">
                <a:solidFill>
                  <a:srgbClr val="9CDCFE"/>
                </a:solidFill>
                <a:latin typeface="Arial"/>
              </a:rPr>
              <a:t>Prepare a counting register in superposition and compute a^x mod N:</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(1/√Q) Σ_x |x&gt; |a^x mod N&gt;</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Measure the second register. It collapses to some value a^(x₀) mod N,</a:t>
            </a:r>
          </a:p>
          <a:p>
            <a:pPr algn="l">
              <a:spcAft>
                <a:spcPts val="300"/>
              </a:spcAft>
            </a:pPr>
            <a:r>
              <a:rPr sz="1350" b="0">
                <a:solidFill>
                  <a:srgbClr val="9CDCFE"/>
                </a:solidFill>
                <a:latin typeface="Arial"/>
              </a:rPr>
              <a:t>leaving the first register in a superposition of all x with the same value:</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|x₀&gt; + |x₀ + r&gt; + |x₀ + 2r&gt; + …</a:t>
            </a:r>
          </a:p>
          <a:p>
            <a:pPr algn="l">
              <a:spcAft>
                <a:spcPts val="300"/>
              </a:spcAft>
            </a:pPr>
            <a:r>
              <a:rPr sz="1350" b="0">
                <a:solidFill>
                  <a:srgbClr val="0B1220"/>
                </a:solidFill>
                <a:latin typeface="Arial"/>
              </a:rPr>
              <a:t> </a:t>
            </a:r>
          </a:p>
          <a:p>
            <a:pPr algn="l">
              <a:spcAft>
                <a:spcPts val="300"/>
              </a:spcAft>
            </a:pPr>
            <a:r>
              <a:rPr sz="1350" b="0">
                <a:solidFill>
                  <a:srgbClr val="9CDCFE"/>
                </a:solidFill>
                <a:latin typeface="Arial"/>
              </a:rPr>
              <a:t>— a PERIODIC state with period exactly r.</a:t>
            </a:r>
          </a:p>
        </p:txBody>
      </p:sp>
      <p:sp>
        <p:nvSpPr>
          <p:cNvPr id="9" name="Rectangle 8"/>
          <p:cNvSpPr/>
          <p:nvPr/>
        </p:nvSpPr>
        <p:spPr>
          <a:xfrm>
            <a:off x="777240" y="557784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77840"/>
            <a:ext cx="82296"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77840"/>
            <a:ext cx="10149840" cy="475488"/>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period is encoded in the register, but measuring directly would just give one random x — useless. The QFT is needed to expose the period.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QFT extracts the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Apply the inverse QFT to the counting register.</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QFT of a periodic comb is a comb with reciprocal spacing: the amplitude</a:t>
            </a:r>
          </a:p>
          <a:p>
            <a:pPr algn="l">
              <a:spcAft>
                <a:spcPts val="300"/>
              </a:spcAft>
            </a:pPr>
            <a:r>
              <a:rPr sz="1550" b="0">
                <a:solidFill>
                  <a:srgbClr val="9CDCFE"/>
                </a:solidFill>
                <a:latin typeface="Arial"/>
              </a:rPr>
              <a:t>concentrates on multiples of Q/r. Measuring yields, with high probability,</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y  ≈  k·Q/r      for some integer k</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Then  y/Q ≈ k/r, and CONTINUED FRACTIONS recover r from that rational</a:t>
            </a:r>
          </a:p>
          <a:p>
            <a:pPr algn="l">
              <a:spcAft>
                <a:spcPts val="300"/>
              </a:spcAft>
            </a:pPr>
            <a:r>
              <a:rPr sz="1550" b="0">
                <a:solidFill>
                  <a:srgbClr val="9CDCFE"/>
                </a:solidFill>
                <a:latin typeface="Arial"/>
              </a:rPr>
              <a:t>approximation.</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The QFT costs only O(n²) gates — this is where the exponential speedup lives.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SHOR'S ALGORITHM BREAKS RSA  ·  STEP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Cost and consequence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Total: O((log N)³) operations — POLYNOMIAL in the number of 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RSA-2048 estimates: roughly 4,000 logical qubits and ~10⁹ Toffoli gates,</a:t>
            </a:r>
          </a:p>
          <a:p>
            <a:pPr algn="l">
              <a:spcAft>
                <a:spcPts val="300"/>
              </a:spcAft>
            </a:pPr>
            <a:r>
              <a:rPr sz="1550" b="0">
                <a:solidFill>
                  <a:srgbClr val="9CDCFE"/>
                </a:solidFill>
                <a:latin typeface="Arial"/>
              </a:rPr>
              <a:t>which at realistic error rates means MILLIONS of physical qubits.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Shor also breaks Diffie-Hellman and ECC (the discrete-log problem).</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 achievable today — but 'harvest now, decrypt later' means data captured today is already at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Breaks RSA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Given the order r of a mod N, the factors follow classically from gcd(a^(r/2) ± 1, N). The quantum computer supplies r in polynomial time via the QFT.</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Shor is the reason post-quantum cryptography exists. Every public-key system in use today — RSA, DH, ECDSA — is broken by it, which is why NIST standardised ML-KEM, ML-DSA and SLH-DSA.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Hands-On Activities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13</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Shor's Algorithm and the Quantum Threat to RSA</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14</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Post-Quantum Cryptography Migration Assessment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See how factoring reduces to period finding, run the quantum period-finding circuit that sits at the heart of Shor's algorithm, and recover the factors of N = 15 from the measured period.</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period-finding circuit whose measured output yields the period r, from which the factors of N = 15 are classically recovered.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13: Shor's Algorithm and the Quantum Threat to RSA</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measured phase yields period r = 4 for a = 7 and N = 15, and the classical post-processing step recovers the correct factors 3 and 5.</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Assess which cryptography in a realistic system is broken by a quantum computer, map each algorithm to its NIST post-quantum replacement, and produce a prioritised migration plan against the harvest-now-decrypt-later risk.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completed cryptographic inventory and a prioritised PQC migration plan for a sample organisation.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NIST FIPS 203/204/205, OpenSSL,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14: Post-Quantum Cryptography Migration Assessment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inventory correctly separates Shor-broken asymmetric algorithms from Grover-weakened symmetric ones, maps each to the correct NIST FIPS standard, and ranks migration priority by how long the data must remain confidential.</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Goals of cryptography</a:t>
            </a:r>
          </a:p>
          <a:p>
            <a:pPr>
              <a:spcAft>
                <a:spcPts val="1000"/>
              </a:spcAft>
            </a:pPr>
            <a:r>
              <a:rPr sz="1600">
                <a:solidFill>
                  <a:srgbClr val="161B26"/>
                </a:solidFill>
                <a:latin typeface="Arial"/>
              </a:rPr>
              <a:t>•  Classical schemes</a:t>
            </a:r>
          </a:p>
          <a:p>
            <a:pPr>
              <a:spcAft>
                <a:spcPts val="1000"/>
              </a:spcAft>
            </a:pPr>
            <a:r>
              <a:rPr sz="1600">
                <a:solidFill>
                  <a:srgbClr val="161B26"/>
                </a:solidFill>
                <a:latin typeface="Arial"/>
              </a:rPr>
              <a:t>•  The quantum threat</a:t>
            </a:r>
          </a:p>
          <a:p>
            <a:pPr>
              <a:spcAft>
                <a:spcPts val="1000"/>
              </a:spcAft>
            </a:pPr>
            <a:r>
              <a:rPr sz="1600">
                <a:solidFill>
                  <a:srgbClr val="161B26"/>
                </a:solidFill>
                <a:latin typeface="Arial"/>
              </a:rPr>
              <a:t>•  Shor's algorithm</a:t>
            </a:r>
          </a:p>
          <a:p>
            <a:pPr>
              <a:spcAft>
                <a:spcPts val="1000"/>
              </a:spcAft>
            </a:pPr>
            <a:r>
              <a:rPr sz="1600">
                <a:solidFill>
                  <a:srgbClr val="161B26"/>
                </a:solidFill>
                <a:latin typeface="Arial"/>
              </a:rPr>
              <a:t>•  Harvest now, decrypt later</a:t>
            </a:r>
          </a:p>
          <a:p>
            <a:pPr>
              <a:spcAft>
                <a:spcPts val="1000"/>
              </a:spcAft>
            </a:pPr>
            <a:r>
              <a:rPr sz="1600">
                <a:solidFill>
                  <a:srgbClr val="161B26"/>
                </a:solidFill>
                <a:latin typeface="Arial"/>
              </a:rPr>
              <a:t>•  Post-quantum cryptography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Computing Applications and Use Cases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Finance · Healthcare · Science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Key Concepts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Finance</a:t>
            </a:r>
          </a:p>
          <a:p>
            <a:pPr algn="l">
              <a:spcAft>
                <a:spcPts val="300"/>
              </a:spcAft>
            </a:pPr>
            <a:r>
              <a:rPr sz="1100" b="0">
                <a:solidFill>
                  <a:srgbClr val="5B6372"/>
                </a:solidFill>
                <a:latin typeface="Arial"/>
              </a:rPr>
              <a:t>Portfolio optimisation, derivative pricing via amplitude estimation, credit risk and fraud detection are the leading finance use cases.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Healthcare and life sciences</a:t>
            </a:r>
          </a:p>
          <a:p>
            <a:pPr algn="l">
              <a:spcAft>
                <a:spcPts val="300"/>
              </a:spcAft>
            </a:pPr>
            <a:r>
              <a:rPr sz="1100" b="0">
                <a:solidFill>
                  <a:srgbClr val="5B6372"/>
                </a:solidFill>
                <a:latin typeface="Arial"/>
              </a:rPr>
              <a:t>Molecular simulation with VQE, protein folding and accelerated drug discovery target problems classical HPC cannot 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Science and materials</a:t>
            </a:r>
          </a:p>
          <a:p>
            <a:pPr algn="l">
              <a:spcAft>
                <a:spcPts val="300"/>
              </a:spcAft>
            </a:pPr>
            <a:r>
              <a:rPr sz="1100" b="0">
                <a:solidFill>
                  <a:srgbClr val="5B6372"/>
                </a:solidFill>
                <a:latin typeface="Arial"/>
              </a:rPr>
              <a:t>Simulating catalysts, superconductors, nitrogen fixation and battery chemistry is quantum computing's most natural application.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Optimisation and logistics</a:t>
            </a:r>
          </a:p>
          <a:p>
            <a:pPr algn="l">
              <a:spcAft>
                <a:spcPts val="300"/>
              </a:spcAft>
            </a:pPr>
            <a:r>
              <a:rPr sz="1100" b="0">
                <a:solidFill>
                  <a:srgbClr val="5B6372"/>
                </a:solidFill>
                <a:latin typeface="Arial"/>
              </a:rPr>
              <a:t>QAOA addresses routing, scheduling and Max-Cut style combinatorial problems across supply chains and energy grids.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machine learning</a:t>
            </a:r>
          </a:p>
          <a:p>
            <a:pPr algn="l">
              <a:spcAft>
                <a:spcPts val="300"/>
              </a:spcAft>
            </a:pPr>
            <a:r>
              <a:rPr sz="1100" b="0">
                <a:solidFill>
                  <a:srgbClr val="5B6372"/>
                </a:solidFill>
                <a:latin typeface="Arial"/>
              </a:rPr>
              <a:t>Quantum kernels and variational classifiers explore feature spaces that are expensive to compute classically.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Assessing business value</a:t>
            </a:r>
          </a:p>
          <a:p>
            <a:pPr algn="l">
              <a:spcAft>
                <a:spcPts val="300"/>
              </a:spcAft>
            </a:pPr>
            <a:r>
              <a:rPr sz="1100" b="0">
                <a:solidFill>
                  <a:srgbClr val="5B6372"/>
                </a:solidFill>
                <a:latin typeface="Arial"/>
              </a:rPr>
              <a:t>Evaluate a use case on problem structure, data size, required qubit count and whether a classical method already suffices.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USE CASES BY SECTOR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Quantum Creates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lications-map.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best candidates are problems with quantum structure — chemistry and optimisation — not big-data problems.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FLAGSHIP NEAR-TERM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VQE — Simulating Molecules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qe-convergence.png"/>
          <p:cNvPicPr>
            <a:picLocks noChangeAspect="1"/>
          </p:cNvPicPr>
          <p:nvPr/>
        </p:nvPicPr>
        <p:blipFill>
          <a:blip r:embed="rId2"/>
          <a:stretch>
            <a:fillRect/>
          </a:stretch>
        </p:blipFill>
        <p:spPr>
          <a:xfrm>
            <a:off x="777240" y="2352470"/>
            <a:ext cx="6400800" cy="306746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Hybrid loop</a:t>
            </a:r>
          </a:p>
          <a:p>
            <a:pPr algn="l">
              <a:spcAft>
                <a:spcPts val="300"/>
              </a:spcAft>
            </a:pPr>
            <a:r>
              <a:rPr sz="1200" b="0">
                <a:solidFill>
                  <a:srgbClr val="161B26"/>
                </a:solidFill>
                <a:latin typeface="Arial"/>
              </a:rPr>
              <a:t>A quantum circuit prepares the trial state; a classical optimiser tunes it.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Noise tolerant</a:t>
            </a:r>
          </a:p>
          <a:p>
            <a:pPr algn="l">
              <a:spcAft>
                <a:spcPts val="300"/>
              </a:spcAft>
            </a:pPr>
            <a:r>
              <a:rPr sz="1200" b="0">
                <a:solidFill>
                  <a:srgbClr val="161B26"/>
                </a:solidFill>
                <a:latin typeface="Arial"/>
              </a:rPr>
              <a:t>Shallow circuits make VQE practical on today's NISQ hardware.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The target</a:t>
            </a:r>
          </a:p>
          <a:p>
            <a:pPr algn="l">
              <a:spcAft>
                <a:spcPts val="300"/>
              </a:spcAft>
            </a:pPr>
            <a:r>
              <a:rPr sz="1200" b="0">
                <a:solidFill>
                  <a:srgbClr val="161B26"/>
                </a:solidFill>
                <a:latin typeface="Arial"/>
              </a:rPr>
              <a:t>Ground-state energy — the quantity that drives chemistry.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prize</a:t>
            </a:r>
          </a:p>
          <a:p>
            <a:pPr algn="l">
              <a:spcAft>
                <a:spcPts val="300"/>
              </a:spcAft>
            </a:pPr>
            <a:r>
              <a:rPr sz="1200" b="0">
                <a:solidFill>
                  <a:srgbClr val="161B26"/>
                </a:solidFill>
                <a:latin typeface="Arial"/>
              </a:rPr>
              <a:t>Catalysts, batteries and drug candidates simulated exactly.</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PRACTICAL CHECKLIST FOR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Assessing a Quantum Use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Does the problem have quantum structure?</a:t>
            </a:r>
          </a:p>
          <a:p>
            <a:pPr algn="l">
              <a:spcAft>
                <a:spcPts val="300"/>
              </a:spcAft>
            </a:pPr>
            <a:r>
              <a:rPr sz="1100" b="0">
                <a:solidFill>
                  <a:srgbClr val="5B6372"/>
                </a:solidFill>
                <a:latin typeface="Arial"/>
              </a:rPr>
              <a:t>Chemistry and optimisation map naturally; generic data processing does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How big is the data?</a:t>
            </a:r>
          </a:p>
          <a:p>
            <a:pPr algn="l">
              <a:spcAft>
                <a:spcPts val="300"/>
              </a:spcAft>
            </a:pPr>
            <a:r>
              <a:rPr sz="1100" b="0">
                <a:solidFill>
                  <a:srgbClr val="5B6372"/>
                </a:solidFill>
                <a:latin typeface="Arial"/>
              </a:rPr>
              <a:t>Loading large classical datasets into a quantum computer is itself a bottleneck.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qubit count is needed?</a:t>
            </a:r>
          </a:p>
          <a:p>
            <a:pPr algn="l">
              <a:spcAft>
                <a:spcPts val="300"/>
              </a:spcAft>
            </a:pPr>
            <a:r>
              <a:rPr sz="1100" b="0">
                <a:solidFill>
                  <a:srgbClr val="5B6372"/>
                </a:solidFill>
                <a:latin typeface="Arial"/>
              </a:rPr>
              <a:t>Estimate logical qubits, then multiply for error-correction overhead.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Is there a good classical method?</a:t>
            </a:r>
          </a:p>
          <a:p>
            <a:pPr algn="l">
              <a:spcAft>
                <a:spcPts val="300"/>
              </a:spcAft>
            </a:pPr>
            <a:r>
              <a:rPr sz="1100" b="0">
                <a:solidFill>
                  <a:srgbClr val="5B6372"/>
                </a:solidFill>
                <a:latin typeface="Arial"/>
              </a:rPr>
              <a:t>If a classical heuristic already solves it well, quantum adds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time horizon?</a:t>
            </a:r>
          </a:p>
          <a:p>
            <a:pPr algn="l">
              <a:spcAft>
                <a:spcPts val="300"/>
              </a:spcAft>
            </a:pPr>
            <a:r>
              <a:rPr sz="1100" b="0">
                <a:solidFill>
                  <a:srgbClr val="5B6372"/>
                </a:solidFill>
                <a:latin typeface="Arial"/>
              </a:rPr>
              <a:t>NISQ demos today; fault-tolerant advantage is a 2030s proposition.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cost of waiting?</a:t>
            </a:r>
          </a:p>
          <a:p>
            <a:pPr algn="l">
              <a:spcAft>
                <a:spcPts val="300"/>
              </a:spcAft>
            </a:pPr>
            <a:r>
              <a:rPr sz="1100" b="0">
                <a:solidFill>
                  <a:srgbClr val="5B6372"/>
                </a:solidFill>
                <a:latin typeface="Arial"/>
              </a:rPr>
              <a:t>For cryptography the answer is high — migrate now.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Four distinct intersections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014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08860"/>
          </a:xfrm>
          <a:prstGeom prst="rect">
            <a:avLst/>
          </a:prstGeom>
          <a:noFill/>
        </p:spPr>
        <p:txBody>
          <a:bodyPr wrap="square" anchor="t">
            <a:spAutoFit/>
          </a:bodyPr>
          <a:lstStyle/>
          <a:p>
            <a:pPr algn="l">
              <a:spcAft>
                <a:spcPts val="300"/>
              </a:spcAft>
            </a:pPr>
            <a:r>
              <a:rPr sz="1500" b="0">
                <a:solidFill>
                  <a:srgbClr val="9CDCFE"/>
                </a:solidFill>
                <a:latin typeface="Arial"/>
              </a:rPr>
              <a:t>   1. QUANTUM FOR AI    — quantum algorithms to speed up machine learning</a:t>
            </a:r>
          </a:p>
          <a:p>
            <a:pPr algn="l">
              <a:spcAft>
                <a:spcPts val="300"/>
              </a:spcAft>
            </a:pPr>
            <a:r>
              <a:rPr sz="1500" b="0">
                <a:solidFill>
                  <a:srgbClr val="9CDCFE"/>
                </a:solidFill>
                <a:latin typeface="Arial"/>
              </a:rPr>
              <a:t>   2. AI FOR QUANTUM    — machine learning to make quantum computers work</a:t>
            </a:r>
          </a:p>
          <a:p>
            <a:pPr algn="l">
              <a:spcAft>
                <a:spcPts val="300"/>
              </a:spcAft>
            </a:pPr>
            <a:r>
              <a:rPr sz="1500" b="0">
                <a:solidFill>
                  <a:srgbClr val="9CDCFE"/>
                </a:solidFill>
                <a:latin typeface="Arial"/>
              </a:rPr>
              <a:t>   3. QUANTUM-INSPIRED  — classical algorithms borrowed from quantum ideas</a:t>
            </a:r>
          </a:p>
          <a:p>
            <a:pPr algn="l">
              <a:spcAft>
                <a:spcPts val="300"/>
              </a:spcAft>
            </a:pPr>
            <a:r>
              <a:rPr sz="1500" b="0">
                <a:solidFill>
                  <a:srgbClr val="9CDCFE"/>
                </a:solidFill>
                <a:latin typeface="Arial"/>
              </a:rPr>
              <a:t>   4. SHARED INFRASTRUCTURE — hybrid classical/quantum/GPU pipelines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Intersection 2 is where the REAL commercial value sits today —</a:t>
            </a:r>
          </a:p>
          <a:p>
            <a:pPr algn="l">
              <a:spcAft>
                <a:spcPts val="300"/>
              </a:spcAft>
            </a:pPr>
            <a:r>
              <a:rPr sz="1500" b="0">
                <a:solidFill>
                  <a:srgbClr val="9CDCFE"/>
                </a:solidFill>
                <a:latin typeface="Arial"/>
              </a:rPr>
              <a:t>which is the reverse of what most headlines suggest.</a:t>
            </a:r>
          </a:p>
        </p:txBody>
      </p:sp>
      <p:sp>
        <p:nvSpPr>
          <p:cNvPr id="9" name="Rectangle 8"/>
          <p:cNvSpPr/>
          <p:nvPr/>
        </p:nvSpPr>
        <p:spPr>
          <a:xfrm>
            <a:off x="777240" y="4613148"/>
            <a:ext cx="10634472" cy="14401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13148"/>
            <a:ext cx="82296" cy="1440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13148"/>
            <a:ext cx="10149840" cy="1440180"/>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Be precise about which intersection is being discussed; they have completely different maturity levels.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machine learning — the honest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QUANTUM KERNELS     map data into a Hilbert space and compute inner</a:t>
            </a:r>
          </a:p>
          <a:p>
            <a:pPr algn="l">
              <a:spcAft>
                <a:spcPts val="300"/>
              </a:spcAft>
            </a:pPr>
            <a:r>
              <a:rPr sz="1320" b="0">
                <a:solidFill>
                  <a:srgbClr val="9CDCFE"/>
                </a:solidFill>
                <a:latin typeface="Arial"/>
              </a:rPr>
              <a:t>                       products a classical kernel cannot easily reach</a:t>
            </a:r>
          </a:p>
          <a:p>
            <a:pPr algn="l">
              <a:spcAft>
                <a:spcPts val="300"/>
              </a:spcAft>
            </a:pPr>
            <a:r>
              <a:rPr sz="1320" b="0">
                <a:solidFill>
                  <a:srgbClr val="9CDCFE"/>
                </a:solidFill>
                <a:latin typeface="Arial"/>
              </a:rPr>
              <a:t>   VARIATIONAL (VQC)   parameterised circuits trained like a neural net</a:t>
            </a:r>
          </a:p>
          <a:p>
            <a:pPr algn="l">
              <a:spcAft>
                <a:spcPts val="300"/>
              </a:spcAft>
            </a:pPr>
            <a:r>
              <a:rPr sz="1320" b="0">
                <a:solidFill>
                  <a:srgbClr val="9CDCFE"/>
                </a:solidFill>
                <a:latin typeface="Arial"/>
              </a:rPr>
              <a:t>   QUANTUM NEURAL NETS layered ansätze with gradient-based training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REALITY CHECK:</a:t>
            </a:r>
          </a:p>
          <a:p>
            <a:pPr algn="l">
              <a:spcAft>
                <a:spcPts val="300"/>
              </a:spcAft>
            </a:pPr>
            <a:r>
              <a:rPr sz="1320" b="0">
                <a:solidFill>
                  <a:srgbClr val="9CDCFE"/>
                </a:solidFill>
                <a:latin typeface="Arial"/>
              </a:rPr>
              <a:t>   • data loading is the bottleneck — encoding N classical values can</a:t>
            </a:r>
          </a:p>
          <a:p>
            <a:pPr algn="l">
              <a:spcAft>
                <a:spcPts val="300"/>
              </a:spcAft>
            </a:pPr>
            <a:r>
              <a:rPr sz="1320" b="0">
                <a:solidFill>
                  <a:srgbClr val="9CDCFE"/>
                </a:solidFill>
                <a:latin typeface="Arial"/>
              </a:rPr>
              <a:t>     cost O(N), destroying any speedup</a:t>
            </a:r>
          </a:p>
          <a:p>
            <a:pPr algn="l">
              <a:spcAft>
                <a:spcPts val="300"/>
              </a:spcAft>
            </a:pPr>
            <a:r>
              <a:rPr sz="1320" b="0">
                <a:solidFill>
                  <a:srgbClr val="9CDCFE"/>
                </a:solidFill>
                <a:latin typeface="Arial"/>
              </a:rPr>
              <a:t>   • BARREN PLATEAUS: gradients vanish exponentially with qubit count</a:t>
            </a:r>
          </a:p>
          <a:p>
            <a:pPr algn="l">
              <a:spcAft>
                <a:spcPts val="300"/>
              </a:spcAft>
            </a:pPr>
            <a:r>
              <a:rPr sz="1320" b="0">
                <a:solidFill>
                  <a:srgbClr val="9CDCFE"/>
                </a:solidFill>
                <a:latin typeface="Arial"/>
              </a:rPr>
              <a:t>   • no proven advantage on a real-world ML dataset yet</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Teach this honestly. Quantum ML is a genuine research field with real open problems, not a shipping product.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for quantum — the part that works today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Machine learning is already ESSENTIAL to running quantum hardware: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QUBIT CALIBRATION — RL agents tune pulse parameters continuously</a:t>
            </a:r>
          </a:p>
          <a:p>
            <a:pPr algn="l">
              <a:spcAft>
                <a:spcPts val="300"/>
              </a:spcAft>
            </a:pPr>
            <a:r>
              <a:rPr sz="1320" b="0">
                <a:solidFill>
                  <a:srgbClr val="9CDCFE"/>
                </a:solidFill>
                <a:latin typeface="Arial"/>
              </a:rPr>
              <a:t>   • ERROR DECODING — neural decoders beat classical matching on surface</a:t>
            </a:r>
          </a:p>
          <a:p>
            <a:pPr algn="l">
              <a:spcAft>
                <a:spcPts val="300"/>
              </a:spcAft>
            </a:pPr>
            <a:r>
              <a:rPr sz="1320" b="0">
                <a:solidFill>
                  <a:srgbClr val="9CDCFE"/>
                </a:solidFill>
                <a:latin typeface="Arial"/>
              </a:rPr>
              <a:t>     codes, and run fast enough for real-time correction</a:t>
            </a:r>
          </a:p>
          <a:p>
            <a:pPr algn="l">
              <a:spcAft>
                <a:spcPts val="300"/>
              </a:spcAft>
            </a:pPr>
            <a:r>
              <a:rPr sz="1320" b="0">
                <a:solidFill>
                  <a:srgbClr val="9CDCFE"/>
                </a:solidFill>
                <a:latin typeface="Arial"/>
              </a:rPr>
              <a:t>   • CIRCUIT COMPILATION — ML finds better gate decompositions and routing</a:t>
            </a:r>
          </a:p>
          <a:p>
            <a:pPr algn="l">
              <a:spcAft>
                <a:spcPts val="300"/>
              </a:spcAft>
            </a:pPr>
            <a:r>
              <a:rPr sz="1320" b="0">
                <a:solidFill>
                  <a:srgbClr val="9CDCFE"/>
                </a:solidFill>
                <a:latin typeface="Arial"/>
              </a:rPr>
              <a:t>   • NOISE CHARACTERISATION — learn the device error model, then mitigate</a:t>
            </a:r>
          </a:p>
          <a:p>
            <a:pPr algn="l">
              <a:spcAft>
                <a:spcPts val="300"/>
              </a:spcAft>
            </a:pPr>
            <a:r>
              <a:rPr sz="1320" b="0">
                <a:solidFill>
                  <a:srgbClr val="9CDCFE"/>
                </a:solidFill>
                <a:latin typeface="Arial"/>
              </a:rPr>
              <a:t>   • ANSATZ DESIGN — search the space of variational circuits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Google, IBM and Quantinuum all use ML decoders in production stacks.</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is the intersection with proven, deployed value — and a strong career area for someone with both skill sets.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Quantum-inspired classical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Studying quantum algorithms has produced better CLASSICAL ones: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 TENSOR NETWORKS (MPS, PEPS) — from quantum many-body physics,</a:t>
            </a:r>
          </a:p>
          <a:p>
            <a:pPr algn="l">
              <a:spcAft>
                <a:spcPts val="300"/>
              </a:spcAft>
            </a:pPr>
            <a:r>
              <a:rPr sz="1320" b="0">
                <a:solidFill>
                  <a:srgbClr val="9CDCFE"/>
                </a:solidFill>
                <a:latin typeface="Arial"/>
              </a:rPr>
              <a:t>     now used to compress neural networks</a:t>
            </a:r>
          </a:p>
          <a:p>
            <a:pPr algn="l">
              <a:spcAft>
                <a:spcPts val="300"/>
              </a:spcAft>
            </a:pPr>
            <a:r>
              <a:rPr sz="1320" b="0">
                <a:solidFill>
                  <a:srgbClr val="9CDCFE"/>
                </a:solidFill>
                <a:latin typeface="Arial"/>
              </a:rPr>
              <a:t>   • Ewin Tang's 'dequantisation' — classical algorithms matching the</a:t>
            </a:r>
          </a:p>
          <a:p>
            <a:pPr algn="l">
              <a:spcAft>
                <a:spcPts val="300"/>
              </a:spcAft>
            </a:pPr>
            <a:r>
              <a:rPr sz="1320" b="0">
                <a:solidFill>
                  <a:srgbClr val="9CDCFE"/>
                </a:solidFill>
                <a:latin typeface="Arial"/>
              </a:rPr>
              <a:t>     quantum recommendation-system speedup</a:t>
            </a:r>
          </a:p>
          <a:p>
            <a:pPr algn="l">
              <a:spcAft>
                <a:spcPts val="300"/>
              </a:spcAft>
            </a:pPr>
            <a:r>
              <a:rPr sz="1320" b="0">
                <a:solidFill>
                  <a:srgbClr val="9CDCFE"/>
                </a:solidFill>
                <a:latin typeface="Arial"/>
              </a:rPr>
              <a:t>   • simulated annealing variants inspired by quantum annealing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A quantum algorithm that gets dequantised is still a scientific win —</a:t>
            </a:r>
          </a:p>
          <a:p>
            <a:pPr algn="l">
              <a:spcAft>
                <a:spcPts val="300"/>
              </a:spcAft>
            </a:pPr>
            <a:r>
              <a:rPr sz="1320" b="0">
                <a:solidFill>
                  <a:srgbClr val="9CDCFE"/>
                </a:solidFill>
                <a:latin typeface="Arial"/>
              </a:rPr>
              <a:t>you end up with a faster classical method.</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Useful framing for business stakeholders: quantum R&amp;D pays dividends even when the quantum hardware is not ready.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they converge: chemistry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1411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21508"/>
          </a:xfrm>
          <a:prstGeom prst="rect">
            <a:avLst/>
          </a:prstGeom>
          <a:noFill/>
        </p:spPr>
        <p:txBody>
          <a:bodyPr wrap="square" anchor="t">
            <a:spAutoFit/>
          </a:bodyPr>
          <a:lstStyle/>
          <a:p>
            <a:pPr algn="l">
              <a:spcAft>
                <a:spcPts val="300"/>
              </a:spcAft>
            </a:pPr>
            <a:r>
              <a:rPr sz="1500" b="0">
                <a:solidFill>
                  <a:srgbClr val="9CDCFE"/>
                </a:solidFill>
                <a:latin typeface="Arial"/>
              </a:rPr>
              <a:t>The most credible near-term combination:</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1. QUANTUM computer simulates a molecule that is classically intractable</a:t>
            </a:r>
          </a:p>
          <a:p>
            <a:pPr algn="l">
              <a:spcAft>
                <a:spcPts val="300"/>
              </a:spcAft>
            </a:pPr>
            <a:r>
              <a:rPr sz="1500" b="0">
                <a:solidFill>
                  <a:srgbClr val="9CDCFE"/>
                </a:solidFill>
                <a:latin typeface="Arial"/>
              </a:rPr>
              <a:t>   2. Results become high-quality TRAINING DATA</a:t>
            </a:r>
          </a:p>
          <a:p>
            <a:pPr algn="l">
              <a:spcAft>
                <a:spcPts val="300"/>
              </a:spcAft>
            </a:pPr>
            <a:r>
              <a:rPr sz="1500" b="0">
                <a:solidFill>
                  <a:srgbClr val="9CDCFE"/>
                </a:solidFill>
                <a:latin typeface="Arial"/>
              </a:rPr>
              <a:t>   3. An AI MODEL (e.g. a graph neural net) learns from that data</a:t>
            </a:r>
          </a:p>
          <a:p>
            <a:pPr algn="l">
              <a:spcAft>
                <a:spcPts val="300"/>
              </a:spcAft>
            </a:pPr>
            <a:r>
              <a:rPr sz="1500" b="0">
                <a:solidFill>
                  <a:srgbClr val="9CDCFE"/>
                </a:solidFill>
                <a:latin typeface="Arial"/>
              </a:rPr>
              <a:t>   4. The AI screens MILLIONS of candidate molecules cheaply</a:t>
            </a:r>
          </a:p>
          <a:p>
            <a:pPr algn="l">
              <a:spcAft>
                <a:spcPts val="300"/>
              </a:spcAft>
            </a:pPr>
            <a:r>
              <a:rPr sz="1500" b="0">
                <a:solidFill>
                  <a:srgbClr val="9CDCFE"/>
                </a:solidFill>
                <a:latin typeface="Arial"/>
              </a:rPr>
              <a:t>   5. The quantum computer verifies only the top candidates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Quantum supplies scarce, high-accuracy ground truth; AI supplies scale.</a:t>
            </a:r>
          </a:p>
        </p:txBody>
      </p:sp>
      <p:sp>
        <p:nvSpPr>
          <p:cNvPr id="9" name="Rectangle 8"/>
          <p:cNvSpPr/>
          <p:nvPr/>
        </p:nvSpPr>
        <p:spPr>
          <a:xfrm>
            <a:off x="777240" y="5225796"/>
            <a:ext cx="10634472" cy="8275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25796"/>
            <a:ext cx="82296" cy="8275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25796"/>
            <a:ext cx="10149840" cy="827532"/>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This division of labour plays to each technology's actual strength instead of pitting them against each other.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implications of the convergence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5204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3227832"/>
          </a:xfrm>
          <a:prstGeom prst="rect">
            <a:avLst/>
          </a:prstGeom>
          <a:noFill/>
        </p:spPr>
        <p:txBody>
          <a:bodyPr wrap="square" anchor="t">
            <a:spAutoFit/>
          </a:bodyPr>
          <a:lstStyle/>
          <a:p>
            <a:pPr algn="l">
              <a:spcAft>
                <a:spcPts val="300"/>
              </a:spcAft>
            </a:pPr>
            <a:r>
              <a:rPr sz="1320" b="0">
                <a:solidFill>
                  <a:srgbClr val="9CDCFE"/>
                </a:solidFill>
                <a:latin typeface="Arial"/>
              </a:rPr>
              <a:t>   AI ACCELERATES CRYPTANALYSIS — ML-assisted side-channel attacks and</a:t>
            </a:r>
          </a:p>
          <a:p>
            <a:pPr algn="l">
              <a:spcAft>
                <a:spcPts val="300"/>
              </a:spcAft>
            </a:pPr>
            <a:r>
              <a:rPr sz="1320" b="0">
                <a:solidFill>
                  <a:srgbClr val="9CDCFE"/>
                </a:solidFill>
                <a:latin typeface="Arial"/>
              </a:rPr>
              <a:t>     lattice-reduction heuristics are active research areas</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PQC MUST PROTECT AI SYSTEMS — model weights, training data and</a:t>
            </a:r>
          </a:p>
          <a:p>
            <a:pPr algn="l">
              <a:spcAft>
                <a:spcPts val="300"/>
              </a:spcAft>
            </a:pPr>
            <a:r>
              <a:rPr sz="1320" b="0">
                <a:solidFill>
                  <a:srgbClr val="9CDCFE"/>
                </a:solidFill>
                <a:latin typeface="Arial"/>
              </a:rPr>
              <a:t>     inference APIs all need quantum-safe transport and signing</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AI DEFENDS — anomaly detection can flag harvest-now traffic capture</a:t>
            </a:r>
          </a:p>
          <a:p>
            <a:pPr algn="l">
              <a:spcAft>
                <a:spcPts val="300"/>
              </a:spcAft>
            </a:pPr>
            <a:r>
              <a:rPr sz="1320" b="0">
                <a:solidFill>
                  <a:srgbClr val="0B1220"/>
                </a:solidFill>
                <a:latin typeface="Arial"/>
              </a:rPr>
              <a:t> </a:t>
            </a:r>
          </a:p>
          <a:p>
            <a:pPr algn="l">
              <a:spcAft>
                <a:spcPts val="300"/>
              </a:spcAft>
            </a:pPr>
            <a:r>
              <a:rPr sz="1320" b="0">
                <a:solidFill>
                  <a:srgbClr val="9CDCFE"/>
                </a:solidFill>
                <a:latin typeface="Arial"/>
              </a:rPr>
              <a:t>   MODEL PROVENANCE — signing model artifacts with ML-DSA guards the</a:t>
            </a:r>
          </a:p>
          <a:p>
            <a:pPr algn="l">
              <a:spcAft>
                <a:spcPts val="300"/>
              </a:spcAft>
            </a:pPr>
            <a:r>
              <a:rPr sz="1320" b="0">
                <a:solidFill>
                  <a:srgbClr val="9CDCFE"/>
                </a:solidFill>
                <a:latin typeface="Arial"/>
              </a:rPr>
              <a:t>     AI supply chain against tampering</a:t>
            </a:r>
          </a:p>
        </p:txBody>
      </p:sp>
      <p:sp>
        <p:nvSpPr>
          <p:cNvPr id="9" name="Rectangle 8"/>
          <p:cNvSpPr/>
          <p:nvPr/>
        </p:nvSpPr>
        <p:spPr>
          <a:xfrm>
            <a:off x="777240" y="5532120"/>
            <a:ext cx="10634472" cy="5212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532120"/>
            <a:ext cx="82296" cy="5212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532120"/>
            <a:ext cx="10149840" cy="521208"/>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Model weights are long-lived, extremely high-value secrets — a textbook harvest-now-decrypt-later target.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TWO TECHNOLOGIES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Realistic outlook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0779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15184"/>
          </a:xfrm>
          <a:prstGeom prst="rect">
            <a:avLst/>
          </a:prstGeom>
          <a:noFill/>
        </p:spPr>
        <p:txBody>
          <a:bodyPr wrap="square" anchor="t">
            <a:spAutoFit/>
          </a:bodyPr>
          <a:lstStyle/>
          <a:p>
            <a:pPr algn="l">
              <a:spcAft>
                <a:spcPts val="300"/>
              </a:spcAft>
            </a:pPr>
            <a:r>
              <a:rPr sz="1500" b="0">
                <a:solidFill>
                  <a:srgbClr val="9CDCFE"/>
                </a:solidFill>
                <a:latin typeface="Arial"/>
              </a:rPr>
              <a:t>   TODAY (NISQ)      AI runs quantum hardware. Quantum ML is research.</a:t>
            </a:r>
          </a:p>
          <a:p>
            <a:pPr algn="l">
              <a:spcAft>
                <a:spcPts val="300"/>
              </a:spcAft>
            </a:pPr>
            <a:r>
              <a:rPr sz="1500" b="0">
                <a:solidFill>
                  <a:srgbClr val="9CDCFE"/>
                </a:solidFill>
                <a:latin typeface="Arial"/>
              </a:rPr>
              <a:t>   ~2029 (early FT)  first logical qubits; quantum chemistry feeds AI</a:t>
            </a:r>
          </a:p>
          <a:p>
            <a:pPr algn="l">
              <a:spcAft>
                <a:spcPts val="300"/>
              </a:spcAft>
            </a:pPr>
            <a:r>
              <a:rPr sz="1500" b="0">
                <a:solidFill>
                  <a:srgbClr val="9CDCFE"/>
                </a:solidFill>
                <a:latin typeface="Arial"/>
              </a:rPr>
              <a:t>                     training sets; PQC migration should be complete</a:t>
            </a:r>
          </a:p>
          <a:p>
            <a:pPr algn="l">
              <a:spcAft>
                <a:spcPts val="300"/>
              </a:spcAft>
            </a:pPr>
            <a:r>
              <a:rPr sz="1500" b="0">
                <a:solidFill>
                  <a:srgbClr val="9CDCFE"/>
                </a:solidFill>
                <a:latin typeface="Arial"/>
              </a:rPr>
              <a:t>   2030s             fault-tolerant chemistry and materials at scale;</a:t>
            </a:r>
          </a:p>
          <a:p>
            <a:pPr algn="l">
              <a:spcAft>
                <a:spcPts val="300"/>
              </a:spcAft>
            </a:pPr>
            <a:r>
              <a:rPr sz="1500" b="0">
                <a:solidFill>
                  <a:srgbClr val="9CDCFE"/>
                </a:solidFill>
                <a:latin typeface="Arial"/>
              </a:rPr>
              <a:t>                     quantum-generated data becomes routine in AI pipelines</a:t>
            </a:r>
          </a:p>
          <a:p>
            <a:pPr algn="l">
              <a:spcAft>
                <a:spcPts val="300"/>
              </a:spcAft>
            </a:pPr>
            <a:r>
              <a:rPr sz="1500" b="0">
                <a:solidFill>
                  <a:srgbClr val="0B1220"/>
                </a:solidFill>
                <a:latin typeface="Arial"/>
              </a:rPr>
              <a:t> </a:t>
            </a:r>
          </a:p>
          <a:p>
            <a:pPr algn="l">
              <a:spcAft>
                <a:spcPts val="300"/>
              </a:spcAft>
            </a:pPr>
            <a:r>
              <a:rPr sz="1500" b="0">
                <a:solidFill>
                  <a:srgbClr val="9CDCFE"/>
                </a:solidFill>
                <a:latin typeface="Arial"/>
              </a:rPr>
              <a:t>   CONSTANT          the security work does NOT wait for any of this.</a:t>
            </a:r>
          </a:p>
          <a:p>
            <a:pPr algn="l">
              <a:spcAft>
                <a:spcPts val="300"/>
              </a:spcAft>
            </a:pPr>
            <a:r>
              <a:rPr sz="1500" b="0">
                <a:solidFill>
                  <a:srgbClr val="9CDCFE"/>
                </a:solidFill>
                <a:latin typeface="Arial"/>
              </a:rPr>
              <a:t>                     Harvest-now-decrypt-later is a TODAY problem.</a:t>
            </a:r>
          </a:p>
        </p:txBody>
      </p:sp>
      <p:sp>
        <p:nvSpPr>
          <p:cNvPr id="9" name="Rectangle 8"/>
          <p:cNvSpPr/>
          <p:nvPr/>
        </p:nvSpPr>
        <p:spPr>
          <a:xfrm>
            <a:off x="777240" y="4919472"/>
            <a:ext cx="10634472"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19472"/>
            <a:ext cx="82296" cy="1133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19472"/>
            <a:ext cx="10149840" cy="1133856"/>
          </a:xfrm>
          <a:prstGeom prst="rect">
            <a:avLst/>
          </a:prstGeom>
          <a:noFill/>
        </p:spPr>
        <p:txBody>
          <a:bodyPr wrap="square" anchor="ctr">
            <a:spAutoFit/>
          </a:bodyPr>
          <a:lstStyle/>
          <a:p>
            <a:pPr algn="l">
              <a:spcAft>
                <a:spcPts val="400"/>
              </a:spcAft>
            </a:pPr>
            <a:r>
              <a:rPr sz="1150" b="1">
                <a:solidFill>
                  <a:srgbClr val="10B981"/>
                </a:solidFill>
                <a:latin typeface="Arial"/>
              </a:rPr>
              <a:t>KEY POINT:  </a:t>
            </a:r>
            <a:r>
              <a:rPr sz="1300" b="0">
                <a:solidFill>
                  <a:srgbClr val="161B26"/>
                </a:solidFill>
                <a:latin typeface="Arial"/>
              </a:rPr>
              <a:t>The security timeline is independent of the computing timeline — that is the single most important message to take back to work.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Hands-On Activities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15</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Molecular Simulation with VQE (Healthcare &amp; Science)</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16</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Portfolio Optimisation with QAOA (Finance)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Variational Quantum Eigensolver to compute the ground-state energy of the hydrogen molecule — the flagship near-term use case for drug discovery, catalysis and materials science.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VQE run that converges to the H2 ground-state energy, with an energy-versus-iteration convergence plot.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SciPy optimiser, matplotlib, IBM Quantum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15: Molecular Simulation with VQE (Healthcare &amp; Science)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VQE optimisation converges to an energy close to the exact H2 ground-state value of about -1.137 Hartree, and the convergence plot shows the energy decreasing monotonically toward that limit.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Apply the Quantum Approximate Optimization Algorithm to a Max-Cut style combinatorial problem, the same structure that underlies portfolio selection, routing and scheduling in financial services.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LO6 — Evaluate applicability and select appropriate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QAOA run that finds the optimal cut on a small graph, with the solution quality compared against brute force.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NetworkX, SciPy,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16: Portfolio Optimisation with QAOA (Finance)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frequently sampled bit string from the optimised QAOA circuit corresponds to the true maximum cut found by brute force, and the approximation ratio improves as the number of layers p increases.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Recap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Finance</a:t>
            </a:r>
          </a:p>
          <a:p>
            <a:pPr>
              <a:spcAft>
                <a:spcPts val="1000"/>
              </a:spcAft>
            </a:pPr>
            <a:r>
              <a:rPr sz="1600">
                <a:solidFill>
                  <a:srgbClr val="161B26"/>
                </a:solidFill>
                <a:latin typeface="Arial"/>
              </a:rPr>
              <a:t>•  Healthcare and life sciences</a:t>
            </a:r>
          </a:p>
          <a:p>
            <a:pPr>
              <a:spcAft>
                <a:spcPts val="1000"/>
              </a:spcAft>
            </a:pPr>
            <a:r>
              <a:rPr sz="1600">
                <a:solidFill>
                  <a:srgbClr val="161B26"/>
                </a:solidFill>
                <a:latin typeface="Arial"/>
              </a:rPr>
              <a:t>•  Science and materials</a:t>
            </a:r>
          </a:p>
          <a:p>
            <a:pPr>
              <a:spcAft>
                <a:spcPts val="1000"/>
              </a:spcAft>
            </a:pPr>
            <a:r>
              <a:rPr sz="1600">
                <a:solidFill>
                  <a:srgbClr val="161B26"/>
                </a:solidFill>
                <a:latin typeface="Arial"/>
              </a:rPr>
              <a:t>•  Optimisation and logistics</a:t>
            </a:r>
          </a:p>
          <a:p>
            <a:pPr>
              <a:spcAft>
                <a:spcPts val="1000"/>
              </a:spcAft>
            </a:pPr>
            <a:r>
              <a:rPr sz="1600">
                <a:solidFill>
                  <a:srgbClr val="161B26"/>
                </a:solidFill>
                <a:latin typeface="Arial"/>
              </a:rPr>
              <a:t>•  Quantum machine learning</a:t>
            </a:r>
          </a:p>
          <a:p>
            <a:pPr>
              <a:spcAft>
                <a:spcPts val="1000"/>
              </a:spcAft>
            </a:pPr>
            <a:r>
              <a:rPr sz="1600">
                <a:solidFill>
                  <a:srgbClr val="161B26"/>
                </a:solidFill>
                <a:latin typeface="Arial"/>
              </a:rPr>
              <a:t>•  Assessing business value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Error Correction</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Bit and Phase Flip Errors · QEC Algorithms · Fault Tolerance · The Future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Why QEC is needed</a:t>
            </a:r>
          </a:p>
          <a:p>
            <a:pPr algn="l">
              <a:spcAft>
                <a:spcPts val="300"/>
              </a:spcAft>
            </a:pPr>
            <a:r>
              <a:rPr sz="1100" b="0">
                <a:solidFill>
                  <a:srgbClr val="5B6372"/>
                </a:solidFill>
                <a:latin typeface="Arial"/>
              </a:rPr>
              <a:t>Qubits decohere and gates are imperfect; without correction, errors accumulate long before a useful algorithm completes.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Quantum-specific challenges</a:t>
            </a:r>
          </a:p>
          <a:p>
            <a:pPr algn="l">
              <a:spcAft>
                <a:spcPts val="300"/>
              </a:spcAft>
            </a:pPr>
            <a:r>
              <a:rPr sz="1100" b="0">
                <a:solidFill>
                  <a:srgbClr val="5B6372"/>
                </a:solidFill>
                <a:latin typeface="Arial"/>
              </a:rPr>
              <a:t>No-cloning forbids simple copying, errors are continuous rather than discrete, and measurement destroys the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Syndrome measurement</a:t>
            </a:r>
          </a:p>
          <a:p>
            <a:pPr algn="l">
              <a:spcAft>
                <a:spcPts val="300"/>
              </a:spcAft>
            </a:pPr>
            <a:r>
              <a:rPr sz="1100" b="0">
                <a:solidFill>
                  <a:srgbClr val="5B6372"/>
                </a:solidFill>
                <a:latin typeface="Arial"/>
              </a:rPr>
              <a:t>Ancilla qubits are measured to reveal WHICH error occurred without ever measuring — and collapsing — the logical state.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Bit-flip and phase-flip codes</a:t>
            </a:r>
          </a:p>
          <a:p>
            <a:pPr algn="l">
              <a:spcAft>
                <a:spcPts val="300"/>
              </a:spcAft>
            </a:pPr>
            <a:r>
              <a:rPr sz="1100" b="0">
                <a:solidFill>
                  <a:srgbClr val="5B6372"/>
                </a:solidFill>
                <a:latin typeface="Arial"/>
              </a:rPr>
              <a:t>Three-qubit repetition codes correct X errors; conjugating with Hadamards turns phase flips into bit flips.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 Steane and surface codes</a:t>
            </a:r>
          </a:p>
          <a:p>
            <a:pPr algn="l">
              <a:spcAft>
                <a:spcPts val="300"/>
              </a:spcAft>
            </a:pPr>
            <a:r>
              <a:rPr sz="1100" b="0">
                <a:solidFill>
                  <a:srgbClr val="5B6372"/>
                </a:solidFill>
                <a:latin typeface="Arial"/>
              </a:rPr>
              <a:t>Shor's 9-qubit code corrects arbitrary single-qubit errors; Steane uses 7; surface codes are today's leading practical approach.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Fault tolerance</a:t>
            </a:r>
          </a:p>
          <a:p>
            <a:pPr algn="l">
              <a:spcAft>
                <a:spcPts val="300"/>
              </a:spcAft>
            </a:pPr>
            <a:r>
              <a:rPr sz="1100" b="0">
                <a:solidFill>
                  <a:srgbClr val="5B6372"/>
                </a:solidFill>
                <a:latin typeface="Arial"/>
              </a:rPr>
              <a:t>Below the error threshold, concatenating codes suppresses errors faster than they accumulate — the path to useful quantum computers.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ENCODE · ERROR · SYNDROME · CORRECT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Code — The QEC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bitflip.png"/>
          <p:cNvPicPr>
            <a:picLocks noChangeAspect="1"/>
          </p:cNvPicPr>
          <p:nvPr/>
        </p:nvPicPr>
        <p:blipFill>
          <a:blip r:embed="rId2"/>
          <a:stretch>
            <a:fillRect/>
          </a:stretch>
        </p:blipFill>
        <p:spPr>
          <a:xfrm>
            <a:off x="1866942" y="1755648"/>
            <a:ext cx="8455068"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syndrome reveals WHICH qubit flipped without ever measuring — and destroying — the logical state.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QUBIT COST VS PROTECTION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Error-Correcting Codes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codes.png"/>
          <p:cNvPicPr>
            <a:picLocks noChangeAspect="1"/>
          </p:cNvPicPr>
          <p:nvPr/>
        </p:nvPicPr>
        <p:blipFill>
          <a:blip r:embed="rId2"/>
          <a:stretch>
            <a:fillRect/>
          </a:stretch>
        </p:blipFill>
        <p:spPr>
          <a:xfrm>
            <a:off x="777240" y="2353377"/>
            <a:ext cx="6400800" cy="3065646"/>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3-qubit codes</a:t>
            </a:r>
          </a:p>
          <a:p>
            <a:pPr algn="l">
              <a:spcAft>
                <a:spcPts val="300"/>
              </a:spcAft>
            </a:pPr>
            <a:r>
              <a:rPr sz="1200" b="0">
                <a:solidFill>
                  <a:srgbClr val="161B26"/>
                </a:solidFill>
                <a:latin typeface="Arial"/>
              </a:rPr>
              <a:t>Correct either bit flips or phase flips, but not both.</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Shor 9-qubit</a:t>
            </a:r>
          </a:p>
          <a:p>
            <a:pPr algn="l">
              <a:spcAft>
                <a:spcPts val="300"/>
              </a:spcAft>
            </a:pPr>
            <a:r>
              <a:rPr sz="1200" b="0">
                <a:solidFill>
                  <a:srgbClr val="161B26"/>
                </a:solidFill>
                <a:latin typeface="Arial"/>
              </a:rPr>
              <a:t>The first code to correct an arbitrary single-qubit error.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Steane 7-qubit</a:t>
            </a:r>
          </a:p>
          <a:p>
            <a:pPr algn="l">
              <a:spcAft>
                <a:spcPts val="300"/>
              </a:spcAft>
            </a:pPr>
            <a:r>
              <a:rPr sz="1200" b="0">
                <a:solidFill>
                  <a:srgbClr val="161B26"/>
                </a:solidFill>
                <a:latin typeface="Arial"/>
              </a:rPr>
              <a:t>A CSS code achieving the same protection more efficiently.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Surface codes</a:t>
            </a:r>
          </a:p>
          <a:p>
            <a:pPr algn="l">
              <a:spcAft>
                <a:spcPts val="300"/>
              </a:spcAft>
            </a:pPr>
            <a:r>
              <a:rPr sz="1200" b="0">
                <a:solidFill>
                  <a:srgbClr val="161B26"/>
                </a:solidFill>
                <a:latin typeface="Arial"/>
              </a:rPr>
              <a:t>2D nearest-neighbour layout — today's leading practical approach.</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INDUSTRY IS HEADED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Road to Fault Tolerance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admap.png"/>
          <p:cNvPicPr>
            <a:picLocks noChangeAspect="1"/>
          </p:cNvPicPr>
          <p:nvPr/>
        </p:nvPicPr>
        <p:blipFill>
          <a:blip r:embed="rId2"/>
          <a:stretch>
            <a:fillRect/>
          </a:stretch>
        </p:blipFill>
        <p:spPr>
          <a:xfrm>
            <a:off x="777240" y="1921754"/>
            <a:ext cx="10634472" cy="3617996"/>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Below the error threshold, adding more physical qubits suppresses errors faster than they accumulate.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DERIVATION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Proof — Quantum Error Correction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38528"/>
            <a:ext cx="10058400" cy="365760"/>
          </a:xfrm>
          <a:prstGeom prst="rect">
            <a:avLst/>
          </a:prstGeom>
          <a:noFill/>
        </p:spPr>
        <p:txBody>
          <a:bodyPr wrap="square" anchor="t">
            <a:spAutoFit/>
          </a:bodyPr>
          <a:lstStyle/>
          <a:p>
            <a:pPr algn="l">
              <a:spcAft>
                <a:spcPts val="400"/>
              </a:spcAft>
            </a:pPr>
            <a:r>
              <a:rPr sz="1200" b="1">
                <a:solidFill>
                  <a:srgbClr val="7C3AED"/>
                </a:solidFill>
                <a:latin typeface="Arial"/>
              </a:rPr>
              <a:t>CLAIM</a:t>
            </a:r>
          </a:p>
        </p:txBody>
      </p:sp>
      <p:sp>
        <p:nvSpPr>
          <p:cNvPr id="10" name="TextBox 9"/>
          <p:cNvSpPr txBox="1"/>
          <p:nvPr/>
        </p:nvSpPr>
        <p:spPr>
          <a:xfrm>
            <a:off x="1143000" y="2304288"/>
            <a:ext cx="10058400" cy="777240"/>
          </a:xfrm>
          <a:prstGeom prst="rect">
            <a:avLst/>
          </a:prstGeom>
          <a:noFill/>
        </p:spPr>
        <p:txBody>
          <a:bodyPr wrap="square" anchor="t">
            <a:spAutoFit/>
          </a:bodyPr>
          <a:lstStyle/>
          <a:p>
            <a:pPr algn="l">
              <a:spcAft>
                <a:spcPts val="400"/>
              </a:spcAft>
            </a:pPr>
            <a:r>
              <a:rPr sz="1550" b="1">
                <a:solidFill>
                  <a:srgbClr val="161B26"/>
                </a:solidFill>
                <a:latin typeface="Arial"/>
              </a:rPr>
              <a:t>Syndrome measurement identifies WHICH error occurred without learning — and therefore without collapsing — the encoded logical state.</a:t>
            </a:r>
          </a:p>
        </p:txBody>
      </p:sp>
      <p:sp>
        <p:nvSpPr>
          <p:cNvPr id="11" name="TextBox 10"/>
          <p:cNvSpPr txBox="1"/>
          <p:nvPr/>
        </p:nvSpPr>
        <p:spPr>
          <a:xfrm>
            <a:off x="777240" y="3364992"/>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GIVEN</a:t>
            </a:r>
          </a:p>
        </p:txBody>
      </p:sp>
      <p:sp>
        <p:nvSpPr>
          <p:cNvPr id="12" name="Rectangle 11"/>
          <p:cNvSpPr/>
          <p:nvPr/>
        </p:nvSpPr>
        <p:spPr>
          <a:xfrm>
            <a:off x="777240" y="3730752"/>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30752"/>
            <a:ext cx="82296" cy="5554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730752"/>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Encode one logical qubit into three physical qubits (the bit-flip code).</a:t>
            </a:r>
          </a:p>
        </p:txBody>
      </p:sp>
      <p:sp>
        <p:nvSpPr>
          <p:cNvPr id="15" name="Rectangle 14"/>
          <p:cNvSpPr/>
          <p:nvPr/>
        </p:nvSpPr>
        <p:spPr>
          <a:xfrm>
            <a:off x="777240" y="4414266"/>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14266"/>
            <a:ext cx="82296" cy="5554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14266"/>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Logical states:  |0&gt;_L = |000&gt;,  |1&gt;_L = |111&gt;.</a:t>
            </a:r>
          </a:p>
        </p:txBody>
      </p:sp>
      <p:sp>
        <p:nvSpPr>
          <p:cNvPr id="18" name="Rectangle 17"/>
          <p:cNvSpPr/>
          <p:nvPr/>
        </p:nvSpPr>
        <p:spPr>
          <a:xfrm>
            <a:off x="777240" y="5097780"/>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097780"/>
            <a:ext cx="82296" cy="5554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097780"/>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An arbitrary logical state:  |ψ&gt;_L = a|000&gt; + b|111&gt;.</a:t>
            </a:r>
          </a:p>
        </p:txBody>
      </p:sp>
      <p:sp>
        <p:nvSpPr>
          <p:cNvPr id="21" name="Rectangle 20"/>
          <p:cNvSpPr/>
          <p:nvPr/>
        </p:nvSpPr>
        <p:spPr>
          <a:xfrm>
            <a:off x="777240" y="5781294"/>
            <a:ext cx="10634472" cy="5554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781294"/>
            <a:ext cx="82296" cy="5554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781294"/>
            <a:ext cx="10149840" cy="555498"/>
          </a:xfrm>
          <a:prstGeom prst="rect">
            <a:avLst/>
          </a:prstGeom>
          <a:noFill/>
        </p:spPr>
        <p:txBody>
          <a:bodyPr wrap="square" anchor="ctr">
            <a:spAutoFit/>
          </a:bodyPr>
          <a:lstStyle/>
          <a:p>
            <a:pPr algn="l">
              <a:spcAft>
                <a:spcPts val="400"/>
              </a:spcAft>
            </a:pPr>
            <a:r>
              <a:rPr sz="1300" b="0">
                <a:solidFill>
                  <a:srgbClr val="161B26"/>
                </a:solidFill>
                <a:latin typeface="Arial"/>
              </a:rPr>
              <a:t>Assume at most ONE qubit suffers an X (bit-flip) error.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1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1 — Why naive copying is forbidden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The obvious classical fix is to make three copies:</a:t>
            </a:r>
          </a:p>
          <a:p>
            <a:pPr algn="l">
              <a:spcAft>
                <a:spcPts val="300"/>
              </a:spcAft>
            </a:pPr>
            <a:r>
              <a:rPr sz="1550" b="0">
                <a:solidFill>
                  <a:srgbClr val="9CDCFE"/>
                </a:solidFill>
                <a:latin typeface="Arial"/>
              </a:rPr>
              <a:t>   |ψ&gt;|ψ&gt;|ψ&gt;  =  (a|0&gt;+b|1&gt;)(a|0&gt;+b|1&gt;)(a|0&gt;+b|1&gt;)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But no-cloning FORBIDS this for unknown |ψ&gt;.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What we build instead is the ENTANGLED state</a:t>
            </a:r>
          </a:p>
          <a:p>
            <a:pPr algn="l">
              <a:spcAft>
                <a:spcPts val="300"/>
              </a:spcAft>
            </a:pPr>
            <a:r>
              <a:rPr sz="1550" b="0">
                <a:solidFill>
                  <a:srgbClr val="9CDCFE"/>
                </a:solidFill>
                <a:latin typeface="Arial"/>
              </a:rPr>
              <a:t>   a|000&gt; + b|111&gt;     which is NOT  |ψ&gt;|ψ&gt;|ψ&gt;</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Encoding spreads the information across three qubits without ever duplicating 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2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2 — Encoding circuit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Two CNOTs, both controlled by the data qubit: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(a|0&gt; + b|1&gt;)|0&gt;|0&gt;</a:t>
            </a:r>
          </a:p>
          <a:p>
            <a:pPr algn="l">
              <a:spcAft>
                <a:spcPts val="300"/>
              </a:spcAft>
            </a:pPr>
            <a:r>
              <a:rPr sz="1550" b="0">
                <a:solidFill>
                  <a:srgbClr val="9CDCFE"/>
                </a:solidFill>
                <a:latin typeface="Arial"/>
              </a:rPr>
              <a:t>     --CNOT(0-&gt;1)--&gt;   a|00&gt;|0&gt; + b|11&gt;|0&gt;</a:t>
            </a:r>
          </a:p>
          <a:p>
            <a:pPr algn="l">
              <a:spcAft>
                <a:spcPts val="300"/>
              </a:spcAft>
            </a:pPr>
            <a:r>
              <a:rPr sz="1550" b="0">
                <a:solidFill>
                  <a:srgbClr val="9CDCFE"/>
                </a:solidFill>
                <a:latin typeface="Arial"/>
              </a:rPr>
              <a:t>     --CNOT(0-&gt;2)--&gt;   a|000&gt;   + b|111&gt;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|ψ&gt;_L</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Note a and b are never measured, never learned, never copied.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3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3 — An error strikes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3225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029968"/>
          </a:xfrm>
          <a:prstGeom prst="rect">
            <a:avLst/>
          </a:prstGeom>
          <a:noFill/>
        </p:spPr>
        <p:txBody>
          <a:bodyPr wrap="square" anchor="t">
            <a:spAutoFit/>
          </a:bodyPr>
          <a:lstStyle/>
          <a:p>
            <a:pPr algn="l">
              <a:spcAft>
                <a:spcPts val="300"/>
              </a:spcAft>
            </a:pPr>
            <a:r>
              <a:rPr sz="1550" b="0">
                <a:solidFill>
                  <a:srgbClr val="9CDCFE"/>
                </a:solidFill>
                <a:latin typeface="Arial"/>
              </a:rPr>
              <a:t>Suppose X acts on qubit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X₁ (a|000&gt; + b|111&gt;)  =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The state is corrupted — but observe that the amplitudes a and b are INTACT.</a:t>
            </a:r>
          </a:p>
          <a:p>
            <a:pPr algn="l">
              <a:spcAft>
                <a:spcPts val="300"/>
              </a:spcAft>
            </a:pPr>
            <a:r>
              <a:rPr sz="1550" b="0">
                <a:solidFill>
                  <a:srgbClr val="9CDCFE"/>
                </a:solidFill>
                <a:latin typeface="Arial"/>
              </a:rPr>
              <a:t>Only the BASIS LABELS have been permuted.</a:t>
            </a:r>
          </a:p>
        </p:txBody>
      </p:sp>
      <p:sp>
        <p:nvSpPr>
          <p:cNvPr id="9" name="Rectangle 8"/>
          <p:cNvSpPr/>
          <p:nvPr/>
        </p:nvSpPr>
        <p:spPr>
          <a:xfrm>
            <a:off x="777240" y="4334256"/>
            <a:ext cx="10634472" cy="17190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334256"/>
            <a:ext cx="82296" cy="17190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34256"/>
            <a:ext cx="10149840" cy="1719072"/>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crucial observation: the error moved the state to a different, distinguishable subspace without touching the encoded information.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4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4 — Syndrome operators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94436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651760"/>
          </a:xfrm>
          <a:prstGeom prst="rect">
            <a:avLst/>
          </a:prstGeom>
          <a:noFill/>
        </p:spPr>
        <p:txBody>
          <a:bodyPr wrap="square" anchor="t">
            <a:spAutoFit/>
          </a:bodyPr>
          <a:lstStyle/>
          <a:p>
            <a:pPr algn="l">
              <a:spcAft>
                <a:spcPts val="300"/>
              </a:spcAft>
            </a:pPr>
            <a:r>
              <a:rPr sz="1550" b="0">
                <a:solidFill>
                  <a:srgbClr val="9CDCFE"/>
                </a:solidFill>
                <a:latin typeface="Arial"/>
              </a:rPr>
              <a:t>Measure the two PARITY observables (stabilisers):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S₁ = Z₀Z₁     (parity of qubits 0 and 1)</a:t>
            </a:r>
          </a:p>
          <a:p>
            <a:pPr algn="l">
              <a:spcAft>
                <a:spcPts val="300"/>
              </a:spcAft>
            </a:pPr>
            <a:r>
              <a:rPr sz="1550" b="0">
                <a:solidFill>
                  <a:srgbClr val="9CDCFE"/>
                </a:solidFill>
                <a:latin typeface="Arial"/>
              </a:rPr>
              <a:t>   S₂ = Z₁Z₂     (parity of qubits 1 and 2)</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Critically, both COMMUTE with the logical operators, and:</a:t>
            </a:r>
          </a:p>
          <a:p>
            <a:pPr algn="l">
              <a:spcAft>
                <a:spcPts val="300"/>
              </a:spcAft>
            </a:pPr>
            <a:r>
              <a:rPr sz="1550" b="0">
                <a:solidFill>
                  <a:srgbClr val="9CDCFE"/>
                </a:solidFill>
                <a:latin typeface="Arial"/>
              </a:rPr>
              <a:t>   S₁|000&gt; = +|000&gt;,   S₁|111&gt; = +|111&gt;</a:t>
            </a:r>
          </a:p>
          <a:p>
            <a:pPr algn="l">
              <a:spcAft>
                <a:spcPts val="300"/>
              </a:spcAft>
            </a:pPr>
            <a:r>
              <a:rPr sz="1550" b="0">
                <a:solidFill>
                  <a:srgbClr val="9CDCFE"/>
                </a:solidFill>
                <a:latin typeface="Arial"/>
              </a:rPr>
              <a:t>so S₁ has the SAME eigenvalue on both logical basis states.</a:t>
            </a:r>
          </a:p>
        </p:txBody>
      </p:sp>
      <p:sp>
        <p:nvSpPr>
          <p:cNvPr id="9" name="Rectangle 8"/>
          <p:cNvSpPr/>
          <p:nvPr/>
        </p:nvSpPr>
        <p:spPr>
          <a:xfrm>
            <a:off x="777240" y="4956048"/>
            <a:ext cx="10634472"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56048"/>
            <a:ext cx="82296"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56048"/>
            <a:ext cx="10149840" cy="1097280"/>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Because the eigenvalue does not depend on whether the state is |000&gt; or |111&gt;, measuring it reveals NOTHING about a and b.</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5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5 — The syndrome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Apply the stabilisers to the corrupted state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error     S₁ = Z₀Z₁    S₂ = Z₁Z₂     syndrome</a:t>
            </a:r>
          </a:p>
          <a:p>
            <a:pPr algn="l">
              <a:spcAft>
                <a:spcPts val="300"/>
              </a:spcAft>
            </a:pPr>
            <a:r>
              <a:rPr sz="1550" b="0">
                <a:solidFill>
                  <a:srgbClr val="9CDCFE"/>
                </a:solidFill>
                <a:latin typeface="Arial"/>
              </a:rPr>
              <a:t>   none          +1           +1           00</a:t>
            </a:r>
          </a:p>
          <a:p>
            <a:pPr algn="l">
              <a:spcAft>
                <a:spcPts val="300"/>
              </a:spcAft>
            </a:pPr>
            <a:r>
              <a:rPr sz="1550" b="0">
                <a:solidFill>
                  <a:srgbClr val="9CDCFE"/>
                </a:solidFill>
                <a:latin typeface="Arial"/>
              </a:rPr>
              <a:t>   X on q0       -1           +1           10</a:t>
            </a:r>
          </a:p>
          <a:p>
            <a:pPr algn="l">
              <a:spcAft>
                <a:spcPts val="300"/>
              </a:spcAft>
            </a:pPr>
            <a:r>
              <a:rPr sz="1550" b="0">
                <a:solidFill>
                  <a:srgbClr val="9CDCFE"/>
                </a:solidFill>
                <a:latin typeface="Arial"/>
              </a:rPr>
              <a:t>   X on q1       -1           -1           11</a:t>
            </a:r>
          </a:p>
          <a:p>
            <a:pPr algn="l">
              <a:spcAft>
                <a:spcPts val="300"/>
              </a:spcAft>
            </a:pPr>
            <a:r>
              <a:rPr sz="1550" b="0">
                <a:solidFill>
                  <a:srgbClr val="9CDCFE"/>
                </a:solidFill>
                <a:latin typeface="Arial"/>
              </a:rPr>
              <a:t>   X on q2       +1           -1           01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Every single-qubit error gives a DISTINCT syndrome.</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Four outcomes, four distinguishable cases — the code can locate any single bit flip.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6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6 — Why the logical state survives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26334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340864"/>
          </a:xfrm>
          <a:prstGeom prst="rect">
            <a:avLst/>
          </a:prstGeom>
          <a:noFill/>
        </p:spPr>
        <p:txBody>
          <a:bodyPr wrap="square" anchor="t">
            <a:spAutoFit/>
          </a:bodyPr>
          <a:lstStyle/>
          <a:p>
            <a:pPr algn="l">
              <a:spcAft>
                <a:spcPts val="300"/>
              </a:spcAft>
            </a:pPr>
            <a:r>
              <a:rPr sz="1550" b="0">
                <a:solidFill>
                  <a:srgbClr val="9CDCFE"/>
                </a:solidFill>
                <a:latin typeface="Arial"/>
              </a:rPr>
              <a:t>Take the corrupted state  a|010&gt; + b|101&gt;:</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   S₁ eigenvalue on |010&gt; = -1 ;  on |101&gt; = -1     -&gt; SAME</a:t>
            </a:r>
          </a:p>
          <a:p>
            <a:pPr algn="l">
              <a:spcAft>
                <a:spcPts val="300"/>
              </a:spcAft>
            </a:pPr>
            <a:r>
              <a:rPr sz="1550" b="0">
                <a:solidFill>
                  <a:srgbClr val="9CDCFE"/>
                </a:solidFill>
                <a:latin typeface="Arial"/>
              </a:rPr>
              <a:t>   S₂ eigenvalue on |010&gt; = -1 ;  on |101&gt; = -1     -&gt; SAME</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Both branches share the same syndrome, so measuring it does NOT</a:t>
            </a:r>
          </a:p>
          <a:p>
            <a:pPr algn="l">
              <a:spcAft>
                <a:spcPts val="300"/>
              </a:spcAft>
            </a:pPr>
            <a:r>
              <a:rPr sz="1550" b="0">
                <a:solidFill>
                  <a:srgbClr val="9CDCFE"/>
                </a:solidFill>
                <a:latin typeface="Arial"/>
              </a:rPr>
              <a:t>distinguish them — the superposition a·(…) + b·(…) is preserved intact.</a:t>
            </a:r>
          </a:p>
        </p:txBody>
      </p:sp>
      <p:sp>
        <p:nvSpPr>
          <p:cNvPr id="9" name="Rectangle 8"/>
          <p:cNvSpPr/>
          <p:nvPr/>
        </p:nvSpPr>
        <p:spPr>
          <a:xfrm>
            <a:off x="777240" y="4645152"/>
            <a:ext cx="10634472" cy="14081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645152"/>
            <a:ext cx="82296"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645152"/>
            <a:ext cx="10149840" cy="1408176"/>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THIS IS THE HEART OF QEC. The measurement projects onto an error subspace, not onto a logical basis state.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7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7 — Correction and generalisation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Syndrome 11 -&gt; apply X to qubit 1:</a:t>
            </a:r>
          </a:p>
          <a:p>
            <a:pPr algn="l">
              <a:spcAft>
                <a:spcPts val="300"/>
              </a:spcAft>
            </a:pPr>
            <a:r>
              <a:rPr sz="1550" b="0">
                <a:solidFill>
                  <a:srgbClr val="9CDCFE"/>
                </a:solidFill>
                <a:latin typeface="Arial"/>
              </a:rPr>
              <a:t>   X₁ (a|010&gt; + b|101&gt;)  =  a|000&gt; + b|111&gt;  =  |ψ&gt;_L      RESTORED</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PHASE FLIPS: conjugate by Hadamards, since  H X H = Z.</a:t>
            </a:r>
          </a:p>
          <a:p>
            <a:pPr algn="l">
              <a:spcAft>
                <a:spcPts val="300"/>
              </a:spcAft>
            </a:pPr>
            <a:r>
              <a:rPr sz="1550" b="0">
                <a:solidFill>
                  <a:srgbClr val="9CDCFE"/>
                </a:solidFill>
                <a:latin typeface="Arial"/>
              </a:rPr>
              <a:t>Encode as |+++&gt; / |---&gt; and the same circuit corrects Z errors.</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ARBITRARY ERRORS: any single-qubit error is a linear combination</a:t>
            </a:r>
          </a:p>
          <a:p>
            <a:pPr algn="l">
              <a:spcAft>
                <a:spcPts val="300"/>
              </a:spcAft>
            </a:pPr>
            <a:r>
              <a:rPr sz="1550" b="0">
                <a:solidFill>
                  <a:srgbClr val="9CDCFE"/>
                </a:solidFill>
                <a:latin typeface="Arial"/>
              </a:rPr>
              <a:t>   E = c₀I + c₁X + c₂Y + c₃Z</a:t>
            </a:r>
          </a:p>
          <a:p>
            <a:pPr algn="l">
              <a:spcAft>
                <a:spcPts val="300"/>
              </a:spcAft>
            </a:pPr>
            <a:r>
              <a:rPr sz="1550" b="0">
                <a:solidFill>
                  <a:srgbClr val="9CDCFE"/>
                </a:solidFill>
                <a:latin typeface="Arial"/>
              </a:rPr>
              <a:t>The syndrome measurement DISCRETISES it — projecting onto one of I, X, Y, Z.</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Continuous errors become discrete ones. This 'digitisation of errors' is what makes fault tolerance possible at all.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QUANTUM ERROR CORRECTION WORKS  ·  STEP 8 OF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Step 8 — Shor, Steane and the threshold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325526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56816"/>
            <a:ext cx="9994392" cy="2962656"/>
          </a:xfrm>
          <a:prstGeom prst="rect">
            <a:avLst/>
          </a:prstGeom>
          <a:noFill/>
        </p:spPr>
        <p:txBody>
          <a:bodyPr wrap="square" anchor="t">
            <a:spAutoFit/>
          </a:bodyPr>
          <a:lstStyle/>
          <a:p>
            <a:pPr algn="l">
              <a:spcAft>
                <a:spcPts val="300"/>
              </a:spcAft>
            </a:pPr>
            <a:r>
              <a:rPr sz="1550" b="0">
                <a:solidFill>
                  <a:srgbClr val="9CDCFE"/>
                </a:solidFill>
                <a:latin typeface="Arial"/>
              </a:rPr>
              <a:t>Shor 9-qubit  = phase-flip code (3) concatenated with bit-flip code (3)</a:t>
            </a:r>
          </a:p>
          <a:p>
            <a:pPr algn="l">
              <a:spcAft>
                <a:spcPts val="300"/>
              </a:spcAft>
            </a:pPr>
            <a:r>
              <a:rPr sz="1550" b="0">
                <a:solidFill>
                  <a:srgbClr val="9CDCFE"/>
                </a:solidFill>
                <a:latin typeface="Arial"/>
              </a:rPr>
              <a:t>                -&gt; corrects ANY single-qubit error.</a:t>
            </a:r>
          </a:p>
          <a:p>
            <a:pPr algn="l">
              <a:spcAft>
                <a:spcPts val="300"/>
              </a:spcAft>
            </a:pPr>
            <a:r>
              <a:rPr sz="1550" b="0">
                <a:solidFill>
                  <a:srgbClr val="9CDCFE"/>
                </a:solidFill>
                <a:latin typeface="Arial"/>
              </a:rPr>
              <a:t>Steane 7-qubit = CSS code from the [7,4] Hamming code — same protection,</a:t>
            </a:r>
          </a:p>
          <a:p>
            <a:pPr algn="l">
              <a:spcAft>
                <a:spcPts val="300"/>
              </a:spcAft>
            </a:pPr>
            <a:r>
              <a:rPr sz="1550" b="0">
                <a:solidFill>
                  <a:srgbClr val="9CDCFE"/>
                </a:solidFill>
                <a:latin typeface="Arial"/>
              </a:rPr>
              <a:t>                fewer qubits, and transversal Clifford gates.</a:t>
            </a:r>
          </a:p>
          <a:p>
            <a:pPr algn="l">
              <a:spcAft>
                <a:spcPts val="300"/>
              </a:spcAft>
            </a:pPr>
            <a:r>
              <a:rPr sz="1550" b="0">
                <a:solidFill>
                  <a:srgbClr val="9CDCFE"/>
                </a:solidFill>
                <a:latin typeface="Arial"/>
              </a:rPr>
              <a:t>Surface code   = 2D lattice, nearest-neighbour only, threshold ~1%.</a:t>
            </a:r>
          </a:p>
          <a:p>
            <a:pPr algn="l">
              <a:spcAft>
                <a:spcPts val="300"/>
              </a:spcAft>
            </a:pPr>
            <a:r>
              <a:rPr sz="1550" b="0">
                <a:solidFill>
                  <a:srgbClr val="0B1220"/>
                </a:solidFill>
                <a:latin typeface="Arial"/>
              </a:rPr>
              <a:t> </a:t>
            </a:r>
          </a:p>
          <a:p>
            <a:pPr algn="l">
              <a:spcAft>
                <a:spcPts val="300"/>
              </a:spcAft>
            </a:pPr>
            <a:r>
              <a:rPr sz="1550" b="0">
                <a:solidFill>
                  <a:srgbClr val="9CDCFE"/>
                </a:solidFill>
                <a:latin typeface="Arial"/>
              </a:rPr>
              <a:t>THRESHOLD THEOREM: if the physical error rate p is below a threshold p_th,</a:t>
            </a:r>
          </a:p>
          <a:p>
            <a:pPr algn="l">
              <a:spcAft>
                <a:spcPts val="300"/>
              </a:spcAft>
            </a:pPr>
            <a:r>
              <a:rPr sz="1550" b="0">
                <a:solidFill>
                  <a:srgbClr val="9CDCFE"/>
                </a:solidFill>
                <a:latin typeface="Arial"/>
              </a:rPr>
              <a:t>concatenating the code to level L suppresses the logical error rate as</a:t>
            </a:r>
          </a:p>
          <a:p>
            <a:pPr algn="l">
              <a:spcAft>
                <a:spcPts val="300"/>
              </a:spcAft>
            </a:pPr>
            <a:r>
              <a:rPr sz="1550" b="0">
                <a:solidFill>
                  <a:srgbClr val="9CDCFE"/>
                </a:solidFill>
                <a:latin typeface="Arial"/>
              </a:rPr>
              <a:t>   p_L  ≈  p_th (p/p_th)^(2^L)     -&gt;  doubly exponential suppression.</a:t>
            </a:r>
          </a:p>
        </p:txBody>
      </p:sp>
      <p:sp>
        <p:nvSpPr>
          <p:cNvPr id="9" name="Rectangle 8"/>
          <p:cNvSpPr/>
          <p:nvPr/>
        </p:nvSpPr>
        <p:spPr>
          <a:xfrm>
            <a:off x="777240" y="5266944"/>
            <a:ext cx="10634472"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2669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266944"/>
            <a:ext cx="10149840" cy="786384"/>
          </a:xfrm>
          <a:prstGeom prst="rect">
            <a:avLst/>
          </a:prstGeom>
          <a:noFill/>
        </p:spPr>
        <p:txBody>
          <a:bodyPr wrap="square" anchor="ctr">
            <a:spAutoFit/>
          </a:bodyPr>
          <a:lstStyle/>
          <a:p>
            <a:pPr algn="l">
              <a:spcAft>
                <a:spcPts val="400"/>
              </a:spcAft>
            </a:pPr>
            <a:r>
              <a:rPr sz="1150" b="1">
                <a:solidFill>
                  <a:srgbClr val="F59E0B"/>
                </a:solidFill>
                <a:latin typeface="Arial"/>
              </a:rPr>
              <a:t>WHY THIS STEP:  </a:t>
            </a:r>
            <a:r>
              <a:rPr sz="1300" b="0">
                <a:solidFill>
                  <a:srgbClr val="161B26"/>
                </a:solidFill>
                <a:latin typeface="Arial"/>
              </a:rPr>
              <a:t>Below threshold, adding qubits makes the computer MORE reliable — that is the entire promise of fault-tolerant quantum computing.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QED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Error Correction Works —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8288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RESULT</a:t>
            </a:r>
          </a:p>
        </p:txBody>
      </p:sp>
      <p:sp>
        <p:nvSpPr>
          <p:cNvPr id="10" name="TextBox 9"/>
          <p:cNvSpPr txBox="1"/>
          <p:nvPr/>
        </p:nvSpPr>
        <p:spPr>
          <a:xfrm>
            <a:off x="1143000" y="2377440"/>
            <a:ext cx="10058400" cy="1143000"/>
          </a:xfrm>
          <a:prstGeom prst="rect">
            <a:avLst/>
          </a:prstGeom>
          <a:noFill/>
        </p:spPr>
        <p:txBody>
          <a:bodyPr wrap="square" anchor="t">
            <a:spAutoFit/>
          </a:bodyPr>
          <a:lstStyle/>
          <a:p>
            <a:pPr algn="l">
              <a:spcAft>
                <a:spcPts val="400"/>
              </a:spcAft>
            </a:pPr>
            <a:r>
              <a:rPr sz="1550" b="1">
                <a:solidFill>
                  <a:srgbClr val="161B26"/>
                </a:solidFill>
                <a:latin typeface="Arial"/>
              </a:rPr>
              <a:t>The syndrome identifies the error without revealing a or b, so applying the indicated Pauli correction restores the logical state exactly. Below the error threshold, concatenation suppresses errors faster than they accumulate.</a:t>
            </a:r>
          </a:p>
        </p:txBody>
      </p:sp>
      <p:sp>
        <p:nvSpPr>
          <p:cNvPr id="11" name="Rectangle 10"/>
          <p:cNvSpPr/>
          <p:nvPr/>
        </p:nvSpPr>
        <p:spPr>
          <a:xfrm>
            <a:off x="777240" y="3840480"/>
            <a:ext cx="1063447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840480"/>
            <a:ext cx="100584" cy="2148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023360"/>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WHY IT MATTERS</a:t>
            </a:r>
          </a:p>
        </p:txBody>
      </p:sp>
      <p:sp>
        <p:nvSpPr>
          <p:cNvPr id="14" name="TextBox 13"/>
          <p:cNvSpPr txBox="1"/>
          <p:nvPr/>
        </p:nvSpPr>
        <p:spPr>
          <a:xfrm>
            <a:off x="1143000" y="4434840"/>
            <a:ext cx="10058400" cy="1463040"/>
          </a:xfrm>
          <a:prstGeom prst="rect">
            <a:avLst/>
          </a:prstGeom>
          <a:noFill/>
        </p:spPr>
        <p:txBody>
          <a:bodyPr wrap="square" anchor="t">
            <a:spAutoFit/>
          </a:bodyPr>
          <a:lstStyle/>
          <a:p>
            <a:pPr algn="l">
              <a:spcAft>
                <a:spcPts val="400"/>
              </a:spcAft>
            </a:pPr>
            <a:r>
              <a:rPr sz="1450" b="0">
                <a:solidFill>
                  <a:srgbClr val="161B26"/>
                </a:solidFill>
                <a:latin typeface="Arial"/>
              </a:rPr>
              <a:t>Without QEC, decoherence destroys any long computation. Shor's algorithm on RSA-2048 needs billions of reliable operations — impossible with raw physical qubits at today's error rates, but achievable with error-corrected logical qubits.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11149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54296" cy="548640"/>
          </a:xfrm>
          <a:prstGeom prst="rect">
            <a:avLst/>
          </a:prstGeom>
          <a:noFill/>
        </p:spPr>
        <p:txBody>
          <a:bodyPr wrap="square" anchor="t">
            <a:spAutoFit/>
          </a:bodyPr>
          <a:lstStyle/>
          <a:p>
            <a:pPr algn="l">
              <a:spcAft>
                <a:spcPts val="400"/>
              </a:spcAft>
            </a:pPr>
            <a:r>
              <a:rPr sz="1900" b="1">
                <a:solidFill>
                  <a:srgbClr val="1F6FEB"/>
                </a:solidFill>
                <a:latin typeface="Arial"/>
              </a:rPr>
              <a:t>Activity 17</a:t>
            </a:r>
          </a:p>
        </p:txBody>
      </p:sp>
      <p:sp>
        <p:nvSpPr>
          <p:cNvPr id="10" name="TextBox 9"/>
          <p:cNvSpPr txBox="1"/>
          <p:nvPr/>
        </p:nvSpPr>
        <p:spPr>
          <a:xfrm>
            <a:off x="1005840" y="2697480"/>
            <a:ext cx="4654296" cy="3108960"/>
          </a:xfrm>
          <a:prstGeom prst="rect">
            <a:avLst/>
          </a:prstGeom>
          <a:noFill/>
        </p:spPr>
        <p:txBody>
          <a:bodyPr wrap="square">
            <a:spAutoFit/>
          </a:bodyPr>
          <a:lstStyle/>
          <a:p>
            <a:pPr>
              <a:spcAft>
                <a:spcPts val="900"/>
              </a:spcAft>
            </a:pPr>
            <a:r>
              <a:rPr sz="1400">
                <a:solidFill>
                  <a:srgbClr val="161B26"/>
                </a:solidFill>
                <a:latin typeface="Arial"/>
              </a:rPr>
              <a:t>•  Bit-Flip and Phase-Flip Error Correction Codes</a:t>
            </a:r>
          </a:p>
        </p:txBody>
      </p:sp>
      <p:sp>
        <p:nvSpPr>
          <p:cNvPr id="11" name="Rectangle 10"/>
          <p:cNvSpPr/>
          <p:nvPr/>
        </p:nvSpPr>
        <p:spPr>
          <a:xfrm>
            <a:off x="6300216" y="1783080"/>
            <a:ext cx="511149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0216" y="1783080"/>
            <a:ext cx="511149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2011680"/>
            <a:ext cx="4654296" cy="548640"/>
          </a:xfrm>
          <a:prstGeom prst="rect">
            <a:avLst/>
          </a:prstGeom>
          <a:noFill/>
        </p:spPr>
        <p:txBody>
          <a:bodyPr wrap="square" anchor="t">
            <a:spAutoFit/>
          </a:bodyPr>
          <a:lstStyle/>
          <a:p>
            <a:pPr algn="l">
              <a:spcAft>
                <a:spcPts val="400"/>
              </a:spcAft>
            </a:pPr>
            <a:r>
              <a:rPr sz="1900" b="1">
                <a:solidFill>
                  <a:srgbClr val="10B981"/>
                </a:solidFill>
                <a:latin typeface="Arial"/>
              </a:rPr>
              <a:t>Activity 18</a:t>
            </a:r>
          </a:p>
        </p:txBody>
      </p:sp>
      <p:sp>
        <p:nvSpPr>
          <p:cNvPr id="14" name="TextBox 13"/>
          <p:cNvSpPr txBox="1"/>
          <p:nvPr/>
        </p:nvSpPr>
        <p:spPr>
          <a:xfrm>
            <a:off x="6528816" y="2697480"/>
            <a:ext cx="4654296" cy="3108960"/>
          </a:xfrm>
          <a:prstGeom prst="rect">
            <a:avLst/>
          </a:prstGeom>
          <a:noFill/>
        </p:spPr>
        <p:txBody>
          <a:bodyPr wrap="square">
            <a:spAutoFit/>
          </a:bodyPr>
          <a:lstStyle/>
          <a:p>
            <a:pPr>
              <a:spcAft>
                <a:spcPts val="900"/>
              </a:spcAft>
            </a:pPr>
            <a:r>
              <a:rPr sz="1400">
                <a:solidFill>
                  <a:srgbClr val="161B26"/>
                </a:solidFill>
                <a:latin typeface="Arial"/>
              </a:rPr>
              <a:t>•  Shor 9-Qubit and Steane 7-Qubit Codes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three-qubit repetition codes that detect and correct X and Z errors: encode a logical qubit, inject an error, measure the syndrome without collapsing the state, and apply the correction.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bit-flip and phase-flip code circuits that correctly identify and repair an injected single-qubit error.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17: Bit-Flip and Phase-Flip Error Correction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syndrome measurement correctly identifies which qubit carried the injected error without collapsing the logical state, and applying the indicated correction restores the original logical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Step up to codes that correct arbitrary single-qubit errors: Shor's 9-qubit concatenated code and Steane's more efficient 7-qubit CSS code, then compare their qubit overhead and discuss the road to fault tolerance.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Shor 9-qubit and Steane 7-qubit code circuits, with a comparison of qubit cost against protection offered.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18: Shor 9-Qubit and Steane 7-Qubit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Both the Shor 9-qubit and Steane 7-qubit circuits detect and correct an arbitrary injected single-qubit error (X, Y or Z), and you can state the qubit overhead each code requires.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Why QEC is needed</a:t>
            </a:r>
          </a:p>
          <a:p>
            <a:pPr>
              <a:spcAft>
                <a:spcPts val="1000"/>
              </a:spcAft>
            </a:pPr>
            <a:r>
              <a:rPr sz="1600">
                <a:solidFill>
                  <a:srgbClr val="161B26"/>
                </a:solidFill>
                <a:latin typeface="Arial"/>
              </a:rPr>
              <a:t>•  Quantum-specific challenges</a:t>
            </a:r>
          </a:p>
          <a:p>
            <a:pPr>
              <a:spcAft>
                <a:spcPts val="1000"/>
              </a:spcAft>
            </a:pPr>
            <a:r>
              <a:rPr sz="1600">
                <a:solidFill>
                  <a:srgbClr val="161B26"/>
                </a:solidFill>
                <a:latin typeface="Arial"/>
              </a:rPr>
              <a:t>•  Syndrome measurement</a:t>
            </a:r>
          </a:p>
          <a:p>
            <a:pPr>
              <a:spcAft>
                <a:spcPts val="1000"/>
              </a:spcAft>
            </a:pPr>
            <a:r>
              <a:rPr sz="1600">
                <a:solidFill>
                  <a:srgbClr val="161B26"/>
                </a:solidFill>
                <a:latin typeface="Arial"/>
              </a:rPr>
              <a:t>•  Bit-flip and phase-flip codes</a:t>
            </a:r>
          </a:p>
          <a:p>
            <a:pPr>
              <a:spcAft>
                <a:spcPts val="1000"/>
              </a:spcAft>
            </a:pPr>
            <a:r>
              <a:rPr sz="1600">
                <a:solidFill>
                  <a:srgbClr val="161B26"/>
                </a:solidFill>
                <a:latin typeface="Arial"/>
              </a:rPr>
              <a:t>•  Shor, Steane and surface codes</a:t>
            </a:r>
          </a:p>
          <a:p>
            <a:pPr>
              <a:spcAft>
                <a:spcPts val="1000"/>
              </a:spcAft>
            </a:pPr>
            <a:r>
              <a:rPr sz="1600">
                <a:solidFill>
                  <a:srgbClr val="161B26"/>
                </a:solidFill>
                <a:latin typeface="Arial"/>
              </a:rPr>
              <a:t>•  Fault tolerance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foundations</a:t>
            </a:r>
          </a:p>
          <a:p>
            <a:pPr algn="l">
              <a:spcAft>
                <a:spcPts val="300"/>
              </a:spcAft>
            </a:pPr>
            <a:r>
              <a:rPr sz="1050" b="0">
                <a:solidFill>
                  <a:srgbClr val="5B6372"/>
                </a:solidFill>
                <a:latin typeface="Arial"/>
              </a:rPr>
              <a:t>Built the state vectors, unitary and Hermitian operators behind every algorithm.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systems</a:t>
            </a:r>
          </a:p>
          <a:p>
            <a:pPr algn="l">
              <a:spcAft>
                <a:spcPts val="300"/>
              </a:spcAft>
            </a:pPr>
            <a:r>
              <a:rPr sz="1050" b="0">
                <a:solidFill>
                  <a:srgbClr val="5B6372"/>
                </a:solidFill>
                <a:latin typeface="Arial"/>
              </a:rPr>
              <a:t>Visualised qubits on the Bloch sphere and ran circuits on real IBM hardware.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Gates and circuits</a:t>
            </a:r>
          </a:p>
          <a:p>
            <a:pPr algn="l">
              <a:spcAft>
                <a:spcPts val="300"/>
              </a:spcAft>
            </a:pPr>
            <a:r>
              <a:rPr sz="1050" b="0">
                <a:solidFill>
                  <a:srgbClr val="5B6372"/>
                </a:solidFill>
                <a:latin typeface="Arial"/>
              </a:rPr>
              <a:t>Applied the full gate set and constructed Bell and GHZ entangled states.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protocols</a:t>
            </a:r>
          </a:p>
          <a:p>
            <a:pPr algn="l">
              <a:spcAft>
                <a:spcPts val="300"/>
              </a:spcAft>
            </a:pPr>
            <a:r>
              <a:rPr sz="1050" b="0">
                <a:solidFill>
                  <a:srgbClr val="5B6372"/>
                </a:solidFill>
                <a:latin typeface="Arial"/>
              </a:rPr>
              <a:t>Implemented teleportation, superdense coding and BB84 with eavesdropper detection.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algorithms</a:t>
            </a:r>
          </a:p>
          <a:p>
            <a:pPr algn="l">
              <a:spcAft>
                <a:spcPts val="300"/>
              </a:spcAft>
            </a:pPr>
            <a:r>
              <a:rPr sz="1050" b="0">
                <a:solidFill>
                  <a:srgbClr val="5B6372"/>
                </a:solidFill>
                <a:latin typeface="Arial"/>
              </a:rPr>
              <a:t>Ran Deutsch, Deutsch-Jozsa, Bernstein-Vazirani, Grover and the QFT.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 and safety</a:t>
            </a:r>
          </a:p>
          <a:p>
            <a:pPr algn="l">
              <a:spcAft>
                <a:spcPts val="300"/>
              </a:spcAft>
            </a:pPr>
            <a:r>
              <a:rPr sz="1050" b="0">
                <a:solidFill>
                  <a:srgbClr val="5B6372"/>
                </a:solidFill>
                <a:latin typeface="Arial"/>
              </a:rPr>
              <a:t>Ran Shor's period finding and built a PQC migration plan.</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Applications</a:t>
            </a:r>
          </a:p>
          <a:p>
            <a:pPr algn="l">
              <a:spcAft>
                <a:spcPts val="300"/>
              </a:spcAft>
            </a:pPr>
            <a:r>
              <a:rPr sz="1050" b="0">
                <a:solidFill>
                  <a:srgbClr val="5B6372"/>
                </a:solidFill>
                <a:latin typeface="Arial"/>
              </a:rPr>
              <a:t>Simulated H₂ with VQE and optimised with QAOA.</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Error correction</a:t>
            </a:r>
          </a:p>
          <a:p>
            <a:pPr algn="l">
              <a:spcAft>
                <a:spcPts val="300"/>
              </a:spcAft>
            </a:pPr>
            <a:r>
              <a:rPr sz="1050" b="0">
                <a:solidFill>
                  <a:srgbClr val="5B6372"/>
                </a:solidFill>
                <a:latin typeface="Arial"/>
              </a:rPr>
              <a:t>Encoded, diagnosed and corrected errors with the bit-flip, Shor and Steane codes.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Continue Your Quantum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IBM Quantum Learning</a:t>
            </a:r>
          </a:p>
          <a:p>
            <a:pPr algn="l">
              <a:spcAft>
                <a:spcPts val="300"/>
              </a:spcAft>
            </a:pPr>
            <a:r>
              <a:rPr sz="1100" b="0">
                <a:solidFill>
                  <a:srgbClr val="5B6372"/>
                </a:solidFill>
                <a:latin typeface="Arial"/>
              </a:rPr>
              <a:t>Free courses and challenges at learning.quantum.ibm.com.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Qiskit documentation</a:t>
            </a:r>
          </a:p>
          <a:p>
            <a:pPr algn="l">
              <a:spcAft>
                <a:spcPts val="300"/>
              </a:spcAft>
            </a:pPr>
            <a:r>
              <a:rPr sz="1100" b="0">
                <a:solidFill>
                  <a:srgbClr val="5B6372"/>
                </a:solidFill>
                <a:latin typeface="Arial"/>
              </a:rPr>
              <a:t>The reference for every gate, primitive and runtime feature.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PennyLane demos</a:t>
            </a:r>
          </a:p>
          <a:p>
            <a:pPr algn="l">
              <a:spcAft>
                <a:spcPts val="300"/>
              </a:spcAft>
            </a:pPr>
            <a:r>
              <a:rPr sz="1100" b="0">
                <a:solidFill>
                  <a:srgbClr val="5B6372"/>
                </a:solidFill>
                <a:latin typeface="Arial"/>
              </a:rPr>
              <a:t>Excellent tutorials on variational and quantum-machine-learning methods.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NIST PQC</a:t>
            </a:r>
          </a:p>
          <a:p>
            <a:pPr algn="l">
              <a:spcAft>
                <a:spcPts val="300"/>
              </a:spcAft>
            </a:pPr>
            <a:r>
              <a:rPr sz="1100" b="0">
                <a:solidFill>
                  <a:srgbClr val="5B6372"/>
                </a:solidFill>
                <a:latin typeface="Arial"/>
              </a:rPr>
              <a:t>Track FIPS 203/204/205 adoption and vendor migration guidance.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Practise the labs</a:t>
            </a:r>
          </a:p>
          <a:p>
            <a:pPr algn="l">
              <a:spcAft>
                <a:spcPts val="300"/>
              </a:spcAft>
            </a:pPr>
            <a:r>
              <a:rPr sz="1100" b="0">
                <a:solidFill>
                  <a:srgbClr val="5B6372"/>
                </a:solidFill>
                <a:latin typeface="Arial"/>
              </a:rPr>
              <a:t>Re-run every activity in this course from a blank notebook.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Stay current</a:t>
            </a:r>
          </a:p>
          <a:p>
            <a:pPr algn="l">
              <a:spcAft>
                <a:spcPts val="300"/>
              </a:spcAft>
            </a:pPr>
            <a:r>
              <a:rPr sz="1100" b="0">
                <a:solidFill>
                  <a:srgbClr val="5B6372"/>
                </a:solidFill>
                <a:latin typeface="Arial"/>
              </a:rPr>
              <a:t>Quantum hardware roadmaps shift yearly — follow the vendor announcements.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design quantum models, apply quantum gates, select quantum algorithms and plan a post-quantum migration — the skills that secure the future.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