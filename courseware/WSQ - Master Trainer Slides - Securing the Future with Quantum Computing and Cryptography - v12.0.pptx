
<file path=[Content_Types].xml><?xml version="1.0" encoding="utf-8"?>
<Types xmlns="http://schemas.openxmlformats.org/package/2006/content-types">
  <Default Extension="bin" ContentType="application/vnd.openxmlformats-officedocument.presentationml.printerSettings"/>
  <Default Extension="jpeg" ContentType="image/jpeg"/>
  <Default Extension="png" ContentType="image/png"/>
  <Default Extension="rels" ContentType="application/vnd.openxmlformats-package.relationships+xml"/>
  <Default Extension="xml" ContentType="application/xml"/>
  <Override PartName="/docProps/app.xml" ContentType="application/vnd.openxmlformats-officedocument.extended-properties+xml"/>
  <Override PartName="/docProps/core.xml" ContentType="application/vnd.openxmlformats-package.core-properties+xml"/>
  <Override PartName="/ppt/presProps.xml" ContentType="application/vnd.openxmlformats-officedocument.presentationml.presProps+xml"/>
  <Override PartName="/ppt/presentation.xml" ContentType="application/vnd.openxmlformats-officedocument.presentationml.presentation.main+xml"/>
  <Override PartName="/ppt/slideLayouts/slideLayout1.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Masters/slideMaster1.xml" ContentType="application/vnd.openxmlformats-officedocument.presentationml.slideMaster+xml"/>
  <Override PartName="/ppt/slides/slide1.xml" ContentType="application/vnd.openxmlformats-officedocument.presentationml.slide+xml"/>
  <Override PartName="/ppt/slides/slide10.xml" ContentType="application/vnd.openxmlformats-officedocument.presentationml.slide+xml"/>
  <Override PartName="/ppt/slides/slide100.xml" ContentType="application/vnd.openxmlformats-officedocument.presentationml.slide+xml"/>
  <Override PartName="/ppt/slides/slide101.xml" ContentType="application/vnd.openxmlformats-officedocument.presentationml.slide+xml"/>
  <Override PartName="/ppt/slides/slide102.xml" ContentType="application/vnd.openxmlformats-officedocument.presentationml.slide+xml"/>
  <Override PartName="/ppt/slides/slide103.xml" ContentType="application/vnd.openxmlformats-officedocument.presentationml.slide+xml"/>
  <Override PartName="/ppt/slides/slide104.xml" ContentType="application/vnd.openxmlformats-officedocument.presentationml.slide+xml"/>
  <Override PartName="/ppt/slides/slide105.xml" ContentType="application/vnd.openxmlformats-officedocument.presentationml.slide+xml"/>
  <Override PartName="/ppt/slides/slide106.xml" ContentType="application/vnd.openxmlformats-officedocument.presentationml.slide+xml"/>
  <Override PartName="/ppt/slides/slide107.xml" ContentType="application/vnd.openxmlformats-officedocument.presentationml.slide+xml"/>
  <Override PartName="/ppt/slides/slide108.xml" ContentType="application/vnd.openxmlformats-officedocument.presentationml.slide+xml"/>
  <Override PartName="/ppt/slides/slide109.xml" ContentType="application/vnd.openxmlformats-officedocument.presentationml.slide+xml"/>
  <Override PartName="/ppt/slides/slide11.xml" ContentType="application/vnd.openxmlformats-officedocument.presentationml.slide+xml"/>
  <Override PartName="/ppt/slides/slide110.xml" ContentType="application/vnd.openxmlformats-officedocument.presentationml.slide+xml"/>
  <Override PartName="/ppt/slides/slide111.xml" ContentType="application/vnd.openxmlformats-officedocument.presentationml.slide+xml"/>
  <Override PartName="/ppt/slides/slide112.xml" ContentType="application/vnd.openxmlformats-officedocument.presentationml.slide+xml"/>
  <Override PartName="/ppt/slides/slide113.xml" ContentType="application/vnd.openxmlformats-officedocument.presentationml.slide+xml"/>
  <Override PartName="/ppt/slides/slide114.xml" ContentType="application/vnd.openxmlformats-officedocument.presentationml.slide+xml"/>
  <Override PartName="/ppt/slides/slide115.xml" ContentType="application/vnd.openxmlformats-officedocument.presentationml.slide+xml"/>
  <Override PartName="/ppt/slides/slide116.xml" ContentType="application/vnd.openxmlformats-officedocument.presentationml.slide+xml"/>
  <Override PartName="/ppt/slides/slide117.xml" ContentType="application/vnd.openxmlformats-officedocument.presentationml.slide+xml"/>
  <Override PartName="/ppt/slides/slide118.xml" ContentType="application/vnd.openxmlformats-officedocument.presentationml.slide+xml"/>
  <Override PartName="/ppt/slides/slide119.xml" ContentType="application/vnd.openxmlformats-officedocument.presentationml.slide+xml"/>
  <Override PartName="/ppt/slides/slide12.xml" ContentType="application/vnd.openxmlformats-officedocument.presentationml.slide+xml"/>
  <Override PartName="/ppt/slides/slide120.xml" ContentType="application/vnd.openxmlformats-officedocument.presentationml.slide+xml"/>
  <Override PartName="/ppt/slides/slide121.xml" ContentType="application/vnd.openxmlformats-officedocument.presentationml.slide+xml"/>
  <Override PartName="/ppt/slides/slide122.xml" ContentType="application/vnd.openxmlformats-officedocument.presentationml.slide+xml"/>
  <Override PartName="/ppt/slides/slide123.xml" ContentType="application/vnd.openxmlformats-officedocument.presentationml.slide+xml"/>
  <Override PartName="/ppt/slides/slide124.xml" ContentType="application/vnd.openxmlformats-officedocument.presentationml.slide+xml"/>
  <Override PartName="/ppt/slides/slide125.xml" ContentType="application/vnd.openxmlformats-officedocument.presentationml.slide+xml"/>
  <Override PartName="/ppt/slides/slide126.xml" ContentType="application/vnd.openxmlformats-officedocument.presentationml.slide+xml"/>
  <Override PartName="/ppt/slides/slide127.xml" ContentType="application/vnd.openxmlformats-officedocument.presentationml.slide+xml"/>
  <Override PartName="/ppt/slides/slide128.xml" ContentType="application/vnd.openxmlformats-officedocument.presentationml.slide+xml"/>
  <Override PartName="/ppt/slides/slide129.xml" ContentType="application/vnd.openxmlformats-officedocument.presentationml.slide+xml"/>
  <Override PartName="/ppt/slides/slide13.xml" ContentType="application/vnd.openxmlformats-officedocument.presentationml.slide+xml"/>
  <Override PartName="/ppt/slides/slide130.xml" ContentType="application/vnd.openxmlformats-officedocument.presentationml.slide+xml"/>
  <Override PartName="/ppt/slides/slide131.xml" ContentType="application/vnd.openxmlformats-officedocument.presentationml.slide+xml"/>
  <Override PartName="/ppt/slides/slide132.xml" ContentType="application/vnd.openxmlformats-officedocument.presentationml.slide+xml"/>
  <Override PartName="/ppt/slides/slide133.xml" ContentType="application/vnd.openxmlformats-officedocument.presentationml.slide+xml"/>
  <Override PartName="/ppt/slides/slide134.xml" ContentType="application/vnd.openxmlformats-officedocument.presentationml.slide+xml"/>
  <Override PartName="/ppt/slides/slide135.xml" ContentType="application/vnd.openxmlformats-officedocument.presentationml.slide+xml"/>
  <Override PartName="/ppt/slides/slide136.xml" ContentType="application/vnd.openxmlformats-officedocument.presentationml.slide+xml"/>
  <Override PartName="/ppt/slides/slide137.xml" ContentType="application/vnd.openxmlformats-officedocument.presentationml.slide+xml"/>
  <Override PartName="/ppt/slides/slide138.xml" ContentType="application/vnd.openxmlformats-officedocument.presentationml.slide+xml"/>
  <Override PartName="/ppt/slides/slide139.xml" ContentType="application/vnd.openxmlformats-officedocument.presentationml.slide+xml"/>
  <Override PartName="/ppt/slides/slide14.xml" ContentType="application/vnd.openxmlformats-officedocument.presentationml.slide+xml"/>
  <Override PartName="/ppt/slides/slide140.xml" ContentType="application/vnd.openxmlformats-officedocument.presentationml.slide+xml"/>
  <Override PartName="/ppt/slides/slide141.xml" ContentType="application/vnd.openxmlformats-officedocument.presentationml.slide+xml"/>
  <Override PartName="/ppt/slides/slide142.xml" ContentType="application/vnd.openxmlformats-officedocument.presentationml.slide+xml"/>
  <Override PartName="/ppt/slides/slide143.xml" ContentType="application/vnd.openxmlformats-officedocument.presentationml.slide+xml"/>
  <Override PartName="/ppt/slides/slide144.xml" ContentType="application/vnd.openxmlformats-officedocument.presentationml.slide+xml"/>
  <Override PartName="/ppt/slides/slide145.xml" ContentType="application/vnd.openxmlformats-officedocument.presentationml.slide+xml"/>
  <Override PartName="/ppt/slides/slide146.xml" ContentType="application/vnd.openxmlformats-officedocument.presentationml.slide+xml"/>
  <Override PartName="/ppt/slides/slide147.xml" ContentType="application/vnd.openxmlformats-officedocument.presentationml.slide+xml"/>
  <Override PartName="/ppt/slides/slide148.xml" ContentType="application/vnd.openxmlformats-officedocument.presentationml.slide+xml"/>
  <Override PartName="/ppt/slides/slide149.xml" ContentType="application/vnd.openxmlformats-officedocument.presentationml.slide+xml"/>
  <Override PartName="/ppt/slides/slide15.xml" ContentType="application/vnd.openxmlformats-officedocument.presentationml.slide+xml"/>
  <Override PartName="/ppt/slides/slide150.xml" ContentType="application/vnd.openxmlformats-officedocument.presentationml.slide+xml"/>
  <Override PartName="/ppt/slides/slide151.xml" ContentType="application/vnd.openxmlformats-officedocument.presentationml.slide+xml"/>
  <Override PartName="/ppt/slides/slide152.xml" ContentType="application/vnd.openxmlformats-officedocument.presentationml.slide+xml"/>
  <Override PartName="/ppt/slides/slide153.xml" ContentType="application/vnd.openxmlformats-officedocument.presentationml.slide+xml"/>
  <Override PartName="/ppt/slides/slide154.xml" ContentType="application/vnd.openxmlformats-officedocument.presentationml.slide+xml"/>
  <Override PartName="/ppt/slides/slide155.xml" ContentType="application/vnd.openxmlformats-officedocument.presentationml.slide+xml"/>
  <Override PartName="/ppt/slides/slide156.xml" ContentType="application/vnd.openxmlformats-officedocument.presentationml.slide+xml"/>
  <Override PartName="/ppt/slides/slide157.xml" ContentType="application/vnd.openxmlformats-officedocument.presentationml.slide+xml"/>
  <Override PartName="/ppt/slides/slide158.xml" ContentType="application/vnd.openxmlformats-officedocument.presentationml.slide+xml"/>
  <Override PartName="/ppt/slides/slide159.xml" ContentType="application/vnd.openxmlformats-officedocument.presentationml.slide+xml"/>
  <Override PartName="/ppt/slides/slide16.xml" ContentType="application/vnd.openxmlformats-officedocument.presentationml.slide+xml"/>
  <Override PartName="/ppt/slides/slide160.xml" ContentType="application/vnd.openxmlformats-officedocument.presentationml.slide+xml"/>
  <Override PartName="/ppt/slides/slide161.xml" ContentType="application/vnd.openxmlformats-officedocument.presentationml.slide+xml"/>
  <Override PartName="/ppt/slides/slide162.xml" ContentType="application/vnd.openxmlformats-officedocument.presentationml.slide+xml"/>
  <Override PartName="/ppt/slides/slide163.xml" ContentType="application/vnd.openxmlformats-officedocument.presentationml.slide+xml"/>
  <Override PartName="/ppt/slides/slide164.xml" ContentType="application/vnd.openxmlformats-officedocument.presentationml.slide+xml"/>
  <Override PartName="/ppt/slides/slide165.xml" ContentType="application/vnd.openxmlformats-officedocument.presentationml.slide+xml"/>
  <Override PartName="/ppt/slides/slide166.xml" ContentType="application/vnd.openxmlformats-officedocument.presentationml.slide+xml"/>
  <Override PartName="/ppt/slides/slide167.xml" ContentType="application/vnd.openxmlformats-officedocument.presentationml.slide+xml"/>
  <Override PartName="/ppt/slides/slide168.xml" ContentType="application/vnd.openxmlformats-officedocument.presentationml.slide+xml"/>
  <Override PartName="/ppt/slides/slide169.xml" ContentType="application/vnd.openxmlformats-officedocument.presentationml.slide+xml"/>
  <Override PartName="/ppt/slides/slide17.xml" ContentType="application/vnd.openxmlformats-officedocument.presentationml.slide+xml"/>
  <Override PartName="/ppt/slides/slide170.xml" ContentType="application/vnd.openxmlformats-officedocument.presentationml.slide+xml"/>
  <Override PartName="/ppt/slides/slide171.xml" ContentType="application/vnd.openxmlformats-officedocument.presentationml.slide+xml"/>
  <Override PartName="/ppt/slides/slide172.xml" ContentType="application/vnd.openxmlformats-officedocument.presentationml.slide+xml"/>
  <Override PartName="/ppt/slides/slide173.xml" ContentType="application/vnd.openxmlformats-officedocument.presentationml.slide+xml"/>
  <Override PartName="/ppt/slides/slide174.xml" ContentType="application/vnd.openxmlformats-officedocument.presentationml.slide+xml"/>
  <Override PartName="/ppt/slides/slide175.xml" ContentType="application/vnd.openxmlformats-officedocument.presentationml.slide+xml"/>
  <Override PartName="/ppt/slides/slide176.xml" ContentType="application/vnd.openxmlformats-officedocument.presentationml.slide+xml"/>
  <Override PartName="/ppt/slides/slide177.xml" ContentType="application/vnd.openxmlformats-officedocument.presentationml.slide+xml"/>
  <Override PartName="/ppt/slides/slide178.xml" ContentType="application/vnd.openxmlformats-officedocument.presentationml.slide+xml"/>
  <Override PartName="/ppt/slides/slide179.xml" ContentType="application/vnd.openxmlformats-officedocument.presentationml.slide+xml"/>
  <Override PartName="/ppt/slides/slide18.xml" ContentType="application/vnd.openxmlformats-officedocument.presentationml.slide+xml"/>
  <Override PartName="/ppt/slides/slide180.xml" ContentType="application/vnd.openxmlformats-officedocument.presentationml.slide+xml"/>
  <Override PartName="/ppt/slides/slide181.xml" ContentType="application/vnd.openxmlformats-officedocument.presentationml.slide+xml"/>
  <Override PartName="/ppt/slides/slide182.xml" ContentType="application/vnd.openxmlformats-officedocument.presentationml.slide+xml"/>
  <Override PartName="/ppt/slides/slide183.xml" ContentType="application/vnd.openxmlformats-officedocument.presentationml.slide+xml"/>
  <Override PartName="/ppt/slides/slide184.xml" ContentType="application/vnd.openxmlformats-officedocument.presentationml.slide+xml"/>
  <Override PartName="/ppt/slides/slide185.xml" ContentType="application/vnd.openxmlformats-officedocument.presentationml.slide+xml"/>
  <Override PartName="/ppt/slides/slide186.xml" ContentType="application/vnd.openxmlformats-officedocument.presentationml.slide+xml"/>
  <Override PartName="/ppt/slides/slide187.xml" ContentType="application/vnd.openxmlformats-officedocument.presentationml.slide+xml"/>
  <Override PartName="/ppt/slides/slide188.xml" ContentType="application/vnd.openxmlformats-officedocument.presentationml.slide+xml"/>
  <Override PartName="/ppt/slides/slide189.xml" ContentType="application/vnd.openxmlformats-officedocument.presentationml.slide+xml"/>
  <Override PartName="/ppt/slides/slide19.xml" ContentType="application/vnd.openxmlformats-officedocument.presentationml.slide+xml"/>
  <Override PartName="/ppt/slides/slide190.xml" ContentType="application/vnd.openxmlformats-officedocument.presentationml.slide+xml"/>
  <Override PartName="/ppt/slides/slide191.xml" ContentType="application/vnd.openxmlformats-officedocument.presentationml.slide+xml"/>
  <Override PartName="/ppt/slides/slide192.xml" ContentType="application/vnd.openxmlformats-officedocument.presentationml.slide+xml"/>
  <Override PartName="/ppt/slides/slide193.xml" ContentType="application/vnd.openxmlformats-officedocument.presentationml.slide+xml"/>
  <Override PartName="/ppt/slides/slide194.xml" ContentType="application/vnd.openxmlformats-officedocument.presentationml.slide+xml"/>
  <Override PartName="/ppt/slides/slide195.xml" ContentType="application/vnd.openxmlformats-officedocument.presentationml.slide+xml"/>
  <Override PartName="/ppt/slides/slide196.xml" ContentType="application/vnd.openxmlformats-officedocument.presentationml.slide+xml"/>
  <Override PartName="/ppt/slides/slide197.xml" ContentType="application/vnd.openxmlformats-officedocument.presentationml.slide+xml"/>
  <Override PartName="/ppt/slides/slide198.xml" ContentType="application/vnd.openxmlformats-officedocument.presentationml.slide+xml"/>
  <Override PartName="/ppt/slides/slide199.xml" ContentType="application/vnd.openxmlformats-officedocument.presentationml.slide+xml"/>
  <Override PartName="/ppt/slides/slide2.xml" ContentType="application/vnd.openxmlformats-officedocument.presentationml.slide+xml"/>
  <Override PartName="/ppt/slides/slide20.xml" ContentType="application/vnd.openxmlformats-officedocument.presentationml.slide+xml"/>
  <Override PartName="/ppt/slides/slide200.xml" ContentType="application/vnd.openxmlformats-officedocument.presentationml.slide+xml"/>
  <Override PartName="/ppt/slides/slide201.xml" ContentType="application/vnd.openxmlformats-officedocument.presentationml.slide+xml"/>
  <Override PartName="/ppt/slides/slide202.xml" ContentType="application/vnd.openxmlformats-officedocument.presentationml.slide+xml"/>
  <Override PartName="/ppt/slides/slide203.xml" ContentType="application/vnd.openxmlformats-officedocument.presentationml.slide+xml"/>
  <Override PartName="/ppt/slides/slide204.xml" ContentType="application/vnd.openxmlformats-officedocument.presentationml.slide+xml"/>
  <Override PartName="/ppt/slides/slide205.xml" ContentType="application/vnd.openxmlformats-officedocument.presentationml.slide+xml"/>
  <Override PartName="/ppt/slides/slide206.xml" ContentType="application/vnd.openxmlformats-officedocument.presentationml.slide+xml"/>
  <Override PartName="/ppt/slides/slide207.xml" ContentType="application/vnd.openxmlformats-officedocument.presentationml.slide+xml"/>
  <Override PartName="/ppt/slides/slide208.xml" ContentType="application/vnd.openxmlformats-officedocument.presentationml.slide+xml"/>
  <Override PartName="/ppt/slides/slide209.xml" ContentType="application/vnd.openxmlformats-officedocument.presentationml.slide+xml"/>
  <Override PartName="/ppt/slides/slide21.xml" ContentType="application/vnd.openxmlformats-officedocument.presentationml.slide+xml"/>
  <Override PartName="/ppt/slides/slide210.xml" ContentType="application/vnd.openxmlformats-officedocument.presentationml.slide+xml"/>
  <Override PartName="/ppt/slides/slide211.xml" ContentType="application/vnd.openxmlformats-officedocument.presentationml.slide+xml"/>
  <Override PartName="/ppt/slides/slide212.xml" ContentType="application/vnd.openxmlformats-officedocument.presentationml.slide+xml"/>
  <Override PartName="/ppt/slides/slide213.xml" ContentType="application/vnd.openxmlformats-officedocument.presentationml.slide+xml"/>
  <Override PartName="/ppt/slides/slide214.xml" ContentType="application/vnd.openxmlformats-officedocument.presentationml.slide+xml"/>
  <Override PartName="/ppt/slides/slide215.xml" ContentType="application/vnd.openxmlformats-officedocument.presentationml.slide+xml"/>
  <Override PartName="/ppt/slides/slide216.xml" ContentType="application/vnd.openxmlformats-officedocument.presentationml.slide+xml"/>
  <Override PartName="/ppt/slides/slide217.xml" ContentType="application/vnd.openxmlformats-officedocument.presentationml.slide+xml"/>
  <Override PartName="/ppt/slides/slide218.xml" ContentType="application/vnd.openxmlformats-officedocument.presentationml.slide+xml"/>
  <Override PartName="/ppt/slides/slide219.xml" ContentType="application/vnd.openxmlformats-officedocument.presentationml.slide+xml"/>
  <Override PartName="/ppt/slides/slide22.xml" ContentType="application/vnd.openxmlformats-officedocument.presentationml.slide+xml"/>
  <Override PartName="/ppt/slides/slide220.xml" ContentType="application/vnd.openxmlformats-officedocument.presentationml.slide+xml"/>
  <Override PartName="/ppt/slides/slide221.xml" ContentType="application/vnd.openxmlformats-officedocument.presentationml.slide+xml"/>
  <Override PartName="/ppt/slides/slide222.xml" ContentType="application/vnd.openxmlformats-officedocument.presentationml.slide+xml"/>
  <Override PartName="/ppt/slides/slide223.xml" ContentType="application/vnd.openxmlformats-officedocument.presentationml.slide+xml"/>
  <Override PartName="/ppt/slides/slide224.xml" ContentType="application/vnd.openxmlformats-officedocument.presentationml.slide+xml"/>
  <Override PartName="/ppt/slides/slide225.xml" ContentType="application/vnd.openxmlformats-officedocument.presentationml.slide+xml"/>
  <Override PartName="/ppt/slides/slide226.xml" ContentType="application/vnd.openxmlformats-officedocument.presentationml.slide+xml"/>
  <Override PartName="/ppt/slides/slide227.xml" ContentType="application/vnd.openxmlformats-officedocument.presentationml.slide+xml"/>
  <Override PartName="/ppt/slides/slide228.xml" ContentType="application/vnd.openxmlformats-officedocument.presentationml.slide+xml"/>
  <Override PartName="/ppt/slides/slide229.xml" ContentType="application/vnd.openxmlformats-officedocument.presentationml.slide+xml"/>
  <Override PartName="/ppt/slides/slide23.xml" ContentType="application/vnd.openxmlformats-officedocument.presentationml.slide+xml"/>
  <Override PartName="/ppt/slides/slide230.xml" ContentType="application/vnd.openxmlformats-officedocument.presentationml.slide+xml"/>
  <Override PartName="/ppt/slides/slide231.xml" ContentType="application/vnd.openxmlformats-officedocument.presentationml.slide+xml"/>
  <Override PartName="/ppt/slides/slide232.xml" ContentType="application/vnd.openxmlformats-officedocument.presentationml.slide+xml"/>
  <Override PartName="/ppt/slides/slide233.xml" ContentType="application/vnd.openxmlformats-officedocument.presentationml.slide+xml"/>
  <Override PartName="/ppt/slides/slide234.xml" ContentType="application/vnd.openxmlformats-officedocument.presentationml.slide+xml"/>
  <Override PartName="/ppt/slides/slide235.xml" ContentType="application/vnd.openxmlformats-officedocument.presentationml.slide+xml"/>
  <Override PartName="/ppt/slides/slide236.xml" ContentType="application/vnd.openxmlformats-officedocument.presentationml.slide+xml"/>
  <Override PartName="/ppt/slides/slide237.xml" ContentType="application/vnd.openxmlformats-officedocument.presentationml.slide+xml"/>
  <Override PartName="/ppt/slides/slide238.xml" ContentType="application/vnd.openxmlformats-officedocument.presentationml.slide+xml"/>
  <Override PartName="/ppt/slides/slide239.xml" ContentType="application/vnd.openxmlformats-officedocument.presentationml.slide+xml"/>
  <Override PartName="/ppt/slides/slide24.xml" ContentType="application/vnd.openxmlformats-officedocument.presentationml.slide+xml"/>
  <Override PartName="/ppt/slides/slide240.xml" ContentType="application/vnd.openxmlformats-officedocument.presentationml.slide+xml"/>
  <Override PartName="/ppt/slides/slide241.xml" ContentType="application/vnd.openxmlformats-officedocument.presentationml.slide+xml"/>
  <Override PartName="/ppt/slides/slide242.xml" ContentType="application/vnd.openxmlformats-officedocument.presentationml.slide+xml"/>
  <Override PartName="/ppt/slides/slide243.xml" ContentType="application/vnd.openxmlformats-officedocument.presentationml.slide+xml"/>
  <Override PartName="/ppt/slides/slide244.xml" ContentType="application/vnd.openxmlformats-officedocument.presentationml.slide+xml"/>
  <Override PartName="/ppt/slides/slide245.xml" ContentType="application/vnd.openxmlformats-officedocument.presentationml.slide+xml"/>
  <Override PartName="/ppt/slides/slide246.xml" ContentType="application/vnd.openxmlformats-officedocument.presentationml.slide+xml"/>
  <Override PartName="/ppt/slides/slide247.xml" ContentType="application/vnd.openxmlformats-officedocument.presentationml.slide+xml"/>
  <Override PartName="/ppt/slides/slide248.xml" ContentType="application/vnd.openxmlformats-officedocument.presentationml.slide+xml"/>
  <Override PartName="/ppt/slides/slide249.xml" ContentType="application/vnd.openxmlformats-officedocument.presentationml.slide+xml"/>
  <Override PartName="/ppt/slides/slide25.xml" ContentType="application/vnd.openxmlformats-officedocument.presentationml.slide+xml"/>
  <Override PartName="/ppt/slides/slide250.xml" ContentType="application/vnd.openxmlformats-officedocument.presentationml.slide+xml"/>
  <Override PartName="/ppt/slides/slide251.xml" ContentType="application/vnd.openxmlformats-officedocument.presentationml.slide+xml"/>
  <Override PartName="/ppt/slides/slide252.xml" ContentType="application/vnd.openxmlformats-officedocument.presentationml.slide+xml"/>
  <Override PartName="/ppt/slides/slide253.xml" ContentType="application/vnd.openxmlformats-officedocument.presentationml.slide+xml"/>
  <Override PartName="/ppt/slides/slide254.xml" ContentType="application/vnd.openxmlformats-officedocument.presentationml.slide+xml"/>
  <Override PartName="/ppt/slides/slide255.xml" ContentType="application/vnd.openxmlformats-officedocument.presentationml.slide+xml"/>
  <Override PartName="/ppt/slides/slide256.xml" ContentType="application/vnd.openxmlformats-officedocument.presentationml.slide+xml"/>
  <Override PartName="/ppt/slides/slide257.xml" ContentType="application/vnd.openxmlformats-officedocument.presentationml.slide+xml"/>
  <Override PartName="/ppt/slides/slide258.xml" ContentType="application/vnd.openxmlformats-officedocument.presentationml.slide+xml"/>
  <Override PartName="/ppt/slides/slide259.xml" ContentType="application/vnd.openxmlformats-officedocument.presentationml.slide+xml"/>
  <Override PartName="/ppt/slides/slide26.xml" ContentType="application/vnd.openxmlformats-officedocument.presentationml.slide+xml"/>
  <Override PartName="/ppt/slides/slide260.xml" ContentType="application/vnd.openxmlformats-officedocument.presentationml.slide+xml"/>
  <Override PartName="/ppt/slides/slide261.xml" ContentType="application/vnd.openxmlformats-officedocument.presentationml.slide+xml"/>
  <Override PartName="/ppt/slides/slide262.xml" ContentType="application/vnd.openxmlformats-officedocument.presentationml.slide+xml"/>
  <Override PartName="/ppt/slides/slide27.xml" ContentType="application/vnd.openxmlformats-officedocument.presentationml.slide+xml"/>
  <Override PartName="/ppt/slides/slide28.xml" ContentType="application/vnd.openxmlformats-officedocument.presentationml.slide+xml"/>
  <Override PartName="/ppt/slides/slide29.xml" ContentType="application/vnd.openxmlformats-officedocument.presentationml.slide+xml"/>
  <Override PartName="/ppt/slides/slide3.xml" ContentType="application/vnd.openxmlformats-officedocument.presentationml.slide+xml"/>
  <Override PartName="/ppt/slides/slide30.xml" ContentType="application/vnd.openxmlformats-officedocument.presentationml.slide+xml"/>
  <Override PartName="/ppt/slides/slide31.xml" ContentType="application/vnd.openxmlformats-officedocument.presentationml.slide+xml"/>
  <Override PartName="/ppt/slides/slide32.xml" ContentType="application/vnd.openxmlformats-officedocument.presentationml.slide+xml"/>
  <Override PartName="/ppt/slides/slide33.xml" ContentType="application/vnd.openxmlformats-officedocument.presentationml.slide+xml"/>
  <Override PartName="/ppt/slides/slide34.xml" ContentType="application/vnd.openxmlformats-officedocument.presentationml.slide+xml"/>
  <Override PartName="/ppt/slides/slide35.xml" ContentType="application/vnd.openxmlformats-officedocument.presentationml.slide+xml"/>
  <Override PartName="/ppt/slides/slide36.xml" ContentType="application/vnd.openxmlformats-officedocument.presentationml.slide+xml"/>
  <Override PartName="/ppt/slides/slide37.xml" ContentType="application/vnd.openxmlformats-officedocument.presentationml.slide+xml"/>
  <Override PartName="/ppt/slides/slide38.xml" ContentType="application/vnd.openxmlformats-officedocument.presentationml.slide+xml"/>
  <Override PartName="/ppt/slides/slide39.xml" ContentType="application/vnd.openxmlformats-officedocument.presentationml.slide+xml"/>
  <Override PartName="/ppt/slides/slide4.xml" ContentType="application/vnd.openxmlformats-officedocument.presentationml.slide+xml"/>
  <Override PartName="/ppt/slides/slide40.xml" ContentType="application/vnd.openxmlformats-officedocument.presentationml.slide+xml"/>
  <Override PartName="/ppt/slides/slide41.xml" ContentType="application/vnd.openxmlformats-officedocument.presentationml.slide+xml"/>
  <Override PartName="/ppt/slides/slide42.xml" ContentType="application/vnd.openxmlformats-officedocument.presentationml.slide+xml"/>
  <Override PartName="/ppt/slides/slide43.xml" ContentType="application/vnd.openxmlformats-officedocument.presentationml.slide+xml"/>
  <Override PartName="/ppt/slides/slide44.xml" ContentType="application/vnd.openxmlformats-officedocument.presentationml.slide+xml"/>
  <Override PartName="/ppt/slides/slide45.xml" ContentType="application/vnd.openxmlformats-officedocument.presentationml.slide+xml"/>
  <Override PartName="/ppt/slides/slide46.xml" ContentType="application/vnd.openxmlformats-officedocument.presentationml.slide+xml"/>
  <Override PartName="/ppt/slides/slide47.xml" ContentType="application/vnd.openxmlformats-officedocument.presentationml.slide+xml"/>
  <Override PartName="/ppt/slides/slide48.xml" ContentType="application/vnd.openxmlformats-officedocument.presentationml.slide+xml"/>
  <Override PartName="/ppt/slides/slide49.xml" ContentType="application/vnd.openxmlformats-officedocument.presentationml.slide+xml"/>
  <Override PartName="/ppt/slides/slide5.xml" ContentType="application/vnd.openxmlformats-officedocument.presentationml.slide+xml"/>
  <Override PartName="/ppt/slides/slide50.xml" ContentType="application/vnd.openxmlformats-officedocument.presentationml.slide+xml"/>
  <Override PartName="/ppt/slides/slide51.xml" ContentType="application/vnd.openxmlformats-officedocument.presentationml.slide+xml"/>
  <Override PartName="/ppt/slides/slide52.xml" ContentType="application/vnd.openxmlformats-officedocument.presentationml.slide+xml"/>
  <Override PartName="/ppt/slides/slide53.xml" ContentType="application/vnd.openxmlformats-officedocument.presentationml.slide+xml"/>
  <Override PartName="/ppt/slides/slide54.xml" ContentType="application/vnd.openxmlformats-officedocument.presentationml.slide+xml"/>
  <Override PartName="/ppt/slides/slide55.xml" ContentType="application/vnd.openxmlformats-officedocument.presentationml.slide+xml"/>
  <Override PartName="/ppt/slides/slide56.xml" ContentType="application/vnd.openxmlformats-officedocument.presentationml.slide+xml"/>
  <Override PartName="/ppt/slides/slide57.xml" ContentType="application/vnd.openxmlformats-officedocument.presentationml.slide+xml"/>
  <Override PartName="/ppt/slides/slide58.xml" ContentType="application/vnd.openxmlformats-officedocument.presentationml.slide+xml"/>
  <Override PartName="/ppt/slides/slide59.xml" ContentType="application/vnd.openxmlformats-officedocument.presentationml.slide+xml"/>
  <Override PartName="/ppt/slides/slide6.xml" ContentType="application/vnd.openxmlformats-officedocument.presentationml.slide+xml"/>
  <Override PartName="/ppt/slides/slide60.xml" ContentType="application/vnd.openxmlformats-officedocument.presentationml.slide+xml"/>
  <Override PartName="/ppt/slides/slide61.xml" ContentType="application/vnd.openxmlformats-officedocument.presentationml.slide+xml"/>
  <Override PartName="/ppt/slides/slide62.xml" ContentType="application/vnd.openxmlformats-officedocument.presentationml.slide+xml"/>
  <Override PartName="/ppt/slides/slide63.xml" ContentType="application/vnd.openxmlformats-officedocument.presentationml.slide+xml"/>
  <Override PartName="/ppt/slides/slide64.xml" ContentType="application/vnd.openxmlformats-officedocument.presentationml.slide+xml"/>
  <Override PartName="/ppt/slides/slide65.xml" ContentType="application/vnd.openxmlformats-officedocument.presentationml.slide+xml"/>
  <Override PartName="/ppt/slides/slide66.xml" ContentType="application/vnd.openxmlformats-officedocument.presentationml.slide+xml"/>
  <Override PartName="/ppt/slides/slide67.xml" ContentType="application/vnd.openxmlformats-officedocument.presentationml.slide+xml"/>
  <Override PartName="/ppt/slides/slide68.xml" ContentType="application/vnd.openxmlformats-officedocument.presentationml.slide+xml"/>
  <Override PartName="/ppt/slides/slide69.xml" ContentType="application/vnd.openxmlformats-officedocument.presentationml.slide+xml"/>
  <Override PartName="/ppt/slides/slide7.xml" ContentType="application/vnd.openxmlformats-officedocument.presentationml.slide+xml"/>
  <Override PartName="/ppt/slides/slide70.xml" ContentType="application/vnd.openxmlformats-officedocument.presentationml.slide+xml"/>
  <Override PartName="/ppt/slides/slide71.xml" ContentType="application/vnd.openxmlformats-officedocument.presentationml.slide+xml"/>
  <Override PartName="/ppt/slides/slide72.xml" ContentType="application/vnd.openxmlformats-officedocument.presentationml.slide+xml"/>
  <Override PartName="/ppt/slides/slide73.xml" ContentType="application/vnd.openxmlformats-officedocument.presentationml.slide+xml"/>
  <Override PartName="/ppt/slides/slide74.xml" ContentType="application/vnd.openxmlformats-officedocument.presentationml.slide+xml"/>
  <Override PartName="/ppt/slides/slide75.xml" ContentType="application/vnd.openxmlformats-officedocument.presentationml.slide+xml"/>
  <Override PartName="/ppt/slides/slide76.xml" ContentType="application/vnd.openxmlformats-officedocument.presentationml.slide+xml"/>
  <Override PartName="/ppt/slides/slide77.xml" ContentType="application/vnd.openxmlformats-officedocument.presentationml.slide+xml"/>
  <Override PartName="/ppt/slides/slide78.xml" ContentType="application/vnd.openxmlformats-officedocument.presentationml.slide+xml"/>
  <Override PartName="/ppt/slides/slide79.xml" ContentType="application/vnd.openxmlformats-officedocument.presentationml.slide+xml"/>
  <Override PartName="/ppt/slides/slide8.xml" ContentType="application/vnd.openxmlformats-officedocument.presentationml.slide+xml"/>
  <Override PartName="/ppt/slides/slide80.xml" ContentType="application/vnd.openxmlformats-officedocument.presentationml.slide+xml"/>
  <Override PartName="/ppt/slides/slide81.xml" ContentType="application/vnd.openxmlformats-officedocument.presentationml.slide+xml"/>
  <Override PartName="/ppt/slides/slide82.xml" ContentType="application/vnd.openxmlformats-officedocument.presentationml.slide+xml"/>
  <Override PartName="/ppt/slides/slide83.xml" ContentType="application/vnd.openxmlformats-officedocument.presentationml.slide+xml"/>
  <Override PartName="/ppt/slides/slide84.xml" ContentType="application/vnd.openxmlformats-officedocument.presentationml.slide+xml"/>
  <Override PartName="/ppt/slides/slide85.xml" ContentType="application/vnd.openxmlformats-officedocument.presentationml.slide+xml"/>
  <Override PartName="/ppt/slides/slide86.xml" ContentType="application/vnd.openxmlformats-officedocument.presentationml.slide+xml"/>
  <Override PartName="/ppt/slides/slide87.xml" ContentType="application/vnd.openxmlformats-officedocument.presentationml.slide+xml"/>
  <Override PartName="/ppt/slides/slide88.xml" ContentType="application/vnd.openxmlformats-officedocument.presentationml.slide+xml"/>
  <Override PartName="/ppt/slides/slide89.xml" ContentType="application/vnd.openxmlformats-officedocument.presentationml.slide+xml"/>
  <Override PartName="/ppt/slides/slide9.xml" ContentType="application/vnd.openxmlformats-officedocument.presentationml.slide+xml"/>
  <Override PartName="/ppt/slides/slide90.xml" ContentType="application/vnd.openxmlformats-officedocument.presentationml.slide+xml"/>
  <Override PartName="/ppt/slides/slide91.xml" ContentType="application/vnd.openxmlformats-officedocument.presentationml.slide+xml"/>
  <Override PartName="/ppt/slides/slide92.xml" ContentType="application/vnd.openxmlformats-officedocument.presentationml.slide+xml"/>
  <Override PartName="/ppt/slides/slide93.xml" ContentType="application/vnd.openxmlformats-officedocument.presentationml.slide+xml"/>
  <Override PartName="/ppt/slides/slide94.xml" ContentType="application/vnd.openxmlformats-officedocument.presentationml.slide+xml"/>
  <Override PartName="/ppt/slides/slide95.xml" ContentType="application/vnd.openxmlformats-officedocument.presentationml.slide+xml"/>
  <Override PartName="/ppt/slides/slide96.xml" ContentType="application/vnd.openxmlformats-officedocument.presentationml.slide+xml"/>
  <Override PartName="/ppt/slides/slide97.xml" ContentType="application/vnd.openxmlformats-officedocument.presentationml.slide+xml"/>
  <Override PartName="/ppt/slides/slide98.xml" ContentType="application/vnd.openxmlformats-officedocument.presentationml.slide+xml"/>
  <Override PartName="/ppt/slides/slide99.xml" ContentType="application/vnd.openxmlformats-officedocument.presentationml.slide+xml"/>
  <Override PartName="/ppt/tableStyles.xml" ContentType="application/vnd.openxmlformats-officedocument.presentationml.tableStyles+xml"/>
  <Override PartName="/ppt/theme/theme1.xml" ContentType="application/vnd.openxmlformats-officedocument.theme+xml"/>
  <Override PartName="/ppt/viewProps.xml" ContentType="application/vnd.openxmlformats-officedocument.presentationml.viewProps+xml"/>
</Types>
</file>

<file path=_rels/.rels><?xml version='1.0' encoding='UTF-8' standalone='yes'?>
<Relationships xmlns="http://schemas.openxmlformats.org/package/2006/relationships"><Relationship Id="rId1" Type="http://schemas.openxmlformats.org/officeDocument/2006/relationships/officeDocument" Target="ppt/presentation.xml"/><Relationship Id="rId2" Type="http://schemas.openxmlformats.org/package/2006/relationships/metadata/thumbnail" Target="docProps/thumbnail.jpeg"/><Relationship Id="rId3" Type="http://schemas.openxmlformats.org/package/2006/relationships/metadata/core-properties" Target="docProps/core.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sldIdLst>
    <p:sldId id="256" r:id="rId7"/>
    <p:sldId id="257" r:id="rId8"/>
    <p:sldId id="258" r:id="rId9"/>
    <p:sldId id="259" r:id="rId10"/>
    <p:sldId id="260" r:id="rId11"/>
    <p:sldId id="261" r:id="rId12"/>
    <p:sldId id="262" r:id="rId13"/>
    <p:sldId id="263" r:id="rId14"/>
    <p:sldId id="264" r:id="rId15"/>
    <p:sldId id="265" r:id="rId16"/>
    <p:sldId id="266" r:id="rId17"/>
    <p:sldId id="267" r:id="rId18"/>
    <p:sldId id="268" r:id="rId19"/>
    <p:sldId id="269" r:id="rId20"/>
    <p:sldId id="270" r:id="rId21"/>
    <p:sldId id="271" r:id="rId22"/>
    <p:sldId id="272" r:id="rId23"/>
    <p:sldId id="273" r:id="rId24"/>
    <p:sldId id="274" r:id="rId25"/>
    <p:sldId id="275" r:id="rId26"/>
    <p:sldId id="276" r:id="rId27"/>
    <p:sldId id="277" r:id="rId28"/>
    <p:sldId id="278" r:id="rId29"/>
    <p:sldId id="279" r:id="rId30"/>
    <p:sldId id="280" r:id="rId31"/>
    <p:sldId id="281" r:id="rId32"/>
    <p:sldId id="282" r:id="rId33"/>
    <p:sldId id="283" r:id="rId34"/>
    <p:sldId id="284" r:id="rId35"/>
    <p:sldId id="285" r:id="rId36"/>
    <p:sldId id="286" r:id="rId37"/>
    <p:sldId id="287" r:id="rId38"/>
    <p:sldId id="288" r:id="rId39"/>
    <p:sldId id="289" r:id="rId40"/>
    <p:sldId id="290" r:id="rId41"/>
    <p:sldId id="291" r:id="rId42"/>
    <p:sldId id="292" r:id="rId43"/>
    <p:sldId id="293" r:id="rId44"/>
    <p:sldId id="294" r:id="rId45"/>
    <p:sldId id="295" r:id="rId46"/>
    <p:sldId id="296" r:id="rId47"/>
    <p:sldId id="297" r:id="rId48"/>
    <p:sldId id="298" r:id="rId49"/>
    <p:sldId id="299" r:id="rId50"/>
    <p:sldId id="300" r:id="rId51"/>
    <p:sldId id="301" r:id="rId52"/>
    <p:sldId id="302" r:id="rId53"/>
    <p:sldId id="303" r:id="rId54"/>
    <p:sldId id="304" r:id="rId55"/>
    <p:sldId id="305" r:id="rId56"/>
    <p:sldId id="306" r:id="rId57"/>
    <p:sldId id="307" r:id="rId58"/>
    <p:sldId id="308" r:id="rId59"/>
    <p:sldId id="309" r:id="rId60"/>
    <p:sldId id="310" r:id="rId61"/>
    <p:sldId id="311" r:id="rId62"/>
    <p:sldId id="312" r:id="rId63"/>
    <p:sldId id="313" r:id="rId64"/>
    <p:sldId id="314" r:id="rId65"/>
    <p:sldId id="315" r:id="rId66"/>
    <p:sldId id="316" r:id="rId67"/>
    <p:sldId id="317" r:id="rId68"/>
    <p:sldId id="318" r:id="rId69"/>
    <p:sldId id="319" r:id="rId70"/>
    <p:sldId id="320" r:id="rId71"/>
    <p:sldId id="321" r:id="rId72"/>
    <p:sldId id="322" r:id="rId73"/>
    <p:sldId id="323" r:id="rId74"/>
    <p:sldId id="324" r:id="rId75"/>
    <p:sldId id="325" r:id="rId76"/>
    <p:sldId id="326" r:id="rId77"/>
    <p:sldId id="327" r:id="rId78"/>
    <p:sldId id="328" r:id="rId79"/>
    <p:sldId id="329" r:id="rId80"/>
    <p:sldId id="330" r:id="rId81"/>
    <p:sldId id="331" r:id="rId82"/>
    <p:sldId id="332" r:id="rId83"/>
    <p:sldId id="333" r:id="rId84"/>
    <p:sldId id="334" r:id="rId85"/>
    <p:sldId id="335" r:id="rId86"/>
    <p:sldId id="336" r:id="rId87"/>
    <p:sldId id="337" r:id="rId88"/>
    <p:sldId id="338" r:id="rId89"/>
    <p:sldId id="339" r:id="rId90"/>
    <p:sldId id="340" r:id="rId91"/>
    <p:sldId id="341" r:id="rId92"/>
    <p:sldId id="342" r:id="rId93"/>
    <p:sldId id="343" r:id="rId94"/>
    <p:sldId id="344" r:id="rId95"/>
    <p:sldId id="345" r:id="rId96"/>
    <p:sldId id="346" r:id="rId97"/>
    <p:sldId id="347" r:id="rId98"/>
    <p:sldId id="348" r:id="rId99"/>
    <p:sldId id="349" r:id="rId100"/>
    <p:sldId id="350" r:id="rId101"/>
    <p:sldId id="351" r:id="rId102"/>
    <p:sldId id="352" r:id="rId103"/>
    <p:sldId id="353" r:id="rId104"/>
    <p:sldId id="354" r:id="rId105"/>
    <p:sldId id="355" r:id="rId106"/>
    <p:sldId id="356" r:id="rId107"/>
    <p:sldId id="357" r:id="rId108"/>
    <p:sldId id="358" r:id="rId109"/>
    <p:sldId id="359" r:id="rId110"/>
    <p:sldId id="360" r:id="rId111"/>
    <p:sldId id="361" r:id="rId112"/>
    <p:sldId id="362" r:id="rId113"/>
    <p:sldId id="363" r:id="rId114"/>
    <p:sldId id="364" r:id="rId115"/>
    <p:sldId id="365" r:id="rId116"/>
    <p:sldId id="366" r:id="rId117"/>
    <p:sldId id="367" r:id="rId118"/>
    <p:sldId id="368" r:id="rId119"/>
    <p:sldId id="369" r:id="rId120"/>
    <p:sldId id="370" r:id="rId121"/>
    <p:sldId id="371" r:id="rId122"/>
    <p:sldId id="372" r:id="rId123"/>
    <p:sldId id="373" r:id="rId124"/>
    <p:sldId id="374" r:id="rId125"/>
    <p:sldId id="375" r:id="rId126"/>
    <p:sldId id="376" r:id="rId127"/>
    <p:sldId id="377" r:id="rId128"/>
    <p:sldId id="378" r:id="rId129"/>
    <p:sldId id="379" r:id="rId130"/>
    <p:sldId id="380" r:id="rId131"/>
    <p:sldId id="381" r:id="rId132"/>
    <p:sldId id="382" r:id="rId133"/>
    <p:sldId id="383" r:id="rId134"/>
    <p:sldId id="384" r:id="rId135"/>
    <p:sldId id="385" r:id="rId136"/>
    <p:sldId id="386" r:id="rId137"/>
    <p:sldId id="387" r:id="rId138"/>
    <p:sldId id="388" r:id="rId139"/>
    <p:sldId id="389" r:id="rId140"/>
    <p:sldId id="390" r:id="rId141"/>
    <p:sldId id="391" r:id="rId142"/>
    <p:sldId id="392" r:id="rId143"/>
    <p:sldId id="393" r:id="rId144"/>
    <p:sldId id="394" r:id="rId145"/>
    <p:sldId id="395" r:id="rId146"/>
    <p:sldId id="396" r:id="rId147"/>
    <p:sldId id="397" r:id="rId148"/>
    <p:sldId id="398" r:id="rId149"/>
    <p:sldId id="399" r:id="rId150"/>
    <p:sldId id="400" r:id="rId151"/>
    <p:sldId id="401" r:id="rId152"/>
    <p:sldId id="402" r:id="rId153"/>
    <p:sldId id="403" r:id="rId154"/>
    <p:sldId id="404" r:id="rId155"/>
    <p:sldId id="405" r:id="rId156"/>
    <p:sldId id="406" r:id="rId157"/>
    <p:sldId id="407" r:id="rId158"/>
    <p:sldId id="408" r:id="rId159"/>
    <p:sldId id="409" r:id="rId160"/>
    <p:sldId id="410" r:id="rId161"/>
    <p:sldId id="411" r:id="rId162"/>
    <p:sldId id="412" r:id="rId163"/>
    <p:sldId id="413" r:id="rId164"/>
    <p:sldId id="414" r:id="rId165"/>
    <p:sldId id="415" r:id="rId166"/>
    <p:sldId id="416" r:id="rId167"/>
    <p:sldId id="417" r:id="rId168"/>
    <p:sldId id="418" r:id="rId169"/>
    <p:sldId id="419" r:id="rId170"/>
    <p:sldId id="420" r:id="rId171"/>
    <p:sldId id="421" r:id="rId172"/>
    <p:sldId id="422" r:id="rId173"/>
    <p:sldId id="423" r:id="rId174"/>
    <p:sldId id="424" r:id="rId175"/>
    <p:sldId id="425" r:id="rId176"/>
    <p:sldId id="426" r:id="rId177"/>
    <p:sldId id="427" r:id="rId178"/>
    <p:sldId id="428" r:id="rId179"/>
    <p:sldId id="429" r:id="rId180"/>
    <p:sldId id="430" r:id="rId181"/>
    <p:sldId id="431" r:id="rId182"/>
    <p:sldId id="432" r:id="rId183"/>
    <p:sldId id="433" r:id="rId184"/>
    <p:sldId id="434" r:id="rId185"/>
    <p:sldId id="435" r:id="rId186"/>
    <p:sldId id="436" r:id="rId187"/>
    <p:sldId id="437" r:id="rId188"/>
    <p:sldId id="438" r:id="rId189"/>
    <p:sldId id="439" r:id="rId190"/>
    <p:sldId id="440" r:id="rId191"/>
    <p:sldId id="441" r:id="rId192"/>
    <p:sldId id="442" r:id="rId193"/>
    <p:sldId id="443" r:id="rId194"/>
    <p:sldId id="444" r:id="rId195"/>
    <p:sldId id="445" r:id="rId196"/>
    <p:sldId id="446" r:id="rId197"/>
    <p:sldId id="447" r:id="rId198"/>
    <p:sldId id="448" r:id="rId199"/>
    <p:sldId id="449" r:id="rId200"/>
    <p:sldId id="450" r:id="rId201"/>
    <p:sldId id="451" r:id="rId202"/>
    <p:sldId id="452" r:id="rId203"/>
    <p:sldId id="453" r:id="rId204"/>
    <p:sldId id="454" r:id="rId205"/>
    <p:sldId id="455" r:id="rId206"/>
    <p:sldId id="456" r:id="rId207"/>
    <p:sldId id="457" r:id="rId208"/>
    <p:sldId id="458" r:id="rId209"/>
    <p:sldId id="459" r:id="rId210"/>
    <p:sldId id="460" r:id="rId211"/>
    <p:sldId id="461" r:id="rId212"/>
    <p:sldId id="462" r:id="rId213"/>
    <p:sldId id="463" r:id="rId214"/>
    <p:sldId id="464" r:id="rId215"/>
    <p:sldId id="465" r:id="rId216"/>
    <p:sldId id="466" r:id="rId217"/>
    <p:sldId id="467" r:id="rId218"/>
    <p:sldId id="468" r:id="rId219"/>
    <p:sldId id="469" r:id="rId220"/>
    <p:sldId id="470" r:id="rId221"/>
    <p:sldId id="471" r:id="rId222"/>
    <p:sldId id="472" r:id="rId223"/>
    <p:sldId id="473" r:id="rId224"/>
    <p:sldId id="474" r:id="rId225"/>
    <p:sldId id="475" r:id="rId226"/>
    <p:sldId id="476" r:id="rId227"/>
    <p:sldId id="477" r:id="rId228"/>
    <p:sldId id="478" r:id="rId229"/>
    <p:sldId id="479" r:id="rId230"/>
    <p:sldId id="480" r:id="rId231"/>
    <p:sldId id="481" r:id="rId232"/>
    <p:sldId id="482" r:id="rId233"/>
    <p:sldId id="483" r:id="rId234"/>
    <p:sldId id="484" r:id="rId235"/>
    <p:sldId id="485" r:id="rId236"/>
    <p:sldId id="486" r:id="rId237"/>
    <p:sldId id="487" r:id="rId238"/>
    <p:sldId id="488" r:id="rId239"/>
    <p:sldId id="489" r:id="rId240"/>
    <p:sldId id="490" r:id="rId241"/>
    <p:sldId id="491" r:id="rId242"/>
    <p:sldId id="492" r:id="rId243"/>
    <p:sldId id="493" r:id="rId244"/>
    <p:sldId id="494" r:id="rId245"/>
    <p:sldId id="495" r:id="rId246"/>
    <p:sldId id="496" r:id="rId247"/>
    <p:sldId id="497" r:id="rId248"/>
    <p:sldId id="498" r:id="rId249"/>
    <p:sldId id="499" r:id="rId250"/>
    <p:sldId id="500" r:id="rId251"/>
    <p:sldId id="501" r:id="rId252"/>
    <p:sldId id="502" r:id="rId253"/>
    <p:sldId id="503" r:id="rId254"/>
    <p:sldId id="504" r:id="rId255"/>
    <p:sldId id="505" r:id="rId256"/>
    <p:sldId id="506" r:id="rId257"/>
    <p:sldId id="507" r:id="rId258"/>
    <p:sldId id="508" r:id="rId259"/>
    <p:sldId id="509" r:id="rId260"/>
    <p:sldId id="510" r:id="rId261"/>
    <p:sldId id="511" r:id="rId262"/>
    <p:sldId id="512" r:id="rId263"/>
    <p:sldId id="513" r:id="rId264"/>
    <p:sldId id="514" r:id="rId265"/>
    <p:sldId id="515" r:id="rId266"/>
    <p:sldId id="516" r:id="rId267"/>
    <p:sldId id="517" r:id="rId268"/>
  </p:sldIdLst>
  <p:sldSz cx="12191695" cy="6858000" type="screen4x3"/>
  <p:notesSz cx="6858000" cy="9144000"/>
  <p:defaultText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15620"/>
    <p:restoredTop sz="94660"/>
  </p:normalViewPr>
  <p:slideViewPr>
    <p:cSldViewPr snapToGrid="0" snapToObjects="1">
      <p:cViewPr varScale="1">
        <p:scale>
          <a:sx n="124" d="100"/>
          <a:sy n="124" d="100"/>
        </p:scale>
        <p:origin x="-1512" y="-112"/>
      </p:cViewPr>
      <p:guideLst>
        <p:guide orient="horz" pos="2160"/>
        <p:guide pos="2880"/>
      </p:guideLst>
    </p:cSldViewPr>
  </p:slideViewPr>
  <p:notesTextViewPr>
    <p:cViewPr>
      <p:scale>
        <a:sx n="100" d="100"/>
        <a:sy n="100" d="100"/>
      </p:scale>
      <p:origin x="0" y="0"/>
    </p:cViewPr>
  </p:notesText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printerSettings" Target="printerSettings/printerSettings1.bin"/><Relationship Id="rId3" Type="http://schemas.openxmlformats.org/officeDocument/2006/relationships/presProps" Target="presProps.xml"/><Relationship Id="rId4" Type="http://schemas.openxmlformats.org/officeDocument/2006/relationships/viewProps" Target="viewProps.xml"/><Relationship Id="rId5" Type="http://schemas.openxmlformats.org/officeDocument/2006/relationships/theme" Target="theme/theme1.xml"/><Relationship Id="rId6" Type="http://schemas.openxmlformats.org/officeDocument/2006/relationships/tableStyles" Target="tableStyles.xml"/><Relationship Id="rId7" Type="http://schemas.openxmlformats.org/officeDocument/2006/relationships/slide" Target="slides/slide1.xml"/><Relationship Id="rId8" Type="http://schemas.openxmlformats.org/officeDocument/2006/relationships/slide" Target="slides/slide2.xml"/><Relationship Id="rId9" Type="http://schemas.openxmlformats.org/officeDocument/2006/relationships/slide" Target="slides/slide3.xml"/><Relationship Id="rId10" Type="http://schemas.openxmlformats.org/officeDocument/2006/relationships/slide" Target="slides/slide4.xml"/><Relationship Id="rId11" Type="http://schemas.openxmlformats.org/officeDocument/2006/relationships/slide" Target="slides/slide5.xml"/><Relationship Id="rId12" Type="http://schemas.openxmlformats.org/officeDocument/2006/relationships/slide" Target="slides/slide6.xml"/><Relationship Id="rId13" Type="http://schemas.openxmlformats.org/officeDocument/2006/relationships/slide" Target="slides/slide7.xml"/><Relationship Id="rId14" Type="http://schemas.openxmlformats.org/officeDocument/2006/relationships/slide" Target="slides/slide8.xml"/><Relationship Id="rId15" Type="http://schemas.openxmlformats.org/officeDocument/2006/relationships/slide" Target="slides/slide9.xml"/><Relationship Id="rId16" Type="http://schemas.openxmlformats.org/officeDocument/2006/relationships/slide" Target="slides/slide10.xml"/><Relationship Id="rId17" Type="http://schemas.openxmlformats.org/officeDocument/2006/relationships/slide" Target="slides/slide11.xml"/><Relationship Id="rId18" Type="http://schemas.openxmlformats.org/officeDocument/2006/relationships/slide" Target="slides/slide12.xml"/><Relationship Id="rId19" Type="http://schemas.openxmlformats.org/officeDocument/2006/relationships/slide" Target="slides/slide13.xml"/><Relationship Id="rId20" Type="http://schemas.openxmlformats.org/officeDocument/2006/relationships/slide" Target="slides/slide14.xml"/><Relationship Id="rId21" Type="http://schemas.openxmlformats.org/officeDocument/2006/relationships/slide" Target="slides/slide15.xml"/><Relationship Id="rId22" Type="http://schemas.openxmlformats.org/officeDocument/2006/relationships/slide" Target="slides/slide16.xml"/><Relationship Id="rId23" Type="http://schemas.openxmlformats.org/officeDocument/2006/relationships/slide" Target="slides/slide17.xml"/><Relationship Id="rId24" Type="http://schemas.openxmlformats.org/officeDocument/2006/relationships/slide" Target="slides/slide18.xml"/><Relationship Id="rId25" Type="http://schemas.openxmlformats.org/officeDocument/2006/relationships/slide" Target="slides/slide19.xml"/><Relationship Id="rId26" Type="http://schemas.openxmlformats.org/officeDocument/2006/relationships/slide" Target="slides/slide20.xml"/><Relationship Id="rId27" Type="http://schemas.openxmlformats.org/officeDocument/2006/relationships/slide" Target="slides/slide21.xml"/><Relationship Id="rId28" Type="http://schemas.openxmlformats.org/officeDocument/2006/relationships/slide" Target="slides/slide22.xml"/><Relationship Id="rId29" Type="http://schemas.openxmlformats.org/officeDocument/2006/relationships/slide" Target="slides/slide23.xml"/><Relationship Id="rId30" Type="http://schemas.openxmlformats.org/officeDocument/2006/relationships/slide" Target="slides/slide24.xml"/><Relationship Id="rId31" Type="http://schemas.openxmlformats.org/officeDocument/2006/relationships/slide" Target="slides/slide25.xml"/><Relationship Id="rId32" Type="http://schemas.openxmlformats.org/officeDocument/2006/relationships/slide" Target="slides/slide26.xml"/><Relationship Id="rId33" Type="http://schemas.openxmlformats.org/officeDocument/2006/relationships/slide" Target="slides/slide27.xml"/><Relationship Id="rId34" Type="http://schemas.openxmlformats.org/officeDocument/2006/relationships/slide" Target="slides/slide28.xml"/><Relationship Id="rId35" Type="http://schemas.openxmlformats.org/officeDocument/2006/relationships/slide" Target="slides/slide29.xml"/><Relationship Id="rId36" Type="http://schemas.openxmlformats.org/officeDocument/2006/relationships/slide" Target="slides/slide30.xml"/><Relationship Id="rId37" Type="http://schemas.openxmlformats.org/officeDocument/2006/relationships/slide" Target="slides/slide31.xml"/><Relationship Id="rId38" Type="http://schemas.openxmlformats.org/officeDocument/2006/relationships/slide" Target="slides/slide32.xml"/><Relationship Id="rId39" Type="http://schemas.openxmlformats.org/officeDocument/2006/relationships/slide" Target="slides/slide33.xml"/><Relationship Id="rId40" Type="http://schemas.openxmlformats.org/officeDocument/2006/relationships/slide" Target="slides/slide34.xml"/><Relationship Id="rId41" Type="http://schemas.openxmlformats.org/officeDocument/2006/relationships/slide" Target="slides/slide35.xml"/><Relationship Id="rId42" Type="http://schemas.openxmlformats.org/officeDocument/2006/relationships/slide" Target="slides/slide36.xml"/><Relationship Id="rId43" Type="http://schemas.openxmlformats.org/officeDocument/2006/relationships/slide" Target="slides/slide37.xml"/><Relationship Id="rId44" Type="http://schemas.openxmlformats.org/officeDocument/2006/relationships/slide" Target="slides/slide38.xml"/><Relationship Id="rId45" Type="http://schemas.openxmlformats.org/officeDocument/2006/relationships/slide" Target="slides/slide39.xml"/><Relationship Id="rId46" Type="http://schemas.openxmlformats.org/officeDocument/2006/relationships/slide" Target="slides/slide40.xml"/><Relationship Id="rId47" Type="http://schemas.openxmlformats.org/officeDocument/2006/relationships/slide" Target="slides/slide41.xml"/><Relationship Id="rId48" Type="http://schemas.openxmlformats.org/officeDocument/2006/relationships/slide" Target="slides/slide42.xml"/><Relationship Id="rId49" Type="http://schemas.openxmlformats.org/officeDocument/2006/relationships/slide" Target="slides/slide43.xml"/><Relationship Id="rId50" Type="http://schemas.openxmlformats.org/officeDocument/2006/relationships/slide" Target="slides/slide44.xml"/><Relationship Id="rId51" Type="http://schemas.openxmlformats.org/officeDocument/2006/relationships/slide" Target="slides/slide45.xml"/><Relationship Id="rId52" Type="http://schemas.openxmlformats.org/officeDocument/2006/relationships/slide" Target="slides/slide46.xml"/><Relationship Id="rId53" Type="http://schemas.openxmlformats.org/officeDocument/2006/relationships/slide" Target="slides/slide47.xml"/><Relationship Id="rId54" Type="http://schemas.openxmlformats.org/officeDocument/2006/relationships/slide" Target="slides/slide48.xml"/><Relationship Id="rId55" Type="http://schemas.openxmlformats.org/officeDocument/2006/relationships/slide" Target="slides/slide49.xml"/><Relationship Id="rId56" Type="http://schemas.openxmlformats.org/officeDocument/2006/relationships/slide" Target="slides/slide50.xml"/><Relationship Id="rId57" Type="http://schemas.openxmlformats.org/officeDocument/2006/relationships/slide" Target="slides/slide51.xml"/><Relationship Id="rId58" Type="http://schemas.openxmlformats.org/officeDocument/2006/relationships/slide" Target="slides/slide52.xml"/><Relationship Id="rId59" Type="http://schemas.openxmlformats.org/officeDocument/2006/relationships/slide" Target="slides/slide53.xml"/><Relationship Id="rId60" Type="http://schemas.openxmlformats.org/officeDocument/2006/relationships/slide" Target="slides/slide54.xml"/><Relationship Id="rId61" Type="http://schemas.openxmlformats.org/officeDocument/2006/relationships/slide" Target="slides/slide55.xml"/><Relationship Id="rId62" Type="http://schemas.openxmlformats.org/officeDocument/2006/relationships/slide" Target="slides/slide56.xml"/><Relationship Id="rId63" Type="http://schemas.openxmlformats.org/officeDocument/2006/relationships/slide" Target="slides/slide57.xml"/><Relationship Id="rId64" Type="http://schemas.openxmlformats.org/officeDocument/2006/relationships/slide" Target="slides/slide58.xml"/><Relationship Id="rId65" Type="http://schemas.openxmlformats.org/officeDocument/2006/relationships/slide" Target="slides/slide59.xml"/><Relationship Id="rId66" Type="http://schemas.openxmlformats.org/officeDocument/2006/relationships/slide" Target="slides/slide60.xml"/><Relationship Id="rId67" Type="http://schemas.openxmlformats.org/officeDocument/2006/relationships/slide" Target="slides/slide61.xml"/><Relationship Id="rId68" Type="http://schemas.openxmlformats.org/officeDocument/2006/relationships/slide" Target="slides/slide62.xml"/><Relationship Id="rId69" Type="http://schemas.openxmlformats.org/officeDocument/2006/relationships/slide" Target="slides/slide63.xml"/><Relationship Id="rId70" Type="http://schemas.openxmlformats.org/officeDocument/2006/relationships/slide" Target="slides/slide64.xml"/><Relationship Id="rId71" Type="http://schemas.openxmlformats.org/officeDocument/2006/relationships/slide" Target="slides/slide65.xml"/><Relationship Id="rId72" Type="http://schemas.openxmlformats.org/officeDocument/2006/relationships/slide" Target="slides/slide66.xml"/><Relationship Id="rId73" Type="http://schemas.openxmlformats.org/officeDocument/2006/relationships/slide" Target="slides/slide67.xml"/><Relationship Id="rId74" Type="http://schemas.openxmlformats.org/officeDocument/2006/relationships/slide" Target="slides/slide68.xml"/><Relationship Id="rId75" Type="http://schemas.openxmlformats.org/officeDocument/2006/relationships/slide" Target="slides/slide69.xml"/><Relationship Id="rId76" Type="http://schemas.openxmlformats.org/officeDocument/2006/relationships/slide" Target="slides/slide70.xml"/><Relationship Id="rId77" Type="http://schemas.openxmlformats.org/officeDocument/2006/relationships/slide" Target="slides/slide71.xml"/><Relationship Id="rId78" Type="http://schemas.openxmlformats.org/officeDocument/2006/relationships/slide" Target="slides/slide72.xml"/><Relationship Id="rId79" Type="http://schemas.openxmlformats.org/officeDocument/2006/relationships/slide" Target="slides/slide73.xml"/><Relationship Id="rId80" Type="http://schemas.openxmlformats.org/officeDocument/2006/relationships/slide" Target="slides/slide74.xml"/><Relationship Id="rId81" Type="http://schemas.openxmlformats.org/officeDocument/2006/relationships/slide" Target="slides/slide75.xml"/><Relationship Id="rId82" Type="http://schemas.openxmlformats.org/officeDocument/2006/relationships/slide" Target="slides/slide76.xml"/><Relationship Id="rId83" Type="http://schemas.openxmlformats.org/officeDocument/2006/relationships/slide" Target="slides/slide77.xml"/><Relationship Id="rId84" Type="http://schemas.openxmlformats.org/officeDocument/2006/relationships/slide" Target="slides/slide78.xml"/><Relationship Id="rId85" Type="http://schemas.openxmlformats.org/officeDocument/2006/relationships/slide" Target="slides/slide79.xml"/><Relationship Id="rId86" Type="http://schemas.openxmlformats.org/officeDocument/2006/relationships/slide" Target="slides/slide80.xml"/><Relationship Id="rId87" Type="http://schemas.openxmlformats.org/officeDocument/2006/relationships/slide" Target="slides/slide81.xml"/><Relationship Id="rId88" Type="http://schemas.openxmlformats.org/officeDocument/2006/relationships/slide" Target="slides/slide82.xml"/><Relationship Id="rId89" Type="http://schemas.openxmlformats.org/officeDocument/2006/relationships/slide" Target="slides/slide83.xml"/><Relationship Id="rId90" Type="http://schemas.openxmlformats.org/officeDocument/2006/relationships/slide" Target="slides/slide84.xml"/><Relationship Id="rId91" Type="http://schemas.openxmlformats.org/officeDocument/2006/relationships/slide" Target="slides/slide85.xml"/><Relationship Id="rId92" Type="http://schemas.openxmlformats.org/officeDocument/2006/relationships/slide" Target="slides/slide86.xml"/><Relationship Id="rId93" Type="http://schemas.openxmlformats.org/officeDocument/2006/relationships/slide" Target="slides/slide87.xml"/><Relationship Id="rId94" Type="http://schemas.openxmlformats.org/officeDocument/2006/relationships/slide" Target="slides/slide88.xml"/><Relationship Id="rId95" Type="http://schemas.openxmlformats.org/officeDocument/2006/relationships/slide" Target="slides/slide89.xml"/><Relationship Id="rId96" Type="http://schemas.openxmlformats.org/officeDocument/2006/relationships/slide" Target="slides/slide90.xml"/><Relationship Id="rId97" Type="http://schemas.openxmlformats.org/officeDocument/2006/relationships/slide" Target="slides/slide91.xml"/><Relationship Id="rId98" Type="http://schemas.openxmlformats.org/officeDocument/2006/relationships/slide" Target="slides/slide92.xml"/><Relationship Id="rId99" Type="http://schemas.openxmlformats.org/officeDocument/2006/relationships/slide" Target="slides/slide93.xml"/><Relationship Id="rId100" Type="http://schemas.openxmlformats.org/officeDocument/2006/relationships/slide" Target="slides/slide94.xml"/><Relationship Id="rId101" Type="http://schemas.openxmlformats.org/officeDocument/2006/relationships/slide" Target="slides/slide95.xml"/><Relationship Id="rId102" Type="http://schemas.openxmlformats.org/officeDocument/2006/relationships/slide" Target="slides/slide96.xml"/><Relationship Id="rId103" Type="http://schemas.openxmlformats.org/officeDocument/2006/relationships/slide" Target="slides/slide97.xml"/><Relationship Id="rId104" Type="http://schemas.openxmlformats.org/officeDocument/2006/relationships/slide" Target="slides/slide98.xml"/><Relationship Id="rId105" Type="http://schemas.openxmlformats.org/officeDocument/2006/relationships/slide" Target="slides/slide99.xml"/><Relationship Id="rId106" Type="http://schemas.openxmlformats.org/officeDocument/2006/relationships/slide" Target="slides/slide100.xml"/><Relationship Id="rId107" Type="http://schemas.openxmlformats.org/officeDocument/2006/relationships/slide" Target="slides/slide101.xml"/><Relationship Id="rId108" Type="http://schemas.openxmlformats.org/officeDocument/2006/relationships/slide" Target="slides/slide102.xml"/><Relationship Id="rId109" Type="http://schemas.openxmlformats.org/officeDocument/2006/relationships/slide" Target="slides/slide103.xml"/><Relationship Id="rId110" Type="http://schemas.openxmlformats.org/officeDocument/2006/relationships/slide" Target="slides/slide104.xml"/><Relationship Id="rId111" Type="http://schemas.openxmlformats.org/officeDocument/2006/relationships/slide" Target="slides/slide105.xml"/><Relationship Id="rId112" Type="http://schemas.openxmlformats.org/officeDocument/2006/relationships/slide" Target="slides/slide106.xml"/><Relationship Id="rId113" Type="http://schemas.openxmlformats.org/officeDocument/2006/relationships/slide" Target="slides/slide107.xml"/><Relationship Id="rId114" Type="http://schemas.openxmlformats.org/officeDocument/2006/relationships/slide" Target="slides/slide108.xml"/><Relationship Id="rId115" Type="http://schemas.openxmlformats.org/officeDocument/2006/relationships/slide" Target="slides/slide109.xml"/><Relationship Id="rId116" Type="http://schemas.openxmlformats.org/officeDocument/2006/relationships/slide" Target="slides/slide110.xml"/><Relationship Id="rId117" Type="http://schemas.openxmlformats.org/officeDocument/2006/relationships/slide" Target="slides/slide111.xml"/><Relationship Id="rId118" Type="http://schemas.openxmlformats.org/officeDocument/2006/relationships/slide" Target="slides/slide112.xml"/><Relationship Id="rId119" Type="http://schemas.openxmlformats.org/officeDocument/2006/relationships/slide" Target="slides/slide113.xml"/><Relationship Id="rId120" Type="http://schemas.openxmlformats.org/officeDocument/2006/relationships/slide" Target="slides/slide114.xml"/><Relationship Id="rId121" Type="http://schemas.openxmlformats.org/officeDocument/2006/relationships/slide" Target="slides/slide115.xml"/><Relationship Id="rId122" Type="http://schemas.openxmlformats.org/officeDocument/2006/relationships/slide" Target="slides/slide116.xml"/><Relationship Id="rId123" Type="http://schemas.openxmlformats.org/officeDocument/2006/relationships/slide" Target="slides/slide117.xml"/><Relationship Id="rId124" Type="http://schemas.openxmlformats.org/officeDocument/2006/relationships/slide" Target="slides/slide118.xml"/><Relationship Id="rId125" Type="http://schemas.openxmlformats.org/officeDocument/2006/relationships/slide" Target="slides/slide119.xml"/><Relationship Id="rId126" Type="http://schemas.openxmlformats.org/officeDocument/2006/relationships/slide" Target="slides/slide120.xml"/><Relationship Id="rId127" Type="http://schemas.openxmlformats.org/officeDocument/2006/relationships/slide" Target="slides/slide121.xml"/><Relationship Id="rId128" Type="http://schemas.openxmlformats.org/officeDocument/2006/relationships/slide" Target="slides/slide122.xml"/><Relationship Id="rId129" Type="http://schemas.openxmlformats.org/officeDocument/2006/relationships/slide" Target="slides/slide123.xml"/><Relationship Id="rId130" Type="http://schemas.openxmlformats.org/officeDocument/2006/relationships/slide" Target="slides/slide124.xml"/><Relationship Id="rId131" Type="http://schemas.openxmlformats.org/officeDocument/2006/relationships/slide" Target="slides/slide125.xml"/><Relationship Id="rId132" Type="http://schemas.openxmlformats.org/officeDocument/2006/relationships/slide" Target="slides/slide126.xml"/><Relationship Id="rId133" Type="http://schemas.openxmlformats.org/officeDocument/2006/relationships/slide" Target="slides/slide127.xml"/><Relationship Id="rId134" Type="http://schemas.openxmlformats.org/officeDocument/2006/relationships/slide" Target="slides/slide128.xml"/><Relationship Id="rId135" Type="http://schemas.openxmlformats.org/officeDocument/2006/relationships/slide" Target="slides/slide129.xml"/><Relationship Id="rId136" Type="http://schemas.openxmlformats.org/officeDocument/2006/relationships/slide" Target="slides/slide130.xml"/><Relationship Id="rId137" Type="http://schemas.openxmlformats.org/officeDocument/2006/relationships/slide" Target="slides/slide131.xml"/><Relationship Id="rId138" Type="http://schemas.openxmlformats.org/officeDocument/2006/relationships/slide" Target="slides/slide132.xml"/><Relationship Id="rId139" Type="http://schemas.openxmlformats.org/officeDocument/2006/relationships/slide" Target="slides/slide133.xml"/><Relationship Id="rId140" Type="http://schemas.openxmlformats.org/officeDocument/2006/relationships/slide" Target="slides/slide134.xml"/><Relationship Id="rId141" Type="http://schemas.openxmlformats.org/officeDocument/2006/relationships/slide" Target="slides/slide135.xml"/><Relationship Id="rId142" Type="http://schemas.openxmlformats.org/officeDocument/2006/relationships/slide" Target="slides/slide136.xml"/><Relationship Id="rId143" Type="http://schemas.openxmlformats.org/officeDocument/2006/relationships/slide" Target="slides/slide137.xml"/><Relationship Id="rId144" Type="http://schemas.openxmlformats.org/officeDocument/2006/relationships/slide" Target="slides/slide138.xml"/><Relationship Id="rId145" Type="http://schemas.openxmlformats.org/officeDocument/2006/relationships/slide" Target="slides/slide139.xml"/><Relationship Id="rId146" Type="http://schemas.openxmlformats.org/officeDocument/2006/relationships/slide" Target="slides/slide140.xml"/><Relationship Id="rId147" Type="http://schemas.openxmlformats.org/officeDocument/2006/relationships/slide" Target="slides/slide141.xml"/><Relationship Id="rId148" Type="http://schemas.openxmlformats.org/officeDocument/2006/relationships/slide" Target="slides/slide142.xml"/><Relationship Id="rId149" Type="http://schemas.openxmlformats.org/officeDocument/2006/relationships/slide" Target="slides/slide143.xml"/><Relationship Id="rId150" Type="http://schemas.openxmlformats.org/officeDocument/2006/relationships/slide" Target="slides/slide144.xml"/><Relationship Id="rId151" Type="http://schemas.openxmlformats.org/officeDocument/2006/relationships/slide" Target="slides/slide145.xml"/><Relationship Id="rId152" Type="http://schemas.openxmlformats.org/officeDocument/2006/relationships/slide" Target="slides/slide146.xml"/><Relationship Id="rId153" Type="http://schemas.openxmlformats.org/officeDocument/2006/relationships/slide" Target="slides/slide147.xml"/><Relationship Id="rId154" Type="http://schemas.openxmlformats.org/officeDocument/2006/relationships/slide" Target="slides/slide148.xml"/><Relationship Id="rId155" Type="http://schemas.openxmlformats.org/officeDocument/2006/relationships/slide" Target="slides/slide149.xml"/><Relationship Id="rId156" Type="http://schemas.openxmlformats.org/officeDocument/2006/relationships/slide" Target="slides/slide150.xml"/><Relationship Id="rId157" Type="http://schemas.openxmlformats.org/officeDocument/2006/relationships/slide" Target="slides/slide151.xml"/><Relationship Id="rId158" Type="http://schemas.openxmlformats.org/officeDocument/2006/relationships/slide" Target="slides/slide152.xml"/><Relationship Id="rId159" Type="http://schemas.openxmlformats.org/officeDocument/2006/relationships/slide" Target="slides/slide153.xml"/><Relationship Id="rId160" Type="http://schemas.openxmlformats.org/officeDocument/2006/relationships/slide" Target="slides/slide154.xml"/><Relationship Id="rId161" Type="http://schemas.openxmlformats.org/officeDocument/2006/relationships/slide" Target="slides/slide155.xml"/><Relationship Id="rId162" Type="http://schemas.openxmlformats.org/officeDocument/2006/relationships/slide" Target="slides/slide156.xml"/><Relationship Id="rId163" Type="http://schemas.openxmlformats.org/officeDocument/2006/relationships/slide" Target="slides/slide157.xml"/><Relationship Id="rId164" Type="http://schemas.openxmlformats.org/officeDocument/2006/relationships/slide" Target="slides/slide158.xml"/><Relationship Id="rId165" Type="http://schemas.openxmlformats.org/officeDocument/2006/relationships/slide" Target="slides/slide159.xml"/><Relationship Id="rId166" Type="http://schemas.openxmlformats.org/officeDocument/2006/relationships/slide" Target="slides/slide160.xml"/><Relationship Id="rId167" Type="http://schemas.openxmlformats.org/officeDocument/2006/relationships/slide" Target="slides/slide161.xml"/><Relationship Id="rId168" Type="http://schemas.openxmlformats.org/officeDocument/2006/relationships/slide" Target="slides/slide162.xml"/><Relationship Id="rId169" Type="http://schemas.openxmlformats.org/officeDocument/2006/relationships/slide" Target="slides/slide163.xml"/><Relationship Id="rId170" Type="http://schemas.openxmlformats.org/officeDocument/2006/relationships/slide" Target="slides/slide164.xml"/><Relationship Id="rId171" Type="http://schemas.openxmlformats.org/officeDocument/2006/relationships/slide" Target="slides/slide165.xml"/><Relationship Id="rId172" Type="http://schemas.openxmlformats.org/officeDocument/2006/relationships/slide" Target="slides/slide166.xml"/><Relationship Id="rId173" Type="http://schemas.openxmlformats.org/officeDocument/2006/relationships/slide" Target="slides/slide167.xml"/><Relationship Id="rId174" Type="http://schemas.openxmlformats.org/officeDocument/2006/relationships/slide" Target="slides/slide168.xml"/><Relationship Id="rId175" Type="http://schemas.openxmlformats.org/officeDocument/2006/relationships/slide" Target="slides/slide169.xml"/><Relationship Id="rId176" Type="http://schemas.openxmlformats.org/officeDocument/2006/relationships/slide" Target="slides/slide170.xml"/><Relationship Id="rId177" Type="http://schemas.openxmlformats.org/officeDocument/2006/relationships/slide" Target="slides/slide171.xml"/><Relationship Id="rId178" Type="http://schemas.openxmlformats.org/officeDocument/2006/relationships/slide" Target="slides/slide172.xml"/><Relationship Id="rId179" Type="http://schemas.openxmlformats.org/officeDocument/2006/relationships/slide" Target="slides/slide173.xml"/><Relationship Id="rId180" Type="http://schemas.openxmlformats.org/officeDocument/2006/relationships/slide" Target="slides/slide174.xml"/><Relationship Id="rId181" Type="http://schemas.openxmlformats.org/officeDocument/2006/relationships/slide" Target="slides/slide175.xml"/><Relationship Id="rId182" Type="http://schemas.openxmlformats.org/officeDocument/2006/relationships/slide" Target="slides/slide176.xml"/><Relationship Id="rId183" Type="http://schemas.openxmlformats.org/officeDocument/2006/relationships/slide" Target="slides/slide177.xml"/><Relationship Id="rId184" Type="http://schemas.openxmlformats.org/officeDocument/2006/relationships/slide" Target="slides/slide178.xml"/><Relationship Id="rId185" Type="http://schemas.openxmlformats.org/officeDocument/2006/relationships/slide" Target="slides/slide179.xml"/><Relationship Id="rId186" Type="http://schemas.openxmlformats.org/officeDocument/2006/relationships/slide" Target="slides/slide180.xml"/><Relationship Id="rId187" Type="http://schemas.openxmlformats.org/officeDocument/2006/relationships/slide" Target="slides/slide181.xml"/><Relationship Id="rId188" Type="http://schemas.openxmlformats.org/officeDocument/2006/relationships/slide" Target="slides/slide182.xml"/><Relationship Id="rId189" Type="http://schemas.openxmlformats.org/officeDocument/2006/relationships/slide" Target="slides/slide183.xml"/><Relationship Id="rId190" Type="http://schemas.openxmlformats.org/officeDocument/2006/relationships/slide" Target="slides/slide184.xml"/><Relationship Id="rId191" Type="http://schemas.openxmlformats.org/officeDocument/2006/relationships/slide" Target="slides/slide185.xml"/><Relationship Id="rId192" Type="http://schemas.openxmlformats.org/officeDocument/2006/relationships/slide" Target="slides/slide186.xml"/><Relationship Id="rId193" Type="http://schemas.openxmlformats.org/officeDocument/2006/relationships/slide" Target="slides/slide187.xml"/><Relationship Id="rId194" Type="http://schemas.openxmlformats.org/officeDocument/2006/relationships/slide" Target="slides/slide188.xml"/><Relationship Id="rId195" Type="http://schemas.openxmlformats.org/officeDocument/2006/relationships/slide" Target="slides/slide189.xml"/><Relationship Id="rId196" Type="http://schemas.openxmlformats.org/officeDocument/2006/relationships/slide" Target="slides/slide190.xml"/><Relationship Id="rId197" Type="http://schemas.openxmlformats.org/officeDocument/2006/relationships/slide" Target="slides/slide191.xml"/><Relationship Id="rId198" Type="http://schemas.openxmlformats.org/officeDocument/2006/relationships/slide" Target="slides/slide192.xml"/><Relationship Id="rId199" Type="http://schemas.openxmlformats.org/officeDocument/2006/relationships/slide" Target="slides/slide193.xml"/><Relationship Id="rId200" Type="http://schemas.openxmlformats.org/officeDocument/2006/relationships/slide" Target="slides/slide194.xml"/><Relationship Id="rId201" Type="http://schemas.openxmlformats.org/officeDocument/2006/relationships/slide" Target="slides/slide195.xml"/><Relationship Id="rId202" Type="http://schemas.openxmlformats.org/officeDocument/2006/relationships/slide" Target="slides/slide196.xml"/><Relationship Id="rId203" Type="http://schemas.openxmlformats.org/officeDocument/2006/relationships/slide" Target="slides/slide197.xml"/><Relationship Id="rId204" Type="http://schemas.openxmlformats.org/officeDocument/2006/relationships/slide" Target="slides/slide198.xml"/><Relationship Id="rId205" Type="http://schemas.openxmlformats.org/officeDocument/2006/relationships/slide" Target="slides/slide199.xml"/><Relationship Id="rId206" Type="http://schemas.openxmlformats.org/officeDocument/2006/relationships/slide" Target="slides/slide200.xml"/><Relationship Id="rId207" Type="http://schemas.openxmlformats.org/officeDocument/2006/relationships/slide" Target="slides/slide201.xml"/><Relationship Id="rId208" Type="http://schemas.openxmlformats.org/officeDocument/2006/relationships/slide" Target="slides/slide202.xml"/><Relationship Id="rId209" Type="http://schemas.openxmlformats.org/officeDocument/2006/relationships/slide" Target="slides/slide203.xml"/><Relationship Id="rId210" Type="http://schemas.openxmlformats.org/officeDocument/2006/relationships/slide" Target="slides/slide204.xml"/><Relationship Id="rId211" Type="http://schemas.openxmlformats.org/officeDocument/2006/relationships/slide" Target="slides/slide205.xml"/><Relationship Id="rId212" Type="http://schemas.openxmlformats.org/officeDocument/2006/relationships/slide" Target="slides/slide206.xml"/><Relationship Id="rId213" Type="http://schemas.openxmlformats.org/officeDocument/2006/relationships/slide" Target="slides/slide207.xml"/><Relationship Id="rId214" Type="http://schemas.openxmlformats.org/officeDocument/2006/relationships/slide" Target="slides/slide208.xml"/><Relationship Id="rId215" Type="http://schemas.openxmlformats.org/officeDocument/2006/relationships/slide" Target="slides/slide209.xml"/><Relationship Id="rId216" Type="http://schemas.openxmlformats.org/officeDocument/2006/relationships/slide" Target="slides/slide210.xml"/><Relationship Id="rId217" Type="http://schemas.openxmlformats.org/officeDocument/2006/relationships/slide" Target="slides/slide211.xml"/><Relationship Id="rId218" Type="http://schemas.openxmlformats.org/officeDocument/2006/relationships/slide" Target="slides/slide212.xml"/><Relationship Id="rId219" Type="http://schemas.openxmlformats.org/officeDocument/2006/relationships/slide" Target="slides/slide213.xml"/><Relationship Id="rId220" Type="http://schemas.openxmlformats.org/officeDocument/2006/relationships/slide" Target="slides/slide214.xml"/><Relationship Id="rId221" Type="http://schemas.openxmlformats.org/officeDocument/2006/relationships/slide" Target="slides/slide215.xml"/><Relationship Id="rId222" Type="http://schemas.openxmlformats.org/officeDocument/2006/relationships/slide" Target="slides/slide216.xml"/><Relationship Id="rId223" Type="http://schemas.openxmlformats.org/officeDocument/2006/relationships/slide" Target="slides/slide217.xml"/><Relationship Id="rId224" Type="http://schemas.openxmlformats.org/officeDocument/2006/relationships/slide" Target="slides/slide218.xml"/><Relationship Id="rId225" Type="http://schemas.openxmlformats.org/officeDocument/2006/relationships/slide" Target="slides/slide219.xml"/><Relationship Id="rId226" Type="http://schemas.openxmlformats.org/officeDocument/2006/relationships/slide" Target="slides/slide220.xml"/><Relationship Id="rId227" Type="http://schemas.openxmlformats.org/officeDocument/2006/relationships/slide" Target="slides/slide221.xml"/><Relationship Id="rId228" Type="http://schemas.openxmlformats.org/officeDocument/2006/relationships/slide" Target="slides/slide222.xml"/><Relationship Id="rId229" Type="http://schemas.openxmlformats.org/officeDocument/2006/relationships/slide" Target="slides/slide223.xml"/><Relationship Id="rId230" Type="http://schemas.openxmlformats.org/officeDocument/2006/relationships/slide" Target="slides/slide224.xml"/><Relationship Id="rId231" Type="http://schemas.openxmlformats.org/officeDocument/2006/relationships/slide" Target="slides/slide225.xml"/><Relationship Id="rId232" Type="http://schemas.openxmlformats.org/officeDocument/2006/relationships/slide" Target="slides/slide226.xml"/><Relationship Id="rId233" Type="http://schemas.openxmlformats.org/officeDocument/2006/relationships/slide" Target="slides/slide227.xml"/><Relationship Id="rId234" Type="http://schemas.openxmlformats.org/officeDocument/2006/relationships/slide" Target="slides/slide228.xml"/><Relationship Id="rId235" Type="http://schemas.openxmlformats.org/officeDocument/2006/relationships/slide" Target="slides/slide229.xml"/><Relationship Id="rId236" Type="http://schemas.openxmlformats.org/officeDocument/2006/relationships/slide" Target="slides/slide230.xml"/><Relationship Id="rId237" Type="http://schemas.openxmlformats.org/officeDocument/2006/relationships/slide" Target="slides/slide231.xml"/><Relationship Id="rId238" Type="http://schemas.openxmlformats.org/officeDocument/2006/relationships/slide" Target="slides/slide232.xml"/><Relationship Id="rId239" Type="http://schemas.openxmlformats.org/officeDocument/2006/relationships/slide" Target="slides/slide233.xml"/><Relationship Id="rId240" Type="http://schemas.openxmlformats.org/officeDocument/2006/relationships/slide" Target="slides/slide234.xml"/><Relationship Id="rId241" Type="http://schemas.openxmlformats.org/officeDocument/2006/relationships/slide" Target="slides/slide235.xml"/><Relationship Id="rId242" Type="http://schemas.openxmlformats.org/officeDocument/2006/relationships/slide" Target="slides/slide236.xml"/><Relationship Id="rId243" Type="http://schemas.openxmlformats.org/officeDocument/2006/relationships/slide" Target="slides/slide237.xml"/><Relationship Id="rId244" Type="http://schemas.openxmlformats.org/officeDocument/2006/relationships/slide" Target="slides/slide238.xml"/><Relationship Id="rId245" Type="http://schemas.openxmlformats.org/officeDocument/2006/relationships/slide" Target="slides/slide239.xml"/><Relationship Id="rId246" Type="http://schemas.openxmlformats.org/officeDocument/2006/relationships/slide" Target="slides/slide240.xml"/><Relationship Id="rId247" Type="http://schemas.openxmlformats.org/officeDocument/2006/relationships/slide" Target="slides/slide241.xml"/><Relationship Id="rId248" Type="http://schemas.openxmlformats.org/officeDocument/2006/relationships/slide" Target="slides/slide242.xml"/><Relationship Id="rId249" Type="http://schemas.openxmlformats.org/officeDocument/2006/relationships/slide" Target="slides/slide243.xml"/><Relationship Id="rId250" Type="http://schemas.openxmlformats.org/officeDocument/2006/relationships/slide" Target="slides/slide244.xml"/><Relationship Id="rId251" Type="http://schemas.openxmlformats.org/officeDocument/2006/relationships/slide" Target="slides/slide245.xml"/><Relationship Id="rId252" Type="http://schemas.openxmlformats.org/officeDocument/2006/relationships/slide" Target="slides/slide246.xml"/><Relationship Id="rId253" Type="http://schemas.openxmlformats.org/officeDocument/2006/relationships/slide" Target="slides/slide247.xml"/><Relationship Id="rId254" Type="http://schemas.openxmlformats.org/officeDocument/2006/relationships/slide" Target="slides/slide248.xml"/><Relationship Id="rId255" Type="http://schemas.openxmlformats.org/officeDocument/2006/relationships/slide" Target="slides/slide249.xml"/><Relationship Id="rId256" Type="http://schemas.openxmlformats.org/officeDocument/2006/relationships/slide" Target="slides/slide250.xml"/><Relationship Id="rId257" Type="http://schemas.openxmlformats.org/officeDocument/2006/relationships/slide" Target="slides/slide251.xml"/><Relationship Id="rId258" Type="http://schemas.openxmlformats.org/officeDocument/2006/relationships/slide" Target="slides/slide252.xml"/><Relationship Id="rId259" Type="http://schemas.openxmlformats.org/officeDocument/2006/relationships/slide" Target="slides/slide253.xml"/><Relationship Id="rId260" Type="http://schemas.openxmlformats.org/officeDocument/2006/relationships/slide" Target="slides/slide254.xml"/><Relationship Id="rId261" Type="http://schemas.openxmlformats.org/officeDocument/2006/relationships/slide" Target="slides/slide255.xml"/><Relationship Id="rId262" Type="http://schemas.openxmlformats.org/officeDocument/2006/relationships/slide" Target="slides/slide256.xml"/><Relationship Id="rId263" Type="http://schemas.openxmlformats.org/officeDocument/2006/relationships/slide" Target="slides/slide257.xml"/><Relationship Id="rId264" Type="http://schemas.openxmlformats.org/officeDocument/2006/relationships/slide" Target="slides/slide258.xml"/><Relationship Id="rId265" Type="http://schemas.openxmlformats.org/officeDocument/2006/relationships/slide" Target="slides/slide259.xml"/><Relationship Id="rId266" Type="http://schemas.openxmlformats.org/officeDocument/2006/relationships/slide" Target="slides/slide260.xml"/><Relationship Id="rId267" Type="http://schemas.openxmlformats.org/officeDocument/2006/relationships/slide" Target="slides/slide261.xml"/><Relationship Id="rId268" Type="http://schemas.openxmlformats.org/officeDocument/2006/relationships/slide" Target="slides/slide262.xml"/></Relationship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685800" y="2130425"/>
            <a:ext cx="7772400" cy="1470025"/>
          </a:xfrm>
        </p:spPr>
        <p:txBody>
          <a:bodyPr/>
          <a:lstStyle/>
          <a:p>
            <a:r>
              <a:rPr lang="en-US" smtClean="0"/>
              <a:t>Click to edit Master title style</a:t>
            </a:r>
            <a:endParaRPr lang="en-US"/>
          </a:p>
        </p:txBody>
      </p:sp>
      <p:sp>
        <p:nvSpPr>
          <p:cNvPr id="3" name="Subtitle 2"/>
          <p:cNvSpPr>
            <a:spLocks noGrp="1"/>
          </p:cNvSpPr>
          <p:nvPr>
            <p:ph type="subTitle" idx="1"/>
          </p:nvPr>
        </p:nvSpPr>
        <p:spPr>
          <a:xfrm>
            <a:off x="1371600" y="3886200"/>
            <a:ext cx="6400800" cy="1752600"/>
          </a:xfrm>
        </p:spPr>
        <p:txBody>
          <a:bodyPr/>
          <a:lstStyle>
            <a:lvl1pPr marL="0" indent="0" algn="ctr">
              <a:buNone/>
              <a:defRPr>
                <a:solidFill>
                  <a:schemeClr val="tx1">
                    <a:tint val="75000"/>
                  </a:schemeClr>
                </a:solidFill>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r>
              <a:rPr lang="en-US" smtClean="0"/>
              <a:t>Click to edit Master subtitle style</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168075583"/>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idx="1"/>
          </p:nvPr>
        </p:nvSpPr>
        <p:spPr/>
        <p:txBody>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614314258"/>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722313" y="4406900"/>
            <a:ext cx="7772400" cy="1362075"/>
          </a:xfrm>
        </p:spPr>
        <p:txBody>
          <a:bodyPr anchor="t"/>
          <a:lstStyle>
            <a:lvl1pPr algn="l">
              <a:defRPr sz="4000" b="1" cap="all"/>
            </a:lvl1pPr>
          </a:lstStyle>
          <a:p>
            <a:r>
              <a:rPr lang="en-US" smtClean="0"/>
              <a:t>Click to edit Master title style</a:t>
            </a:r>
            <a:endParaRPr lang="en-US"/>
          </a:p>
        </p:txBody>
      </p:sp>
      <p:sp>
        <p:nvSpPr>
          <p:cNvPr id="3" name="Text Placeholder 2"/>
          <p:cNvSpPr>
            <a:spLocks noGrp="1"/>
          </p:cNvSpPr>
          <p:nvPr>
            <p:ph type="body" idx="1"/>
          </p:nvPr>
        </p:nvSpPr>
        <p:spPr>
          <a:xfrm>
            <a:off x="722313" y="2906713"/>
            <a:ext cx="7772400" cy="1500187"/>
          </a:xfrm>
        </p:spPr>
        <p:txBody>
          <a:bodyPr anchor="b"/>
          <a:lstStyle>
            <a:lvl1pPr marL="0" indent="0">
              <a:buNone/>
              <a:defRPr sz="2000">
                <a:solidFill>
                  <a:schemeClr val="tx1">
                    <a:tint val="75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smtClean="0"/>
              <a:t>Click to edit Master text styles</a:t>
            </a:r>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60648375"/>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sz="half" idx="1"/>
          </p:nvPr>
        </p:nvSpPr>
        <p:spPr>
          <a:xfrm>
            <a:off x="457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Content Placeholder 3"/>
          <p:cNvSpPr>
            <a:spLocks noGrp="1"/>
          </p:cNvSpPr>
          <p:nvPr>
            <p:ph sz="half" idx="2"/>
          </p:nvPr>
        </p:nvSpPr>
        <p:spPr>
          <a:xfrm>
            <a:off x="4648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782244947"/>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defRPr/>
            </a:lvl1pPr>
          </a:lstStyle>
          <a:p>
            <a:r>
              <a:rPr lang="en-US" smtClean="0"/>
              <a:t>Click to edit Master title style</a:t>
            </a:r>
            <a:endParaRPr lang="en-US"/>
          </a:p>
        </p:txBody>
      </p:sp>
      <p:sp>
        <p:nvSpPr>
          <p:cNvPr id="3" name="Text Placeholder 2"/>
          <p:cNvSpPr>
            <a:spLocks noGrp="1"/>
          </p:cNvSpPr>
          <p:nvPr>
            <p:ph type="body" idx="1"/>
          </p:nvPr>
        </p:nvSpPr>
        <p:spPr>
          <a:xfrm>
            <a:off x="457200" y="1535113"/>
            <a:ext cx="4040188"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4" name="Content Placeholder 3"/>
          <p:cNvSpPr>
            <a:spLocks noGrp="1"/>
          </p:cNvSpPr>
          <p:nvPr>
            <p:ph sz="half" idx="2"/>
          </p:nvPr>
        </p:nvSpPr>
        <p:spPr>
          <a:xfrm>
            <a:off x="457200" y="2174875"/>
            <a:ext cx="4040188"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Text Placeholder 4"/>
          <p:cNvSpPr>
            <a:spLocks noGrp="1"/>
          </p:cNvSpPr>
          <p:nvPr>
            <p:ph type="body" sz="quarter" idx="3"/>
          </p:nvPr>
        </p:nvSpPr>
        <p:spPr>
          <a:xfrm>
            <a:off x="4645025" y="1535113"/>
            <a:ext cx="4041775"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6" name="Content Placeholder 5"/>
          <p:cNvSpPr>
            <a:spLocks noGrp="1"/>
          </p:cNvSpPr>
          <p:nvPr>
            <p:ph sz="quarter" idx="4"/>
          </p:nvPr>
        </p:nvSpPr>
        <p:spPr>
          <a:xfrm>
            <a:off x="4645025" y="2174875"/>
            <a:ext cx="4041775"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7" name="Date Placeholder 6"/>
          <p:cNvSpPr>
            <a:spLocks noGrp="1"/>
          </p:cNvSpPr>
          <p:nvPr>
            <p:ph type="dt" sz="half" idx="10"/>
          </p:nvPr>
        </p:nvSpPr>
        <p:spPr/>
        <p:txBody>
          <a:bodyPr/>
          <a:lstStyle/>
          <a:p>
            <a:fld id="{5BCAD085-E8A6-8845-BD4E-CB4CCA059FC4}" type="datetimeFigureOut">
              <a:rPr lang="en-US" smtClean="0"/>
              <a:t>1/27/13</a:t>
            </a:fld>
            <a:endParaRPr lang="en-US"/>
          </a:p>
        </p:txBody>
      </p:sp>
      <p:sp>
        <p:nvSpPr>
          <p:cNvPr id="8" name="Footer Placeholder 7"/>
          <p:cNvSpPr>
            <a:spLocks noGrp="1"/>
          </p:cNvSpPr>
          <p:nvPr>
            <p:ph type="ftr" sz="quarter" idx="11"/>
          </p:nvPr>
        </p:nvSpPr>
        <p:spPr/>
        <p:txBody>
          <a:bodyPr/>
          <a:lstStyle/>
          <a:p>
            <a:endParaRPr lang="en-US"/>
          </a:p>
        </p:txBody>
      </p:sp>
      <p:sp>
        <p:nvSpPr>
          <p:cNvPr id="9" name="Slide Number Placeholder 8"/>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90158736"/>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Date Placeholder 2"/>
          <p:cNvSpPr>
            <a:spLocks noGrp="1"/>
          </p:cNvSpPr>
          <p:nvPr>
            <p:ph type="dt" sz="half" idx="10"/>
          </p:nvPr>
        </p:nvSpPr>
        <p:spPr/>
        <p:txBody>
          <a:bodyPr/>
          <a:lstStyle/>
          <a:p>
            <a:fld id="{5BCAD085-E8A6-8845-BD4E-CB4CCA059FC4}" type="datetimeFigureOut">
              <a:rPr lang="en-US" smtClean="0"/>
              <a:t>1/27/13</a:t>
            </a:fld>
            <a:endParaRPr lang="en-US"/>
          </a:p>
        </p:txBody>
      </p:sp>
      <p:sp>
        <p:nvSpPr>
          <p:cNvPr id="4" name="Footer Placeholder 3"/>
          <p:cNvSpPr>
            <a:spLocks noGrp="1"/>
          </p:cNvSpPr>
          <p:nvPr>
            <p:ph type="ftr" sz="quarter" idx="11"/>
          </p:nvPr>
        </p:nvSpPr>
        <p:spPr/>
        <p:txBody>
          <a:bodyPr/>
          <a:lstStyle/>
          <a:p>
            <a:endParaRPr lang="en-US"/>
          </a:p>
        </p:txBody>
      </p:sp>
      <p:sp>
        <p:nvSpPr>
          <p:cNvPr id="5" name="Slide Number Placeholder 4"/>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727027711"/>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5BCAD085-E8A6-8845-BD4E-CB4CCA059FC4}" type="datetimeFigureOut">
              <a:rPr lang="en-US" smtClean="0"/>
              <a:t>1/27/13</a:t>
            </a:fld>
            <a:endParaRPr lang="en-US"/>
          </a:p>
        </p:txBody>
      </p:sp>
      <p:sp>
        <p:nvSpPr>
          <p:cNvPr id="3" name="Footer Placeholder 2"/>
          <p:cNvSpPr>
            <a:spLocks noGrp="1"/>
          </p:cNvSpPr>
          <p:nvPr>
            <p:ph type="ftr" sz="quarter" idx="11"/>
          </p:nvPr>
        </p:nvSpPr>
        <p:spPr/>
        <p:txBody>
          <a:bodyPr/>
          <a:lstStyle/>
          <a:p>
            <a:endParaRPr lang="en-US"/>
          </a:p>
        </p:txBody>
      </p:sp>
      <p:sp>
        <p:nvSpPr>
          <p:cNvPr id="4" name="Slide Number Placeholder 3"/>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212999818"/>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457200" y="273050"/>
            <a:ext cx="3008313" cy="1162050"/>
          </a:xfrm>
        </p:spPr>
        <p:txBody>
          <a:bodyPr anchor="b"/>
          <a:lstStyle>
            <a:lvl1pPr algn="l">
              <a:defRPr sz="2000" b="1"/>
            </a:lvl1pPr>
          </a:lstStyle>
          <a:p>
            <a:r>
              <a:rPr lang="en-US" smtClean="0"/>
              <a:t>Click to edit Master title style</a:t>
            </a:r>
            <a:endParaRPr lang="en-US"/>
          </a:p>
        </p:txBody>
      </p:sp>
      <p:sp>
        <p:nvSpPr>
          <p:cNvPr id="3" name="Content Placeholder 2"/>
          <p:cNvSpPr>
            <a:spLocks noGrp="1"/>
          </p:cNvSpPr>
          <p:nvPr>
            <p:ph idx="1"/>
          </p:nvPr>
        </p:nvSpPr>
        <p:spPr>
          <a:xfrm>
            <a:off x="3575050" y="273050"/>
            <a:ext cx="5111750" cy="5853113"/>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Text Placeholder 3"/>
          <p:cNvSpPr>
            <a:spLocks noGrp="1"/>
          </p:cNvSpPr>
          <p:nvPr>
            <p:ph type="body" sz="half" idx="2"/>
          </p:nvPr>
        </p:nvSpPr>
        <p:spPr>
          <a:xfrm>
            <a:off x="457200" y="1435100"/>
            <a:ext cx="3008313" cy="4691063"/>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840726560"/>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1792288" y="4800600"/>
            <a:ext cx="5486400" cy="566738"/>
          </a:xfrm>
        </p:spPr>
        <p:txBody>
          <a:bodyPr anchor="b"/>
          <a:lstStyle>
            <a:lvl1pPr algn="l">
              <a:defRPr sz="2000" b="1"/>
            </a:lvl1pPr>
          </a:lstStyle>
          <a:p>
            <a:r>
              <a:rPr lang="en-US" smtClean="0"/>
              <a:t>Click to edit Master title style</a:t>
            </a:r>
            <a:endParaRPr lang="en-US"/>
          </a:p>
        </p:txBody>
      </p:sp>
      <p:sp>
        <p:nvSpPr>
          <p:cNvPr id="3" name="Picture Placeholder 2"/>
          <p:cNvSpPr>
            <a:spLocks noGrp="1"/>
          </p:cNvSpPr>
          <p:nvPr>
            <p:ph type="pic" idx="1"/>
          </p:nvPr>
        </p:nvSpPr>
        <p:spPr>
          <a:xfrm>
            <a:off x="1792288" y="612775"/>
            <a:ext cx="5486400" cy="4114800"/>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US"/>
          </a:p>
        </p:txBody>
      </p:sp>
      <p:sp>
        <p:nvSpPr>
          <p:cNvPr id="4" name="Text Placeholder 3"/>
          <p:cNvSpPr>
            <a:spLocks noGrp="1"/>
          </p:cNvSpPr>
          <p:nvPr>
            <p:ph type="body" sz="half" idx="2"/>
          </p:nvPr>
        </p:nvSpPr>
        <p:spPr>
          <a:xfrm>
            <a:off x="1792288" y="5367338"/>
            <a:ext cx="5486400" cy="804862"/>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889236939"/>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Vertical Text Placeholder 2"/>
          <p:cNvSpPr>
            <a:spLocks noGrp="1"/>
          </p:cNvSpPr>
          <p:nvPr>
            <p:ph type="body" orient="vert" idx="1"/>
          </p:nvPr>
        </p:nvSpPr>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910927964"/>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6629400" y="274638"/>
            <a:ext cx="2057400" cy="5851525"/>
          </a:xfrm>
        </p:spPr>
        <p:txBody>
          <a:bodyPr vert="eaVert"/>
          <a:lstStyle/>
          <a:p>
            <a:r>
              <a:rPr lang="en-US" smtClean="0"/>
              <a:t>Click to edit Master title style</a:t>
            </a:r>
            <a:endParaRPr lang="en-US"/>
          </a:p>
        </p:txBody>
      </p:sp>
      <p:sp>
        <p:nvSpPr>
          <p:cNvPr id="3" name="Vertical Text Placeholder 2"/>
          <p:cNvSpPr>
            <a:spLocks noGrp="1"/>
          </p:cNvSpPr>
          <p:nvPr>
            <p:ph type="body" orient="vert" idx="1"/>
          </p:nvPr>
        </p:nvSpPr>
        <p:spPr>
          <a:xfrm>
            <a:off x="457200" y="274638"/>
            <a:ext cx="6019800" cy="5851525"/>
          </a:xfrm>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612223792"/>
      </p:ext>
    </p:extLst>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slideLayout" Target="../slideLayouts/slideLayout2.xml"/><Relationship Id="rId3" Type="http://schemas.openxmlformats.org/officeDocument/2006/relationships/slideLayout" Target="../slideLayouts/slideLayout3.xml"/><Relationship Id="rId4" Type="http://schemas.openxmlformats.org/officeDocument/2006/relationships/slideLayout" Target="../slideLayouts/slideLayout4.xml"/><Relationship Id="rId5" Type="http://schemas.openxmlformats.org/officeDocument/2006/relationships/slideLayout" Target="../slideLayouts/slideLayout5.xml"/><Relationship Id="rId6" Type="http://schemas.openxmlformats.org/officeDocument/2006/relationships/slideLayout" Target="../slideLayouts/slideLayout6.xml"/><Relationship Id="rId7" Type="http://schemas.openxmlformats.org/officeDocument/2006/relationships/slideLayout" Target="../slideLayouts/slideLayout7.xml"/><Relationship Id="rId8" Type="http://schemas.openxmlformats.org/officeDocument/2006/relationships/slideLayout" Target="../slideLayouts/slideLayout8.xml"/><Relationship Id="rId9" Type="http://schemas.openxmlformats.org/officeDocument/2006/relationships/slideLayout" Target="../slideLayouts/slideLayout9.xml"/><Relationship Id="rId10" Type="http://schemas.openxmlformats.org/officeDocument/2006/relationships/slideLayout" Target="../slideLayouts/slideLayout10.xml"/><Relationship Id="rId11" Type="http://schemas.openxmlformats.org/officeDocument/2006/relationships/slideLayout" Target="../slideLayouts/slideLayout11.xml"/><Relationship Id="rId12"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457200" y="274638"/>
            <a:ext cx="8229600" cy="1143000"/>
          </a:xfrm>
          <a:prstGeom prst="rect">
            <a:avLst/>
          </a:prstGeom>
        </p:spPr>
        <p:txBody>
          <a:bodyPr vert="horz" lIns="91440" tIns="45720" rIns="91440" bIns="45720" rtlCol="0" anchor="ctr">
            <a:normAutofit/>
          </a:bodyPr>
          <a:lstStyle/>
          <a:p>
            <a:r>
              <a:rPr lang="en-US" smtClean="0"/>
              <a:t>Click to edit Master title style</a:t>
            </a:r>
            <a:endParaRPr lang="en-US"/>
          </a:p>
        </p:txBody>
      </p:sp>
      <p:sp>
        <p:nvSpPr>
          <p:cNvPr id="3" name="Text Placeholder 2"/>
          <p:cNvSpPr>
            <a:spLocks noGrp="1"/>
          </p:cNvSpPr>
          <p:nvPr>
            <p:ph type="body" idx="1"/>
          </p:nvPr>
        </p:nvSpPr>
        <p:spPr>
          <a:xfrm>
            <a:off x="457200" y="1600200"/>
            <a:ext cx="8229600" cy="4525963"/>
          </a:xfrm>
          <a:prstGeom prst="rect">
            <a:avLst/>
          </a:prstGeom>
        </p:spPr>
        <p:txBody>
          <a:bodyPr vert="horz" lIns="91440" tIns="45720" rIns="91440" bIns="45720" rtlCol="0">
            <a:normAutofit/>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2"/>
          </p:nvPr>
        </p:nvSpPr>
        <p:spPr>
          <a:xfrm>
            <a:off x="457200" y="6356350"/>
            <a:ext cx="21336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5BCAD085-E8A6-8845-BD4E-CB4CCA059FC4}" type="datetimeFigureOut">
              <a:rPr lang="en-US" smtClean="0"/>
              <a:t>1/27/13</a:t>
            </a:fld>
            <a:endParaRPr lang="en-US"/>
          </a:p>
        </p:txBody>
      </p:sp>
      <p:sp>
        <p:nvSpPr>
          <p:cNvPr id="5" name="Footer Placeholder 4"/>
          <p:cNvSpPr>
            <a:spLocks noGrp="1"/>
          </p:cNvSpPr>
          <p:nvPr>
            <p:ph type="ftr" sz="quarter" idx="3"/>
          </p:nvPr>
        </p:nvSpPr>
        <p:spPr>
          <a:xfrm>
            <a:off x="3124200" y="6356350"/>
            <a:ext cx="28956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en-US"/>
          </a:p>
        </p:txBody>
      </p:sp>
      <p:sp>
        <p:nvSpPr>
          <p:cNvPr id="6" name="Slide Number Placeholder 5"/>
          <p:cNvSpPr>
            <a:spLocks noGrp="1"/>
          </p:cNvSpPr>
          <p:nvPr>
            <p:ph type="sldNum" sz="quarter" idx="4"/>
          </p:nvPr>
        </p:nvSpPr>
        <p:spPr>
          <a:xfrm>
            <a:off x="6553200" y="6356350"/>
            <a:ext cx="21336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C1FF6DA9-008F-8B48-92A6-B652298478BF}" type="slidenum">
              <a:rPr lang="en-US" smtClean="0"/>
              <a:t>‹#›</a:t>
            </a:fld>
            <a:endParaRPr lang="en-US"/>
          </a:p>
        </p:txBody>
      </p:sp>
    </p:spTree>
    <p:extLst>
      <p:ext uri="{BB962C8B-B14F-4D97-AF65-F5344CB8AC3E}">
        <p14:creationId xmlns:p14="http://schemas.microsoft.com/office/powerpoint/2010/main" val="2209977519"/>
      </p:ext>
    </p:extLst>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xStyles>
    <p:titleStyle>
      <a:lvl1pPr algn="ctr" defTabSz="4572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457200" rtl="0" eaLnBrk="1" latinLnBrk="0" hangingPunct="1">
        <a:spcBef>
          <a:spcPct val="20000"/>
        </a:spcBef>
        <a:buFont typeface="Arial"/>
        <a:buChar char="•"/>
        <a:defRPr sz="3200" kern="1200">
          <a:solidFill>
            <a:schemeClr val="tx1"/>
          </a:solidFill>
          <a:latin typeface="+mn-lt"/>
          <a:ea typeface="+mn-ea"/>
          <a:cs typeface="+mn-cs"/>
        </a:defRPr>
      </a:lvl1pPr>
      <a:lvl2pPr marL="742950" indent="-285750" algn="l" defTabSz="457200" rtl="0" eaLnBrk="1" latinLnBrk="0" hangingPunct="1">
        <a:spcBef>
          <a:spcPct val="20000"/>
        </a:spcBef>
        <a:buFont typeface="Arial"/>
        <a:buChar char="–"/>
        <a:defRPr sz="2800" kern="1200">
          <a:solidFill>
            <a:schemeClr val="tx1"/>
          </a:solidFill>
          <a:latin typeface="+mn-lt"/>
          <a:ea typeface="+mn-ea"/>
          <a:cs typeface="+mn-cs"/>
        </a:defRPr>
      </a:lvl2pPr>
      <a:lvl3pPr marL="1143000" indent="-228600" algn="l" defTabSz="457200" rtl="0" eaLnBrk="1" latinLnBrk="0" hangingPunct="1">
        <a:spcBef>
          <a:spcPct val="20000"/>
        </a:spcBef>
        <a:buFont typeface="Arial"/>
        <a:buChar char="•"/>
        <a:defRPr sz="2400" kern="1200">
          <a:solidFill>
            <a:schemeClr val="tx1"/>
          </a:solidFill>
          <a:latin typeface="+mn-lt"/>
          <a:ea typeface="+mn-ea"/>
          <a:cs typeface="+mn-cs"/>
        </a:defRPr>
      </a:lvl3pPr>
      <a:lvl4pPr marL="1600200" indent="-228600" algn="l" defTabSz="457200" rtl="0" eaLnBrk="1" latinLnBrk="0" hangingPunct="1">
        <a:spcBef>
          <a:spcPct val="20000"/>
        </a:spcBef>
        <a:buFont typeface="Arial"/>
        <a:buChar char="–"/>
        <a:defRPr sz="2000" kern="1200">
          <a:solidFill>
            <a:schemeClr val="tx1"/>
          </a:solidFill>
          <a:latin typeface="+mn-lt"/>
          <a:ea typeface="+mn-ea"/>
          <a:cs typeface="+mn-cs"/>
        </a:defRPr>
      </a:lvl4pPr>
      <a:lvl5pPr marL="2057400" indent="-228600" algn="l" defTabSz="457200" rtl="0" eaLnBrk="1" latinLnBrk="0" hangingPunct="1">
        <a:spcBef>
          <a:spcPct val="20000"/>
        </a:spcBef>
        <a:buFont typeface="Arial"/>
        <a:buChar char="»"/>
        <a:defRPr sz="2000" kern="1200">
          <a:solidFill>
            <a:schemeClr val="tx1"/>
          </a:solidFill>
          <a:latin typeface="+mn-lt"/>
          <a:ea typeface="+mn-ea"/>
          <a:cs typeface="+mn-cs"/>
        </a:defRPr>
      </a:lvl5pPr>
      <a:lvl6pPr marL="2514600" indent="-228600" algn="l" defTabSz="457200" rtl="0" eaLnBrk="1" latinLnBrk="0" hangingPunct="1">
        <a:spcBef>
          <a:spcPct val="20000"/>
        </a:spcBef>
        <a:buFont typeface="Arial"/>
        <a:buChar char="•"/>
        <a:defRPr sz="2000" kern="1200">
          <a:solidFill>
            <a:schemeClr val="tx1"/>
          </a:solidFill>
          <a:latin typeface="+mn-lt"/>
          <a:ea typeface="+mn-ea"/>
          <a:cs typeface="+mn-cs"/>
        </a:defRPr>
      </a:lvl6pPr>
      <a:lvl7pPr marL="2971800" indent="-228600" algn="l" defTabSz="457200" rtl="0" eaLnBrk="1" latinLnBrk="0" hangingPunct="1">
        <a:spcBef>
          <a:spcPct val="20000"/>
        </a:spcBef>
        <a:buFont typeface="Arial"/>
        <a:buChar char="•"/>
        <a:defRPr sz="2000" kern="1200">
          <a:solidFill>
            <a:schemeClr val="tx1"/>
          </a:solidFill>
          <a:latin typeface="+mn-lt"/>
          <a:ea typeface="+mn-ea"/>
          <a:cs typeface="+mn-cs"/>
        </a:defRPr>
      </a:lvl7pPr>
      <a:lvl8pPr marL="3429000" indent="-228600" algn="l" defTabSz="457200" rtl="0" eaLnBrk="1" latinLnBrk="0" hangingPunct="1">
        <a:spcBef>
          <a:spcPct val="20000"/>
        </a:spcBef>
        <a:buFont typeface="Arial"/>
        <a:buChar char="•"/>
        <a:defRPr sz="2000" kern="1200">
          <a:solidFill>
            <a:schemeClr val="tx1"/>
          </a:solidFill>
          <a:latin typeface="+mn-lt"/>
          <a:ea typeface="+mn-ea"/>
          <a:cs typeface="+mn-cs"/>
        </a:defRPr>
      </a:lvl8pPr>
      <a:lvl9pPr marL="3886200" indent="-228600" algn="l" defTabSz="457200" rtl="0" eaLnBrk="1" latinLnBrk="0" hangingPunct="1">
        <a:spcBef>
          <a:spcPct val="20000"/>
        </a:spcBef>
        <a:buFont typeface="Arial"/>
        <a:buChar char="•"/>
        <a:defRPr sz="2000" kern="1200">
          <a:solidFill>
            <a:schemeClr val="tx1"/>
          </a:solidFill>
          <a:latin typeface="+mn-lt"/>
          <a:ea typeface="+mn-ea"/>
          <a:cs typeface="+mn-cs"/>
        </a:defRPr>
      </a:lvl9pPr>
    </p:bodyStyle>
    <p:other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png"/></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2.png"/></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5.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3.png"/></Relationships>
</file>

<file path=ppt/slides/_rels/slide16.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4.png"/></Relationships>
</file>

<file path=ppt/slides/_rels/slide17.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5.png"/></Relationships>
</file>

<file path=ppt/slides/_rels/slide18.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9.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20.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21.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22.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23.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24.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25.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26.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27.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28.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29.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30.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31.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32.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33.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34.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35.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36.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37.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38.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39.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40.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41.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42.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43.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44.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45.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46.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47.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48.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49.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50.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51.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52.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53.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54.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55.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6.png"/></Relationships>
</file>

<file path=ppt/slides/_rels/slide56.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7.png"/></Relationships>
</file>

<file path=ppt/slides/_rels/slide57.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8.png"/></Relationships>
</file>

<file path=ppt/slides/_rels/slide58.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59.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60.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61.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62.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63.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64.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65.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66.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9.png"/></Relationships>
</file>

<file path=ppt/slides/_rels/slide67.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68.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69.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70.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71.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72.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73.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74.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75.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76.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77.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78.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79.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80.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81.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82.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83.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84.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0.png"/></Relationships>
</file>

<file path=ppt/slides/_rels/slide85.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86.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1.png"/></Relationships>
</file>

<file path=ppt/slides/_rels/slide87.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88.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89.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90.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91.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92.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93.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94.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95.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96.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97.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98.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99.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00.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01.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02.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03.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04.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05.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06.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07.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08.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09.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10.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11.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12.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13.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14.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15.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16.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17.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18.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19.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20.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21.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22.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23.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24.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25.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26.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27.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28.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29.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30.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31.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32.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33.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2.png"/></Relationships>
</file>

<file path=ppt/slides/_rels/slide134.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3.png"/></Relationships>
</file>

<file path=ppt/slides/_rels/slide135.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4.png"/></Relationships>
</file>

<file path=ppt/slides/_rels/slide136.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37.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38.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39.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40.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41.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42.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43.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44.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45.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46.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47.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48.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49.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50.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51.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52.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53.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54.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55.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56.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57.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58.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59.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60.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61.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62.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63.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64.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65.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66.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67.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68.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69.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70.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71.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72.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73.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74.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75.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76.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77.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78.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79.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80.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81.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82.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83.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84.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85.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86.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87.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88.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5.png"/></Relationships>
</file>

<file path=ppt/slides/_rels/slide189.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6.png"/></Relationships>
</file>

<file path=ppt/slides/_rels/slide190.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91.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92.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93.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94.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95.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96.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97.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98.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99.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200.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201.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202.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203.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204.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205.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206.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207.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208.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209.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210.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211.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212.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213.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214.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215.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216.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217.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218.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219.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7.png"/></Relationships>
</file>

<file path=ppt/slides/_rels/slide220.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8.png"/></Relationships>
</file>

<file path=ppt/slides/_rels/slide221.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222.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223.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224.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225.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226.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227.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228.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229.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230.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231.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232.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233.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234.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235.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236.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237.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9.png"/></Relationships>
</file>

<file path=ppt/slides/_rels/slide238.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20.png"/></Relationships>
</file>

<file path=ppt/slides/_rels/slide239.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21.png"/></Relationships>
</file>

<file path=ppt/slides/_rels/slide240.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241.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242.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243.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244.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245.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246.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247.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248.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249.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250.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251.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252.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253.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254.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255.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256.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257.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258.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259.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260.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2.png"/></Relationships>
</file>

<file path=ppt/slides/_rels/slide261.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262.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slide1.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12191695" cy="201168"/>
          </a:xfrm>
          <a:prstGeom prst="rect">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Rectangle 3"/>
          <p:cNvSpPr/>
          <p:nvPr/>
        </p:nvSpPr>
        <p:spPr>
          <a:xfrm>
            <a:off x="0" y="6656832"/>
            <a:ext cx="12191695" cy="201168"/>
          </a:xfrm>
          <a:prstGeom prst="rect">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pic>
        <p:nvPicPr>
          <p:cNvPr id="5" name="Picture 4" descr="tertiary-infotech-logo.png"/>
          <p:cNvPicPr>
            <a:picLocks noChangeAspect="1"/>
          </p:cNvPicPr>
          <p:nvPr/>
        </p:nvPicPr>
        <p:blipFill>
          <a:blip r:embed="rId2"/>
          <a:stretch>
            <a:fillRect/>
          </a:stretch>
        </p:blipFill>
        <p:spPr>
          <a:xfrm>
            <a:off x="777240" y="640080"/>
            <a:ext cx="960120" cy="960120"/>
          </a:xfrm>
          <a:prstGeom prst="rect">
            <a:avLst/>
          </a:prstGeom>
        </p:spPr>
      </p:pic>
      <p:sp>
        <p:nvSpPr>
          <p:cNvPr id="6" name="Oval 5"/>
          <p:cNvSpPr/>
          <p:nvPr/>
        </p:nvSpPr>
        <p:spPr>
          <a:xfrm>
            <a:off x="9829800" y="566928"/>
            <a:ext cx="1508760" cy="1508760"/>
          </a:xfrm>
          <a:prstGeom prst="ellipse">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Oval 6"/>
          <p:cNvSpPr/>
          <p:nvPr/>
        </p:nvSpPr>
        <p:spPr>
          <a:xfrm>
            <a:off x="10332720" y="1069848"/>
            <a:ext cx="502920" cy="502920"/>
          </a:xfrm>
          <a:prstGeom prst="ellipse">
            <a:avLst/>
          </a:prstGeom>
          <a:solidFill>
            <a:srgbClr val="7C3AE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TextBox 7"/>
          <p:cNvSpPr txBox="1"/>
          <p:nvPr/>
        </p:nvSpPr>
        <p:spPr>
          <a:xfrm>
            <a:off x="9829800" y="2139696"/>
            <a:ext cx="1508760" cy="274320"/>
          </a:xfrm>
          <a:prstGeom prst="rect">
            <a:avLst/>
          </a:prstGeom>
          <a:noFill/>
        </p:spPr>
        <p:txBody>
          <a:bodyPr wrap="square" anchor="t">
            <a:spAutoFit/>
          </a:bodyPr>
          <a:lstStyle/>
          <a:p>
            <a:pPr algn="ctr">
              <a:spcAft>
                <a:spcPts val="400"/>
              </a:spcAft>
            </a:pPr>
            <a:r>
              <a:rPr sz="1000" b="1">
                <a:solidFill>
                  <a:srgbClr val="7C3AED"/>
                </a:solidFill>
                <a:latin typeface="Arial"/>
              </a:rPr>
              <a:t>QUANTUM</a:t>
            </a:r>
          </a:p>
        </p:txBody>
      </p:sp>
      <p:sp>
        <p:nvSpPr>
          <p:cNvPr id="9" name="TextBox 8"/>
          <p:cNvSpPr txBox="1"/>
          <p:nvPr/>
        </p:nvSpPr>
        <p:spPr>
          <a:xfrm>
            <a:off x="822960" y="2103120"/>
            <a:ext cx="10972800" cy="548640"/>
          </a:xfrm>
          <a:prstGeom prst="rect">
            <a:avLst/>
          </a:prstGeom>
          <a:noFill/>
        </p:spPr>
        <p:txBody>
          <a:bodyPr wrap="square" anchor="t">
            <a:spAutoFit/>
          </a:bodyPr>
          <a:lstStyle/>
          <a:p>
            <a:pPr algn="l">
              <a:spcAft>
                <a:spcPts val="400"/>
              </a:spcAft>
            </a:pPr>
            <a:r>
              <a:rPr sz="1600" b="1">
                <a:solidFill>
                  <a:srgbClr val="1F6FEB"/>
                </a:solidFill>
                <a:latin typeface="Arial"/>
              </a:rPr>
              <a:t>COURSE SLIDES  ·  WSQ</a:t>
            </a:r>
          </a:p>
        </p:txBody>
      </p:sp>
      <p:sp>
        <p:nvSpPr>
          <p:cNvPr id="10" name="TextBox 9"/>
          <p:cNvSpPr txBox="1"/>
          <p:nvPr/>
        </p:nvSpPr>
        <p:spPr>
          <a:xfrm>
            <a:off x="822960" y="2606040"/>
            <a:ext cx="10424160" cy="1828800"/>
          </a:xfrm>
          <a:prstGeom prst="rect">
            <a:avLst/>
          </a:prstGeom>
          <a:noFill/>
        </p:spPr>
        <p:txBody>
          <a:bodyPr wrap="square" anchor="t">
            <a:spAutoFit/>
          </a:bodyPr>
          <a:lstStyle/>
          <a:p>
            <a:pPr algn="l">
              <a:spcAft>
                <a:spcPts val="400"/>
              </a:spcAft>
            </a:pPr>
            <a:r>
              <a:rPr sz="4000" b="1">
                <a:solidFill>
                  <a:srgbClr val="161B26"/>
                </a:solidFill>
                <a:latin typeface="Arial"/>
              </a:rPr>
              <a:t>Securing the Future with Quantum Computing and Cryptography</a:t>
            </a:r>
          </a:p>
        </p:txBody>
      </p:sp>
      <p:sp>
        <p:nvSpPr>
          <p:cNvPr id="11" name="Rectangle 10"/>
          <p:cNvSpPr/>
          <p:nvPr/>
        </p:nvSpPr>
        <p:spPr>
          <a:xfrm>
            <a:off x="841248" y="4526280"/>
            <a:ext cx="2194560" cy="54864"/>
          </a:xfrm>
          <a:prstGeom prst="rect">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 name="TextBox 11"/>
          <p:cNvSpPr txBox="1"/>
          <p:nvPr/>
        </p:nvSpPr>
        <p:spPr>
          <a:xfrm>
            <a:off x="822960" y="4800600"/>
            <a:ext cx="10972800" cy="1280160"/>
          </a:xfrm>
          <a:prstGeom prst="rect">
            <a:avLst/>
          </a:prstGeom>
          <a:noFill/>
        </p:spPr>
        <p:txBody>
          <a:bodyPr wrap="square" anchor="t">
            <a:spAutoFit/>
          </a:bodyPr>
          <a:lstStyle/>
          <a:p>
            <a:pPr algn="l">
              <a:spcAft>
                <a:spcPts val="600"/>
              </a:spcAft>
            </a:pPr>
            <a:r>
              <a:rPr sz="1600" b="0">
                <a:solidFill>
                  <a:srgbClr val="5B6372"/>
                </a:solidFill>
                <a:latin typeface="Arial"/>
              </a:rPr>
              <a:t>WSQ Course Code: TGS-2024043419</a:t>
            </a:r>
          </a:p>
          <a:p>
            <a:pPr algn="l">
              <a:spcAft>
                <a:spcPts val="600"/>
              </a:spcAft>
            </a:pPr>
            <a:r>
              <a:rPr sz="1400" b="0">
                <a:solidFill>
                  <a:srgbClr val="5B6372"/>
                </a:solidFill>
                <a:latin typeface="Arial"/>
              </a:rPr>
              <a:t>Conducted by Tertiary Infotech Academy Pte Ltd  ·  UEN 201200696W</a:t>
            </a:r>
          </a:p>
        </p:txBody>
      </p:sp>
      <p:sp>
        <p:nvSpPr>
          <p:cNvPr id="13" name="TextBox 12"/>
          <p:cNvSpPr txBox="1"/>
          <p:nvPr/>
        </p:nvSpPr>
        <p:spPr>
          <a:xfrm>
            <a:off x="822960" y="5943600"/>
            <a:ext cx="10972800" cy="365760"/>
          </a:xfrm>
          <a:prstGeom prst="rect">
            <a:avLst/>
          </a:prstGeom>
          <a:noFill/>
        </p:spPr>
        <p:txBody>
          <a:bodyPr wrap="square" anchor="t">
            <a:spAutoFit/>
          </a:bodyPr>
          <a:lstStyle/>
          <a:p>
            <a:pPr algn="l">
              <a:spcAft>
                <a:spcPts val="400"/>
              </a:spcAft>
            </a:pPr>
            <a:r>
              <a:rPr sz="1200" b="0">
                <a:solidFill>
                  <a:srgbClr val="5B6372"/>
                </a:solidFill>
                <a:latin typeface="Arial"/>
              </a:rPr>
              <a:t>Version 12.0  ·  11 August 2026</a:t>
            </a:r>
          </a:p>
        </p:txBody>
      </p:sp>
      <p:sp>
        <p:nvSpPr>
          <p:cNvPr id="14" name="TextBox 13"/>
          <p:cNvSpPr txBox="1"/>
          <p:nvPr/>
        </p:nvSpPr>
        <p:spPr>
          <a:xfrm>
            <a:off x="822960" y="6263640"/>
            <a:ext cx="10972800" cy="310896"/>
          </a:xfrm>
          <a:prstGeom prst="rect">
            <a:avLst/>
          </a:prstGeom>
          <a:noFill/>
        </p:spPr>
        <p:txBody>
          <a:bodyPr wrap="square" anchor="t">
            <a:spAutoFit/>
          </a:bodyPr>
          <a:lstStyle/>
          <a:p>
            <a:pPr algn="l">
              <a:spcAft>
                <a:spcPts val="400"/>
              </a:spcAft>
            </a:pPr>
            <a:r>
              <a:rPr sz="1000" b="0">
                <a:solidFill>
                  <a:srgbClr val="5B6372"/>
                </a:solidFill>
                <a:latin typeface="Arial"/>
              </a:rPr>
              <a:t>© 2026 Tertiary Infotech Academy Pte Ltd. All rights reserved.  ·  www.tertiarycourses.com.sg</a:t>
            </a:r>
          </a:p>
        </p:txBody>
      </p:sp>
    </p:spTree>
  </p:cSld>
  <p:clrMapOvr>
    <a:masterClrMapping/>
  </p:clrMapOvr>
</p:sld>
</file>

<file path=ppt/slides/slide2.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256032" cy="6858000"/>
          </a:xfrm>
          <a:prstGeom prst="rect">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Rectangle 3"/>
          <p:cNvSpPr/>
          <p:nvPr/>
        </p:nvSpPr>
        <p:spPr>
          <a:xfrm>
            <a:off x="777240" y="2286000"/>
            <a:ext cx="128016" cy="1828800"/>
          </a:xfrm>
          <a:prstGeom prst="rect">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TextBox 4"/>
          <p:cNvSpPr txBox="1"/>
          <p:nvPr/>
        </p:nvSpPr>
        <p:spPr>
          <a:xfrm>
            <a:off x="1143000" y="2331720"/>
            <a:ext cx="10058400" cy="548640"/>
          </a:xfrm>
          <a:prstGeom prst="rect">
            <a:avLst/>
          </a:prstGeom>
          <a:noFill/>
        </p:spPr>
        <p:txBody>
          <a:bodyPr wrap="square" anchor="t">
            <a:spAutoFit/>
          </a:bodyPr>
          <a:lstStyle/>
          <a:p>
            <a:pPr algn="l">
              <a:spcAft>
                <a:spcPts val="400"/>
              </a:spcAft>
            </a:pPr>
            <a:r>
              <a:rPr sz="1800" b="1">
                <a:solidFill>
                  <a:srgbClr val="1F6FEB"/>
                </a:solidFill>
                <a:latin typeface="Arial"/>
              </a:rPr>
              <a:t>COURSE ADMINISTRATION</a:t>
            </a:r>
          </a:p>
        </p:txBody>
      </p:sp>
      <p:sp>
        <p:nvSpPr>
          <p:cNvPr id="6" name="TextBox 5"/>
          <p:cNvSpPr txBox="1"/>
          <p:nvPr/>
        </p:nvSpPr>
        <p:spPr>
          <a:xfrm>
            <a:off x="1143000" y="2743200"/>
            <a:ext cx="9509760" cy="1463040"/>
          </a:xfrm>
          <a:prstGeom prst="rect">
            <a:avLst/>
          </a:prstGeom>
          <a:noFill/>
        </p:spPr>
        <p:txBody>
          <a:bodyPr wrap="square" anchor="t">
            <a:spAutoFit/>
          </a:bodyPr>
          <a:lstStyle/>
          <a:p>
            <a:pPr algn="l">
              <a:spcAft>
                <a:spcPts val="400"/>
              </a:spcAft>
            </a:pPr>
            <a:r>
              <a:rPr sz="4000" b="1">
                <a:solidFill>
                  <a:srgbClr val="161B26"/>
                </a:solidFill>
                <a:latin typeface="Arial"/>
              </a:rPr>
              <a:t>Welcome &amp; Housekeeping</a:t>
            </a:r>
          </a:p>
        </p:txBody>
      </p:sp>
      <p:sp>
        <p:nvSpPr>
          <p:cNvPr id="7" name="TextBox 6"/>
          <p:cNvSpPr txBox="1"/>
          <p:nvPr/>
        </p:nvSpPr>
        <p:spPr>
          <a:xfrm>
            <a:off x="365760" y="6446520"/>
            <a:ext cx="6858000" cy="320040"/>
          </a:xfrm>
          <a:prstGeom prst="rect">
            <a:avLst/>
          </a:prstGeom>
          <a:noFill/>
        </p:spPr>
        <p:txBody>
          <a:bodyPr wrap="square" anchor="t">
            <a:spAutoFit/>
          </a:bodyPr>
          <a:lstStyle/>
          <a:p>
            <a:pPr algn="l">
              <a:spcAft>
                <a:spcPts val="400"/>
              </a:spcAft>
            </a:pPr>
            <a:r>
              <a:rPr sz="900" b="0">
                <a:solidFill>
                  <a:srgbClr val="5B6372"/>
                </a:solidFill>
                <a:latin typeface="Arial"/>
              </a:rPr>
              <a:t>Securing the Future with Quantum Computing and Cryptography  ·  TGS-2024043419</a:t>
            </a:r>
          </a:p>
        </p:txBody>
      </p:sp>
      <p:sp>
        <p:nvSpPr>
          <p:cNvPr id="8" name="TextBox 7"/>
          <p:cNvSpPr txBox="1"/>
          <p:nvPr/>
        </p:nvSpPr>
        <p:spPr>
          <a:xfrm>
            <a:off x="4572000" y="6446520"/>
            <a:ext cx="3017520" cy="320040"/>
          </a:xfrm>
          <a:prstGeom prst="rect">
            <a:avLst/>
          </a:prstGeom>
          <a:noFill/>
        </p:spPr>
        <p:txBody>
          <a:bodyPr wrap="square" anchor="t">
            <a:spAutoFit/>
          </a:bodyPr>
          <a:lstStyle/>
          <a:p>
            <a:pPr algn="ctr">
              <a:spcAft>
                <a:spcPts val="400"/>
              </a:spcAft>
            </a:pPr>
            <a:r>
              <a:rPr sz="900" b="0">
                <a:solidFill>
                  <a:srgbClr val="5B6372"/>
                </a:solidFill>
                <a:latin typeface="Arial"/>
              </a:rPr>
              <a:t>© 2026 Tertiary Infotech Academy Pte Ltd</a:t>
            </a:r>
          </a:p>
        </p:txBody>
      </p:sp>
      <p:sp>
        <p:nvSpPr>
          <p:cNvPr id="9" name="TextBox 8"/>
          <p:cNvSpPr txBox="1"/>
          <p:nvPr/>
        </p:nvSpPr>
        <p:spPr>
          <a:xfrm>
            <a:off x="11338560" y="6446520"/>
            <a:ext cx="548640" cy="320040"/>
          </a:xfrm>
          <a:prstGeom prst="rect">
            <a:avLst/>
          </a:prstGeom>
          <a:noFill/>
        </p:spPr>
        <p:txBody>
          <a:bodyPr wrap="square" anchor="t">
            <a:spAutoFit/>
          </a:bodyPr>
          <a:lstStyle/>
          <a:p>
            <a:pPr algn="r">
              <a:spcAft>
                <a:spcPts val="400"/>
              </a:spcAft>
            </a:pPr>
            <a:r>
              <a:rPr sz="900" b="0">
                <a:solidFill>
                  <a:srgbClr val="5B6372"/>
                </a:solidFill>
                <a:latin typeface="Arial"/>
              </a:rPr>
              <a:t>1</a:t>
            </a:r>
          </a:p>
        </p:txBody>
      </p:sp>
    </p:spTree>
  </p:cSld>
  <p:clrMapOvr>
    <a:masterClrMapping/>
  </p:clrMapOvr>
</p:sld>
</file>

<file path=ppt/slides/slide3.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256032" cy="1417320"/>
          </a:xfrm>
          <a:prstGeom prst="rect">
            <a:avLst/>
          </a:prstGeom>
          <a:solidFill>
            <a:srgbClr val="7C3AE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777240" y="457200"/>
            <a:ext cx="10607040" cy="365760"/>
          </a:xfrm>
          <a:prstGeom prst="rect">
            <a:avLst/>
          </a:prstGeom>
          <a:noFill/>
        </p:spPr>
        <p:txBody>
          <a:bodyPr wrap="square" anchor="t">
            <a:spAutoFit/>
          </a:bodyPr>
          <a:lstStyle/>
          <a:p>
            <a:pPr algn="l">
              <a:spcAft>
                <a:spcPts val="400"/>
              </a:spcAft>
            </a:pPr>
            <a:r>
              <a:rPr sz="1400" b="1">
                <a:solidFill>
                  <a:srgbClr val="7C3AED"/>
                </a:solidFill>
                <a:latin typeface="Arial"/>
              </a:rPr>
              <a:t>TRAQOM · SSG DIGITAL ATTENDANCE</a:t>
            </a:r>
          </a:p>
        </p:txBody>
      </p:sp>
      <p:sp>
        <p:nvSpPr>
          <p:cNvPr id="5" name="TextBox 4"/>
          <p:cNvSpPr txBox="1"/>
          <p:nvPr/>
        </p:nvSpPr>
        <p:spPr>
          <a:xfrm>
            <a:off x="777240" y="822960"/>
            <a:ext cx="10881360" cy="822960"/>
          </a:xfrm>
          <a:prstGeom prst="rect">
            <a:avLst/>
          </a:prstGeom>
          <a:noFill/>
        </p:spPr>
        <p:txBody>
          <a:bodyPr wrap="square" anchor="t">
            <a:spAutoFit/>
          </a:bodyPr>
          <a:lstStyle/>
          <a:p>
            <a:pPr algn="l">
              <a:spcAft>
                <a:spcPts val="400"/>
              </a:spcAft>
            </a:pPr>
            <a:r>
              <a:rPr sz="2900" b="1">
                <a:solidFill>
                  <a:srgbClr val="161B26"/>
                </a:solidFill>
                <a:latin typeface="Arial"/>
              </a:rPr>
              <a:t>Digital Attendance (Mandatory)</a:t>
            </a:r>
          </a:p>
        </p:txBody>
      </p:sp>
      <p:sp>
        <p:nvSpPr>
          <p:cNvPr id="6" name="Rectangle 5"/>
          <p:cNvSpPr/>
          <p:nvPr/>
        </p:nvSpPr>
        <p:spPr>
          <a:xfrm>
            <a:off x="777240" y="1554480"/>
            <a:ext cx="10634472" cy="18288"/>
          </a:xfrm>
          <a:prstGeom prst="rect">
            <a:avLst/>
          </a:prstGeom>
          <a:solidFill>
            <a:srgbClr val="E2E8F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Rectangle 6"/>
          <p:cNvSpPr/>
          <p:nvPr/>
        </p:nvSpPr>
        <p:spPr>
          <a:xfrm>
            <a:off x="777240" y="2331720"/>
            <a:ext cx="2425446" cy="2880360"/>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Rectangle 7"/>
          <p:cNvSpPr/>
          <p:nvPr/>
        </p:nvSpPr>
        <p:spPr>
          <a:xfrm>
            <a:off x="777240" y="2331720"/>
            <a:ext cx="2425446" cy="91440"/>
          </a:xfrm>
          <a:prstGeom prst="rect">
            <a:avLst/>
          </a:prstGeom>
          <a:solidFill>
            <a:srgbClr val="7C3AE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Oval 8"/>
          <p:cNvSpPr/>
          <p:nvPr/>
        </p:nvSpPr>
        <p:spPr>
          <a:xfrm>
            <a:off x="1615059" y="2715768"/>
            <a:ext cx="749808" cy="749808"/>
          </a:xfrm>
          <a:prstGeom prst="ellipse">
            <a:avLst/>
          </a:prstGeom>
          <a:solidFill>
            <a:srgbClr val="7C3AE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TextBox 9"/>
          <p:cNvSpPr txBox="1"/>
          <p:nvPr/>
        </p:nvSpPr>
        <p:spPr>
          <a:xfrm>
            <a:off x="1615059" y="2715768"/>
            <a:ext cx="749808" cy="749808"/>
          </a:xfrm>
          <a:prstGeom prst="rect">
            <a:avLst/>
          </a:prstGeom>
          <a:noFill/>
        </p:spPr>
        <p:txBody>
          <a:bodyPr wrap="square" anchor="ctr">
            <a:spAutoFit/>
          </a:bodyPr>
          <a:lstStyle/>
          <a:p>
            <a:pPr algn="ctr">
              <a:spcAft>
                <a:spcPts val="400"/>
              </a:spcAft>
            </a:pPr>
            <a:r>
              <a:rPr sz="3000" b="1">
                <a:solidFill>
                  <a:srgbClr val="FFFFFF"/>
                </a:solidFill>
                <a:latin typeface="Arial"/>
              </a:rPr>
              <a:t>1</a:t>
            </a:r>
          </a:p>
        </p:txBody>
      </p:sp>
      <p:sp>
        <p:nvSpPr>
          <p:cNvPr id="11" name="TextBox 10"/>
          <p:cNvSpPr txBox="1"/>
          <p:nvPr/>
        </p:nvSpPr>
        <p:spPr>
          <a:xfrm>
            <a:off x="923544" y="3749040"/>
            <a:ext cx="2132838" cy="1325880"/>
          </a:xfrm>
          <a:prstGeom prst="rect">
            <a:avLst/>
          </a:prstGeom>
          <a:noFill/>
        </p:spPr>
        <p:txBody>
          <a:bodyPr wrap="square" anchor="t">
            <a:spAutoFit/>
          </a:bodyPr>
          <a:lstStyle/>
          <a:p>
            <a:pPr algn="ctr">
              <a:spcAft>
                <a:spcPts val="400"/>
              </a:spcAft>
            </a:pPr>
            <a:r>
              <a:rPr sz="1400" b="0">
                <a:solidFill>
                  <a:srgbClr val="161B26"/>
                </a:solidFill>
                <a:latin typeface="Arial"/>
              </a:rPr>
              <a:t>Trainer displays the digital attendance QR code from the SSG portal</a:t>
            </a:r>
          </a:p>
        </p:txBody>
      </p:sp>
      <p:sp>
        <p:nvSpPr>
          <p:cNvPr id="12" name="TextBox 11"/>
          <p:cNvSpPr txBox="1"/>
          <p:nvPr/>
        </p:nvSpPr>
        <p:spPr>
          <a:xfrm>
            <a:off x="3166110" y="3497580"/>
            <a:ext cx="384048" cy="548640"/>
          </a:xfrm>
          <a:prstGeom prst="rect">
            <a:avLst/>
          </a:prstGeom>
          <a:noFill/>
        </p:spPr>
        <p:txBody>
          <a:bodyPr wrap="square" anchor="ctr">
            <a:spAutoFit/>
          </a:bodyPr>
          <a:lstStyle/>
          <a:p>
            <a:pPr algn="ctr">
              <a:spcAft>
                <a:spcPts val="400"/>
              </a:spcAft>
            </a:pPr>
            <a:r>
              <a:rPr sz="1500" b="1">
                <a:solidFill>
                  <a:srgbClr val="7C3AED"/>
                </a:solidFill>
                <a:latin typeface="Arial"/>
              </a:rPr>
              <a:t>▶</a:t>
            </a:r>
          </a:p>
        </p:txBody>
      </p:sp>
      <p:sp>
        <p:nvSpPr>
          <p:cNvPr id="13" name="Rectangle 12"/>
          <p:cNvSpPr/>
          <p:nvPr/>
        </p:nvSpPr>
        <p:spPr>
          <a:xfrm>
            <a:off x="3513582" y="2331720"/>
            <a:ext cx="2425446" cy="2880360"/>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 name="Rectangle 13"/>
          <p:cNvSpPr/>
          <p:nvPr/>
        </p:nvSpPr>
        <p:spPr>
          <a:xfrm>
            <a:off x="3513582" y="2331720"/>
            <a:ext cx="2425446" cy="91440"/>
          </a:xfrm>
          <a:prstGeom prst="rect">
            <a:avLst/>
          </a:prstGeom>
          <a:solidFill>
            <a:srgbClr val="7C3AE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5" name="Oval 14"/>
          <p:cNvSpPr/>
          <p:nvPr/>
        </p:nvSpPr>
        <p:spPr>
          <a:xfrm>
            <a:off x="4351401" y="2715768"/>
            <a:ext cx="749808" cy="749808"/>
          </a:xfrm>
          <a:prstGeom prst="ellipse">
            <a:avLst/>
          </a:prstGeom>
          <a:solidFill>
            <a:srgbClr val="7C3AE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6" name="TextBox 15"/>
          <p:cNvSpPr txBox="1"/>
          <p:nvPr/>
        </p:nvSpPr>
        <p:spPr>
          <a:xfrm>
            <a:off x="4351401" y="2715768"/>
            <a:ext cx="749808" cy="749808"/>
          </a:xfrm>
          <a:prstGeom prst="rect">
            <a:avLst/>
          </a:prstGeom>
          <a:noFill/>
        </p:spPr>
        <p:txBody>
          <a:bodyPr wrap="square" anchor="ctr">
            <a:spAutoFit/>
          </a:bodyPr>
          <a:lstStyle/>
          <a:p>
            <a:pPr algn="ctr">
              <a:spcAft>
                <a:spcPts val="400"/>
              </a:spcAft>
            </a:pPr>
            <a:r>
              <a:rPr sz="3000" b="1">
                <a:solidFill>
                  <a:srgbClr val="FFFFFF"/>
                </a:solidFill>
                <a:latin typeface="Arial"/>
              </a:rPr>
              <a:t>2</a:t>
            </a:r>
          </a:p>
        </p:txBody>
      </p:sp>
      <p:sp>
        <p:nvSpPr>
          <p:cNvPr id="17" name="TextBox 16"/>
          <p:cNvSpPr txBox="1"/>
          <p:nvPr/>
        </p:nvSpPr>
        <p:spPr>
          <a:xfrm>
            <a:off x="3659886" y="3749040"/>
            <a:ext cx="2132838" cy="1325880"/>
          </a:xfrm>
          <a:prstGeom prst="rect">
            <a:avLst/>
          </a:prstGeom>
          <a:noFill/>
        </p:spPr>
        <p:txBody>
          <a:bodyPr wrap="square" anchor="t">
            <a:spAutoFit/>
          </a:bodyPr>
          <a:lstStyle/>
          <a:p>
            <a:pPr algn="ctr">
              <a:spcAft>
                <a:spcPts val="400"/>
              </a:spcAft>
            </a:pPr>
            <a:r>
              <a:rPr sz="1400" b="0">
                <a:solidFill>
                  <a:srgbClr val="161B26"/>
                </a:solidFill>
                <a:latin typeface="Arial"/>
              </a:rPr>
              <a:t>Scan the QR code with your mobile phone camera</a:t>
            </a:r>
          </a:p>
        </p:txBody>
      </p:sp>
      <p:sp>
        <p:nvSpPr>
          <p:cNvPr id="18" name="TextBox 17"/>
          <p:cNvSpPr txBox="1"/>
          <p:nvPr/>
        </p:nvSpPr>
        <p:spPr>
          <a:xfrm>
            <a:off x="5902452" y="3497580"/>
            <a:ext cx="384048" cy="548640"/>
          </a:xfrm>
          <a:prstGeom prst="rect">
            <a:avLst/>
          </a:prstGeom>
          <a:noFill/>
        </p:spPr>
        <p:txBody>
          <a:bodyPr wrap="square" anchor="ctr">
            <a:spAutoFit/>
          </a:bodyPr>
          <a:lstStyle/>
          <a:p>
            <a:pPr algn="ctr">
              <a:spcAft>
                <a:spcPts val="400"/>
              </a:spcAft>
            </a:pPr>
            <a:r>
              <a:rPr sz="1500" b="1">
                <a:solidFill>
                  <a:srgbClr val="7C3AED"/>
                </a:solidFill>
                <a:latin typeface="Arial"/>
              </a:rPr>
              <a:t>▶</a:t>
            </a:r>
          </a:p>
        </p:txBody>
      </p:sp>
      <p:sp>
        <p:nvSpPr>
          <p:cNvPr id="19" name="Rectangle 18"/>
          <p:cNvSpPr/>
          <p:nvPr/>
        </p:nvSpPr>
        <p:spPr>
          <a:xfrm>
            <a:off x="6249924" y="2331720"/>
            <a:ext cx="2425446" cy="2880360"/>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0" name="Rectangle 19"/>
          <p:cNvSpPr/>
          <p:nvPr/>
        </p:nvSpPr>
        <p:spPr>
          <a:xfrm>
            <a:off x="6249924" y="2331720"/>
            <a:ext cx="2425446" cy="91440"/>
          </a:xfrm>
          <a:prstGeom prst="rect">
            <a:avLst/>
          </a:prstGeom>
          <a:solidFill>
            <a:srgbClr val="7C3AE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1" name="Oval 20"/>
          <p:cNvSpPr/>
          <p:nvPr/>
        </p:nvSpPr>
        <p:spPr>
          <a:xfrm>
            <a:off x="7087743" y="2715768"/>
            <a:ext cx="749808" cy="749808"/>
          </a:xfrm>
          <a:prstGeom prst="ellipse">
            <a:avLst/>
          </a:prstGeom>
          <a:solidFill>
            <a:srgbClr val="7C3AE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2" name="TextBox 21"/>
          <p:cNvSpPr txBox="1"/>
          <p:nvPr/>
        </p:nvSpPr>
        <p:spPr>
          <a:xfrm>
            <a:off x="7087743" y="2715768"/>
            <a:ext cx="749808" cy="749808"/>
          </a:xfrm>
          <a:prstGeom prst="rect">
            <a:avLst/>
          </a:prstGeom>
          <a:noFill/>
        </p:spPr>
        <p:txBody>
          <a:bodyPr wrap="square" anchor="ctr">
            <a:spAutoFit/>
          </a:bodyPr>
          <a:lstStyle/>
          <a:p>
            <a:pPr algn="ctr">
              <a:spcAft>
                <a:spcPts val="400"/>
              </a:spcAft>
            </a:pPr>
            <a:r>
              <a:rPr sz="3000" b="1">
                <a:solidFill>
                  <a:srgbClr val="FFFFFF"/>
                </a:solidFill>
                <a:latin typeface="Arial"/>
              </a:rPr>
              <a:t>3</a:t>
            </a:r>
          </a:p>
        </p:txBody>
      </p:sp>
      <p:sp>
        <p:nvSpPr>
          <p:cNvPr id="23" name="TextBox 22"/>
          <p:cNvSpPr txBox="1"/>
          <p:nvPr/>
        </p:nvSpPr>
        <p:spPr>
          <a:xfrm>
            <a:off x="6396228" y="3749040"/>
            <a:ext cx="2132838" cy="1325880"/>
          </a:xfrm>
          <a:prstGeom prst="rect">
            <a:avLst/>
          </a:prstGeom>
          <a:noFill/>
        </p:spPr>
        <p:txBody>
          <a:bodyPr wrap="square" anchor="t">
            <a:spAutoFit/>
          </a:bodyPr>
          <a:lstStyle/>
          <a:p>
            <a:pPr algn="ctr">
              <a:spcAft>
                <a:spcPts val="400"/>
              </a:spcAft>
            </a:pPr>
            <a:r>
              <a:rPr sz="1400" b="0">
                <a:solidFill>
                  <a:srgbClr val="161B26"/>
                </a:solidFill>
                <a:latin typeface="Arial"/>
              </a:rPr>
              <a:t>Submit your attendance — AM, PM and Assessment, every day</a:t>
            </a:r>
          </a:p>
        </p:txBody>
      </p:sp>
      <p:sp>
        <p:nvSpPr>
          <p:cNvPr id="24" name="TextBox 23"/>
          <p:cNvSpPr txBox="1"/>
          <p:nvPr/>
        </p:nvSpPr>
        <p:spPr>
          <a:xfrm>
            <a:off x="8638794" y="3497580"/>
            <a:ext cx="384048" cy="548640"/>
          </a:xfrm>
          <a:prstGeom prst="rect">
            <a:avLst/>
          </a:prstGeom>
          <a:noFill/>
        </p:spPr>
        <p:txBody>
          <a:bodyPr wrap="square" anchor="ctr">
            <a:spAutoFit/>
          </a:bodyPr>
          <a:lstStyle/>
          <a:p>
            <a:pPr algn="ctr">
              <a:spcAft>
                <a:spcPts val="400"/>
              </a:spcAft>
            </a:pPr>
            <a:r>
              <a:rPr sz="1500" b="1">
                <a:solidFill>
                  <a:srgbClr val="7C3AED"/>
                </a:solidFill>
                <a:latin typeface="Arial"/>
              </a:rPr>
              <a:t>▶</a:t>
            </a:r>
          </a:p>
        </p:txBody>
      </p:sp>
      <p:sp>
        <p:nvSpPr>
          <p:cNvPr id="25" name="Rectangle 24"/>
          <p:cNvSpPr/>
          <p:nvPr/>
        </p:nvSpPr>
        <p:spPr>
          <a:xfrm>
            <a:off x="8986266" y="2331720"/>
            <a:ext cx="2425446" cy="2880360"/>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6" name="Rectangle 25"/>
          <p:cNvSpPr/>
          <p:nvPr/>
        </p:nvSpPr>
        <p:spPr>
          <a:xfrm>
            <a:off x="8986266" y="2331720"/>
            <a:ext cx="2425446" cy="91440"/>
          </a:xfrm>
          <a:prstGeom prst="rect">
            <a:avLst/>
          </a:prstGeom>
          <a:solidFill>
            <a:srgbClr val="7C3AE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7" name="Oval 26"/>
          <p:cNvSpPr/>
          <p:nvPr/>
        </p:nvSpPr>
        <p:spPr>
          <a:xfrm>
            <a:off x="9824085" y="2715768"/>
            <a:ext cx="749808" cy="749808"/>
          </a:xfrm>
          <a:prstGeom prst="ellipse">
            <a:avLst/>
          </a:prstGeom>
          <a:solidFill>
            <a:srgbClr val="7C3AE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8" name="TextBox 27"/>
          <p:cNvSpPr txBox="1"/>
          <p:nvPr/>
        </p:nvSpPr>
        <p:spPr>
          <a:xfrm>
            <a:off x="9824085" y="2715768"/>
            <a:ext cx="749808" cy="749808"/>
          </a:xfrm>
          <a:prstGeom prst="rect">
            <a:avLst/>
          </a:prstGeom>
          <a:noFill/>
        </p:spPr>
        <p:txBody>
          <a:bodyPr wrap="square" anchor="ctr">
            <a:spAutoFit/>
          </a:bodyPr>
          <a:lstStyle/>
          <a:p>
            <a:pPr algn="ctr">
              <a:spcAft>
                <a:spcPts val="400"/>
              </a:spcAft>
            </a:pPr>
            <a:r>
              <a:rPr sz="3000" b="1">
                <a:solidFill>
                  <a:srgbClr val="FFFFFF"/>
                </a:solidFill>
                <a:latin typeface="Arial"/>
              </a:rPr>
              <a:t>4</a:t>
            </a:r>
          </a:p>
        </p:txBody>
      </p:sp>
      <p:sp>
        <p:nvSpPr>
          <p:cNvPr id="29" name="TextBox 28"/>
          <p:cNvSpPr txBox="1"/>
          <p:nvPr/>
        </p:nvSpPr>
        <p:spPr>
          <a:xfrm>
            <a:off x="9132570" y="3749040"/>
            <a:ext cx="2132838" cy="1325880"/>
          </a:xfrm>
          <a:prstGeom prst="rect">
            <a:avLst/>
          </a:prstGeom>
          <a:noFill/>
        </p:spPr>
        <p:txBody>
          <a:bodyPr wrap="square" anchor="t">
            <a:spAutoFit/>
          </a:bodyPr>
          <a:lstStyle/>
          <a:p>
            <a:pPr algn="ctr">
              <a:spcAft>
                <a:spcPts val="400"/>
              </a:spcAft>
            </a:pPr>
            <a:r>
              <a:rPr sz="1400" b="0">
                <a:solidFill>
                  <a:srgbClr val="161B26"/>
                </a:solidFill>
                <a:latin typeface="Arial"/>
              </a:rPr>
              <a:t>75% minimum attendance is required for assessment and funding</a:t>
            </a:r>
          </a:p>
        </p:txBody>
      </p:sp>
      <p:sp>
        <p:nvSpPr>
          <p:cNvPr id="30" name="TextBox 29"/>
          <p:cNvSpPr txBox="1"/>
          <p:nvPr/>
        </p:nvSpPr>
        <p:spPr>
          <a:xfrm>
            <a:off x="365760" y="6446520"/>
            <a:ext cx="6858000" cy="320040"/>
          </a:xfrm>
          <a:prstGeom prst="rect">
            <a:avLst/>
          </a:prstGeom>
          <a:noFill/>
        </p:spPr>
        <p:txBody>
          <a:bodyPr wrap="square" anchor="t">
            <a:spAutoFit/>
          </a:bodyPr>
          <a:lstStyle/>
          <a:p>
            <a:pPr algn="l">
              <a:spcAft>
                <a:spcPts val="400"/>
              </a:spcAft>
            </a:pPr>
            <a:r>
              <a:rPr sz="900" b="0">
                <a:solidFill>
                  <a:srgbClr val="5B6372"/>
                </a:solidFill>
                <a:latin typeface="Arial"/>
              </a:rPr>
              <a:t>Securing the Future with Quantum Computing and Cryptography  ·  TGS-2024043419</a:t>
            </a:r>
          </a:p>
        </p:txBody>
      </p:sp>
      <p:sp>
        <p:nvSpPr>
          <p:cNvPr id="31" name="TextBox 30"/>
          <p:cNvSpPr txBox="1"/>
          <p:nvPr/>
        </p:nvSpPr>
        <p:spPr>
          <a:xfrm>
            <a:off x="4572000" y="6446520"/>
            <a:ext cx="3017520" cy="320040"/>
          </a:xfrm>
          <a:prstGeom prst="rect">
            <a:avLst/>
          </a:prstGeom>
          <a:noFill/>
        </p:spPr>
        <p:txBody>
          <a:bodyPr wrap="square" anchor="t">
            <a:spAutoFit/>
          </a:bodyPr>
          <a:lstStyle/>
          <a:p>
            <a:pPr algn="ctr">
              <a:spcAft>
                <a:spcPts val="400"/>
              </a:spcAft>
            </a:pPr>
            <a:r>
              <a:rPr sz="900" b="0">
                <a:solidFill>
                  <a:srgbClr val="5B6372"/>
                </a:solidFill>
                <a:latin typeface="Arial"/>
              </a:rPr>
              <a:t>© 2026 Tertiary Infotech Academy Pte Ltd</a:t>
            </a:r>
          </a:p>
        </p:txBody>
      </p:sp>
      <p:sp>
        <p:nvSpPr>
          <p:cNvPr id="32" name="TextBox 31"/>
          <p:cNvSpPr txBox="1"/>
          <p:nvPr/>
        </p:nvSpPr>
        <p:spPr>
          <a:xfrm>
            <a:off x="11338560" y="6446520"/>
            <a:ext cx="548640" cy="320040"/>
          </a:xfrm>
          <a:prstGeom prst="rect">
            <a:avLst/>
          </a:prstGeom>
          <a:noFill/>
        </p:spPr>
        <p:txBody>
          <a:bodyPr wrap="square" anchor="t">
            <a:spAutoFit/>
          </a:bodyPr>
          <a:lstStyle/>
          <a:p>
            <a:pPr algn="r">
              <a:spcAft>
                <a:spcPts val="400"/>
              </a:spcAft>
            </a:pPr>
            <a:r>
              <a:rPr sz="900" b="0">
                <a:solidFill>
                  <a:srgbClr val="5B6372"/>
                </a:solidFill>
                <a:latin typeface="Arial"/>
              </a:rPr>
              <a:t>2</a:t>
            </a:r>
          </a:p>
        </p:txBody>
      </p:sp>
    </p:spTree>
  </p:cSld>
  <p:clrMapOvr>
    <a:masterClrMapping/>
  </p:clrMapOvr>
</p:sld>
</file>

<file path=ppt/slides/slide4.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256032" cy="1417320"/>
          </a:xfrm>
          <a:prstGeom prst="rect">
            <a:avLst/>
          </a:prstGeom>
          <a:solidFill>
            <a:srgbClr val="5B6372"/>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777240" y="457200"/>
            <a:ext cx="10607040" cy="365760"/>
          </a:xfrm>
          <a:prstGeom prst="rect">
            <a:avLst/>
          </a:prstGeom>
          <a:noFill/>
        </p:spPr>
        <p:txBody>
          <a:bodyPr wrap="square" anchor="t">
            <a:spAutoFit/>
          </a:bodyPr>
          <a:lstStyle/>
          <a:p>
            <a:pPr algn="l">
              <a:spcAft>
                <a:spcPts val="400"/>
              </a:spcAft>
            </a:pPr>
            <a:r>
              <a:rPr sz="1400" b="1">
                <a:solidFill>
                  <a:srgbClr val="5B6372"/>
                </a:solidFill>
                <a:latin typeface="Arial"/>
              </a:rPr>
              <a:t>YOUR TRAINER · GENERAL</a:t>
            </a:r>
          </a:p>
        </p:txBody>
      </p:sp>
      <p:sp>
        <p:nvSpPr>
          <p:cNvPr id="5" name="TextBox 4"/>
          <p:cNvSpPr txBox="1"/>
          <p:nvPr/>
        </p:nvSpPr>
        <p:spPr>
          <a:xfrm>
            <a:off x="777240" y="822960"/>
            <a:ext cx="10881360" cy="822960"/>
          </a:xfrm>
          <a:prstGeom prst="rect">
            <a:avLst/>
          </a:prstGeom>
          <a:noFill/>
        </p:spPr>
        <p:txBody>
          <a:bodyPr wrap="square" anchor="t">
            <a:spAutoFit/>
          </a:bodyPr>
          <a:lstStyle/>
          <a:p>
            <a:pPr algn="l">
              <a:spcAft>
                <a:spcPts val="400"/>
              </a:spcAft>
            </a:pPr>
            <a:r>
              <a:rPr sz="2900" b="1">
                <a:solidFill>
                  <a:srgbClr val="161B26"/>
                </a:solidFill>
                <a:latin typeface="Arial"/>
              </a:rPr>
              <a:t>About the Trainer</a:t>
            </a:r>
          </a:p>
        </p:txBody>
      </p:sp>
      <p:sp>
        <p:nvSpPr>
          <p:cNvPr id="6" name="Rectangle 5"/>
          <p:cNvSpPr/>
          <p:nvPr/>
        </p:nvSpPr>
        <p:spPr>
          <a:xfrm>
            <a:off x="777240" y="1554480"/>
            <a:ext cx="10634472" cy="18288"/>
          </a:xfrm>
          <a:prstGeom prst="rect">
            <a:avLst/>
          </a:prstGeom>
          <a:solidFill>
            <a:srgbClr val="E2E8F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Rectangle 6"/>
          <p:cNvSpPr/>
          <p:nvPr/>
        </p:nvSpPr>
        <p:spPr>
          <a:xfrm>
            <a:off x="777240" y="1783080"/>
            <a:ext cx="3337560" cy="4297680"/>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Rectangle 7"/>
          <p:cNvSpPr/>
          <p:nvPr/>
        </p:nvSpPr>
        <p:spPr>
          <a:xfrm>
            <a:off x="777240" y="1783080"/>
            <a:ext cx="3337560" cy="109728"/>
          </a:xfrm>
          <a:prstGeom prst="rect">
            <a:avLst/>
          </a:prstGeom>
          <a:solidFill>
            <a:srgbClr val="5B6372"/>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Oval 8"/>
          <p:cNvSpPr/>
          <p:nvPr/>
        </p:nvSpPr>
        <p:spPr>
          <a:xfrm>
            <a:off x="1668780" y="2286000"/>
            <a:ext cx="1554480" cy="1554480"/>
          </a:xfrm>
          <a:prstGeom prst="ellipse">
            <a:avLst/>
          </a:prstGeom>
          <a:solidFill>
            <a:srgbClr val="5B6372"/>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TextBox 9"/>
          <p:cNvSpPr txBox="1"/>
          <p:nvPr/>
        </p:nvSpPr>
        <p:spPr>
          <a:xfrm>
            <a:off x="1668780" y="2286000"/>
            <a:ext cx="1554480" cy="1554480"/>
          </a:xfrm>
          <a:prstGeom prst="rect">
            <a:avLst/>
          </a:prstGeom>
          <a:noFill/>
        </p:spPr>
        <p:txBody>
          <a:bodyPr wrap="square" anchor="ctr">
            <a:spAutoFit/>
          </a:bodyPr>
          <a:lstStyle/>
          <a:p>
            <a:pPr algn="ctr">
              <a:spcAft>
                <a:spcPts val="400"/>
              </a:spcAft>
            </a:pPr>
            <a:r>
              <a:rPr sz="4400" b="1">
                <a:solidFill>
                  <a:srgbClr val="FFFFFF"/>
                </a:solidFill>
                <a:latin typeface="Arial"/>
              </a:rPr>
              <a:t>?</a:t>
            </a:r>
          </a:p>
        </p:txBody>
      </p:sp>
      <p:sp>
        <p:nvSpPr>
          <p:cNvPr id="11" name="TextBox 10"/>
          <p:cNvSpPr txBox="1"/>
          <p:nvPr/>
        </p:nvSpPr>
        <p:spPr>
          <a:xfrm>
            <a:off x="914400" y="4160520"/>
            <a:ext cx="3063240" cy="548640"/>
          </a:xfrm>
          <a:prstGeom prst="rect">
            <a:avLst/>
          </a:prstGeom>
          <a:noFill/>
        </p:spPr>
        <p:txBody>
          <a:bodyPr wrap="square" anchor="t">
            <a:spAutoFit/>
          </a:bodyPr>
          <a:lstStyle/>
          <a:p>
            <a:pPr algn="ctr">
              <a:spcAft>
                <a:spcPts val="400"/>
              </a:spcAft>
            </a:pPr>
            <a:r>
              <a:rPr sz="2100" b="1">
                <a:solidFill>
                  <a:srgbClr val="161B26"/>
                </a:solidFill>
                <a:latin typeface="Arial"/>
              </a:rPr>
              <a:t>Your Trainer</a:t>
            </a:r>
          </a:p>
        </p:txBody>
      </p:sp>
      <p:sp>
        <p:nvSpPr>
          <p:cNvPr id="12" name="TextBox 11"/>
          <p:cNvSpPr txBox="1"/>
          <p:nvPr/>
        </p:nvSpPr>
        <p:spPr>
          <a:xfrm>
            <a:off x="914400" y="4754880"/>
            <a:ext cx="3063240" cy="1097280"/>
          </a:xfrm>
          <a:prstGeom prst="rect">
            <a:avLst/>
          </a:prstGeom>
          <a:noFill/>
        </p:spPr>
        <p:txBody>
          <a:bodyPr wrap="square" anchor="t">
            <a:spAutoFit/>
          </a:bodyPr>
          <a:lstStyle/>
          <a:p>
            <a:pPr algn="ctr">
              <a:spcAft>
                <a:spcPts val="400"/>
              </a:spcAft>
            </a:pPr>
            <a:r>
              <a:rPr sz="1300" b="0">
                <a:solidFill>
                  <a:srgbClr val="5B6372"/>
                </a:solidFill>
                <a:latin typeface="Arial"/>
              </a:rPr>
              <a:t>General Trainer template —
to be completed by the trainer</a:t>
            </a:r>
          </a:p>
        </p:txBody>
      </p:sp>
      <p:sp>
        <p:nvSpPr>
          <p:cNvPr id="13" name="Rectangle 12"/>
          <p:cNvSpPr/>
          <p:nvPr/>
        </p:nvSpPr>
        <p:spPr>
          <a:xfrm>
            <a:off x="4480560" y="1783080"/>
            <a:ext cx="6949440" cy="563880"/>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 name="Rectangle 13"/>
          <p:cNvSpPr/>
          <p:nvPr/>
        </p:nvSpPr>
        <p:spPr>
          <a:xfrm>
            <a:off x="4480560" y="1783080"/>
            <a:ext cx="91440" cy="563880"/>
          </a:xfrm>
          <a:prstGeom prst="rect">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5" name="TextBox 14"/>
          <p:cNvSpPr txBox="1"/>
          <p:nvPr/>
        </p:nvSpPr>
        <p:spPr>
          <a:xfrm>
            <a:off x="4773168" y="1783080"/>
            <a:ext cx="6400800" cy="563880"/>
          </a:xfrm>
          <a:prstGeom prst="rect">
            <a:avLst/>
          </a:prstGeom>
          <a:noFill/>
        </p:spPr>
        <p:txBody>
          <a:bodyPr wrap="square" anchor="ctr">
            <a:spAutoFit/>
          </a:bodyPr>
          <a:lstStyle/>
          <a:p>
            <a:pPr algn="l">
              <a:spcAft>
                <a:spcPts val="300"/>
              </a:spcAft>
            </a:pPr>
            <a:r>
              <a:rPr sz="1100" b="1">
                <a:solidFill>
                  <a:srgbClr val="1F6FEB"/>
                </a:solidFill>
                <a:latin typeface="Arial"/>
              </a:rPr>
              <a:t>NAME</a:t>
            </a:r>
          </a:p>
          <a:p>
            <a:pPr algn="l">
              <a:spcAft>
                <a:spcPts val="300"/>
              </a:spcAft>
            </a:pPr>
            <a:r>
              <a:rPr sz="1300" b="0">
                <a:solidFill>
                  <a:srgbClr val="E2E8F0"/>
                </a:solidFill>
                <a:latin typeface="Arial"/>
              </a:rPr>
              <a:t>____________________________________________</a:t>
            </a:r>
          </a:p>
        </p:txBody>
      </p:sp>
      <p:sp>
        <p:nvSpPr>
          <p:cNvPr id="16" name="Rectangle 15"/>
          <p:cNvSpPr/>
          <p:nvPr/>
        </p:nvSpPr>
        <p:spPr>
          <a:xfrm>
            <a:off x="4480560" y="2529840"/>
            <a:ext cx="6949440" cy="563880"/>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7" name="Rectangle 16"/>
          <p:cNvSpPr/>
          <p:nvPr/>
        </p:nvSpPr>
        <p:spPr>
          <a:xfrm>
            <a:off x="4480560" y="2529840"/>
            <a:ext cx="91440" cy="563880"/>
          </a:xfrm>
          <a:prstGeom prst="rect">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8" name="TextBox 17"/>
          <p:cNvSpPr txBox="1"/>
          <p:nvPr/>
        </p:nvSpPr>
        <p:spPr>
          <a:xfrm>
            <a:off x="4773168" y="2529840"/>
            <a:ext cx="6400800" cy="563880"/>
          </a:xfrm>
          <a:prstGeom prst="rect">
            <a:avLst/>
          </a:prstGeom>
          <a:noFill/>
        </p:spPr>
        <p:txBody>
          <a:bodyPr wrap="square" anchor="ctr">
            <a:spAutoFit/>
          </a:bodyPr>
          <a:lstStyle/>
          <a:p>
            <a:pPr algn="l">
              <a:spcAft>
                <a:spcPts val="300"/>
              </a:spcAft>
            </a:pPr>
            <a:r>
              <a:rPr sz="1100" b="1">
                <a:solidFill>
                  <a:srgbClr val="10B981"/>
                </a:solidFill>
                <a:latin typeface="Arial"/>
              </a:rPr>
              <a:t>TITLE / DESIGNATION</a:t>
            </a:r>
          </a:p>
          <a:p>
            <a:pPr algn="l">
              <a:spcAft>
                <a:spcPts val="300"/>
              </a:spcAft>
            </a:pPr>
            <a:r>
              <a:rPr sz="1300" b="0">
                <a:solidFill>
                  <a:srgbClr val="E2E8F0"/>
                </a:solidFill>
                <a:latin typeface="Arial"/>
              </a:rPr>
              <a:t>____________________________________________</a:t>
            </a:r>
          </a:p>
        </p:txBody>
      </p:sp>
      <p:sp>
        <p:nvSpPr>
          <p:cNvPr id="19" name="Rectangle 18"/>
          <p:cNvSpPr/>
          <p:nvPr/>
        </p:nvSpPr>
        <p:spPr>
          <a:xfrm>
            <a:off x="4480560" y="3276600"/>
            <a:ext cx="6949440" cy="563880"/>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0" name="Rectangle 19"/>
          <p:cNvSpPr/>
          <p:nvPr/>
        </p:nvSpPr>
        <p:spPr>
          <a:xfrm>
            <a:off x="4480560" y="3276600"/>
            <a:ext cx="91440" cy="563880"/>
          </a:xfrm>
          <a:prstGeom prst="rect">
            <a:avLst/>
          </a:prstGeom>
          <a:solidFill>
            <a:srgbClr val="7C3AE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1" name="TextBox 20"/>
          <p:cNvSpPr txBox="1"/>
          <p:nvPr/>
        </p:nvSpPr>
        <p:spPr>
          <a:xfrm>
            <a:off x="4773168" y="3276600"/>
            <a:ext cx="6400800" cy="563880"/>
          </a:xfrm>
          <a:prstGeom prst="rect">
            <a:avLst/>
          </a:prstGeom>
          <a:noFill/>
        </p:spPr>
        <p:txBody>
          <a:bodyPr wrap="square" anchor="ctr">
            <a:spAutoFit/>
          </a:bodyPr>
          <a:lstStyle/>
          <a:p>
            <a:pPr algn="l">
              <a:spcAft>
                <a:spcPts val="300"/>
              </a:spcAft>
            </a:pPr>
            <a:r>
              <a:rPr sz="1100" b="1">
                <a:solidFill>
                  <a:srgbClr val="7C3AED"/>
                </a:solidFill>
                <a:latin typeface="Arial"/>
              </a:rPr>
              <a:t>QUALIFICATIONS</a:t>
            </a:r>
          </a:p>
          <a:p>
            <a:pPr algn="l">
              <a:spcAft>
                <a:spcPts val="300"/>
              </a:spcAft>
            </a:pPr>
            <a:r>
              <a:rPr sz="1300" b="0">
                <a:solidFill>
                  <a:srgbClr val="E2E8F0"/>
                </a:solidFill>
                <a:latin typeface="Arial"/>
              </a:rPr>
              <a:t>____________________________________________</a:t>
            </a:r>
          </a:p>
        </p:txBody>
      </p:sp>
      <p:sp>
        <p:nvSpPr>
          <p:cNvPr id="22" name="Rectangle 21"/>
          <p:cNvSpPr/>
          <p:nvPr/>
        </p:nvSpPr>
        <p:spPr>
          <a:xfrm>
            <a:off x="4480560" y="4023360"/>
            <a:ext cx="6949440" cy="563880"/>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3" name="Rectangle 22"/>
          <p:cNvSpPr/>
          <p:nvPr/>
        </p:nvSpPr>
        <p:spPr>
          <a:xfrm>
            <a:off x="4480560" y="4023360"/>
            <a:ext cx="91440" cy="563880"/>
          </a:xfrm>
          <a:prstGeom prst="rect">
            <a:avLst/>
          </a:prstGeom>
          <a:solidFill>
            <a:srgbClr val="F59E0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4" name="TextBox 23"/>
          <p:cNvSpPr txBox="1"/>
          <p:nvPr/>
        </p:nvSpPr>
        <p:spPr>
          <a:xfrm>
            <a:off x="4773168" y="4023360"/>
            <a:ext cx="6400800" cy="563880"/>
          </a:xfrm>
          <a:prstGeom prst="rect">
            <a:avLst/>
          </a:prstGeom>
          <a:noFill/>
        </p:spPr>
        <p:txBody>
          <a:bodyPr wrap="square" anchor="ctr">
            <a:spAutoFit/>
          </a:bodyPr>
          <a:lstStyle/>
          <a:p>
            <a:pPr algn="l">
              <a:spcAft>
                <a:spcPts val="300"/>
              </a:spcAft>
            </a:pPr>
            <a:r>
              <a:rPr sz="1100" b="1">
                <a:solidFill>
                  <a:srgbClr val="F59E0B"/>
                </a:solidFill>
                <a:latin typeface="Arial"/>
              </a:rPr>
              <a:t>AREAS OF EXPERTISE</a:t>
            </a:r>
          </a:p>
          <a:p>
            <a:pPr algn="l">
              <a:spcAft>
                <a:spcPts val="300"/>
              </a:spcAft>
            </a:pPr>
            <a:r>
              <a:rPr sz="1300" b="0">
                <a:solidFill>
                  <a:srgbClr val="E2E8F0"/>
                </a:solidFill>
                <a:latin typeface="Arial"/>
              </a:rPr>
              <a:t>____________________________________________</a:t>
            </a:r>
          </a:p>
        </p:txBody>
      </p:sp>
      <p:sp>
        <p:nvSpPr>
          <p:cNvPr id="25" name="Rectangle 24"/>
          <p:cNvSpPr/>
          <p:nvPr/>
        </p:nvSpPr>
        <p:spPr>
          <a:xfrm>
            <a:off x="4480560" y="4770120"/>
            <a:ext cx="6949440" cy="563880"/>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6" name="Rectangle 25"/>
          <p:cNvSpPr/>
          <p:nvPr/>
        </p:nvSpPr>
        <p:spPr>
          <a:xfrm>
            <a:off x="4480560" y="4770120"/>
            <a:ext cx="91440" cy="563880"/>
          </a:xfrm>
          <a:prstGeom prst="rect">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7" name="TextBox 26"/>
          <p:cNvSpPr txBox="1"/>
          <p:nvPr/>
        </p:nvSpPr>
        <p:spPr>
          <a:xfrm>
            <a:off x="4773168" y="4770120"/>
            <a:ext cx="6400800" cy="563880"/>
          </a:xfrm>
          <a:prstGeom prst="rect">
            <a:avLst/>
          </a:prstGeom>
          <a:noFill/>
        </p:spPr>
        <p:txBody>
          <a:bodyPr wrap="square" anchor="ctr">
            <a:spAutoFit/>
          </a:bodyPr>
          <a:lstStyle/>
          <a:p>
            <a:pPr algn="l">
              <a:spcAft>
                <a:spcPts val="300"/>
              </a:spcAft>
            </a:pPr>
            <a:r>
              <a:rPr sz="1100" b="1">
                <a:solidFill>
                  <a:srgbClr val="1F6FEB"/>
                </a:solidFill>
                <a:latin typeface="Arial"/>
              </a:rPr>
              <a:t>TRAINING &amp; INDUSTRY EXPERIENCE</a:t>
            </a:r>
          </a:p>
          <a:p>
            <a:pPr algn="l">
              <a:spcAft>
                <a:spcPts val="300"/>
              </a:spcAft>
            </a:pPr>
            <a:r>
              <a:rPr sz="1300" b="0">
                <a:solidFill>
                  <a:srgbClr val="E2E8F0"/>
                </a:solidFill>
                <a:latin typeface="Arial"/>
              </a:rPr>
              <a:t>____________________________________________</a:t>
            </a:r>
          </a:p>
        </p:txBody>
      </p:sp>
      <p:sp>
        <p:nvSpPr>
          <p:cNvPr id="28" name="Rectangle 27"/>
          <p:cNvSpPr/>
          <p:nvPr/>
        </p:nvSpPr>
        <p:spPr>
          <a:xfrm>
            <a:off x="4480560" y="5516880"/>
            <a:ext cx="6949440" cy="563880"/>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9" name="Rectangle 28"/>
          <p:cNvSpPr/>
          <p:nvPr/>
        </p:nvSpPr>
        <p:spPr>
          <a:xfrm>
            <a:off x="4480560" y="5516880"/>
            <a:ext cx="91440" cy="563880"/>
          </a:xfrm>
          <a:prstGeom prst="rect">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0" name="TextBox 29"/>
          <p:cNvSpPr txBox="1"/>
          <p:nvPr/>
        </p:nvSpPr>
        <p:spPr>
          <a:xfrm>
            <a:off x="4773168" y="5516880"/>
            <a:ext cx="6400800" cy="563880"/>
          </a:xfrm>
          <a:prstGeom prst="rect">
            <a:avLst/>
          </a:prstGeom>
          <a:noFill/>
        </p:spPr>
        <p:txBody>
          <a:bodyPr wrap="square" anchor="ctr">
            <a:spAutoFit/>
          </a:bodyPr>
          <a:lstStyle/>
          <a:p>
            <a:pPr algn="l">
              <a:spcAft>
                <a:spcPts val="300"/>
              </a:spcAft>
            </a:pPr>
            <a:r>
              <a:rPr sz="1100" b="1">
                <a:solidFill>
                  <a:srgbClr val="10B981"/>
                </a:solidFill>
                <a:latin typeface="Arial"/>
              </a:rPr>
              <a:t>CONTACT</a:t>
            </a:r>
          </a:p>
          <a:p>
            <a:pPr algn="l">
              <a:spcAft>
                <a:spcPts val="300"/>
              </a:spcAft>
            </a:pPr>
            <a:r>
              <a:rPr sz="1300" b="0">
                <a:solidFill>
                  <a:srgbClr val="E2E8F0"/>
                </a:solidFill>
                <a:latin typeface="Arial"/>
              </a:rPr>
              <a:t>____________________________________________</a:t>
            </a:r>
          </a:p>
        </p:txBody>
      </p:sp>
      <p:sp>
        <p:nvSpPr>
          <p:cNvPr id="31" name="TextBox 30"/>
          <p:cNvSpPr txBox="1"/>
          <p:nvPr/>
        </p:nvSpPr>
        <p:spPr>
          <a:xfrm>
            <a:off x="365760" y="6446520"/>
            <a:ext cx="6858000" cy="320040"/>
          </a:xfrm>
          <a:prstGeom prst="rect">
            <a:avLst/>
          </a:prstGeom>
          <a:noFill/>
        </p:spPr>
        <p:txBody>
          <a:bodyPr wrap="square" anchor="t">
            <a:spAutoFit/>
          </a:bodyPr>
          <a:lstStyle/>
          <a:p>
            <a:pPr algn="l">
              <a:spcAft>
                <a:spcPts val="400"/>
              </a:spcAft>
            </a:pPr>
            <a:r>
              <a:rPr sz="900" b="0">
                <a:solidFill>
                  <a:srgbClr val="5B6372"/>
                </a:solidFill>
                <a:latin typeface="Arial"/>
              </a:rPr>
              <a:t>Securing the Future with Quantum Computing and Cryptography  ·  TGS-2024043419</a:t>
            </a:r>
          </a:p>
        </p:txBody>
      </p:sp>
      <p:sp>
        <p:nvSpPr>
          <p:cNvPr id="32" name="TextBox 31"/>
          <p:cNvSpPr txBox="1"/>
          <p:nvPr/>
        </p:nvSpPr>
        <p:spPr>
          <a:xfrm>
            <a:off x="4572000" y="6446520"/>
            <a:ext cx="3017520" cy="320040"/>
          </a:xfrm>
          <a:prstGeom prst="rect">
            <a:avLst/>
          </a:prstGeom>
          <a:noFill/>
        </p:spPr>
        <p:txBody>
          <a:bodyPr wrap="square" anchor="t">
            <a:spAutoFit/>
          </a:bodyPr>
          <a:lstStyle/>
          <a:p>
            <a:pPr algn="ctr">
              <a:spcAft>
                <a:spcPts val="400"/>
              </a:spcAft>
            </a:pPr>
            <a:r>
              <a:rPr sz="900" b="0">
                <a:solidFill>
                  <a:srgbClr val="5B6372"/>
                </a:solidFill>
                <a:latin typeface="Arial"/>
              </a:rPr>
              <a:t>© 2026 Tertiary Infotech Academy Pte Ltd</a:t>
            </a:r>
          </a:p>
        </p:txBody>
      </p:sp>
      <p:sp>
        <p:nvSpPr>
          <p:cNvPr id="33" name="TextBox 32"/>
          <p:cNvSpPr txBox="1"/>
          <p:nvPr/>
        </p:nvSpPr>
        <p:spPr>
          <a:xfrm>
            <a:off x="11338560" y="6446520"/>
            <a:ext cx="548640" cy="320040"/>
          </a:xfrm>
          <a:prstGeom prst="rect">
            <a:avLst/>
          </a:prstGeom>
          <a:noFill/>
        </p:spPr>
        <p:txBody>
          <a:bodyPr wrap="square" anchor="t">
            <a:spAutoFit/>
          </a:bodyPr>
          <a:lstStyle/>
          <a:p>
            <a:pPr algn="r">
              <a:spcAft>
                <a:spcPts val="400"/>
              </a:spcAft>
            </a:pPr>
            <a:r>
              <a:rPr sz="900" b="0">
                <a:solidFill>
                  <a:srgbClr val="5B6372"/>
                </a:solidFill>
                <a:latin typeface="Arial"/>
              </a:rPr>
              <a:t>3</a:t>
            </a:r>
          </a:p>
        </p:txBody>
      </p:sp>
    </p:spTree>
  </p:cSld>
  <p:clrMapOvr>
    <a:masterClrMapping/>
  </p:clrMapOvr>
</p:sld>
</file>

<file path=ppt/slides/slide5.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256032" cy="1417320"/>
          </a:xfrm>
          <a:prstGeom prst="rect">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777240" y="457200"/>
            <a:ext cx="10607040" cy="365760"/>
          </a:xfrm>
          <a:prstGeom prst="rect">
            <a:avLst/>
          </a:prstGeom>
          <a:noFill/>
        </p:spPr>
        <p:txBody>
          <a:bodyPr wrap="square" anchor="t">
            <a:spAutoFit/>
          </a:bodyPr>
          <a:lstStyle/>
          <a:p>
            <a:pPr algn="l">
              <a:spcAft>
                <a:spcPts val="400"/>
              </a:spcAft>
            </a:pPr>
            <a:r>
              <a:rPr sz="1400" b="1">
                <a:solidFill>
                  <a:srgbClr val="1F6FEB"/>
                </a:solidFill>
                <a:latin typeface="Arial"/>
              </a:rPr>
              <a:t>YOUR TRAINER</a:t>
            </a:r>
          </a:p>
        </p:txBody>
      </p:sp>
      <p:sp>
        <p:nvSpPr>
          <p:cNvPr id="5" name="TextBox 4"/>
          <p:cNvSpPr txBox="1"/>
          <p:nvPr/>
        </p:nvSpPr>
        <p:spPr>
          <a:xfrm>
            <a:off x="777240" y="822960"/>
            <a:ext cx="10881360" cy="822960"/>
          </a:xfrm>
          <a:prstGeom prst="rect">
            <a:avLst/>
          </a:prstGeom>
          <a:noFill/>
        </p:spPr>
        <p:txBody>
          <a:bodyPr wrap="square" anchor="t">
            <a:spAutoFit/>
          </a:bodyPr>
          <a:lstStyle/>
          <a:p>
            <a:pPr algn="l">
              <a:spcAft>
                <a:spcPts val="400"/>
              </a:spcAft>
            </a:pPr>
            <a:r>
              <a:rPr sz="2900" b="1">
                <a:solidFill>
                  <a:srgbClr val="161B26"/>
                </a:solidFill>
                <a:latin typeface="Arial"/>
              </a:rPr>
              <a:t>About the Trainer</a:t>
            </a:r>
          </a:p>
        </p:txBody>
      </p:sp>
      <p:sp>
        <p:nvSpPr>
          <p:cNvPr id="6" name="Rectangle 5"/>
          <p:cNvSpPr/>
          <p:nvPr/>
        </p:nvSpPr>
        <p:spPr>
          <a:xfrm>
            <a:off x="777240" y="1554480"/>
            <a:ext cx="10634472" cy="18288"/>
          </a:xfrm>
          <a:prstGeom prst="rect">
            <a:avLst/>
          </a:prstGeom>
          <a:solidFill>
            <a:srgbClr val="E2E8F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Rectangle 6"/>
          <p:cNvSpPr/>
          <p:nvPr/>
        </p:nvSpPr>
        <p:spPr>
          <a:xfrm>
            <a:off x="777240" y="1783080"/>
            <a:ext cx="3337560" cy="4297680"/>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Rectangle 7"/>
          <p:cNvSpPr/>
          <p:nvPr/>
        </p:nvSpPr>
        <p:spPr>
          <a:xfrm>
            <a:off x="777240" y="1783080"/>
            <a:ext cx="3337560" cy="109728"/>
          </a:xfrm>
          <a:prstGeom prst="rect">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Oval 8"/>
          <p:cNvSpPr/>
          <p:nvPr/>
        </p:nvSpPr>
        <p:spPr>
          <a:xfrm>
            <a:off x="1668780" y="2286000"/>
            <a:ext cx="1554480" cy="1554480"/>
          </a:xfrm>
          <a:prstGeom prst="ellipse">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TextBox 9"/>
          <p:cNvSpPr txBox="1"/>
          <p:nvPr/>
        </p:nvSpPr>
        <p:spPr>
          <a:xfrm>
            <a:off x="1668780" y="2286000"/>
            <a:ext cx="1554480" cy="1554480"/>
          </a:xfrm>
          <a:prstGeom prst="rect">
            <a:avLst/>
          </a:prstGeom>
          <a:noFill/>
        </p:spPr>
        <p:txBody>
          <a:bodyPr wrap="square" anchor="ctr">
            <a:spAutoFit/>
          </a:bodyPr>
          <a:lstStyle/>
          <a:p>
            <a:pPr algn="ctr">
              <a:spcAft>
                <a:spcPts val="400"/>
              </a:spcAft>
            </a:pPr>
            <a:r>
              <a:rPr sz="4400" b="1">
                <a:solidFill>
                  <a:srgbClr val="FFFFFF"/>
                </a:solidFill>
                <a:latin typeface="Arial"/>
              </a:rPr>
              <a:t>AA</a:t>
            </a:r>
          </a:p>
        </p:txBody>
      </p:sp>
      <p:sp>
        <p:nvSpPr>
          <p:cNvPr id="11" name="TextBox 10"/>
          <p:cNvSpPr txBox="1"/>
          <p:nvPr/>
        </p:nvSpPr>
        <p:spPr>
          <a:xfrm>
            <a:off x="914400" y="4160520"/>
            <a:ext cx="3063240" cy="548640"/>
          </a:xfrm>
          <a:prstGeom prst="rect">
            <a:avLst/>
          </a:prstGeom>
          <a:noFill/>
        </p:spPr>
        <p:txBody>
          <a:bodyPr wrap="square" anchor="t">
            <a:spAutoFit/>
          </a:bodyPr>
          <a:lstStyle/>
          <a:p>
            <a:pPr algn="ctr">
              <a:spcAft>
                <a:spcPts val="400"/>
              </a:spcAft>
            </a:pPr>
            <a:r>
              <a:rPr sz="2100" b="1">
                <a:solidFill>
                  <a:srgbClr val="161B26"/>
                </a:solidFill>
                <a:latin typeface="Arial"/>
              </a:rPr>
              <a:t>Dr Alfred Ang</a:t>
            </a:r>
          </a:p>
        </p:txBody>
      </p:sp>
      <p:sp>
        <p:nvSpPr>
          <p:cNvPr id="12" name="TextBox 11"/>
          <p:cNvSpPr txBox="1"/>
          <p:nvPr/>
        </p:nvSpPr>
        <p:spPr>
          <a:xfrm>
            <a:off x="914400" y="4754880"/>
            <a:ext cx="3063240" cy="1097280"/>
          </a:xfrm>
          <a:prstGeom prst="rect">
            <a:avLst/>
          </a:prstGeom>
          <a:noFill/>
        </p:spPr>
        <p:txBody>
          <a:bodyPr wrap="square" anchor="t">
            <a:spAutoFit/>
          </a:bodyPr>
          <a:lstStyle/>
          <a:p>
            <a:pPr algn="ctr">
              <a:spcAft>
                <a:spcPts val="400"/>
              </a:spcAft>
            </a:pPr>
            <a:r>
              <a:rPr sz="1300" b="0">
                <a:solidFill>
                  <a:srgbClr val="5B6372"/>
                </a:solidFill>
                <a:latin typeface="Arial"/>
              </a:rPr>
              <a:t>Principal Trainer
Tertiary Infotech Academy Pte Ltd</a:t>
            </a:r>
          </a:p>
        </p:txBody>
      </p:sp>
      <p:sp>
        <p:nvSpPr>
          <p:cNvPr id="13" name="Rectangle 12"/>
          <p:cNvSpPr/>
          <p:nvPr/>
        </p:nvSpPr>
        <p:spPr>
          <a:xfrm>
            <a:off x="4480560" y="1783080"/>
            <a:ext cx="6949440" cy="713232"/>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 name="Rectangle 13"/>
          <p:cNvSpPr/>
          <p:nvPr/>
        </p:nvSpPr>
        <p:spPr>
          <a:xfrm>
            <a:off x="4480560" y="1783080"/>
            <a:ext cx="91440" cy="713232"/>
          </a:xfrm>
          <a:prstGeom prst="rect">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5" name="TextBox 14"/>
          <p:cNvSpPr txBox="1"/>
          <p:nvPr/>
        </p:nvSpPr>
        <p:spPr>
          <a:xfrm>
            <a:off x="4773168" y="1783080"/>
            <a:ext cx="6400800" cy="713232"/>
          </a:xfrm>
          <a:prstGeom prst="rect">
            <a:avLst/>
          </a:prstGeom>
          <a:noFill/>
        </p:spPr>
        <p:txBody>
          <a:bodyPr wrap="square" anchor="ctr">
            <a:spAutoFit/>
          </a:bodyPr>
          <a:lstStyle/>
          <a:p>
            <a:pPr algn="l">
              <a:spcAft>
                <a:spcPts val="300"/>
              </a:spcAft>
            </a:pPr>
            <a:r>
              <a:rPr sz="1100" b="1">
                <a:solidFill>
                  <a:srgbClr val="1F6FEB"/>
                </a:solidFill>
                <a:latin typeface="Arial"/>
              </a:rPr>
              <a:t>ROLE</a:t>
            </a:r>
          </a:p>
          <a:p>
            <a:pPr algn="l">
              <a:spcAft>
                <a:spcPts val="300"/>
              </a:spcAft>
            </a:pPr>
            <a:r>
              <a:rPr sz="1400" b="0">
                <a:solidFill>
                  <a:srgbClr val="161B26"/>
                </a:solidFill>
                <a:latin typeface="Arial"/>
              </a:rPr>
              <a:t>Principal Trainer, Tertiary Infotech Academy Pte Ltd</a:t>
            </a:r>
          </a:p>
        </p:txBody>
      </p:sp>
      <p:sp>
        <p:nvSpPr>
          <p:cNvPr id="16" name="Rectangle 15"/>
          <p:cNvSpPr/>
          <p:nvPr/>
        </p:nvSpPr>
        <p:spPr>
          <a:xfrm>
            <a:off x="4480560" y="2679192"/>
            <a:ext cx="6949440" cy="713232"/>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7" name="Rectangle 16"/>
          <p:cNvSpPr/>
          <p:nvPr/>
        </p:nvSpPr>
        <p:spPr>
          <a:xfrm>
            <a:off x="4480560" y="2679192"/>
            <a:ext cx="91440" cy="713232"/>
          </a:xfrm>
          <a:prstGeom prst="rect">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8" name="TextBox 17"/>
          <p:cNvSpPr txBox="1"/>
          <p:nvPr/>
        </p:nvSpPr>
        <p:spPr>
          <a:xfrm>
            <a:off x="4773168" y="2679192"/>
            <a:ext cx="6400800" cy="713232"/>
          </a:xfrm>
          <a:prstGeom prst="rect">
            <a:avLst/>
          </a:prstGeom>
          <a:noFill/>
        </p:spPr>
        <p:txBody>
          <a:bodyPr wrap="square" anchor="ctr">
            <a:spAutoFit/>
          </a:bodyPr>
          <a:lstStyle/>
          <a:p>
            <a:pPr algn="l">
              <a:spcAft>
                <a:spcPts val="300"/>
              </a:spcAft>
            </a:pPr>
            <a:r>
              <a:rPr sz="1100" b="1">
                <a:solidFill>
                  <a:srgbClr val="10B981"/>
                </a:solidFill>
                <a:latin typeface="Arial"/>
              </a:rPr>
              <a:t>QUALIFICATIONS</a:t>
            </a:r>
          </a:p>
          <a:p>
            <a:pPr algn="l">
              <a:spcAft>
                <a:spcPts val="300"/>
              </a:spcAft>
            </a:pPr>
            <a:r>
              <a:rPr sz="1400" b="0">
                <a:solidFill>
                  <a:srgbClr val="161B26"/>
                </a:solidFill>
                <a:latin typeface="Arial"/>
              </a:rPr>
              <a:t>PhD; ACTA / DACE certified adult educator.</a:t>
            </a:r>
          </a:p>
        </p:txBody>
      </p:sp>
      <p:sp>
        <p:nvSpPr>
          <p:cNvPr id="19" name="Rectangle 18"/>
          <p:cNvSpPr/>
          <p:nvPr/>
        </p:nvSpPr>
        <p:spPr>
          <a:xfrm>
            <a:off x="4480560" y="3575304"/>
            <a:ext cx="6949440" cy="713232"/>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0" name="Rectangle 19"/>
          <p:cNvSpPr/>
          <p:nvPr/>
        </p:nvSpPr>
        <p:spPr>
          <a:xfrm>
            <a:off x="4480560" y="3575304"/>
            <a:ext cx="91440" cy="713232"/>
          </a:xfrm>
          <a:prstGeom prst="rect">
            <a:avLst/>
          </a:prstGeom>
          <a:solidFill>
            <a:srgbClr val="7C3AE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1" name="TextBox 20"/>
          <p:cNvSpPr txBox="1"/>
          <p:nvPr/>
        </p:nvSpPr>
        <p:spPr>
          <a:xfrm>
            <a:off x="4773168" y="3575304"/>
            <a:ext cx="6400800" cy="713232"/>
          </a:xfrm>
          <a:prstGeom prst="rect">
            <a:avLst/>
          </a:prstGeom>
          <a:noFill/>
        </p:spPr>
        <p:txBody>
          <a:bodyPr wrap="square" anchor="ctr">
            <a:spAutoFit/>
          </a:bodyPr>
          <a:lstStyle/>
          <a:p>
            <a:pPr algn="l">
              <a:spcAft>
                <a:spcPts val="300"/>
              </a:spcAft>
            </a:pPr>
            <a:r>
              <a:rPr sz="1100" b="1">
                <a:solidFill>
                  <a:srgbClr val="7C3AED"/>
                </a:solidFill>
                <a:latin typeface="Arial"/>
              </a:rPr>
              <a:t>EXPERTISE</a:t>
            </a:r>
          </a:p>
          <a:p>
            <a:pPr algn="l">
              <a:spcAft>
                <a:spcPts val="300"/>
              </a:spcAft>
            </a:pPr>
            <a:r>
              <a:rPr sz="1400" b="0">
                <a:solidFill>
                  <a:srgbClr val="161B26"/>
                </a:solidFill>
                <a:latin typeface="Arial"/>
              </a:rPr>
              <a:t>Quantum computing, quantum cryptography, data science and AI engineering.</a:t>
            </a:r>
          </a:p>
        </p:txBody>
      </p:sp>
      <p:sp>
        <p:nvSpPr>
          <p:cNvPr id="22" name="Rectangle 21"/>
          <p:cNvSpPr/>
          <p:nvPr/>
        </p:nvSpPr>
        <p:spPr>
          <a:xfrm>
            <a:off x="4480560" y="4471416"/>
            <a:ext cx="6949440" cy="713232"/>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3" name="Rectangle 22"/>
          <p:cNvSpPr/>
          <p:nvPr/>
        </p:nvSpPr>
        <p:spPr>
          <a:xfrm>
            <a:off x="4480560" y="4471416"/>
            <a:ext cx="91440" cy="713232"/>
          </a:xfrm>
          <a:prstGeom prst="rect">
            <a:avLst/>
          </a:prstGeom>
          <a:solidFill>
            <a:srgbClr val="F59E0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4" name="TextBox 23"/>
          <p:cNvSpPr txBox="1"/>
          <p:nvPr/>
        </p:nvSpPr>
        <p:spPr>
          <a:xfrm>
            <a:off x="4773168" y="4471416"/>
            <a:ext cx="6400800" cy="713232"/>
          </a:xfrm>
          <a:prstGeom prst="rect">
            <a:avLst/>
          </a:prstGeom>
          <a:noFill/>
        </p:spPr>
        <p:txBody>
          <a:bodyPr wrap="square" anchor="ctr">
            <a:spAutoFit/>
          </a:bodyPr>
          <a:lstStyle/>
          <a:p>
            <a:pPr algn="l">
              <a:spcAft>
                <a:spcPts val="300"/>
              </a:spcAft>
            </a:pPr>
            <a:r>
              <a:rPr sz="1100" b="1">
                <a:solidFill>
                  <a:srgbClr val="F59E0B"/>
                </a:solidFill>
                <a:latin typeface="Arial"/>
              </a:rPr>
              <a:t>DELIVERS</a:t>
            </a:r>
          </a:p>
          <a:p>
            <a:pPr algn="l">
              <a:spcAft>
                <a:spcPts val="300"/>
              </a:spcAft>
            </a:pPr>
            <a:r>
              <a:rPr sz="1400" b="0">
                <a:solidFill>
                  <a:srgbClr val="161B26"/>
                </a:solidFill>
                <a:latin typeface="Arial"/>
              </a:rPr>
              <a:t>WSQ courses on quantum computing, cybersecurity and applied machine learning.</a:t>
            </a:r>
          </a:p>
        </p:txBody>
      </p:sp>
      <p:sp>
        <p:nvSpPr>
          <p:cNvPr id="25" name="Rectangle 24"/>
          <p:cNvSpPr/>
          <p:nvPr/>
        </p:nvSpPr>
        <p:spPr>
          <a:xfrm>
            <a:off x="4480560" y="5367528"/>
            <a:ext cx="6949440" cy="713232"/>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6" name="Rectangle 25"/>
          <p:cNvSpPr/>
          <p:nvPr/>
        </p:nvSpPr>
        <p:spPr>
          <a:xfrm>
            <a:off x="4480560" y="5367528"/>
            <a:ext cx="91440" cy="713232"/>
          </a:xfrm>
          <a:prstGeom prst="rect">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7" name="TextBox 26"/>
          <p:cNvSpPr txBox="1"/>
          <p:nvPr/>
        </p:nvSpPr>
        <p:spPr>
          <a:xfrm>
            <a:off x="4773168" y="5367528"/>
            <a:ext cx="6400800" cy="713232"/>
          </a:xfrm>
          <a:prstGeom prst="rect">
            <a:avLst/>
          </a:prstGeom>
          <a:noFill/>
        </p:spPr>
        <p:txBody>
          <a:bodyPr wrap="square" anchor="ctr">
            <a:spAutoFit/>
          </a:bodyPr>
          <a:lstStyle/>
          <a:p>
            <a:pPr algn="l">
              <a:spcAft>
                <a:spcPts val="300"/>
              </a:spcAft>
            </a:pPr>
            <a:r>
              <a:rPr sz="1100" b="1">
                <a:solidFill>
                  <a:srgbClr val="1F6FEB"/>
                </a:solidFill>
                <a:latin typeface="Arial"/>
              </a:rPr>
              <a:t>FOUNDER</a:t>
            </a:r>
          </a:p>
          <a:p>
            <a:pPr algn="l">
              <a:spcAft>
                <a:spcPts val="300"/>
              </a:spcAft>
            </a:pPr>
            <a:r>
              <a:rPr sz="1400" b="0">
                <a:solidFill>
                  <a:srgbClr val="161B26"/>
                </a:solidFill>
                <a:latin typeface="Arial"/>
              </a:rPr>
              <a:t>Founder and lead instructor at Tertiary Infotech / Tertiary Courses.</a:t>
            </a:r>
          </a:p>
        </p:txBody>
      </p:sp>
      <p:sp>
        <p:nvSpPr>
          <p:cNvPr id="28" name="TextBox 27"/>
          <p:cNvSpPr txBox="1"/>
          <p:nvPr/>
        </p:nvSpPr>
        <p:spPr>
          <a:xfrm>
            <a:off x="365760" y="6446520"/>
            <a:ext cx="6858000" cy="320040"/>
          </a:xfrm>
          <a:prstGeom prst="rect">
            <a:avLst/>
          </a:prstGeom>
          <a:noFill/>
        </p:spPr>
        <p:txBody>
          <a:bodyPr wrap="square" anchor="t">
            <a:spAutoFit/>
          </a:bodyPr>
          <a:lstStyle/>
          <a:p>
            <a:pPr algn="l">
              <a:spcAft>
                <a:spcPts val="400"/>
              </a:spcAft>
            </a:pPr>
            <a:r>
              <a:rPr sz="900" b="0">
                <a:solidFill>
                  <a:srgbClr val="5B6372"/>
                </a:solidFill>
                <a:latin typeface="Arial"/>
              </a:rPr>
              <a:t>Securing the Future with Quantum Computing and Cryptography  ·  TGS-2024043419</a:t>
            </a:r>
          </a:p>
        </p:txBody>
      </p:sp>
      <p:sp>
        <p:nvSpPr>
          <p:cNvPr id="29" name="TextBox 28"/>
          <p:cNvSpPr txBox="1"/>
          <p:nvPr/>
        </p:nvSpPr>
        <p:spPr>
          <a:xfrm>
            <a:off x="4572000" y="6446520"/>
            <a:ext cx="3017520" cy="320040"/>
          </a:xfrm>
          <a:prstGeom prst="rect">
            <a:avLst/>
          </a:prstGeom>
          <a:noFill/>
        </p:spPr>
        <p:txBody>
          <a:bodyPr wrap="square" anchor="t">
            <a:spAutoFit/>
          </a:bodyPr>
          <a:lstStyle/>
          <a:p>
            <a:pPr algn="ctr">
              <a:spcAft>
                <a:spcPts val="400"/>
              </a:spcAft>
            </a:pPr>
            <a:r>
              <a:rPr sz="900" b="0">
                <a:solidFill>
                  <a:srgbClr val="5B6372"/>
                </a:solidFill>
                <a:latin typeface="Arial"/>
              </a:rPr>
              <a:t>© 2026 Tertiary Infotech Academy Pte Ltd</a:t>
            </a:r>
          </a:p>
        </p:txBody>
      </p:sp>
      <p:sp>
        <p:nvSpPr>
          <p:cNvPr id="30" name="TextBox 29"/>
          <p:cNvSpPr txBox="1"/>
          <p:nvPr/>
        </p:nvSpPr>
        <p:spPr>
          <a:xfrm>
            <a:off x="11338560" y="6446520"/>
            <a:ext cx="548640" cy="320040"/>
          </a:xfrm>
          <a:prstGeom prst="rect">
            <a:avLst/>
          </a:prstGeom>
          <a:noFill/>
        </p:spPr>
        <p:txBody>
          <a:bodyPr wrap="square" anchor="t">
            <a:spAutoFit/>
          </a:bodyPr>
          <a:lstStyle/>
          <a:p>
            <a:pPr algn="r">
              <a:spcAft>
                <a:spcPts val="400"/>
              </a:spcAft>
            </a:pPr>
            <a:r>
              <a:rPr sz="900" b="0">
                <a:solidFill>
                  <a:srgbClr val="5B6372"/>
                </a:solidFill>
                <a:latin typeface="Arial"/>
              </a:rPr>
              <a:t>4</a:t>
            </a:r>
          </a:p>
        </p:txBody>
      </p:sp>
    </p:spTree>
  </p:cSld>
  <p:clrMapOvr>
    <a:masterClrMapping/>
  </p:clrMapOvr>
</p:sld>
</file>

<file path=ppt/slides/slide6.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256032" cy="1417320"/>
          </a:xfrm>
          <a:prstGeom prst="rect">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777240" y="457200"/>
            <a:ext cx="10607040" cy="365760"/>
          </a:xfrm>
          <a:prstGeom prst="rect">
            <a:avLst/>
          </a:prstGeom>
          <a:noFill/>
        </p:spPr>
        <p:txBody>
          <a:bodyPr wrap="square" anchor="t">
            <a:spAutoFit/>
          </a:bodyPr>
          <a:lstStyle/>
          <a:p>
            <a:pPr algn="l">
              <a:spcAft>
                <a:spcPts val="400"/>
              </a:spcAft>
            </a:pPr>
            <a:r>
              <a:rPr sz="1400" b="1">
                <a:solidFill>
                  <a:srgbClr val="1F6FEB"/>
                </a:solidFill>
                <a:latin typeface="Arial"/>
              </a:rPr>
              <a:t>ICE-BREAKER</a:t>
            </a:r>
          </a:p>
        </p:txBody>
      </p:sp>
      <p:sp>
        <p:nvSpPr>
          <p:cNvPr id="5" name="TextBox 4"/>
          <p:cNvSpPr txBox="1"/>
          <p:nvPr/>
        </p:nvSpPr>
        <p:spPr>
          <a:xfrm>
            <a:off x="777240" y="822960"/>
            <a:ext cx="10881360" cy="822960"/>
          </a:xfrm>
          <a:prstGeom prst="rect">
            <a:avLst/>
          </a:prstGeom>
          <a:noFill/>
        </p:spPr>
        <p:txBody>
          <a:bodyPr wrap="square" anchor="t">
            <a:spAutoFit/>
          </a:bodyPr>
          <a:lstStyle/>
          <a:p>
            <a:pPr algn="l">
              <a:spcAft>
                <a:spcPts val="400"/>
              </a:spcAft>
            </a:pPr>
            <a:r>
              <a:rPr sz="2900" b="1">
                <a:solidFill>
                  <a:srgbClr val="161B26"/>
                </a:solidFill>
                <a:latin typeface="Arial"/>
              </a:rPr>
              <a:t>Let's Know Each Other</a:t>
            </a:r>
          </a:p>
        </p:txBody>
      </p:sp>
      <p:sp>
        <p:nvSpPr>
          <p:cNvPr id="6" name="Rectangle 5"/>
          <p:cNvSpPr/>
          <p:nvPr/>
        </p:nvSpPr>
        <p:spPr>
          <a:xfrm>
            <a:off x="777240" y="1554480"/>
            <a:ext cx="10634472" cy="18288"/>
          </a:xfrm>
          <a:prstGeom prst="rect">
            <a:avLst/>
          </a:prstGeom>
          <a:solidFill>
            <a:srgbClr val="E2E8F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TextBox 6"/>
          <p:cNvSpPr txBox="1"/>
          <p:nvPr/>
        </p:nvSpPr>
        <p:spPr>
          <a:xfrm>
            <a:off x="777240" y="1783080"/>
            <a:ext cx="10607040" cy="4480560"/>
          </a:xfrm>
          <a:prstGeom prst="rect">
            <a:avLst/>
          </a:prstGeom>
          <a:noFill/>
        </p:spPr>
        <p:txBody>
          <a:bodyPr wrap="square">
            <a:spAutoFit/>
          </a:bodyPr>
          <a:lstStyle/>
          <a:p>
            <a:pPr>
              <a:spcAft>
                <a:spcPts val="1000"/>
              </a:spcAft>
            </a:pPr>
            <a:r>
              <a:rPr sz="1900">
                <a:solidFill>
                  <a:srgbClr val="161B26"/>
                </a:solidFill>
                <a:latin typeface="Arial"/>
              </a:rPr>
              <a:t>•  Your name, organisation and role.</a:t>
            </a:r>
          </a:p>
          <a:p>
            <a:pPr>
              <a:spcAft>
                <a:spcPts val="1000"/>
              </a:spcAft>
            </a:pPr>
            <a:r>
              <a:rPr sz="1900">
                <a:solidFill>
                  <a:srgbClr val="161B26"/>
                </a:solidFill>
                <a:latin typeface="Arial"/>
              </a:rPr>
              <a:t>•  Your background in physics, mathematics or programming (if any).</a:t>
            </a:r>
          </a:p>
          <a:p>
            <a:pPr>
              <a:spcAft>
                <a:spcPts val="1000"/>
              </a:spcAft>
            </a:pPr>
            <a:r>
              <a:rPr sz="1900">
                <a:solidFill>
                  <a:srgbClr val="161B26"/>
                </a:solidFill>
                <a:latin typeface="Arial"/>
              </a:rPr>
              <a:t>•  What you want to be able to do with quantum computing after this course.</a:t>
            </a:r>
          </a:p>
        </p:txBody>
      </p:sp>
      <p:sp>
        <p:nvSpPr>
          <p:cNvPr id="8" name="TextBox 7"/>
          <p:cNvSpPr txBox="1"/>
          <p:nvPr/>
        </p:nvSpPr>
        <p:spPr>
          <a:xfrm>
            <a:off x="365760" y="6446520"/>
            <a:ext cx="6858000" cy="320040"/>
          </a:xfrm>
          <a:prstGeom prst="rect">
            <a:avLst/>
          </a:prstGeom>
          <a:noFill/>
        </p:spPr>
        <p:txBody>
          <a:bodyPr wrap="square" anchor="t">
            <a:spAutoFit/>
          </a:bodyPr>
          <a:lstStyle/>
          <a:p>
            <a:pPr algn="l">
              <a:spcAft>
                <a:spcPts val="400"/>
              </a:spcAft>
            </a:pPr>
            <a:r>
              <a:rPr sz="900" b="0">
                <a:solidFill>
                  <a:srgbClr val="5B6372"/>
                </a:solidFill>
                <a:latin typeface="Arial"/>
              </a:rPr>
              <a:t>Securing the Future with Quantum Computing and Cryptography  ·  TGS-2024043419</a:t>
            </a:r>
          </a:p>
        </p:txBody>
      </p:sp>
      <p:sp>
        <p:nvSpPr>
          <p:cNvPr id="9" name="TextBox 8"/>
          <p:cNvSpPr txBox="1"/>
          <p:nvPr/>
        </p:nvSpPr>
        <p:spPr>
          <a:xfrm>
            <a:off x="4572000" y="6446520"/>
            <a:ext cx="3017520" cy="320040"/>
          </a:xfrm>
          <a:prstGeom prst="rect">
            <a:avLst/>
          </a:prstGeom>
          <a:noFill/>
        </p:spPr>
        <p:txBody>
          <a:bodyPr wrap="square" anchor="t">
            <a:spAutoFit/>
          </a:bodyPr>
          <a:lstStyle/>
          <a:p>
            <a:pPr algn="ctr">
              <a:spcAft>
                <a:spcPts val="400"/>
              </a:spcAft>
            </a:pPr>
            <a:r>
              <a:rPr sz="900" b="0">
                <a:solidFill>
                  <a:srgbClr val="5B6372"/>
                </a:solidFill>
                <a:latin typeface="Arial"/>
              </a:rPr>
              <a:t>© 2026 Tertiary Infotech Academy Pte Ltd</a:t>
            </a:r>
          </a:p>
        </p:txBody>
      </p:sp>
      <p:sp>
        <p:nvSpPr>
          <p:cNvPr id="10" name="TextBox 9"/>
          <p:cNvSpPr txBox="1"/>
          <p:nvPr/>
        </p:nvSpPr>
        <p:spPr>
          <a:xfrm>
            <a:off x="11338560" y="6446520"/>
            <a:ext cx="548640" cy="320040"/>
          </a:xfrm>
          <a:prstGeom prst="rect">
            <a:avLst/>
          </a:prstGeom>
          <a:noFill/>
        </p:spPr>
        <p:txBody>
          <a:bodyPr wrap="square" anchor="t">
            <a:spAutoFit/>
          </a:bodyPr>
          <a:lstStyle/>
          <a:p>
            <a:pPr algn="r">
              <a:spcAft>
                <a:spcPts val="400"/>
              </a:spcAft>
            </a:pPr>
            <a:r>
              <a:rPr sz="900" b="0">
                <a:solidFill>
                  <a:srgbClr val="5B6372"/>
                </a:solidFill>
                <a:latin typeface="Arial"/>
              </a:rPr>
              <a:t>5</a:t>
            </a:r>
          </a:p>
        </p:txBody>
      </p:sp>
    </p:spTree>
  </p:cSld>
  <p:clrMapOvr>
    <a:masterClrMapping/>
  </p:clrMapOvr>
</p:sld>
</file>

<file path=ppt/slides/slide7.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256032" cy="1417320"/>
          </a:xfrm>
          <a:prstGeom prst="rect">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777240" y="457200"/>
            <a:ext cx="10607040" cy="365760"/>
          </a:xfrm>
          <a:prstGeom prst="rect">
            <a:avLst/>
          </a:prstGeom>
          <a:noFill/>
        </p:spPr>
        <p:txBody>
          <a:bodyPr wrap="square" anchor="t">
            <a:spAutoFit/>
          </a:bodyPr>
          <a:lstStyle/>
          <a:p>
            <a:pPr algn="l">
              <a:spcAft>
                <a:spcPts val="400"/>
              </a:spcAft>
            </a:pPr>
            <a:r>
              <a:rPr sz="1400" b="1">
                <a:solidFill>
                  <a:srgbClr val="1F6FEB"/>
                </a:solidFill>
                <a:latin typeface="Arial"/>
              </a:rPr>
              <a:t>HOUSEKEEPING</a:t>
            </a:r>
          </a:p>
        </p:txBody>
      </p:sp>
      <p:sp>
        <p:nvSpPr>
          <p:cNvPr id="5" name="TextBox 4"/>
          <p:cNvSpPr txBox="1"/>
          <p:nvPr/>
        </p:nvSpPr>
        <p:spPr>
          <a:xfrm>
            <a:off x="777240" y="822960"/>
            <a:ext cx="10881360" cy="822960"/>
          </a:xfrm>
          <a:prstGeom prst="rect">
            <a:avLst/>
          </a:prstGeom>
          <a:noFill/>
        </p:spPr>
        <p:txBody>
          <a:bodyPr wrap="square" anchor="t">
            <a:spAutoFit/>
          </a:bodyPr>
          <a:lstStyle/>
          <a:p>
            <a:pPr algn="l">
              <a:spcAft>
                <a:spcPts val="400"/>
              </a:spcAft>
            </a:pPr>
            <a:r>
              <a:rPr sz="2900" b="1">
                <a:solidFill>
                  <a:srgbClr val="161B26"/>
                </a:solidFill>
                <a:latin typeface="Arial"/>
              </a:rPr>
              <a:t>Ground Rules</a:t>
            </a:r>
          </a:p>
        </p:txBody>
      </p:sp>
      <p:sp>
        <p:nvSpPr>
          <p:cNvPr id="6" name="Rectangle 5"/>
          <p:cNvSpPr/>
          <p:nvPr/>
        </p:nvSpPr>
        <p:spPr>
          <a:xfrm>
            <a:off x="777240" y="1554480"/>
            <a:ext cx="10634472" cy="18288"/>
          </a:xfrm>
          <a:prstGeom prst="rect">
            <a:avLst/>
          </a:prstGeom>
          <a:solidFill>
            <a:srgbClr val="E2E8F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Rectangle 6"/>
          <p:cNvSpPr/>
          <p:nvPr/>
        </p:nvSpPr>
        <p:spPr>
          <a:xfrm>
            <a:off x="777240" y="1783080"/>
            <a:ext cx="5180076" cy="1298448"/>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Rectangle 7"/>
          <p:cNvSpPr/>
          <p:nvPr/>
        </p:nvSpPr>
        <p:spPr>
          <a:xfrm>
            <a:off x="777240" y="1783080"/>
            <a:ext cx="91440" cy="1298448"/>
          </a:xfrm>
          <a:prstGeom prst="rect">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Oval 8"/>
          <p:cNvSpPr/>
          <p:nvPr/>
        </p:nvSpPr>
        <p:spPr>
          <a:xfrm>
            <a:off x="1033272" y="2157984"/>
            <a:ext cx="548640" cy="548640"/>
          </a:xfrm>
          <a:prstGeom prst="ellipse">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TextBox 9"/>
          <p:cNvSpPr txBox="1"/>
          <p:nvPr/>
        </p:nvSpPr>
        <p:spPr>
          <a:xfrm>
            <a:off x="1033272" y="2157984"/>
            <a:ext cx="548640" cy="548640"/>
          </a:xfrm>
          <a:prstGeom prst="rect">
            <a:avLst/>
          </a:prstGeom>
          <a:noFill/>
        </p:spPr>
        <p:txBody>
          <a:bodyPr wrap="square" anchor="ctr">
            <a:spAutoFit/>
          </a:bodyPr>
          <a:lstStyle/>
          <a:p>
            <a:pPr algn="ctr">
              <a:spcAft>
                <a:spcPts val="400"/>
              </a:spcAft>
            </a:pPr>
            <a:r>
              <a:rPr sz="1800" b="1">
                <a:solidFill>
                  <a:srgbClr val="FFFFFF"/>
                </a:solidFill>
                <a:latin typeface="Arial"/>
              </a:rPr>
              <a:t>1</a:t>
            </a:r>
          </a:p>
        </p:txBody>
      </p:sp>
      <p:sp>
        <p:nvSpPr>
          <p:cNvPr id="11" name="TextBox 10"/>
          <p:cNvSpPr txBox="1"/>
          <p:nvPr/>
        </p:nvSpPr>
        <p:spPr>
          <a:xfrm>
            <a:off x="1764792" y="1874520"/>
            <a:ext cx="3973068" cy="1152144"/>
          </a:xfrm>
          <a:prstGeom prst="rect">
            <a:avLst/>
          </a:prstGeom>
          <a:noFill/>
        </p:spPr>
        <p:txBody>
          <a:bodyPr wrap="square" anchor="ctr">
            <a:spAutoFit/>
          </a:bodyPr>
          <a:lstStyle/>
          <a:p>
            <a:pPr algn="l">
              <a:spcAft>
                <a:spcPts val="400"/>
              </a:spcAft>
            </a:pPr>
            <a:r>
              <a:rPr sz="1500" b="0">
                <a:solidFill>
                  <a:srgbClr val="161B26"/>
                </a:solidFill>
                <a:latin typeface="Arial"/>
              </a:rPr>
              <a:t>Set your mobile phone to silent mode.</a:t>
            </a:r>
          </a:p>
        </p:txBody>
      </p:sp>
      <p:sp>
        <p:nvSpPr>
          <p:cNvPr id="12" name="Rectangle 11"/>
          <p:cNvSpPr/>
          <p:nvPr/>
        </p:nvSpPr>
        <p:spPr>
          <a:xfrm>
            <a:off x="6231636" y="1783080"/>
            <a:ext cx="5180076" cy="1298448"/>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 name="Rectangle 12"/>
          <p:cNvSpPr/>
          <p:nvPr/>
        </p:nvSpPr>
        <p:spPr>
          <a:xfrm>
            <a:off x="6231636" y="1783080"/>
            <a:ext cx="91440" cy="1298448"/>
          </a:xfrm>
          <a:prstGeom prst="rect">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 name="Oval 13"/>
          <p:cNvSpPr/>
          <p:nvPr/>
        </p:nvSpPr>
        <p:spPr>
          <a:xfrm>
            <a:off x="6487668" y="2157984"/>
            <a:ext cx="548640" cy="548640"/>
          </a:xfrm>
          <a:prstGeom prst="ellipse">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5" name="TextBox 14"/>
          <p:cNvSpPr txBox="1"/>
          <p:nvPr/>
        </p:nvSpPr>
        <p:spPr>
          <a:xfrm>
            <a:off x="6487668" y="2157984"/>
            <a:ext cx="548640" cy="548640"/>
          </a:xfrm>
          <a:prstGeom prst="rect">
            <a:avLst/>
          </a:prstGeom>
          <a:noFill/>
        </p:spPr>
        <p:txBody>
          <a:bodyPr wrap="square" anchor="ctr">
            <a:spAutoFit/>
          </a:bodyPr>
          <a:lstStyle/>
          <a:p>
            <a:pPr algn="ctr">
              <a:spcAft>
                <a:spcPts val="400"/>
              </a:spcAft>
            </a:pPr>
            <a:r>
              <a:rPr sz="1800" b="1">
                <a:solidFill>
                  <a:srgbClr val="FFFFFF"/>
                </a:solidFill>
                <a:latin typeface="Arial"/>
              </a:rPr>
              <a:t>2</a:t>
            </a:r>
          </a:p>
        </p:txBody>
      </p:sp>
      <p:sp>
        <p:nvSpPr>
          <p:cNvPr id="16" name="TextBox 15"/>
          <p:cNvSpPr txBox="1"/>
          <p:nvPr/>
        </p:nvSpPr>
        <p:spPr>
          <a:xfrm>
            <a:off x="7219188" y="1874520"/>
            <a:ext cx="3973068" cy="1152144"/>
          </a:xfrm>
          <a:prstGeom prst="rect">
            <a:avLst/>
          </a:prstGeom>
          <a:noFill/>
        </p:spPr>
        <p:txBody>
          <a:bodyPr wrap="square" anchor="ctr">
            <a:spAutoFit/>
          </a:bodyPr>
          <a:lstStyle/>
          <a:p>
            <a:pPr algn="l">
              <a:spcAft>
                <a:spcPts val="400"/>
              </a:spcAft>
            </a:pPr>
            <a:r>
              <a:rPr sz="1500" b="0">
                <a:solidFill>
                  <a:srgbClr val="161B26"/>
                </a:solidFill>
                <a:latin typeface="Arial"/>
              </a:rPr>
              <a:t>Participate actively — no question is too small.</a:t>
            </a:r>
          </a:p>
        </p:txBody>
      </p:sp>
      <p:sp>
        <p:nvSpPr>
          <p:cNvPr id="17" name="Rectangle 16"/>
          <p:cNvSpPr/>
          <p:nvPr/>
        </p:nvSpPr>
        <p:spPr>
          <a:xfrm>
            <a:off x="777240" y="3319272"/>
            <a:ext cx="5180076" cy="1298448"/>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8" name="Rectangle 17"/>
          <p:cNvSpPr/>
          <p:nvPr/>
        </p:nvSpPr>
        <p:spPr>
          <a:xfrm>
            <a:off x="777240" y="3319272"/>
            <a:ext cx="91440" cy="1298448"/>
          </a:xfrm>
          <a:prstGeom prst="rect">
            <a:avLst/>
          </a:prstGeom>
          <a:solidFill>
            <a:srgbClr val="7C3AE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9" name="Oval 18"/>
          <p:cNvSpPr/>
          <p:nvPr/>
        </p:nvSpPr>
        <p:spPr>
          <a:xfrm>
            <a:off x="1033272" y="3694176"/>
            <a:ext cx="548640" cy="548640"/>
          </a:xfrm>
          <a:prstGeom prst="ellipse">
            <a:avLst/>
          </a:prstGeom>
          <a:solidFill>
            <a:srgbClr val="7C3AE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0" name="TextBox 19"/>
          <p:cNvSpPr txBox="1"/>
          <p:nvPr/>
        </p:nvSpPr>
        <p:spPr>
          <a:xfrm>
            <a:off x="1033272" y="3694176"/>
            <a:ext cx="548640" cy="548640"/>
          </a:xfrm>
          <a:prstGeom prst="rect">
            <a:avLst/>
          </a:prstGeom>
          <a:noFill/>
        </p:spPr>
        <p:txBody>
          <a:bodyPr wrap="square" anchor="ctr">
            <a:spAutoFit/>
          </a:bodyPr>
          <a:lstStyle/>
          <a:p>
            <a:pPr algn="ctr">
              <a:spcAft>
                <a:spcPts val="400"/>
              </a:spcAft>
            </a:pPr>
            <a:r>
              <a:rPr sz="1800" b="1">
                <a:solidFill>
                  <a:srgbClr val="FFFFFF"/>
                </a:solidFill>
                <a:latin typeface="Arial"/>
              </a:rPr>
              <a:t>3</a:t>
            </a:r>
          </a:p>
        </p:txBody>
      </p:sp>
      <p:sp>
        <p:nvSpPr>
          <p:cNvPr id="21" name="TextBox 20"/>
          <p:cNvSpPr txBox="1"/>
          <p:nvPr/>
        </p:nvSpPr>
        <p:spPr>
          <a:xfrm>
            <a:off x="1764792" y="3410712"/>
            <a:ext cx="3973068" cy="1152144"/>
          </a:xfrm>
          <a:prstGeom prst="rect">
            <a:avLst/>
          </a:prstGeom>
          <a:noFill/>
        </p:spPr>
        <p:txBody>
          <a:bodyPr wrap="square" anchor="ctr">
            <a:spAutoFit/>
          </a:bodyPr>
          <a:lstStyle/>
          <a:p>
            <a:pPr algn="l">
              <a:spcAft>
                <a:spcPts val="400"/>
              </a:spcAft>
            </a:pPr>
            <a:r>
              <a:rPr sz="1500" b="0">
                <a:solidFill>
                  <a:srgbClr val="161B26"/>
                </a:solidFill>
                <a:latin typeface="Arial"/>
              </a:rPr>
              <a:t>Mutual respect: agree to disagree.</a:t>
            </a:r>
          </a:p>
        </p:txBody>
      </p:sp>
      <p:sp>
        <p:nvSpPr>
          <p:cNvPr id="22" name="Rectangle 21"/>
          <p:cNvSpPr/>
          <p:nvPr/>
        </p:nvSpPr>
        <p:spPr>
          <a:xfrm>
            <a:off x="6231636" y="3319272"/>
            <a:ext cx="5180076" cy="1298448"/>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3" name="Rectangle 22"/>
          <p:cNvSpPr/>
          <p:nvPr/>
        </p:nvSpPr>
        <p:spPr>
          <a:xfrm>
            <a:off x="6231636" y="3319272"/>
            <a:ext cx="91440" cy="1298448"/>
          </a:xfrm>
          <a:prstGeom prst="rect">
            <a:avLst/>
          </a:prstGeom>
          <a:solidFill>
            <a:srgbClr val="F59E0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4" name="Oval 23"/>
          <p:cNvSpPr/>
          <p:nvPr/>
        </p:nvSpPr>
        <p:spPr>
          <a:xfrm>
            <a:off x="6487668" y="3694176"/>
            <a:ext cx="548640" cy="548640"/>
          </a:xfrm>
          <a:prstGeom prst="ellipse">
            <a:avLst/>
          </a:prstGeom>
          <a:solidFill>
            <a:srgbClr val="F59E0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5" name="TextBox 24"/>
          <p:cNvSpPr txBox="1"/>
          <p:nvPr/>
        </p:nvSpPr>
        <p:spPr>
          <a:xfrm>
            <a:off x="6487668" y="3694176"/>
            <a:ext cx="548640" cy="548640"/>
          </a:xfrm>
          <a:prstGeom prst="rect">
            <a:avLst/>
          </a:prstGeom>
          <a:noFill/>
        </p:spPr>
        <p:txBody>
          <a:bodyPr wrap="square" anchor="ctr">
            <a:spAutoFit/>
          </a:bodyPr>
          <a:lstStyle/>
          <a:p>
            <a:pPr algn="ctr">
              <a:spcAft>
                <a:spcPts val="400"/>
              </a:spcAft>
            </a:pPr>
            <a:r>
              <a:rPr sz="1800" b="1">
                <a:solidFill>
                  <a:srgbClr val="FFFFFF"/>
                </a:solidFill>
                <a:latin typeface="Arial"/>
              </a:rPr>
              <a:t>4</a:t>
            </a:r>
          </a:p>
        </p:txBody>
      </p:sp>
      <p:sp>
        <p:nvSpPr>
          <p:cNvPr id="26" name="TextBox 25"/>
          <p:cNvSpPr txBox="1"/>
          <p:nvPr/>
        </p:nvSpPr>
        <p:spPr>
          <a:xfrm>
            <a:off x="7219188" y="3410712"/>
            <a:ext cx="3973068" cy="1152144"/>
          </a:xfrm>
          <a:prstGeom prst="rect">
            <a:avLst/>
          </a:prstGeom>
          <a:noFill/>
        </p:spPr>
        <p:txBody>
          <a:bodyPr wrap="square" anchor="ctr">
            <a:spAutoFit/>
          </a:bodyPr>
          <a:lstStyle/>
          <a:p>
            <a:pPr algn="l">
              <a:spcAft>
                <a:spcPts val="400"/>
              </a:spcAft>
            </a:pPr>
            <a:r>
              <a:rPr sz="1500" b="0">
                <a:solidFill>
                  <a:srgbClr val="161B26"/>
                </a:solidFill>
                <a:latin typeface="Arial"/>
              </a:rPr>
              <a:t>One conversation at a time.</a:t>
            </a:r>
          </a:p>
        </p:txBody>
      </p:sp>
      <p:sp>
        <p:nvSpPr>
          <p:cNvPr id="27" name="Rectangle 26"/>
          <p:cNvSpPr/>
          <p:nvPr/>
        </p:nvSpPr>
        <p:spPr>
          <a:xfrm>
            <a:off x="777240" y="4855464"/>
            <a:ext cx="5180076" cy="1298448"/>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8" name="Rectangle 27"/>
          <p:cNvSpPr/>
          <p:nvPr/>
        </p:nvSpPr>
        <p:spPr>
          <a:xfrm>
            <a:off x="777240" y="4855464"/>
            <a:ext cx="91440" cy="1298448"/>
          </a:xfrm>
          <a:prstGeom prst="rect">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9" name="Oval 28"/>
          <p:cNvSpPr/>
          <p:nvPr/>
        </p:nvSpPr>
        <p:spPr>
          <a:xfrm>
            <a:off x="1033272" y="5230368"/>
            <a:ext cx="548640" cy="548640"/>
          </a:xfrm>
          <a:prstGeom prst="ellipse">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0" name="TextBox 29"/>
          <p:cNvSpPr txBox="1"/>
          <p:nvPr/>
        </p:nvSpPr>
        <p:spPr>
          <a:xfrm>
            <a:off x="1033272" y="5230368"/>
            <a:ext cx="548640" cy="548640"/>
          </a:xfrm>
          <a:prstGeom prst="rect">
            <a:avLst/>
          </a:prstGeom>
          <a:noFill/>
        </p:spPr>
        <p:txBody>
          <a:bodyPr wrap="square" anchor="ctr">
            <a:spAutoFit/>
          </a:bodyPr>
          <a:lstStyle/>
          <a:p>
            <a:pPr algn="ctr">
              <a:spcAft>
                <a:spcPts val="400"/>
              </a:spcAft>
            </a:pPr>
            <a:r>
              <a:rPr sz="1800" b="1">
                <a:solidFill>
                  <a:srgbClr val="FFFFFF"/>
                </a:solidFill>
                <a:latin typeface="Arial"/>
              </a:rPr>
              <a:t>5</a:t>
            </a:r>
          </a:p>
        </p:txBody>
      </p:sp>
      <p:sp>
        <p:nvSpPr>
          <p:cNvPr id="31" name="TextBox 30"/>
          <p:cNvSpPr txBox="1"/>
          <p:nvPr/>
        </p:nvSpPr>
        <p:spPr>
          <a:xfrm>
            <a:off x="1764792" y="4946904"/>
            <a:ext cx="3973068" cy="1152144"/>
          </a:xfrm>
          <a:prstGeom prst="rect">
            <a:avLst/>
          </a:prstGeom>
          <a:noFill/>
        </p:spPr>
        <p:txBody>
          <a:bodyPr wrap="square" anchor="ctr">
            <a:spAutoFit/>
          </a:bodyPr>
          <a:lstStyle/>
          <a:p>
            <a:pPr algn="l">
              <a:spcAft>
                <a:spcPts val="400"/>
              </a:spcAft>
            </a:pPr>
            <a:r>
              <a:rPr sz="1500" b="0">
                <a:solidFill>
                  <a:srgbClr val="161B26"/>
                </a:solidFill>
                <a:latin typeface="Arial"/>
              </a:rPr>
              <a:t>Be punctual; return from breaks on time.</a:t>
            </a:r>
          </a:p>
        </p:txBody>
      </p:sp>
      <p:sp>
        <p:nvSpPr>
          <p:cNvPr id="32" name="Rectangle 31"/>
          <p:cNvSpPr/>
          <p:nvPr/>
        </p:nvSpPr>
        <p:spPr>
          <a:xfrm>
            <a:off x="6231636" y="4855464"/>
            <a:ext cx="5180076" cy="1298448"/>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3" name="Rectangle 32"/>
          <p:cNvSpPr/>
          <p:nvPr/>
        </p:nvSpPr>
        <p:spPr>
          <a:xfrm>
            <a:off x="6231636" y="4855464"/>
            <a:ext cx="91440" cy="1298448"/>
          </a:xfrm>
          <a:prstGeom prst="rect">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4" name="Oval 33"/>
          <p:cNvSpPr/>
          <p:nvPr/>
        </p:nvSpPr>
        <p:spPr>
          <a:xfrm>
            <a:off x="6487668" y="5230368"/>
            <a:ext cx="548640" cy="548640"/>
          </a:xfrm>
          <a:prstGeom prst="ellipse">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5" name="TextBox 34"/>
          <p:cNvSpPr txBox="1"/>
          <p:nvPr/>
        </p:nvSpPr>
        <p:spPr>
          <a:xfrm>
            <a:off x="6487668" y="5230368"/>
            <a:ext cx="548640" cy="548640"/>
          </a:xfrm>
          <a:prstGeom prst="rect">
            <a:avLst/>
          </a:prstGeom>
          <a:noFill/>
        </p:spPr>
        <p:txBody>
          <a:bodyPr wrap="square" anchor="ctr">
            <a:spAutoFit/>
          </a:bodyPr>
          <a:lstStyle/>
          <a:p>
            <a:pPr algn="ctr">
              <a:spcAft>
                <a:spcPts val="400"/>
              </a:spcAft>
            </a:pPr>
            <a:r>
              <a:rPr sz="1800" b="1">
                <a:solidFill>
                  <a:srgbClr val="FFFFFF"/>
                </a:solidFill>
                <a:latin typeface="Arial"/>
              </a:rPr>
              <a:t>6</a:t>
            </a:r>
          </a:p>
        </p:txBody>
      </p:sp>
      <p:sp>
        <p:nvSpPr>
          <p:cNvPr id="36" name="TextBox 35"/>
          <p:cNvSpPr txBox="1"/>
          <p:nvPr/>
        </p:nvSpPr>
        <p:spPr>
          <a:xfrm>
            <a:off x="7219188" y="4946904"/>
            <a:ext cx="3973068" cy="1152144"/>
          </a:xfrm>
          <a:prstGeom prst="rect">
            <a:avLst/>
          </a:prstGeom>
          <a:noFill/>
        </p:spPr>
        <p:txBody>
          <a:bodyPr wrap="square" anchor="ctr">
            <a:spAutoFit/>
          </a:bodyPr>
          <a:lstStyle/>
          <a:p>
            <a:pPr algn="l">
              <a:spcAft>
                <a:spcPts val="400"/>
              </a:spcAft>
            </a:pPr>
            <a:r>
              <a:rPr sz="1500" b="0">
                <a:solidFill>
                  <a:srgbClr val="161B26"/>
                </a:solidFill>
                <a:latin typeface="Arial"/>
              </a:rPr>
              <a:t>75% attendance is required for funding.</a:t>
            </a:r>
          </a:p>
        </p:txBody>
      </p:sp>
      <p:sp>
        <p:nvSpPr>
          <p:cNvPr id="37" name="TextBox 36"/>
          <p:cNvSpPr txBox="1"/>
          <p:nvPr/>
        </p:nvSpPr>
        <p:spPr>
          <a:xfrm>
            <a:off x="365760" y="6446520"/>
            <a:ext cx="6858000" cy="320040"/>
          </a:xfrm>
          <a:prstGeom prst="rect">
            <a:avLst/>
          </a:prstGeom>
          <a:noFill/>
        </p:spPr>
        <p:txBody>
          <a:bodyPr wrap="square" anchor="t">
            <a:spAutoFit/>
          </a:bodyPr>
          <a:lstStyle/>
          <a:p>
            <a:pPr algn="l">
              <a:spcAft>
                <a:spcPts val="400"/>
              </a:spcAft>
            </a:pPr>
            <a:r>
              <a:rPr sz="900" b="0">
                <a:solidFill>
                  <a:srgbClr val="5B6372"/>
                </a:solidFill>
                <a:latin typeface="Arial"/>
              </a:rPr>
              <a:t>Securing the Future with Quantum Computing and Cryptography  ·  TGS-2024043419</a:t>
            </a:r>
          </a:p>
        </p:txBody>
      </p:sp>
      <p:sp>
        <p:nvSpPr>
          <p:cNvPr id="38" name="TextBox 37"/>
          <p:cNvSpPr txBox="1"/>
          <p:nvPr/>
        </p:nvSpPr>
        <p:spPr>
          <a:xfrm>
            <a:off x="4572000" y="6446520"/>
            <a:ext cx="3017520" cy="320040"/>
          </a:xfrm>
          <a:prstGeom prst="rect">
            <a:avLst/>
          </a:prstGeom>
          <a:noFill/>
        </p:spPr>
        <p:txBody>
          <a:bodyPr wrap="square" anchor="t">
            <a:spAutoFit/>
          </a:bodyPr>
          <a:lstStyle/>
          <a:p>
            <a:pPr algn="ctr">
              <a:spcAft>
                <a:spcPts val="400"/>
              </a:spcAft>
            </a:pPr>
            <a:r>
              <a:rPr sz="900" b="0">
                <a:solidFill>
                  <a:srgbClr val="5B6372"/>
                </a:solidFill>
                <a:latin typeface="Arial"/>
              </a:rPr>
              <a:t>© 2026 Tertiary Infotech Academy Pte Ltd</a:t>
            </a:r>
          </a:p>
        </p:txBody>
      </p:sp>
      <p:sp>
        <p:nvSpPr>
          <p:cNvPr id="39" name="TextBox 38"/>
          <p:cNvSpPr txBox="1"/>
          <p:nvPr/>
        </p:nvSpPr>
        <p:spPr>
          <a:xfrm>
            <a:off x="11338560" y="6446520"/>
            <a:ext cx="548640" cy="320040"/>
          </a:xfrm>
          <a:prstGeom prst="rect">
            <a:avLst/>
          </a:prstGeom>
          <a:noFill/>
        </p:spPr>
        <p:txBody>
          <a:bodyPr wrap="square" anchor="t">
            <a:spAutoFit/>
          </a:bodyPr>
          <a:lstStyle/>
          <a:p>
            <a:pPr algn="r">
              <a:spcAft>
                <a:spcPts val="400"/>
              </a:spcAft>
            </a:pPr>
            <a:r>
              <a:rPr sz="900" b="0">
                <a:solidFill>
                  <a:srgbClr val="5B6372"/>
                </a:solidFill>
                <a:latin typeface="Arial"/>
              </a:rPr>
              <a:t>6</a:t>
            </a:r>
          </a:p>
        </p:txBody>
      </p:sp>
    </p:spTree>
  </p:cSld>
  <p:clrMapOvr>
    <a:masterClrMapping/>
  </p:clrMapOvr>
</p:sld>
</file>

<file path=ppt/slides/slide8.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256032" cy="1417320"/>
          </a:xfrm>
          <a:prstGeom prst="rect">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777240" y="457200"/>
            <a:ext cx="10607040" cy="365760"/>
          </a:xfrm>
          <a:prstGeom prst="rect">
            <a:avLst/>
          </a:prstGeom>
          <a:noFill/>
        </p:spPr>
        <p:txBody>
          <a:bodyPr wrap="square" anchor="t">
            <a:spAutoFit/>
          </a:bodyPr>
          <a:lstStyle/>
          <a:p>
            <a:pPr algn="l">
              <a:spcAft>
                <a:spcPts val="400"/>
              </a:spcAft>
            </a:pPr>
            <a:r>
              <a:rPr sz="1400" b="1">
                <a:solidFill>
                  <a:srgbClr val="1F6FEB"/>
                </a:solidFill>
                <a:latin typeface="Arial"/>
              </a:rPr>
              <a:t>COURSE PORTAL · LMS/TMS</a:t>
            </a:r>
          </a:p>
        </p:txBody>
      </p:sp>
      <p:sp>
        <p:nvSpPr>
          <p:cNvPr id="5" name="TextBox 4"/>
          <p:cNvSpPr txBox="1"/>
          <p:nvPr/>
        </p:nvSpPr>
        <p:spPr>
          <a:xfrm>
            <a:off x="777240" y="822960"/>
            <a:ext cx="10881360" cy="822960"/>
          </a:xfrm>
          <a:prstGeom prst="rect">
            <a:avLst/>
          </a:prstGeom>
          <a:noFill/>
        </p:spPr>
        <p:txBody>
          <a:bodyPr wrap="square" anchor="t">
            <a:spAutoFit/>
          </a:bodyPr>
          <a:lstStyle/>
          <a:p>
            <a:pPr algn="l">
              <a:spcAft>
                <a:spcPts val="400"/>
              </a:spcAft>
            </a:pPr>
            <a:r>
              <a:rPr sz="2900" b="1">
                <a:solidFill>
                  <a:srgbClr val="161B26"/>
                </a:solidFill>
                <a:latin typeface="Arial"/>
              </a:rPr>
              <a:t>Download Your Course Material</a:t>
            </a:r>
          </a:p>
        </p:txBody>
      </p:sp>
      <p:sp>
        <p:nvSpPr>
          <p:cNvPr id="6" name="Rectangle 5"/>
          <p:cNvSpPr/>
          <p:nvPr/>
        </p:nvSpPr>
        <p:spPr>
          <a:xfrm>
            <a:off x="777240" y="1554480"/>
            <a:ext cx="10634472" cy="18288"/>
          </a:xfrm>
          <a:prstGeom prst="rect">
            <a:avLst/>
          </a:prstGeom>
          <a:solidFill>
            <a:srgbClr val="E2E8F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Rectangle 6"/>
          <p:cNvSpPr/>
          <p:nvPr/>
        </p:nvSpPr>
        <p:spPr>
          <a:xfrm>
            <a:off x="777240" y="1783080"/>
            <a:ext cx="6400800" cy="3931920"/>
          </a:xfrm>
          <a:prstGeom prst="rect">
            <a:avLst/>
          </a:prstGeom>
          <a:solidFill>
            <a:srgbClr val="FFFFFF"/>
          </a:solidFill>
          <a:ln w="12700">
            <a:solidFill>
              <a:srgbClr val="E2E8F0"/>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Rectangle 7"/>
          <p:cNvSpPr/>
          <p:nvPr/>
        </p:nvSpPr>
        <p:spPr>
          <a:xfrm>
            <a:off x="777240" y="1783080"/>
            <a:ext cx="6400800" cy="457200"/>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Oval 8"/>
          <p:cNvSpPr/>
          <p:nvPr/>
        </p:nvSpPr>
        <p:spPr>
          <a:xfrm>
            <a:off x="941832" y="1938528"/>
            <a:ext cx="146304" cy="146304"/>
          </a:xfrm>
          <a:prstGeom prst="ellipse">
            <a:avLst/>
          </a:prstGeom>
          <a:solidFill>
            <a:srgbClr val="FF5F5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Oval 9"/>
          <p:cNvSpPr/>
          <p:nvPr/>
        </p:nvSpPr>
        <p:spPr>
          <a:xfrm>
            <a:off x="1179576" y="1938528"/>
            <a:ext cx="146304" cy="146304"/>
          </a:xfrm>
          <a:prstGeom prst="ellipse">
            <a:avLst/>
          </a:prstGeom>
          <a:solidFill>
            <a:srgbClr val="FEBC2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 name="Oval 10"/>
          <p:cNvSpPr/>
          <p:nvPr/>
        </p:nvSpPr>
        <p:spPr>
          <a:xfrm>
            <a:off x="1417320" y="1938528"/>
            <a:ext cx="146304" cy="146304"/>
          </a:xfrm>
          <a:prstGeom prst="ellipse">
            <a:avLst/>
          </a:prstGeom>
          <a:solidFill>
            <a:srgbClr val="28C84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 name="Rectangle 11"/>
          <p:cNvSpPr/>
          <p:nvPr/>
        </p:nvSpPr>
        <p:spPr>
          <a:xfrm>
            <a:off x="1737360" y="1892808"/>
            <a:ext cx="5166360" cy="237744"/>
          </a:xfrm>
          <a:prstGeom prst="rect">
            <a:avLst/>
          </a:prstGeom>
          <a:solidFill>
            <a:srgbClr val="FFFFFF"/>
          </a:solidFill>
          <a:ln w="12700">
            <a:solidFill>
              <a:srgbClr val="E2E8F0"/>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 name="TextBox 12"/>
          <p:cNvSpPr txBox="1"/>
          <p:nvPr/>
        </p:nvSpPr>
        <p:spPr>
          <a:xfrm>
            <a:off x="1874520" y="1892808"/>
            <a:ext cx="5029200" cy="237744"/>
          </a:xfrm>
          <a:prstGeom prst="rect">
            <a:avLst/>
          </a:prstGeom>
          <a:noFill/>
        </p:spPr>
        <p:txBody>
          <a:bodyPr wrap="square" anchor="ctr">
            <a:spAutoFit/>
          </a:bodyPr>
          <a:lstStyle/>
          <a:p>
            <a:pPr algn="l">
              <a:spcAft>
                <a:spcPts val="400"/>
              </a:spcAft>
            </a:pPr>
            <a:r>
              <a:rPr sz="1050" b="0">
                <a:solidFill>
                  <a:srgbClr val="5B6372"/>
                </a:solidFill>
                <a:latin typeface="Arial"/>
              </a:rPr>
              <a:t>https://lms-tms.tertiaryinfotech.com</a:t>
            </a:r>
          </a:p>
        </p:txBody>
      </p:sp>
      <p:sp>
        <p:nvSpPr>
          <p:cNvPr id="14" name="Rectangle 13"/>
          <p:cNvSpPr/>
          <p:nvPr/>
        </p:nvSpPr>
        <p:spPr>
          <a:xfrm>
            <a:off x="1051560" y="2468880"/>
            <a:ext cx="5852160" cy="713232"/>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5" name="Rectangle 14"/>
          <p:cNvSpPr/>
          <p:nvPr/>
        </p:nvSpPr>
        <p:spPr>
          <a:xfrm>
            <a:off x="1051560" y="2468880"/>
            <a:ext cx="73152" cy="713232"/>
          </a:xfrm>
          <a:prstGeom prst="rect">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6" name="TextBox 15"/>
          <p:cNvSpPr txBox="1"/>
          <p:nvPr/>
        </p:nvSpPr>
        <p:spPr>
          <a:xfrm>
            <a:off x="1280160" y="2468880"/>
            <a:ext cx="5486400" cy="713232"/>
          </a:xfrm>
          <a:prstGeom prst="rect">
            <a:avLst/>
          </a:prstGeom>
          <a:noFill/>
        </p:spPr>
        <p:txBody>
          <a:bodyPr wrap="square" anchor="ctr">
            <a:spAutoFit/>
          </a:bodyPr>
          <a:lstStyle/>
          <a:p>
            <a:pPr algn="l">
              <a:spcAft>
                <a:spcPts val="200"/>
              </a:spcAft>
            </a:pPr>
            <a:r>
              <a:rPr sz="1300" b="1">
                <a:solidFill>
                  <a:srgbClr val="161B26"/>
                </a:solidFill>
                <a:latin typeface="Arial"/>
              </a:rPr>
              <a:t>My Courses</a:t>
            </a:r>
          </a:p>
          <a:p>
            <a:pPr algn="l">
              <a:spcAft>
                <a:spcPts val="200"/>
              </a:spcAft>
            </a:pPr>
            <a:r>
              <a:rPr sz="1100" b="0">
                <a:solidFill>
                  <a:srgbClr val="5B6372"/>
                </a:solidFill>
                <a:latin typeface="Arial"/>
              </a:rPr>
              <a:t>Securing the Future with Quantum Computing and Cryptography</a:t>
            </a:r>
          </a:p>
        </p:txBody>
      </p:sp>
      <p:sp>
        <p:nvSpPr>
          <p:cNvPr id="17" name="Rectangle 16"/>
          <p:cNvSpPr/>
          <p:nvPr/>
        </p:nvSpPr>
        <p:spPr>
          <a:xfrm>
            <a:off x="1051560" y="3310128"/>
            <a:ext cx="5852160" cy="713232"/>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8" name="Rectangle 17"/>
          <p:cNvSpPr/>
          <p:nvPr/>
        </p:nvSpPr>
        <p:spPr>
          <a:xfrm>
            <a:off x="1051560" y="3310128"/>
            <a:ext cx="73152" cy="713232"/>
          </a:xfrm>
          <a:prstGeom prst="rect">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9" name="TextBox 18"/>
          <p:cNvSpPr txBox="1"/>
          <p:nvPr/>
        </p:nvSpPr>
        <p:spPr>
          <a:xfrm>
            <a:off x="1280160" y="3310128"/>
            <a:ext cx="5486400" cy="713232"/>
          </a:xfrm>
          <a:prstGeom prst="rect">
            <a:avLst/>
          </a:prstGeom>
          <a:noFill/>
        </p:spPr>
        <p:txBody>
          <a:bodyPr wrap="square" anchor="ctr">
            <a:spAutoFit/>
          </a:bodyPr>
          <a:lstStyle/>
          <a:p>
            <a:pPr algn="l">
              <a:spcAft>
                <a:spcPts val="200"/>
              </a:spcAft>
            </a:pPr>
            <a:r>
              <a:rPr sz="1300" b="1">
                <a:solidFill>
                  <a:srgbClr val="161B26"/>
                </a:solidFill>
                <a:latin typeface="Arial"/>
              </a:rPr>
              <a:t>Course Materials</a:t>
            </a:r>
          </a:p>
          <a:p>
            <a:pPr algn="l">
              <a:spcAft>
                <a:spcPts val="200"/>
              </a:spcAft>
            </a:pPr>
            <a:r>
              <a:rPr sz="1100" b="0">
                <a:solidFill>
                  <a:srgbClr val="5B6372"/>
                </a:solidFill>
                <a:latin typeface="Arial"/>
              </a:rPr>
              <a:t>Trainer Slides · Learner Guide · Lesson Plan</a:t>
            </a:r>
          </a:p>
        </p:txBody>
      </p:sp>
      <p:sp>
        <p:nvSpPr>
          <p:cNvPr id="20" name="Rectangle 19"/>
          <p:cNvSpPr/>
          <p:nvPr/>
        </p:nvSpPr>
        <p:spPr>
          <a:xfrm>
            <a:off x="1051560" y="4151376"/>
            <a:ext cx="5852160" cy="713232"/>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1" name="Rectangle 20"/>
          <p:cNvSpPr/>
          <p:nvPr/>
        </p:nvSpPr>
        <p:spPr>
          <a:xfrm>
            <a:off x="1051560" y="4151376"/>
            <a:ext cx="73152" cy="713232"/>
          </a:xfrm>
          <a:prstGeom prst="rect">
            <a:avLst/>
          </a:prstGeom>
          <a:solidFill>
            <a:srgbClr val="7C3AE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2" name="TextBox 21"/>
          <p:cNvSpPr txBox="1"/>
          <p:nvPr/>
        </p:nvSpPr>
        <p:spPr>
          <a:xfrm>
            <a:off x="1280160" y="4151376"/>
            <a:ext cx="5486400" cy="713232"/>
          </a:xfrm>
          <a:prstGeom prst="rect">
            <a:avLst/>
          </a:prstGeom>
          <a:noFill/>
        </p:spPr>
        <p:txBody>
          <a:bodyPr wrap="square" anchor="ctr">
            <a:spAutoFit/>
          </a:bodyPr>
          <a:lstStyle/>
          <a:p>
            <a:pPr algn="l">
              <a:spcAft>
                <a:spcPts val="200"/>
              </a:spcAft>
            </a:pPr>
            <a:r>
              <a:rPr sz="1300" b="1">
                <a:solidFill>
                  <a:srgbClr val="161B26"/>
                </a:solidFill>
                <a:latin typeface="Arial"/>
              </a:rPr>
              <a:t>Activities / Labs</a:t>
            </a:r>
          </a:p>
          <a:p>
            <a:pPr algn="l">
              <a:spcAft>
                <a:spcPts val="200"/>
              </a:spcAft>
            </a:pPr>
            <a:r>
              <a:rPr sz="1100" b="0">
                <a:solidFill>
                  <a:srgbClr val="5B6372"/>
                </a:solidFill>
                <a:latin typeface="Arial"/>
              </a:rPr>
              <a:t>Lab source code and QASM files</a:t>
            </a:r>
          </a:p>
        </p:txBody>
      </p:sp>
      <p:sp>
        <p:nvSpPr>
          <p:cNvPr id="23" name="Rectangle 22"/>
          <p:cNvSpPr/>
          <p:nvPr/>
        </p:nvSpPr>
        <p:spPr>
          <a:xfrm>
            <a:off x="1051560" y="4992624"/>
            <a:ext cx="5852160" cy="713232"/>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4" name="Rectangle 23"/>
          <p:cNvSpPr/>
          <p:nvPr/>
        </p:nvSpPr>
        <p:spPr>
          <a:xfrm>
            <a:off x="1051560" y="4992624"/>
            <a:ext cx="73152" cy="713232"/>
          </a:xfrm>
          <a:prstGeom prst="rect">
            <a:avLst/>
          </a:prstGeom>
          <a:solidFill>
            <a:srgbClr val="F59E0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5" name="TextBox 24"/>
          <p:cNvSpPr txBox="1"/>
          <p:nvPr/>
        </p:nvSpPr>
        <p:spPr>
          <a:xfrm>
            <a:off x="1280160" y="4992624"/>
            <a:ext cx="5486400" cy="713232"/>
          </a:xfrm>
          <a:prstGeom prst="rect">
            <a:avLst/>
          </a:prstGeom>
          <a:noFill/>
        </p:spPr>
        <p:txBody>
          <a:bodyPr wrap="square" anchor="ctr">
            <a:spAutoFit/>
          </a:bodyPr>
          <a:lstStyle/>
          <a:p>
            <a:pPr algn="l">
              <a:spcAft>
                <a:spcPts val="200"/>
              </a:spcAft>
            </a:pPr>
            <a:r>
              <a:rPr sz="1300" b="1">
                <a:solidFill>
                  <a:srgbClr val="161B26"/>
                </a:solidFill>
                <a:latin typeface="Arial"/>
              </a:rPr>
              <a:t>Assessment</a:t>
            </a:r>
          </a:p>
          <a:p>
            <a:pPr algn="l">
              <a:spcAft>
                <a:spcPts val="200"/>
              </a:spcAft>
            </a:pPr>
            <a:r>
              <a:rPr sz="1100" b="0">
                <a:solidFill>
                  <a:srgbClr val="5B6372"/>
                </a:solidFill>
                <a:latin typeface="Arial"/>
              </a:rPr>
              <a:t>Submit your WA and PP answers here</a:t>
            </a:r>
          </a:p>
        </p:txBody>
      </p:sp>
      <p:sp>
        <p:nvSpPr>
          <p:cNvPr id="26" name="Rectangle 25"/>
          <p:cNvSpPr/>
          <p:nvPr/>
        </p:nvSpPr>
        <p:spPr>
          <a:xfrm>
            <a:off x="7452360" y="1783080"/>
            <a:ext cx="3959352" cy="845820"/>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7" name="Rectangle 26"/>
          <p:cNvSpPr/>
          <p:nvPr/>
        </p:nvSpPr>
        <p:spPr>
          <a:xfrm>
            <a:off x="7452360" y="1783080"/>
            <a:ext cx="82296" cy="845820"/>
          </a:xfrm>
          <a:prstGeom prst="rect">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8" name="Oval 27"/>
          <p:cNvSpPr/>
          <p:nvPr/>
        </p:nvSpPr>
        <p:spPr>
          <a:xfrm>
            <a:off x="7680960" y="2013966"/>
            <a:ext cx="384048" cy="384048"/>
          </a:xfrm>
          <a:prstGeom prst="ellipse">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9" name="TextBox 28"/>
          <p:cNvSpPr txBox="1"/>
          <p:nvPr/>
        </p:nvSpPr>
        <p:spPr>
          <a:xfrm>
            <a:off x="7680960" y="2013966"/>
            <a:ext cx="384048" cy="384048"/>
          </a:xfrm>
          <a:prstGeom prst="rect">
            <a:avLst/>
          </a:prstGeom>
          <a:noFill/>
        </p:spPr>
        <p:txBody>
          <a:bodyPr wrap="square" anchor="ctr">
            <a:spAutoFit/>
          </a:bodyPr>
          <a:lstStyle/>
          <a:p>
            <a:pPr algn="ctr">
              <a:spcAft>
                <a:spcPts val="400"/>
              </a:spcAft>
            </a:pPr>
            <a:r>
              <a:rPr sz="1300" b="1">
                <a:solidFill>
                  <a:srgbClr val="FFFFFF"/>
                </a:solidFill>
                <a:latin typeface="Arial"/>
              </a:rPr>
              <a:t>1</a:t>
            </a:r>
          </a:p>
        </p:txBody>
      </p:sp>
      <p:sp>
        <p:nvSpPr>
          <p:cNvPr id="30" name="TextBox 29"/>
          <p:cNvSpPr txBox="1"/>
          <p:nvPr/>
        </p:nvSpPr>
        <p:spPr>
          <a:xfrm>
            <a:off x="8202168" y="1783080"/>
            <a:ext cx="2999232" cy="845820"/>
          </a:xfrm>
          <a:prstGeom prst="rect">
            <a:avLst/>
          </a:prstGeom>
          <a:noFill/>
        </p:spPr>
        <p:txBody>
          <a:bodyPr wrap="square" anchor="ctr">
            <a:spAutoFit/>
          </a:bodyPr>
          <a:lstStyle/>
          <a:p>
            <a:pPr algn="l">
              <a:spcAft>
                <a:spcPts val="400"/>
              </a:spcAft>
            </a:pPr>
            <a:r>
              <a:rPr sz="1250" b="0">
                <a:solidFill>
                  <a:srgbClr val="161B26"/>
                </a:solidFill>
                <a:latin typeface="Arial"/>
              </a:rPr>
              <a:t>Go to lms-tms.tertiaryinfotech.com and sign in with the account you were issued.</a:t>
            </a:r>
          </a:p>
        </p:txBody>
      </p:sp>
      <p:sp>
        <p:nvSpPr>
          <p:cNvPr id="31" name="Rectangle 30"/>
          <p:cNvSpPr/>
          <p:nvPr/>
        </p:nvSpPr>
        <p:spPr>
          <a:xfrm>
            <a:off x="7452360" y="2811780"/>
            <a:ext cx="3959352" cy="845820"/>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2" name="Rectangle 31"/>
          <p:cNvSpPr/>
          <p:nvPr/>
        </p:nvSpPr>
        <p:spPr>
          <a:xfrm>
            <a:off x="7452360" y="2811780"/>
            <a:ext cx="82296" cy="845820"/>
          </a:xfrm>
          <a:prstGeom prst="rect">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3" name="Oval 32"/>
          <p:cNvSpPr/>
          <p:nvPr/>
        </p:nvSpPr>
        <p:spPr>
          <a:xfrm>
            <a:off x="7680960" y="3042666"/>
            <a:ext cx="384048" cy="384048"/>
          </a:xfrm>
          <a:prstGeom prst="ellipse">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4" name="TextBox 33"/>
          <p:cNvSpPr txBox="1"/>
          <p:nvPr/>
        </p:nvSpPr>
        <p:spPr>
          <a:xfrm>
            <a:off x="7680960" y="3042666"/>
            <a:ext cx="384048" cy="384048"/>
          </a:xfrm>
          <a:prstGeom prst="rect">
            <a:avLst/>
          </a:prstGeom>
          <a:noFill/>
        </p:spPr>
        <p:txBody>
          <a:bodyPr wrap="square" anchor="ctr">
            <a:spAutoFit/>
          </a:bodyPr>
          <a:lstStyle/>
          <a:p>
            <a:pPr algn="ctr">
              <a:spcAft>
                <a:spcPts val="400"/>
              </a:spcAft>
            </a:pPr>
            <a:r>
              <a:rPr sz="1300" b="1">
                <a:solidFill>
                  <a:srgbClr val="FFFFFF"/>
                </a:solidFill>
                <a:latin typeface="Arial"/>
              </a:rPr>
              <a:t>2</a:t>
            </a:r>
          </a:p>
        </p:txBody>
      </p:sp>
      <p:sp>
        <p:nvSpPr>
          <p:cNvPr id="35" name="TextBox 34"/>
          <p:cNvSpPr txBox="1"/>
          <p:nvPr/>
        </p:nvSpPr>
        <p:spPr>
          <a:xfrm>
            <a:off x="8202168" y="2811780"/>
            <a:ext cx="2999232" cy="845820"/>
          </a:xfrm>
          <a:prstGeom prst="rect">
            <a:avLst/>
          </a:prstGeom>
          <a:noFill/>
        </p:spPr>
        <p:txBody>
          <a:bodyPr wrap="square" anchor="ctr">
            <a:spAutoFit/>
          </a:bodyPr>
          <a:lstStyle/>
          <a:p>
            <a:pPr algn="l">
              <a:spcAft>
                <a:spcPts val="400"/>
              </a:spcAft>
            </a:pPr>
            <a:r>
              <a:rPr sz="1250" b="0">
                <a:solidFill>
                  <a:srgbClr val="161B26"/>
                </a:solidFill>
                <a:latin typeface="Arial"/>
              </a:rPr>
              <a:t>Open My Courses and select this course.</a:t>
            </a:r>
          </a:p>
        </p:txBody>
      </p:sp>
      <p:sp>
        <p:nvSpPr>
          <p:cNvPr id="36" name="Rectangle 35"/>
          <p:cNvSpPr/>
          <p:nvPr/>
        </p:nvSpPr>
        <p:spPr>
          <a:xfrm>
            <a:off x="7452360" y="3840480"/>
            <a:ext cx="3959352" cy="845820"/>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7" name="Rectangle 36"/>
          <p:cNvSpPr/>
          <p:nvPr/>
        </p:nvSpPr>
        <p:spPr>
          <a:xfrm>
            <a:off x="7452360" y="3840480"/>
            <a:ext cx="82296" cy="845820"/>
          </a:xfrm>
          <a:prstGeom prst="rect">
            <a:avLst/>
          </a:prstGeom>
          <a:solidFill>
            <a:srgbClr val="7C3AE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8" name="Oval 37"/>
          <p:cNvSpPr/>
          <p:nvPr/>
        </p:nvSpPr>
        <p:spPr>
          <a:xfrm>
            <a:off x="7680960" y="4071366"/>
            <a:ext cx="384048" cy="384048"/>
          </a:xfrm>
          <a:prstGeom prst="ellipse">
            <a:avLst/>
          </a:prstGeom>
          <a:solidFill>
            <a:srgbClr val="7C3AE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9" name="TextBox 38"/>
          <p:cNvSpPr txBox="1"/>
          <p:nvPr/>
        </p:nvSpPr>
        <p:spPr>
          <a:xfrm>
            <a:off x="7680960" y="4071366"/>
            <a:ext cx="384048" cy="384048"/>
          </a:xfrm>
          <a:prstGeom prst="rect">
            <a:avLst/>
          </a:prstGeom>
          <a:noFill/>
        </p:spPr>
        <p:txBody>
          <a:bodyPr wrap="square" anchor="ctr">
            <a:spAutoFit/>
          </a:bodyPr>
          <a:lstStyle/>
          <a:p>
            <a:pPr algn="ctr">
              <a:spcAft>
                <a:spcPts val="400"/>
              </a:spcAft>
            </a:pPr>
            <a:r>
              <a:rPr sz="1300" b="1">
                <a:solidFill>
                  <a:srgbClr val="FFFFFF"/>
                </a:solidFill>
                <a:latin typeface="Arial"/>
              </a:rPr>
              <a:t>3</a:t>
            </a:r>
          </a:p>
        </p:txBody>
      </p:sp>
      <p:sp>
        <p:nvSpPr>
          <p:cNvPr id="40" name="TextBox 39"/>
          <p:cNvSpPr txBox="1"/>
          <p:nvPr/>
        </p:nvSpPr>
        <p:spPr>
          <a:xfrm>
            <a:off x="8202168" y="3840480"/>
            <a:ext cx="2999232" cy="845820"/>
          </a:xfrm>
          <a:prstGeom prst="rect">
            <a:avLst/>
          </a:prstGeom>
          <a:noFill/>
        </p:spPr>
        <p:txBody>
          <a:bodyPr wrap="square" anchor="ctr">
            <a:spAutoFit/>
          </a:bodyPr>
          <a:lstStyle/>
          <a:p>
            <a:pPr algn="l">
              <a:spcAft>
                <a:spcPts val="400"/>
              </a:spcAft>
            </a:pPr>
            <a:r>
              <a:rPr sz="1250" b="0">
                <a:solidFill>
                  <a:srgbClr val="161B26"/>
                </a:solidFill>
                <a:latin typeface="Arial"/>
              </a:rPr>
              <a:t>Download the Trainer Slides, Learner Guide and Lesson Plan.</a:t>
            </a:r>
          </a:p>
        </p:txBody>
      </p:sp>
      <p:sp>
        <p:nvSpPr>
          <p:cNvPr id="41" name="Rectangle 40"/>
          <p:cNvSpPr/>
          <p:nvPr/>
        </p:nvSpPr>
        <p:spPr>
          <a:xfrm>
            <a:off x="7452360" y="4869180"/>
            <a:ext cx="3959352" cy="845820"/>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2" name="Rectangle 41"/>
          <p:cNvSpPr/>
          <p:nvPr/>
        </p:nvSpPr>
        <p:spPr>
          <a:xfrm>
            <a:off x="7452360" y="4869180"/>
            <a:ext cx="82296" cy="845820"/>
          </a:xfrm>
          <a:prstGeom prst="rect">
            <a:avLst/>
          </a:prstGeom>
          <a:solidFill>
            <a:srgbClr val="F59E0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3" name="Oval 42"/>
          <p:cNvSpPr/>
          <p:nvPr/>
        </p:nvSpPr>
        <p:spPr>
          <a:xfrm>
            <a:off x="7680960" y="5100066"/>
            <a:ext cx="384048" cy="384048"/>
          </a:xfrm>
          <a:prstGeom prst="ellipse">
            <a:avLst/>
          </a:prstGeom>
          <a:solidFill>
            <a:srgbClr val="F59E0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4" name="TextBox 43"/>
          <p:cNvSpPr txBox="1"/>
          <p:nvPr/>
        </p:nvSpPr>
        <p:spPr>
          <a:xfrm>
            <a:off x="7680960" y="5100066"/>
            <a:ext cx="384048" cy="384048"/>
          </a:xfrm>
          <a:prstGeom prst="rect">
            <a:avLst/>
          </a:prstGeom>
          <a:noFill/>
        </p:spPr>
        <p:txBody>
          <a:bodyPr wrap="square" anchor="ctr">
            <a:spAutoFit/>
          </a:bodyPr>
          <a:lstStyle/>
          <a:p>
            <a:pPr algn="ctr">
              <a:spcAft>
                <a:spcPts val="400"/>
              </a:spcAft>
            </a:pPr>
            <a:r>
              <a:rPr sz="1300" b="1">
                <a:solidFill>
                  <a:srgbClr val="FFFFFF"/>
                </a:solidFill>
                <a:latin typeface="Arial"/>
              </a:rPr>
              <a:t>4</a:t>
            </a:r>
          </a:p>
        </p:txBody>
      </p:sp>
      <p:sp>
        <p:nvSpPr>
          <p:cNvPr id="45" name="TextBox 44"/>
          <p:cNvSpPr txBox="1"/>
          <p:nvPr/>
        </p:nvSpPr>
        <p:spPr>
          <a:xfrm>
            <a:off x="8202168" y="4869180"/>
            <a:ext cx="2999232" cy="845820"/>
          </a:xfrm>
          <a:prstGeom prst="rect">
            <a:avLst/>
          </a:prstGeom>
          <a:noFill/>
        </p:spPr>
        <p:txBody>
          <a:bodyPr wrap="square" anchor="ctr">
            <a:spAutoFit/>
          </a:bodyPr>
          <a:lstStyle/>
          <a:p>
            <a:pPr algn="l">
              <a:spcAft>
                <a:spcPts val="400"/>
              </a:spcAft>
            </a:pPr>
            <a:r>
              <a:rPr sz="1250" b="0">
                <a:solidFill>
                  <a:srgbClr val="161B26"/>
                </a:solidFill>
                <a:latin typeface="Arial"/>
              </a:rPr>
              <a:t>Keep them open — the assessment is OPEN BOOK.</a:t>
            </a:r>
          </a:p>
        </p:txBody>
      </p:sp>
      <p:sp>
        <p:nvSpPr>
          <p:cNvPr id="46" name="Rectangle 45"/>
          <p:cNvSpPr/>
          <p:nvPr/>
        </p:nvSpPr>
        <p:spPr>
          <a:xfrm>
            <a:off x="777240" y="5870448"/>
            <a:ext cx="10634472" cy="457200"/>
          </a:xfrm>
          <a:prstGeom prst="rect">
            <a:avLst/>
          </a:prstGeom>
          <a:solidFill>
            <a:srgbClr val="E8F7E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7" name="TextBox 46"/>
          <p:cNvSpPr txBox="1"/>
          <p:nvPr/>
        </p:nvSpPr>
        <p:spPr>
          <a:xfrm>
            <a:off x="960120" y="5870448"/>
            <a:ext cx="10241280" cy="457200"/>
          </a:xfrm>
          <a:prstGeom prst="rect">
            <a:avLst/>
          </a:prstGeom>
          <a:noFill/>
        </p:spPr>
        <p:txBody>
          <a:bodyPr wrap="square" anchor="ctr">
            <a:spAutoFit/>
          </a:bodyPr>
          <a:lstStyle/>
          <a:p>
            <a:pPr algn="ctr">
              <a:spcAft>
                <a:spcPts val="400"/>
              </a:spcAft>
            </a:pPr>
            <a:r>
              <a:rPr sz="1250" b="1">
                <a:solidFill>
                  <a:srgbClr val="127A3E"/>
                </a:solidFill>
                <a:latin typeface="Arial"/>
              </a:rPr>
              <a:t>Download the slides and Learner Guide BEFORE the assessment — they are your permitted open-book materials.</a:t>
            </a:r>
          </a:p>
        </p:txBody>
      </p:sp>
      <p:sp>
        <p:nvSpPr>
          <p:cNvPr id="48" name="TextBox 47"/>
          <p:cNvSpPr txBox="1"/>
          <p:nvPr/>
        </p:nvSpPr>
        <p:spPr>
          <a:xfrm>
            <a:off x="365760" y="6446520"/>
            <a:ext cx="6858000" cy="320040"/>
          </a:xfrm>
          <a:prstGeom prst="rect">
            <a:avLst/>
          </a:prstGeom>
          <a:noFill/>
        </p:spPr>
        <p:txBody>
          <a:bodyPr wrap="square" anchor="t">
            <a:spAutoFit/>
          </a:bodyPr>
          <a:lstStyle/>
          <a:p>
            <a:pPr algn="l">
              <a:spcAft>
                <a:spcPts val="400"/>
              </a:spcAft>
            </a:pPr>
            <a:r>
              <a:rPr sz="900" b="0">
                <a:solidFill>
                  <a:srgbClr val="5B6372"/>
                </a:solidFill>
                <a:latin typeface="Arial"/>
              </a:rPr>
              <a:t>Securing the Future with Quantum Computing and Cryptography  ·  TGS-2024043419</a:t>
            </a:r>
          </a:p>
        </p:txBody>
      </p:sp>
      <p:sp>
        <p:nvSpPr>
          <p:cNvPr id="49" name="TextBox 48"/>
          <p:cNvSpPr txBox="1"/>
          <p:nvPr/>
        </p:nvSpPr>
        <p:spPr>
          <a:xfrm>
            <a:off x="4572000" y="6446520"/>
            <a:ext cx="3017520" cy="320040"/>
          </a:xfrm>
          <a:prstGeom prst="rect">
            <a:avLst/>
          </a:prstGeom>
          <a:noFill/>
        </p:spPr>
        <p:txBody>
          <a:bodyPr wrap="square" anchor="t">
            <a:spAutoFit/>
          </a:bodyPr>
          <a:lstStyle/>
          <a:p>
            <a:pPr algn="ctr">
              <a:spcAft>
                <a:spcPts val="400"/>
              </a:spcAft>
            </a:pPr>
            <a:r>
              <a:rPr sz="900" b="0">
                <a:solidFill>
                  <a:srgbClr val="5B6372"/>
                </a:solidFill>
                <a:latin typeface="Arial"/>
              </a:rPr>
              <a:t>© 2026 Tertiary Infotech Academy Pte Ltd</a:t>
            </a:r>
          </a:p>
        </p:txBody>
      </p:sp>
      <p:sp>
        <p:nvSpPr>
          <p:cNvPr id="50" name="TextBox 49"/>
          <p:cNvSpPr txBox="1"/>
          <p:nvPr/>
        </p:nvSpPr>
        <p:spPr>
          <a:xfrm>
            <a:off x="11338560" y="6446520"/>
            <a:ext cx="548640" cy="320040"/>
          </a:xfrm>
          <a:prstGeom prst="rect">
            <a:avLst/>
          </a:prstGeom>
          <a:noFill/>
        </p:spPr>
        <p:txBody>
          <a:bodyPr wrap="square" anchor="t">
            <a:spAutoFit/>
          </a:bodyPr>
          <a:lstStyle/>
          <a:p>
            <a:pPr algn="r">
              <a:spcAft>
                <a:spcPts val="400"/>
              </a:spcAft>
            </a:pPr>
            <a:r>
              <a:rPr sz="900" b="0">
                <a:solidFill>
                  <a:srgbClr val="5B6372"/>
                </a:solidFill>
                <a:latin typeface="Arial"/>
              </a:rPr>
              <a:t>7</a:t>
            </a:r>
          </a:p>
        </p:txBody>
      </p:sp>
    </p:spTree>
  </p:cSld>
  <p:clrMapOvr>
    <a:masterClrMapping/>
  </p:clrMapOvr>
</p:sld>
</file>

<file path=ppt/slides/slide9.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256032" cy="1417320"/>
          </a:xfrm>
          <a:prstGeom prst="rect">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777240" y="457200"/>
            <a:ext cx="10607040" cy="365760"/>
          </a:xfrm>
          <a:prstGeom prst="rect">
            <a:avLst/>
          </a:prstGeom>
          <a:noFill/>
        </p:spPr>
        <p:txBody>
          <a:bodyPr wrap="square" anchor="t">
            <a:spAutoFit/>
          </a:bodyPr>
          <a:lstStyle/>
          <a:p>
            <a:pPr algn="l">
              <a:spcAft>
                <a:spcPts val="400"/>
              </a:spcAft>
            </a:pPr>
            <a:r>
              <a:rPr sz="1400" b="1">
                <a:solidFill>
                  <a:srgbClr val="1F6FEB"/>
                </a:solidFill>
                <a:latin typeface="Arial"/>
              </a:rPr>
              <a:t>WHAT YOU'LL ACHIEVE</a:t>
            </a:r>
          </a:p>
        </p:txBody>
      </p:sp>
      <p:sp>
        <p:nvSpPr>
          <p:cNvPr id="5" name="TextBox 4"/>
          <p:cNvSpPr txBox="1"/>
          <p:nvPr/>
        </p:nvSpPr>
        <p:spPr>
          <a:xfrm>
            <a:off x="777240" y="822960"/>
            <a:ext cx="10881360" cy="822960"/>
          </a:xfrm>
          <a:prstGeom prst="rect">
            <a:avLst/>
          </a:prstGeom>
          <a:noFill/>
        </p:spPr>
        <p:txBody>
          <a:bodyPr wrap="square" anchor="t">
            <a:spAutoFit/>
          </a:bodyPr>
          <a:lstStyle/>
          <a:p>
            <a:pPr algn="l">
              <a:spcAft>
                <a:spcPts val="400"/>
              </a:spcAft>
            </a:pPr>
            <a:r>
              <a:rPr sz="2900" b="1">
                <a:solidFill>
                  <a:srgbClr val="161B26"/>
                </a:solidFill>
                <a:latin typeface="Arial"/>
              </a:rPr>
              <a:t>Learning Outcomes</a:t>
            </a:r>
          </a:p>
        </p:txBody>
      </p:sp>
      <p:sp>
        <p:nvSpPr>
          <p:cNvPr id="6" name="Rectangle 5"/>
          <p:cNvSpPr/>
          <p:nvPr/>
        </p:nvSpPr>
        <p:spPr>
          <a:xfrm>
            <a:off x="777240" y="1554480"/>
            <a:ext cx="10634472" cy="18288"/>
          </a:xfrm>
          <a:prstGeom prst="rect">
            <a:avLst/>
          </a:prstGeom>
          <a:solidFill>
            <a:srgbClr val="E2E8F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Rectangle 6"/>
          <p:cNvSpPr/>
          <p:nvPr/>
        </p:nvSpPr>
        <p:spPr>
          <a:xfrm>
            <a:off x="777240" y="1783080"/>
            <a:ext cx="5180076" cy="914400"/>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Rectangle 7"/>
          <p:cNvSpPr/>
          <p:nvPr/>
        </p:nvSpPr>
        <p:spPr>
          <a:xfrm>
            <a:off x="777240" y="1783080"/>
            <a:ext cx="91440" cy="914400"/>
          </a:xfrm>
          <a:prstGeom prst="rect">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Oval 8"/>
          <p:cNvSpPr/>
          <p:nvPr/>
        </p:nvSpPr>
        <p:spPr>
          <a:xfrm>
            <a:off x="1033272" y="1965960"/>
            <a:ext cx="548640" cy="548640"/>
          </a:xfrm>
          <a:prstGeom prst="ellipse">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TextBox 9"/>
          <p:cNvSpPr txBox="1"/>
          <p:nvPr/>
        </p:nvSpPr>
        <p:spPr>
          <a:xfrm>
            <a:off x="1033272" y="1965960"/>
            <a:ext cx="548640" cy="548640"/>
          </a:xfrm>
          <a:prstGeom prst="rect">
            <a:avLst/>
          </a:prstGeom>
          <a:noFill/>
        </p:spPr>
        <p:txBody>
          <a:bodyPr wrap="square" anchor="ctr">
            <a:spAutoFit/>
          </a:bodyPr>
          <a:lstStyle/>
          <a:p>
            <a:pPr algn="ctr">
              <a:spcAft>
                <a:spcPts val="400"/>
              </a:spcAft>
            </a:pPr>
            <a:r>
              <a:rPr sz="1800" b="1">
                <a:solidFill>
                  <a:srgbClr val="FFFFFF"/>
                </a:solidFill>
                <a:latin typeface="Arial"/>
              </a:rPr>
              <a:t>1</a:t>
            </a:r>
          </a:p>
        </p:txBody>
      </p:sp>
      <p:sp>
        <p:nvSpPr>
          <p:cNvPr id="11" name="TextBox 10"/>
          <p:cNvSpPr txBox="1"/>
          <p:nvPr/>
        </p:nvSpPr>
        <p:spPr>
          <a:xfrm>
            <a:off x="1764792" y="1892808"/>
            <a:ext cx="3973068" cy="731520"/>
          </a:xfrm>
          <a:prstGeom prst="rect">
            <a:avLst/>
          </a:prstGeom>
          <a:noFill/>
        </p:spPr>
        <p:txBody>
          <a:bodyPr wrap="square" anchor="ctr">
            <a:spAutoFit/>
          </a:bodyPr>
          <a:lstStyle/>
          <a:p>
            <a:pPr algn="l">
              <a:spcAft>
                <a:spcPts val="300"/>
              </a:spcAft>
            </a:pPr>
            <a:r>
              <a:rPr sz="1450" b="1">
                <a:solidFill>
                  <a:srgbClr val="161B26"/>
                </a:solidFill>
                <a:latin typeface="Arial"/>
              </a:rPr>
              <a:t>LO1 · Mathematical models</a:t>
            </a:r>
          </a:p>
          <a:p>
            <a:pPr algn="l">
              <a:spcAft>
                <a:spcPts val="300"/>
              </a:spcAft>
            </a:pPr>
            <a:r>
              <a:rPr sz="1100" b="0">
                <a:solidFill>
                  <a:srgbClr val="5B6372"/>
                </a:solidFill>
                <a:latin typeface="Arial"/>
              </a:rPr>
              <a:t>Design the mathematical models required for quantum computing applications.</a:t>
            </a:r>
          </a:p>
        </p:txBody>
      </p:sp>
      <p:sp>
        <p:nvSpPr>
          <p:cNvPr id="12" name="Rectangle 11"/>
          <p:cNvSpPr/>
          <p:nvPr/>
        </p:nvSpPr>
        <p:spPr>
          <a:xfrm>
            <a:off x="6231636" y="1783080"/>
            <a:ext cx="5180076" cy="914400"/>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 name="Rectangle 12"/>
          <p:cNvSpPr/>
          <p:nvPr/>
        </p:nvSpPr>
        <p:spPr>
          <a:xfrm>
            <a:off x="6231636" y="1783080"/>
            <a:ext cx="91440" cy="914400"/>
          </a:xfrm>
          <a:prstGeom prst="rect">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 name="Oval 13"/>
          <p:cNvSpPr/>
          <p:nvPr/>
        </p:nvSpPr>
        <p:spPr>
          <a:xfrm>
            <a:off x="6487668" y="1965960"/>
            <a:ext cx="548640" cy="548640"/>
          </a:xfrm>
          <a:prstGeom prst="ellipse">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5" name="TextBox 14"/>
          <p:cNvSpPr txBox="1"/>
          <p:nvPr/>
        </p:nvSpPr>
        <p:spPr>
          <a:xfrm>
            <a:off x="6487668" y="1965960"/>
            <a:ext cx="548640" cy="548640"/>
          </a:xfrm>
          <a:prstGeom prst="rect">
            <a:avLst/>
          </a:prstGeom>
          <a:noFill/>
        </p:spPr>
        <p:txBody>
          <a:bodyPr wrap="square" anchor="ctr">
            <a:spAutoFit/>
          </a:bodyPr>
          <a:lstStyle/>
          <a:p>
            <a:pPr algn="ctr">
              <a:spcAft>
                <a:spcPts val="400"/>
              </a:spcAft>
            </a:pPr>
            <a:r>
              <a:rPr sz="1800" b="1">
                <a:solidFill>
                  <a:srgbClr val="FFFFFF"/>
                </a:solidFill>
                <a:latin typeface="Arial"/>
              </a:rPr>
              <a:t>2</a:t>
            </a:r>
          </a:p>
        </p:txBody>
      </p:sp>
      <p:sp>
        <p:nvSpPr>
          <p:cNvPr id="16" name="TextBox 15"/>
          <p:cNvSpPr txBox="1"/>
          <p:nvPr/>
        </p:nvSpPr>
        <p:spPr>
          <a:xfrm>
            <a:off x="7219188" y="1892808"/>
            <a:ext cx="3973068" cy="731520"/>
          </a:xfrm>
          <a:prstGeom prst="rect">
            <a:avLst/>
          </a:prstGeom>
          <a:noFill/>
        </p:spPr>
        <p:txBody>
          <a:bodyPr wrap="square" anchor="ctr">
            <a:spAutoFit/>
          </a:bodyPr>
          <a:lstStyle/>
          <a:p>
            <a:pPr algn="l">
              <a:spcAft>
                <a:spcPts val="300"/>
              </a:spcAft>
            </a:pPr>
            <a:r>
              <a:rPr sz="1450" b="1">
                <a:solidFill>
                  <a:srgbClr val="161B26"/>
                </a:solidFill>
                <a:latin typeface="Arial"/>
              </a:rPr>
              <a:t>LO2 · Physical methodologies</a:t>
            </a:r>
          </a:p>
          <a:p>
            <a:pPr algn="l">
              <a:spcAft>
                <a:spcPts val="300"/>
              </a:spcAft>
            </a:pPr>
            <a:r>
              <a:rPr sz="1100" b="0">
                <a:solidFill>
                  <a:srgbClr val="5B6372"/>
                </a:solidFill>
                <a:latin typeface="Arial"/>
              </a:rPr>
              <a:t>Decide on appropriate physical methodologies for quantum computing problems.</a:t>
            </a:r>
          </a:p>
        </p:txBody>
      </p:sp>
      <p:sp>
        <p:nvSpPr>
          <p:cNvPr id="17" name="Rectangle 16"/>
          <p:cNvSpPr/>
          <p:nvPr/>
        </p:nvSpPr>
        <p:spPr>
          <a:xfrm>
            <a:off x="777240" y="2935224"/>
            <a:ext cx="5180076" cy="914400"/>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8" name="Rectangle 17"/>
          <p:cNvSpPr/>
          <p:nvPr/>
        </p:nvSpPr>
        <p:spPr>
          <a:xfrm>
            <a:off x="777240" y="2935224"/>
            <a:ext cx="91440" cy="914400"/>
          </a:xfrm>
          <a:prstGeom prst="rect">
            <a:avLst/>
          </a:prstGeom>
          <a:solidFill>
            <a:srgbClr val="7C3AE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9" name="Oval 18"/>
          <p:cNvSpPr/>
          <p:nvPr/>
        </p:nvSpPr>
        <p:spPr>
          <a:xfrm>
            <a:off x="1033272" y="3118104"/>
            <a:ext cx="548640" cy="548640"/>
          </a:xfrm>
          <a:prstGeom prst="ellipse">
            <a:avLst/>
          </a:prstGeom>
          <a:solidFill>
            <a:srgbClr val="7C3AE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0" name="TextBox 19"/>
          <p:cNvSpPr txBox="1"/>
          <p:nvPr/>
        </p:nvSpPr>
        <p:spPr>
          <a:xfrm>
            <a:off x="1033272" y="3118104"/>
            <a:ext cx="548640" cy="548640"/>
          </a:xfrm>
          <a:prstGeom prst="rect">
            <a:avLst/>
          </a:prstGeom>
          <a:noFill/>
        </p:spPr>
        <p:txBody>
          <a:bodyPr wrap="square" anchor="ctr">
            <a:spAutoFit/>
          </a:bodyPr>
          <a:lstStyle/>
          <a:p>
            <a:pPr algn="ctr">
              <a:spcAft>
                <a:spcPts val="400"/>
              </a:spcAft>
            </a:pPr>
            <a:r>
              <a:rPr sz="1800" b="1">
                <a:solidFill>
                  <a:srgbClr val="FFFFFF"/>
                </a:solidFill>
                <a:latin typeface="Arial"/>
              </a:rPr>
              <a:t>3</a:t>
            </a:r>
          </a:p>
        </p:txBody>
      </p:sp>
      <p:sp>
        <p:nvSpPr>
          <p:cNvPr id="21" name="TextBox 20"/>
          <p:cNvSpPr txBox="1"/>
          <p:nvPr/>
        </p:nvSpPr>
        <p:spPr>
          <a:xfrm>
            <a:off x="1764792" y="3044952"/>
            <a:ext cx="3973068" cy="731520"/>
          </a:xfrm>
          <a:prstGeom prst="rect">
            <a:avLst/>
          </a:prstGeom>
          <a:noFill/>
        </p:spPr>
        <p:txBody>
          <a:bodyPr wrap="square" anchor="ctr">
            <a:spAutoFit/>
          </a:bodyPr>
          <a:lstStyle/>
          <a:p>
            <a:pPr algn="l">
              <a:spcAft>
                <a:spcPts val="300"/>
              </a:spcAft>
            </a:pPr>
            <a:r>
              <a:rPr sz="1450" b="1">
                <a:solidFill>
                  <a:srgbClr val="161B26"/>
                </a:solidFill>
                <a:latin typeface="Arial"/>
              </a:rPr>
              <a:t>LO3 · Two-level models</a:t>
            </a:r>
          </a:p>
          <a:p>
            <a:pPr algn="l">
              <a:spcAft>
                <a:spcPts val="300"/>
              </a:spcAft>
            </a:pPr>
            <a:r>
              <a:rPr sz="1100" b="0">
                <a:solidFill>
                  <a:srgbClr val="5B6372"/>
                </a:solidFill>
                <a:latin typeface="Arial"/>
              </a:rPr>
              <a:t>Direct two-level quantum models for quantum computing.</a:t>
            </a:r>
          </a:p>
        </p:txBody>
      </p:sp>
      <p:sp>
        <p:nvSpPr>
          <p:cNvPr id="22" name="Rectangle 21"/>
          <p:cNvSpPr/>
          <p:nvPr/>
        </p:nvSpPr>
        <p:spPr>
          <a:xfrm>
            <a:off x="6231636" y="2935224"/>
            <a:ext cx="5180076" cy="914400"/>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3" name="Rectangle 22"/>
          <p:cNvSpPr/>
          <p:nvPr/>
        </p:nvSpPr>
        <p:spPr>
          <a:xfrm>
            <a:off x="6231636" y="2935224"/>
            <a:ext cx="91440" cy="914400"/>
          </a:xfrm>
          <a:prstGeom prst="rect">
            <a:avLst/>
          </a:prstGeom>
          <a:solidFill>
            <a:srgbClr val="F59E0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4" name="Oval 23"/>
          <p:cNvSpPr/>
          <p:nvPr/>
        </p:nvSpPr>
        <p:spPr>
          <a:xfrm>
            <a:off x="6487668" y="3118104"/>
            <a:ext cx="548640" cy="548640"/>
          </a:xfrm>
          <a:prstGeom prst="ellipse">
            <a:avLst/>
          </a:prstGeom>
          <a:solidFill>
            <a:srgbClr val="F59E0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5" name="TextBox 24"/>
          <p:cNvSpPr txBox="1"/>
          <p:nvPr/>
        </p:nvSpPr>
        <p:spPr>
          <a:xfrm>
            <a:off x="6487668" y="3118104"/>
            <a:ext cx="548640" cy="548640"/>
          </a:xfrm>
          <a:prstGeom prst="rect">
            <a:avLst/>
          </a:prstGeom>
          <a:noFill/>
        </p:spPr>
        <p:txBody>
          <a:bodyPr wrap="square" anchor="ctr">
            <a:spAutoFit/>
          </a:bodyPr>
          <a:lstStyle/>
          <a:p>
            <a:pPr algn="ctr">
              <a:spcAft>
                <a:spcPts val="400"/>
              </a:spcAft>
            </a:pPr>
            <a:r>
              <a:rPr sz="1800" b="1">
                <a:solidFill>
                  <a:srgbClr val="FFFFFF"/>
                </a:solidFill>
                <a:latin typeface="Arial"/>
              </a:rPr>
              <a:t>4</a:t>
            </a:r>
          </a:p>
        </p:txBody>
      </p:sp>
      <p:sp>
        <p:nvSpPr>
          <p:cNvPr id="26" name="TextBox 25"/>
          <p:cNvSpPr txBox="1"/>
          <p:nvPr/>
        </p:nvSpPr>
        <p:spPr>
          <a:xfrm>
            <a:off x="7219188" y="3044952"/>
            <a:ext cx="3973068" cy="731520"/>
          </a:xfrm>
          <a:prstGeom prst="rect">
            <a:avLst/>
          </a:prstGeom>
          <a:noFill/>
        </p:spPr>
        <p:txBody>
          <a:bodyPr wrap="square" anchor="ctr">
            <a:spAutoFit/>
          </a:bodyPr>
          <a:lstStyle/>
          <a:p>
            <a:pPr algn="l">
              <a:spcAft>
                <a:spcPts val="300"/>
              </a:spcAft>
            </a:pPr>
            <a:r>
              <a:rPr sz="1450" b="1">
                <a:solidFill>
                  <a:srgbClr val="161B26"/>
                </a:solidFill>
                <a:latin typeface="Arial"/>
              </a:rPr>
              <a:t>LO4 · Business applicability</a:t>
            </a:r>
          </a:p>
          <a:p>
            <a:pPr algn="l">
              <a:spcAft>
                <a:spcPts val="300"/>
              </a:spcAft>
            </a:pPr>
            <a:r>
              <a:rPr sz="1100" b="0">
                <a:solidFill>
                  <a:srgbClr val="5B6372"/>
                </a:solidFill>
                <a:latin typeface="Arial"/>
              </a:rPr>
              <a:t>Evaluate quantum computing applicability in the business context.</a:t>
            </a:r>
          </a:p>
        </p:txBody>
      </p:sp>
      <p:sp>
        <p:nvSpPr>
          <p:cNvPr id="27" name="Rectangle 26"/>
          <p:cNvSpPr/>
          <p:nvPr/>
        </p:nvSpPr>
        <p:spPr>
          <a:xfrm>
            <a:off x="777240" y="4087368"/>
            <a:ext cx="5180076" cy="914400"/>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8" name="Rectangle 27"/>
          <p:cNvSpPr/>
          <p:nvPr/>
        </p:nvSpPr>
        <p:spPr>
          <a:xfrm>
            <a:off x="777240" y="4087368"/>
            <a:ext cx="91440" cy="914400"/>
          </a:xfrm>
          <a:prstGeom prst="rect">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9" name="Oval 28"/>
          <p:cNvSpPr/>
          <p:nvPr/>
        </p:nvSpPr>
        <p:spPr>
          <a:xfrm>
            <a:off x="1033272" y="4270248"/>
            <a:ext cx="548640" cy="548640"/>
          </a:xfrm>
          <a:prstGeom prst="ellipse">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0" name="TextBox 29"/>
          <p:cNvSpPr txBox="1"/>
          <p:nvPr/>
        </p:nvSpPr>
        <p:spPr>
          <a:xfrm>
            <a:off x="1033272" y="4270248"/>
            <a:ext cx="548640" cy="548640"/>
          </a:xfrm>
          <a:prstGeom prst="rect">
            <a:avLst/>
          </a:prstGeom>
          <a:noFill/>
        </p:spPr>
        <p:txBody>
          <a:bodyPr wrap="square" anchor="ctr">
            <a:spAutoFit/>
          </a:bodyPr>
          <a:lstStyle/>
          <a:p>
            <a:pPr algn="ctr">
              <a:spcAft>
                <a:spcPts val="400"/>
              </a:spcAft>
            </a:pPr>
            <a:r>
              <a:rPr sz="1800" b="1">
                <a:solidFill>
                  <a:srgbClr val="FFFFFF"/>
                </a:solidFill>
                <a:latin typeface="Arial"/>
              </a:rPr>
              <a:t>5</a:t>
            </a:r>
          </a:p>
        </p:txBody>
      </p:sp>
      <p:sp>
        <p:nvSpPr>
          <p:cNvPr id="31" name="TextBox 30"/>
          <p:cNvSpPr txBox="1"/>
          <p:nvPr/>
        </p:nvSpPr>
        <p:spPr>
          <a:xfrm>
            <a:off x="1764792" y="4197096"/>
            <a:ext cx="3973068" cy="731520"/>
          </a:xfrm>
          <a:prstGeom prst="rect">
            <a:avLst/>
          </a:prstGeom>
          <a:noFill/>
        </p:spPr>
        <p:txBody>
          <a:bodyPr wrap="square" anchor="ctr">
            <a:spAutoFit/>
          </a:bodyPr>
          <a:lstStyle/>
          <a:p>
            <a:pPr algn="l">
              <a:spcAft>
                <a:spcPts val="300"/>
              </a:spcAft>
            </a:pPr>
            <a:r>
              <a:rPr sz="1450" b="1">
                <a:solidFill>
                  <a:srgbClr val="161B26"/>
                </a:solidFill>
                <a:latin typeface="Arial"/>
              </a:rPr>
              <a:t>LO5 · Quantum gates</a:t>
            </a:r>
          </a:p>
          <a:p>
            <a:pPr algn="l">
              <a:spcAft>
                <a:spcPts val="300"/>
              </a:spcAft>
            </a:pPr>
            <a:r>
              <a:rPr sz="1100" b="0">
                <a:solidFill>
                  <a:srgbClr val="5B6372"/>
                </a:solidFill>
                <a:latin typeface="Arial"/>
              </a:rPr>
              <a:t>Spearhead the application of quantum gates to quantum computing domains.</a:t>
            </a:r>
          </a:p>
        </p:txBody>
      </p:sp>
      <p:sp>
        <p:nvSpPr>
          <p:cNvPr id="32" name="Rectangle 31"/>
          <p:cNvSpPr/>
          <p:nvPr/>
        </p:nvSpPr>
        <p:spPr>
          <a:xfrm>
            <a:off x="6231636" y="4087368"/>
            <a:ext cx="5180076" cy="914400"/>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3" name="Rectangle 32"/>
          <p:cNvSpPr/>
          <p:nvPr/>
        </p:nvSpPr>
        <p:spPr>
          <a:xfrm>
            <a:off x="6231636" y="4087368"/>
            <a:ext cx="91440" cy="914400"/>
          </a:xfrm>
          <a:prstGeom prst="rect">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4" name="Oval 33"/>
          <p:cNvSpPr/>
          <p:nvPr/>
        </p:nvSpPr>
        <p:spPr>
          <a:xfrm>
            <a:off x="6487668" y="4270248"/>
            <a:ext cx="548640" cy="548640"/>
          </a:xfrm>
          <a:prstGeom prst="ellipse">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5" name="TextBox 34"/>
          <p:cNvSpPr txBox="1"/>
          <p:nvPr/>
        </p:nvSpPr>
        <p:spPr>
          <a:xfrm>
            <a:off x="6487668" y="4270248"/>
            <a:ext cx="548640" cy="548640"/>
          </a:xfrm>
          <a:prstGeom prst="rect">
            <a:avLst/>
          </a:prstGeom>
          <a:noFill/>
        </p:spPr>
        <p:txBody>
          <a:bodyPr wrap="square" anchor="ctr">
            <a:spAutoFit/>
          </a:bodyPr>
          <a:lstStyle/>
          <a:p>
            <a:pPr algn="ctr">
              <a:spcAft>
                <a:spcPts val="400"/>
              </a:spcAft>
            </a:pPr>
            <a:r>
              <a:rPr sz="1800" b="1">
                <a:solidFill>
                  <a:srgbClr val="FFFFFF"/>
                </a:solidFill>
                <a:latin typeface="Arial"/>
              </a:rPr>
              <a:t>6</a:t>
            </a:r>
          </a:p>
        </p:txBody>
      </p:sp>
      <p:sp>
        <p:nvSpPr>
          <p:cNvPr id="36" name="TextBox 35"/>
          <p:cNvSpPr txBox="1"/>
          <p:nvPr/>
        </p:nvSpPr>
        <p:spPr>
          <a:xfrm>
            <a:off x="7219188" y="4197096"/>
            <a:ext cx="3973068" cy="731520"/>
          </a:xfrm>
          <a:prstGeom prst="rect">
            <a:avLst/>
          </a:prstGeom>
          <a:noFill/>
        </p:spPr>
        <p:txBody>
          <a:bodyPr wrap="square" anchor="ctr">
            <a:spAutoFit/>
          </a:bodyPr>
          <a:lstStyle/>
          <a:p>
            <a:pPr algn="l">
              <a:spcAft>
                <a:spcPts val="300"/>
              </a:spcAft>
            </a:pPr>
            <a:r>
              <a:rPr sz="1450" b="1">
                <a:solidFill>
                  <a:srgbClr val="161B26"/>
                </a:solidFill>
                <a:latin typeface="Arial"/>
              </a:rPr>
              <a:t>LO6 · Algorithm selection</a:t>
            </a:r>
          </a:p>
          <a:p>
            <a:pPr algn="l">
              <a:spcAft>
                <a:spcPts val="300"/>
              </a:spcAft>
            </a:pPr>
            <a:r>
              <a:rPr sz="1100" b="0">
                <a:solidFill>
                  <a:srgbClr val="5B6372"/>
                </a:solidFill>
                <a:latin typeface="Arial"/>
              </a:rPr>
              <a:t>Establish guidelines for selecting quantum computing algorithms.</a:t>
            </a:r>
          </a:p>
        </p:txBody>
      </p:sp>
      <p:sp>
        <p:nvSpPr>
          <p:cNvPr id="37" name="Rectangle 36"/>
          <p:cNvSpPr/>
          <p:nvPr/>
        </p:nvSpPr>
        <p:spPr>
          <a:xfrm>
            <a:off x="777240" y="5239512"/>
            <a:ext cx="5180076" cy="914400"/>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8" name="Rectangle 37"/>
          <p:cNvSpPr/>
          <p:nvPr/>
        </p:nvSpPr>
        <p:spPr>
          <a:xfrm>
            <a:off x="777240" y="5239512"/>
            <a:ext cx="91440" cy="914400"/>
          </a:xfrm>
          <a:prstGeom prst="rect">
            <a:avLst/>
          </a:prstGeom>
          <a:solidFill>
            <a:srgbClr val="7C3AE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9" name="Oval 38"/>
          <p:cNvSpPr/>
          <p:nvPr/>
        </p:nvSpPr>
        <p:spPr>
          <a:xfrm>
            <a:off x="1033272" y="5422392"/>
            <a:ext cx="548640" cy="548640"/>
          </a:xfrm>
          <a:prstGeom prst="ellipse">
            <a:avLst/>
          </a:prstGeom>
          <a:solidFill>
            <a:srgbClr val="7C3AE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0" name="TextBox 39"/>
          <p:cNvSpPr txBox="1"/>
          <p:nvPr/>
        </p:nvSpPr>
        <p:spPr>
          <a:xfrm>
            <a:off x="1033272" y="5422392"/>
            <a:ext cx="548640" cy="548640"/>
          </a:xfrm>
          <a:prstGeom prst="rect">
            <a:avLst/>
          </a:prstGeom>
          <a:noFill/>
        </p:spPr>
        <p:txBody>
          <a:bodyPr wrap="square" anchor="ctr">
            <a:spAutoFit/>
          </a:bodyPr>
          <a:lstStyle/>
          <a:p>
            <a:pPr algn="ctr">
              <a:spcAft>
                <a:spcPts val="400"/>
              </a:spcAft>
            </a:pPr>
            <a:r>
              <a:rPr sz="1800" b="1">
                <a:solidFill>
                  <a:srgbClr val="FFFFFF"/>
                </a:solidFill>
                <a:latin typeface="Arial"/>
              </a:rPr>
              <a:t>7</a:t>
            </a:r>
          </a:p>
        </p:txBody>
      </p:sp>
      <p:sp>
        <p:nvSpPr>
          <p:cNvPr id="41" name="TextBox 40"/>
          <p:cNvSpPr txBox="1"/>
          <p:nvPr/>
        </p:nvSpPr>
        <p:spPr>
          <a:xfrm>
            <a:off x="1764792" y="5349240"/>
            <a:ext cx="3973068" cy="731520"/>
          </a:xfrm>
          <a:prstGeom prst="rect">
            <a:avLst/>
          </a:prstGeom>
          <a:noFill/>
        </p:spPr>
        <p:txBody>
          <a:bodyPr wrap="square" anchor="ctr">
            <a:spAutoFit/>
          </a:bodyPr>
          <a:lstStyle/>
          <a:p>
            <a:pPr algn="l">
              <a:spcAft>
                <a:spcPts val="300"/>
              </a:spcAft>
            </a:pPr>
            <a:r>
              <a:rPr sz="1450" b="1">
                <a:solidFill>
                  <a:srgbClr val="161B26"/>
                </a:solidFill>
                <a:latin typeface="Arial"/>
              </a:rPr>
              <a:t>LO7 · Synthesis</a:t>
            </a:r>
          </a:p>
          <a:p>
            <a:pPr algn="l">
              <a:spcAft>
                <a:spcPts val="300"/>
              </a:spcAft>
            </a:pPr>
            <a:r>
              <a:rPr sz="1100" b="0">
                <a:solidFill>
                  <a:srgbClr val="5B6372"/>
                </a:solidFill>
                <a:latin typeface="Arial"/>
              </a:rPr>
              <a:t>Synthesize quantum methodologies to address complex quantum computing problems.</a:t>
            </a:r>
          </a:p>
        </p:txBody>
      </p:sp>
      <p:sp>
        <p:nvSpPr>
          <p:cNvPr id="42" name="TextBox 41"/>
          <p:cNvSpPr txBox="1"/>
          <p:nvPr/>
        </p:nvSpPr>
        <p:spPr>
          <a:xfrm>
            <a:off x="365760" y="6446520"/>
            <a:ext cx="6858000" cy="320040"/>
          </a:xfrm>
          <a:prstGeom prst="rect">
            <a:avLst/>
          </a:prstGeom>
          <a:noFill/>
        </p:spPr>
        <p:txBody>
          <a:bodyPr wrap="square" anchor="t">
            <a:spAutoFit/>
          </a:bodyPr>
          <a:lstStyle/>
          <a:p>
            <a:pPr algn="l">
              <a:spcAft>
                <a:spcPts val="400"/>
              </a:spcAft>
            </a:pPr>
            <a:r>
              <a:rPr sz="900" b="0">
                <a:solidFill>
                  <a:srgbClr val="5B6372"/>
                </a:solidFill>
                <a:latin typeface="Arial"/>
              </a:rPr>
              <a:t>Securing the Future with Quantum Computing and Cryptography  ·  TGS-2024043419</a:t>
            </a:r>
          </a:p>
        </p:txBody>
      </p:sp>
      <p:sp>
        <p:nvSpPr>
          <p:cNvPr id="43" name="TextBox 42"/>
          <p:cNvSpPr txBox="1"/>
          <p:nvPr/>
        </p:nvSpPr>
        <p:spPr>
          <a:xfrm>
            <a:off x="4572000" y="6446520"/>
            <a:ext cx="3017520" cy="320040"/>
          </a:xfrm>
          <a:prstGeom prst="rect">
            <a:avLst/>
          </a:prstGeom>
          <a:noFill/>
        </p:spPr>
        <p:txBody>
          <a:bodyPr wrap="square" anchor="t">
            <a:spAutoFit/>
          </a:bodyPr>
          <a:lstStyle/>
          <a:p>
            <a:pPr algn="ctr">
              <a:spcAft>
                <a:spcPts val="400"/>
              </a:spcAft>
            </a:pPr>
            <a:r>
              <a:rPr sz="900" b="0">
                <a:solidFill>
                  <a:srgbClr val="5B6372"/>
                </a:solidFill>
                <a:latin typeface="Arial"/>
              </a:rPr>
              <a:t>© 2026 Tertiary Infotech Academy Pte Ltd</a:t>
            </a:r>
          </a:p>
        </p:txBody>
      </p:sp>
      <p:sp>
        <p:nvSpPr>
          <p:cNvPr id="44" name="TextBox 43"/>
          <p:cNvSpPr txBox="1"/>
          <p:nvPr/>
        </p:nvSpPr>
        <p:spPr>
          <a:xfrm>
            <a:off x="11338560" y="6446520"/>
            <a:ext cx="548640" cy="320040"/>
          </a:xfrm>
          <a:prstGeom prst="rect">
            <a:avLst/>
          </a:prstGeom>
          <a:noFill/>
        </p:spPr>
        <p:txBody>
          <a:bodyPr wrap="square" anchor="t">
            <a:spAutoFit/>
          </a:bodyPr>
          <a:lstStyle/>
          <a:p>
            <a:pPr algn="r">
              <a:spcAft>
                <a:spcPts val="400"/>
              </a:spcAft>
            </a:pPr>
            <a:r>
              <a:rPr sz="900" b="0">
                <a:solidFill>
                  <a:srgbClr val="5B6372"/>
                </a:solidFill>
                <a:latin typeface="Arial"/>
              </a:rPr>
              <a:t>8</a:t>
            </a:r>
          </a:p>
        </p:txBody>
      </p:sp>
    </p:spTree>
  </p:cSld>
  <p:clrMapOvr>
    <a:masterClrMapping/>
  </p:clrMapOvr>
</p:sld>
</file>

<file path=ppt/slides/slide10.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256032" cy="1417320"/>
          </a:xfrm>
          <a:prstGeom prst="rect">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777240" y="457200"/>
            <a:ext cx="10607040" cy="365760"/>
          </a:xfrm>
          <a:prstGeom prst="rect">
            <a:avLst/>
          </a:prstGeom>
          <a:noFill/>
        </p:spPr>
        <p:txBody>
          <a:bodyPr wrap="square" anchor="t">
            <a:spAutoFit/>
          </a:bodyPr>
          <a:lstStyle/>
          <a:p>
            <a:pPr algn="l">
              <a:spcAft>
                <a:spcPts val="400"/>
              </a:spcAft>
            </a:pPr>
            <a:r>
              <a:rPr sz="1400" b="1">
                <a:solidFill>
                  <a:srgbClr val="1F6FEB"/>
                </a:solidFill>
                <a:latin typeface="Arial"/>
              </a:rPr>
              <a:t>SCHEDULE</a:t>
            </a:r>
          </a:p>
        </p:txBody>
      </p:sp>
      <p:sp>
        <p:nvSpPr>
          <p:cNvPr id="5" name="TextBox 4"/>
          <p:cNvSpPr txBox="1"/>
          <p:nvPr/>
        </p:nvSpPr>
        <p:spPr>
          <a:xfrm>
            <a:off x="777240" y="822960"/>
            <a:ext cx="10881360" cy="822960"/>
          </a:xfrm>
          <a:prstGeom prst="rect">
            <a:avLst/>
          </a:prstGeom>
          <a:noFill/>
        </p:spPr>
        <p:txBody>
          <a:bodyPr wrap="square" anchor="t">
            <a:spAutoFit/>
          </a:bodyPr>
          <a:lstStyle/>
          <a:p>
            <a:pPr algn="l">
              <a:spcAft>
                <a:spcPts val="400"/>
              </a:spcAft>
            </a:pPr>
            <a:r>
              <a:rPr sz="2900" b="1">
                <a:solidFill>
                  <a:srgbClr val="161B26"/>
                </a:solidFill>
                <a:latin typeface="Arial"/>
              </a:rPr>
              <a:t>Lesson Plan — 4 Days, 8 hours/day</a:t>
            </a:r>
          </a:p>
        </p:txBody>
      </p:sp>
      <p:sp>
        <p:nvSpPr>
          <p:cNvPr id="6" name="Rectangle 5"/>
          <p:cNvSpPr/>
          <p:nvPr/>
        </p:nvSpPr>
        <p:spPr>
          <a:xfrm>
            <a:off x="777240" y="1554480"/>
            <a:ext cx="10634472" cy="18288"/>
          </a:xfrm>
          <a:prstGeom prst="rect">
            <a:avLst/>
          </a:prstGeom>
          <a:solidFill>
            <a:srgbClr val="E2E8F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Rectangle 6"/>
          <p:cNvSpPr/>
          <p:nvPr/>
        </p:nvSpPr>
        <p:spPr>
          <a:xfrm>
            <a:off x="777240" y="1783080"/>
            <a:ext cx="5212080" cy="4297680"/>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Rectangle 7"/>
          <p:cNvSpPr/>
          <p:nvPr/>
        </p:nvSpPr>
        <p:spPr>
          <a:xfrm>
            <a:off x="6355080" y="1783080"/>
            <a:ext cx="5074920" cy="4297680"/>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TextBox 8"/>
          <p:cNvSpPr txBox="1"/>
          <p:nvPr/>
        </p:nvSpPr>
        <p:spPr>
          <a:xfrm>
            <a:off x="1005840" y="1965960"/>
            <a:ext cx="4754880" cy="365760"/>
          </a:xfrm>
          <a:prstGeom prst="rect">
            <a:avLst/>
          </a:prstGeom>
          <a:noFill/>
        </p:spPr>
        <p:txBody>
          <a:bodyPr wrap="square" anchor="t">
            <a:spAutoFit/>
          </a:bodyPr>
          <a:lstStyle/>
          <a:p>
            <a:pPr algn="l">
              <a:spcAft>
                <a:spcPts val="400"/>
              </a:spcAft>
            </a:pPr>
            <a:r>
              <a:rPr sz="1600" b="1">
                <a:solidFill>
                  <a:srgbClr val="1F6FEB"/>
                </a:solidFill>
                <a:latin typeface="Arial"/>
              </a:rPr>
              <a:t>Days 1–2</a:t>
            </a:r>
          </a:p>
        </p:txBody>
      </p:sp>
      <p:sp>
        <p:nvSpPr>
          <p:cNvPr id="10" name="TextBox 9"/>
          <p:cNvSpPr txBox="1"/>
          <p:nvPr/>
        </p:nvSpPr>
        <p:spPr>
          <a:xfrm>
            <a:off x="6583680" y="1965960"/>
            <a:ext cx="4572000" cy="365760"/>
          </a:xfrm>
          <a:prstGeom prst="rect">
            <a:avLst/>
          </a:prstGeom>
          <a:noFill/>
        </p:spPr>
        <p:txBody>
          <a:bodyPr wrap="square" anchor="t">
            <a:spAutoFit/>
          </a:bodyPr>
          <a:lstStyle/>
          <a:p>
            <a:pPr algn="l">
              <a:spcAft>
                <a:spcPts val="400"/>
              </a:spcAft>
            </a:pPr>
            <a:r>
              <a:rPr sz="1600" b="1">
                <a:solidFill>
                  <a:srgbClr val="10B981"/>
                </a:solidFill>
                <a:latin typeface="Arial"/>
              </a:rPr>
              <a:t>Days 3–4</a:t>
            </a:r>
          </a:p>
        </p:txBody>
      </p:sp>
      <p:sp>
        <p:nvSpPr>
          <p:cNvPr id="11" name="TextBox 10"/>
          <p:cNvSpPr txBox="1"/>
          <p:nvPr/>
        </p:nvSpPr>
        <p:spPr>
          <a:xfrm>
            <a:off x="1005840" y="2468880"/>
            <a:ext cx="4754880" cy="3474720"/>
          </a:xfrm>
          <a:prstGeom prst="rect">
            <a:avLst/>
          </a:prstGeom>
          <a:noFill/>
        </p:spPr>
        <p:txBody>
          <a:bodyPr wrap="square">
            <a:spAutoFit/>
          </a:bodyPr>
          <a:lstStyle/>
          <a:p>
            <a:pPr>
              <a:spcAft>
                <a:spcPts val="1000"/>
              </a:spcAft>
            </a:pPr>
            <a:r>
              <a:rPr sz="1600">
                <a:solidFill>
                  <a:srgbClr val="161B26"/>
                </a:solidFill>
                <a:latin typeface="Arial"/>
              </a:rPr>
              <a:t>•  Day 1 — Quantum Physics Fundamentals &amp; Quantum Computing Systems</a:t>
            </a:r>
          </a:p>
          <a:p>
            <a:pPr>
              <a:spcAft>
                <a:spcPts val="1000"/>
              </a:spcAft>
            </a:pPr>
            <a:r>
              <a:rPr sz="1400">
                <a:solidFill>
                  <a:srgbClr val="5B6372"/>
                </a:solidFill>
                <a:latin typeface="Arial"/>
              </a:rPr>
              <a:t>–  Topic 1: Quantum Physics Fundamentals (Activity 1)</a:t>
            </a:r>
          </a:p>
          <a:p>
            <a:pPr>
              <a:spcAft>
                <a:spcPts val="1000"/>
              </a:spcAft>
            </a:pPr>
            <a:r>
              <a:rPr sz="1400">
                <a:solidFill>
                  <a:srgbClr val="5B6372"/>
                </a:solidFill>
                <a:latin typeface="Arial"/>
              </a:rPr>
              <a:t>–  Topic 2: Quantum Computing Systems (Activities 2–3)</a:t>
            </a:r>
          </a:p>
          <a:p>
            <a:pPr>
              <a:spcAft>
                <a:spcPts val="1000"/>
              </a:spcAft>
            </a:pPr>
            <a:r>
              <a:rPr sz="1600">
                <a:solidFill>
                  <a:srgbClr val="161B26"/>
                </a:solidFill>
                <a:latin typeface="Arial"/>
              </a:rPr>
              <a:t>•  Day 2 — Quantum Gates, Circuits and Quantum Protocols</a:t>
            </a:r>
          </a:p>
          <a:p>
            <a:pPr>
              <a:spcAft>
                <a:spcPts val="1000"/>
              </a:spcAft>
            </a:pPr>
            <a:r>
              <a:rPr sz="1400">
                <a:solidFill>
                  <a:srgbClr val="5B6372"/>
                </a:solidFill>
                <a:latin typeface="Arial"/>
              </a:rPr>
              <a:t>–  Topic 3: Quantum Gates and Circuits (Activities 4–5)</a:t>
            </a:r>
          </a:p>
          <a:p>
            <a:pPr>
              <a:spcAft>
                <a:spcPts val="1000"/>
              </a:spcAft>
            </a:pPr>
            <a:r>
              <a:rPr sz="1400">
                <a:solidFill>
                  <a:srgbClr val="5B6372"/>
                </a:solidFill>
                <a:latin typeface="Arial"/>
              </a:rPr>
              <a:t>–  Topic 4: Quantum Protocols (Activities 6–8)</a:t>
            </a:r>
          </a:p>
        </p:txBody>
      </p:sp>
      <p:sp>
        <p:nvSpPr>
          <p:cNvPr id="12" name="TextBox 11"/>
          <p:cNvSpPr txBox="1"/>
          <p:nvPr/>
        </p:nvSpPr>
        <p:spPr>
          <a:xfrm>
            <a:off x="6583680" y="2468880"/>
            <a:ext cx="4617720" cy="3474720"/>
          </a:xfrm>
          <a:prstGeom prst="rect">
            <a:avLst/>
          </a:prstGeom>
          <a:noFill/>
        </p:spPr>
        <p:txBody>
          <a:bodyPr wrap="square">
            <a:spAutoFit/>
          </a:bodyPr>
          <a:lstStyle/>
          <a:p>
            <a:pPr>
              <a:spcAft>
                <a:spcPts val="1000"/>
              </a:spcAft>
            </a:pPr>
            <a:r>
              <a:rPr sz="1600">
                <a:solidFill>
                  <a:srgbClr val="161B26"/>
                </a:solidFill>
                <a:latin typeface="Arial"/>
              </a:rPr>
              <a:t>•  Day 3 — Quantum Algorithms and Quantum Cryptography</a:t>
            </a:r>
          </a:p>
          <a:p>
            <a:pPr>
              <a:spcAft>
                <a:spcPts val="1000"/>
              </a:spcAft>
            </a:pPr>
            <a:r>
              <a:rPr sz="1400">
                <a:solidFill>
                  <a:srgbClr val="5B6372"/>
                </a:solidFill>
                <a:latin typeface="Arial"/>
              </a:rPr>
              <a:t>–  Topic 5: Quantum Algorithms (Activities 9–12)</a:t>
            </a:r>
          </a:p>
          <a:p>
            <a:pPr>
              <a:spcAft>
                <a:spcPts val="1000"/>
              </a:spcAft>
            </a:pPr>
            <a:r>
              <a:rPr sz="1400">
                <a:solidFill>
                  <a:srgbClr val="5B6372"/>
                </a:solidFill>
                <a:latin typeface="Arial"/>
              </a:rPr>
              <a:t>–  Topic 6: Quantum Cryptography &amp; Safety (Activities 13–14)</a:t>
            </a:r>
          </a:p>
          <a:p>
            <a:pPr>
              <a:spcAft>
                <a:spcPts val="1000"/>
              </a:spcAft>
            </a:pPr>
            <a:r>
              <a:rPr sz="1600">
                <a:solidFill>
                  <a:srgbClr val="161B26"/>
                </a:solidFill>
                <a:latin typeface="Arial"/>
              </a:rPr>
              <a:t>•  Day 4 — Applications, Error Correction and Assessment</a:t>
            </a:r>
          </a:p>
          <a:p>
            <a:pPr>
              <a:spcAft>
                <a:spcPts val="1000"/>
              </a:spcAft>
            </a:pPr>
            <a:r>
              <a:rPr sz="1400">
                <a:solidFill>
                  <a:srgbClr val="5B6372"/>
                </a:solidFill>
                <a:latin typeface="Arial"/>
              </a:rPr>
              <a:t>–  Topic 7: Applications (Activities 15–16)</a:t>
            </a:r>
          </a:p>
          <a:p>
            <a:pPr>
              <a:spcAft>
                <a:spcPts val="1000"/>
              </a:spcAft>
            </a:pPr>
            <a:r>
              <a:rPr sz="1400">
                <a:solidFill>
                  <a:srgbClr val="5B6372"/>
                </a:solidFill>
                <a:latin typeface="Arial"/>
              </a:rPr>
              <a:t>–  Topic 8: Quantum Error Correction (Activities 17–18)</a:t>
            </a:r>
          </a:p>
          <a:p>
            <a:pPr>
              <a:spcAft>
                <a:spcPts val="1000"/>
              </a:spcAft>
            </a:pPr>
            <a:r>
              <a:rPr sz="1400">
                <a:solidFill>
                  <a:srgbClr val="5B6372"/>
                </a:solidFill>
                <a:latin typeface="Arial"/>
              </a:rPr>
              <a:t>–  Final Assessment: WA (1 hr) + PP (1 hr)</a:t>
            </a:r>
          </a:p>
        </p:txBody>
      </p:sp>
      <p:sp>
        <p:nvSpPr>
          <p:cNvPr id="13" name="TextBox 12"/>
          <p:cNvSpPr txBox="1"/>
          <p:nvPr/>
        </p:nvSpPr>
        <p:spPr>
          <a:xfrm>
            <a:off x="365760" y="6446520"/>
            <a:ext cx="6858000" cy="320040"/>
          </a:xfrm>
          <a:prstGeom prst="rect">
            <a:avLst/>
          </a:prstGeom>
          <a:noFill/>
        </p:spPr>
        <p:txBody>
          <a:bodyPr wrap="square" anchor="t">
            <a:spAutoFit/>
          </a:bodyPr>
          <a:lstStyle/>
          <a:p>
            <a:pPr algn="l">
              <a:spcAft>
                <a:spcPts val="400"/>
              </a:spcAft>
            </a:pPr>
            <a:r>
              <a:rPr sz="900" b="0">
                <a:solidFill>
                  <a:srgbClr val="5B6372"/>
                </a:solidFill>
                <a:latin typeface="Arial"/>
              </a:rPr>
              <a:t>Securing the Future with Quantum Computing and Cryptography  ·  TGS-2024043419</a:t>
            </a:r>
          </a:p>
        </p:txBody>
      </p:sp>
      <p:sp>
        <p:nvSpPr>
          <p:cNvPr id="14" name="TextBox 13"/>
          <p:cNvSpPr txBox="1"/>
          <p:nvPr/>
        </p:nvSpPr>
        <p:spPr>
          <a:xfrm>
            <a:off x="4572000" y="6446520"/>
            <a:ext cx="3017520" cy="320040"/>
          </a:xfrm>
          <a:prstGeom prst="rect">
            <a:avLst/>
          </a:prstGeom>
          <a:noFill/>
        </p:spPr>
        <p:txBody>
          <a:bodyPr wrap="square" anchor="t">
            <a:spAutoFit/>
          </a:bodyPr>
          <a:lstStyle/>
          <a:p>
            <a:pPr algn="ctr">
              <a:spcAft>
                <a:spcPts val="400"/>
              </a:spcAft>
            </a:pPr>
            <a:r>
              <a:rPr sz="900" b="0">
                <a:solidFill>
                  <a:srgbClr val="5B6372"/>
                </a:solidFill>
                <a:latin typeface="Arial"/>
              </a:rPr>
              <a:t>© 2026 Tertiary Infotech Academy Pte Ltd</a:t>
            </a:r>
          </a:p>
        </p:txBody>
      </p:sp>
      <p:sp>
        <p:nvSpPr>
          <p:cNvPr id="15" name="TextBox 14"/>
          <p:cNvSpPr txBox="1"/>
          <p:nvPr/>
        </p:nvSpPr>
        <p:spPr>
          <a:xfrm>
            <a:off x="11338560" y="6446520"/>
            <a:ext cx="548640" cy="320040"/>
          </a:xfrm>
          <a:prstGeom prst="rect">
            <a:avLst/>
          </a:prstGeom>
          <a:noFill/>
        </p:spPr>
        <p:txBody>
          <a:bodyPr wrap="square" anchor="t">
            <a:spAutoFit/>
          </a:bodyPr>
          <a:lstStyle/>
          <a:p>
            <a:pPr algn="r">
              <a:spcAft>
                <a:spcPts val="400"/>
              </a:spcAft>
            </a:pPr>
            <a:r>
              <a:rPr sz="900" b="0">
                <a:solidFill>
                  <a:srgbClr val="5B6372"/>
                </a:solidFill>
                <a:latin typeface="Arial"/>
              </a:rPr>
              <a:t>9</a:t>
            </a:r>
          </a:p>
        </p:txBody>
      </p:sp>
    </p:spTree>
  </p:cSld>
  <p:clrMapOvr>
    <a:masterClrMapping/>
  </p:clrMapOvr>
</p:sld>
</file>

<file path=ppt/slides/slide11.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256032" cy="1417320"/>
          </a:xfrm>
          <a:prstGeom prst="rect">
            <a:avLst/>
          </a:prstGeom>
          <a:solidFill>
            <a:srgbClr val="F59E0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777240" y="457200"/>
            <a:ext cx="10607040" cy="365760"/>
          </a:xfrm>
          <a:prstGeom prst="rect">
            <a:avLst/>
          </a:prstGeom>
          <a:noFill/>
        </p:spPr>
        <p:txBody>
          <a:bodyPr wrap="square" anchor="t">
            <a:spAutoFit/>
          </a:bodyPr>
          <a:lstStyle/>
          <a:p>
            <a:pPr algn="l">
              <a:spcAft>
                <a:spcPts val="400"/>
              </a:spcAft>
            </a:pPr>
            <a:r>
              <a:rPr sz="1400" b="1">
                <a:solidFill>
                  <a:srgbClr val="F59E0B"/>
                </a:solidFill>
                <a:latin typeface="Arial"/>
              </a:rPr>
              <a:t>BEFORE YOU BEGIN</a:t>
            </a:r>
          </a:p>
        </p:txBody>
      </p:sp>
      <p:sp>
        <p:nvSpPr>
          <p:cNvPr id="5" name="TextBox 4"/>
          <p:cNvSpPr txBox="1"/>
          <p:nvPr/>
        </p:nvSpPr>
        <p:spPr>
          <a:xfrm>
            <a:off x="777240" y="822960"/>
            <a:ext cx="10881360" cy="822960"/>
          </a:xfrm>
          <a:prstGeom prst="rect">
            <a:avLst/>
          </a:prstGeom>
          <a:noFill/>
        </p:spPr>
        <p:txBody>
          <a:bodyPr wrap="square" anchor="t">
            <a:spAutoFit/>
          </a:bodyPr>
          <a:lstStyle/>
          <a:p>
            <a:pPr algn="l">
              <a:spcAft>
                <a:spcPts val="400"/>
              </a:spcAft>
            </a:pPr>
            <a:r>
              <a:rPr sz="2900" b="1">
                <a:solidFill>
                  <a:srgbClr val="161B26"/>
                </a:solidFill>
                <a:latin typeface="Arial"/>
              </a:rPr>
              <a:t>Briefing for Assessment</a:t>
            </a:r>
          </a:p>
        </p:txBody>
      </p:sp>
      <p:sp>
        <p:nvSpPr>
          <p:cNvPr id="6" name="Rectangle 5"/>
          <p:cNvSpPr/>
          <p:nvPr/>
        </p:nvSpPr>
        <p:spPr>
          <a:xfrm>
            <a:off x="777240" y="1554480"/>
            <a:ext cx="10634472" cy="18288"/>
          </a:xfrm>
          <a:prstGeom prst="rect">
            <a:avLst/>
          </a:prstGeom>
          <a:solidFill>
            <a:srgbClr val="E2E8F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Rectangle 6"/>
          <p:cNvSpPr/>
          <p:nvPr/>
        </p:nvSpPr>
        <p:spPr>
          <a:xfrm>
            <a:off x="777240" y="1783080"/>
            <a:ext cx="5180076" cy="1298448"/>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Rectangle 7"/>
          <p:cNvSpPr/>
          <p:nvPr/>
        </p:nvSpPr>
        <p:spPr>
          <a:xfrm>
            <a:off x="777240" y="1783080"/>
            <a:ext cx="91440" cy="1298448"/>
          </a:xfrm>
          <a:prstGeom prst="rect">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Oval 8"/>
          <p:cNvSpPr/>
          <p:nvPr/>
        </p:nvSpPr>
        <p:spPr>
          <a:xfrm>
            <a:off x="1033272" y="2157984"/>
            <a:ext cx="548640" cy="548640"/>
          </a:xfrm>
          <a:prstGeom prst="ellipse">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TextBox 9"/>
          <p:cNvSpPr txBox="1"/>
          <p:nvPr/>
        </p:nvSpPr>
        <p:spPr>
          <a:xfrm>
            <a:off x="1033272" y="2157984"/>
            <a:ext cx="548640" cy="548640"/>
          </a:xfrm>
          <a:prstGeom prst="rect">
            <a:avLst/>
          </a:prstGeom>
          <a:noFill/>
        </p:spPr>
        <p:txBody>
          <a:bodyPr wrap="square" anchor="ctr">
            <a:spAutoFit/>
          </a:bodyPr>
          <a:lstStyle/>
          <a:p>
            <a:pPr algn="ctr">
              <a:spcAft>
                <a:spcPts val="400"/>
              </a:spcAft>
            </a:pPr>
            <a:r>
              <a:rPr sz="1800" b="1">
                <a:solidFill>
                  <a:srgbClr val="FFFFFF"/>
                </a:solidFill>
                <a:latin typeface="Arial"/>
              </a:rPr>
              <a:t>1</a:t>
            </a:r>
          </a:p>
        </p:txBody>
      </p:sp>
      <p:sp>
        <p:nvSpPr>
          <p:cNvPr id="11" name="TextBox 10"/>
          <p:cNvSpPr txBox="1"/>
          <p:nvPr/>
        </p:nvSpPr>
        <p:spPr>
          <a:xfrm>
            <a:off x="1764792" y="1892808"/>
            <a:ext cx="3973068" cy="1115568"/>
          </a:xfrm>
          <a:prstGeom prst="rect">
            <a:avLst/>
          </a:prstGeom>
          <a:noFill/>
        </p:spPr>
        <p:txBody>
          <a:bodyPr wrap="square" anchor="ctr">
            <a:spAutoFit/>
          </a:bodyPr>
          <a:lstStyle/>
          <a:p>
            <a:pPr algn="l">
              <a:spcAft>
                <a:spcPts val="300"/>
              </a:spcAft>
            </a:pPr>
            <a:r>
              <a:rPr sz="1500" b="1">
                <a:solidFill>
                  <a:srgbClr val="161B26"/>
                </a:solidFill>
                <a:latin typeface="Arial"/>
              </a:rPr>
              <a:t>Phones away</a:t>
            </a:r>
          </a:p>
          <a:p>
            <a:pPr algn="l">
              <a:spcAft>
                <a:spcPts val="300"/>
              </a:spcAft>
            </a:pPr>
            <a:r>
              <a:rPr sz="1150" b="0">
                <a:solidFill>
                  <a:srgbClr val="5B6372"/>
                </a:solidFill>
                <a:latin typeface="Arial"/>
              </a:rPr>
              <a:t>Place phones and other materials under the table or on the floor.</a:t>
            </a:r>
          </a:p>
        </p:txBody>
      </p:sp>
      <p:sp>
        <p:nvSpPr>
          <p:cNvPr id="12" name="Rectangle 11"/>
          <p:cNvSpPr/>
          <p:nvPr/>
        </p:nvSpPr>
        <p:spPr>
          <a:xfrm>
            <a:off x="6231636" y="1783080"/>
            <a:ext cx="5180076" cy="1298448"/>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 name="Rectangle 12"/>
          <p:cNvSpPr/>
          <p:nvPr/>
        </p:nvSpPr>
        <p:spPr>
          <a:xfrm>
            <a:off x="6231636" y="1783080"/>
            <a:ext cx="91440" cy="1298448"/>
          </a:xfrm>
          <a:prstGeom prst="rect">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 name="Oval 13"/>
          <p:cNvSpPr/>
          <p:nvPr/>
        </p:nvSpPr>
        <p:spPr>
          <a:xfrm>
            <a:off x="6487668" y="2157984"/>
            <a:ext cx="548640" cy="548640"/>
          </a:xfrm>
          <a:prstGeom prst="ellipse">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5" name="TextBox 14"/>
          <p:cNvSpPr txBox="1"/>
          <p:nvPr/>
        </p:nvSpPr>
        <p:spPr>
          <a:xfrm>
            <a:off x="6487668" y="2157984"/>
            <a:ext cx="548640" cy="548640"/>
          </a:xfrm>
          <a:prstGeom prst="rect">
            <a:avLst/>
          </a:prstGeom>
          <a:noFill/>
        </p:spPr>
        <p:txBody>
          <a:bodyPr wrap="square" anchor="ctr">
            <a:spAutoFit/>
          </a:bodyPr>
          <a:lstStyle/>
          <a:p>
            <a:pPr algn="ctr">
              <a:spcAft>
                <a:spcPts val="400"/>
              </a:spcAft>
            </a:pPr>
            <a:r>
              <a:rPr sz="1800" b="1">
                <a:solidFill>
                  <a:srgbClr val="FFFFFF"/>
                </a:solidFill>
                <a:latin typeface="Arial"/>
              </a:rPr>
              <a:t>2</a:t>
            </a:r>
          </a:p>
        </p:txBody>
      </p:sp>
      <p:sp>
        <p:nvSpPr>
          <p:cNvPr id="16" name="TextBox 15"/>
          <p:cNvSpPr txBox="1"/>
          <p:nvPr/>
        </p:nvSpPr>
        <p:spPr>
          <a:xfrm>
            <a:off x="7219188" y="1892808"/>
            <a:ext cx="3973068" cy="1115568"/>
          </a:xfrm>
          <a:prstGeom prst="rect">
            <a:avLst/>
          </a:prstGeom>
          <a:noFill/>
        </p:spPr>
        <p:txBody>
          <a:bodyPr wrap="square" anchor="ctr">
            <a:spAutoFit/>
          </a:bodyPr>
          <a:lstStyle/>
          <a:p>
            <a:pPr algn="l">
              <a:spcAft>
                <a:spcPts val="300"/>
              </a:spcAft>
            </a:pPr>
            <a:r>
              <a:rPr sz="1500" b="1">
                <a:solidFill>
                  <a:srgbClr val="161B26"/>
                </a:solidFill>
                <a:latin typeface="Arial"/>
              </a:rPr>
              <a:t>No recording</a:t>
            </a:r>
          </a:p>
          <a:p>
            <a:pPr algn="l">
              <a:spcAft>
                <a:spcPts val="300"/>
              </a:spcAft>
            </a:pPr>
            <a:r>
              <a:rPr sz="1150" b="0">
                <a:solidFill>
                  <a:srgbClr val="5B6372"/>
                </a:solidFill>
                <a:latin typeface="Arial"/>
              </a:rPr>
              <a:t>No photos or recording of assessment scripts.</a:t>
            </a:r>
          </a:p>
        </p:txBody>
      </p:sp>
      <p:sp>
        <p:nvSpPr>
          <p:cNvPr id="17" name="Rectangle 16"/>
          <p:cNvSpPr/>
          <p:nvPr/>
        </p:nvSpPr>
        <p:spPr>
          <a:xfrm>
            <a:off x="777240" y="3319272"/>
            <a:ext cx="5180076" cy="1298448"/>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8" name="Rectangle 17"/>
          <p:cNvSpPr/>
          <p:nvPr/>
        </p:nvSpPr>
        <p:spPr>
          <a:xfrm>
            <a:off x="777240" y="3319272"/>
            <a:ext cx="91440" cy="1298448"/>
          </a:xfrm>
          <a:prstGeom prst="rect">
            <a:avLst/>
          </a:prstGeom>
          <a:solidFill>
            <a:srgbClr val="7C3AE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9" name="Oval 18"/>
          <p:cNvSpPr/>
          <p:nvPr/>
        </p:nvSpPr>
        <p:spPr>
          <a:xfrm>
            <a:off x="1033272" y="3694176"/>
            <a:ext cx="548640" cy="548640"/>
          </a:xfrm>
          <a:prstGeom prst="ellipse">
            <a:avLst/>
          </a:prstGeom>
          <a:solidFill>
            <a:srgbClr val="7C3AE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0" name="TextBox 19"/>
          <p:cNvSpPr txBox="1"/>
          <p:nvPr/>
        </p:nvSpPr>
        <p:spPr>
          <a:xfrm>
            <a:off x="1033272" y="3694176"/>
            <a:ext cx="548640" cy="548640"/>
          </a:xfrm>
          <a:prstGeom prst="rect">
            <a:avLst/>
          </a:prstGeom>
          <a:noFill/>
        </p:spPr>
        <p:txBody>
          <a:bodyPr wrap="square" anchor="ctr">
            <a:spAutoFit/>
          </a:bodyPr>
          <a:lstStyle/>
          <a:p>
            <a:pPr algn="ctr">
              <a:spcAft>
                <a:spcPts val="400"/>
              </a:spcAft>
            </a:pPr>
            <a:r>
              <a:rPr sz="1800" b="1">
                <a:solidFill>
                  <a:srgbClr val="FFFFFF"/>
                </a:solidFill>
                <a:latin typeface="Arial"/>
              </a:rPr>
              <a:t>3</a:t>
            </a:r>
          </a:p>
        </p:txBody>
      </p:sp>
      <p:sp>
        <p:nvSpPr>
          <p:cNvPr id="21" name="TextBox 20"/>
          <p:cNvSpPr txBox="1"/>
          <p:nvPr/>
        </p:nvSpPr>
        <p:spPr>
          <a:xfrm>
            <a:off x="1764792" y="3429000"/>
            <a:ext cx="3973068" cy="1115568"/>
          </a:xfrm>
          <a:prstGeom prst="rect">
            <a:avLst/>
          </a:prstGeom>
          <a:noFill/>
        </p:spPr>
        <p:txBody>
          <a:bodyPr wrap="square" anchor="ctr">
            <a:spAutoFit/>
          </a:bodyPr>
          <a:lstStyle/>
          <a:p>
            <a:pPr algn="l">
              <a:spcAft>
                <a:spcPts val="300"/>
              </a:spcAft>
            </a:pPr>
            <a:r>
              <a:rPr sz="1500" b="1">
                <a:solidFill>
                  <a:srgbClr val="161B26"/>
                </a:solidFill>
                <a:latin typeface="Arial"/>
              </a:rPr>
              <a:t>No discussion</a:t>
            </a:r>
          </a:p>
          <a:p>
            <a:pPr algn="l">
              <a:spcAft>
                <a:spcPts val="300"/>
              </a:spcAft>
            </a:pPr>
            <a:r>
              <a:rPr sz="1150" b="0">
                <a:solidFill>
                  <a:srgbClr val="5B6372"/>
                </a:solidFill>
                <a:latin typeface="Arial"/>
              </a:rPr>
              <a:t>Work individually — no discussion during the assessment.</a:t>
            </a:r>
          </a:p>
        </p:txBody>
      </p:sp>
      <p:sp>
        <p:nvSpPr>
          <p:cNvPr id="22" name="Rectangle 21"/>
          <p:cNvSpPr/>
          <p:nvPr/>
        </p:nvSpPr>
        <p:spPr>
          <a:xfrm>
            <a:off x="6231636" y="3319272"/>
            <a:ext cx="5180076" cy="1298448"/>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3" name="Rectangle 22"/>
          <p:cNvSpPr/>
          <p:nvPr/>
        </p:nvSpPr>
        <p:spPr>
          <a:xfrm>
            <a:off x="6231636" y="3319272"/>
            <a:ext cx="91440" cy="1298448"/>
          </a:xfrm>
          <a:prstGeom prst="rect">
            <a:avLst/>
          </a:prstGeom>
          <a:solidFill>
            <a:srgbClr val="F59E0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4" name="Oval 23"/>
          <p:cNvSpPr/>
          <p:nvPr/>
        </p:nvSpPr>
        <p:spPr>
          <a:xfrm>
            <a:off x="6487668" y="3694176"/>
            <a:ext cx="548640" cy="548640"/>
          </a:xfrm>
          <a:prstGeom prst="ellipse">
            <a:avLst/>
          </a:prstGeom>
          <a:solidFill>
            <a:srgbClr val="F59E0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5" name="TextBox 24"/>
          <p:cNvSpPr txBox="1"/>
          <p:nvPr/>
        </p:nvSpPr>
        <p:spPr>
          <a:xfrm>
            <a:off x="6487668" y="3694176"/>
            <a:ext cx="548640" cy="548640"/>
          </a:xfrm>
          <a:prstGeom prst="rect">
            <a:avLst/>
          </a:prstGeom>
          <a:noFill/>
        </p:spPr>
        <p:txBody>
          <a:bodyPr wrap="square" anchor="ctr">
            <a:spAutoFit/>
          </a:bodyPr>
          <a:lstStyle/>
          <a:p>
            <a:pPr algn="ctr">
              <a:spcAft>
                <a:spcPts val="400"/>
              </a:spcAft>
            </a:pPr>
            <a:r>
              <a:rPr sz="1800" b="1">
                <a:solidFill>
                  <a:srgbClr val="FFFFFF"/>
                </a:solidFill>
                <a:latin typeface="Arial"/>
              </a:rPr>
              <a:t>4</a:t>
            </a:r>
          </a:p>
        </p:txBody>
      </p:sp>
      <p:sp>
        <p:nvSpPr>
          <p:cNvPr id="26" name="TextBox 25"/>
          <p:cNvSpPr txBox="1"/>
          <p:nvPr/>
        </p:nvSpPr>
        <p:spPr>
          <a:xfrm>
            <a:off x="7219188" y="3429000"/>
            <a:ext cx="3973068" cy="1115568"/>
          </a:xfrm>
          <a:prstGeom prst="rect">
            <a:avLst/>
          </a:prstGeom>
          <a:noFill/>
        </p:spPr>
        <p:txBody>
          <a:bodyPr wrap="square" anchor="ctr">
            <a:spAutoFit/>
          </a:bodyPr>
          <a:lstStyle/>
          <a:p>
            <a:pPr algn="l">
              <a:spcAft>
                <a:spcPts val="300"/>
              </a:spcAft>
            </a:pPr>
            <a:r>
              <a:rPr sz="1500" b="1">
                <a:solidFill>
                  <a:srgbClr val="161B26"/>
                </a:solidFill>
                <a:latin typeface="Arial"/>
              </a:rPr>
              <a:t>Black or blue pen</a:t>
            </a:r>
          </a:p>
          <a:p>
            <a:pPr algn="l">
              <a:spcAft>
                <a:spcPts val="300"/>
              </a:spcAft>
            </a:pPr>
            <a:r>
              <a:rPr sz="1150" b="0">
                <a:solidFill>
                  <a:srgbClr val="5B6372"/>
                </a:solidFill>
                <a:latin typeface="Arial"/>
              </a:rPr>
              <a:t>Use a black/blue pen for hard-copy assessments.</a:t>
            </a:r>
          </a:p>
        </p:txBody>
      </p:sp>
      <p:sp>
        <p:nvSpPr>
          <p:cNvPr id="27" name="Rectangle 26"/>
          <p:cNvSpPr/>
          <p:nvPr/>
        </p:nvSpPr>
        <p:spPr>
          <a:xfrm>
            <a:off x="777240" y="4855464"/>
            <a:ext cx="5180076" cy="1298448"/>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8" name="Rectangle 27"/>
          <p:cNvSpPr/>
          <p:nvPr/>
        </p:nvSpPr>
        <p:spPr>
          <a:xfrm>
            <a:off x="777240" y="4855464"/>
            <a:ext cx="91440" cy="1298448"/>
          </a:xfrm>
          <a:prstGeom prst="rect">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9" name="Oval 28"/>
          <p:cNvSpPr/>
          <p:nvPr/>
        </p:nvSpPr>
        <p:spPr>
          <a:xfrm>
            <a:off x="1033272" y="5230368"/>
            <a:ext cx="548640" cy="548640"/>
          </a:xfrm>
          <a:prstGeom prst="ellipse">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0" name="TextBox 29"/>
          <p:cNvSpPr txBox="1"/>
          <p:nvPr/>
        </p:nvSpPr>
        <p:spPr>
          <a:xfrm>
            <a:off x="1033272" y="5230368"/>
            <a:ext cx="548640" cy="548640"/>
          </a:xfrm>
          <a:prstGeom prst="rect">
            <a:avLst/>
          </a:prstGeom>
          <a:noFill/>
        </p:spPr>
        <p:txBody>
          <a:bodyPr wrap="square" anchor="ctr">
            <a:spAutoFit/>
          </a:bodyPr>
          <a:lstStyle/>
          <a:p>
            <a:pPr algn="ctr">
              <a:spcAft>
                <a:spcPts val="400"/>
              </a:spcAft>
            </a:pPr>
            <a:r>
              <a:rPr sz="1800" b="1">
                <a:solidFill>
                  <a:srgbClr val="FFFFFF"/>
                </a:solidFill>
                <a:latin typeface="Arial"/>
              </a:rPr>
              <a:t>5</a:t>
            </a:r>
          </a:p>
        </p:txBody>
      </p:sp>
      <p:sp>
        <p:nvSpPr>
          <p:cNvPr id="31" name="TextBox 30"/>
          <p:cNvSpPr txBox="1"/>
          <p:nvPr/>
        </p:nvSpPr>
        <p:spPr>
          <a:xfrm>
            <a:off x="1764792" y="4965192"/>
            <a:ext cx="3973068" cy="1115568"/>
          </a:xfrm>
          <a:prstGeom prst="rect">
            <a:avLst/>
          </a:prstGeom>
          <a:noFill/>
        </p:spPr>
        <p:txBody>
          <a:bodyPr wrap="square" anchor="ctr">
            <a:spAutoFit/>
          </a:bodyPr>
          <a:lstStyle/>
          <a:p>
            <a:pPr algn="l">
              <a:spcAft>
                <a:spcPts val="300"/>
              </a:spcAft>
            </a:pPr>
            <a:r>
              <a:rPr sz="1500" b="1">
                <a:solidFill>
                  <a:srgbClr val="161B26"/>
                </a:solidFill>
                <a:latin typeface="Arial"/>
              </a:rPr>
              <a:t>No correction fluid</a:t>
            </a:r>
          </a:p>
          <a:p>
            <a:pPr algn="l">
              <a:spcAft>
                <a:spcPts val="300"/>
              </a:spcAft>
            </a:pPr>
            <a:r>
              <a:rPr sz="1150" b="0">
                <a:solidFill>
                  <a:srgbClr val="5B6372"/>
                </a:solidFill>
                <a:latin typeface="Arial"/>
              </a:rPr>
              <a:t>No liquid paper or correction tape on any script.</a:t>
            </a:r>
          </a:p>
        </p:txBody>
      </p:sp>
      <p:sp>
        <p:nvSpPr>
          <p:cNvPr id="32" name="Rectangle 31"/>
          <p:cNvSpPr/>
          <p:nvPr/>
        </p:nvSpPr>
        <p:spPr>
          <a:xfrm>
            <a:off x="6231636" y="4855464"/>
            <a:ext cx="5180076" cy="1298448"/>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3" name="Rectangle 32"/>
          <p:cNvSpPr/>
          <p:nvPr/>
        </p:nvSpPr>
        <p:spPr>
          <a:xfrm>
            <a:off x="6231636" y="4855464"/>
            <a:ext cx="91440" cy="1298448"/>
          </a:xfrm>
          <a:prstGeom prst="rect">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4" name="Oval 33"/>
          <p:cNvSpPr/>
          <p:nvPr/>
        </p:nvSpPr>
        <p:spPr>
          <a:xfrm>
            <a:off x="6487668" y="5230368"/>
            <a:ext cx="548640" cy="548640"/>
          </a:xfrm>
          <a:prstGeom prst="ellipse">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5" name="TextBox 34"/>
          <p:cNvSpPr txBox="1"/>
          <p:nvPr/>
        </p:nvSpPr>
        <p:spPr>
          <a:xfrm>
            <a:off x="6487668" y="5230368"/>
            <a:ext cx="548640" cy="548640"/>
          </a:xfrm>
          <a:prstGeom prst="rect">
            <a:avLst/>
          </a:prstGeom>
          <a:noFill/>
        </p:spPr>
        <p:txBody>
          <a:bodyPr wrap="square" anchor="ctr">
            <a:spAutoFit/>
          </a:bodyPr>
          <a:lstStyle/>
          <a:p>
            <a:pPr algn="ctr">
              <a:spcAft>
                <a:spcPts val="400"/>
              </a:spcAft>
            </a:pPr>
            <a:r>
              <a:rPr sz="1800" b="1">
                <a:solidFill>
                  <a:srgbClr val="FFFFFF"/>
                </a:solidFill>
                <a:latin typeface="Arial"/>
              </a:rPr>
              <a:t>6</a:t>
            </a:r>
          </a:p>
        </p:txBody>
      </p:sp>
      <p:sp>
        <p:nvSpPr>
          <p:cNvPr id="36" name="TextBox 35"/>
          <p:cNvSpPr txBox="1"/>
          <p:nvPr/>
        </p:nvSpPr>
        <p:spPr>
          <a:xfrm>
            <a:off x="7219188" y="4965192"/>
            <a:ext cx="3973068" cy="1115568"/>
          </a:xfrm>
          <a:prstGeom prst="rect">
            <a:avLst/>
          </a:prstGeom>
          <a:noFill/>
        </p:spPr>
        <p:txBody>
          <a:bodyPr wrap="square" anchor="ctr">
            <a:spAutoFit/>
          </a:bodyPr>
          <a:lstStyle/>
          <a:p>
            <a:pPr algn="l">
              <a:spcAft>
                <a:spcPts val="300"/>
              </a:spcAft>
            </a:pPr>
            <a:r>
              <a:rPr sz="1500" b="1">
                <a:solidFill>
                  <a:srgbClr val="161B26"/>
                </a:solidFill>
                <a:latin typeface="Arial"/>
              </a:rPr>
              <a:t>Time is called</a:t>
            </a:r>
          </a:p>
          <a:p>
            <a:pPr algn="l">
              <a:spcAft>
                <a:spcPts val="300"/>
              </a:spcAft>
            </a:pPr>
            <a:r>
              <a:rPr sz="1150" b="0">
                <a:solidFill>
                  <a:srgbClr val="5B6372"/>
                </a:solidFill>
                <a:latin typeface="Arial"/>
              </a:rPr>
              <a:t>Scripts are collected when the time is up.</a:t>
            </a:r>
          </a:p>
        </p:txBody>
      </p:sp>
      <p:sp>
        <p:nvSpPr>
          <p:cNvPr id="37" name="TextBox 36"/>
          <p:cNvSpPr txBox="1"/>
          <p:nvPr/>
        </p:nvSpPr>
        <p:spPr>
          <a:xfrm>
            <a:off x="365760" y="6446520"/>
            <a:ext cx="6858000" cy="320040"/>
          </a:xfrm>
          <a:prstGeom prst="rect">
            <a:avLst/>
          </a:prstGeom>
          <a:noFill/>
        </p:spPr>
        <p:txBody>
          <a:bodyPr wrap="square" anchor="t">
            <a:spAutoFit/>
          </a:bodyPr>
          <a:lstStyle/>
          <a:p>
            <a:pPr algn="l">
              <a:spcAft>
                <a:spcPts val="400"/>
              </a:spcAft>
            </a:pPr>
            <a:r>
              <a:rPr sz="900" b="0">
                <a:solidFill>
                  <a:srgbClr val="5B6372"/>
                </a:solidFill>
                <a:latin typeface="Arial"/>
              </a:rPr>
              <a:t>Securing the Future with Quantum Computing and Cryptography  ·  TGS-2024043419</a:t>
            </a:r>
          </a:p>
        </p:txBody>
      </p:sp>
      <p:sp>
        <p:nvSpPr>
          <p:cNvPr id="38" name="TextBox 37"/>
          <p:cNvSpPr txBox="1"/>
          <p:nvPr/>
        </p:nvSpPr>
        <p:spPr>
          <a:xfrm>
            <a:off x="4572000" y="6446520"/>
            <a:ext cx="3017520" cy="320040"/>
          </a:xfrm>
          <a:prstGeom prst="rect">
            <a:avLst/>
          </a:prstGeom>
          <a:noFill/>
        </p:spPr>
        <p:txBody>
          <a:bodyPr wrap="square" anchor="t">
            <a:spAutoFit/>
          </a:bodyPr>
          <a:lstStyle/>
          <a:p>
            <a:pPr algn="ctr">
              <a:spcAft>
                <a:spcPts val="400"/>
              </a:spcAft>
            </a:pPr>
            <a:r>
              <a:rPr sz="900" b="0">
                <a:solidFill>
                  <a:srgbClr val="5B6372"/>
                </a:solidFill>
                <a:latin typeface="Arial"/>
              </a:rPr>
              <a:t>© 2026 Tertiary Infotech Academy Pte Ltd</a:t>
            </a:r>
          </a:p>
        </p:txBody>
      </p:sp>
      <p:sp>
        <p:nvSpPr>
          <p:cNvPr id="39" name="TextBox 38"/>
          <p:cNvSpPr txBox="1"/>
          <p:nvPr/>
        </p:nvSpPr>
        <p:spPr>
          <a:xfrm>
            <a:off x="11338560" y="6446520"/>
            <a:ext cx="548640" cy="320040"/>
          </a:xfrm>
          <a:prstGeom prst="rect">
            <a:avLst/>
          </a:prstGeom>
          <a:noFill/>
        </p:spPr>
        <p:txBody>
          <a:bodyPr wrap="square" anchor="t">
            <a:spAutoFit/>
          </a:bodyPr>
          <a:lstStyle/>
          <a:p>
            <a:pPr algn="r">
              <a:spcAft>
                <a:spcPts val="400"/>
              </a:spcAft>
            </a:pPr>
            <a:r>
              <a:rPr sz="900" b="0">
                <a:solidFill>
                  <a:srgbClr val="5B6372"/>
                </a:solidFill>
                <a:latin typeface="Arial"/>
              </a:rPr>
              <a:t>10</a:t>
            </a:r>
          </a:p>
        </p:txBody>
      </p:sp>
    </p:spTree>
  </p:cSld>
  <p:clrMapOvr>
    <a:masterClrMapping/>
  </p:clrMapOvr>
</p:sld>
</file>

<file path=ppt/slides/slide12.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256032" cy="1417320"/>
          </a:xfrm>
          <a:prstGeom prst="rect">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777240" y="457200"/>
            <a:ext cx="10607040" cy="365760"/>
          </a:xfrm>
          <a:prstGeom prst="rect">
            <a:avLst/>
          </a:prstGeom>
          <a:noFill/>
        </p:spPr>
        <p:txBody>
          <a:bodyPr wrap="square" anchor="t">
            <a:spAutoFit/>
          </a:bodyPr>
          <a:lstStyle/>
          <a:p>
            <a:pPr algn="l">
              <a:spcAft>
                <a:spcPts val="400"/>
              </a:spcAft>
            </a:pPr>
            <a:r>
              <a:rPr sz="1400" b="1">
                <a:solidFill>
                  <a:srgbClr val="1F6FEB"/>
                </a:solidFill>
                <a:latin typeface="Arial"/>
              </a:rPr>
              <a:t>FINAL ASSESSMENT</a:t>
            </a:r>
          </a:p>
        </p:txBody>
      </p:sp>
      <p:sp>
        <p:nvSpPr>
          <p:cNvPr id="5" name="TextBox 4"/>
          <p:cNvSpPr txBox="1"/>
          <p:nvPr/>
        </p:nvSpPr>
        <p:spPr>
          <a:xfrm>
            <a:off x="777240" y="822960"/>
            <a:ext cx="10881360" cy="822960"/>
          </a:xfrm>
          <a:prstGeom prst="rect">
            <a:avLst/>
          </a:prstGeom>
          <a:noFill/>
        </p:spPr>
        <p:txBody>
          <a:bodyPr wrap="square" anchor="t">
            <a:spAutoFit/>
          </a:bodyPr>
          <a:lstStyle/>
          <a:p>
            <a:pPr algn="l">
              <a:spcAft>
                <a:spcPts val="400"/>
              </a:spcAft>
            </a:pPr>
            <a:r>
              <a:rPr sz="2900" b="1">
                <a:solidFill>
                  <a:srgbClr val="161B26"/>
                </a:solidFill>
                <a:latin typeface="Arial"/>
              </a:rPr>
              <a:t>Assessment</a:t>
            </a:r>
          </a:p>
        </p:txBody>
      </p:sp>
      <p:sp>
        <p:nvSpPr>
          <p:cNvPr id="6" name="Rectangle 5"/>
          <p:cNvSpPr/>
          <p:nvPr/>
        </p:nvSpPr>
        <p:spPr>
          <a:xfrm>
            <a:off x="777240" y="1554480"/>
            <a:ext cx="10634472" cy="18288"/>
          </a:xfrm>
          <a:prstGeom prst="rect">
            <a:avLst/>
          </a:prstGeom>
          <a:solidFill>
            <a:srgbClr val="E2E8F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Rectangle 6"/>
          <p:cNvSpPr/>
          <p:nvPr/>
        </p:nvSpPr>
        <p:spPr>
          <a:xfrm>
            <a:off x="777240" y="1783080"/>
            <a:ext cx="5056632" cy="2880360"/>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Rectangle 7"/>
          <p:cNvSpPr/>
          <p:nvPr/>
        </p:nvSpPr>
        <p:spPr>
          <a:xfrm>
            <a:off x="777240" y="1783080"/>
            <a:ext cx="5056632" cy="109728"/>
          </a:xfrm>
          <a:prstGeom prst="rect">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TextBox 8"/>
          <p:cNvSpPr txBox="1"/>
          <p:nvPr/>
        </p:nvSpPr>
        <p:spPr>
          <a:xfrm>
            <a:off x="1051560" y="2011680"/>
            <a:ext cx="4572000" cy="457200"/>
          </a:xfrm>
          <a:prstGeom prst="rect">
            <a:avLst/>
          </a:prstGeom>
          <a:noFill/>
        </p:spPr>
        <p:txBody>
          <a:bodyPr wrap="square" anchor="t">
            <a:spAutoFit/>
          </a:bodyPr>
          <a:lstStyle/>
          <a:p>
            <a:pPr algn="l">
              <a:spcAft>
                <a:spcPts val="400"/>
              </a:spcAft>
            </a:pPr>
            <a:r>
              <a:rPr sz="1900" b="1">
                <a:solidFill>
                  <a:srgbClr val="1F6FEB"/>
                </a:solidFill>
                <a:latin typeface="Arial"/>
              </a:rPr>
              <a:t>Written Assessment (WA)</a:t>
            </a:r>
          </a:p>
        </p:txBody>
      </p:sp>
      <p:sp>
        <p:nvSpPr>
          <p:cNvPr id="10" name="TextBox 9"/>
          <p:cNvSpPr txBox="1"/>
          <p:nvPr/>
        </p:nvSpPr>
        <p:spPr>
          <a:xfrm>
            <a:off x="1051560" y="2606040"/>
            <a:ext cx="4572000" cy="1920240"/>
          </a:xfrm>
          <a:prstGeom prst="rect">
            <a:avLst/>
          </a:prstGeom>
          <a:noFill/>
        </p:spPr>
        <p:txBody>
          <a:bodyPr wrap="square">
            <a:spAutoFit/>
          </a:bodyPr>
          <a:lstStyle/>
          <a:p>
            <a:pPr>
              <a:spcAft>
                <a:spcPts val="800"/>
              </a:spcAft>
            </a:pPr>
            <a:r>
              <a:rPr sz="1400">
                <a:solidFill>
                  <a:srgbClr val="161B26"/>
                </a:solidFill>
                <a:latin typeface="Arial"/>
              </a:rPr>
              <a:t>•  Short-Answer Questions (SAQ)</a:t>
            </a:r>
          </a:p>
          <a:p>
            <a:pPr>
              <a:spcAft>
                <a:spcPts val="800"/>
              </a:spcAft>
            </a:pPr>
            <a:r>
              <a:rPr sz="1400">
                <a:solidFill>
                  <a:srgbClr val="161B26"/>
                </a:solidFill>
                <a:latin typeface="Arial"/>
              </a:rPr>
              <a:t>•  1 hour · open book</a:t>
            </a:r>
          </a:p>
          <a:p>
            <a:pPr>
              <a:spcAft>
                <a:spcPts val="800"/>
              </a:spcAft>
            </a:pPr>
            <a:r>
              <a:rPr sz="1400">
                <a:solidFill>
                  <a:srgbClr val="161B26"/>
                </a:solidFill>
                <a:latin typeface="Arial"/>
              </a:rPr>
              <a:t>•  Tests underpinning KNOWLEDGE</a:t>
            </a:r>
          </a:p>
          <a:p>
            <a:pPr>
              <a:spcAft>
                <a:spcPts val="800"/>
              </a:spcAft>
            </a:pPr>
            <a:r>
              <a:rPr sz="1400">
                <a:solidFill>
                  <a:srgbClr val="161B26"/>
                </a:solidFill>
                <a:latin typeface="Arial"/>
              </a:rPr>
              <a:t>•  Covers all eight topics</a:t>
            </a:r>
          </a:p>
        </p:txBody>
      </p:sp>
      <p:sp>
        <p:nvSpPr>
          <p:cNvPr id="11" name="Rectangle 10"/>
          <p:cNvSpPr/>
          <p:nvPr/>
        </p:nvSpPr>
        <p:spPr>
          <a:xfrm>
            <a:off x="6355080" y="1783080"/>
            <a:ext cx="5056632" cy="2880360"/>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 name="Rectangle 11"/>
          <p:cNvSpPr/>
          <p:nvPr/>
        </p:nvSpPr>
        <p:spPr>
          <a:xfrm>
            <a:off x="6355080" y="1783080"/>
            <a:ext cx="5056632" cy="109728"/>
          </a:xfrm>
          <a:prstGeom prst="rect">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 name="TextBox 12"/>
          <p:cNvSpPr txBox="1"/>
          <p:nvPr/>
        </p:nvSpPr>
        <p:spPr>
          <a:xfrm>
            <a:off x="6629400" y="2011680"/>
            <a:ext cx="4572000" cy="457200"/>
          </a:xfrm>
          <a:prstGeom prst="rect">
            <a:avLst/>
          </a:prstGeom>
          <a:noFill/>
        </p:spPr>
        <p:txBody>
          <a:bodyPr wrap="square" anchor="t">
            <a:spAutoFit/>
          </a:bodyPr>
          <a:lstStyle/>
          <a:p>
            <a:pPr algn="l">
              <a:spcAft>
                <a:spcPts val="400"/>
              </a:spcAft>
            </a:pPr>
            <a:r>
              <a:rPr sz="1900" b="1">
                <a:solidFill>
                  <a:srgbClr val="10B981"/>
                </a:solidFill>
                <a:latin typeface="Arial"/>
              </a:rPr>
              <a:t>Practical Performance (PP)</a:t>
            </a:r>
          </a:p>
        </p:txBody>
      </p:sp>
      <p:sp>
        <p:nvSpPr>
          <p:cNvPr id="14" name="TextBox 13"/>
          <p:cNvSpPr txBox="1"/>
          <p:nvPr/>
        </p:nvSpPr>
        <p:spPr>
          <a:xfrm>
            <a:off x="6629400" y="2606040"/>
            <a:ext cx="4572000" cy="1920240"/>
          </a:xfrm>
          <a:prstGeom prst="rect">
            <a:avLst/>
          </a:prstGeom>
          <a:noFill/>
        </p:spPr>
        <p:txBody>
          <a:bodyPr wrap="square">
            <a:spAutoFit/>
          </a:bodyPr>
          <a:lstStyle/>
          <a:p>
            <a:pPr>
              <a:spcAft>
                <a:spcPts val="800"/>
              </a:spcAft>
            </a:pPr>
            <a:r>
              <a:rPr sz="1400">
                <a:solidFill>
                  <a:srgbClr val="161B26"/>
                </a:solidFill>
                <a:latin typeface="Arial"/>
              </a:rPr>
              <a:t>•  Hands-on quantum tasks</a:t>
            </a:r>
          </a:p>
          <a:p>
            <a:pPr>
              <a:spcAft>
                <a:spcPts val="800"/>
              </a:spcAft>
            </a:pPr>
            <a:r>
              <a:rPr sz="1400">
                <a:solidFill>
                  <a:srgbClr val="161B26"/>
                </a:solidFill>
                <a:latin typeface="Arial"/>
              </a:rPr>
              <a:t>•  1 hour · open book</a:t>
            </a:r>
          </a:p>
          <a:p>
            <a:pPr>
              <a:spcAft>
                <a:spcPts val="800"/>
              </a:spcAft>
            </a:pPr>
            <a:r>
              <a:rPr sz="1400">
                <a:solidFill>
                  <a:srgbClr val="161B26"/>
                </a:solidFill>
                <a:latin typeface="Arial"/>
              </a:rPr>
              <a:t>•  Tests PRACTICAL ability</a:t>
            </a:r>
          </a:p>
          <a:p>
            <a:pPr>
              <a:spcAft>
                <a:spcPts val="800"/>
              </a:spcAft>
            </a:pPr>
            <a:r>
              <a:rPr sz="1400">
                <a:solidFill>
                  <a:srgbClr val="161B26"/>
                </a:solidFill>
                <a:latin typeface="Arial"/>
              </a:rPr>
              <a:t>•  Built on the class activities</a:t>
            </a:r>
          </a:p>
        </p:txBody>
      </p:sp>
      <p:sp>
        <p:nvSpPr>
          <p:cNvPr id="15" name="Rectangle 14"/>
          <p:cNvSpPr/>
          <p:nvPr/>
        </p:nvSpPr>
        <p:spPr>
          <a:xfrm>
            <a:off x="777240" y="4892040"/>
            <a:ext cx="10634472" cy="566928"/>
          </a:xfrm>
          <a:prstGeom prst="rect">
            <a:avLst/>
          </a:prstGeom>
          <a:solidFill>
            <a:srgbClr val="E8F7E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6" name="TextBox 15"/>
          <p:cNvSpPr txBox="1"/>
          <p:nvPr/>
        </p:nvSpPr>
        <p:spPr>
          <a:xfrm>
            <a:off x="1051560" y="4892040"/>
            <a:ext cx="10058400" cy="566928"/>
          </a:xfrm>
          <a:prstGeom prst="rect">
            <a:avLst/>
          </a:prstGeom>
          <a:noFill/>
        </p:spPr>
        <p:txBody>
          <a:bodyPr wrap="square" anchor="ctr">
            <a:spAutoFit/>
          </a:bodyPr>
          <a:lstStyle/>
          <a:p>
            <a:pPr algn="l">
              <a:spcAft>
                <a:spcPts val="400"/>
              </a:spcAft>
            </a:pPr>
            <a:r>
              <a:rPr sz="1350" b="1">
                <a:solidFill>
                  <a:srgbClr val="127A3E"/>
                </a:solidFill>
                <a:latin typeface="Arial"/>
              </a:rPr>
              <a:t>OPEN BOOK — course slides, Learner Guide and approved materials only</a:t>
            </a:r>
          </a:p>
        </p:txBody>
      </p:sp>
      <p:sp>
        <p:nvSpPr>
          <p:cNvPr id="17" name="Rectangle 16"/>
          <p:cNvSpPr/>
          <p:nvPr/>
        </p:nvSpPr>
        <p:spPr>
          <a:xfrm>
            <a:off x="777240" y="5596128"/>
            <a:ext cx="10634472" cy="566928"/>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8" name="TextBox 17"/>
          <p:cNvSpPr txBox="1"/>
          <p:nvPr/>
        </p:nvSpPr>
        <p:spPr>
          <a:xfrm>
            <a:off x="1051560" y="5596128"/>
            <a:ext cx="10058400" cy="566928"/>
          </a:xfrm>
          <a:prstGeom prst="rect">
            <a:avLst/>
          </a:prstGeom>
          <a:noFill/>
        </p:spPr>
        <p:txBody>
          <a:bodyPr wrap="square" anchor="ctr">
            <a:spAutoFit/>
          </a:bodyPr>
          <a:lstStyle/>
          <a:p>
            <a:pPr algn="l">
              <a:spcAft>
                <a:spcPts val="400"/>
              </a:spcAft>
            </a:pPr>
            <a:r>
              <a:rPr sz="1300" b="1">
                <a:solidFill>
                  <a:srgbClr val="1F6FEB"/>
                </a:solidFill>
                <a:latin typeface="Arial"/>
              </a:rPr>
              <a:t>Eligibility:  </a:t>
            </a:r>
            <a:r>
              <a:rPr sz="1300" b="0">
                <a:solidFill>
                  <a:srgbClr val="161B26"/>
                </a:solidFill>
                <a:latin typeface="Arial"/>
              </a:rPr>
              <a:t>minimum 75% attendance + assessed Competent.  An appeal process is available.</a:t>
            </a:r>
          </a:p>
        </p:txBody>
      </p:sp>
      <p:sp>
        <p:nvSpPr>
          <p:cNvPr id="19" name="TextBox 18"/>
          <p:cNvSpPr txBox="1"/>
          <p:nvPr/>
        </p:nvSpPr>
        <p:spPr>
          <a:xfrm>
            <a:off x="365760" y="6446520"/>
            <a:ext cx="6858000" cy="320040"/>
          </a:xfrm>
          <a:prstGeom prst="rect">
            <a:avLst/>
          </a:prstGeom>
          <a:noFill/>
        </p:spPr>
        <p:txBody>
          <a:bodyPr wrap="square" anchor="t">
            <a:spAutoFit/>
          </a:bodyPr>
          <a:lstStyle/>
          <a:p>
            <a:pPr algn="l">
              <a:spcAft>
                <a:spcPts val="400"/>
              </a:spcAft>
            </a:pPr>
            <a:r>
              <a:rPr sz="900" b="0">
                <a:solidFill>
                  <a:srgbClr val="5B6372"/>
                </a:solidFill>
                <a:latin typeface="Arial"/>
              </a:rPr>
              <a:t>Securing the Future with Quantum Computing and Cryptography  ·  TGS-2024043419</a:t>
            </a:r>
          </a:p>
        </p:txBody>
      </p:sp>
      <p:sp>
        <p:nvSpPr>
          <p:cNvPr id="20" name="TextBox 19"/>
          <p:cNvSpPr txBox="1"/>
          <p:nvPr/>
        </p:nvSpPr>
        <p:spPr>
          <a:xfrm>
            <a:off x="4572000" y="6446520"/>
            <a:ext cx="3017520" cy="320040"/>
          </a:xfrm>
          <a:prstGeom prst="rect">
            <a:avLst/>
          </a:prstGeom>
          <a:noFill/>
        </p:spPr>
        <p:txBody>
          <a:bodyPr wrap="square" anchor="t">
            <a:spAutoFit/>
          </a:bodyPr>
          <a:lstStyle/>
          <a:p>
            <a:pPr algn="ctr">
              <a:spcAft>
                <a:spcPts val="400"/>
              </a:spcAft>
            </a:pPr>
            <a:r>
              <a:rPr sz="900" b="0">
                <a:solidFill>
                  <a:srgbClr val="5B6372"/>
                </a:solidFill>
                <a:latin typeface="Arial"/>
              </a:rPr>
              <a:t>© 2026 Tertiary Infotech Academy Pte Ltd</a:t>
            </a:r>
          </a:p>
        </p:txBody>
      </p:sp>
      <p:sp>
        <p:nvSpPr>
          <p:cNvPr id="21" name="TextBox 20"/>
          <p:cNvSpPr txBox="1"/>
          <p:nvPr/>
        </p:nvSpPr>
        <p:spPr>
          <a:xfrm>
            <a:off x="11338560" y="6446520"/>
            <a:ext cx="548640" cy="320040"/>
          </a:xfrm>
          <a:prstGeom prst="rect">
            <a:avLst/>
          </a:prstGeom>
          <a:noFill/>
        </p:spPr>
        <p:txBody>
          <a:bodyPr wrap="square" anchor="t">
            <a:spAutoFit/>
          </a:bodyPr>
          <a:lstStyle/>
          <a:p>
            <a:pPr algn="r">
              <a:spcAft>
                <a:spcPts val="400"/>
              </a:spcAft>
            </a:pPr>
            <a:r>
              <a:rPr sz="900" b="0">
                <a:solidFill>
                  <a:srgbClr val="5B6372"/>
                </a:solidFill>
                <a:latin typeface="Arial"/>
              </a:rPr>
              <a:t>11</a:t>
            </a:r>
          </a:p>
        </p:txBody>
      </p:sp>
    </p:spTree>
  </p:cSld>
  <p:clrMapOvr>
    <a:masterClrMapping/>
  </p:clrMapOvr>
</p:sld>
</file>

<file path=ppt/slides/slide13.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256032" cy="1417320"/>
          </a:xfrm>
          <a:prstGeom prst="rect">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777240" y="457200"/>
            <a:ext cx="10607040" cy="365760"/>
          </a:xfrm>
          <a:prstGeom prst="rect">
            <a:avLst/>
          </a:prstGeom>
          <a:noFill/>
        </p:spPr>
        <p:txBody>
          <a:bodyPr wrap="square" anchor="t">
            <a:spAutoFit/>
          </a:bodyPr>
          <a:lstStyle/>
          <a:p>
            <a:pPr algn="l">
              <a:spcAft>
                <a:spcPts val="400"/>
              </a:spcAft>
            </a:pPr>
            <a:r>
              <a:rPr sz="1400" b="1">
                <a:solidFill>
                  <a:srgbClr val="1F6FEB"/>
                </a:solidFill>
                <a:latin typeface="Arial"/>
              </a:rPr>
              <a:t>ON ASSESSMENT DAY</a:t>
            </a:r>
          </a:p>
        </p:txBody>
      </p:sp>
      <p:sp>
        <p:nvSpPr>
          <p:cNvPr id="5" name="TextBox 4"/>
          <p:cNvSpPr txBox="1"/>
          <p:nvPr/>
        </p:nvSpPr>
        <p:spPr>
          <a:xfrm>
            <a:off x="777240" y="822960"/>
            <a:ext cx="10881360" cy="822960"/>
          </a:xfrm>
          <a:prstGeom prst="rect">
            <a:avLst/>
          </a:prstGeom>
          <a:noFill/>
        </p:spPr>
        <p:txBody>
          <a:bodyPr wrap="square" anchor="t">
            <a:spAutoFit/>
          </a:bodyPr>
          <a:lstStyle/>
          <a:p>
            <a:pPr algn="l">
              <a:spcAft>
                <a:spcPts val="400"/>
              </a:spcAft>
            </a:pPr>
            <a:r>
              <a:rPr sz="2900" b="1">
                <a:solidFill>
                  <a:srgbClr val="161B26"/>
                </a:solidFill>
                <a:latin typeface="Arial"/>
              </a:rPr>
              <a:t>Assessment Flow</a:t>
            </a:r>
          </a:p>
        </p:txBody>
      </p:sp>
      <p:sp>
        <p:nvSpPr>
          <p:cNvPr id="6" name="Rectangle 5"/>
          <p:cNvSpPr/>
          <p:nvPr/>
        </p:nvSpPr>
        <p:spPr>
          <a:xfrm>
            <a:off x="777240" y="1554480"/>
            <a:ext cx="10634472" cy="18288"/>
          </a:xfrm>
          <a:prstGeom prst="rect">
            <a:avLst/>
          </a:prstGeom>
          <a:solidFill>
            <a:srgbClr val="E2E8F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pic>
        <p:nvPicPr>
          <p:cNvPr id="7" name="Picture 6" descr="assessment-flow.png"/>
          <p:cNvPicPr>
            <a:picLocks noChangeAspect="1"/>
          </p:cNvPicPr>
          <p:nvPr/>
        </p:nvPicPr>
        <p:blipFill>
          <a:blip r:embed="rId2"/>
          <a:stretch>
            <a:fillRect/>
          </a:stretch>
        </p:blipFill>
        <p:spPr>
          <a:xfrm>
            <a:off x="1292550" y="1755648"/>
            <a:ext cx="9603851" cy="3950208"/>
          </a:xfrm>
          <a:prstGeom prst="rect">
            <a:avLst/>
          </a:prstGeom>
        </p:spPr>
      </p:pic>
      <p:sp>
        <p:nvSpPr>
          <p:cNvPr id="8" name="Rectangle 7"/>
          <p:cNvSpPr/>
          <p:nvPr/>
        </p:nvSpPr>
        <p:spPr>
          <a:xfrm>
            <a:off x="777240" y="5870448"/>
            <a:ext cx="10634472" cy="457200"/>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TextBox 8"/>
          <p:cNvSpPr txBox="1"/>
          <p:nvPr/>
        </p:nvSpPr>
        <p:spPr>
          <a:xfrm>
            <a:off x="960120" y="5870448"/>
            <a:ext cx="10241280" cy="457200"/>
          </a:xfrm>
          <a:prstGeom prst="rect">
            <a:avLst/>
          </a:prstGeom>
          <a:noFill/>
        </p:spPr>
        <p:txBody>
          <a:bodyPr wrap="square" anchor="ctr">
            <a:spAutoFit/>
          </a:bodyPr>
          <a:lstStyle/>
          <a:p>
            <a:pPr algn="ctr">
              <a:spcAft>
                <a:spcPts val="400"/>
              </a:spcAft>
            </a:pPr>
            <a:r>
              <a:rPr sz="1350" b="0">
                <a:solidFill>
                  <a:srgbClr val="161B26"/>
                </a:solidFill>
                <a:latin typeface="Arial"/>
              </a:rPr>
              <a:t>Complete every step in order — the TRAQOM survey and digital attendance are mandatory for funding.</a:t>
            </a:r>
          </a:p>
        </p:txBody>
      </p:sp>
      <p:sp>
        <p:nvSpPr>
          <p:cNvPr id="10" name="TextBox 9"/>
          <p:cNvSpPr txBox="1"/>
          <p:nvPr/>
        </p:nvSpPr>
        <p:spPr>
          <a:xfrm>
            <a:off x="365760" y="6446520"/>
            <a:ext cx="6858000" cy="320040"/>
          </a:xfrm>
          <a:prstGeom prst="rect">
            <a:avLst/>
          </a:prstGeom>
          <a:noFill/>
        </p:spPr>
        <p:txBody>
          <a:bodyPr wrap="square" anchor="t">
            <a:spAutoFit/>
          </a:bodyPr>
          <a:lstStyle/>
          <a:p>
            <a:pPr algn="l">
              <a:spcAft>
                <a:spcPts val="400"/>
              </a:spcAft>
            </a:pPr>
            <a:r>
              <a:rPr sz="900" b="0">
                <a:solidFill>
                  <a:srgbClr val="5B6372"/>
                </a:solidFill>
                <a:latin typeface="Arial"/>
              </a:rPr>
              <a:t>Securing the Future with Quantum Computing and Cryptography  ·  TGS-2024043419</a:t>
            </a:r>
          </a:p>
        </p:txBody>
      </p:sp>
      <p:sp>
        <p:nvSpPr>
          <p:cNvPr id="11" name="TextBox 10"/>
          <p:cNvSpPr txBox="1"/>
          <p:nvPr/>
        </p:nvSpPr>
        <p:spPr>
          <a:xfrm>
            <a:off x="4572000" y="6446520"/>
            <a:ext cx="3017520" cy="320040"/>
          </a:xfrm>
          <a:prstGeom prst="rect">
            <a:avLst/>
          </a:prstGeom>
          <a:noFill/>
        </p:spPr>
        <p:txBody>
          <a:bodyPr wrap="square" anchor="t">
            <a:spAutoFit/>
          </a:bodyPr>
          <a:lstStyle/>
          <a:p>
            <a:pPr algn="ctr">
              <a:spcAft>
                <a:spcPts val="400"/>
              </a:spcAft>
            </a:pPr>
            <a:r>
              <a:rPr sz="900" b="0">
                <a:solidFill>
                  <a:srgbClr val="5B6372"/>
                </a:solidFill>
                <a:latin typeface="Arial"/>
              </a:rPr>
              <a:t>© 2026 Tertiary Infotech Academy Pte Ltd</a:t>
            </a:r>
          </a:p>
        </p:txBody>
      </p:sp>
      <p:sp>
        <p:nvSpPr>
          <p:cNvPr id="12" name="TextBox 11"/>
          <p:cNvSpPr txBox="1"/>
          <p:nvPr/>
        </p:nvSpPr>
        <p:spPr>
          <a:xfrm>
            <a:off x="11338560" y="6446520"/>
            <a:ext cx="548640" cy="320040"/>
          </a:xfrm>
          <a:prstGeom prst="rect">
            <a:avLst/>
          </a:prstGeom>
          <a:noFill/>
        </p:spPr>
        <p:txBody>
          <a:bodyPr wrap="square" anchor="t">
            <a:spAutoFit/>
          </a:bodyPr>
          <a:lstStyle/>
          <a:p>
            <a:pPr algn="r">
              <a:spcAft>
                <a:spcPts val="400"/>
              </a:spcAft>
            </a:pPr>
            <a:r>
              <a:rPr sz="900" b="0">
                <a:solidFill>
                  <a:srgbClr val="5B6372"/>
                </a:solidFill>
                <a:latin typeface="Arial"/>
              </a:rPr>
              <a:t>12</a:t>
            </a:r>
          </a:p>
        </p:txBody>
      </p:sp>
    </p:spTree>
  </p:cSld>
  <p:clrMapOvr>
    <a:masterClrMapping/>
  </p:clrMapOvr>
</p:sld>
</file>

<file path=ppt/slides/slide14.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256032" cy="6858000"/>
          </a:xfrm>
          <a:prstGeom prst="rect">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Rectangle 3"/>
          <p:cNvSpPr/>
          <p:nvPr/>
        </p:nvSpPr>
        <p:spPr>
          <a:xfrm>
            <a:off x="777240" y="2286000"/>
            <a:ext cx="128016" cy="1828800"/>
          </a:xfrm>
          <a:prstGeom prst="rect">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TextBox 4"/>
          <p:cNvSpPr txBox="1"/>
          <p:nvPr/>
        </p:nvSpPr>
        <p:spPr>
          <a:xfrm>
            <a:off x="1143000" y="2331720"/>
            <a:ext cx="10058400" cy="548640"/>
          </a:xfrm>
          <a:prstGeom prst="rect">
            <a:avLst/>
          </a:prstGeom>
          <a:noFill/>
        </p:spPr>
        <p:txBody>
          <a:bodyPr wrap="square" anchor="t">
            <a:spAutoFit/>
          </a:bodyPr>
          <a:lstStyle/>
          <a:p>
            <a:pPr algn="l">
              <a:spcAft>
                <a:spcPts val="400"/>
              </a:spcAft>
            </a:pPr>
            <a:r>
              <a:rPr sz="1800" b="1">
                <a:solidFill>
                  <a:srgbClr val="1F6FEB"/>
                </a:solidFill>
                <a:latin typeface="Arial"/>
              </a:rPr>
              <a:t>GETTING STARTED</a:t>
            </a:r>
          </a:p>
        </p:txBody>
      </p:sp>
      <p:sp>
        <p:nvSpPr>
          <p:cNvPr id="6" name="TextBox 5"/>
          <p:cNvSpPr txBox="1"/>
          <p:nvPr/>
        </p:nvSpPr>
        <p:spPr>
          <a:xfrm>
            <a:off x="1143000" y="2743200"/>
            <a:ext cx="9509760" cy="1463040"/>
          </a:xfrm>
          <a:prstGeom prst="rect">
            <a:avLst/>
          </a:prstGeom>
          <a:noFill/>
        </p:spPr>
        <p:txBody>
          <a:bodyPr wrap="square" anchor="t">
            <a:spAutoFit/>
          </a:bodyPr>
          <a:lstStyle/>
          <a:p>
            <a:pPr algn="l">
              <a:spcAft>
                <a:spcPts val="400"/>
              </a:spcAft>
            </a:pPr>
            <a:r>
              <a:rPr sz="4000" b="1">
                <a:solidFill>
                  <a:srgbClr val="161B26"/>
                </a:solidFill>
                <a:latin typeface="Arial"/>
              </a:rPr>
              <a:t>Why Quantum, Why Now</a:t>
            </a:r>
          </a:p>
        </p:txBody>
      </p:sp>
      <p:sp>
        <p:nvSpPr>
          <p:cNvPr id="7" name="TextBox 6"/>
          <p:cNvSpPr txBox="1"/>
          <p:nvPr/>
        </p:nvSpPr>
        <p:spPr>
          <a:xfrm>
            <a:off x="365760" y="6446520"/>
            <a:ext cx="6858000" cy="320040"/>
          </a:xfrm>
          <a:prstGeom prst="rect">
            <a:avLst/>
          </a:prstGeom>
          <a:noFill/>
        </p:spPr>
        <p:txBody>
          <a:bodyPr wrap="square" anchor="t">
            <a:spAutoFit/>
          </a:bodyPr>
          <a:lstStyle/>
          <a:p>
            <a:pPr algn="l">
              <a:spcAft>
                <a:spcPts val="400"/>
              </a:spcAft>
            </a:pPr>
            <a:r>
              <a:rPr sz="900" b="0">
                <a:solidFill>
                  <a:srgbClr val="5B6372"/>
                </a:solidFill>
                <a:latin typeface="Arial"/>
              </a:rPr>
              <a:t>Securing the Future with Quantum Computing and Cryptography  ·  TGS-2024043419</a:t>
            </a:r>
          </a:p>
        </p:txBody>
      </p:sp>
      <p:sp>
        <p:nvSpPr>
          <p:cNvPr id="8" name="TextBox 7"/>
          <p:cNvSpPr txBox="1"/>
          <p:nvPr/>
        </p:nvSpPr>
        <p:spPr>
          <a:xfrm>
            <a:off x="4572000" y="6446520"/>
            <a:ext cx="3017520" cy="320040"/>
          </a:xfrm>
          <a:prstGeom prst="rect">
            <a:avLst/>
          </a:prstGeom>
          <a:noFill/>
        </p:spPr>
        <p:txBody>
          <a:bodyPr wrap="square" anchor="t">
            <a:spAutoFit/>
          </a:bodyPr>
          <a:lstStyle/>
          <a:p>
            <a:pPr algn="ctr">
              <a:spcAft>
                <a:spcPts val="400"/>
              </a:spcAft>
            </a:pPr>
            <a:r>
              <a:rPr sz="900" b="0">
                <a:solidFill>
                  <a:srgbClr val="5B6372"/>
                </a:solidFill>
                <a:latin typeface="Arial"/>
              </a:rPr>
              <a:t>© 2026 Tertiary Infotech Academy Pte Ltd</a:t>
            </a:r>
          </a:p>
        </p:txBody>
      </p:sp>
      <p:sp>
        <p:nvSpPr>
          <p:cNvPr id="9" name="TextBox 8"/>
          <p:cNvSpPr txBox="1"/>
          <p:nvPr/>
        </p:nvSpPr>
        <p:spPr>
          <a:xfrm>
            <a:off x="11338560" y="6446520"/>
            <a:ext cx="548640" cy="320040"/>
          </a:xfrm>
          <a:prstGeom prst="rect">
            <a:avLst/>
          </a:prstGeom>
          <a:noFill/>
        </p:spPr>
        <p:txBody>
          <a:bodyPr wrap="square" anchor="t">
            <a:spAutoFit/>
          </a:bodyPr>
          <a:lstStyle/>
          <a:p>
            <a:pPr algn="r">
              <a:spcAft>
                <a:spcPts val="400"/>
              </a:spcAft>
            </a:pPr>
            <a:r>
              <a:rPr sz="900" b="0">
                <a:solidFill>
                  <a:srgbClr val="5B6372"/>
                </a:solidFill>
                <a:latin typeface="Arial"/>
              </a:rPr>
              <a:t>13</a:t>
            </a:r>
          </a:p>
        </p:txBody>
      </p:sp>
    </p:spTree>
  </p:cSld>
  <p:clrMapOvr>
    <a:masterClrMapping/>
  </p:clrMapOvr>
</p:sld>
</file>

<file path=ppt/slides/slide15.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256032" cy="1417320"/>
          </a:xfrm>
          <a:prstGeom prst="rect">
            <a:avLst/>
          </a:prstGeom>
          <a:solidFill>
            <a:srgbClr val="7C3AE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777240" y="457200"/>
            <a:ext cx="10607040" cy="365760"/>
          </a:xfrm>
          <a:prstGeom prst="rect">
            <a:avLst/>
          </a:prstGeom>
          <a:noFill/>
        </p:spPr>
        <p:txBody>
          <a:bodyPr wrap="square" anchor="t">
            <a:spAutoFit/>
          </a:bodyPr>
          <a:lstStyle/>
          <a:p>
            <a:pPr algn="l">
              <a:spcAft>
                <a:spcPts val="400"/>
              </a:spcAft>
            </a:pPr>
            <a:r>
              <a:rPr sz="1400" b="1">
                <a:solidFill>
                  <a:srgbClr val="7C3AED"/>
                </a:solidFill>
                <a:latin typeface="Arial"/>
              </a:rPr>
              <a:t>THE CORE IDEA</a:t>
            </a:r>
          </a:p>
        </p:txBody>
      </p:sp>
      <p:sp>
        <p:nvSpPr>
          <p:cNvPr id="5" name="TextBox 4"/>
          <p:cNvSpPr txBox="1"/>
          <p:nvPr/>
        </p:nvSpPr>
        <p:spPr>
          <a:xfrm>
            <a:off x="777240" y="822960"/>
            <a:ext cx="10881360" cy="822960"/>
          </a:xfrm>
          <a:prstGeom prst="rect">
            <a:avLst/>
          </a:prstGeom>
          <a:noFill/>
        </p:spPr>
        <p:txBody>
          <a:bodyPr wrap="square" anchor="t">
            <a:spAutoFit/>
          </a:bodyPr>
          <a:lstStyle/>
          <a:p>
            <a:pPr algn="l">
              <a:spcAft>
                <a:spcPts val="400"/>
              </a:spcAft>
            </a:pPr>
            <a:r>
              <a:rPr sz="2900" b="1">
                <a:solidFill>
                  <a:srgbClr val="161B26"/>
                </a:solidFill>
                <a:latin typeface="Arial"/>
              </a:rPr>
              <a:t>What Makes a Qubit Different</a:t>
            </a:r>
          </a:p>
        </p:txBody>
      </p:sp>
      <p:sp>
        <p:nvSpPr>
          <p:cNvPr id="6" name="Rectangle 5"/>
          <p:cNvSpPr/>
          <p:nvPr/>
        </p:nvSpPr>
        <p:spPr>
          <a:xfrm>
            <a:off x="777240" y="1554480"/>
            <a:ext cx="10634472" cy="18288"/>
          </a:xfrm>
          <a:prstGeom prst="rect">
            <a:avLst/>
          </a:prstGeom>
          <a:solidFill>
            <a:srgbClr val="E2E8F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pic>
        <p:nvPicPr>
          <p:cNvPr id="7" name="Picture 6" descr="bit-vs-qubit.png"/>
          <p:cNvPicPr>
            <a:picLocks noChangeAspect="1"/>
          </p:cNvPicPr>
          <p:nvPr/>
        </p:nvPicPr>
        <p:blipFill>
          <a:blip r:embed="rId2"/>
          <a:stretch>
            <a:fillRect/>
          </a:stretch>
        </p:blipFill>
        <p:spPr>
          <a:xfrm>
            <a:off x="777240" y="2379971"/>
            <a:ext cx="6400800" cy="3012457"/>
          </a:xfrm>
          <a:prstGeom prst="rect">
            <a:avLst/>
          </a:prstGeom>
        </p:spPr>
      </p:pic>
      <p:sp>
        <p:nvSpPr>
          <p:cNvPr id="8" name="Rectangle 7"/>
          <p:cNvSpPr/>
          <p:nvPr/>
        </p:nvSpPr>
        <p:spPr>
          <a:xfrm>
            <a:off x="7452360" y="1783080"/>
            <a:ext cx="3959352" cy="937260"/>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Rectangle 8"/>
          <p:cNvSpPr/>
          <p:nvPr/>
        </p:nvSpPr>
        <p:spPr>
          <a:xfrm>
            <a:off x="7452360" y="1783080"/>
            <a:ext cx="82296" cy="937260"/>
          </a:xfrm>
          <a:prstGeom prst="rect">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TextBox 9"/>
          <p:cNvSpPr txBox="1"/>
          <p:nvPr/>
        </p:nvSpPr>
        <p:spPr>
          <a:xfrm>
            <a:off x="7708392" y="1783080"/>
            <a:ext cx="3502152" cy="937260"/>
          </a:xfrm>
          <a:prstGeom prst="rect">
            <a:avLst/>
          </a:prstGeom>
          <a:noFill/>
        </p:spPr>
        <p:txBody>
          <a:bodyPr wrap="square" anchor="ctr">
            <a:spAutoFit/>
          </a:bodyPr>
          <a:lstStyle/>
          <a:p>
            <a:pPr algn="l">
              <a:spcAft>
                <a:spcPts val="300"/>
              </a:spcAft>
            </a:pPr>
            <a:r>
              <a:rPr sz="1400" b="1">
                <a:solidFill>
                  <a:srgbClr val="1F6FEB"/>
                </a:solidFill>
                <a:latin typeface="Arial"/>
              </a:rPr>
              <a:t>Classical bit</a:t>
            </a:r>
          </a:p>
          <a:p>
            <a:pPr algn="l">
              <a:spcAft>
                <a:spcPts val="300"/>
              </a:spcAft>
            </a:pPr>
            <a:r>
              <a:rPr sz="1200" b="0">
                <a:solidFill>
                  <a:srgbClr val="161B26"/>
                </a:solidFill>
                <a:latin typeface="Arial"/>
              </a:rPr>
              <a:t>Holds exactly one value — 0 or 1 — at any instant.</a:t>
            </a:r>
          </a:p>
        </p:txBody>
      </p:sp>
      <p:sp>
        <p:nvSpPr>
          <p:cNvPr id="11" name="Rectangle 10"/>
          <p:cNvSpPr/>
          <p:nvPr/>
        </p:nvSpPr>
        <p:spPr>
          <a:xfrm>
            <a:off x="7452360" y="2903220"/>
            <a:ext cx="3959352" cy="937260"/>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 name="Rectangle 11"/>
          <p:cNvSpPr/>
          <p:nvPr/>
        </p:nvSpPr>
        <p:spPr>
          <a:xfrm>
            <a:off x="7452360" y="2903220"/>
            <a:ext cx="82296" cy="937260"/>
          </a:xfrm>
          <a:prstGeom prst="rect">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 name="TextBox 12"/>
          <p:cNvSpPr txBox="1"/>
          <p:nvPr/>
        </p:nvSpPr>
        <p:spPr>
          <a:xfrm>
            <a:off x="7708392" y="2903220"/>
            <a:ext cx="3502152" cy="937260"/>
          </a:xfrm>
          <a:prstGeom prst="rect">
            <a:avLst/>
          </a:prstGeom>
          <a:noFill/>
        </p:spPr>
        <p:txBody>
          <a:bodyPr wrap="square" anchor="ctr">
            <a:spAutoFit/>
          </a:bodyPr>
          <a:lstStyle/>
          <a:p>
            <a:pPr algn="l">
              <a:spcAft>
                <a:spcPts val="300"/>
              </a:spcAft>
            </a:pPr>
            <a:r>
              <a:rPr sz="1400" b="1">
                <a:solidFill>
                  <a:srgbClr val="10B981"/>
                </a:solidFill>
                <a:latin typeface="Arial"/>
              </a:rPr>
              <a:t>Qubit</a:t>
            </a:r>
          </a:p>
          <a:p>
            <a:pPr algn="l">
              <a:spcAft>
                <a:spcPts val="300"/>
              </a:spcAft>
            </a:pPr>
            <a:r>
              <a:rPr sz="1200" b="0">
                <a:solidFill>
                  <a:srgbClr val="161B26"/>
                </a:solidFill>
                <a:latin typeface="Arial"/>
              </a:rPr>
              <a:t>Holds a superposition of both, described by two complex amplitudes.</a:t>
            </a:r>
          </a:p>
        </p:txBody>
      </p:sp>
      <p:sp>
        <p:nvSpPr>
          <p:cNvPr id="14" name="Rectangle 13"/>
          <p:cNvSpPr/>
          <p:nvPr/>
        </p:nvSpPr>
        <p:spPr>
          <a:xfrm>
            <a:off x="7452360" y="4023360"/>
            <a:ext cx="3959352" cy="937260"/>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5" name="Rectangle 14"/>
          <p:cNvSpPr/>
          <p:nvPr/>
        </p:nvSpPr>
        <p:spPr>
          <a:xfrm>
            <a:off x="7452360" y="4023360"/>
            <a:ext cx="82296" cy="937260"/>
          </a:xfrm>
          <a:prstGeom prst="rect">
            <a:avLst/>
          </a:prstGeom>
          <a:solidFill>
            <a:srgbClr val="7C3AE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6" name="TextBox 15"/>
          <p:cNvSpPr txBox="1"/>
          <p:nvPr/>
        </p:nvSpPr>
        <p:spPr>
          <a:xfrm>
            <a:off x="7708392" y="4023360"/>
            <a:ext cx="3502152" cy="937260"/>
          </a:xfrm>
          <a:prstGeom prst="rect">
            <a:avLst/>
          </a:prstGeom>
          <a:noFill/>
        </p:spPr>
        <p:txBody>
          <a:bodyPr wrap="square" anchor="ctr">
            <a:spAutoFit/>
          </a:bodyPr>
          <a:lstStyle/>
          <a:p>
            <a:pPr algn="l">
              <a:spcAft>
                <a:spcPts val="300"/>
              </a:spcAft>
            </a:pPr>
            <a:r>
              <a:rPr sz="1400" b="1">
                <a:solidFill>
                  <a:srgbClr val="7C3AED"/>
                </a:solidFill>
                <a:latin typeface="Arial"/>
              </a:rPr>
              <a:t>Measurement</a:t>
            </a:r>
          </a:p>
          <a:p>
            <a:pPr algn="l">
              <a:spcAft>
                <a:spcPts val="300"/>
              </a:spcAft>
            </a:pPr>
            <a:r>
              <a:rPr sz="1200" b="0">
                <a:solidFill>
                  <a:srgbClr val="161B26"/>
                </a:solidFill>
                <a:latin typeface="Arial"/>
              </a:rPr>
              <a:t>Collapses the superposition to a single classical outcome.</a:t>
            </a:r>
          </a:p>
        </p:txBody>
      </p:sp>
      <p:sp>
        <p:nvSpPr>
          <p:cNvPr id="17" name="Rectangle 16"/>
          <p:cNvSpPr/>
          <p:nvPr/>
        </p:nvSpPr>
        <p:spPr>
          <a:xfrm>
            <a:off x="7452360" y="5143500"/>
            <a:ext cx="3959352" cy="937260"/>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8" name="Rectangle 17"/>
          <p:cNvSpPr/>
          <p:nvPr/>
        </p:nvSpPr>
        <p:spPr>
          <a:xfrm>
            <a:off x="7452360" y="5143500"/>
            <a:ext cx="82296" cy="937260"/>
          </a:xfrm>
          <a:prstGeom prst="rect">
            <a:avLst/>
          </a:prstGeom>
          <a:solidFill>
            <a:srgbClr val="F59E0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9" name="TextBox 18"/>
          <p:cNvSpPr txBox="1"/>
          <p:nvPr/>
        </p:nvSpPr>
        <p:spPr>
          <a:xfrm>
            <a:off x="7708392" y="5143500"/>
            <a:ext cx="3502152" cy="937260"/>
          </a:xfrm>
          <a:prstGeom prst="rect">
            <a:avLst/>
          </a:prstGeom>
          <a:noFill/>
        </p:spPr>
        <p:txBody>
          <a:bodyPr wrap="square" anchor="ctr">
            <a:spAutoFit/>
          </a:bodyPr>
          <a:lstStyle/>
          <a:p>
            <a:pPr algn="l">
              <a:spcAft>
                <a:spcPts val="300"/>
              </a:spcAft>
            </a:pPr>
            <a:r>
              <a:rPr sz="1400" b="1">
                <a:solidFill>
                  <a:srgbClr val="F59E0B"/>
                </a:solidFill>
                <a:latin typeface="Arial"/>
              </a:rPr>
              <a:t>The payoff</a:t>
            </a:r>
          </a:p>
          <a:p>
            <a:pPr algn="l">
              <a:spcAft>
                <a:spcPts val="300"/>
              </a:spcAft>
            </a:pPr>
            <a:r>
              <a:rPr sz="1200" b="0">
                <a:solidFill>
                  <a:srgbClr val="161B26"/>
                </a:solidFill>
                <a:latin typeface="Arial"/>
              </a:rPr>
              <a:t>n qubits carry 2ⁿ amplitudes at once — quantum parallelism.</a:t>
            </a:r>
          </a:p>
        </p:txBody>
      </p:sp>
      <p:sp>
        <p:nvSpPr>
          <p:cNvPr id="20" name="TextBox 19"/>
          <p:cNvSpPr txBox="1"/>
          <p:nvPr/>
        </p:nvSpPr>
        <p:spPr>
          <a:xfrm>
            <a:off x="365760" y="6446520"/>
            <a:ext cx="6858000" cy="320040"/>
          </a:xfrm>
          <a:prstGeom prst="rect">
            <a:avLst/>
          </a:prstGeom>
          <a:noFill/>
        </p:spPr>
        <p:txBody>
          <a:bodyPr wrap="square" anchor="t">
            <a:spAutoFit/>
          </a:bodyPr>
          <a:lstStyle/>
          <a:p>
            <a:pPr algn="l">
              <a:spcAft>
                <a:spcPts val="400"/>
              </a:spcAft>
            </a:pPr>
            <a:r>
              <a:rPr sz="900" b="0">
                <a:solidFill>
                  <a:srgbClr val="5B6372"/>
                </a:solidFill>
                <a:latin typeface="Arial"/>
              </a:rPr>
              <a:t>Securing the Future with Quantum Computing and Cryptography  ·  TGS-2024043419</a:t>
            </a:r>
          </a:p>
        </p:txBody>
      </p:sp>
      <p:sp>
        <p:nvSpPr>
          <p:cNvPr id="21" name="TextBox 20"/>
          <p:cNvSpPr txBox="1"/>
          <p:nvPr/>
        </p:nvSpPr>
        <p:spPr>
          <a:xfrm>
            <a:off x="4572000" y="6446520"/>
            <a:ext cx="3017520" cy="320040"/>
          </a:xfrm>
          <a:prstGeom prst="rect">
            <a:avLst/>
          </a:prstGeom>
          <a:noFill/>
        </p:spPr>
        <p:txBody>
          <a:bodyPr wrap="square" anchor="t">
            <a:spAutoFit/>
          </a:bodyPr>
          <a:lstStyle/>
          <a:p>
            <a:pPr algn="ctr">
              <a:spcAft>
                <a:spcPts val="400"/>
              </a:spcAft>
            </a:pPr>
            <a:r>
              <a:rPr sz="900" b="0">
                <a:solidFill>
                  <a:srgbClr val="5B6372"/>
                </a:solidFill>
                <a:latin typeface="Arial"/>
              </a:rPr>
              <a:t>© 2026 Tertiary Infotech Academy Pte Ltd</a:t>
            </a:r>
          </a:p>
        </p:txBody>
      </p:sp>
      <p:sp>
        <p:nvSpPr>
          <p:cNvPr id="22" name="TextBox 21"/>
          <p:cNvSpPr txBox="1"/>
          <p:nvPr/>
        </p:nvSpPr>
        <p:spPr>
          <a:xfrm>
            <a:off x="11338560" y="6446520"/>
            <a:ext cx="548640" cy="320040"/>
          </a:xfrm>
          <a:prstGeom prst="rect">
            <a:avLst/>
          </a:prstGeom>
          <a:noFill/>
        </p:spPr>
        <p:txBody>
          <a:bodyPr wrap="square" anchor="t">
            <a:spAutoFit/>
          </a:bodyPr>
          <a:lstStyle/>
          <a:p>
            <a:pPr algn="r">
              <a:spcAft>
                <a:spcPts val="400"/>
              </a:spcAft>
            </a:pPr>
            <a:r>
              <a:rPr sz="900" b="0">
                <a:solidFill>
                  <a:srgbClr val="5B6372"/>
                </a:solidFill>
                <a:latin typeface="Arial"/>
              </a:rPr>
              <a:t>14</a:t>
            </a:r>
          </a:p>
        </p:txBody>
      </p:sp>
    </p:spTree>
  </p:cSld>
  <p:clrMapOvr>
    <a:masterClrMapping/>
  </p:clrMapOvr>
</p:sld>
</file>

<file path=ppt/slides/slide16.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256032" cy="1417320"/>
          </a:xfrm>
          <a:prstGeom prst="rect">
            <a:avLst/>
          </a:prstGeom>
          <a:solidFill>
            <a:srgbClr val="7C3AE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777240" y="457200"/>
            <a:ext cx="10607040" cy="365760"/>
          </a:xfrm>
          <a:prstGeom prst="rect">
            <a:avLst/>
          </a:prstGeom>
          <a:noFill/>
        </p:spPr>
        <p:txBody>
          <a:bodyPr wrap="square" anchor="t">
            <a:spAutoFit/>
          </a:bodyPr>
          <a:lstStyle/>
          <a:p>
            <a:pPr algn="l">
              <a:spcAft>
                <a:spcPts val="400"/>
              </a:spcAft>
            </a:pPr>
            <a:r>
              <a:rPr sz="1400" b="1">
                <a:solidFill>
                  <a:srgbClr val="7C3AED"/>
                </a:solidFill>
                <a:latin typeface="Arial"/>
              </a:rPr>
              <a:t>WHY IT MATTERS</a:t>
            </a:r>
          </a:p>
        </p:txBody>
      </p:sp>
      <p:sp>
        <p:nvSpPr>
          <p:cNvPr id="5" name="TextBox 4"/>
          <p:cNvSpPr txBox="1"/>
          <p:nvPr/>
        </p:nvSpPr>
        <p:spPr>
          <a:xfrm>
            <a:off x="777240" y="822960"/>
            <a:ext cx="10881360" cy="822960"/>
          </a:xfrm>
          <a:prstGeom prst="rect">
            <a:avLst/>
          </a:prstGeom>
          <a:noFill/>
        </p:spPr>
        <p:txBody>
          <a:bodyPr wrap="square" anchor="t">
            <a:spAutoFit/>
          </a:bodyPr>
          <a:lstStyle/>
          <a:p>
            <a:pPr algn="l">
              <a:spcAft>
                <a:spcPts val="400"/>
              </a:spcAft>
            </a:pPr>
            <a:r>
              <a:rPr sz="2900" b="1">
                <a:solidFill>
                  <a:srgbClr val="161B26"/>
                </a:solidFill>
                <a:latin typeface="Arial"/>
              </a:rPr>
              <a:t>The State Space Explosion</a:t>
            </a:r>
          </a:p>
        </p:txBody>
      </p:sp>
      <p:sp>
        <p:nvSpPr>
          <p:cNvPr id="6" name="Rectangle 5"/>
          <p:cNvSpPr/>
          <p:nvPr/>
        </p:nvSpPr>
        <p:spPr>
          <a:xfrm>
            <a:off x="777240" y="1554480"/>
            <a:ext cx="10634472" cy="18288"/>
          </a:xfrm>
          <a:prstGeom prst="rect">
            <a:avLst/>
          </a:prstGeom>
          <a:solidFill>
            <a:srgbClr val="E2E8F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pic>
        <p:nvPicPr>
          <p:cNvPr id="7" name="Picture 6" descr="state-space-growth.png"/>
          <p:cNvPicPr>
            <a:picLocks noChangeAspect="1"/>
          </p:cNvPicPr>
          <p:nvPr/>
        </p:nvPicPr>
        <p:blipFill>
          <a:blip r:embed="rId2"/>
          <a:stretch>
            <a:fillRect/>
          </a:stretch>
        </p:blipFill>
        <p:spPr>
          <a:xfrm>
            <a:off x="777240" y="2237723"/>
            <a:ext cx="6400800" cy="3296953"/>
          </a:xfrm>
          <a:prstGeom prst="rect">
            <a:avLst/>
          </a:prstGeom>
        </p:spPr>
      </p:pic>
      <p:sp>
        <p:nvSpPr>
          <p:cNvPr id="8" name="Rectangle 7"/>
          <p:cNvSpPr/>
          <p:nvPr/>
        </p:nvSpPr>
        <p:spPr>
          <a:xfrm>
            <a:off x="7452360" y="1783080"/>
            <a:ext cx="3959352" cy="937260"/>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Rectangle 8"/>
          <p:cNvSpPr/>
          <p:nvPr/>
        </p:nvSpPr>
        <p:spPr>
          <a:xfrm>
            <a:off x="7452360" y="1783080"/>
            <a:ext cx="82296" cy="937260"/>
          </a:xfrm>
          <a:prstGeom prst="rect">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TextBox 9"/>
          <p:cNvSpPr txBox="1"/>
          <p:nvPr/>
        </p:nvSpPr>
        <p:spPr>
          <a:xfrm>
            <a:off x="7708392" y="1783080"/>
            <a:ext cx="3502152" cy="937260"/>
          </a:xfrm>
          <a:prstGeom prst="rect">
            <a:avLst/>
          </a:prstGeom>
          <a:noFill/>
        </p:spPr>
        <p:txBody>
          <a:bodyPr wrap="square" anchor="ctr">
            <a:spAutoFit/>
          </a:bodyPr>
          <a:lstStyle/>
          <a:p>
            <a:pPr algn="l">
              <a:spcAft>
                <a:spcPts val="300"/>
              </a:spcAft>
            </a:pPr>
            <a:r>
              <a:rPr sz="1400" b="1">
                <a:solidFill>
                  <a:srgbClr val="1F6FEB"/>
                </a:solidFill>
                <a:latin typeface="Arial"/>
              </a:rPr>
              <a:t>50 qubits</a:t>
            </a:r>
          </a:p>
          <a:p>
            <a:pPr algn="l">
              <a:spcAft>
                <a:spcPts val="300"/>
              </a:spcAft>
            </a:pPr>
            <a:r>
              <a:rPr sz="1200" b="0">
                <a:solidFill>
                  <a:srgbClr val="161B26"/>
                </a:solidFill>
                <a:latin typeface="Arial"/>
              </a:rPr>
              <a:t>~10¹⁵ amplitudes — beyond any classical supercomputer's memory.</a:t>
            </a:r>
          </a:p>
        </p:txBody>
      </p:sp>
      <p:sp>
        <p:nvSpPr>
          <p:cNvPr id="11" name="Rectangle 10"/>
          <p:cNvSpPr/>
          <p:nvPr/>
        </p:nvSpPr>
        <p:spPr>
          <a:xfrm>
            <a:off x="7452360" y="2903220"/>
            <a:ext cx="3959352" cy="937260"/>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 name="Rectangle 11"/>
          <p:cNvSpPr/>
          <p:nvPr/>
        </p:nvSpPr>
        <p:spPr>
          <a:xfrm>
            <a:off x="7452360" y="2903220"/>
            <a:ext cx="82296" cy="937260"/>
          </a:xfrm>
          <a:prstGeom prst="rect">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 name="TextBox 12"/>
          <p:cNvSpPr txBox="1"/>
          <p:nvPr/>
        </p:nvSpPr>
        <p:spPr>
          <a:xfrm>
            <a:off x="7708392" y="2903220"/>
            <a:ext cx="3502152" cy="937260"/>
          </a:xfrm>
          <a:prstGeom prst="rect">
            <a:avLst/>
          </a:prstGeom>
          <a:noFill/>
        </p:spPr>
        <p:txBody>
          <a:bodyPr wrap="square" anchor="ctr">
            <a:spAutoFit/>
          </a:bodyPr>
          <a:lstStyle/>
          <a:p>
            <a:pPr algn="l">
              <a:spcAft>
                <a:spcPts val="300"/>
              </a:spcAft>
            </a:pPr>
            <a:r>
              <a:rPr sz="1400" b="1">
                <a:solidFill>
                  <a:srgbClr val="10B981"/>
                </a:solidFill>
                <a:latin typeface="Arial"/>
              </a:rPr>
              <a:t>300 qubits</a:t>
            </a:r>
          </a:p>
          <a:p>
            <a:pPr algn="l">
              <a:spcAft>
                <a:spcPts val="300"/>
              </a:spcAft>
            </a:pPr>
            <a:r>
              <a:rPr sz="1200" b="0">
                <a:solidFill>
                  <a:srgbClr val="161B26"/>
                </a:solidFill>
                <a:latin typeface="Arial"/>
              </a:rPr>
              <a:t>More amplitudes than atoms in the observable universe.</a:t>
            </a:r>
          </a:p>
        </p:txBody>
      </p:sp>
      <p:sp>
        <p:nvSpPr>
          <p:cNvPr id="14" name="Rectangle 13"/>
          <p:cNvSpPr/>
          <p:nvPr/>
        </p:nvSpPr>
        <p:spPr>
          <a:xfrm>
            <a:off x="7452360" y="4023360"/>
            <a:ext cx="3959352" cy="937260"/>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5" name="Rectangle 14"/>
          <p:cNvSpPr/>
          <p:nvPr/>
        </p:nvSpPr>
        <p:spPr>
          <a:xfrm>
            <a:off x="7452360" y="4023360"/>
            <a:ext cx="82296" cy="937260"/>
          </a:xfrm>
          <a:prstGeom prst="rect">
            <a:avLst/>
          </a:prstGeom>
          <a:solidFill>
            <a:srgbClr val="7C3AE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6" name="TextBox 15"/>
          <p:cNvSpPr txBox="1"/>
          <p:nvPr/>
        </p:nvSpPr>
        <p:spPr>
          <a:xfrm>
            <a:off x="7708392" y="4023360"/>
            <a:ext cx="3502152" cy="937260"/>
          </a:xfrm>
          <a:prstGeom prst="rect">
            <a:avLst/>
          </a:prstGeom>
          <a:noFill/>
        </p:spPr>
        <p:txBody>
          <a:bodyPr wrap="square" anchor="ctr">
            <a:spAutoFit/>
          </a:bodyPr>
          <a:lstStyle/>
          <a:p>
            <a:pPr algn="l">
              <a:spcAft>
                <a:spcPts val="300"/>
              </a:spcAft>
            </a:pPr>
            <a:r>
              <a:rPr sz="1400" b="1">
                <a:solidFill>
                  <a:srgbClr val="7C3AED"/>
                </a:solidFill>
                <a:latin typeface="Arial"/>
              </a:rPr>
              <a:t>But</a:t>
            </a:r>
          </a:p>
          <a:p>
            <a:pPr algn="l">
              <a:spcAft>
                <a:spcPts val="300"/>
              </a:spcAft>
            </a:pPr>
            <a:r>
              <a:rPr sz="1200" b="0">
                <a:solidFill>
                  <a:srgbClr val="161B26"/>
                </a:solidFill>
                <a:latin typeface="Arial"/>
              </a:rPr>
              <a:t>You only ever read out n classical bits — algorithms must be clever.</a:t>
            </a:r>
          </a:p>
        </p:txBody>
      </p:sp>
      <p:sp>
        <p:nvSpPr>
          <p:cNvPr id="17" name="Rectangle 16"/>
          <p:cNvSpPr/>
          <p:nvPr/>
        </p:nvSpPr>
        <p:spPr>
          <a:xfrm>
            <a:off x="7452360" y="5143500"/>
            <a:ext cx="3959352" cy="937260"/>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8" name="Rectangle 17"/>
          <p:cNvSpPr/>
          <p:nvPr/>
        </p:nvSpPr>
        <p:spPr>
          <a:xfrm>
            <a:off x="7452360" y="5143500"/>
            <a:ext cx="82296" cy="937260"/>
          </a:xfrm>
          <a:prstGeom prst="rect">
            <a:avLst/>
          </a:prstGeom>
          <a:solidFill>
            <a:srgbClr val="F59E0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9" name="TextBox 18"/>
          <p:cNvSpPr txBox="1"/>
          <p:nvPr/>
        </p:nvSpPr>
        <p:spPr>
          <a:xfrm>
            <a:off x="7708392" y="5143500"/>
            <a:ext cx="3502152" cy="937260"/>
          </a:xfrm>
          <a:prstGeom prst="rect">
            <a:avLst/>
          </a:prstGeom>
          <a:noFill/>
        </p:spPr>
        <p:txBody>
          <a:bodyPr wrap="square" anchor="ctr">
            <a:spAutoFit/>
          </a:bodyPr>
          <a:lstStyle/>
          <a:p>
            <a:pPr algn="l">
              <a:spcAft>
                <a:spcPts val="300"/>
              </a:spcAft>
            </a:pPr>
            <a:r>
              <a:rPr sz="1400" b="1">
                <a:solidFill>
                  <a:srgbClr val="F59E0B"/>
                </a:solidFill>
                <a:latin typeface="Arial"/>
              </a:rPr>
              <a:t>So</a:t>
            </a:r>
          </a:p>
          <a:p>
            <a:pPr algn="l">
              <a:spcAft>
                <a:spcPts val="300"/>
              </a:spcAft>
            </a:pPr>
            <a:r>
              <a:rPr sz="1200" b="0">
                <a:solidFill>
                  <a:srgbClr val="161B26"/>
                </a:solidFill>
                <a:latin typeface="Arial"/>
              </a:rPr>
              <a:t>Interference, not brute force, is what gives quantum its advantage.</a:t>
            </a:r>
          </a:p>
        </p:txBody>
      </p:sp>
      <p:sp>
        <p:nvSpPr>
          <p:cNvPr id="20" name="TextBox 19"/>
          <p:cNvSpPr txBox="1"/>
          <p:nvPr/>
        </p:nvSpPr>
        <p:spPr>
          <a:xfrm>
            <a:off x="365760" y="6446520"/>
            <a:ext cx="6858000" cy="320040"/>
          </a:xfrm>
          <a:prstGeom prst="rect">
            <a:avLst/>
          </a:prstGeom>
          <a:noFill/>
        </p:spPr>
        <p:txBody>
          <a:bodyPr wrap="square" anchor="t">
            <a:spAutoFit/>
          </a:bodyPr>
          <a:lstStyle/>
          <a:p>
            <a:pPr algn="l">
              <a:spcAft>
                <a:spcPts val="400"/>
              </a:spcAft>
            </a:pPr>
            <a:r>
              <a:rPr sz="900" b="0">
                <a:solidFill>
                  <a:srgbClr val="5B6372"/>
                </a:solidFill>
                <a:latin typeface="Arial"/>
              </a:rPr>
              <a:t>Securing the Future with Quantum Computing and Cryptography  ·  TGS-2024043419</a:t>
            </a:r>
          </a:p>
        </p:txBody>
      </p:sp>
      <p:sp>
        <p:nvSpPr>
          <p:cNvPr id="21" name="TextBox 20"/>
          <p:cNvSpPr txBox="1"/>
          <p:nvPr/>
        </p:nvSpPr>
        <p:spPr>
          <a:xfrm>
            <a:off x="4572000" y="6446520"/>
            <a:ext cx="3017520" cy="320040"/>
          </a:xfrm>
          <a:prstGeom prst="rect">
            <a:avLst/>
          </a:prstGeom>
          <a:noFill/>
        </p:spPr>
        <p:txBody>
          <a:bodyPr wrap="square" anchor="t">
            <a:spAutoFit/>
          </a:bodyPr>
          <a:lstStyle/>
          <a:p>
            <a:pPr algn="ctr">
              <a:spcAft>
                <a:spcPts val="400"/>
              </a:spcAft>
            </a:pPr>
            <a:r>
              <a:rPr sz="900" b="0">
                <a:solidFill>
                  <a:srgbClr val="5B6372"/>
                </a:solidFill>
                <a:latin typeface="Arial"/>
              </a:rPr>
              <a:t>© 2026 Tertiary Infotech Academy Pte Ltd</a:t>
            </a:r>
          </a:p>
        </p:txBody>
      </p:sp>
      <p:sp>
        <p:nvSpPr>
          <p:cNvPr id="22" name="TextBox 21"/>
          <p:cNvSpPr txBox="1"/>
          <p:nvPr/>
        </p:nvSpPr>
        <p:spPr>
          <a:xfrm>
            <a:off x="11338560" y="6446520"/>
            <a:ext cx="548640" cy="320040"/>
          </a:xfrm>
          <a:prstGeom prst="rect">
            <a:avLst/>
          </a:prstGeom>
          <a:noFill/>
        </p:spPr>
        <p:txBody>
          <a:bodyPr wrap="square" anchor="t">
            <a:spAutoFit/>
          </a:bodyPr>
          <a:lstStyle/>
          <a:p>
            <a:pPr algn="r">
              <a:spcAft>
                <a:spcPts val="400"/>
              </a:spcAft>
            </a:pPr>
            <a:r>
              <a:rPr sz="900" b="0">
                <a:solidFill>
                  <a:srgbClr val="5B6372"/>
                </a:solidFill>
                <a:latin typeface="Arial"/>
              </a:rPr>
              <a:t>15</a:t>
            </a:r>
          </a:p>
        </p:txBody>
      </p:sp>
    </p:spTree>
  </p:cSld>
  <p:clrMapOvr>
    <a:masterClrMapping/>
  </p:clrMapOvr>
</p:sld>
</file>

<file path=ppt/slides/slide17.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256032" cy="1417320"/>
          </a:xfrm>
          <a:prstGeom prst="rect">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777240" y="457200"/>
            <a:ext cx="10607040" cy="365760"/>
          </a:xfrm>
          <a:prstGeom prst="rect">
            <a:avLst/>
          </a:prstGeom>
          <a:noFill/>
        </p:spPr>
        <p:txBody>
          <a:bodyPr wrap="square" anchor="t">
            <a:spAutoFit/>
          </a:bodyPr>
          <a:lstStyle/>
          <a:p>
            <a:pPr algn="l">
              <a:spcAft>
                <a:spcPts val="400"/>
              </a:spcAft>
            </a:pPr>
            <a:r>
              <a:rPr sz="1400" b="1">
                <a:solidFill>
                  <a:srgbClr val="10B981"/>
                </a:solidFill>
                <a:latin typeface="Arial"/>
              </a:rPr>
              <a:t>HOW QUANTUM ALGORITHMS WORK</a:t>
            </a:r>
          </a:p>
        </p:txBody>
      </p:sp>
      <p:sp>
        <p:nvSpPr>
          <p:cNvPr id="5" name="TextBox 4"/>
          <p:cNvSpPr txBox="1"/>
          <p:nvPr/>
        </p:nvSpPr>
        <p:spPr>
          <a:xfrm>
            <a:off x="777240" y="822960"/>
            <a:ext cx="10881360" cy="822960"/>
          </a:xfrm>
          <a:prstGeom prst="rect">
            <a:avLst/>
          </a:prstGeom>
          <a:noFill/>
        </p:spPr>
        <p:txBody>
          <a:bodyPr wrap="square" anchor="t">
            <a:spAutoFit/>
          </a:bodyPr>
          <a:lstStyle/>
          <a:p>
            <a:pPr algn="l">
              <a:spcAft>
                <a:spcPts val="400"/>
              </a:spcAft>
            </a:pPr>
            <a:r>
              <a:rPr sz="2900" b="1">
                <a:solidFill>
                  <a:srgbClr val="161B26"/>
                </a:solidFill>
                <a:latin typeface="Arial"/>
              </a:rPr>
              <a:t>Interference — The Real Engine</a:t>
            </a:r>
          </a:p>
        </p:txBody>
      </p:sp>
      <p:sp>
        <p:nvSpPr>
          <p:cNvPr id="6" name="Rectangle 5"/>
          <p:cNvSpPr/>
          <p:nvPr/>
        </p:nvSpPr>
        <p:spPr>
          <a:xfrm>
            <a:off x="777240" y="1554480"/>
            <a:ext cx="10634472" cy="18288"/>
          </a:xfrm>
          <a:prstGeom prst="rect">
            <a:avLst/>
          </a:prstGeom>
          <a:solidFill>
            <a:srgbClr val="E2E8F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pic>
        <p:nvPicPr>
          <p:cNvPr id="7" name="Picture 6" descr="interference.png"/>
          <p:cNvPicPr>
            <a:picLocks noChangeAspect="1"/>
          </p:cNvPicPr>
          <p:nvPr/>
        </p:nvPicPr>
        <p:blipFill>
          <a:blip r:embed="rId2"/>
          <a:stretch>
            <a:fillRect/>
          </a:stretch>
        </p:blipFill>
        <p:spPr>
          <a:xfrm>
            <a:off x="777240" y="2668751"/>
            <a:ext cx="6400800" cy="2434898"/>
          </a:xfrm>
          <a:prstGeom prst="rect">
            <a:avLst/>
          </a:prstGeom>
        </p:spPr>
      </p:pic>
      <p:sp>
        <p:nvSpPr>
          <p:cNvPr id="8" name="Rectangle 7"/>
          <p:cNvSpPr/>
          <p:nvPr/>
        </p:nvSpPr>
        <p:spPr>
          <a:xfrm>
            <a:off x="7452360" y="1783080"/>
            <a:ext cx="3959352" cy="937260"/>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Rectangle 8"/>
          <p:cNvSpPr/>
          <p:nvPr/>
        </p:nvSpPr>
        <p:spPr>
          <a:xfrm>
            <a:off x="7452360" y="1783080"/>
            <a:ext cx="82296" cy="937260"/>
          </a:xfrm>
          <a:prstGeom prst="rect">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TextBox 9"/>
          <p:cNvSpPr txBox="1"/>
          <p:nvPr/>
        </p:nvSpPr>
        <p:spPr>
          <a:xfrm>
            <a:off x="7708392" y="1783080"/>
            <a:ext cx="3502152" cy="937260"/>
          </a:xfrm>
          <a:prstGeom prst="rect">
            <a:avLst/>
          </a:prstGeom>
          <a:noFill/>
        </p:spPr>
        <p:txBody>
          <a:bodyPr wrap="square" anchor="ctr">
            <a:spAutoFit/>
          </a:bodyPr>
          <a:lstStyle/>
          <a:p>
            <a:pPr algn="l">
              <a:spcAft>
                <a:spcPts val="300"/>
              </a:spcAft>
            </a:pPr>
            <a:r>
              <a:rPr sz="1400" b="1">
                <a:solidFill>
                  <a:srgbClr val="1F6FEB"/>
                </a:solidFill>
                <a:latin typeface="Arial"/>
              </a:rPr>
              <a:t>Amplitudes can cancel</a:t>
            </a:r>
          </a:p>
          <a:p>
            <a:pPr algn="l">
              <a:spcAft>
                <a:spcPts val="300"/>
              </a:spcAft>
            </a:pPr>
            <a:r>
              <a:rPr sz="1200" b="0">
                <a:solidFill>
                  <a:srgbClr val="161B26"/>
                </a:solidFill>
                <a:latin typeface="Arial"/>
              </a:rPr>
              <a:t>Unlike probabilities, amplitudes are complex and can be negative.</a:t>
            </a:r>
          </a:p>
        </p:txBody>
      </p:sp>
      <p:sp>
        <p:nvSpPr>
          <p:cNvPr id="11" name="Rectangle 10"/>
          <p:cNvSpPr/>
          <p:nvPr/>
        </p:nvSpPr>
        <p:spPr>
          <a:xfrm>
            <a:off x="7452360" y="2903220"/>
            <a:ext cx="3959352" cy="937260"/>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 name="Rectangle 11"/>
          <p:cNvSpPr/>
          <p:nvPr/>
        </p:nvSpPr>
        <p:spPr>
          <a:xfrm>
            <a:off x="7452360" y="2903220"/>
            <a:ext cx="82296" cy="937260"/>
          </a:xfrm>
          <a:prstGeom prst="rect">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 name="TextBox 12"/>
          <p:cNvSpPr txBox="1"/>
          <p:nvPr/>
        </p:nvSpPr>
        <p:spPr>
          <a:xfrm>
            <a:off x="7708392" y="2903220"/>
            <a:ext cx="3502152" cy="937260"/>
          </a:xfrm>
          <a:prstGeom prst="rect">
            <a:avLst/>
          </a:prstGeom>
          <a:noFill/>
        </p:spPr>
        <p:txBody>
          <a:bodyPr wrap="square" anchor="ctr">
            <a:spAutoFit/>
          </a:bodyPr>
          <a:lstStyle/>
          <a:p>
            <a:pPr algn="l">
              <a:spcAft>
                <a:spcPts val="300"/>
              </a:spcAft>
            </a:pPr>
            <a:r>
              <a:rPr sz="1400" b="1">
                <a:solidFill>
                  <a:srgbClr val="10B981"/>
                </a:solidFill>
                <a:latin typeface="Arial"/>
              </a:rPr>
              <a:t>Wrong answers cancel</a:t>
            </a:r>
          </a:p>
          <a:p>
            <a:pPr algn="l">
              <a:spcAft>
                <a:spcPts val="300"/>
              </a:spcAft>
            </a:pPr>
            <a:r>
              <a:rPr sz="1200" b="0">
                <a:solidFill>
                  <a:srgbClr val="161B26"/>
                </a:solidFill>
                <a:latin typeface="Arial"/>
              </a:rPr>
              <a:t>A good algorithm arranges destructive interference on wrong paths.</a:t>
            </a:r>
          </a:p>
        </p:txBody>
      </p:sp>
      <p:sp>
        <p:nvSpPr>
          <p:cNvPr id="14" name="Rectangle 13"/>
          <p:cNvSpPr/>
          <p:nvPr/>
        </p:nvSpPr>
        <p:spPr>
          <a:xfrm>
            <a:off x="7452360" y="4023360"/>
            <a:ext cx="3959352" cy="937260"/>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5" name="Rectangle 14"/>
          <p:cNvSpPr/>
          <p:nvPr/>
        </p:nvSpPr>
        <p:spPr>
          <a:xfrm>
            <a:off x="7452360" y="4023360"/>
            <a:ext cx="82296" cy="937260"/>
          </a:xfrm>
          <a:prstGeom prst="rect">
            <a:avLst/>
          </a:prstGeom>
          <a:solidFill>
            <a:srgbClr val="7C3AE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6" name="TextBox 15"/>
          <p:cNvSpPr txBox="1"/>
          <p:nvPr/>
        </p:nvSpPr>
        <p:spPr>
          <a:xfrm>
            <a:off x="7708392" y="4023360"/>
            <a:ext cx="3502152" cy="937260"/>
          </a:xfrm>
          <a:prstGeom prst="rect">
            <a:avLst/>
          </a:prstGeom>
          <a:noFill/>
        </p:spPr>
        <p:txBody>
          <a:bodyPr wrap="square" anchor="ctr">
            <a:spAutoFit/>
          </a:bodyPr>
          <a:lstStyle/>
          <a:p>
            <a:pPr algn="l">
              <a:spcAft>
                <a:spcPts val="300"/>
              </a:spcAft>
            </a:pPr>
            <a:r>
              <a:rPr sz="1400" b="1">
                <a:solidFill>
                  <a:srgbClr val="7C3AED"/>
                </a:solidFill>
                <a:latin typeface="Arial"/>
              </a:rPr>
              <a:t>Right answers add</a:t>
            </a:r>
          </a:p>
          <a:p>
            <a:pPr algn="l">
              <a:spcAft>
                <a:spcPts val="300"/>
              </a:spcAft>
            </a:pPr>
            <a:r>
              <a:rPr sz="1200" b="0">
                <a:solidFill>
                  <a:srgbClr val="161B26"/>
                </a:solidFill>
                <a:latin typeface="Arial"/>
              </a:rPr>
              <a:t>Constructive interference concentrates probability on the answer.</a:t>
            </a:r>
          </a:p>
        </p:txBody>
      </p:sp>
      <p:sp>
        <p:nvSpPr>
          <p:cNvPr id="17" name="Rectangle 16"/>
          <p:cNvSpPr/>
          <p:nvPr/>
        </p:nvSpPr>
        <p:spPr>
          <a:xfrm>
            <a:off x="7452360" y="5143500"/>
            <a:ext cx="3959352" cy="937260"/>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8" name="Rectangle 17"/>
          <p:cNvSpPr/>
          <p:nvPr/>
        </p:nvSpPr>
        <p:spPr>
          <a:xfrm>
            <a:off x="7452360" y="5143500"/>
            <a:ext cx="82296" cy="937260"/>
          </a:xfrm>
          <a:prstGeom prst="rect">
            <a:avLst/>
          </a:prstGeom>
          <a:solidFill>
            <a:srgbClr val="F59E0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9" name="TextBox 18"/>
          <p:cNvSpPr txBox="1"/>
          <p:nvPr/>
        </p:nvSpPr>
        <p:spPr>
          <a:xfrm>
            <a:off x="7708392" y="5143500"/>
            <a:ext cx="3502152" cy="937260"/>
          </a:xfrm>
          <a:prstGeom prst="rect">
            <a:avLst/>
          </a:prstGeom>
          <a:noFill/>
        </p:spPr>
        <p:txBody>
          <a:bodyPr wrap="square" anchor="ctr">
            <a:spAutoFit/>
          </a:bodyPr>
          <a:lstStyle/>
          <a:p>
            <a:pPr algn="l">
              <a:spcAft>
                <a:spcPts val="300"/>
              </a:spcAft>
            </a:pPr>
            <a:r>
              <a:rPr sz="1400" b="1">
                <a:solidFill>
                  <a:srgbClr val="F59E0B"/>
                </a:solidFill>
                <a:latin typeface="Arial"/>
              </a:rPr>
              <a:t>Every algorithm</a:t>
            </a:r>
          </a:p>
          <a:p>
            <a:pPr algn="l">
              <a:spcAft>
                <a:spcPts val="300"/>
              </a:spcAft>
            </a:pPr>
            <a:r>
              <a:rPr sz="1200" b="0">
                <a:solidFill>
                  <a:srgbClr val="161B26"/>
                </a:solidFill>
                <a:latin typeface="Arial"/>
              </a:rPr>
              <a:t>Deutsch, Grover and Shor are all interference engines.</a:t>
            </a:r>
          </a:p>
        </p:txBody>
      </p:sp>
      <p:sp>
        <p:nvSpPr>
          <p:cNvPr id="20" name="TextBox 19"/>
          <p:cNvSpPr txBox="1"/>
          <p:nvPr/>
        </p:nvSpPr>
        <p:spPr>
          <a:xfrm>
            <a:off x="365760" y="6446520"/>
            <a:ext cx="6858000" cy="320040"/>
          </a:xfrm>
          <a:prstGeom prst="rect">
            <a:avLst/>
          </a:prstGeom>
          <a:noFill/>
        </p:spPr>
        <p:txBody>
          <a:bodyPr wrap="square" anchor="t">
            <a:spAutoFit/>
          </a:bodyPr>
          <a:lstStyle/>
          <a:p>
            <a:pPr algn="l">
              <a:spcAft>
                <a:spcPts val="400"/>
              </a:spcAft>
            </a:pPr>
            <a:r>
              <a:rPr sz="900" b="0">
                <a:solidFill>
                  <a:srgbClr val="5B6372"/>
                </a:solidFill>
                <a:latin typeface="Arial"/>
              </a:rPr>
              <a:t>Securing the Future with Quantum Computing and Cryptography  ·  TGS-2024043419</a:t>
            </a:r>
          </a:p>
        </p:txBody>
      </p:sp>
      <p:sp>
        <p:nvSpPr>
          <p:cNvPr id="21" name="TextBox 20"/>
          <p:cNvSpPr txBox="1"/>
          <p:nvPr/>
        </p:nvSpPr>
        <p:spPr>
          <a:xfrm>
            <a:off x="4572000" y="6446520"/>
            <a:ext cx="3017520" cy="320040"/>
          </a:xfrm>
          <a:prstGeom prst="rect">
            <a:avLst/>
          </a:prstGeom>
          <a:noFill/>
        </p:spPr>
        <p:txBody>
          <a:bodyPr wrap="square" anchor="t">
            <a:spAutoFit/>
          </a:bodyPr>
          <a:lstStyle/>
          <a:p>
            <a:pPr algn="ctr">
              <a:spcAft>
                <a:spcPts val="400"/>
              </a:spcAft>
            </a:pPr>
            <a:r>
              <a:rPr sz="900" b="0">
                <a:solidFill>
                  <a:srgbClr val="5B6372"/>
                </a:solidFill>
                <a:latin typeface="Arial"/>
              </a:rPr>
              <a:t>© 2026 Tertiary Infotech Academy Pte Ltd</a:t>
            </a:r>
          </a:p>
        </p:txBody>
      </p:sp>
      <p:sp>
        <p:nvSpPr>
          <p:cNvPr id="22" name="TextBox 21"/>
          <p:cNvSpPr txBox="1"/>
          <p:nvPr/>
        </p:nvSpPr>
        <p:spPr>
          <a:xfrm>
            <a:off x="11338560" y="6446520"/>
            <a:ext cx="548640" cy="320040"/>
          </a:xfrm>
          <a:prstGeom prst="rect">
            <a:avLst/>
          </a:prstGeom>
          <a:noFill/>
        </p:spPr>
        <p:txBody>
          <a:bodyPr wrap="square" anchor="t">
            <a:spAutoFit/>
          </a:bodyPr>
          <a:lstStyle/>
          <a:p>
            <a:pPr algn="r">
              <a:spcAft>
                <a:spcPts val="400"/>
              </a:spcAft>
            </a:pPr>
            <a:r>
              <a:rPr sz="900" b="0">
                <a:solidFill>
                  <a:srgbClr val="5B6372"/>
                </a:solidFill>
                <a:latin typeface="Arial"/>
              </a:rPr>
              <a:t>16</a:t>
            </a:r>
          </a:p>
        </p:txBody>
      </p:sp>
    </p:spTree>
  </p:cSld>
  <p:clrMapOvr>
    <a:masterClrMapping/>
  </p:clrMapOvr>
</p:sld>
</file>

<file path=ppt/slides/slide18.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256032" cy="6858000"/>
          </a:xfrm>
          <a:prstGeom prst="rect">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1005840" y="2011680"/>
            <a:ext cx="10058400" cy="457200"/>
          </a:xfrm>
          <a:prstGeom prst="rect">
            <a:avLst/>
          </a:prstGeom>
          <a:noFill/>
        </p:spPr>
        <p:txBody>
          <a:bodyPr wrap="square" anchor="t">
            <a:spAutoFit/>
          </a:bodyPr>
          <a:lstStyle/>
          <a:p>
            <a:pPr algn="l">
              <a:spcAft>
                <a:spcPts val="400"/>
              </a:spcAft>
            </a:pPr>
            <a:r>
              <a:rPr sz="1600" b="1">
                <a:solidFill>
                  <a:srgbClr val="1F6FEB"/>
                </a:solidFill>
                <a:latin typeface="Arial"/>
              </a:rPr>
              <a:t>THE MENTAL MODEL</a:t>
            </a:r>
          </a:p>
        </p:txBody>
      </p:sp>
      <p:sp>
        <p:nvSpPr>
          <p:cNvPr id="5" name="TextBox 4"/>
          <p:cNvSpPr txBox="1"/>
          <p:nvPr/>
        </p:nvSpPr>
        <p:spPr>
          <a:xfrm>
            <a:off x="1005840" y="2560320"/>
            <a:ext cx="10332720" cy="2194560"/>
          </a:xfrm>
          <a:prstGeom prst="rect">
            <a:avLst/>
          </a:prstGeom>
          <a:noFill/>
        </p:spPr>
        <p:txBody>
          <a:bodyPr wrap="square" anchor="t">
            <a:spAutoFit/>
          </a:bodyPr>
          <a:lstStyle/>
          <a:p>
            <a:pPr algn="l">
              <a:spcAft>
                <a:spcPts val="400"/>
              </a:spcAft>
            </a:pPr>
            <a:r>
              <a:rPr sz="3600" b="1">
                <a:solidFill>
                  <a:srgbClr val="161B26"/>
                </a:solidFill>
                <a:latin typeface="Arial"/>
              </a:rPr>
              <a:t>Superposition supplies the paths. Interference picks the answer.</a:t>
            </a:r>
          </a:p>
        </p:txBody>
      </p:sp>
      <p:sp>
        <p:nvSpPr>
          <p:cNvPr id="6" name="TextBox 5"/>
          <p:cNvSpPr txBox="1"/>
          <p:nvPr/>
        </p:nvSpPr>
        <p:spPr>
          <a:xfrm>
            <a:off x="1024128" y="4572000"/>
            <a:ext cx="10058400" cy="1097280"/>
          </a:xfrm>
          <a:prstGeom prst="rect">
            <a:avLst/>
          </a:prstGeom>
          <a:noFill/>
        </p:spPr>
        <p:txBody>
          <a:bodyPr wrap="square" anchor="t">
            <a:spAutoFit/>
          </a:bodyPr>
          <a:lstStyle/>
          <a:p>
            <a:pPr algn="l">
              <a:spcAft>
                <a:spcPts val="400"/>
              </a:spcAft>
            </a:pPr>
            <a:r>
              <a:rPr sz="1900" b="0">
                <a:solidFill>
                  <a:srgbClr val="5B6372"/>
                </a:solidFill>
                <a:latin typeface="Arial"/>
              </a:rPr>
              <a:t>Every quantum algorithm in this course follows that pattern — prepare a superposition, apply an oracle, then interfere so the correct answer survives.</a:t>
            </a:r>
          </a:p>
        </p:txBody>
      </p:sp>
      <p:sp>
        <p:nvSpPr>
          <p:cNvPr id="7" name="TextBox 6"/>
          <p:cNvSpPr txBox="1"/>
          <p:nvPr/>
        </p:nvSpPr>
        <p:spPr>
          <a:xfrm>
            <a:off x="365760" y="6446520"/>
            <a:ext cx="6858000" cy="320040"/>
          </a:xfrm>
          <a:prstGeom prst="rect">
            <a:avLst/>
          </a:prstGeom>
          <a:noFill/>
        </p:spPr>
        <p:txBody>
          <a:bodyPr wrap="square" anchor="t">
            <a:spAutoFit/>
          </a:bodyPr>
          <a:lstStyle/>
          <a:p>
            <a:pPr algn="l">
              <a:spcAft>
                <a:spcPts val="400"/>
              </a:spcAft>
            </a:pPr>
            <a:r>
              <a:rPr sz="900" b="0">
                <a:solidFill>
                  <a:srgbClr val="5B6372"/>
                </a:solidFill>
                <a:latin typeface="Arial"/>
              </a:rPr>
              <a:t>Securing the Future with Quantum Computing and Cryptography  ·  TGS-2024043419</a:t>
            </a:r>
          </a:p>
        </p:txBody>
      </p:sp>
      <p:sp>
        <p:nvSpPr>
          <p:cNvPr id="8" name="TextBox 7"/>
          <p:cNvSpPr txBox="1"/>
          <p:nvPr/>
        </p:nvSpPr>
        <p:spPr>
          <a:xfrm>
            <a:off x="4572000" y="6446520"/>
            <a:ext cx="3017520" cy="320040"/>
          </a:xfrm>
          <a:prstGeom prst="rect">
            <a:avLst/>
          </a:prstGeom>
          <a:noFill/>
        </p:spPr>
        <p:txBody>
          <a:bodyPr wrap="square" anchor="t">
            <a:spAutoFit/>
          </a:bodyPr>
          <a:lstStyle/>
          <a:p>
            <a:pPr algn="ctr">
              <a:spcAft>
                <a:spcPts val="400"/>
              </a:spcAft>
            </a:pPr>
            <a:r>
              <a:rPr sz="900" b="0">
                <a:solidFill>
                  <a:srgbClr val="5B6372"/>
                </a:solidFill>
                <a:latin typeface="Arial"/>
              </a:rPr>
              <a:t>© 2026 Tertiary Infotech Academy Pte Ltd</a:t>
            </a:r>
          </a:p>
        </p:txBody>
      </p:sp>
      <p:sp>
        <p:nvSpPr>
          <p:cNvPr id="9" name="TextBox 8"/>
          <p:cNvSpPr txBox="1"/>
          <p:nvPr/>
        </p:nvSpPr>
        <p:spPr>
          <a:xfrm>
            <a:off x="11338560" y="6446520"/>
            <a:ext cx="548640" cy="320040"/>
          </a:xfrm>
          <a:prstGeom prst="rect">
            <a:avLst/>
          </a:prstGeom>
          <a:noFill/>
        </p:spPr>
        <p:txBody>
          <a:bodyPr wrap="square" anchor="t">
            <a:spAutoFit/>
          </a:bodyPr>
          <a:lstStyle/>
          <a:p>
            <a:pPr algn="r">
              <a:spcAft>
                <a:spcPts val="400"/>
              </a:spcAft>
            </a:pPr>
            <a:r>
              <a:rPr sz="900" b="0">
                <a:solidFill>
                  <a:srgbClr val="5B6372"/>
                </a:solidFill>
                <a:latin typeface="Arial"/>
              </a:rPr>
              <a:t>17</a:t>
            </a:r>
          </a:p>
        </p:txBody>
      </p:sp>
    </p:spTree>
  </p:cSld>
  <p:clrMapOvr>
    <a:masterClrMapping/>
  </p:clrMapOvr>
</p:sld>
</file>

<file path=ppt/slides/slide19.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256032" cy="1417320"/>
          </a:xfrm>
          <a:prstGeom prst="rect">
            <a:avLst/>
          </a:prstGeom>
          <a:solidFill>
            <a:srgbClr val="7C3AE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777240" y="457200"/>
            <a:ext cx="10607040" cy="365760"/>
          </a:xfrm>
          <a:prstGeom prst="rect">
            <a:avLst/>
          </a:prstGeom>
          <a:noFill/>
        </p:spPr>
        <p:txBody>
          <a:bodyPr wrap="square" anchor="t">
            <a:spAutoFit/>
          </a:bodyPr>
          <a:lstStyle/>
          <a:p>
            <a:pPr algn="l">
              <a:spcAft>
                <a:spcPts val="400"/>
              </a:spcAft>
            </a:pPr>
            <a:r>
              <a:rPr sz="1400" b="1">
                <a:solidFill>
                  <a:srgbClr val="7C3AED"/>
                </a:solidFill>
                <a:latin typeface="Arial"/>
              </a:rPr>
              <a:t>COURSE ED-TOOL · QUANTUMLAB BEGINNER</a:t>
            </a:r>
          </a:p>
        </p:txBody>
      </p:sp>
      <p:sp>
        <p:nvSpPr>
          <p:cNvPr id="5" name="TextBox 4"/>
          <p:cNvSpPr txBox="1"/>
          <p:nvPr/>
        </p:nvSpPr>
        <p:spPr>
          <a:xfrm>
            <a:off x="777240" y="822960"/>
            <a:ext cx="10881360" cy="822960"/>
          </a:xfrm>
          <a:prstGeom prst="rect">
            <a:avLst/>
          </a:prstGeom>
          <a:noFill/>
        </p:spPr>
        <p:txBody>
          <a:bodyPr wrap="square" anchor="t">
            <a:spAutoFit/>
          </a:bodyPr>
          <a:lstStyle/>
          <a:p>
            <a:pPr algn="l">
              <a:spcAft>
                <a:spcPts val="400"/>
              </a:spcAft>
            </a:pPr>
            <a:r>
              <a:rPr sz="2900" b="1">
                <a:solidFill>
                  <a:srgbClr val="161B26"/>
                </a:solidFill>
                <a:latin typeface="Arial"/>
              </a:rPr>
              <a:t>QuantumLab Beginner — Your Practice Environment</a:t>
            </a:r>
          </a:p>
        </p:txBody>
      </p:sp>
      <p:sp>
        <p:nvSpPr>
          <p:cNvPr id="6" name="Rectangle 5"/>
          <p:cNvSpPr/>
          <p:nvPr/>
        </p:nvSpPr>
        <p:spPr>
          <a:xfrm>
            <a:off x="777240" y="1554480"/>
            <a:ext cx="10634472" cy="18288"/>
          </a:xfrm>
          <a:prstGeom prst="rect">
            <a:avLst/>
          </a:prstGeom>
          <a:solidFill>
            <a:srgbClr val="E2E8F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Rectangle 6"/>
          <p:cNvSpPr/>
          <p:nvPr/>
        </p:nvSpPr>
        <p:spPr>
          <a:xfrm>
            <a:off x="777240" y="1783080"/>
            <a:ext cx="6400800" cy="3931920"/>
          </a:xfrm>
          <a:prstGeom prst="rect">
            <a:avLst/>
          </a:prstGeom>
          <a:solidFill>
            <a:srgbClr val="FFFFFF"/>
          </a:solidFill>
          <a:ln w="12700">
            <a:solidFill>
              <a:srgbClr val="E2E8F0"/>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Rectangle 7"/>
          <p:cNvSpPr/>
          <p:nvPr/>
        </p:nvSpPr>
        <p:spPr>
          <a:xfrm>
            <a:off x="777240" y="1783080"/>
            <a:ext cx="6400800" cy="457200"/>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Oval 8"/>
          <p:cNvSpPr/>
          <p:nvPr/>
        </p:nvSpPr>
        <p:spPr>
          <a:xfrm>
            <a:off x="941832" y="1938528"/>
            <a:ext cx="146304" cy="146304"/>
          </a:xfrm>
          <a:prstGeom prst="ellipse">
            <a:avLst/>
          </a:prstGeom>
          <a:solidFill>
            <a:srgbClr val="FF5F5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Oval 9"/>
          <p:cNvSpPr/>
          <p:nvPr/>
        </p:nvSpPr>
        <p:spPr>
          <a:xfrm>
            <a:off x="1179576" y="1938528"/>
            <a:ext cx="146304" cy="146304"/>
          </a:xfrm>
          <a:prstGeom prst="ellipse">
            <a:avLst/>
          </a:prstGeom>
          <a:solidFill>
            <a:srgbClr val="FEBC2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 name="Oval 10"/>
          <p:cNvSpPr/>
          <p:nvPr/>
        </p:nvSpPr>
        <p:spPr>
          <a:xfrm>
            <a:off x="1417320" y="1938528"/>
            <a:ext cx="146304" cy="146304"/>
          </a:xfrm>
          <a:prstGeom prst="ellipse">
            <a:avLst/>
          </a:prstGeom>
          <a:solidFill>
            <a:srgbClr val="28C84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 name="Rectangle 11"/>
          <p:cNvSpPr/>
          <p:nvPr/>
        </p:nvSpPr>
        <p:spPr>
          <a:xfrm>
            <a:off x="1737360" y="1892808"/>
            <a:ext cx="5166360" cy="237744"/>
          </a:xfrm>
          <a:prstGeom prst="rect">
            <a:avLst/>
          </a:prstGeom>
          <a:solidFill>
            <a:srgbClr val="FFFFFF"/>
          </a:solidFill>
          <a:ln w="12700">
            <a:solidFill>
              <a:srgbClr val="E2E8F0"/>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 name="TextBox 12"/>
          <p:cNvSpPr txBox="1"/>
          <p:nvPr/>
        </p:nvSpPr>
        <p:spPr>
          <a:xfrm>
            <a:off x="1874520" y="1892808"/>
            <a:ext cx="5029200" cy="237744"/>
          </a:xfrm>
          <a:prstGeom prst="rect">
            <a:avLst/>
          </a:prstGeom>
          <a:noFill/>
        </p:spPr>
        <p:txBody>
          <a:bodyPr wrap="square" anchor="ctr">
            <a:spAutoFit/>
          </a:bodyPr>
          <a:lstStyle/>
          <a:p>
            <a:pPr algn="l">
              <a:spcAft>
                <a:spcPts val="400"/>
              </a:spcAft>
            </a:pPr>
            <a:r>
              <a:rPr sz="1050" b="0">
                <a:solidFill>
                  <a:srgbClr val="5B6372"/>
                </a:solidFill>
                <a:latin typeface="Arial"/>
              </a:rPr>
              <a:t>https://alfredang.github.io/quantumlabs/</a:t>
            </a:r>
          </a:p>
        </p:txBody>
      </p:sp>
      <p:sp>
        <p:nvSpPr>
          <p:cNvPr id="14" name="Rectangle 13"/>
          <p:cNvSpPr/>
          <p:nvPr/>
        </p:nvSpPr>
        <p:spPr>
          <a:xfrm>
            <a:off x="1051560" y="2468880"/>
            <a:ext cx="5852160" cy="713232"/>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5" name="Rectangle 14"/>
          <p:cNvSpPr/>
          <p:nvPr/>
        </p:nvSpPr>
        <p:spPr>
          <a:xfrm>
            <a:off x="1051560" y="2468880"/>
            <a:ext cx="73152" cy="713232"/>
          </a:xfrm>
          <a:prstGeom prst="rect">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6" name="TextBox 15"/>
          <p:cNvSpPr txBox="1"/>
          <p:nvPr/>
        </p:nvSpPr>
        <p:spPr>
          <a:xfrm>
            <a:off x="1280160" y="2468880"/>
            <a:ext cx="5486400" cy="713232"/>
          </a:xfrm>
          <a:prstGeom prst="rect">
            <a:avLst/>
          </a:prstGeom>
          <a:noFill/>
        </p:spPr>
        <p:txBody>
          <a:bodyPr wrap="square" anchor="ctr">
            <a:spAutoFit/>
          </a:bodyPr>
          <a:lstStyle/>
          <a:p>
            <a:pPr algn="l">
              <a:spcAft>
                <a:spcPts val="200"/>
              </a:spcAft>
            </a:pPr>
            <a:r>
              <a:rPr sz="1300" b="1">
                <a:solidFill>
                  <a:srgbClr val="161B26"/>
                </a:solidFill>
                <a:latin typeface="Arial"/>
              </a:rPr>
              <a:t>Math Prerequisites &amp; QM Postulates</a:t>
            </a:r>
          </a:p>
          <a:p>
            <a:pPr algn="l">
              <a:spcAft>
                <a:spcPts val="200"/>
              </a:spcAft>
            </a:pPr>
            <a:r>
              <a:rPr sz="1100" b="0">
                <a:solidFill>
                  <a:srgbClr val="5B6372"/>
                </a:solidFill>
                <a:latin typeface="Arial"/>
              </a:rPr>
              <a:t>Vectors, complex numbers, Hermitian, unitary, the 5 axioms</a:t>
            </a:r>
          </a:p>
        </p:txBody>
      </p:sp>
      <p:sp>
        <p:nvSpPr>
          <p:cNvPr id="17" name="Rectangle 16"/>
          <p:cNvSpPr/>
          <p:nvPr/>
        </p:nvSpPr>
        <p:spPr>
          <a:xfrm>
            <a:off x="1051560" y="3310128"/>
            <a:ext cx="5852160" cy="713232"/>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8" name="Rectangle 17"/>
          <p:cNvSpPr/>
          <p:nvPr/>
        </p:nvSpPr>
        <p:spPr>
          <a:xfrm>
            <a:off x="1051560" y="3310128"/>
            <a:ext cx="73152" cy="713232"/>
          </a:xfrm>
          <a:prstGeom prst="rect">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9" name="TextBox 18"/>
          <p:cNvSpPr txBox="1"/>
          <p:nvPr/>
        </p:nvSpPr>
        <p:spPr>
          <a:xfrm>
            <a:off x="1280160" y="3310128"/>
            <a:ext cx="5486400" cy="713232"/>
          </a:xfrm>
          <a:prstGeom prst="rect">
            <a:avLst/>
          </a:prstGeom>
          <a:noFill/>
        </p:spPr>
        <p:txBody>
          <a:bodyPr wrap="square" anchor="ctr">
            <a:spAutoFit/>
          </a:bodyPr>
          <a:lstStyle/>
          <a:p>
            <a:pPr algn="l">
              <a:spcAft>
                <a:spcPts val="200"/>
              </a:spcAft>
            </a:pPr>
            <a:r>
              <a:rPr sz="1300" b="1">
                <a:solidFill>
                  <a:srgbClr val="161B26"/>
                </a:solidFill>
                <a:latin typeface="Arial"/>
              </a:rPr>
              <a:t>Qubits · Bloch Sphere · Superposition</a:t>
            </a:r>
          </a:p>
          <a:p>
            <a:pPr algn="l">
              <a:spcAft>
                <a:spcPts val="200"/>
              </a:spcAft>
            </a:pPr>
            <a:r>
              <a:rPr sz="1100" b="0">
                <a:solidFill>
                  <a:srgbClr val="5B6372"/>
                </a:solidFill>
                <a:latin typeface="Arial"/>
              </a:rPr>
              <a:t>Interactive Bloch disc, probability slider, live Dirac panel</a:t>
            </a:r>
          </a:p>
        </p:txBody>
      </p:sp>
      <p:sp>
        <p:nvSpPr>
          <p:cNvPr id="20" name="Rectangle 19"/>
          <p:cNvSpPr/>
          <p:nvPr/>
        </p:nvSpPr>
        <p:spPr>
          <a:xfrm>
            <a:off x="1051560" y="4151376"/>
            <a:ext cx="5852160" cy="713232"/>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1" name="Rectangle 20"/>
          <p:cNvSpPr/>
          <p:nvPr/>
        </p:nvSpPr>
        <p:spPr>
          <a:xfrm>
            <a:off x="1051560" y="4151376"/>
            <a:ext cx="73152" cy="713232"/>
          </a:xfrm>
          <a:prstGeom prst="rect">
            <a:avLst/>
          </a:prstGeom>
          <a:solidFill>
            <a:srgbClr val="7C3AE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2" name="TextBox 21"/>
          <p:cNvSpPr txBox="1"/>
          <p:nvPr/>
        </p:nvSpPr>
        <p:spPr>
          <a:xfrm>
            <a:off x="1280160" y="4151376"/>
            <a:ext cx="5486400" cy="713232"/>
          </a:xfrm>
          <a:prstGeom prst="rect">
            <a:avLst/>
          </a:prstGeom>
          <a:noFill/>
        </p:spPr>
        <p:txBody>
          <a:bodyPr wrap="square" anchor="ctr">
            <a:spAutoFit/>
          </a:bodyPr>
          <a:lstStyle/>
          <a:p>
            <a:pPr algn="l">
              <a:spcAft>
                <a:spcPts val="200"/>
              </a:spcAft>
            </a:pPr>
            <a:r>
              <a:rPr sz="1300" b="1">
                <a:solidFill>
                  <a:srgbClr val="161B26"/>
                </a:solidFill>
                <a:latin typeface="Arial"/>
              </a:rPr>
              <a:t>Entanglement · Bell's Inequality</a:t>
            </a:r>
          </a:p>
          <a:p>
            <a:pPr algn="l">
              <a:spcAft>
                <a:spcPts val="200"/>
              </a:spcAft>
            </a:pPr>
            <a:r>
              <a:rPr sz="1100" b="0">
                <a:solidFill>
                  <a:srgbClr val="5B6372"/>
                </a:solidFill>
                <a:latin typeface="Arial"/>
              </a:rPr>
              <a:t>Bell-pair simulator and a CHSH Monte-Carlo experiment</a:t>
            </a:r>
          </a:p>
        </p:txBody>
      </p:sp>
      <p:sp>
        <p:nvSpPr>
          <p:cNvPr id="23" name="Rectangle 22"/>
          <p:cNvSpPr/>
          <p:nvPr/>
        </p:nvSpPr>
        <p:spPr>
          <a:xfrm>
            <a:off x="1051560" y="4992624"/>
            <a:ext cx="5852160" cy="713232"/>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4" name="Rectangle 23"/>
          <p:cNvSpPr/>
          <p:nvPr/>
        </p:nvSpPr>
        <p:spPr>
          <a:xfrm>
            <a:off x="1051560" y="4992624"/>
            <a:ext cx="73152" cy="713232"/>
          </a:xfrm>
          <a:prstGeom prst="rect">
            <a:avLst/>
          </a:prstGeom>
          <a:solidFill>
            <a:srgbClr val="F59E0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5" name="TextBox 24"/>
          <p:cNvSpPr txBox="1"/>
          <p:nvPr/>
        </p:nvSpPr>
        <p:spPr>
          <a:xfrm>
            <a:off x="1280160" y="4992624"/>
            <a:ext cx="5486400" cy="713232"/>
          </a:xfrm>
          <a:prstGeom prst="rect">
            <a:avLst/>
          </a:prstGeom>
          <a:noFill/>
        </p:spPr>
        <p:txBody>
          <a:bodyPr wrap="square" anchor="ctr">
            <a:spAutoFit/>
          </a:bodyPr>
          <a:lstStyle/>
          <a:p>
            <a:pPr algn="l">
              <a:spcAft>
                <a:spcPts val="200"/>
              </a:spcAft>
            </a:pPr>
            <a:r>
              <a:rPr sz="1300" b="1">
                <a:solidFill>
                  <a:srgbClr val="161B26"/>
                </a:solidFill>
                <a:latin typeface="Arial"/>
              </a:rPr>
              <a:t>Circuits · Phase Kickback · Algorithms</a:t>
            </a:r>
          </a:p>
          <a:p>
            <a:pPr algn="l">
              <a:spcAft>
                <a:spcPts val="200"/>
              </a:spcAft>
            </a:pPr>
            <a:r>
              <a:rPr sz="1100" b="0">
                <a:solidFill>
                  <a:srgbClr val="5B6372"/>
                </a:solidFill>
                <a:latin typeface="Arial"/>
              </a:rPr>
              <a:t>Drag-and-drop builder, kickback explorer, Grover/DJ/QFT/Shor</a:t>
            </a:r>
          </a:p>
        </p:txBody>
      </p:sp>
      <p:sp>
        <p:nvSpPr>
          <p:cNvPr id="26" name="Rectangle 25"/>
          <p:cNvSpPr/>
          <p:nvPr/>
        </p:nvSpPr>
        <p:spPr>
          <a:xfrm>
            <a:off x="7452360" y="1783080"/>
            <a:ext cx="3959352" cy="845820"/>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7" name="Rectangle 26"/>
          <p:cNvSpPr/>
          <p:nvPr/>
        </p:nvSpPr>
        <p:spPr>
          <a:xfrm>
            <a:off x="7452360" y="1783080"/>
            <a:ext cx="82296" cy="845820"/>
          </a:xfrm>
          <a:prstGeom prst="rect">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8" name="Oval 27"/>
          <p:cNvSpPr/>
          <p:nvPr/>
        </p:nvSpPr>
        <p:spPr>
          <a:xfrm>
            <a:off x="7680960" y="2013966"/>
            <a:ext cx="384048" cy="384048"/>
          </a:xfrm>
          <a:prstGeom prst="ellipse">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9" name="TextBox 28"/>
          <p:cNvSpPr txBox="1"/>
          <p:nvPr/>
        </p:nvSpPr>
        <p:spPr>
          <a:xfrm>
            <a:off x="7680960" y="2013966"/>
            <a:ext cx="384048" cy="384048"/>
          </a:xfrm>
          <a:prstGeom prst="rect">
            <a:avLst/>
          </a:prstGeom>
          <a:noFill/>
        </p:spPr>
        <p:txBody>
          <a:bodyPr wrap="square" anchor="ctr">
            <a:spAutoFit/>
          </a:bodyPr>
          <a:lstStyle/>
          <a:p>
            <a:pPr algn="ctr">
              <a:spcAft>
                <a:spcPts val="400"/>
              </a:spcAft>
            </a:pPr>
            <a:r>
              <a:rPr sz="1300" b="1">
                <a:solidFill>
                  <a:srgbClr val="FFFFFF"/>
                </a:solidFill>
                <a:latin typeface="Arial"/>
              </a:rPr>
              <a:t>1</a:t>
            </a:r>
          </a:p>
        </p:txBody>
      </p:sp>
      <p:sp>
        <p:nvSpPr>
          <p:cNvPr id="30" name="TextBox 29"/>
          <p:cNvSpPr txBox="1"/>
          <p:nvPr/>
        </p:nvSpPr>
        <p:spPr>
          <a:xfrm>
            <a:off x="8202168" y="1783080"/>
            <a:ext cx="2999232" cy="845820"/>
          </a:xfrm>
          <a:prstGeom prst="rect">
            <a:avLst/>
          </a:prstGeom>
          <a:noFill/>
        </p:spPr>
        <p:txBody>
          <a:bodyPr wrap="square" anchor="ctr">
            <a:spAutoFit/>
          </a:bodyPr>
          <a:lstStyle/>
          <a:p>
            <a:pPr algn="l">
              <a:spcAft>
                <a:spcPts val="400"/>
              </a:spcAft>
            </a:pPr>
            <a:r>
              <a:rPr sz="1250" b="0">
                <a:solidFill>
                  <a:srgbClr val="161B26"/>
                </a:solidFill>
                <a:latin typeface="Arial"/>
              </a:rPr>
              <a:t>Open alfredang.github.io/quantumlabs in any browser — no install.</a:t>
            </a:r>
          </a:p>
        </p:txBody>
      </p:sp>
      <p:sp>
        <p:nvSpPr>
          <p:cNvPr id="31" name="Rectangle 30"/>
          <p:cNvSpPr/>
          <p:nvPr/>
        </p:nvSpPr>
        <p:spPr>
          <a:xfrm>
            <a:off x="7452360" y="2811780"/>
            <a:ext cx="3959352" cy="845820"/>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2" name="Rectangle 31"/>
          <p:cNvSpPr/>
          <p:nvPr/>
        </p:nvSpPr>
        <p:spPr>
          <a:xfrm>
            <a:off x="7452360" y="2811780"/>
            <a:ext cx="82296" cy="845820"/>
          </a:xfrm>
          <a:prstGeom prst="rect">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3" name="Oval 32"/>
          <p:cNvSpPr/>
          <p:nvPr/>
        </p:nvSpPr>
        <p:spPr>
          <a:xfrm>
            <a:off x="7680960" y="3042666"/>
            <a:ext cx="384048" cy="384048"/>
          </a:xfrm>
          <a:prstGeom prst="ellipse">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4" name="TextBox 33"/>
          <p:cNvSpPr txBox="1"/>
          <p:nvPr/>
        </p:nvSpPr>
        <p:spPr>
          <a:xfrm>
            <a:off x="7680960" y="3042666"/>
            <a:ext cx="384048" cy="384048"/>
          </a:xfrm>
          <a:prstGeom prst="rect">
            <a:avLst/>
          </a:prstGeom>
          <a:noFill/>
        </p:spPr>
        <p:txBody>
          <a:bodyPr wrap="square" anchor="ctr">
            <a:spAutoFit/>
          </a:bodyPr>
          <a:lstStyle/>
          <a:p>
            <a:pPr algn="ctr">
              <a:spcAft>
                <a:spcPts val="400"/>
              </a:spcAft>
            </a:pPr>
            <a:r>
              <a:rPr sz="1300" b="1">
                <a:solidFill>
                  <a:srgbClr val="FFFFFF"/>
                </a:solidFill>
                <a:latin typeface="Arial"/>
              </a:rPr>
              <a:t>2</a:t>
            </a:r>
          </a:p>
        </p:txBody>
      </p:sp>
      <p:sp>
        <p:nvSpPr>
          <p:cNvPr id="35" name="TextBox 34"/>
          <p:cNvSpPr txBox="1"/>
          <p:nvPr/>
        </p:nvSpPr>
        <p:spPr>
          <a:xfrm>
            <a:off x="8202168" y="2811780"/>
            <a:ext cx="2999232" cy="845820"/>
          </a:xfrm>
          <a:prstGeom prst="rect">
            <a:avLst/>
          </a:prstGeom>
          <a:noFill/>
        </p:spPr>
        <p:txBody>
          <a:bodyPr wrap="square" anchor="ctr">
            <a:spAutoFit/>
          </a:bodyPr>
          <a:lstStyle/>
          <a:p>
            <a:pPr algn="l">
              <a:spcAft>
                <a:spcPts val="400"/>
              </a:spcAft>
            </a:pPr>
            <a:r>
              <a:rPr sz="1250" b="0">
                <a:solidFill>
                  <a:srgbClr val="161B26"/>
                </a:solidFill>
                <a:latin typeface="Arial"/>
              </a:rPr>
              <a:t>Pick the module matching the topic just taught.</a:t>
            </a:r>
          </a:p>
        </p:txBody>
      </p:sp>
      <p:sp>
        <p:nvSpPr>
          <p:cNvPr id="36" name="Rectangle 35"/>
          <p:cNvSpPr/>
          <p:nvPr/>
        </p:nvSpPr>
        <p:spPr>
          <a:xfrm>
            <a:off x="7452360" y="3840480"/>
            <a:ext cx="3959352" cy="845820"/>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7" name="Rectangle 36"/>
          <p:cNvSpPr/>
          <p:nvPr/>
        </p:nvSpPr>
        <p:spPr>
          <a:xfrm>
            <a:off x="7452360" y="3840480"/>
            <a:ext cx="82296" cy="845820"/>
          </a:xfrm>
          <a:prstGeom prst="rect">
            <a:avLst/>
          </a:prstGeom>
          <a:solidFill>
            <a:srgbClr val="7C3AE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8" name="Oval 37"/>
          <p:cNvSpPr/>
          <p:nvPr/>
        </p:nvSpPr>
        <p:spPr>
          <a:xfrm>
            <a:off x="7680960" y="4071366"/>
            <a:ext cx="384048" cy="384048"/>
          </a:xfrm>
          <a:prstGeom prst="ellipse">
            <a:avLst/>
          </a:prstGeom>
          <a:solidFill>
            <a:srgbClr val="7C3AE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9" name="TextBox 38"/>
          <p:cNvSpPr txBox="1"/>
          <p:nvPr/>
        </p:nvSpPr>
        <p:spPr>
          <a:xfrm>
            <a:off x="7680960" y="4071366"/>
            <a:ext cx="384048" cy="384048"/>
          </a:xfrm>
          <a:prstGeom prst="rect">
            <a:avLst/>
          </a:prstGeom>
          <a:noFill/>
        </p:spPr>
        <p:txBody>
          <a:bodyPr wrap="square" anchor="ctr">
            <a:spAutoFit/>
          </a:bodyPr>
          <a:lstStyle/>
          <a:p>
            <a:pPr algn="ctr">
              <a:spcAft>
                <a:spcPts val="400"/>
              </a:spcAft>
            </a:pPr>
            <a:r>
              <a:rPr sz="1300" b="1">
                <a:solidFill>
                  <a:srgbClr val="FFFFFF"/>
                </a:solidFill>
                <a:latin typeface="Arial"/>
              </a:rPr>
              <a:t>3</a:t>
            </a:r>
          </a:p>
        </p:txBody>
      </p:sp>
      <p:sp>
        <p:nvSpPr>
          <p:cNvPr id="40" name="TextBox 39"/>
          <p:cNvSpPr txBox="1"/>
          <p:nvPr/>
        </p:nvSpPr>
        <p:spPr>
          <a:xfrm>
            <a:off x="8202168" y="3840480"/>
            <a:ext cx="2999232" cy="845820"/>
          </a:xfrm>
          <a:prstGeom prst="rect">
            <a:avLst/>
          </a:prstGeom>
          <a:noFill/>
        </p:spPr>
        <p:txBody>
          <a:bodyPr wrap="square" anchor="ctr">
            <a:spAutoFit/>
          </a:bodyPr>
          <a:lstStyle/>
          <a:p>
            <a:pPr algn="l">
              <a:spcAft>
                <a:spcPts val="400"/>
              </a:spcAft>
            </a:pPr>
            <a:r>
              <a:rPr sz="1250" b="0">
                <a:solidFill>
                  <a:srgbClr val="161B26"/>
                </a:solidFill>
                <a:latin typeface="Arial"/>
              </a:rPr>
              <a:t>Use the interactive simulator to build intuition before the maths.</a:t>
            </a:r>
          </a:p>
        </p:txBody>
      </p:sp>
      <p:sp>
        <p:nvSpPr>
          <p:cNvPr id="41" name="Rectangle 40"/>
          <p:cNvSpPr/>
          <p:nvPr/>
        </p:nvSpPr>
        <p:spPr>
          <a:xfrm>
            <a:off x="7452360" y="4869180"/>
            <a:ext cx="3959352" cy="845820"/>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2" name="Rectangle 41"/>
          <p:cNvSpPr/>
          <p:nvPr/>
        </p:nvSpPr>
        <p:spPr>
          <a:xfrm>
            <a:off x="7452360" y="4869180"/>
            <a:ext cx="82296" cy="845820"/>
          </a:xfrm>
          <a:prstGeom prst="rect">
            <a:avLst/>
          </a:prstGeom>
          <a:solidFill>
            <a:srgbClr val="F59E0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3" name="Oval 42"/>
          <p:cNvSpPr/>
          <p:nvPr/>
        </p:nvSpPr>
        <p:spPr>
          <a:xfrm>
            <a:off x="7680960" y="5100066"/>
            <a:ext cx="384048" cy="384048"/>
          </a:xfrm>
          <a:prstGeom prst="ellipse">
            <a:avLst/>
          </a:prstGeom>
          <a:solidFill>
            <a:srgbClr val="F59E0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4" name="TextBox 43"/>
          <p:cNvSpPr txBox="1"/>
          <p:nvPr/>
        </p:nvSpPr>
        <p:spPr>
          <a:xfrm>
            <a:off x="7680960" y="5100066"/>
            <a:ext cx="384048" cy="384048"/>
          </a:xfrm>
          <a:prstGeom prst="rect">
            <a:avLst/>
          </a:prstGeom>
          <a:noFill/>
        </p:spPr>
        <p:txBody>
          <a:bodyPr wrap="square" anchor="ctr">
            <a:spAutoFit/>
          </a:bodyPr>
          <a:lstStyle/>
          <a:p>
            <a:pPr algn="ctr">
              <a:spcAft>
                <a:spcPts val="400"/>
              </a:spcAft>
            </a:pPr>
            <a:r>
              <a:rPr sz="1300" b="1">
                <a:solidFill>
                  <a:srgbClr val="FFFFFF"/>
                </a:solidFill>
                <a:latin typeface="Arial"/>
              </a:rPr>
              <a:t>4</a:t>
            </a:r>
          </a:p>
        </p:txBody>
      </p:sp>
      <p:sp>
        <p:nvSpPr>
          <p:cNvPr id="45" name="TextBox 44"/>
          <p:cNvSpPr txBox="1"/>
          <p:nvPr/>
        </p:nvSpPr>
        <p:spPr>
          <a:xfrm>
            <a:off x="8202168" y="4869180"/>
            <a:ext cx="2999232" cy="845820"/>
          </a:xfrm>
          <a:prstGeom prst="rect">
            <a:avLst/>
          </a:prstGeom>
          <a:noFill/>
        </p:spPr>
        <p:txBody>
          <a:bodyPr wrap="square" anchor="ctr">
            <a:spAutoFit/>
          </a:bodyPr>
          <a:lstStyle/>
          <a:p>
            <a:pPr algn="l">
              <a:spcAft>
                <a:spcPts val="400"/>
              </a:spcAft>
            </a:pPr>
            <a:r>
              <a:rPr sz="1250" b="0">
                <a:solidFill>
                  <a:srgbClr val="161B26"/>
                </a:solidFill>
                <a:latin typeface="Arial"/>
              </a:rPr>
              <a:t>Take the 3-question module quiz to check your understanding.</a:t>
            </a:r>
          </a:p>
        </p:txBody>
      </p:sp>
      <p:sp>
        <p:nvSpPr>
          <p:cNvPr id="46" name="Rectangle 45"/>
          <p:cNvSpPr/>
          <p:nvPr/>
        </p:nvSpPr>
        <p:spPr>
          <a:xfrm>
            <a:off x="777240" y="5870448"/>
            <a:ext cx="10634472" cy="457200"/>
          </a:xfrm>
          <a:prstGeom prst="rect">
            <a:avLst/>
          </a:prstGeom>
          <a:solidFill>
            <a:srgbClr val="E8F7E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7" name="TextBox 46"/>
          <p:cNvSpPr txBox="1"/>
          <p:nvPr/>
        </p:nvSpPr>
        <p:spPr>
          <a:xfrm>
            <a:off x="960120" y="5870448"/>
            <a:ext cx="10241280" cy="457200"/>
          </a:xfrm>
          <a:prstGeom prst="rect">
            <a:avLst/>
          </a:prstGeom>
          <a:noFill/>
        </p:spPr>
        <p:txBody>
          <a:bodyPr wrap="square" anchor="ctr">
            <a:spAutoFit/>
          </a:bodyPr>
          <a:lstStyle/>
          <a:p>
            <a:pPr algn="ctr">
              <a:spcAft>
                <a:spcPts val="400"/>
              </a:spcAft>
            </a:pPr>
            <a:r>
              <a:rPr sz="1250" b="1">
                <a:solidFill>
                  <a:srgbClr val="127A3E"/>
                </a:solidFill>
                <a:latin typeface="Arial"/>
              </a:rPr>
              <a:t>Built by Tertiary Infotech Academy — 18 interactive modules, runs entirely in the browser, no install.</a:t>
            </a:r>
          </a:p>
        </p:txBody>
      </p:sp>
      <p:sp>
        <p:nvSpPr>
          <p:cNvPr id="48" name="TextBox 47"/>
          <p:cNvSpPr txBox="1"/>
          <p:nvPr/>
        </p:nvSpPr>
        <p:spPr>
          <a:xfrm>
            <a:off x="365760" y="6446520"/>
            <a:ext cx="6858000" cy="320040"/>
          </a:xfrm>
          <a:prstGeom prst="rect">
            <a:avLst/>
          </a:prstGeom>
          <a:noFill/>
        </p:spPr>
        <p:txBody>
          <a:bodyPr wrap="square" anchor="t">
            <a:spAutoFit/>
          </a:bodyPr>
          <a:lstStyle/>
          <a:p>
            <a:pPr algn="l">
              <a:spcAft>
                <a:spcPts val="400"/>
              </a:spcAft>
            </a:pPr>
            <a:r>
              <a:rPr sz="900" b="0">
                <a:solidFill>
                  <a:srgbClr val="5B6372"/>
                </a:solidFill>
                <a:latin typeface="Arial"/>
              </a:rPr>
              <a:t>Securing the Future with Quantum Computing and Cryptography  ·  TGS-2024043419</a:t>
            </a:r>
          </a:p>
        </p:txBody>
      </p:sp>
      <p:sp>
        <p:nvSpPr>
          <p:cNvPr id="49" name="TextBox 48"/>
          <p:cNvSpPr txBox="1"/>
          <p:nvPr/>
        </p:nvSpPr>
        <p:spPr>
          <a:xfrm>
            <a:off x="4572000" y="6446520"/>
            <a:ext cx="3017520" cy="320040"/>
          </a:xfrm>
          <a:prstGeom prst="rect">
            <a:avLst/>
          </a:prstGeom>
          <a:noFill/>
        </p:spPr>
        <p:txBody>
          <a:bodyPr wrap="square" anchor="t">
            <a:spAutoFit/>
          </a:bodyPr>
          <a:lstStyle/>
          <a:p>
            <a:pPr algn="ctr">
              <a:spcAft>
                <a:spcPts val="400"/>
              </a:spcAft>
            </a:pPr>
            <a:r>
              <a:rPr sz="900" b="0">
                <a:solidFill>
                  <a:srgbClr val="5B6372"/>
                </a:solidFill>
                <a:latin typeface="Arial"/>
              </a:rPr>
              <a:t>© 2026 Tertiary Infotech Academy Pte Ltd</a:t>
            </a:r>
          </a:p>
        </p:txBody>
      </p:sp>
      <p:sp>
        <p:nvSpPr>
          <p:cNvPr id="50" name="TextBox 49"/>
          <p:cNvSpPr txBox="1"/>
          <p:nvPr/>
        </p:nvSpPr>
        <p:spPr>
          <a:xfrm>
            <a:off x="11338560" y="6446520"/>
            <a:ext cx="548640" cy="320040"/>
          </a:xfrm>
          <a:prstGeom prst="rect">
            <a:avLst/>
          </a:prstGeom>
          <a:noFill/>
        </p:spPr>
        <p:txBody>
          <a:bodyPr wrap="square" anchor="t">
            <a:spAutoFit/>
          </a:bodyPr>
          <a:lstStyle/>
          <a:p>
            <a:pPr algn="r">
              <a:spcAft>
                <a:spcPts val="400"/>
              </a:spcAft>
            </a:pPr>
            <a:r>
              <a:rPr sz="900" b="0">
                <a:solidFill>
                  <a:srgbClr val="5B6372"/>
                </a:solidFill>
                <a:latin typeface="Arial"/>
              </a:rPr>
              <a:t>18</a:t>
            </a:r>
          </a:p>
        </p:txBody>
      </p:sp>
    </p:spTree>
  </p:cSld>
  <p:clrMapOvr>
    <a:masterClrMapping/>
  </p:clrMapOvr>
</p:sld>
</file>

<file path=ppt/slides/slide20.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256032" cy="1417320"/>
          </a:xfrm>
          <a:prstGeom prst="rect">
            <a:avLst/>
          </a:prstGeom>
          <a:solidFill>
            <a:srgbClr val="7C3AE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777240" y="457200"/>
            <a:ext cx="10607040" cy="365760"/>
          </a:xfrm>
          <a:prstGeom prst="rect">
            <a:avLst/>
          </a:prstGeom>
          <a:noFill/>
        </p:spPr>
        <p:txBody>
          <a:bodyPr wrap="square" anchor="t">
            <a:spAutoFit/>
          </a:bodyPr>
          <a:lstStyle/>
          <a:p>
            <a:pPr algn="l">
              <a:spcAft>
                <a:spcPts val="400"/>
              </a:spcAft>
            </a:pPr>
            <a:r>
              <a:rPr sz="1400" b="1">
                <a:solidFill>
                  <a:srgbClr val="7C3AED"/>
                </a:solidFill>
                <a:latin typeface="Arial"/>
              </a:rPr>
              <a:t>18 MODULES · alfredang.github.io/quantumlabs</a:t>
            </a:r>
          </a:p>
        </p:txBody>
      </p:sp>
      <p:sp>
        <p:nvSpPr>
          <p:cNvPr id="5" name="TextBox 4"/>
          <p:cNvSpPr txBox="1"/>
          <p:nvPr/>
        </p:nvSpPr>
        <p:spPr>
          <a:xfrm>
            <a:off x="777240" y="822960"/>
            <a:ext cx="10881360" cy="822960"/>
          </a:xfrm>
          <a:prstGeom prst="rect">
            <a:avLst/>
          </a:prstGeom>
          <a:noFill/>
        </p:spPr>
        <p:txBody>
          <a:bodyPr wrap="square" anchor="t">
            <a:spAutoFit/>
          </a:bodyPr>
          <a:lstStyle/>
          <a:p>
            <a:pPr algn="l">
              <a:spcAft>
                <a:spcPts val="400"/>
              </a:spcAft>
            </a:pPr>
            <a:r>
              <a:rPr sz="2900" b="1">
                <a:solidFill>
                  <a:srgbClr val="161B26"/>
                </a:solidFill>
                <a:latin typeface="Arial"/>
              </a:rPr>
              <a:t>What QuantumLab Covers</a:t>
            </a:r>
          </a:p>
        </p:txBody>
      </p:sp>
      <p:sp>
        <p:nvSpPr>
          <p:cNvPr id="6" name="Rectangle 5"/>
          <p:cNvSpPr/>
          <p:nvPr/>
        </p:nvSpPr>
        <p:spPr>
          <a:xfrm>
            <a:off x="777240" y="1554480"/>
            <a:ext cx="10634472" cy="18288"/>
          </a:xfrm>
          <a:prstGeom prst="rect">
            <a:avLst/>
          </a:prstGeom>
          <a:solidFill>
            <a:srgbClr val="E2E8F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Rectangle 6"/>
          <p:cNvSpPr/>
          <p:nvPr/>
        </p:nvSpPr>
        <p:spPr>
          <a:xfrm>
            <a:off x="777240" y="1783080"/>
            <a:ext cx="5180076" cy="914400"/>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Rectangle 7"/>
          <p:cNvSpPr/>
          <p:nvPr/>
        </p:nvSpPr>
        <p:spPr>
          <a:xfrm>
            <a:off x="777240" y="1783080"/>
            <a:ext cx="91440" cy="914400"/>
          </a:xfrm>
          <a:prstGeom prst="rect">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Oval 8"/>
          <p:cNvSpPr/>
          <p:nvPr/>
        </p:nvSpPr>
        <p:spPr>
          <a:xfrm>
            <a:off x="1033272" y="1965960"/>
            <a:ext cx="548640" cy="548640"/>
          </a:xfrm>
          <a:prstGeom prst="ellipse">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TextBox 9"/>
          <p:cNvSpPr txBox="1"/>
          <p:nvPr/>
        </p:nvSpPr>
        <p:spPr>
          <a:xfrm>
            <a:off x="1033272" y="1965960"/>
            <a:ext cx="548640" cy="548640"/>
          </a:xfrm>
          <a:prstGeom prst="rect">
            <a:avLst/>
          </a:prstGeom>
          <a:noFill/>
        </p:spPr>
        <p:txBody>
          <a:bodyPr wrap="square" anchor="ctr">
            <a:spAutoFit/>
          </a:bodyPr>
          <a:lstStyle/>
          <a:p>
            <a:pPr algn="ctr">
              <a:spcAft>
                <a:spcPts val="400"/>
              </a:spcAft>
            </a:pPr>
            <a:r>
              <a:rPr sz="1800" b="1">
                <a:solidFill>
                  <a:srgbClr val="FFFFFF"/>
                </a:solidFill>
                <a:latin typeface="Arial"/>
              </a:rPr>
              <a:t>1</a:t>
            </a:r>
          </a:p>
        </p:txBody>
      </p:sp>
      <p:sp>
        <p:nvSpPr>
          <p:cNvPr id="11" name="TextBox 10"/>
          <p:cNvSpPr txBox="1"/>
          <p:nvPr/>
        </p:nvSpPr>
        <p:spPr>
          <a:xfrm>
            <a:off x="1764792" y="1892808"/>
            <a:ext cx="3973068" cy="731520"/>
          </a:xfrm>
          <a:prstGeom prst="rect">
            <a:avLst/>
          </a:prstGeom>
          <a:noFill/>
        </p:spPr>
        <p:txBody>
          <a:bodyPr wrap="square" anchor="ctr">
            <a:spAutoFit/>
          </a:bodyPr>
          <a:lstStyle/>
          <a:p>
            <a:pPr algn="l">
              <a:spcAft>
                <a:spcPts val="300"/>
              </a:spcAft>
            </a:pPr>
            <a:r>
              <a:rPr sz="1400" b="1">
                <a:solidFill>
                  <a:srgbClr val="161B26"/>
                </a:solidFill>
                <a:latin typeface="Arial"/>
              </a:rPr>
              <a:t>Reference modules</a:t>
            </a:r>
          </a:p>
          <a:p>
            <a:pPr algn="l">
              <a:spcAft>
                <a:spcPts val="300"/>
              </a:spcAft>
            </a:pPr>
            <a:r>
              <a:rPr sz="1050" b="0">
                <a:solidFill>
                  <a:srgbClr val="5B6372"/>
                </a:solidFill>
                <a:latin typeface="Arial"/>
              </a:rPr>
              <a:t>Math prerequisites, the five QM postulates, density matrices, history of QM.</a:t>
            </a:r>
          </a:p>
        </p:txBody>
      </p:sp>
      <p:sp>
        <p:nvSpPr>
          <p:cNvPr id="12" name="Rectangle 11"/>
          <p:cNvSpPr/>
          <p:nvPr/>
        </p:nvSpPr>
        <p:spPr>
          <a:xfrm>
            <a:off x="6231636" y="1783080"/>
            <a:ext cx="5180076" cy="914400"/>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 name="Rectangle 12"/>
          <p:cNvSpPr/>
          <p:nvPr/>
        </p:nvSpPr>
        <p:spPr>
          <a:xfrm>
            <a:off x="6231636" y="1783080"/>
            <a:ext cx="91440" cy="914400"/>
          </a:xfrm>
          <a:prstGeom prst="rect">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 name="Oval 13"/>
          <p:cNvSpPr/>
          <p:nvPr/>
        </p:nvSpPr>
        <p:spPr>
          <a:xfrm>
            <a:off x="6487668" y="1965960"/>
            <a:ext cx="548640" cy="548640"/>
          </a:xfrm>
          <a:prstGeom prst="ellipse">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5" name="TextBox 14"/>
          <p:cNvSpPr txBox="1"/>
          <p:nvPr/>
        </p:nvSpPr>
        <p:spPr>
          <a:xfrm>
            <a:off x="6487668" y="1965960"/>
            <a:ext cx="548640" cy="548640"/>
          </a:xfrm>
          <a:prstGeom prst="rect">
            <a:avLst/>
          </a:prstGeom>
          <a:noFill/>
        </p:spPr>
        <p:txBody>
          <a:bodyPr wrap="square" anchor="ctr">
            <a:spAutoFit/>
          </a:bodyPr>
          <a:lstStyle/>
          <a:p>
            <a:pPr algn="ctr">
              <a:spcAft>
                <a:spcPts val="400"/>
              </a:spcAft>
            </a:pPr>
            <a:r>
              <a:rPr sz="1800" b="1">
                <a:solidFill>
                  <a:srgbClr val="FFFFFF"/>
                </a:solidFill>
                <a:latin typeface="Arial"/>
              </a:rPr>
              <a:t>2</a:t>
            </a:r>
          </a:p>
        </p:txBody>
      </p:sp>
      <p:sp>
        <p:nvSpPr>
          <p:cNvPr id="16" name="TextBox 15"/>
          <p:cNvSpPr txBox="1"/>
          <p:nvPr/>
        </p:nvSpPr>
        <p:spPr>
          <a:xfrm>
            <a:off x="7219188" y="1892808"/>
            <a:ext cx="3973068" cy="731520"/>
          </a:xfrm>
          <a:prstGeom prst="rect">
            <a:avLst/>
          </a:prstGeom>
          <a:noFill/>
        </p:spPr>
        <p:txBody>
          <a:bodyPr wrap="square" anchor="ctr">
            <a:spAutoFit/>
          </a:bodyPr>
          <a:lstStyle/>
          <a:p>
            <a:pPr algn="l">
              <a:spcAft>
                <a:spcPts val="300"/>
              </a:spcAft>
            </a:pPr>
            <a:r>
              <a:rPr sz="1400" b="1">
                <a:solidFill>
                  <a:srgbClr val="161B26"/>
                </a:solidFill>
                <a:latin typeface="Arial"/>
              </a:rPr>
              <a:t>Core concepts</a:t>
            </a:r>
          </a:p>
          <a:p>
            <a:pPr algn="l">
              <a:spcAft>
                <a:spcPts val="300"/>
              </a:spcAft>
            </a:pPr>
            <a:r>
              <a:rPr sz="1050" b="0">
                <a:solidFill>
                  <a:srgbClr val="5B6372"/>
                </a:solidFill>
                <a:latin typeface="Arial"/>
              </a:rPr>
              <a:t>Qubits, Bloch sphere, superposition, entanglement, measurement.</a:t>
            </a:r>
          </a:p>
        </p:txBody>
      </p:sp>
      <p:sp>
        <p:nvSpPr>
          <p:cNvPr id="17" name="Rectangle 16"/>
          <p:cNvSpPr/>
          <p:nvPr/>
        </p:nvSpPr>
        <p:spPr>
          <a:xfrm>
            <a:off x="777240" y="2935224"/>
            <a:ext cx="5180076" cy="914400"/>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8" name="Rectangle 17"/>
          <p:cNvSpPr/>
          <p:nvPr/>
        </p:nvSpPr>
        <p:spPr>
          <a:xfrm>
            <a:off x="777240" y="2935224"/>
            <a:ext cx="91440" cy="914400"/>
          </a:xfrm>
          <a:prstGeom prst="rect">
            <a:avLst/>
          </a:prstGeom>
          <a:solidFill>
            <a:srgbClr val="7C3AE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9" name="Oval 18"/>
          <p:cNvSpPr/>
          <p:nvPr/>
        </p:nvSpPr>
        <p:spPr>
          <a:xfrm>
            <a:off x="1033272" y="3118104"/>
            <a:ext cx="548640" cy="548640"/>
          </a:xfrm>
          <a:prstGeom prst="ellipse">
            <a:avLst/>
          </a:prstGeom>
          <a:solidFill>
            <a:srgbClr val="7C3AE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0" name="TextBox 19"/>
          <p:cNvSpPr txBox="1"/>
          <p:nvPr/>
        </p:nvSpPr>
        <p:spPr>
          <a:xfrm>
            <a:off x="1033272" y="3118104"/>
            <a:ext cx="548640" cy="548640"/>
          </a:xfrm>
          <a:prstGeom prst="rect">
            <a:avLst/>
          </a:prstGeom>
          <a:noFill/>
        </p:spPr>
        <p:txBody>
          <a:bodyPr wrap="square" anchor="ctr">
            <a:spAutoFit/>
          </a:bodyPr>
          <a:lstStyle/>
          <a:p>
            <a:pPr algn="ctr">
              <a:spcAft>
                <a:spcPts val="400"/>
              </a:spcAft>
            </a:pPr>
            <a:r>
              <a:rPr sz="1800" b="1">
                <a:solidFill>
                  <a:srgbClr val="FFFFFF"/>
                </a:solidFill>
                <a:latin typeface="Arial"/>
              </a:rPr>
              <a:t>3</a:t>
            </a:r>
          </a:p>
        </p:txBody>
      </p:sp>
      <p:sp>
        <p:nvSpPr>
          <p:cNvPr id="21" name="TextBox 20"/>
          <p:cNvSpPr txBox="1"/>
          <p:nvPr/>
        </p:nvSpPr>
        <p:spPr>
          <a:xfrm>
            <a:off x="1764792" y="3044952"/>
            <a:ext cx="3973068" cy="731520"/>
          </a:xfrm>
          <a:prstGeom prst="rect">
            <a:avLst/>
          </a:prstGeom>
          <a:noFill/>
        </p:spPr>
        <p:txBody>
          <a:bodyPr wrap="square" anchor="ctr">
            <a:spAutoFit/>
          </a:bodyPr>
          <a:lstStyle/>
          <a:p>
            <a:pPr algn="l">
              <a:spcAft>
                <a:spcPts val="300"/>
              </a:spcAft>
            </a:pPr>
            <a:r>
              <a:rPr sz="1400" b="1">
                <a:solidFill>
                  <a:srgbClr val="161B26"/>
                </a:solidFill>
                <a:latin typeface="Arial"/>
              </a:rPr>
              <a:t>Bell's inequality</a:t>
            </a:r>
          </a:p>
          <a:p>
            <a:pPr algn="l">
              <a:spcAft>
                <a:spcPts val="300"/>
              </a:spcAft>
            </a:pPr>
            <a:r>
              <a:rPr sz="1050" b="0">
                <a:solidFill>
                  <a:srgbClr val="5B6372"/>
                </a:solidFill>
                <a:latin typeface="Arial"/>
              </a:rPr>
              <a:t>CHSH Monte-Carlo comparing the quantum 2√2 bound against local realism.</a:t>
            </a:r>
          </a:p>
        </p:txBody>
      </p:sp>
      <p:sp>
        <p:nvSpPr>
          <p:cNvPr id="22" name="Rectangle 21"/>
          <p:cNvSpPr/>
          <p:nvPr/>
        </p:nvSpPr>
        <p:spPr>
          <a:xfrm>
            <a:off x="6231636" y="2935224"/>
            <a:ext cx="5180076" cy="914400"/>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3" name="Rectangle 22"/>
          <p:cNvSpPr/>
          <p:nvPr/>
        </p:nvSpPr>
        <p:spPr>
          <a:xfrm>
            <a:off x="6231636" y="2935224"/>
            <a:ext cx="91440" cy="914400"/>
          </a:xfrm>
          <a:prstGeom prst="rect">
            <a:avLst/>
          </a:prstGeom>
          <a:solidFill>
            <a:srgbClr val="F59E0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4" name="Oval 23"/>
          <p:cNvSpPr/>
          <p:nvPr/>
        </p:nvSpPr>
        <p:spPr>
          <a:xfrm>
            <a:off x="6487668" y="3118104"/>
            <a:ext cx="548640" cy="548640"/>
          </a:xfrm>
          <a:prstGeom prst="ellipse">
            <a:avLst/>
          </a:prstGeom>
          <a:solidFill>
            <a:srgbClr val="F59E0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5" name="TextBox 24"/>
          <p:cNvSpPr txBox="1"/>
          <p:nvPr/>
        </p:nvSpPr>
        <p:spPr>
          <a:xfrm>
            <a:off x="6487668" y="3118104"/>
            <a:ext cx="548640" cy="548640"/>
          </a:xfrm>
          <a:prstGeom prst="rect">
            <a:avLst/>
          </a:prstGeom>
          <a:noFill/>
        </p:spPr>
        <p:txBody>
          <a:bodyPr wrap="square" anchor="ctr">
            <a:spAutoFit/>
          </a:bodyPr>
          <a:lstStyle/>
          <a:p>
            <a:pPr algn="ctr">
              <a:spcAft>
                <a:spcPts val="400"/>
              </a:spcAft>
            </a:pPr>
            <a:r>
              <a:rPr sz="1800" b="1">
                <a:solidFill>
                  <a:srgbClr val="FFFFFF"/>
                </a:solidFill>
                <a:latin typeface="Arial"/>
              </a:rPr>
              <a:t>4</a:t>
            </a:r>
          </a:p>
        </p:txBody>
      </p:sp>
      <p:sp>
        <p:nvSpPr>
          <p:cNvPr id="26" name="TextBox 25"/>
          <p:cNvSpPr txBox="1"/>
          <p:nvPr/>
        </p:nvSpPr>
        <p:spPr>
          <a:xfrm>
            <a:off x="7219188" y="3044952"/>
            <a:ext cx="3973068" cy="731520"/>
          </a:xfrm>
          <a:prstGeom prst="rect">
            <a:avLst/>
          </a:prstGeom>
          <a:noFill/>
        </p:spPr>
        <p:txBody>
          <a:bodyPr wrap="square" anchor="ctr">
            <a:spAutoFit/>
          </a:bodyPr>
          <a:lstStyle/>
          <a:p>
            <a:pPr algn="l">
              <a:spcAft>
                <a:spcPts val="300"/>
              </a:spcAft>
            </a:pPr>
            <a:r>
              <a:rPr sz="1400" b="1">
                <a:solidFill>
                  <a:srgbClr val="161B26"/>
                </a:solidFill>
                <a:latin typeface="Arial"/>
              </a:rPr>
              <a:t>Circuit builder</a:t>
            </a:r>
          </a:p>
          <a:p>
            <a:pPr algn="l">
              <a:spcAft>
                <a:spcPts val="300"/>
              </a:spcAft>
            </a:pPr>
            <a:r>
              <a:rPr sz="1050" b="0">
                <a:solidFill>
                  <a:srgbClr val="5B6372"/>
                </a:solidFill>
                <a:latin typeface="Arial"/>
              </a:rPr>
              <a:t>Drag-and-drop 2ⁿ state-vector simulator with the full gate set.</a:t>
            </a:r>
          </a:p>
        </p:txBody>
      </p:sp>
      <p:sp>
        <p:nvSpPr>
          <p:cNvPr id="27" name="Rectangle 26"/>
          <p:cNvSpPr/>
          <p:nvPr/>
        </p:nvSpPr>
        <p:spPr>
          <a:xfrm>
            <a:off x="777240" y="4087368"/>
            <a:ext cx="5180076" cy="914400"/>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8" name="Rectangle 27"/>
          <p:cNvSpPr/>
          <p:nvPr/>
        </p:nvSpPr>
        <p:spPr>
          <a:xfrm>
            <a:off x="777240" y="4087368"/>
            <a:ext cx="91440" cy="914400"/>
          </a:xfrm>
          <a:prstGeom prst="rect">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9" name="Oval 28"/>
          <p:cNvSpPr/>
          <p:nvPr/>
        </p:nvSpPr>
        <p:spPr>
          <a:xfrm>
            <a:off x="1033272" y="4270248"/>
            <a:ext cx="548640" cy="548640"/>
          </a:xfrm>
          <a:prstGeom prst="ellipse">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0" name="TextBox 29"/>
          <p:cNvSpPr txBox="1"/>
          <p:nvPr/>
        </p:nvSpPr>
        <p:spPr>
          <a:xfrm>
            <a:off x="1033272" y="4270248"/>
            <a:ext cx="548640" cy="548640"/>
          </a:xfrm>
          <a:prstGeom prst="rect">
            <a:avLst/>
          </a:prstGeom>
          <a:noFill/>
        </p:spPr>
        <p:txBody>
          <a:bodyPr wrap="square" anchor="ctr">
            <a:spAutoFit/>
          </a:bodyPr>
          <a:lstStyle/>
          <a:p>
            <a:pPr algn="ctr">
              <a:spcAft>
                <a:spcPts val="400"/>
              </a:spcAft>
            </a:pPr>
            <a:r>
              <a:rPr sz="1800" b="1">
                <a:solidFill>
                  <a:srgbClr val="FFFFFF"/>
                </a:solidFill>
                <a:latin typeface="Arial"/>
              </a:rPr>
              <a:t>5</a:t>
            </a:r>
          </a:p>
        </p:txBody>
      </p:sp>
      <p:sp>
        <p:nvSpPr>
          <p:cNvPr id="31" name="TextBox 30"/>
          <p:cNvSpPr txBox="1"/>
          <p:nvPr/>
        </p:nvSpPr>
        <p:spPr>
          <a:xfrm>
            <a:off x="1764792" y="4197096"/>
            <a:ext cx="3973068" cy="731520"/>
          </a:xfrm>
          <a:prstGeom prst="rect">
            <a:avLst/>
          </a:prstGeom>
          <a:noFill/>
        </p:spPr>
        <p:txBody>
          <a:bodyPr wrap="square" anchor="ctr">
            <a:spAutoFit/>
          </a:bodyPr>
          <a:lstStyle/>
          <a:p>
            <a:pPr algn="l">
              <a:spcAft>
                <a:spcPts val="300"/>
              </a:spcAft>
            </a:pPr>
            <a:r>
              <a:rPr sz="1400" b="1">
                <a:solidFill>
                  <a:srgbClr val="161B26"/>
                </a:solidFill>
                <a:latin typeface="Arial"/>
              </a:rPr>
              <a:t>Phase kickback</a:t>
            </a:r>
          </a:p>
          <a:p>
            <a:pPr algn="l">
              <a:spcAft>
                <a:spcPts val="300"/>
              </a:spcAft>
            </a:pPr>
            <a:r>
              <a:rPr sz="1050" b="0">
                <a:solidFill>
                  <a:srgbClr val="5B6372"/>
                </a:solidFill>
                <a:latin typeface="Arial"/>
              </a:rPr>
              <a:t>Four-state explorer showing the eigenvalue phase moving to the control.</a:t>
            </a:r>
          </a:p>
        </p:txBody>
      </p:sp>
      <p:sp>
        <p:nvSpPr>
          <p:cNvPr id="32" name="Rectangle 31"/>
          <p:cNvSpPr/>
          <p:nvPr/>
        </p:nvSpPr>
        <p:spPr>
          <a:xfrm>
            <a:off x="6231636" y="4087368"/>
            <a:ext cx="5180076" cy="914400"/>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3" name="Rectangle 32"/>
          <p:cNvSpPr/>
          <p:nvPr/>
        </p:nvSpPr>
        <p:spPr>
          <a:xfrm>
            <a:off x="6231636" y="4087368"/>
            <a:ext cx="91440" cy="914400"/>
          </a:xfrm>
          <a:prstGeom prst="rect">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4" name="Oval 33"/>
          <p:cNvSpPr/>
          <p:nvPr/>
        </p:nvSpPr>
        <p:spPr>
          <a:xfrm>
            <a:off x="6487668" y="4270248"/>
            <a:ext cx="548640" cy="548640"/>
          </a:xfrm>
          <a:prstGeom prst="ellipse">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5" name="TextBox 34"/>
          <p:cNvSpPr txBox="1"/>
          <p:nvPr/>
        </p:nvSpPr>
        <p:spPr>
          <a:xfrm>
            <a:off x="6487668" y="4270248"/>
            <a:ext cx="548640" cy="548640"/>
          </a:xfrm>
          <a:prstGeom prst="rect">
            <a:avLst/>
          </a:prstGeom>
          <a:noFill/>
        </p:spPr>
        <p:txBody>
          <a:bodyPr wrap="square" anchor="ctr">
            <a:spAutoFit/>
          </a:bodyPr>
          <a:lstStyle/>
          <a:p>
            <a:pPr algn="ctr">
              <a:spcAft>
                <a:spcPts val="400"/>
              </a:spcAft>
            </a:pPr>
            <a:r>
              <a:rPr sz="1800" b="1">
                <a:solidFill>
                  <a:srgbClr val="FFFFFF"/>
                </a:solidFill>
                <a:latin typeface="Arial"/>
              </a:rPr>
              <a:t>6</a:t>
            </a:r>
          </a:p>
        </p:txBody>
      </p:sp>
      <p:sp>
        <p:nvSpPr>
          <p:cNvPr id="36" name="TextBox 35"/>
          <p:cNvSpPr txBox="1"/>
          <p:nvPr/>
        </p:nvSpPr>
        <p:spPr>
          <a:xfrm>
            <a:off x="7219188" y="4197096"/>
            <a:ext cx="3973068" cy="731520"/>
          </a:xfrm>
          <a:prstGeom prst="rect">
            <a:avLst/>
          </a:prstGeom>
          <a:noFill/>
        </p:spPr>
        <p:txBody>
          <a:bodyPr wrap="square" anchor="ctr">
            <a:spAutoFit/>
          </a:bodyPr>
          <a:lstStyle/>
          <a:p>
            <a:pPr algn="l">
              <a:spcAft>
                <a:spcPts val="300"/>
              </a:spcAft>
            </a:pPr>
            <a:r>
              <a:rPr sz="1400" b="1">
                <a:solidFill>
                  <a:srgbClr val="161B26"/>
                </a:solidFill>
                <a:latin typeface="Arial"/>
              </a:rPr>
              <a:t>Algorithms</a:t>
            </a:r>
          </a:p>
          <a:p>
            <a:pPr algn="l">
              <a:spcAft>
                <a:spcPts val="300"/>
              </a:spcAft>
            </a:pPr>
            <a:r>
              <a:rPr sz="1050" b="0">
                <a:solidFill>
                  <a:srgbClr val="5B6372"/>
                </a:solidFill>
                <a:latin typeface="Arial"/>
              </a:rPr>
              <a:t>Coin flip, Grover, Deutsch-Jozsa, teleportation, QFT and Shor with circuit diagrams.</a:t>
            </a:r>
          </a:p>
        </p:txBody>
      </p:sp>
      <p:sp>
        <p:nvSpPr>
          <p:cNvPr id="37" name="Rectangle 36"/>
          <p:cNvSpPr/>
          <p:nvPr/>
        </p:nvSpPr>
        <p:spPr>
          <a:xfrm>
            <a:off x="777240" y="5239512"/>
            <a:ext cx="5180076" cy="914400"/>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8" name="Rectangle 37"/>
          <p:cNvSpPr/>
          <p:nvPr/>
        </p:nvSpPr>
        <p:spPr>
          <a:xfrm>
            <a:off x="777240" y="5239512"/>
            <a:ext cx="91440" cy="914400"/>
          </a:xfrm>
          <a:prstGeom prst="rect">
            <a:avLst/>
          </a:prstGeom>
          <a:solidFill>
            <a:srgbClr val="7C3AE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9" name="Oval 38"/>
          <p:cNvSpPr/>
          <p:nvPr/>
        </p:nvSpPr>
        <p:spPr>
          <a:xfrm>
            <a:off x="1033272" y="5422392"/>
            <a:ext cx="548640" cy="548640"/>
          </a:xfrm>
          <a:prstGeom prst="ellipse">
            <a:avLst/>
          </a:prstGeom>
          <a:solidFill>
            <a:srgbClr val="7C3AE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0" name="TextBox 39"/>
          <p:cNvSpPr txBox="1"/>
          <p:nvPr/>
        </p:nvSpPr>
        <p:spPr>
          <a:xfrm>
            <a:off x="1033272" y="5422392"/>
            <a:ext cx="548640" cy="548640"/>
          </a:xfrm>
          <a:prstGeom prst="rect">
            <a:avLst/>
          </a:prstGeom>
          <a:noFill/>
        </p:spPr>
        <p:txBody>
          <a:bodyPr wrap="square" anchor="ctr">
            <a:spAutoFit/>
          </a:bodyPr>
          <a:lstStyle/>
          <a:p>
            <a:pPr algn="ctr">
              <a:spcAft>
                <a:spcPts val="400"/>
              </a:spcAft>
            </a:pPr>
            <a:r>
              <a:rPr sz="1800" b="1">
                <a:solidFill>
                  <a:srgbClr val="FFFFFF"/>
                </a:solidFill>
                <a:latin typeface="Arial"/>
              </a:rPr>
              <a:t>7</a:t>
            </a:r>
          </a:p>
        </p:txBody>
      </p:sp>
      <p:sp>
        <p:nvSpPr>
          <p:cNvPr id="41" name="TextBox 40"/>
          <p:cNvSpPr txBox="1"/>
          <p:nvPr/>
        </p:nvSpPr>
        <p:spPr>
          <a:xfrm>
            <a:off x="1764792" y="5349240"/>
            <a:ext cx="3973068" cy="731520"/>
          </a:xfrm>
          <a:prstGeom prst="rect">
            <a:avLst/>
          </a:prstGeom>
          <a:noFill/>
        </p:spPr>
        <p:txBody>
          <a:bodyPr wrap="square" anchor="ctr">
            <a:spAutoFit/>
          </a:bodyPr>
          <a:lstStyle/>
          <a:p>
            <a:pPr algn="l">
              <a:spcAft>
                <a:spcPts val="300"/>
              </a:spcAft>
            </a:pPr>
            <a:r>
              <a:rPr sz="1400" b="1">
                <a:solidFill>
                  <a:srgbClr val="161B26"/>
                </a:solidFill>
                <a:latin typeface="Arial"/>
              </a:rPr>
              <a:t>Cryptography</a:t>
            </a:r>
          </a:p>
          <a:p>
            <a:pPr algn="l">
              <a:spcAft>
                <a:spcPts val="300"/>
              </a:spcAft>
            </a:pPr>
            <a:r>
              <a:rPr sz="1050" b="0">
                <a:solidFill>
                  <a:srgbClr val="5B6372"/>
                </a:solidFill>
                <a:latin typeface="Arial"/>
              </a:rPr>
              <a:t>BB84 key distribution with an optional Eve eavesdropper toggle.</a:t>
            </a:r>
          </a:p>
        </p:txBody>
      </p:sp>
      <p:sp>
        <p:nvSpPr>
          <p:cNvPr id="42" name="Rectangle 41"/>
          <p:cNvSpPr/>
          <p:nvPr/>
        </p:nvSpPr>
        <p:spPr>
          <a:xfrm>
            <a:off x="6231636" y="5239512"/>
            <a:ext cx="5180076" cy="914400"/>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3" name="Rectangle 42"/>
          <p:cNvSpPr/>
          <p:nvPr/>
        </p:nvSpPr>
        <p:spPr>
          <a:xfrm>
            <a:off x="6231636" y="5239512"/>
            <a:ext cx="91440" cy="914400"/>
          </a:xfrm>
          <a:prstGeom prst="rect">
            <a:avLst/>
          </a:prstGeom>
          <a:solidFill>
            <a:srgbClr val="F59E0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4" name="Oval 43"/>
          <p:cNvSpPr/>
          <p:nvPr/>
        </p:nvSpPr>
        <p:spPr>
          <a:xfrm>
            <a:off x="6487668" y="5422392"/>
            <a:ext cx="548640" cy="548640"/>
          </a:xfrm>
          <a:prstGeom prst="ellipse">
            <a:avLst/>
          </a:prstGeom>
          <a:solidFill>
            <a:srgbClr val="F59E0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5" name="TextBox 44"/>
          <p:cNvSpPr txBox="1"/>
          <p:nvPr/>
        </p:nvSpPr>
        <p:spPr>
          <a:xfrm>
            <a:off x="6487668" y="5422392"/>
            <a:ext cx="548640" cy="548640"/>
          </a:xfrm>
          <a:prstGeom prst="rect">
            <a:avLst/>
          </a:prstGeom>
          <a:noFill/>
        </p:spPr>
        <p:txBody>
          <a:bodyPr wrap="square" anchor="ctr">
            <a:spAutoFit/>
          </a:bodyPr>
          <a:lstStyle/>
          <a:p>
            <a:pPr algn="ctr">
              <a:spcAft>
                <a:spcPts val="400"/>
              </a:spcAft>
            </a:pPr>
            <a:r>
              <a:rPr sz="1800" b="1">
                <a:solidFill>
                  <a:srgbClr val="FFFFFF"/>
                </a:solidFill>
                <a:latin typeface="Arial"/>
              </a:rPr>
              <a:t>8</a:t>
            </a:r>
          </a:p>
        </p:txBody>
      </p:sp>
      <p:sp>
        <p:nvSpPr>
          <p:cNvPr id="46" name="TextBox 45"/>
          <p:cNvSpPr txBox="1"/>
          <p:nvPr/>
        </p:nvSpPr>
        <p:spPr>
          <a:xfrm>
            <a:off x="7219188" y="5349240"/>
            <a:ext cx="3973068" cy="731520"/>
          </a:xfrm>
          <a:prstGeom prst="rect">
            <a:avLst/>
          </a:prstGeom>
          <a:noFill/>
        </p:spPr>
        <p:txBody>
          <a:bodyPr wrap="square" anchor="ctr">
            <a:spAutoFit/>
          </a:bodyPr>
          <a:lstStyle/>
          <a:p>
            <a:pPr algn="l">
              <a:spcAft>
                <a:spcPts val="300"/>
              </a:spcAft>
            </a:pPr>
            <a:r>
              <a:rPr sz="1400" b="1">
                <a:solidFill>
                  <a:srgbClr val="161B26"/>
                </a:solidFill>
                <a:latin typeface="Arial"/>
              </a:rPr>
              <a:t>Noise and QEC</a:t>
            </a:r>
          </a:p>
          <a:p>
            <a:pPr algn="l">
              <a:spcAft>
                <a:spcPts val="300"/>
              </a:spcAft>
            </a:pPr>
            <a:r>
              <a:rPr sz="1050" b="0">
                <a:solidFill>
                  <a:srgbClr val="5B6372"/>
                </a:solidFill>
                <a:latin typeface="Arial"/>
              </a:rPr>
              <a:t>Channel-noise propagation and a 3-qubit bit-flip Monte-Carlo.</a:t>
            </a:r>
          </a:p>
        </p:txBody>
      </p:sp>
      <p:sp>
        <p:nvSpPr>
          <p:cNvPr id="47" name="TextBox 46"/>
          <p:cNvSpPr txBox="1"/>
          <p:nvPr/>
        </p:nvSpPr>
        <p:spPr>
          <a:xfrm>
            <a:off x="365760" y="6446520"/>
            <a:ext cx="6858000" cy="320040"/>
          </a:xfrm>
          <a:prstGeom prst="rect">
            <a:avLst/>
          </a:prstGeom>
          <a:noFill/>
        </p:spPr>
        <p:txBody>
          <a:bodyPr wrap="square" anchor="t">
            <a:spAutoFit/>
          </a:bodyPr>
          <a:lstStyle/>
          <a:p>
            <a:pPr algn="l">
              <a:spcAft>
                <a:spcPts val="400"/>
              </a:spcAft>
            </a:pPr>
            <a:r>
              <a:rPr sz="900" b="0">
                <a:solidFill>
                  <a:srgbClr val="5B6372"/>
                </a:solidFill>
                <a:latin typeface="Arial"/>
              </a:rPr>
              <a:t>Securing the Future with Quantum Computing and Cryptography  ·  TGS-2024043419</a:t>
            </a:r>
          </a:p>
        </p:txBody>
      </p:sp>
      <p:sp>
        <p:nvSpPr>
          <p:cNvPr id="48" name="TextBox 47"/>
          <p:cNvSpPr txBox="1"/>
          <p:nvPr/>
        </p:nvSpPr>
        <p:spPr>
          <a:xfrm>
            <a:off x="4572000" y="6446520"/>
            <a:ext cx="3017520" cy="320040"/>
          </a:xfrm>
          <a:prstGeom prst="rect">
            <a:avLst/>
          </a:prstGeom>
          <a:noFill/>
        </p:spPr>
        <p:txBody>
          <a:bodyPr wrap="square" anchor="t">
            <a:spAutoFit/>
          </a:bodyPr>
          <a:lstStyle/>
          <a:p>
            <a:pPr algn="ctr">
              <a:spcAft>
                <a:spcPts val="400"/>
              </a:spcAft>
            </a:pPr>
            <a:r>
              <a:rPr sz="900" b="0">
                <a:solidFill>
                  <a:srgbClr val="5B6372"/>
                </a:solidFill>
                <a:latin typeface="Arial"/>
              </a:rPr>
              <a:t>© 2026 Tertiary Infotech Academy Pte Ltd</a:t>
            </a:r>
          </a:p>
        </p:txBody>
      </p:sp>
      <p:sp>
        <p:nvSpPr>
          <p:cNvPr id="49" name="TextBox 48"/>
          <p:cNvSpPr txBox="1"/>
          <p:nvPr/>
        </p:nvSpPr>
        <p:spPr>
          <a:xfrm>
            <a:off x="11338560" y="6446520"/>
            <a:ext cx="548640" cy="320040"/>
          </a:xfrm>
          <a:prstGeom prst="rect">
            <a:avLst/>
          </a:prstGeom>
          <a:noFill/>
        </p:spPr>
        <p:txBody>
          <a:bodyPr wrap="square" anchor="t">
            <a:spAutoFit/>
          </a:bodyPr>
          <a:lstStyle/>
          <a:p>
            <a:pPr algn="r">
              <a:spcAft>
                <a:spcPts val="400"/>
              </a:spcAft>
            </a:pPr>
            <a:r>
              <a:rPr sz="900" b="0">
                <a:solidFill>
                  <a:srgbClr val="5B6372"/>
                </a:solidFill>
                <a:latin typeface="Arial"/>
              </a:rPr>
              <a:t>19</a:t>
            </a:r>
          </a:p>
        </p:txBody>
      </p:sp>
    </p:spTree>
  </p:cSld>
  <p:clrMapOvr>
    <a:masterClrMapping/>
  </p:clrMapOvr>
</p:sld>
</file>

<file path=ppt/slides/slide21.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256032" cy="6858000"/>
          </a:xfrm>
          <a:prstGeom prst="rect">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Rectangle 3"/>
          <p:cNvSpPr/>
          <p:nvPr/>
        </p:nvSpPr>
        <p:spPr>
          <a:xfrm>
            <a:off x="777240" y="2286000"/>
            <a:ext cx="128016" cy="1828800"/>
          </a:xfrm>
          <a:prstGeom prst="rect">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TextBox 4"/>
          <p:cNvSpPr txBox="1"/>
          <p:nvPr/>
        </p:nvSpPr>
        <p:spPr>
          <a:xfrm>
            <a:off x="1143000" y="2331720"/>
            <a:ext cx="10058400" cy="548640"/>
          </a:xfrm>
          <a:prstGeom prst="rect">
            <a:avLst/>
          </a:prstGeom>
          <a:noFill/>
        </p:spPr>
        <p:txBody>
          <a:bodyPr wrap="square" anchor="t">
            <a:spAutoFit/>
          </a:bodyPr>
          <a:lstStyle/>
          <a:p>
            <a:pPr algn="l">
              <a:spcAft>
                <a:spcPts val="400"/>
              </a:spcAft>
            </a:pPr>
            <a:r>
              <a:rPr sz="1800" b="1">
                <a:solidFill>
                  <a:srgbClr val="1F6FEB"/>
                </a:solidFill>
                <a:latin typeface="Arial"/>
              </a:rPr>
              <a:t>PREREQUISITES</a:t>
            </a:r>
          </a:p>
        </p:txBody>
      </p:sp>
      <p:sp>
        <p:nvSpPr>
          <p:cNvPr id="6" name="TextBox 5"/>
          <p:cNvSpPr txBox="1"/>
          <p:nvPr/>
        </p:nvSpPr>
        <p:spPr>
          <a:xfrm>
            <a:off x="1143000" y="2743200"/>
            <a:ext cx="9509760" cy="1463040"/>
          </a:xfrm>
          <a:prstGeom prst="rect">
            <a:avLst/>
          </a:prstGeom>
          <a:noFill/>
        </p:spPr>
        <p:txBody>
          <a:bodyPr wrap="square" anchor="t">
            <a:spAutoFit/>
          </a:bodyPr>
          <a:lstStyle/>
          <a:p>
            <a:pPr algn="l">
              <a:spcAft>
                <a:spcPts val="400"/>
              </a:spcAft>
            </a:pPr>
            <a:r>
              <a:rPr sz="4000" b="1">
                <a:solidFill>
                  <a:srgbClr val="161B26"/>
                </a:solidFill>
                <a:latin typeface="Arial"/>
              </a:rPr>
              <a:t>The Mathematics of Quantum Mechanics</a:t>
            </a:r>
          </a:p>
        </p:txBody>
      </p:sp>
      <p:sp>
        <p:nvSpPr>
          <p:cNvPr id="7" name="TextBox 6"/>
          <p:cNvSpPr txBox="1"/>
          <p:nvPr/>
        </p:nvSpPr>
        <p:spPr>
          <a:xfrm>
            <a:off x="1161288" y="4251960"/>
            <a:ext cx="9692640" cy="822960"/>
          </a:xfrm>
          <a:prstGeom prst="rect">
            <a:avLst/>
          </a:prstGeom>
          <a:noFill/>
        </p:spPr>
        <p:txBody>
          <a:bodyPr wrap="square" anchor="t">
            <a:spAutoFit/>
          </a:bodyPr>
          <a:lstStyle/>
          <a:p>
            <a:pPr algn="l">
              <a:spcAft>
                <a:spcPts val="400"/>
              </a:spcAft>
            </a:pPr>
            <a:r>
              <a:rPr sz="1500" b="0">
                <a:solidFill>
                  <a:srgbClr val="5B6372"/>
                </a:solidFill>
                <a:latin typeface="Arial"/>
              </a:rPr>
              <a:t>Linear algebra · Dirac notation · Unitary operators · The five axioms</a:t>
            </a:r>
          </a:p>
        </p:txBody>
      </p:sp>
      <p:sp>
        <p:nvSpPr>
          <p:cNvPr id="8" name="TextBox 7"/>
          <p:cNvSpPr txBox="1"/>
          <p:nvPr/>
        </p:nvSpPr>
        <p:spPr>
          <a:xfrm>
            <a:off x="365760" y="6446520"/>
            <a:ext cx="6858000" cy="320040"/>
          </a:xfrm>
          <a:prstGeom prst="rect">
            <a:avLst/>
          </a:prstGeom>
          <a:noFill/>
        </p:spPr>
        <p:txBody>
          <a:bodyPr wrap="square" anchor="t">
            <a:spAutoFit/>
          </a:bodyPr>
          <a:lstStyle/>
          <a:p>
            <a:pPr algn="l">
              <a:spcAft>
                <a:spcPts val="400"/>
              </a:spcAft>
            </a:pPr>
            <a:r>
              <a:rPr sz="900" b="0">
                <a:solidFill>
                  <a:srgbClr val="5B6372"/>
                </a:solidFill>
                <a:latin typeface="Arial"/>
              </a:rPr>
              <a:t>Securing the Future with Quantum Computing and Cryptography  ·  TGS-2024043419</a:t>
            </a:r>
          </a:p>
        </p:txBody>
      </p:sp>
      <p:sp>
        <p:nvSpPr>
          <p:cNvPr id="9" name="TextBox 8"/>
          <p:cNvSpPr txBox="1"/>
          <p:nvPr/>
        </p:nvSpPr>
        <p:spPr>
          <a:xfrm>
            <a:off x="4572000" y="6446520"/>
            <a:ext cx="3017520" cy="320040"/>
          </a:xfrm>
          <a:prstGeom prst="rect">
            <a:avLst/>
          </a:prstGeom>
          <a:noFill/>
        </p:spPr>
        <p:txBody>
          <a:bodyPr wrap="square" anchor="t">
            <a:spAutoFit/>
          </a:bodyPr>
          <a:lstStyle/>
          <a:p>
            <a:pPr algn="ctr">
              <a:spcAft>
                <a:spcPts val="400"/>
              </a:spcAft>
            </a:pPr>
            <a:r>
              <a:rPr sz="900" b="0">
                <a:solidFill>
                  <a:srgbClr val="5B6372"/>
                </a:solidFill>
                <a:latin typeface="Arial"/>
              </a:rPr>
              <a:t>© 2026 Tertiary Infotech Academy Pte Ltd</a:t>
            </a:r>
          </a:p>
        </p:txBody>
      </p:sp>
      <p:sp>
        <p:nvSpPr>
          <p:cNvPr id="10" name="TextBox 9"/>
          <p:cNvSpPr txBox="1"/>
          <p:nvPr/>
        </p:nvSpPr>
        <p:spPr>
          <a:xfrm>
            <a:off x="11338560" y="6446520"/>
            <a:ext cx="548640" cy="320040"/>
          </a:xfrm>
          <a:prstGeom prst="rect">
            <a:avLst/>
          </a:prstGeom>
          <a:noFill/>
        </p:spPr>
        <p:txBody>
          <a:bodyPr wrap="square" anchor="t">
            <a:spAutoFit/>
          </a:bodyPr>
          <a:lstStyle/>
          <a:p>
            <a:pPr algn="r">
              <a:spcAft>
                <a:spcPts val="400"/>
              </a:spcAft>
            </a:pPr>
            <a:r>
              <a:rPr sz="900" b="0">
                <a:solidFill>
                  <a:srgbClr val="5B6372"/>
                </a:solidFill>
                <a:latin typeface="Arial"/>
              </a:rPr>
              <a:t>20</a:t>
            </a:r>
          </a:p>
        </p:txBody>
      </p:sp>
    </p:spTree>
  </p:cSld>
  <p:clrMapOvr>
    <a:masterClrMapping/>
  </p:clrMapOvr>
</p:sld>
</file>

<file path=ppt/slides/slide22.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256032" cy="6858000"/>
          </a:xfrm>
          <a:prstGeom prst="rect">
            <a:avLst/>
          </a:prstGeom>
          <a:solidFill>
            <a:srgbClr val="7C3AE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1005840" y="2011680"/>
            <a:ext cx="10058400" cy="457200"/>
          </a:xfrm>
          <a:prstGeom prst="rect">
            <a:avLst/>
          </a:prstGeom>
          <a:noFill/>
        </p:spPr>
        <p:txBody>
          <a:bodyPr wrap="square" anchor="t">
            <a:spAutoFit/>
          </a:bodyPr>
          <a:lstStyle/>
          <a:p>
            <a:pPr algn="l">
              <a:spcAft>
                <a:spcPts val="400"/>
              </a:spcAft>
            </a:pPr>
            <a:r>
              <a:rPr sz="1600" b="1">
                <a:solidFill>
                  <a:srgbClr val="7C3AED"/>
                </a:solidFill>
                <a:latin typeface="Arial"/>
              </a:rPr>
              <a:t>WHY THIS SECTION COMES FIRST</a:t>
            </a:r>
          </a:p>
        </p:txBody>
      </p:sp>
      <p:sp>
        <p:nvSpPr>
          <p:cNvPr id="5" name="TextBox 4"/>
          <p:cNvSpPr txBox="1"/>
          <p:nvPr/>
        </p:nvSpPr>
        <p:spPr>
          <a:xfrm>
            <a:off x="1005840" y="2560320"/>
            <a:ext cx="10332720" cy="2194560"/>
          </a:xfrm>
          <a:prstGeom prst="rect">
            <a:avLst/>
          </a:prstGeom>
          <a:noFill/>
        </p:spPr>
        <p:txBody>
          <a:bodyPr wrap="square" anchor="t">
            <a:spAutoFit/>
          </a:bodyPr>
          <a:lstStyle/>
          <a:p>
            <a:pPr algn="l">
              <a:spcAft>
                <a:spcPts val="400"/>
              </a:spcAft>
            </a:pPr>
            <a:r>
              <a:rPr sz="3600" b="1">
                <a:solidFill>
                  <a:srgbClr val="161B26"/>
                </a:solidFill>
                <a:latin typeface="Arial"/>
              </a:rPr>
              <a:t>Quantum mechanics is linear algebra with a probability rule bolted on.</a:t>
            </a:r>
          </a:p>
        </p:txBody>
      </p:sp>
      <p:sp>
        <p:nvSpPr>
          <p:cNvPr id="6" name="TextBox 5"/>
          <p:cNvSpPr txBox="1"/>
          <p:nvPr/>
        </p:nvSpPr>
        <p:spPr>
          <a:xfrm>
            <a:off x="1024128" y="4572000"/>
            <a:ext cx="10058400" cy="1097280"/>
          </a:xfrm>
          <a:prstGeom prst="rect">
            <a:avLst/>
          </a:prstGeom>
          <a:noFill/>
        </p:spPr>
        <p:txBody>
          <a:bodyPr wrap="square" anchor="t">
            <a:spAutoFit/>
          </a:bodyPr>
          <a:lstStyle/>
          <a:p>
            <a:pPr algn="l">
              <a:spcAft>
                <a:spcPts val="400"/>
              </a:spcAft>
            </a:pPr>
            <a:r>
              <a:rPr sz="1900" b="0">
                <a:solidFill>
                  <a:srgbClr val="5B6372"/>
                </a:solidFill>
                <a:latin typeface="Arial"/>
              </a:rPr>
              <a:t>Everything in this course follows from five axioms and the properties of unitary and Hermitian operators. Get these right and every algorithm becomes readable.</a:t>
            </a:r>
          </a:p>
        </p:txBody>
      </p:sp>
      <p:sp>
        <p:nvSpPr>
          <p:cNvPr id="7" name="TextBox 6"/>
          <p:cNvSpPr txBox="1"/>
          <p:nvPr/>
        </p:nvSpPr>
        <p:spPr>
          <a:xfrm>
            <a:off x="365760" y="6446520"/>
            <a:ext cx="6858000" cy="320040"/>
          </a:xfrm>
          <a:prstGeom prst="rect">
            <a:avLst/>
          </a:prstGeom>
          <a:noFill/>
        </p:spPr>
        <p:txBody>
          <a:bodyPr wrap="square" anchor="t">
            <a:spAutoFit/>
          </a:bodyPr>
          <a:lstStyle/>
          <a:p>
            <a:pPr algn="l">
              <a:spcAft>
                <a:spcPts val="400"/>
              </a:spcAft>
            </a:pPr>
            <a:r>
              <a:rPr sz="900" b="0">
                <a:solidFill>
                  <a:srgbClr val="5B6372"/>
                </a:solidFill>
                <a:latin typeface="Arial"/>
              </a:rPr>
              <a:t>Securing the Future with Quantum Computing and Cryptography  ·  TGS-2024043419</a:t>
            </a:r>
          </a:p>
        </p:txBody>
      </p:sp>
      <p:sp>
        <p:nvSpPr>
          <p:cNvPr id="8" name="TextBox 7"/>
          <p:cNvSpPr txBox="1"/>
          <p:nvPr/>
        </p:nvSpPr>
        <p:spPr>
          <a:xfrm>
            <a:off x="4572000" y="6446520"/>
            <a:ext cx="3017520" cy="320040"/>
          </a:xfrm>
          <a:prstGeom prst="rect">
            <a:avLst/>
          </a:prstGeom>
          <a:noFill/>
        </p:spPr>
        <p:txBody>
          <a:bodyPr wrap="square" anchor="t">
            <a:spAutoFit/>
          </a:bodyPr>
          <a:lstStyle/>
          <a:p>
            <a:pPr algn="ctr">
              <a:spcAft>
                <a:spcPts val="400"/>
              </a:spcAft>
            </a:pPr>
            <a:r>
              <a:rPr sz="900" b="0">
                <a:solidFill>
                  <a:srgbClr val="5B6372"/>
                </a:solidFill>
                <a:latin typeface="Arial"/>
              </a:rPr>
              <a:t>© 2026 Tertiary Infotech Academy Pte Ltd</a:t>
            </a:r>
          </a:p>
        </p:txBody>
      </p:sp>
      <p:sp>
        <p:nvSpPr>
          <p:cNvPr id="9" name="TextBox 8"/>
          <p:cNvSpPr txBox="1"/>
          <p:nvPr/>
        </p:nvSpPr>
        <p:spPr>
          <a:xfrm>
            <a:off x="11338560" y="6446520"/>
            <a:ext cx="548640" cy="320040"/>
          </a:xfrm>
          <a:prstGeom prst="rect">
            <a:avLst/>
          </a:prstGeom>
          <a:noFill/>
        </p:spPr>
        <p:txBody>
          <a:bodyPr wrap="square" anchor="t">
            <a:spAutoFit/>
          </a:bodyPr>
          <a:lstStyle/>
          <a:p>
            <a:pPr algn="r">
              <a:spcAft>
                <a:spcPts val="400"/>
              </a:spcAft>
            </a:pPr>
            <a:r>
              <a:rPr sz="900" b="0">
                <a:solidFill>
                  <a:srgbClr val="5B6372"/>
                </a:solidFill>
                <a:latin typeface="Arial"/>
              </a:rPr>
              <a:t>21</a:t>
            </a:r>
          </a:p>
        </p:txBody>
      </p:sp>
    </p:spTree>
  </p:cSld>
  <p:clrMapOvr>
    <a:masterClrMapping/>
  </p:clrMapOvr>
</p:sld>
</file>

<file path=ppt/slides/slide23.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256032" cy="1417320"/>
          </a:xfrm>
          <a:prstGeom prst="rect">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777240" y="457200"/>
            <a:ext cx="10607040" cy="365760"/>
          </a:xfrm>
          <a:prstGeom prst="rect">
            <a:avLst/>
          </a:prstGeom>
          <a:noFill/>
        </p:spPr>
        <p:txBody>
          <a:bodyPr wrap="square" anchor="t">
            <a:spAutoFit/>
          </a:bodyPr>
          <a:lstStyle/>
          <a:p>
            <a:pPr algn="l">
              <a:spcAft>
                <a:spcPts val="400"/>
              </a:spcAft>
            </a:pPr>
            <a:r>
              <a:rPr sz="1400" b="1">
                <a:solidFill>
                  <a:srgbClr val="1F6FEB"/>
                </a:solidFill>
                <a:latin typeface="Arial"/>
              </a:rPr>
              <a:t>MATHEMATICAL PREREQUISITES</a:t>
            </a:r>
          </a:p>
        </p:txBody>
      </p:sp>
      <p:sp>
        <p:nvSpPr>
          <p:cNvPr id="5" name="TextBox 4"/>
          <p:cNvSpPr txBox="1"/>
          <p:nvPr/>
        </p:nvSpPr>
        <p:spPr>
          <a:xfrm>
            <a:off x="777240" y="822960"/>
            <a:ext cx="10881360" cy="822960"/>
          </a:xfrm>
          <a:prstGeom prst="rect">
            <a:avLst/>
          </a:prstGeom>
          <a:noFill/>
        </p:spPr>
        <p:txBody>
          <a:bodyPr wrap="square" anchor="t">
            <a:spAutoFit/>
          </a:bodyPr>
          <a:lstStyle/>
          <a:p>
            <a:pPr algn="l">
              <a:spcAft>
                <a:spcPts val="400"/>
              </a:spcAft>
            </a:pPr>
            <a:r>
              <a:rPr sz="2900" b="1">
                <a:solidFill>
                  <a:srgbClr val="161B26"/>
                </a:solidFill>
                <a:latin typeface="Arial"/>
              </a:rPr>
              <a:t>Vectors and Dirac notation</a:t>
            </a:r>
          </a:p>
        </p:txBody>
      </p:sp>
      <p:sp>
        <p:nvSpPr>
          <p:cNvPr id="6" name="Rectangle 5"/>
          <p:cNvSpPr/>
          <p:nvPr/>
        </p:nvSpPr>
        <p:spPr>
          <a:xfrm>
            <a:off x="777240" y="1554480"/>
            <a:ext cx="10634472" cy="18288"/>
          </a:xfrm>
          <a:prstGeom prst="rect">
            <a:avLst/>
          </a:prstGeom>
          <a:solidFill>
            <a:srgbClr val="E2E8F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Rectangle 6"/>
          <p:cNvSpPr/>
          <p:nvPr/>
        </p:nvSpPr>
        <p:spPr>
          <a:xfrm>
            <a:off x="777240" y="1810512"/>
            <a:ext cx="10634472" cy="2601468"/>
          </a:xfrm>
          <a:prstGeom prst="rect">
            <a:avLst/>
          </a:prstGeom>
          <a:solidFill>
            <a:srgbClr val="0B122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TextBox 7"/>
          <p:cNvSpPr txBox="1"/>
          <p:nvPr/>
        </p:nvSpPr>
        <p:spPr>
          <a:xfrm>
            <a:off x="1097280" y="1956816"/>
            <a:ext cx="9994392" cy="2308860"/>
          </a:xfrm>
          <a:prstGeom prst="rect">
            <a:avLst/>
          </a:prstGeom>
          <a:noFill/>
        </p:spPr>
        <p:txBody>
          <a:bodyPr wrap="square" anchor="t">
            <a:spAutoFit/>
          </a:bodyPr>
          <a:lstStyle/>
          <a:p>
            <a:pPr algn="l">
              <a:spcAft>
                <a:spcPts val="300"/>
              </a:spcAft>
            </a:pPr>
            <a:r>
              <a:rPr sz="1500" b="0">
                <a:solidFill>
                  <a:srgbClr val="9CDCFE"/>
                </a:solidFill>
                <a:latin typeface="Arial"/>
              </a:rPr>
              <a:t>A quantum state is a COLUMN VECTOR. Dirac notation names it compactly.</a:t>
            </a:r>
          </a:p>
          <a:p>
            <a:pPr algn="l">
              <a:spcAft>
                <a:spcPts val="300"/>
              </a:spcAft>
            </a:pPr>
            <a:r>
              <a:rPr sz="1500" b="0">
                <a:solidFill>
                  <a:srgbClr val="0B1220"/>
                </a:solidFill>
                <a:latin typeface="Arial"/>
              </a:rPr>
              <a:t> </a:t>
            </a:r>
          </a:p>
          <a:p>
            <a:pPr algn="l">
              <a:spcAft>
                <a:spcPts val="300"/>
              </a:spcAft>
            </a:pPr>
            <a:r>
              <a:rPr sz="1500" b="0">
                <a:solidFill>
                  <a:srgbClr val="9CDCFE"/>
                </a:solidFill>
                <a:latin typeface="Arial"/>
              </a:rPr>
              <a:t>   KET   |ψ&gt;  =  column vector        |0&gt; = [1, 0]ᵀ ,  |1&gt; = [0, 1]ᵀ</a:t>
            </a:r>
          </a:p>
          <a:p>
            <a:pPr algn="l">
              <a:spcAft>
                <a:spcPts val="300"/>
              </a:spcAft>
            </a:pPr>
            <a:r>
              <a:rPr sz="1500" b="0">
                <a:solidFill>
                  <a:srgbClr val="9CDCFE"/>
                </a:solidFill>
                <a:latin typeface="Arial"/>
              </a:rPr>
              <a:t>   BRA   &lt;ψ|  =  conjugate transpose  = (|ψ&gt;)†  = row vector</a:t>
            </a:r>
          </a:p>
          <a:p>
            <a:pPr algn="l">
              <a:spcAft>
                <a:spcPts val="300"/>
              </a:spcAft>
            </a:pPr>
            <a:r>
              <a:rPr sz="1500" b="0">
                <a:solidFill>
                  <a:srgbClr val="0B1220"/>
                </a:solidFill>
                <a:latin typeface="Arial"/>
              </a:rPr>
              <a:t> </a:t>
            </a:r>
          </a:p>
          <a:p>
            <a:pPr algn="l">
              <a:spcAft>
                <a:spcPts val="300"/>
              </a:spcAft>
            </a:pPr>
            <a:r>
              <a:rPr sz="1500" b="0">
                <a:solidFill>
                  <a:srgbClr val="9CDCFE"/>
                </a:solidFill>
                <a:latin typeface="Arial"/>
              </a:rPr>
              <a:t>   |ψ&gt; = α|0&gt; + β|1&gt;   =   [α, β]ᵀ</a:t>
            </a:r>
          </a:p>
          <a:p>
            <a:pPr algn="l">
              <a:spcAft>
                <a:spcPts val="300"/>
              </a:spcAft>
            </a:pPr>
            <a:r>
              <a:rPr sz="1500" b="0">
                <a:solidFill>
                  <a:srgbClr val="9CDCFE"/>
                </a:solidFill>
                <a:latin typeface="Arial"/>
              </a:rPr>
              <a:t>   &lt;ψ| = α*&lt;0| + β*&lt;1| =   [α*, β*]</a:t>
            </a:r>
          </a:p>
        </p:txBody>
      </p:sp>
      <p:sp>
        <p:nvSpPr>
          <p:cNvPr id="9" name="Rectangle 8"/>
          <p:cNvSpPr/>
          <p:nvPr/>
        </p:nvSpPr>
        <p:spPr>
          <a:xfrm>
            <a:off x="777240" y="4613148"/>
            <a:ext cx="10634472" cy="1440180"/>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Rectangle 9"/>
          <p:cNvSpPr/>
          <p:nvPr/>
        </p:nvSpPr>
        <p:spPr>
          <a:xfrm>
            <a:off x="777240" y="4613148"/>
            <a:ext cx="82296" cy="1440180"/>
          </a:xfrm>
          <a:prstGeom prst="rect">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 name="TextBox 10"/>
          <p:cNvSpPr txBox="1"/>
          <p:nvPr/>
        </p:nvSpPr>
        <p:spPr>
          <a:xfrm>
            <a:off x="1097280" y="4613148"/>
            <a:ext cx="10149840" cy="1440180"/>
          </a:xfrm>
          <a:prstGeom prst="rect">
            <a:avLst/>
          </a:prstGeom>
          <a:noFill/>
        </p:spPr>
        <p:txBody>
          <a:bodyPr wrap="square" anchor="ctr">
            <a:spAutoFit/>
          </a:bodyPr>
          <a:lstStyle/>
          <a:p>
            <a:pPr algn="l">
              <a:spcAft>
                <a:spcPts val="400"/>
              </a:spcAft>
            </a:pPr>
            <a:r>
              <a:rPr sz="1150" b="1">
                <a:solidFill>
                  <a:srgbClr val="10B981"/>
                </a:solidFill>
                <a:latin typeface="Arial"/>
              </a:rPr>
              <a:t>KEY POINT:  </a:t>
            </a:r>
            <a:r>
              <a:rPr sz="1300" b="0">
                <a:solidFill>
                  <a:srgbClr val="161B26"/>
                </a:solidFill>
                <a:latin typeface="Arial"/>
              </a:rPr>
              <a:t>The bra is the DAGGER of the ket: transpose AND complex-conjugate.</a:t>
            </a:r>
          </a:p>
        </p:txBody>
      </p:sp>
      <p:sp>
        <p:nvSpPr>
          <p:cNvPr id="12" name="TextBox 11"/>
          <p:cNvSpPr txBox="1"/>
          <p:nvPr/>
        </p:nvSpPr>
        <p:spPr>
          <a:xfrm>
            <a:off x="365760" y="6446520"/>
            <a:ext cx="6858000" cy="320040"/>
          </a:xfrm>
          <a:prstGeom prst="rect">
            <a:avLst/>
          </a:prstGeom>
          <a:noFill/>
        </p:spPr>
        <p:txBody>
          <a:bodyPr wrap="square" anchor="t">
            <a:spAutoFit/>
          </a:bodyPr>
          <a:lstStyle/>
          <a:p>
            <a:pPr algn="l">
              <a:spcAft>
                <a:spcPts val="400"/>
              </a:spcAft>
            </a:pPr>
            <a:r>
              <a:rPr sz="900" b="0">
                <a:solidFill>
                  <a:srgbClr val="5B6372"/>
                </a:solidFill>
                <a:latin typeface="Arial"/>
              </a:rPr>
              <a:t>Securing the Future with Quantum Computing and Cryptography  ·  TGS-2024043419</a:t>
            </a:r>
          </a:p>
        </p:txBody>
      </p:sp>
      <p:sp>
        <p:nvSpPr>
          <p:cNvPr id="13" name="TextBox 12"/>
          <p:cNvSpPr txBox="1"/>
          <p:nvPr/>
        </p:nvSpPr>
        <p:spPr>
          <a:xfrm>
            <a:off x="4572000" y="6446520"/>
            <a:ext cx="3017520" cy="320040"/>
          </a:xfrm>
          <a:prstGeom prst="rect">
            <a:avLst/>
          </a:prstGeom>
          <a:noFill/>
        </p:spPr>
        <p:txBody>
          <a:bodyPr wrap="square" anchor="t">
            <a:spAutoFit/>
          </a:bodyPr>
          <a:lstStyle/>
          <a:p>
            <a:pPr algn="ctr">
              <a:spcAft>
                <a:spcPts val="400"/>
              </a:spcAft>
            </a:pPr>
            <a:r>
              <a:rPr sz="900" b="0">
                <a:solidFill>
                  <a:srgbClr val="5B6372"/>
                </a:solidFill>
                <a:latin typeface="Arial"/>
              </a:rPr>
              <a:t>© 2026 Tertiary Infotech Academy Pte Ltd</a:t>
            </a:r>
          </a:p>
        </p:txBody>
      </p:sp>
      <p:sp>
        <p:nvSpPr>
          <p:cNvPr id="14" name="TextBox 13"/>
          <p:cNvSpPr txBox="1"/>
          <p:nvPr/>
        </p:nvSpPr>
        <p:spPr>
          <a:xfrm>
            <a:off x="11338560" y="6446520"/>
            <a:ext cx="548640" cy="320040"/>
          </a:xfrm>
          <a:prstGeom prst="rect">
            <a:avLst/>
          </a:prstGeom>
          <a:noFill/>
        </p:spPr>
        <p:txBody>
          <a:bodyPr wrap="square" anchor="t">
            <a:spAutoFit/>
          </a:bodyPr>
          <a:lstStyle/>
          <a:p>
            <a:pPr algn="r">
              <a:spcAft>
                <a:spcPts val="400"/>
              </a:spcAft>
            </a:pPr>
            <a:r>
              <a:rPr sz="900" b="0">
                <a:solidFill>
                  <a:srgbClr val="5B6372"/>
                </a:solidFill>
                <a:latin typeface="Arial"/>
              </a:rPr>
              <a:t>22</a:t>
            </a:r>
          </a:p>
        </p:txBody>
      </p:sp>
    </p:spTree>
  </p:cSld>
  <p:clrMapOvr>
    <a:masterClrMapping/>
  </p:clrMapOvr>
</p:sld>
</file>

<file path=ppt/slides/slide24.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256032" cy="1417320"/>
          </a:xfrm>
          <a:prstGeom prst="rect">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777240" y="457200"/>
            <a:ext cx="10607040" cy="365760"/>
          </a:xfrm>
          <a:prstGeom prst="rect">
            <a:avLst/>
          </a:prstGeom>
          <a:noFill/>
        </p:spPr>
        <p:txBody>
          <a:bodyPr wrap="square" anchor="t">
            <a:spAutoFit/>
          </a:bodyPr>
          <a:lstStyle/>
          <a:p>
            <a:pPr algn="l">
              <a:spcAft>
                <a:spcPts val="400"/>
              </a:spcAft>
            </a:pPr>
            <a:r>
              <a:rPr sz="1400" b="1">
                <a:solidFill>
                  <a:srgbClr val="1F6FEB"/>
                </a:solidFill>
                <a:latin typeface="Arial"/>
              </a:rPr>
              <a:t>MATHEMATICAL PREREQUISITES</a:t>
            </a:r>
          </a:p>
        </p:txBody>
      </p:sp>
      <p:sp>
        <p:nvSpPr>
          <p:cNvPr id="5" name="TextBox 4"/>
          <p:cNvSpPr txBox="1"/>
          <p:nvPr/>
        </p:nvSpPr>
        <p:spPr>
          <a:xfrm>
            <a:off x="777240" y="822960"/>
            <a:ext cx="10881360" cy="822960"/>
          </a:xfrm>
          <a:prstGeom prst="rect">
            <a:avLst/>
          </a:prstGeom>
          <a:noFill/>
        </p:spPr>
        <p:txBody>
          <a:bodyPr wrap="square" anchor="t">
            <a:spAutoFit/>
          </a:bodyPr>
          <a:lstStyle/>
          <a:p>
            <a:pPr algn="l">
              <a:spcAft>
                <a:spcPts val="400"/>
              </a:spcAft>
            </a:pPr>
            <a:r>
              <a:rPr sz="2900" b="1">
                <a:solidFill>
                  <a:srgbClr val="161B26"/>
                </a:solidFill>
                <a:latin typeface="Arial"/>
              </a:rPr>
              <a:t>Inner product — overlap and probability</a:t>
            </a:r>
          </a:p>
        </p:txBody>
      </p:sp>
      <p:sp>
        <p:nvSpPr>
          <p:cNvPr id="6" name="Rectangle 5"/>
          <p:cNvSpPr/>
          <p:nvPr/>
        </p:nvSpPr>
        <p:spPr>
          <a:xfrm>
            <a:off x="777240" y="1554480"/>
            <a:ext cx="10634472" cy="18288"/>
          </a:xfrm>
          <a:prstGeom prst="rect">
            <a:avLst/>
          </a:prstGeom>
          <a:solidFill>
            <a:srgbClr val="E2E8F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Rectangle 6"/>
          <p:cNvSpPr/>
          <p:nvPr/>
        </p:nvSpPr>
        <p:spPr>
          <a:xfrm>
            <a:off x="777240" y="1810512"/>
            <a:ext cx="10634472" cy="2601468"/>
          </a:xfrm>
          <a:prstGeom prst="rect">
            <a:avLst/>
          </a:prstGeom>
          <a:solidFill>
            <a:srgbClr val="0B122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TextBox 7"/>
          <p:cNvSpPr txBox="1"/>
          <p:nvPr/>
        </p:nvSpPr>
        <p:spPr>
          <a:xfrm>
            <a:off x="1097280" y="1956816"/>
            <a:ext cx="9994392" cy="2308860"/>
          </a:xfrm>
          <a:prstGeom prst="rect">
            <a:avLst/>
          </a:prstGeom>
          <a:noFill/>
        </p:spPr>
        <p:txBody>
          <a:bodyPr wrap="square" anchor="t">
            <a:spAutoFit/>
          </a:bodyPr>
          <a:lstStyle/>
          <a:p>
            <a:pPr algn="l">
              <a:spcAft>
                <a:spcPts val="300"/>
              </a:spcAft>
            </a:pPr>
            <a:r>
              <a:rPr sz="1500" b="0">
                <a:solidFill>
                  <a:srgbClr val="9CDCFE"/>
                </a:solidFill>
                <a:latin typeface="Arial"/>
              </a:rPr>
              <a:t>   &lt;φ|ψ&gt;  =  a single COMPLEX NUMBER (a scalar)</a:t>
            </a:r>
          </a:p>
          <a:p>
            <a:pPr algn="l">
              <a:spcAft>
                <a:spcPts val="300"/>
              </a:spcAft>
            </a:pPr>
            <a:r>
              <a:rPr sz="1500" b="0">
                <a:solidFill>
                  <a:srgbClr val="0B1220"/>
                </a:solidFill>
                <a:latin typeface="Arial"/>
              </a:rPr>
              <a:t> </a:t>
            </a:r>
          </a:p>
          <a:p>
            <a:pPr algn="l">
              <a:spcAft>
                <a:spcPts val="300"/>
              </a:spcAft>
            </a:pPr>
            <a:r>
              <a:rPr sz="1500" b="0">
                <a:solidFill>
                  <a:srgbClr val="9CDCFE"/>
                </a:solidFill>
                <a:latin typeface="Arial"/>
              </a:rPr>
              <a:t>   &lt;0|0&gt; = 1     (normalised)</a:t>
            </a:r>
          </a:p>
          <a:p>
            <a:pPr algn="l">
              <a:spcAft>
                <a:spcPts val="300"/>
              </a:spcAft>
            </a:pPr>
            <a:r>
              <a:rPr sz="1500" b="0">
                <a:solidFill>
                  <a:srgbClr val="9CDCFE"/>
                </a:solidFill>
                <a:latin typeface="Arial"/>
              </a:rPr>
              <a:t>   &lt;0|1&gt; = 0     (orthogonal)</a:t>
            </a:r>
          </a:p>
          <a:p>
            <a:pPr algn="l">
              <a:spcAft>
                <a:spcPts val="300"/>
              </a:spcAft>
            </a:pPr>
            <a:r>
              <a:rPr sz="1500" b="0">
                <a:solidFill>
                  <a:srgbClr val="9CDCFE"/>
                </a:solidFill>
                <a:latin typeface="Arial"/>
              </a:rPr>
              <a:t>   &lt;0|+&gt; = 1/√2  (partial overlap)</a:t>
            </a:r>
          </a:p>
          <a:p>
            <a:pPr algn="l">
              <a:spcAft>
                <a:spcPts val="300"/>
              </a:spcAft>
            </a:pPr>
            <a:r>
              <a:rPr sz="1500" b="0">
                <a:solidFill>
                  <a:srgbClr val="0B1220"/>
                </a:solidFill>
                <a:latin typeface="Arial"/>
              </a:rPr>
              <a:t> </a:t>
            </a:r>
          </a:p>
          <a:p>
            <a:pPr algn="l">
              <a:spcAft>
                <a:spcPts val="300"/>
              </a:spcAft>
            </a:pPr>
            <a:r>
              <a:rPr sz="1500" b="0">
                <a:solidFill>
                  <a:srgbClr val="9CDCFE"/>
                </a:solidFill>
                <a:latin typeface="Arial"/>
              </a:rPr>
              <a:t>Properties:   &lt;φ|ψ&gt; = &lt;ψ|φ&gt;*      and      &lt;ψ|ψ&gt; = 1 for a valid state</a:t>
            </a:r>
          </a:p>
        </p:txBody>
      </p:sp>
      <p:sp>
        <p:nvSpPr>
          <p:cNvPr id="9" name="Rectangle 8"/>
          <p:cNvSpPr/>
          <p:nvPr/>
        </p:nvSpPr>
        <p:spPr>
          <a:xfrm>
            <a:off x="777240" y="4613148"/>
            <a:ext cx="10634472" cy="1440180"/>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Rectangle 9"/>
          <p:cNvSpPr/>
          <p:nvPr/>
        </p:nvSpPr>
        <p:spPr>
          <a:xfrm>
            <a:off x="777240" y="4613148"/>
            <a:ext cx="82296" cy="1440180"/>
          </a:xfrm>
          <a:prstGeom prst="rect">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 name="TextBox 10"/>
          <p:cNvSpPr txBox="1"/>
          <p:nvPr/>
        </p:nvSpPr>
        <p:spPr>
          <a:xfrm>
            <a:off x="1097280" y="4613148"/>
            <a:ext cx="10149840" cy="1440180"/>
          </a:xfrm>
          <a:prstGeom prst="rect">
            <a:avLst/>
          </a:prstGeom>
          <a:noFill/>
        </p:spPr>
        <p:txBody>
          <a:bodyPr wrap="square" anchor="ctr">
            <a:spAutoFit/>
          </a:bodyPr>
          <a:lstStyle/>
          <a:p>
            <a:pPr algn="l">
              <a:spcAft>
                <a:spcPts val="400"/>
              </a:spcAft>
            </a:pPr>
            <a:r>
              <a:rPr sz="1150" b="1">
                <a:solidFill>
                  <a:srgbClr val="10B981"/>
                </a:solidFill>
                <a:latin typeface="Arial"/>
              </a:rPr>
              <a:t>KEY POINT:  </a:t>
            </a:r>
            <a:r>
              <a:rPr sz="1300" b="0">
                <a:solidFill>
                  <a:srgbClr val="161B26"/>
                </a:solidFill>
                <a:latin typeface="Arial"/>
              </a:rPr>
              <a:t>The inner product IS the probability amplitude — square its magnitude to get a probability (the Born rule).</a:t>
            </a:r>
          </a:p>
        </p:txBody>
      </p:sp>
      <p:sp>
        <p:nvSpPr>
          <p:cNvPr id="12" name="TextBox 11"/>
          <p:cNvSpPr txBox="1"/>
          <p:nvPr/>
        </p:nvSpPr>
        <p:spPr>
          <a:xfrm>
            <a:off x="365760" y="6446520"/>
            <a:ext cx="6858000" cy="320040"/>
          </a:xfrm>
          <a:prstGeom prst="rect">
            <a:avLst/>
          </a:prstGeom>
          <a:noFill/>
        </p:spPr>
        <p:txBody>
          <a:bodyPr wrap="square" anchor="t">
            <a:spAutoFit/>
          </a:bodyPr>
          <a:lstStyle/>
          <a:p>
            <a:pPr algn="l">
              <a:spcAft>
                <a:spcPts val="400"/>
              </a:spcAft>
            </a:pPr>
            <a:r>
              <a:rPr sz="900" b="0">
                <a:solidFill>
                  <a:srgbClr val="5B6372"/>
                </a:solidFill>
                <a:latin typeface="Arial"/>
              </a:rPr>
              <a:t>Securing the Future with Quantum Computing and Cryptography  ·  TGS-2024043419</a:t>
            </a:r>
          </a:p>
        </p:txBody>
      </p:sp>
      <p:sp>
        <p:nvSpPr>
          <p:cNvPr id="13" name="TextBox 12"/>
          <p:cNvSpPr txBox="1"/>
          <p:nvPr/>
        </p:nvSpPr>
        <p:spPr>
          <a:xfrm>
            <a:off x="4572000" y="6446520"/>
            <a:ext cx="3017520" cy="320040"/>
          </a:xfrm>
          <a:prstGeom prst="rect">
            <a:avLst/>
          </a:prstGeom>
          <a:noFill/>
        </p:spPr>
        <p:txBody>
          <a:bodyPr wrap="square" anchor="t">
            <a:spAutoFit/>
          </a:bodyPr>
          <a:lstStyle/>
          <a:p>
            <a:pPr algn="ctr">
              <a:spcAft>
                <a:spcPts val="400"/>
              </a:spcAft>
            </a:pPr>
            <a:r>
              <a:rPr sz="900" b="0">
                <a:solidFill>
                  <a:srgbClr val="5B6372"/>
                </a:solidFill>
                <a:latin typeface="Arial"/>
              </a:rPr>
              <a:t>© 2026 Tertiary Infotech Academy Pte Ltd</a:t>
            </a:r>
          </a:p>
        </p:txBody>
      </p:sp>
      <p:sp>
        <p:nvSpPr>
          <p:cNvPr id="14" name="TextBox 13"/>
          <p:cNvSpPr txBox="1"/>
          <p:nvPr/>
        </p:nvSpPr>
        <p:spPr>
          <a:xfrm>
            <a:off x="11338560" y="6446520"/>
            <a:ext cx="548640" cy="320040"/>
          </a:xfrm>
          <a:prstGeom prst="rect">
            <a:avLst/>
          </a:prstGeom>
          <a:noFill/>
        </p:spPr>
        <p:txBody>
          <a:bodyPr wrap="square" anchor="t">
            <a:spAutoFit/>
          </a:bodyPr>
          <a:lstStyle/>
          <a:p>
            <a:pPr algn="r">
              <a:spcAft>
                <a:spcPts val="400"/>
              </a:spcAft>
            </a:pPr>
            <a:r>
              <a:rPr sz="900" b="0">
                <a:solidFill>
                  <a:srgbClr val="5B6372"/>
                </a:solidFill>
                <a:latin typeface="Arial"/>
              </a:rPr>
              <a:t>23</a:t>
            </a:r>
          </a:p>
        </p:txBody>
      </p:sp>
    </p:spTree>
  </p:cSld>
  <p:clrMapOvr>
    <a:masterClrMapping/>
  </p:clrMapOvr>
</p:sld>
</file>

<file path=ppt/slides/slide25.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256032" cy="1417320"/>
          </a:xfrm>
          <a:prstGeom prst="rect">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777240" y="457200"/>
            <a:ext cx="10607040" cy="365760"/>
          </a:xfrm>
          <a:prstGeom prst="rect">
            <a:avLst/>
          </a:prstGeom>
          <a:noFill/>
        </p:spPr>
        <p:txBody>
          <a:bodyPr wrap="square" anchor="t">
            <a:spAutoFit/>
          </a:bodyPr>
          <a:lstStyle/>
          <a:p>
            <a:pPr algn="l">
              <a:spcAft>
                <a:spcPts val="400"/>
              </a:spcAft>
            </a:pPr>
            <a:r>
              <a:rPr sz="1400" b="1">
                <a:solidFill>
                  <a:srgbClr val="1F6FEB"/>
                </a:solidFill>
                <a:latin typeface="Arial"/>
              </a:rPr>
              <a:t>MATHEMATICAL PREREQUISITES</a:t>
            </a:r>
          </a:p>
        </p:txBody>
      </p:sp>
      <p:sp>
        <p:nvSpPr>
          <p:cNvPr id="5" name="TextBox 4"/>
          <p:cNvSpPr txBox="1"/>
          <p:nvPr/>
        </p:nvSpPr>
        <p:spPr>
          <a:xfrm>
            <a:off x="777240" y="822960"/>
            <a:ext cx="10881360" cy="822960"/>
          </a:xfrm>
          <a:prstGeom prst="rect">
            <a:avLst/>
          </a:prstGeom>
          <a:noFill/>
        </p:spPr>
        <p:txBody>
          <a:bodyPr wrap="square" anchor="t">
            <a:spAutoFit/>
          </a:bodyPr>
          <a:lstStyle/>
          <a:p>
            <a:pPr algn="l">
              <a:spcAft>
                <a:spcPts val="400"/>
              </a:spcAft>
            </a:pPr>
            <a:r>
              <a:rPr sz="2900" b="1">
                <a:solidFill>
                  <a:srgbClr val="161B26"/>
                </a:solidFill>
                <a:latin typeface="Arial"/>
              </a:rPr>
              <a:t>Outer product — operators and projectors</a:t>
            </a:r>
          </a:p>
        </p:txBody>
      </p:sp>
      <p:sp>
        <p:nvSpPr>
          <p:cNvPr id="6" name="Rectangle 5"/>
          <p:cNvSpPr/>
          <p:nvPr/>
        </p:nvSpPr>
        <p:spPr>
          <a:xfrm>
            <a:off x="777240" y="1554480"/>
            <a:ext cx="10634472" cy="18288"/>
          </a:xfrm>
          <a:prstGeom prst="rect">
            <a:avLst/>
          </a:prstGeom>
          <a:solidFill>
            <a:srgbClr val="E2E8F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Rectangle 6"/>
          <p:cNvSpPr/>
          <p:nvPr/>
        </p:nvSpPr>
        <p:spPr>
          <a:xfrm>
            <a:off x="777240" y="1810512"/>
            <a:ext cx="10634472" cy="2601468"/>
          </a:xfrm>
          <a:prstGeom prst="rect">
            <a:avLst/>
          </a:prstGeom>
          <a:solidFill>
            <a:srgbClr val="0B122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TextBox 7"/>
          <p:cNvSpPr txBox="1"/>
          <p:nvPr/>
        </p:nvSpPr>
        <p:spPr>
          <a:xfrm>
            <a:off x="1097280" y="1956816"/>
            <a:ext cx="9994392" cy="2308860"/>
          </a:xfrm>
          <a:prstGeom prst="rect">
            <a:avLst/>
          </a:prstGeom>
          <a:noFill/>
        </p:spPr>
        <p:txBody>
          <a:bodyPr wrap="square" anchor="t">
            <a:spAutoFit/>
          </a:bodyPr>
          <a:lstStyle/>
          <a:p>
            <a:pPr algn="l">
              <a:spcAft>
                <a:spcPts val="300"/>
              </a:spcAft>
            </a:pPr>
            <a:r>
              <a:rPr sz="1500" b="0">
                <a:solidFill>
                  <a:srgbClr val="9CDCFE"/>
                </a:solidFill>
                <a:latin typeface="Arial"/>
              </a:rPr>
              <a:t>   |ψ&gt;&lt;φ|  =  a MATRIX (an operator), not a number</a:t>
            </a:r>
          </a:p>
          <a:p>
            <a:pPr algn="l">
              <a:spcAft>
                <a:spcPts val="300"/>
              </a:spcAft>
            </a:pPr>
            <a:r>
              <a:rPr sz="1500" b="0">
                <a:solidFill>
                  <a:srgbClr val="0B1220"/>
                </a:solidFill>
                <a:latin typeface="Arial"/>
              </a:rPr>
              <a:t> </a:t>
            </a:r>
          </a:p>
          <a:p>
            <a:pPr algn="l">
              <a:spcAft>
                <a:spcPts val="300"/>
              </a:spcAft>
            </a:pPr>
            <a:r>
              <a:rPr sz="1500" b="0">
                <a:solidFill>
                  <a:srgbClr val="9CDCFE"/>
                </a:solidFill>
                <a:latin typeface="Arial"/>
              </a:rPr>
              <a:t>   |0&gt;&lt;0| = [[1,0],[0,0]]     — projector onto |0&gt;</a:t>
            </a:r>
          </a:p>
          <a:p>
            <a:pPr algn="l">
              <a:spcAft>
                <a:spcPts val="300"/>
              </a:spcAft>
            </a:pPr>
            <a:r>
              <a:rPr sz="1500" b="0">
                <a:solidFill>
                  <a:srgbClr val="9CDCFE"/>
                </a:solidFill>
                <a:latin typeface="Arial"/>
              </a:rPr>
              <a:t>   |1&gt;&lt;1| = [[0,0],[0,1]]     — projector onto |1&gt;</a:t>
            </a:r>
          </a:p>
          <a:p>
            <a:pPr algn="l">
              <a:spcAft>
                <a:spcPts val="300"/>
              </a:spcAft>
            </a:pPr>
            <a:r>
              <a:rPr sz="1500" b="0">
                <a:solidFill>
                  <a:srgbClr val="0B1220"/>
                </a:solidFill>
                <a:latin typeface="Arial"/>
              </a:rPr>
              <a:t> </a:t>
            </a:r>
          </a:p>
          <a:p>
            <a:pPr algn="l">
              <a:spcAft>
                <a:spcPts val="300"/>
              </a:spcAft>
            </a:pPr>
            <a:r>
              <a:rPr sz="1500" b="0">
                <a:solidFill>
                  <a:srgbClr val="9CDCFE"/>
                </a:solidFill>
                <a:latin typeface="Arial"/>
              </a:rPr>
              <a:t>Completeness:   |0&gt;&lt;0| + |1&gt;&lt;1|  =  I</a:t>
            </a:r>
          </a:p>
          <a:p>
            <a:pPr algn="l">
              <a:spcAft>
                <a:spcPts val="300"/>
              </a:spcAft>
            </a:pPr>
            <a:r>
              <a:rPr sz="1500" b="0">
                <a:solidFill>
                  <a:srgbClr val="9CDCFE"/>
                </a:solidFill>
                <a:latin typeface="Arial"/>
              </a:rPr>
              <a:t>Any operator:   A  =  Σ_ij  aᵢⱼ |i&gt;&lt;j|</a:t>
            </a:r>
          </a:p>
        </p:txBody>
      </p:sp>
      <p:sp>
        <p:nvSpPr>
          <p:cNvPr id="9" name="Rectangle 8"/>
          <p:cNvSpPr/>
          <p:nvPr/>
        </p:nvSpPr>
        <p:spPr>
          <a:xfrm>
            <a:off x="777240" y="4613148"/>
            <a:ext cx="10634472" cy="1440180"/>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Rectangle 9"/>
          <p:cNvSpPr/>
          <p:nvPr/>
        </p:nvSpPr>
        <p:spPr>
          <a:xfrm>
            <a:off x="777240" y="4613148"/>
            <a:ext cx="82296" cy="1440180"/>
          </a:xfrm>
          <a:prstGeom prst="rect">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 name="TextBox 10"/>
          <p:cNvSpPr txBox="1"/>
          <p:nvPr/>
        </p:nvSpPr>
        <p:spPr>
          <a:xfrm>
            <a:off x="1097280" y="4613148"/>
            <a:ext cx="10149840" cy="1440180"/>
          </a:xfrm>
          <a:prstGeom prst="rect">
            <a:avLst/>
          </a:prstGeom>
          <a:noFill/>
        </p:spPr>
        <p:txBody>
          <a:bodyPr wrap="square" anchor="ctr">
            <a:spAutoFit/>
          </a:bodyPr>
          <a:lstStyle/>
          <a:p>
            <a:pPr algn="l">
              <a:spcAft>
                <a:spcPts val="400"/>
              </a:spcAft>
            </a:pPr>
            <a:r>
              <a:rPr sz="1150" b="1">
                <a:solidFill>
                  <a:srgbClr val="10B981"/>
                </a:solidFill>
                <a:latin typeface="Arial"/>
              </a:rPr>
              <a:t>KEY POINT:  </a:t>
            </a:r>
            <a:r>
              <a:rPr sz="1300" b="0">
                <a:solidFill>
                  <a:srgbClr val="161B26"/>
                </a:solidFill>
                <a:latin typeface="Arial"/>
              </a:rPr>
              <a:t>Inner product = number. Outer product = matrix. Getting these two the right way round prevents most beginner errors.</a:t>
            </a:r>
          </a:p>
        </p:txBody>
      </p:sp>
      <p:sp>
        <p:nvSpPr>
          <p:cNvPr id="12" name="TextBox 11"/>
          <p:cNvSpPr txBox="1"/>
          <p:nvPr/>
        </p:nvSpPr>
        <p:spPr>
          <a:xfrm>
            <a:off x="365760" y="6446520"/>
            <a:ext cx="6858000" cy="320040"/>
          </a:xfrm>
          <a:prstGeom prst="rect">
            <a:avLst/>
          </a:prstGeom>
          <a:noFill/>
        </p:spPr>
        <p:txBody>
          <a:bodyPr wrap="square" anchor="t">
            <a:spAutoFit/>
          </a:bodyPr>
          <a:lstStyle/>
          <a:p>
            <a:pPr algn="l">
              <a:spcAft>
                <a:spcPts val="400"/>
              </a:spcAft>
            </a:pPr>
            <a:r>
              <a:rPr sz="900" b="0">
                <a:solidFill>
                  <a:srgbClr val="5B6372"/>
                </a:solidFill>
                <a:latin typeface="Arial"/>
              </a:rPr>
              <a:t>Securing the Future with Quantum Computing and Cryptography  ·  TGS-2024043419</a:t>
            </a:r>
          </a:p>
        </p:txBody>
      </p:sp>
      <p:sp>
        <p:nvSpPr>
          <p:cNvPr id="13" name="TextBox 12"/>
          <p:cNvSpPr txBox="1"/>
          <p:nvPr/>
        </p:nvSpPr>
        <p:spPr>
          <a:xfrm>
            <a:off x="4572000" y="6446520"/>
            <a:ext cx="3017520" cy="320040"/>
          </a:xfrm>
          <a:prstGeom prst="rect">
            <a:avLst/>
          </a:prstGeom>
          <a:noFill/>
        </p:spPr>
        <p:txBody>
          <a:bodyPr wrap="square" anchor="t">
            <a:spAutoFit/>
          </a:bodyPr>
          <a:lstStyle/>
          <a:p>
            <a:pPr algn="ctr">
              <a:spcAft>
                <a:spcPts val="400"/>
              </a:spcAft>
            </a:pPr>
            <a:r>
              <a:rPr sz="900" b="0">
                <a:solidFill>
                  <a:srgbClr val="5B6372"/>
                </a:solidFill>
                <a:latin typeface="Arial"/>
              </a:rPr>
              <a:t>© 2026 Tertiary Infotech Academy Pte Ltd</a:t>
            </a:r>
          </a:p>
        </p:txBody>
      </p:sp>
      <p:sp>
        <p:nvSpPr>
          <p:cNvPr id="14" name="TextBox 13"/>
          <p:cNvSpPr txBox="1"/>
          <p:nvPr/>
        </p:nvSpPr>
        <p:spPr>
          <a:xfrm>
            <a:off x="11338560" y="6446520"/>
            <a:ext cx="548640" cy="320040"/>
          </a:xfrm>
          <a:prstGeom prst="rect">
            <a:avLst/>
          </a:prstGeom>
          <a:noFill/>
        </p:spPr>
        <p:txBody>
          <a:bodyPr wrap="square" anchor="t">
            <a:spAutoFit/>
          </a:bodyPr>
          <a:lstStyle/>
          <a:p>
            <a:pPr algn="r">
              <a:spcAft>
                <a:spcPts val="400"/>
              </a:spcAft>
            </a:pPr>
            <a:r>
              <a:rPr sz="900" b="0">
                <a:solidFill>
                  <a:srgbClr val="5B6372"/>
                </a:solidFill>
                <a:latin typeface="Arial"/>
              </a:rPr>
              <a:t>24</a:t>
            </a:r>
          </a:p>
        </p:txBody>
      </p:sp>
    </p:spTree>
  </p:cSld>
  <p:clrMapOvr>
    <a:masterClrMapping/>
  </p:clrMapOvr>
</p:sld>
</file>

<file path=ppt/slides/slide26.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256032" cy="1417320"/>
          </a:xfrm>
          <a:prstGeom prst="rect">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777240" y="457200"/>
            <a:ext cx="10607040" cy="365760"/>
          </a:xfrm>
          <a:prstGeom prst="rect">
            <a:avLst/>
          </a:prstGeom>
          <a:noFill/>
        </p:spPr>
        <p:txBody>
          <a:bodyPr wrap="square" anchor="t">
            <a:spAutoFit/>
          </a:bodyPr>
          <a:lstStyle/>
          <a:p>
            <a:pPr algn="l">
              <a:spcAft>
                <a:spcPts val="400"/>
              </a:spcAft>
            </a:pPr>
            <a:r>
              <a:rPr sz="1400" b="1">
                <a:solidFill>
                  <a:srgbClr val="1F6FEB"/>
                </a:solidFill>
                <a:latin typeface="Arial"/>
              </a:rPr>
              <a:t>MATHEMATICAL PREREQUISITES</a:t>
            </a:r>
          </a:p>
        </p:txBody>
      </p:sp>
      <p:sp>
        <p:nvSpPr>
          <p:cNvPr id="5" name="TextBox 4"/>
          <p:cNvSpPr txBox="1"/>
          <p:nvPr/>
        </p:nvSpPr>
        <p:spPr>
          <a:xfrm>
            <a:off x="777240" y="822960"/>
            <a:ext cx="10881360" cy="822960"/>
          </a:xfrm>
          <a:prstGeom prst="rect">
            <a:avLst/>
          </a:prstGeom>
          <a:noFill/>
        </p:spPr>
        <p:txBody>
          <a:bodyPr wrap="square" anchor="t">
            <a:spAutoFit/>
          </a:bodyPr>
          <a:lstStyle/>
          <a:p>
            <a:pPr algn="l">
              <a:spcAft>
                <a:spcPts val="400"/>
              </a:spcAft>
            </a:pPr>
            <a:r>
              <a:rPr sz="2900" b="1">
                <a:solidFill>
                  <a:srgbClr val="161B26"/>
                </a:solidFill>
                <a:latin typeface="Arial"/>
              </a:rPr>
              <a:t>Tensor product — combining systems</a:t>
            </a:r>
          </a:p>
        </p:txBody>
      </p:sp>
      <p:sp>
        <p:nvSpPr>
          <p:cNvPr id="6" name="Rectangle 5"/>
          <p:cNvSpPr/>
          <p:nvPr/>
        </p:nvSpPr>
        <p:spPr>
          <a:xfrm>
            <a:off x="777240" y="1554480"/>
            <a:ext cx="10634472" cy="18288"/>
          </a:xfrm>
          <a:prstGeom prst="rect">
            <a:avLst/>
          </a:prstGeom>
          <a:solidFill>
            <a:srgbClr val="E2E8F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Rectangle 6"/>
          <p:cNvSpPr/>
          <p:nvPr/>
        </p:nvSpPr>
        <p:spPr>
          <a:xfrm>
            <a:off x="777240" y="1810512"/>
            <a:ext cx="10634472" cy="2601468"/>
          </a:xfrm>
          <a:prstGeom prst="rect">
            <a:avLst/>
          </a:prstGeom>
          <a:solidFill>
            <a:srgbClr val="0B122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TextBox 7"/>
          <p:cNvSpPr txBox="1"/>
          <p:nvPr/>
        </p:nvSpPr>
        <p:spPr>
          <a:xfrm>
            <a:off x="1097280" y="1956816"/>
            <a:ext cx="9994392" cy="2308860"/>
          </a:xfrm>
          <a:prstGeom prst="rect">
            <a:avLst/>
          </a:prstGeom>
          <a:noFill/>
        </p:spPr>
        <p:txBody>
          <a:bodyPr wrap="square" anchor="t">
            <a:spAutoFit/>
          </a:bodyPr>
          <a:lstStyle/>
          <a:p>
            <a:pPr algn="l">
              <a:spcAft>
                <a:spcPts val="300"/>
              </a:spcAft>
            </a:pPr>
            <a:r>
              <a:rPr sz="1500" b="0">
                <a:solidFill>
                  <a:srgbClr val="9CDCFE"/>
                </a:solidFill>
                <a:latin typeface="Arial"/>
              </a:rPr>
              <a:t>   |a&gt; (x) |b&gt;   written  |a&gt;|b&gt;  or  |ab&gt;</a:t>
            </a:r>
          </a:p>
          <a:p>
            <a:pPr algn="l">
              <a:spcAft>
                <a:spcPts val="300"/>
              </a:spcAft>
            </a:pPr>
            <a:r>
              <a:rPr sz="1500" b="0">
                <a:solidFill>
                  <a:srgbClr val="0B1220"/>
                </a:solidFill>
                <a:latin typeface="Arial"/>
              </a:rPr>
              <a:t> </a:t>
            </a:r>
          </a:p>
          <a:p>
            <a:pPr algn="l">
              <a:spcAft>
                <a:spcPts val="300"/>
              </a:spcAft>
            </a:pPr>
            <a:r>
              <a:rPr sz="1500" b="0">
                <a:solidFill>
                  <a:srgbClr val="9CDCFE"/>
                </a:solidFill>
                <a:latin typeface="Arial"/>
              </a:rPr>
              <a:t>   |0&gt; (x) |1&gt;  =  [1,0]ᵀ (x) [0,1]ᵀ  =  [0, 1, 0, 0]ᵀ  =  |01&gt;</a:t>
            </a:r>
          </a:p>
          <a:p>
            <a:pPr algn="l">
              <a:spcAft>
                <a:spcPts val="300"/>
              </a:spcAft>
            </a:pPr>
            <a:r>
              <a:rPr sz="1500" b="0">
                <a:solidFill>
                  <a:srgbClr val="0B1220"/>
                </a:solidFill>
                <a:latin typeface="Arial"/>
              </a:rPr>
              <a:t> </a:t>
            </a:r>
          </a:p>
          <a:p>
            <a:pPr algn="l">
              <a:spcAft>
                <a:spcPts val="300"/>
              </a:spcAft>
            </a:pPr>
            <a:r>
              <a:rPr sz="1500" b="0">
                <a:solidFill>
                  <a:srgbClr val="9CDCFE"/>
                </a:solidFill>
                <a:latin typeface="Arial"/>
              </a:rPr>
              <a:t>Dimensions MULTIPLY:   2 (x) 2 = 4,   and n qubits give 2ⁿ</a:t>
            </a:r>
          </a:p>
          <a:p>
            <a:pPr algn="l">
              <a:spcAft>
                <a:spcPts val="300"/>
              </a:spcAft>
            </a:pPr>
            <a:r>
              <a:rPr sz="1500" b="0">
                <a:solidFill>
                  <a:srgbClr val="0B1220"/>
                </a:solidFill>
                <a:latin typeface="Arial"/>
              </a:rPr>
              <a:t> </a:t>
            </a:r>
          </a:p>
          <a:p>
            <a:pPr algn="l">
              <a:spcAft>
                <a:spcPts val="300"/>
              </a:spcAft>
            </a:pPr>
            <a:r>
              <a:rPr sz="1500" b="0">
                <a:solidFill>
                  <a:srgbClr val="9CDCFE"/>
                </a:solidFill>
                <a:latin typeface="Arial"/>
              </a:rPr>
              <a:t>Operators too:   (A (x) B)(|a&gt; (x) |b&gt;)  =  A|a&gt; (x) B|b&gt;</a:t>
            </a:r>
          </a:p>
        </p:txBody>
      </p:sp>
      <p:sp>
        <p:nvSpPr>
          <p:cNvPr id="9" name="Rectangle 8"/>
          <p:cNvSpPr/>
          <p:nvPr/>
        </p:nvSpPr>
        <p:spPr>
          <a:xfrm>
            <a:off x="777240" y="4613148"/>
            <a:ext cx="10634472" cy="1440180"/>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Rectangle 9"/>
          <p:cNvSpPr/>
          <p:nvPr/>
        </p:nvSpPr>
        <p:spPr>
          <a:xfrm>
            <a:off x="777240" y="4613148"/>
            <a:ext cx="82296" cy="1440180"/>
          </a:xfrm>
          <a:prstGeom prst="rect">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 name="TextBox 10"/>
          <p:cNvSpPr txBox="1"/>
          <p:nvPr/>
        </p:nvSpPr>
        <p:spPr>
          <a:xfrm>
            <a:off x="1097280" y="4613148"/>
            <a:ext cx="10149840" cy="1440180"/>
          </a:xfrm>
          <a:prstGeom prst="rect">
            <a:avLst/>
          </a:prstGeom>
          <a:noFill/>
        </p:spPr>
        <p:txBody>
          <a:bodyPr wrap="square" anchor="ctr">
            <a:spAutoFit/>
          </a:bodyPr>
          <a:lstStyle/>
          <a:p>
            <a:pPr algn="l">
              <a:spcAft>
                <a:spcPts val="400"/>
              </a:spcAft>
            </a:pPr>
            <a:r>
              <a:rPr sz="1150" b="1">
                <a:solidFill>
                  <a:srgbClr val="10B981"/>
                </a:solidFill>
                <a:latin typeface="Arial"/>
              </a:rPr>
              <a:t>KEY POINT:  </a:t>
            </a:r>
            <a:r>
              <a:rPr sz="1300" b="0">
                <a:solidFill>
                  <a:srgbClr val="161B26"/>
                </a:solidFill>
                <a:latin typeface="Arial"/>
              </a:rPr>
              <a:t>The tensor product is the mathematical source of exponential state space — and therefore of quantum advantage.</a:t>
            </a:r>
          </a:p>
        </p:txBody>
      </p:sp>
      <p:sp>
        <p:nvSpPr>
          <p:cNvPr id="12" name="TextBox 11"/>
          <p:cNvSpPr txBox="1"/>
          <p:nvPr/>
        </p:nvSpPr>
        <p:spPr>
          <a:xfrm>
            <a:off x="365760" y="6446520"/>
            <a:ext cx="6858000" cy="320040"/>
          </a:xfrm>
          <a:prstGeom prst="rect">
            <a:avLst/>
          </a:prstGeom>
          <a:noFill/>
        </p:spPr>
        <p:txBody>
          <a:bodyPr wrap="square" anchor="t">
            <a:spAutoFit/>
          </a:bodyPr>
          <a:lstStyle/>
          <a:p>
            <a:pPr algn="l">
              <a:spcAft>
                <a:spcPts val="400"/>
              </a:spcAft>
            </a:pPr>
            <a:r>
              <a:rPr sz="900" b="0">
                <a:solidFill>
                  <a:srgbClr val="5B6372"/>
                </a:solidFill>
                <a:latin typeface="Arial"/>
              </a:rPr>
              <a:t>Securing the Future with Quantum Computing and Cryptography  ·  TGS-2024043419</a:t>
            </a:r>
          </a:p>
        </p:txBody>
      </p:sp>
      <p:sp>
        <p:nvSpPr>
          <p:cNvPr id="13" name="TextBox 12"/>
          <p:cNvSpPr txBox="1"/>
          <p:nvPr/>
        </p:nvSpPr>
        <p:spPr>
          <a:xfrm>
            <a:off x="4572000" y="6446520"/>
            <a:ext cx="3017520" cy="320040"/>
          </a:xfrm>
          <a:prstGeom prst="rect">
            <a:avLst/>
          </a:prstGeom>
          <a:noFill/>
        </p:spPr>
        <p:txBody>
          <a:bodyPr wrap="square" anchor="t">
            <a:spAutoFit/>
          </a:bodyPr>
          <a:lstStyle/>
          <a:p>
            <a:pPr algn="ctr">
              <a:spcAft>
                <a:spcPts val="400"/>
              </a:spcAft>
            </a:pPr>
            <a:r>
              <a:rPr sz="900" b="0">
                <a:solidFill>
                  <a:srgbClr val="5B6372"/>
                </a:solidFill>
                <a:latin typeface="Arial"/>
              </a:rPr>
              <a:t>© 2026 Tertiary Infotech Academy Pte Ltd</a:t>
            </a:r>
          </a:p>
        </p:txBody>
      </p:sp>
      <p:sp>
        <p:nvSpPr>
          <p:cNvPr id="14" name="TextBox 13"/>
          <p:cNvSpPr txBox="1"/>
          <p:nvPr/>
        </p:nvSpPr>
        <p:spPr>
          <a:xfrm>
            <a:off x="11338560" y="6446520"/>
            <a:ext cx="548640" cy="320040"/>
          </a:xfrm>
          <a:prstGeom prst="rect">
            <a:avLst/>
          </a:prstGeom>
          <a:noFill/>
        </p:spPr>
        <p:txBody>
          <a:bodyPr wrap="square" anchor="t">
            <a:spAutoFit/>
          </a:bodyPr>
          <a:lstStyle/>
          <a:p>
            <a:pPr algn="r">
              <a:spcAft>
                <a:spcPts val="400"/>
              </a:spcAft>
            </a:pPr>
            <a:r>
              <a:rPr sz="900" b="0">
                <a:solidFill>
                  <a:srgbClr val="5B6372"/>
                </a:solidFill>
                <a:latin typeface="Arial"/>
              </a:rPr>
              <a:t>25</a:t>
            </a:r>
          </a:p>
        </p:txBody>
      </p:sp>
    </p:spTree>
  </p:cSld>
  <p:clrMapOvr>
    <a:masterClrMapping/>
  </p:clrMapOvr>
</p:sld>
</file>

<file path=ppt/slides/slide27.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256032" cy="1417320"/>
          </a:xfrm>
          <a:prstGeom prst="rect">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777240" y="457200"/>
            <a:ext cx="10607040" cy="365760"/>
          </a:xfrm>
          <a:prstGeom prst="rect">
            <a:avLst/>
          </a:prstGeom>
          <a:noFill/>
        </p:spPr>
        <p:txBody>
          <a:bodyPr wrap="square" anchor="t">
            <a:spAutoFit/>
          </a:bodyPr>
          <a:lstStyle/>
          <a:p>
            <a:pPr algn="l">
              <a:spcAft>
                <a:spcPts val="400"/>
              </a:spcAft>
            </a:pPr>
            <a:r>
              <a:rPr sz="1400" b="1">
                <a:solidFill>
                  <a:srgbClr val="1F6FEB"/>
                </a:solidFill>
                <a:latin typeface="Arial"/>
              </a:rPr>
              <a:t>MATHEMATICAL PREREQUISITES</a:t>
            </a:r>
          </a:p>
        </p:txBody>
      </p:sp>
      <p:sp>
        <p:nvSpPr>
          <p:cNvPr id="5" name="TextBox 4"/>
          <p:cNvSpPr txBox="1"/>
          <p:nvPr/>
        </p:nvSpPr>
        <p:spPr>
          <a:xfrm>
            <a:off x="777240" y="822960"/>
            <a:ext cx="10881360" cy="822960"/>
          </a:xfrm>
          <a:prstGeom prst="rect">
            <a:avLst/>
          </a:prstGeom>
          <a:noFill/>
        </p:spPr>
        <p:txBody>
          <a:bodyPr wrap="square" anchor="t">
            <a:spAutoFit/>
          </a:bodyPr>
          <a:lstStyle/>
          <a:p>
            <a:pPr algn="l">
              <a:spcAft>
                <a:spcPts val="400"/>
              </a:spcAft>
            </a:pPr>
            <a:r>
              <a:rPr sz="2900" b="1">
                <a:solidFill>
                  <a:srgbClr val="161B26"/>
                </a:solidFill>
                <a:latin typeface="Arial"/>
              </a:rPr>
              <a:t>Eigenvalues and eigenvectors</a:t>
            </a:r>
          </a:p>
        </p:txBody>
      </p:sp>
      <p:sp>
        <p:nvSpPr>
          <p:cNvPr id="6" name="Rectangle 5"/>
          <p:cNvSpPr/>
          <p:nvPr/>
        </p:nvSpPr>
        <p:spPr>
          <a:xfrm>
            <a:off x="777240" y="1554480"/>
            <a:ext cx="10634472" cy="18288"/>
          </a:xfrm>
          <a:prstGeom prst="rect">
            <a:avLst/>
          </a:prstGeom>
          <a:solidFill>
            <a:srgbClr val="E2E8F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Rectangle 6"/>
          <p:cNvSpPr/>
          <p:nvPr/>
        </p:nvSpPr>
        <p:spPr>
          <a:xfrm>
            <a:off x="777240" y="1810512"/>
            <a:ext cx="10634472" cy="2601468"/>
          </a:xfrm>
          <a:prstGeom prst="rect">
            <a:avLst/>
          </a:prstGeom>
          <a:solidFill>
            <a:srgbClr val="0B122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TextBox 7"/>
          <p:cNvSpPr txBox="1"/>
          <p:nvPr/>
        </p:nvSpPr>
        <p:spPr>
          <a:xfrm>
            <a:off x="1097280" y="1956816"/>
            <a:ext cx="9994392" cy="2308860"/>
          </a:xfrm>
          <a:prstGeom prst="rect">
            <a:avLst/>
          </a:prstGeom>
          <a:noFill/>
        </p:spPr>
        <p:txBody>
          <a:bodyPr wrap="square" anchor="t">
            <a:spAutoFit/>
          </a:bodyPr>
          <a:lstStyle/>
          <a:p>
            <a:pPr algn="l">
              <a:spcAft>
                <a:spcPts val="300"/>
              </a:spcAft>
            </a:pPr>
            <a:r>
              <a:rPr sz="1500" b="0">
                <a:solidFill>
                  <a:srgbClr val="9CDCFE"/>
                </a:solidFill>
                <a:latin typeface="Arial"/>
              </a:rPr>
              <a:t>   A|v&gt;  =  λ|v&gt;       |v&gt; is unchanged in DIRECTION, only scaled by λ</a:t>
            </a:r>
          </a:p>
          <a:p>
            <a:pPr algn="l">
              <a:spcAft>
                <a:spcPts val="300"/>
              </a:spcAft>
            </a:pPr>
            <a:r>
              <a:rPr sz="1500" b="0">
                <a:solidFill>
                  <a:srgbClr val="0B1220"/>
                </a:solidFill>
                <a:latin typeface="Arial"/>
              </a:rPr>
              <a:t> </a:t>
            </a:r>
          </a:p>
          <a:p>
            <a:pPr algn="l">
              <a:spcAft>
                <a:spcPts val="300"/>
              </a:spcAft>
            </a:pPr>
            <a:r>
              <a:rPr sz="1500" b="0">
                <a:solidFill>
                  <a:srgbClr val="9CDCFE"/>
                </a:solidFill>
                <a:latin typeface="Arial"/>
              </a:rPr>
              <a:t>Find them by solving the characteristic equation  det(A - λI) = 0.</a:t>
            </a:r>
          </a:p>
          <a:p>
            <a:pPr algn="l">
              <a:spcAft>
                <a:spcPts val="300"/>
              </a:spcAft>
            </a:pPr>
            <a:r>
              <a:rPr sz="1500" b="0">
                <a:solidFill>
                  <a:srgbClr val="0B1220"/>
                </a:solidFill>
                <a:latin typeface="Arial"/>
              </a:rPr>
              <a:t> </a:t>
            </a:r>
          </a:p>
          <a:p>
            <a:pPr algn="l">
              <a:spcAft>
                <a:spcPts val="300"/>
              </a:spcAft>
            </a:pPr>
            <a:r>
              <a:rPr sz="1500" b="0">
                <a:solidFill>
                  <a:srgbClr val="9CDCFE"/>
                </a:solidFill>
                <a:latin typeface="Arial"/>
              </a:rPr>
              <a:t>Example — Pauli Z = [[1,0],[0,-1]]:</a:t>
            </a:r>
          </a:p>
          <a:p>
            <a:pPr algn="l">
              <a:spcAft>
                <a:spcPts val="300"/>
              </a:spcAft>
            </a:pPr>
            <a:r>
              <a:rPr sz="1500" b="0">
                <a:solidFill>
                  <a:srgbClr val="9CDCFE"/>
                </a:solidFill>
                <a:latin typeface="Arial"/>
              </a:rPr>
              <a:t>   Z|0&gt; = +1|0&gt;     eigenvalue +1, eigenvector |0&gt;</a:t>
            </a:r>
          </a:p>
          <a:p>
            <a:pPr algn="l">
              <a:spcAft>
                <a:spcPts val="300"/>
              </a:spcAft>
            </a:pPr>
            <a:r>
              <a:rPr sz="1500" b="0">
                <a:solidFill>
                  <a:srgbClr val="9CDCFE"/>
                </a:solidFill>
                <a:latin typeface="Arial"/>
              </a:rPr>
              <a:t>   Z|1&gt; = -1|1&gt;     eigenvalue -1, eigenvector |1&gt;</a:t>
            </a:r>
          </a:p>
        </p:txBody>
      </p:sp>
      <p:sp>
        <p:nvSpPr>
          <p:cNvPr id="9" name="Rectangle 8"/>
          <p:cNvSpPr/>
          <p:nvPr/>
        </p:nvSpPr>
        <p:spPr>
          <a:xfrm>
            <a:off x="777240" y="4613148"/>
            <a:ext cx="10634472" cy="1440180"/>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Rectangle 9"/>
          <p:cNvSpPr/>
          <p:nvPr/>
        </p:nvSpPr>
        <p:spPr>
          <a:xfrm>
            <a:off x="777240" y="4613148"/>
            <a:ext cx="82296" cy="1440180"/>
          </a:xfrm>
          <a:prstGeom prst="rect">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 name="TextBox 10"/>
          <p:cNvSpPr txBox="1"/>
          <p:nvPr/>
        </p:nvSpPr>
        <p:spPr>
          <a:xfrm>
            <a:off x="1097280" y="4613148"/>
            <a:ext cx="10149840" cy="1440180"/>
          </a:xfrm>
          <a:prstGeom prst="rect">
            <a:avLst/>
          </a:prstGeom>
          <a:noFill/>
        </p:spPr>
        <p:txBody>
          <a:bodyPr wrap="square" anchor="ctr">
            <a:spAutoFit/>
          </a:bodyPr>
          <a:lstStyle/>
          <a:p>
            <a:pPr algn="l">
              <a:spcAft>
                <a:spcPts val="400"/>
              </a:spcAft>
            </a:pPr>
            <a:r>
              <a:rPr sz="1150" b="1">
                <a:solidFill>
                  <a:srgbClr val="10B981"/>
                </a:solidFill>
                <a:latin typeface="Arial"/>
              </a:rPr>
              <a:t>KEY POINT:  </a:t>
            </a:r>
            <a:r>
              <a:rPr sz="1300" b="0">
                <a:solidFill>
                  <a:srgbClr val="161B26"/>
                </a:solidFill>
                <a:latin typeface="Arial"/>
              </a:rPr>
              <a:t>Measurement outcomes ARE eigenvalues, and the measurement basis IS the eigenbasis. Eigenvectors of X are |+&gt; and |-&gt;.</a:t>
            </a:r>
          </a:p>
        </p:txBody>
      </p:sp>
      <p:sp>
        <p:nvSpPr>
          <p:cNvPr id="12" name="TextBox 11"/>
          <p:cNvSpPr txBox="1"/>
          <p:nvPr/>
        </p:nvSpPr>
        <p:spPr>
          <a:xfrm>
            <a:off x="365760" y="6446520"/>
            <a:ext cx="6858000" cy="320040"/>
          </a:xfrm>
          <a:prstGeom prst="rect">
            <a:avLst/>
          </a:prstGeom>
          <a:noFill/>
        </p:spPr>
        <p:txBody>
          <a:bodyPr wrap="square" anchor="t">
            <a:spAutoFit/>
          </a:bodyPr>
          <a:lstStyle/>
          <a:p>
            <a:pPr algn="l">
              <a:spcAft>
                <a:spcPts val="400"/>
              </a:spcAft>
            </a:pPr>
            <a:r>
              <a:rPr sz="900" b="0">
                <a:solidFill>
                  <a:srgbClr val="5B6372"/>
                </a:solidFill>
                <a:latin typeface="Arial"/>
              </a:rPr>
              <a:t>Securing the Future with Quantum Computing and Cryptography  ·  TGS-2024043419</a:t>
            </a:r>
          </a:p>
        </p:txBody>
      </p:sp>
      <p:sp>
        <p:nvSpPr>
          <p:cNvPr id="13" name="TextBox 12"/>
          <p:cNvSpPr txBox="1"/>
          <p:nvPr/>
        </p:nvSpPr>
        <p:spPr>
          <a:xfrm>
            <a:off x="4572000" y="6446520"/>
            <a:ext cx="3017520" cy="320040"/>
          </a:xfrm>
          <a:prstGeom prst="rect">
            <a:avLst/>
          </a:prstGeom>
          <a:noFill/>
        </p:spPr>
        <p:txBody>
          <a:bodyPr wrap="square" anchor="t">
            <a:spAutoFit/>
          </a:bodyPr>
          <a:lstStyle/>
          <a:p>
            <a:pPr algn="ctr">
              <a:spcAft>
                <a:spcPts val="400"/>
              </a:spcAft>
            </a:pPr>
            <a:r>
              <a:rPr sz="900" b="0">
                <a:solidFill>
                  <a:srgbClr val="5B6372"/>
                </a:solidFill>
                <a:latin typeface="Arial"/>
              </a:rPr>
              <a:t>© 2026 Tertiary Infotech Academy Pte Ltd</a:t>
            </a:r>
          </a:p>
        </p:txBody>
      </p:sp>
      <p:sp>
        <p:nvSpPr>
          <p:cNvPr id="14" name="TextBox 13"/>
          <p:cNvSpPr txBox="1"/>
          <p:nvPr/>
        </p:nvSpPr>
        <p:spPr>
          <a:xfrm>
            <a:off x="11338560" y="6446520"/>
            <a:ext cx="548640" cy="320040"/>
          </a:xfrm>
          <a:prstGeom prst="rect">
            <a:avLst/>
          </a:prstGeom>
          <a:noFill/>
        </p:spPr>
        <p:txBody>
          <a:bodyPr wrap="square" anchor="t">
            <a:spAutoFit/>
          </a:bodyPr>
          <a:lstStyle/>
          <a:p>
            <a:pPr algn="r">
              <a:spcAft>
                <a:spcPts val="400"/>
              </a:spcAft>
            </a:pPr>
            <a:r>
              <a:rPr sz="900" b="0">
                <a:solidFill>
                  <a:srgbClr val="5B6372"/>
                </a:solidFill>
                <a:latin typeface="Arial"/>
              </a:rPr>
              <a:t>26</a:t>
            </a:r>
          </a:p>
        </p:txBody>
      </p:sp>
    </p:spTree>
  </p:cSld>
  <p:clrMapOvr>
    <a:masterClrMapping/>
  </p:clrMapOvr>
</p:sld>
</file>

<file path=ppt/slides/slide28.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256032" cy="1417320"/>
          </a:xfrm>
          <a:prstGeom prst="rect">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777240" y="457200"/>
            <a:ext cx="10607040" cy="365760"/>
          </a:xfrm>
          <a:prstGeom prst="rect">
            <a:avLst/>
          </a:prstGeom>
          <a:noFill/>
        </p:spPr>
        <p:txBody>
          <a:bodyPr wrap="square" anchor="t">
            <a:spAutoFit/>
          </a:bodyPr>
          <a:lstStyle/>
          <a:p>
            <a:pPr algn="l">
              <a:spcAft>
                <a:spcPts val="400"/>
              </a:spcAft>
            </a:pPr>
            <a:r>
              <a:rPr sz="1400" b="1">
                <a:solidFill>
                  <a:srgbClr val="1F6FEB"/>
                </a:solidFill>
                <a:latin typeface="Arial"/>
              </a:rPr>
              <a:t>THE CENTRAL PROPERTY</a:t>
            </a:r>
          </a:p>
        </p:txBody>
      </p:sp>
      <p:sp>
        <p:nvSpPr>
          <p:cNvPr id="5" name="TextBox 4"/>
          <p:cNvSpPr txBox="1"/>
          <p:nvPr/>
        </p:nvSpPr>
        <p:spPr>
          <a:xfrm>
            <a:off x="777240" y="822960"/>
            <a:ext cx="10881360" cy="822960"/>
          </a:xfrm>
          <a:prstGeom prst="rect">
            <a:avLst/>
          </a:prstGeom>
          <a:noFill/>
        </p:spPr>
        <p:txBody>
          <a:bodyPr wrap="square" anchor="t">
            <a:spAutoFit/>
          </a:bodyPr>
          <a:lstStyle/>
          <a:p>
            <a:pPr algn="l">
              <a:spcAft>
                <a:spcPts val="400"/>
              </a:spcAft>
            </a:pPr>
            <a:r>
              <a:rPr sz="2900" b="1">
                <a:solidFill>
                  <a:srgbClr val="161B26"/>
                </a:solidFill>
                <a:latin typeface="Arial"/>
              </a:rPr>
              <a:t>Definition</a:t>
            </a:r>
          </a:p>
        </p:txBody>
      </p:sp>
      <p:sp>
        <p:nvSpPr>
          <p:cNvPr id="6" name="Rectangle 5"/>
          <p:cNvSpPr/>
          <p:nvPr/>
        </p:nvSpPr>
        <p:spPr>
          <a:xfrm>
            <a:off x="777240" y="1554480"/>
            <a:ext cx="10634472" cy="18288"/>
          </a:xfrm>
          <a:prstGeom prst="rect">
            <a:avLst/>
          </a:prstGeom>
          <a:solidFill>
            <a:srgbClr val="E2E8F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Rectangle 6"/>
          <p:cNvSpPr/>
          <p:nvPr/>
        </p:nvSpPr>
        <p:spPr>
          <a:xfrm>
            <a:off x="777240" y="1810512"/>
            <a:ext cx="10634472" cy="3214116"/>
          </a:xfrm>
          <a:prstGeom prst="rect">
            <a:avLst/>
          </a:prstGeom>
          <a:solidFill>
            <a:srgbClr val="0B122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TextBox 7"/>
          <p:cNvSpPr txBox="1"/>
          <p:nvPr/>
        </p:nvSpPr>
        <p:spPr>
          <a:xfrm>
            <a:off x="1097280" y="1956816"/>
            <a:ext cx="9994392" cy="2921508"/>
          </a:xfrm>
          <a:prstGeom prst="rect">
            <a:avLst/>
          </a:prstGeom>
          <a:noFill/>
        </p:spPr>
        <p:txBody>
          <a:bodyPr wrap="square" anchor="t">
            <a:spAutoFit/>
          </a:bodyPr>
          <a:lstStyle/>
          <a:p>
            <a:pPr algn="l">
              <a:spcAft>
                <a:spcPts val="300"/>
              </a:spcAft>
            </a:pPr>
            <a:r>
              <a:rPr sz="1500" b="0">
                <a:solidFill>
                  <a:srgbClr val="9CDCFE"/>
                </a:solidFill>
                <a:latin typeface="Arial"/>
              </a:rPr>
              <a:t>An operator U is UNITARY when:</a:t>
            </a:r>
          </a:p>
          <a:p>
            <a:pPr algn="l">
              <a:spcAft>
                <a:spcPts val="300"/>
              </a:spcAft>
            </a:pPr>
            <a:r>
              <a:rPr sz="1500" b="0">
                <a:solidFill>
                  <a:srgbClr val="0B1220"/>
                </a:solidFill>
                <a:latin typeface="Arial"/>
              </a:rPr>
              <a:t> </a:t>
            </a:r>
          </a:p>
          <a:p>
            <a:pPr algn="l">
              <a:spcAft>
                <a:spcPts val="300"/>
              </a:spcAft>
            </a:pPr>
            <a:r>
              <a:rPr sz="1500" b="0">
                <a:solidFill>
                  <a:srgbClr val="9CDCFE"/>
                </a:solidFill>
                <a:latin typeface="Arial"/>
              </a:rPr>
              <a:t>   U†U  =  UU†  =  I           equivalently    U⁻¹ = U†</a:t>
            </a:r>
          </a:p>
          <a:p>
            <a:pPr algn="l">
              <a:spcAft>
                <a:spcPts val="300"/>
              </a:spcAft>
            </a:pPr>
            <a:r>
              <a:rPr sz="1500" b="0">
                <a:solidFill>
                  <a:srgbClr val="0B1220"/>
                </a:solidFill>
                <a:latin typeface="Arial"/>
              </a:rPr>
              <a:t> </a:t>
            </a:r>
          </a:p>
          <a:p>
            <a:pPr algn="l">
              <a:spcAft>
                <a:spcPts val="300"/>
              </a:spcAft>
            </a:pPr>
            <a:r>
              <a:rPr sz="1500" b="0">
                <a:solidFill>
                  <a:srgbClr val="9CDCFE"/>
                </a:solidFill>
                <a:latin typeface="Arial"/>
              </a:rPr>
              <a:t>where U† is the conjugate transpose (dagger / adjoint):</a:t>
            </a:r>
          </a:p>
          <a:p>
            <a:pPr algn="l">
              <a:spcAft>
                <a:spcPts val="300"/>
              </a:spcAft>
            </a:pPr>
            <a:r>
              <a:rPr sz="1500" b="0">
                <a:solidFill>
                  <a:srgbClr val="9CDCFE"/>
                </a:solidFill>
                <a:latin typeface="Arial"/>
              </a:rPr>
              <a:t>   (U†)ᵢⱼ  =  (Uⱼᵢ)*</a:t>
            </a:r>
          </a:p>
          <a:p>
            <a:pPr algn="l">
              <a:spcAft>
                <a:spcPts val="300"/>
              </a:spcAft>
            </a:pPr>
            <a:r>
              <a:rPr sz="1500" b="0">
                <a:solidFill>
                  <a:srgbClr val="0B1220"/>
                </a:solidFill>
                <a:latin typeface="Arial"/>
              </a:rPr>
              <a:t> </a:t>
            </a:r>
          </a:p>
          <a:p>
            <a:pPr algn="l">
              <a:spcAft>
                <a:spcPts val="300"/>
              </a:spcAft>
            </a:pPr>
            <a:r>
              <a:rPr sz="1500" b="0">
                <a:solidFill>
                  <a:srgbClr val="9CDCFE"/>
                </a:solidFill>
                <a:latin typeface="Arial"/>
              </a:rPr>
              <a:t>Example — Hadamard:  H = (1/√2)[[1,1],[1,-1]]</a:t>
            </a:r>
          </a:p>
          <a:p>
            <a:pPr algn="l">
              <a:spcAft>
                <a:spcPts val="300"/>
              </a:spcAft>
            </a:pPr>
            <a:r>
              <a:rPr sz="1500" b="0">
                <a:solidFill>
                  <a:srgbClr val="9CDCFE"/>
                </a:solidFill>
                <a:latin typeface="Arial"/>
              </a:rPr>
              <a:t>   H† = H  (real and symmetric),  and  H·H = I    so H is unitary.</a:t>
            </a:r>
          </a:p>
        </p:txBody>
      </p:sp>
      <p:sp>
        <p:nvSpPr>
          <p:cNvPr id="9" name="Rectangle 8"/>
          <p:cNvSpPr/>
          <p:nvPr/>
        </p:nvSpPr>
        <p:spPr>
          <a:xfrm>
            <a:off x="777240" y="5225796"/>
            <a:ext cx="10634472" cy="827532"/>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Rectangle 9"/>
          <p:cNvSpPr/>
          <p:nvPr/>
        </p:nvSpPr>
        <p:spPr>
          <a:xfrm>
            <a:off x="777240" y="5225796"/>
            <a:ext cx="82296" cy="827532"/>
          </a:xfrm>
          <a:prstGeom prst="rect">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 name="TextBox 10"/>
          <p:cNvSpPr txBox="1"/>
          <p:nvPr/>
        </p:nvSpPr>
        <p:spPr>
          <a:xfrm>
            <a:off x="1097280" y="5225796"/>
            <a:ext cx="10149840" cy="827532"/>
          </a:xfrm>
          <a:prstGeom prst="rect">
            <a:avLst/>
          </a:prstGeom>
          <a:noFill/>
        </p:spPr>
        <p:txBody>
          <a:bodyPr wrap="square" anchor="ctr">
            <a:spAutoFit/>
          </a:bodyPr>
          <a:lstStyle/>
          <a:p>
            <a:pPr algn="l">
              <a:spcAft>
                <a:spcPts val="400"/>
              </a:spcAft>
            </a:pPr>
            <a:r>
              <a:rPr sz="1150" b="1">
                <a:solidFill>
                  <a:srgbClr val="10B981"/>
                </a:solidFill>
                <a:latin typeface="Arial"/>
              </a:rPr>
              <a:t>KEY POINT:  </a:t>
            </a:r>
            <a:r>
              <a:rPr sz="1300" b="0">
                <a:solidFill>
                  <a:srgbClr val="161B26"/>
                </a:solidFill>
                <a:latin typeface="Arial"/>
              </a:rPr>
              <a:t>Checking U†U = I is the single most useful sanity test when you build a gate.</a:t>
            </a:r>
          </a:p>
        </p:txBody>
      </p:sp>
      <p:sp>
        <p:nvSpPr>
          <p:cNvPr id="12" name="TextBox 11"/>
          <p:cNvSpPr txBox="1"/>
          <p:nvPr/>
        </p:nvSpPr>
        <p:spPr>
          <a:xfrm>
            <a:off x="365760" y="6446520"/>
            <a:ext cx="6858000" cy="320040"/>
          </a:xfrm>
          <a:prstGeom prst="rect">
            <a:avLst/>
          </a:prstGeom>
          <a:noFill/>
        </p:spPr>
        <p:txBody>
          <a:bodyPr wrap="square" anchor="t">
            <a:spAutoFit/>
          </a:bodyPr>
          <a:lstStyle/>
          <a:p>
            <a:pPr algn="l">
              <a:spcAft>
                <a:spcPts val="400"/>
              </a:spcAft>
            </a:pPr>
            <a:r>
              <a:rPr sz="900" b="0">
                <a:solidFill>
                  <a:srgbClr val="5B6372"/>
                </a:solidFill>
                <a:latin typeface="Arial"/>
              </a:rPr>
              <a:t>Securing the Future with Quantum Computing and Cryptography  ·  TGS-2024043419</a:t>
            </a:r>
          </a:p>
        </p:txBody>
      </p:sp>
      <p:sp>
        <p:nvSpPr>
          <p:cNvPr id="13" name="TextBox 12"/>
          <p:cNvSpPr txBox="1"/>
          <p:nvPr/>
        </p:nvSpPr>
        <p:spPr>
          <a:xfrm>
            <a:off x="4572000" y="6446520"/>
            <a:ext cx="3017520" cy="320040"/>
          </a:xfrm>
          <a:prstGeom prst="rect">
            <a:avLst/>
          </a:prstGeom>
          <a:noFill/>
        </p:spPr>
        <p:txBody>
          <a:bodyPr wrap="square" anchor="t">
            <a:spAutoFit/>
          </a:bodyPr>
          <a:lstStyle/>
          <a:p>
            <a:pPr algn="ctr">
              <a:spcAft>
                <a:spcPts val="400"/>
              </a:spcAft>
            </a:pPr>
            <a:r>
              <a:rPr sz="900" b="0">
                <a:solidFill>
                  <a:srgbClr val="5B6372"/>
                </a:solidFill>
                <a:latin typeface="Arial"/>
              </a:rPr>
              <a:t>© 2026 Tertiary Infotech Academy Pte Ltd</a:t>
            </a:r>
          </a:p>
        </p:txBody>
      </p:sp>
      <p:sp>
        <p:nvSpPr>
          <p:cNvPr id="14" name="TextBox 13"/>
          <p:cNvSpPr txBox="1"/>
          <p:nvPr/>
        </p:nvSpPr>
        <p:spPr>
          <a:xfrm>
            <a:off x="11338560" y="6446520"/>
            <a:ext cx="548640" cy="320040"/>
          </a:xfrm>
          <a:prstGeom prst="rect">
            <a:avLst/>
          </a:prstGeom>
          <a:noFill/>
        </p:spPr>
        <p:txBody>
          <a:bodyPr wrap="square" anchor="t">
            <a:spAutoFit/>
          </a:bodyPr>
          <a:lstStyle/>
          <a:p>
            <a:pPr algn="r">
              <a:spcAft>
                <a:spcPts val="400"/>
              </a:spcAft>
            </a:pPr>
            <a:r>
              <a:rPr sz="900" b="0">
                <a:solidFill>
                  <a:srgbClr val="5B6372"/>
                </a:solidFill>
                <a:latin typeface="Arial"/>
              </a:rPr>
              <a:t>27</a:t>
            </a:r>
          </a:p>
        </p:txBody>
      </p:sp>
    </p:spTree>
  </p:cSld>
  <p:clrMapOvr>
    <a:masterClrMapping/>
  </p:clrMapOvr>
</p:sld>
</file>

<file path=ppt/slides/slide29.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256032" cy="1417320"/>
          </a:xfrm>
          <a:prstGeom prst="rect">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777240" y="457200"/>
            <a:ext cx="10607040" cy="365760"/>
          </a:xfrm>
          <a:prstGeom prst="rect">
            <a:avLst/>
          </a:prstGeom>
          <a:noFill/>
        </p:spPr>
        <p:txBody>
          <a:bodyPr wrap="square" anchor="t">
            <a:spAutoFit/>
          </a:bodyPr>
          <a:lstStyle/>
          <a:p>
            <a:pPr algn="l">
              <a:spcAft>
                <a:spcPts val="400"/>
              </a:spcAft>
            </a:pPr>
            <a:r>
              <a:rPr sz="1400" b="1">
                <a:solidFill>
                  <a:srgbClr val="1F6FEB"/>
                </a:solidFill>
                <a:latin typeface="Arial"/>
              </a:rPr>
              <a:t>THE CENTRAL PROPERTY</a:t>
            </a:r>
          </a:p>
        </p:txBody>
      </p:sp>
      <p:sp>
        <p:nvSpPr>
          <p:cNvPr id="5" name="TextBox 4"/>
          <p:cNvSpPr txBox="1"/>
          <p:nvPr/>
        </p:nvSpPr>
        <p:spPr>
          <a:xfrm>
            <a:off x="777240" y="822960"/>
            <a:ext cx="10881360" cy="822960"/>
          </a:xfrm>
          <a:prstGeom prst="rect">
            <a:avLst/>
          </a:prstGeom>
          <a:noFill/>
        </p:spPr>
        <p:txBody>
          <a:bodyPr wrap="square" anchor="t">
            <a:spAutoFit/>
          </a:bodyPr>
          <a:lstStyle/>
          <a:p>
            <a:pPr algn="l">
              <a:spcAft>
                <a:spcPts val="400"/>
              </a:spcAft>
            </a:pPr>
            <a:r>
              <a:rPr sz="2900" b="1">
                <a:solidFill>
                  <a:srgbClr val="161B26"/>
                </a:solidFill>
                <a:latin typeface="Arial"/>
              </a:rPr>
              <a:t>Property 1 — Unitary preserves the norm</a:t>
            </a:r>
          </a:p>
        </p:txBody>
      </p:sp>
      <p:sp>
        <p:nvSpPr>
          <p:cNvPr id="6" name="Rectangle 5"/>
          <p:cNvSpPr/>
          <p:nvPr/>
        </p:nvSpPr>
        <p:spPr>
          <a:xfrm>
            <a:off x="777240" y="1554480"/>
            <a:ext cx="10634472" cy="18288"/>
          </a:xfrm>
          <a:prstGeom prst="rect">
            <a:avLst/>
          </a:prstGeom>
          <a:solidFill>
            <a:srgbClr val="E2E8F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Rectangle 6"/>
          <p:cNvSpPr/>
          <p:nvPr/>
        </p:nvSpPr>
        <p:spPr>
          <a:xfrm>
            <a:off x="777240" y="1810512"/>
            <a:ext cx="10634472" cy="2295144"/>
          </a:xfrm>
          <a:prstGeom prst="rect">
            <a:avLst/>
          </a:prstGeom>
          <a:solidFill>
            <a:srgbClr val="0B122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TextBox 7"/>
          <p:cNvSpPr txBox="1"/>
          <p:nvPr/>
        </p:nvSpPr>
        <p:spPr>
          <a:xfrm>
            <a:off x="1097280" y="1956816"/>
            <a:ext cx="9994392" cy="2002536"/>
          </a:xfrm>
          <a:prstGeom prst="rect">
            <a:avLst/>
          </a:prstGeom>
          <a:noFill/>
        </p:spPr>
        <p:txBody>
          <a:bodyPr wrap="square" anchor="t">
            <a:spAutoFit/>
          </a:bodyPr>
          <a:lstStyle/>
          <a:p>
            <a:pPr algn="l">
              <a:spcAft>
                <a:spcPts val="300"/>
              </a:spcAft>
            </a:pPr>
            <a:r>
              <a:rPr sz="1500" b="0">
                <a:solidFill>
                  <a:srgbClr val="9CDCFE"/>
                </a:solidFill>
                <a:latin typeface="Arial"/>
              </a:rPr>
              <a:t>   &lt;Uψ|Uψ&gt;  =  &lt;ψ|U†U|ψ&gt;  =  &lt;ψ|I|ψ&gt;  =  &lt;ψ|ψ&gt;  =  1</a:t>
            </a:r>
          </a:p>
          <a:p>
            <a:pPr algn="l">
              <a:spcAft>
                <a:spcPts val="300"/>
              </a:spcAft>
            </a:pPr>
            <a:r>
              <a:rPr sz="1500" b="0">
                <a:solidFill>
                  <a:srgbClr val="0B1220"/>
                </a:solidFill>
                <a:latin typeface="Arial"/>
              </a:rPr>
              <a:t> </a:t>
            </a:r>
          </a:p>
          <a:p>
            <a:pPr algn="l">
              <a:spcAft>
                <a:spcPts val="300"/>
              </a:spcAft>
            </a:pPr>
            <a:r>
              <a:rPr sz="1500" b="0">
                <a:solidFill>
                  <a:srgbClr val="9CDCFE"/>
                </a:solidFill>
                <a:latin typeface="Arial"/>
              </a:rPr>
              <a:t>So a normalised state STAYS normalised.</a:t>
            </a:r>
          </a:p>
          <a:p>
            <a:pPr algn="l">
              <a:spcAft>
                <a:spcPts val="300"/>
              </a:spcAft>
            </a:pPr>
            <a:r>
              <a:rPr sz="1500" b="0">
                <a:solidFill>
                  <a:srgbClr val="0B1220"/>
                </a:solidFill>
                <a:latin typeface="Arial"/>
              </a:rPr>
              <a:t> </a:t>
            </a:r>
          </a:p>
          <a:p>
            <a:pPr algn="l">
              <a:spcAft>
                <a:spcPts val="300"/>
              </a:spcAft>
            </a:pPr>
            <a:r>
              <a:rPr sz="1500" b="0">
                <a:solidFill>
                  <a:srgbClr val="9CDCFE"/>
                </a:solidFill>
                <a:latin typeface="Arial"/>
              </a:rPr>
              <a:t>Consequence: probabilities always sum to 1, at every step of the circuit.</a:t>
            </a:r>
          </a:p>
          <a:p>
            <a:pPr algn="l">
              <a:spcAft>
                <a:spcPts val="300"/>
              </a:spcAft>
            </a:pPr>
            <a:r>
              <a:rPr sz="1500" b="0">
                <a:solidFill>
                  <a:srgbClr val="9CDCFE"/>
                </a:solidFill>
                <a:latin typeface="Arial"/>
              </a:rPr>
              <a:t>A non-unitary gate would create or destroy probability — unphysical.</a:t>
            </a:r>
          </a:p>
        </p:txBody>
      </p:sp>
      <p:sp>
        <p:nvSpPr>
          <p:cNvPr id="9" name="Rectangle 8"/>
          <p:cNvSpPr/>
          <p:nvPr/>
        </p:nvSpPr>
        <p:spPr>
          <a:xfrm>
            <a:off x="777240" y="4306824"/>
            <a:ext cx="10634472" cy="1746504"/>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Rectangle 9"/>
          <p:cNvSpPr/>
          <p:nvPr/>
        </p:nvSpPr>
        <p:spPr>
          <a:xfrm>
            <a:off x="777240" y="4306824"/>
            <a:ext cx="82296" cy="1746504"/>
          </a:xfrm>
          <a:prstGeom prst="rect">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 name="TextBox 10"/>
          <p:cNvSpPr txBox="1"/>
          <p:nvPr/>
        </p:nvSpPr>
        <p:spPr>
          <a:xfrm>
            <a:off x="1097280" y="4306824"/>
            <a:ext cx="10149840" cy="1746504"/>
          </a:xfrm>
          <a:prstGeom prst="rect">
            <a:avLst/>
          </a:prstGeom>
          <a:noFill/>
        </p:spPr>
        <p:txBody>
          <a:bodyPr wrap="square" anchor="ctr">
            <a:spAutoFit/>
          </a:bodyPr>
          <a:lstStyle/>
          <a:p>
            <a:pPr algn="l">
              <a:spcAft>
                <a:spcPts val="400"/>
              </a:spcAft>
            </a:pPr>
            <a:r>
              <a:rPr sz="1150" b="1">
                <a:solidFill>
                  <a:srgbClr val="10B981"/>
                </a:solidFill>
                <a:latin typeface="Arial"/>
              </a:rPr>
              <a:t>KEY POINT:  </a:t>
            </a:r>
            <a:r>
              <a:rPr sz="1300" b="0">
                <a:solidFill>
                  <a:srgbClr val="161B26"/>
                </a:solidFill>
                <a:latin typeface="Arial"/>
              </a:rPr>
              <a:t>This is why you never need to renormalise mid-circuit; only measurement (which is not unitary) requires it.</a:t>
            </a:r>
          </a:p>
        </p:txBody>
      </p:sp>
      <p:sp>
        <p:nvSpPr>
          <p:cNvPr id="12" name="TextBox 11"/>
          <p:cNvSpPr txBox="1"/>
          <p:nvPr/>
        </p:nvSpPr>
        <p:spPr>
          <a:xfrm>
            <a:off x="365760" y="6446520"/>
            <a:ext cx="6858000" cy="320040"/>
          </a:xfrm>
          <a:prstGeom prst="rect">
            <a:avLst/>
          </a:prstGeom>
          <a:noFill/>
        </p:spPr>
        <p:txBody>
          <a:bodyPr wrap="square" anchor="t">
            <a:spAutoFit/>
          </a:bodyPr>
          <a:lstStyle/>
          <a:p>
            <a:pPr algn="l">
              <a:spcAft>
                <a:spcPts val="400"/>
              </a:spcAft>
            </a:pPr>
            <a:r>
              <a:rPr sz="900" b="0">
                <a:solidFill>
                  <a:srgbClr val="5B6372"/>
                </a:solidFill>
                <a:latin typeface="Arial"/>
              </a:rPr>
              <a:t>Securing the Future with Quantum Computing and Cryptography  ·  TGS-2024043419</a:t>
            </a:r>
          </a:p>
        </p:txBody>
      </p:sp>
      <p:sp>
        <p:nvSpPr>
          <p:cNvPr id="13" name="TextBox 12"/>
          <p:cNvSpPr txBox="1"/>
          <p:nvPr/>
        </p:nvSpPr>
        <p:spPr>
          <a:xfrm>
            <a:off x="4572000" y="6446520"/>
            <a:ext cx="3017520" cy="320040"/>
          </a:xfrm>
          <a:prstGeom prst="rect">
            <a:avLst/>
          </a:prstGeom>
          <a:noFill/>
        </p:spPr>
        <p:txBody>
          <a:bodyPr wrap="square" anchor="t">
            <a:spAutoFit/>
          </a:bodyPr>
          <a:lstStyle/>
          <a:p>
            <a:pPr algn="ctr">
              <a:spcAft>
                <a:spcPts val="400"/>
              </a:spcAft>
            </a:pPr>
            <a:r>
              <a:rPr sz="900" b="0">
                <a:solidFill>
                  <a:srgbClr val="5B6372"/>
                </a:solidFill>
                <a:latin typeface="Arial"/>
              </a:rPr>
              <a:t>© 2026 Tertiary Infotech Academy Pte Ltd</a:t>
            </a:r>
          </a:p>
        </p:txBody>
      </p:sp>
      <p:sp>
        <p:nvSpPr>
          <p:cNvPr id="14" name="TextBox 13"/>
          <p:cNvSpPr txBox="1"/>
          <p:nvPr/>
        </p:nvSpPr>
        <p:spPr>
          <a:xfrm>
            <a:off x="11338560" y="6446520"/>
            <a:ext cx="548640" cy="320040"/>
          </a:xfrm>
          <a:prstGeom prst="rect">
            <a:avLst/>
          </a:prstGeom>
          <a:noFill/>
        </p:spPr>
        <p:txBody>
          <a:bodyPr wrap="square" anchor="t">
            <a:spAutoFit/>
          </a:bodyPr>
          <a:lstStyle/>
          <a:p>
            <a:pPr algn="r">
              <a:spcAft>
                <a:spcPts val="400"/>
              </a:spcAft>
            </a:pPr>
            <a:r>
              <a:rPr sz="900" b="0">
                <a:solidFill>
                  <a:srgbClr val="5B6372"/>
                </a:solidFill>
                <a:latin typeface="Arial"/>
              </a:rPr>
              <a:t>28</a:t>
            </a:r>
          </a:p>
        </p:txBody>
      </p:sp>
    </p:spTree>
  </p:cSld>
  <p:clrMapOvr>
    <a:masterClrMapping/>
  </p:clrMapOvr>
</p:sld>
</file>

<file path=ppt/slides/slide30.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256032" cy="1417320"/>
          </a:xfrm>
          <a:prstGeom prst="rect">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777240" y="457200"/>
            <a:ext cx="10607040" cy="365760"/>
          </a:xfrm>
          <a:prstGeom prst="rect">
            <a:avLst/>
          </a:prstGeom>
          <a:noFill/>
        </p:spPr>
        <p:txBody>
          <a:bodyPr wrap="square" anchor="t">
            <a:spAutoFit/>
          </a:bodyPr>
          <a:lstStyle/>
          <a:p>
            <a:pPr algn="l">
              <a:spcAft>
                <a:spcPts val="400"/>
              </a:spcAft>
            </a:pPr>
            <a:r>
              <a:rPr sz="1400" b="1">
                <a:solidFill>
                  <a:srgbClr val="1F6FEB"/>
                </a:solidFill>
                <a:latin typeface="Arial"/>
              </a:rPr>
              <a:t>THE CENTRAL PROPERTY</a:t>
            </a:r>
          </a:p>
        </p:txBody>
      </p:sp>
      <p:sp>
        <p:nvSpPr>
          <p:cNvPr id="5" name="TextBox 4"/>
          <p:cNvSpPr txBox="1"/>
          <p:nvPr/>
        </p:nvSpPr>
        <p:spPr>
          <a:xfrm>
            <a:off x="777240" y="822960"/>
            <a:ext cx="10881360" cy="822960"/>
          </a:xfrm>
          <a:prstGeom prst="rect">
            <a:avLst/>
          </a:prstGeom>
          <a:noFill/>
        </p:spPr>
        <p:txBody>
          <a:bodyPr wrap="square" anchor="t">
            <a:spAutoFit/>
          </a:bodyPr>
          <a:lstStyle/>
          <a:p>
            <a:pPr algn="l">
              <a:spcAft>
                <a:spcPts val="400"/>
              </a:spcAft>
            </a:pPr>
            <a:r>
              <a:rPr sz="2900" b="1">
                <a:solidFill>
                  <a:srgbClr val="161B26"/>
                </a:solidFill>
                <a:latin typeface="Arial"/>
              </a:rPr>
              <a:t>Property 2 — Unitary preserves inner products</a:t>
            </a:r>
          </a:p>
        </p:txBody>
      </p:sp>
      <p:sp>
        <p:nvSpPr>
          <p:cNvPr id="6" name="Rectangle 5"/>
          <p:cNvSpPr/>
          <p:nvPr/>
        </p:nvSpPr>
        <p:spPr>
          <a:xfrm>
            <a:off x="777240" y="1554480"/>
            <a:ext cx="10634472" cy="18288"/>
          </a:xfrm>
          <a:prstGeom prst="rect">
            <a:avLst/>
          </a:prstGeom>
          <a:solidFill>
            <a:srgbClr val="E2E8F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Rectangle 6"/>
          <p:cNvSpPr/>
          <p:nvPr/>
        </p:nvSpPr>
        <p:spPr>
          <a:xfrm>
            <a:off x="777240" y="1810512"/>
            <a:ext cx="10634472" cy="2295144"/>
          </a:xfrm>
          <a:prstGeom prst="rect">
            <a:avLst/>
          </a:prstGeom>
          <a:solidFill>
            <a:srgbClr val="0B122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TextBox 7"/>
          <p:cNvSpPr txBox="1"/>
          <p:nvPr/>
        </p:nvSpPr>
        <p:spPr>
          <a:xfrm>
            <a:off x="1097280" y="1956816"/>
            <a:ext cx="9994392" cy="2002536"/>
          </a:xfrm>
          <a:prstGeom prst="rect">
            <a:avLst/>
          </a:prstGeom>
          <a:noFill/>
        </p:spPr>
        <p:txBody>
          <a:bodyPr wrap="square" anchor="t">
            <a:spAutoFit/>
          </a:bodyPr>
          <a:lstStyle/>
          <a:p>
            <a:pPr algn="l">
              <a:spcAft>
                <a:spcPts val="300"/>
              </a:spcAft>
            </a:pPr>
            <a:r>
              <a:rPr sz="1500" b="0">
                <a:solidFill>
                  <a:srgbClr val="9CDCFE"/>
                </a:solidFill>
                <a:latin typeface="Arial"/>
              </a:rPr>
              <a:t>   &lt;Uφ|Uψ&gt;  =  &lt;φ|U†U|ψ&gt;  =  &lt;φ|ψ&gt;</a:t>
            </a:r>
          </a:p>
          <a:p>
            <a:pPr algn="l">
              <a:spcAft>
                <a:spcPts val="300"/>
              </a:spcAft>
            </a:pPr>
            <a:r>
              <a:rPr sz="1500" b="0">
                <a:solidFill>
                  <a:srgbClr val="0B1220"/>
                </a:solidFill>
                <a:latin typeface="Arial"/>
              </a:rPr>
              <a:t> </a:t>
            </a:r>
          </a:p>
          <a:p>
            <a:pPr algn="l">
              <a:spcAft>
                <a:spcPts val="300"/>
              </a:spcAft>
            </a:pPr>
            <a:r>
              <a:rPr sz="1500" b="0">
                <a:solidFill>
                  <a:srgbClr val="9CDCFE"/>
                </a:solidFill>
                <a:latin typeface="Arial"/>
              </a:rPr>
              <a:t>ANGLES between states are preserved. Orthogonal states stay orthogonal.</a:t>
            </a:r>
          </a:p>
          <a:p>
            <a:pPr algn="l">
              <a:spcAft>
                <a:spcPts val="300"/>
              </a:spcAft>
            </a:pPr>
            <a:r>
              <a:rPr sz="1500" b="0">
                <a:solidFill>
                  <a:srgbClr val="0B1220"/>
                </a:solidFill>
                <a:latin typeface="Arial"/>
              </a:rPr>
              <a:t> </a:t>
            </a:r>
          </a:p>
          <a:p>
            <a:pPr algn="l">
              <a:spcAft>
                <a:spcPts val="300"/>
              </a:spcAft>
            </a:pPr>
            <a:r>
              <a:rPr sz="1500" b="0">
                <a:solidFill>
                  <a:srgbClr val="9CDCFE"/>
                </a:solidFill>
                <a:latin typeface="Arial"/>
              </a:rPr>
              <a:t>Geometric picture: a unitary is a ROTATION (possibly with reflection) of</a:t>
            </a:r>
          </a:p>
          <a:p>
            <a:pPr algn="l">
              <a:spcAft>
                <a:spcPts val="300"/>
              </a:spcAft>
            </a:pPr>
            <a:r>
              <a:rPr sz="1500" b="0">
                <a:solidFill>
                  <a:srgbClr val="9CDCFE"/>
                </a:solidFill>
                <a:latin typeface="Arial"/>
              </a:rPr>
              <a:t>the state space — it is rigid, it never stretches or squashes.</a:t>
            </a:r>
          </a:p>
        </p:txBody>
      </p:sp>
      <p:sp>
        <p:nvSpPr>
          <p:cNvPr id="9" name="Rectangle 8"/>
          <p:cNvSpPr/>
          <p:nvPr/>
        </p:nvSpPr>
        <p:spPr>
          <a:xfrm>
            <a:off x="777240" y="4306824"/>
            <a:ext cx="10634472" cy="1746504"/>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Rectangle 9"/>
          <p:cNvSpPr/>
          <p:nvPr/>
        </p:nvSpPr>
        <p:spPr>
          <a:xfrm>
            <a:off x="777240" y="4306824"/>
            <a:ext cx="82296" cy="1746504"/>
          </a:xfrm>
          <a:prstGeom prst="rect">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 name="TextBox 10"/>
          <p:cNvSpPr txBox="1"/>
          <p:nvPr/>
        </p:nvSpPr>
        <p:spPr>
          <a:xfrm>
            <a:off x="1097280" y="4306824"/>
            <a:ext cx="10149840" cy="1746504"/>
          </a:xfrm>
          <a:prstGeom prst="rect">
            <a:avLst/>
          </a:prstGeom>
          <a:noFill/>
        </p:spPr>
        <p:txBody>
          <a:bodyPr wrap="square" anchor="ctr">
            <a:spAutoFit/>
          </a:bodyPr>
          <a:lstStyle/>
          <a:p>
            <a:pPr algn="l">
              <a:spcAft>
                <a:spcPts val="400"/>
              </a:spcAft>
            </a:pPr>
            <a:r>
              <a:rPr sz="1150" b="1">
                <a:solidFill>
                  <a:srgbClr val="10B981"/>
                </a:solidFill>
                <a:latin typeface="Arial"/>
              </a:rPr>
              <a:t>KEY POINT:  </a:t>
            </a:r>
            <a:r>
              <a:rPr sz="1300" b="0">
                <a:solidFill>
                  <a:srgbClr val="161B26"/>
                </a:solidFill>
                <a:latin typeface="Arial"/>
              </a:rPr>
              <a:t>This single property is what makes the no-cloning proof work.</a:t>
            </a:r>
          </a:p>
        </p:txBody>
      </p:sp>
      <p:sp>
        <p:nvSpPr>
          <p:cNvPr id="12" name="TextBox 11"/>
          <p:cNvSpPr txBox="1"/>
          <p:nvPr/>
        </p:nvSpPr>
        <p:spPr>
          <a:xfrm>
            <a:off x="365760" y="6446520"/>
            <a:ext cx="6858000" cy="320040"/>
          </a:xfrm>
          <a:prstGeom prst="rect">
            <a:avLst/>
          </a:prstGeom>
          <a:noFill/>
        </p:spPr>
        <p:txBody>
          <a:bodyPr wrap="square" anchor="t">
            <a:spAutoFit/>
          </a:bodyPr>
          <a:lstStyle/>
          <a:p>
            <a:pPr algn="l">
              <a:spcAft>
                <a:spcPts val="400"/>
              </a:spcAft>
            </a:pPr>
            <a:r>
              <a:rPr sz="900" b="0">
                <a:solidFill>
                  <a:srgbClr val="5B6372"/>
                </a:solidFill>
                <a:latin typeface="Arial"/>
              </a:rPr>
              <a:t>Securing the Future with Quantum Computing and Cryptography  ·  TGS-2024043419</a:t>
            </a:r>
          </a:p>
        </p:txBody>
      </p:sp>
      <p:sp>
        <p:nvSpPr>
          <p:cNvPr id="13" name="TextBox 12"/>
          <p:cNvSpPr txBox="1"/>
          <p:nvPr/>
        </p:nvSpPr>
        <p:spPr>
          <a:xfrm>
            <a:off x="4572000" y="6446520"/>
            <a:ext cx="3017520" cy="320040"/>
          </a:xfrm>
          <a:prstGeom prst="rect">
            <a:avLst/>
          </a:prstGeom>
          <a:noFill/>
        </p:spPr>
        <p:txBody>
          <a:bodyPr wrap="square" anchor="t">
            <a:spAutoFit/>
          </a:bodyPr>
          <a:lstStyle/>
          <a:p>
            <a:pPr algn="ctr">
              <a:spcAft>
                <a:spcPts val="400"/>
              </a:spcAft>
            </a:pPr>
            <a:r>
              <a:rPr sz="900" b="0">
                <a:solidFill>
                  <a:srgbClr val="5B6372"/>
                </a:solidFill>
                <a:latin typeface="Arial"/>
              </a:rPr>
              <a:t>© 2026 Tertiary Infotech Academy Pte Ltd</a:t>
            </a:r>
          </a:p>
        </p:txBody>
      </p:sp>
      <p:sp>
        <p:nvSpPr>
          <p:cNvPr id="14" name="TextBox 13"/>
          <p:cNvSpPr txBox="1"/>
          <p:nvPr/>
        </p:nvSpPr>
        <p:spPr>
          <a:xfrm>
            <a:off x="11338560" y="6446520"/>
            <a:ext cx="548640" cy="320040"/>
          </a:xfrm>
          <a:prstGeom prst="rect">
            <a:avLst/>
          </a:prstGeom>
          <a:noFill/>
        </p:spPr>
        <p:txBody>
          <a:bodyPr wrap="square" anchor="t">
            <a:spAutoFit/>
          </a:bodyPr>
          <a:lstStyle/>
          <a:p>
            <a:pPr algn="r">
              <a:spcAft>
                <a:spcPts val="400"/>
              </a:spcAft>
            </a:pPr>
            <a:r>
              <a:rPr sz="900" b="0">
                <a:solidFill>
                  <a:srgbClr val="5B6372"/>
                </a:solidFill>
                <a:latin typeface="Arial"/>
              </a:rPr>
              <a:t>29</a:t>
            </a:r>
          </a:p>
        </p:txBody>
      </p:sp>
    </p:spTree>
  </p:cSld>
  <p:clrMapOvr>
    <a:masterClrMapping/>
  </p:clrMapOvr>
</p:sld>
</file>

<file path=ppt/slides/slide31.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256032" cy="1417320"/>
          </a:xfrm>
          <a:prstGeom prst="rect">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777240" y="457200"/>
            <a:ext cx="10607040" cy="365760"/>
          </a:xfrm>
          <a:prstGeom prst="rect">
            <a:avLst/>
          </a:prstGeom>
          <a:noFill/>
        </p:spPr>
        <p:txBody>
          <a:bodyPr wrap="square" anchor="t">
            <a:spAutoFit/>
          </a:bodyPr>
          <a:lstStyle/>
          <a:p>
            <a:pPr algn="l">
              <a:spcAft>
                <a:spcPts val="400"/>
              </a:spcAft>
            </a:pPr>
            <a:r>
              <a:rPr sz="1400" b="1">
                <a:solidFill>
                  <a:srgbClr val="1F6FEB"/>
                </a:solidFill>
                <a:latin typeface="Arial"/>
              </a:rPr>
              <a:t>THE CENTRAL PROPERTY</a:t>
            </a:r>
          </a:p>
        </p:txBody>
      </p:sp>
      <p:sp>
        <p:nvSpPr>
          <p:cNvPr id="5" name="TextBox 4"/>
          <p:cNvSpPr txBox="1"/>
          <p:nvPr/>
        </p:nvSpPr>
        <p:spPr>
          <a:xfrm>
            <a:off x="777240" y="822960"/>
            <a:ext cx="10881360" cy="822960"/>
          </a:xfrm>
          <a:prstGeom prst="rect">
            <a:avLst/>
          </a:prstGeom>
          <a:noFill/>
        </p:spPr>
        <p:txBody>
          <a:bodyPr wrap="square" anchor="t">
            <a:spAutoFit/>
          </a:bodyPr>
          <a:lstStyle/>
          <a:p>
            <a:pPr algn="l">
              <a:spcAft>
                <a:spcPts val="400"/>
              </a:spcAft>
            </a:pPr>
            <a:r>
              <a:rPr sz="2900" b="1">
                <a:solidFill>
                  <a:srgbClr val="161B26"/>
                </a:solidFill>
                <a:latin typeface="Arial"/>
              </a:rPr>
              <a:t>Property 3 — Unitary is reversible</a:t>
            </a:r>
          </a:p>
        </p:txBody>
      </p:sp>
      <p:sp>
        <p:nvSpPr>
          <p:cNvPr id="6" name="Rectangle 5"/>
          <p:cNvSpPr/>
          <p:nvPr/>
        </p:nvSpPr>
        <p:spPr>
          <a:xfrm>
            <a:off x="777240" y="1554480"/>
            <a:ext cx="10634472" cy="18288"/>
          </a:xfrm>
          <a:prstGeom prst="rect">
            <a:avLst/>
          </a:prstGeom>
          <a:solidFill>
            <a:srgbClr val="E2E8F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Rectangle 6"/>
          <p:cNvSpPr/>
          <p:nvPr/>
        </p:nvSpPr>
        <p:spPr>
          <a:xfrm>
            <a:off x="777240" y="1810512"/>
            <a:ext cx="10634472" cy="3214116"/>
          </a:xfrm>
          <a:prstGeom prst="rect">
            <a:avLst/>
          </a:prstGeom>
          <a:solidFill>
            <a:srgbClr val="0B122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TextBox 7"/>
          <p:cNvSpPr txBox="1"/>
          <p:nvPr/>
        </p:nvSpPr>
        <p:spPr>
          <a:xfrm>
            <a:off x="1097280" y="1956816"/>
            <a:ext cx="9994392" cy="2921508"/>
          </a:xfrm>
          <a:prstGeom prst="rect">
            <a:avLst/>
          </a:prstGeom>
          <a:noFill/>
        </p:spPr>
        <p:txBody>
          <a:bodyPr wrap="square" anchor="t">
            <a:spAutoFit/>
          </a:bodyPr>
          <a:lstStyle/>
          <a:p>
            <a:pPr algn="l">
              <a:spcAft>
                <a:spcPts val="300"/>
              </a:spcAft>
            </a:pPr>
            <a:r>
              <a:rPr sz="1500" b="0">
                <a:solidFill>
                  <a:srgbClr val="9CDCFE"/>
                </a:solidFill>
                <a:latin typeface="Arial"/>
              </a:rPr>
              <a:t>   U⁻¹ = U†  always EXISTS.</a:t>
            </a:r>
          </a:p>
          <a:p>
            <a:pPr algn="l">
              <a:spcAft>
                <a:spcPts val="300"/>
              </a:spcAft>
            </a:pPr>
            <a:r>
              <a:rPr sz="1500" b="0">
                <a:solidFill>
                  <a:srgbClr val="0B1220"/>
                </a:solidFill>
                <a:latin typeface="Arial"/>
              </a:rPr>
              <a:t> </a:t>
            </a:r>
          </a:p>
          <a:p>
            <a:pPr algn="l">
              <a:spcAft>
                <a:spcPts val="300"/>
              </a:spcAft>
            </a:pPr>
            <a:r>
              <a:rPr sz="1500" b="0">
                <a:solidFill>
                  <a:srgbClr val="9CDCFE"/>
                </a:solidFill>
                <a:latin typeface="Arial"/>
              </a:rPr>
              <a:t>So every quantum gate can be undone:   U†(U|ψ&gt;) = |ψ&gt;</a:t>
            </a:r>
          </a:p>
          <a:p>
            <a:pPr algn="l">
              <a:spcAft>
                <a:spcPts val="300"/>
              </a:spcAft>
            </a:pPr>
            <a:r>
              <a:rPr sz="1500" b="0">
                <a:solidFill>
                  <a:srgbClr val="0B1220"/>
                </a:solidFill>
                <a:latin typeface="Arial"/>
              </a:rPr>
              <a:t> </a:t>
            </a:r>
          </a:p>
          <a:p>
            <a:pPr algn="l">
              <a:spcAft>
                <a:spcPts val="300"/>
              </a:spcAft>
            </a:pPr>
            <a:r>
              <a:rPr sz="1500" b="0">
                <a:solidFill>
                  <a:srgbClr val="9CDCFE"/>
                </a:solidFill>
                <a:latin typeface="Arial"/>
              </a:rPr>
              <a:t>Consequences:</a:t>
            </a:r>
          </a:p>
          <a:p>
            <a:pPr algn="l">
              <a:spcAft>
                <a:spcPts val="300"/>
              </a:spcAft>
            </a:pPr>
            <a:r>
              <a:rPr sz="1500" b="0">
                <a:solidFill>
                  <a:srgbClr val="9CDCFE"/>
                </a:solidFill>
                <a:latin typeface="Arial"/>
              </a:rPr>
              <a:t>   • quantum circuits have equal input and output wire counts</a:t>
            </a:r>
          </a:p>
          <a:p>
            <a:pPr algn="l">
              <a:spcAft>
                <a:spcPts val="300"/>
              </a:spcAft>
            </a:pPr>
            <a:r>
              <a:rPr sz="1500" b="0">
                <a:solidFill>
                  <a:srgbClr val="9CDCFE"/>
                </a:solidFill>
                <a:latin typeface="Arial"/>
              </a:rPr>
              <a:t>   • no information is ever erased (no Landauer heat cost)</a:t>
            </a:r>
          </a:p>
          <a:p>
            <a:pPr algn="l">
              <a:spcAft>
                <a:spcPts val="300"/>
              </a:spcAft>
            </a:pPr>
            <a:r>
              <a:rPr sz="1500" b="0">
                <a:solidFill>
                  <a:srgbClr val="9CDCFE"/>
                </a:solidFill>
                <a:latin typeface="Arial"/>
              </a:rPr>
              <a:t>   • classical AND/OR are NOT valid gates — they lose a bit</a:t>
            </a:r>
          </a:p>
          <a:p>
            <a:pPr algn="l">
              <a:spcAft>
                <a:spcPts val="300"/>
              </a:spcAft>
            </a:pPr>
            <a:r>
              <a:rPr sz="1500" b="0">
                <a:solidFill>
                  <a:srgbClr val="9CDCFE"/>
                </a:solidFill>
                <a:latin typeface="Arial"/>
              </a:rPr>
              <a:t>   • classical logic must be made reversible first (Toffoli gate)</a:t>
            </a:r>
          </a:p>
        </p:txBody>
      </p:sp>
      <p:sp>
        <p:nvSpPr>
          <p:cNvPr id="9" name="Rectangle 8"/>
          <p:cNvSpPr/>
          <p:nvPr/>
        </p:nvSpPr>
        <p:spPr>
          <a:xfrm>
            <a:off x="777240" y="5225796"/>
            <a:ext cx="10634472" cy="827532"/>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Rectangle 9"/>
          <p:cNvSpPr/>
          <p:nvPr/>
        </p:nvSpPr>
        <p:spPr>
          <a:xfrm>
            <a:off x="777240" y="5225796"/>
            <a:ext cx="82296" cy="827532"/>
          </a:xfrm>
          <a:prstGeom prst="rect">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 name="TextBox 10"/>
          <p:cNvSpPr txBox="1"/>
          <p:nvPr/>
        </p:nvSpPr>
        <p:spPr>
          <a:xfrm>
            <a:off x="1097280" y="5225796"/>
            <a:ext cx="10149840" cy="827532"/>
          </a:xfrm>
          <a:prstGeom prst="rect">
            <a:avLst/>
          </a:prstGeom>
          <a:noFill/>
        </p:spPr>
        <p:txBody>
          <a:bodyPr wrap="square" anchor="ctr">
            <a:spAutoFit/>
          </a:bodyPr>
          <a:lstStyle/>
          <a:p>
            <a:pPr algn="l">
              <a:spcAft>
                <a:spcPts val="400"/>
              </a:spcAft>
            </a:pPr>
            <a:r>
              <a:rPr sz="1150" b="1">
                <a:solidFill>
                  <a:srgbClr val="10B981"/>
                </a:solidFill>
                <a:latin typeface="Arial"/>
              </a:rPr>
              <a:t>KEY POINT:  </a:t>
            </a:r>
            <a:r>
              <a:rPr sz="1300" b="0">
                <a:solidFill>
                  <a:srgbClr val="161B26"/>
                </a:solidFill>
                <a:latin typeface="Arial"/>
              </a:rPr>
              <a:t>Reversibility is a constraint on circuit design, not a convenience — you cannot 'discard' a qubit mid-computation without consequences.</a:t>
            </a:r>
          </a:p>
        </p:txBody>
      </p:sp>
      <p:sp>
        <p:nvSpPr>
          <p:cNvPr id="12" name="TextBox 11"/>
          <p:cNvSpPr txBox="1"/>
          <p:nvPr/>
        </p:nvSpPr>
        <p:spPr>
          <a:xfrm>
            <a:off x="365760" y="6446520"/>
            <a:ext cx="6858000" cy="320040"/>
          </a:xfrm>
          <a:prstGeom prst="rect">
            <a:avLst/>
          </a:prstGeom>
          <a:noFill/>
        </p:spPr>
        <p:txBody>
          <a:bodyPr wrap="square" anchor="t">
            <a:spAutoFit/>
          </a:bodyPr>
          <a:lstStyle/>
          <a:p>
            <a:pPr algn="l">
              <a:spcAft>
                <a:spcPts val="400"/>
              </a:spcAft>
            </a:pPr>
            <a:r>
              <a:rPr sz="900" b="0">
                <a:solidFill>
                  <a:srgbClr val="5B6372"/>
                </a:solidFill>
                <a:latin typeface="Arial"/>
              </a:rPr>
              <a:t>Securing the Future with Quantum Computing and Cryptography  ·  TGS-2024043419</a:t>
            </a:r>
          </a:p>
        </p:txBody>
      </p:sp>
      <p:sp>
        <p:nvSpPr>
          <p:cNvPr id="13" name="TextBox 12"/>
          <p:cNvSpPr txBox="1"/>
          <p:nvPr/>
        </p:nvSpPr>
        <p:spPr>
          <a:xfrm>
            <a:off x="4572000" y="6446520"/>
            <a:ext cx="3017520" cy="320040"/>
          </a:xfrm>
          <a:prstGeom prst="rect">
            <a:avLst/>
          </a:prstGeom>
          <a:noFill/>
        </p:spPr>
        <p:txBody>
          <a:bodyPr wrap="square" anchor="t">
            <a:spAutoFit/>
          </a:bodyPr>
          <a:lstStyle/>
          <a:p>
            <a:pPr algn="ctr">
              <a:spcAft>
                <a:spcPts val="400"/>
              </a:spcAft>
            </a:pPr>
            <a:r>
              <a:rPr sz="900" b="0">
                <a:solidFill>
                  <a:srgbClr val="5B6372"/>
                </a:solidFill>
                <a:latin typeface="Arial"/>
              </a:rPr>
              <a:t>© 2026 Tertiary Infotech Academy Pte Ltd</a:t>
            </a:r>
          </a:p>
        </p:txBody>
      </p:sp>
      <p:sp>
        <p:nvSpPr>
          <p:cNvPr id="14" name="TextBox 13"/>
          <p:cNvSpPr txBox="1"/>
          <p:nvPr/>
        </p:nvSpPr>
        <p:spPr>
          <a:xfrm>
            <a:off x="11338560" y="6446520"/>
            <a:ext cx="548640" cy="320040"/>
          </a:xfrm>
          <a:prstGeom prst="rect">
            <a:avLst/>
          </a:prstGeom>
          <a:noFill/>
        </p:spPr>
        <p:txBody>
          <a:bodyPr wrap="square" anchor="t">
            <a:spAutoFit/>
          </a:bodyPr>
          <a:lstStyle/>
          <a:p>
            <a:pPr algn="r">
              <a:spcAft>
                <a:spcPts val="400"/>
              </a:spcAft>
            </a:pPr>
            <a:r>
              <a:rPr sz="900" b="0">
                <a:solidFill>
                  <a:srgbClr val="5B6372"/>
                </a:solidFill>
                <a:latin typeface="Arial"/>
              </a:rPr>
              <a:t>30</a:t>
            </a:r>
          </a:p>
        </p:txBody>
      </p:sp>
    </p:spTree>
  </p:cSld>
  <p:clrMapOvr>
    <a:masterClrMapping/>
  </p:clrMapOvr>
</p:sld>
</file>

<file path=ppt/slides/slide32.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256032" cy="1417320"/>
          </a:xfrm>
          <a:prstGeom prst="rect">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777240" y="457200"/>
            <a:ext cx="10607040" cy="365760"/>
          </a:xfrm>
          <a:prstGeom prst="rect">
            <a:avLst/>
          </a:prstGeom>
          <a:noFill/>
        </p:spPr>
        <p:txBody>
          <a:bodyPr wrap="square" anchor="t">
            <a:spAutoFit/>
          </a:bodyPr>
          <a:lstStyle/>
          <a:p>
            <a:pPr algn="l">
              <a:spcAft>
                <a:spcPts val="400"/>
              </a:spcAft>
            </a:pPr>
            <a:r>
              <a:rPr sz="1400" b="1">
                <a:solidFill>
                  <a:srgbClr val="1F6FEB"/>
                </a:solidFill>
                <a:latin typeface="Arial"/>
              </a:rPr>
              <a:t>THE CENTRAL PROPERTY</a:t>
            </a:r>
          </a:p>
        </p:txBody>
      </p:sp>
      <p:sp>
        <p:nvSpPr>
          <p:cNvPr id="5" name="TextBox 4"/>
          <p:cNvSpPr txBox="1"/>
          <p:nvPr/>
        </p:nvSpPr>
        <p:spPr>
          <a:xfrm>
            <a:off x="777240" y="822960"/>
            <a:ext cx="10881360" cy="822960"/>
          </a:xfrm>
          <a:prstGeom prst="rect">
            <a:avLst/>
          </a:prstGeom>
          <a:noFill/>
        </p:spPr>
        <p:txBody>
          <a:bodyPr wrap="square" anchor="t">
            <a:spAutoFit/>
          </a:bodyPr>
          <a:lstStyle/>
          <a:p>
            <a:pPr algn="l">
              <a:spcAft>
                <a:spcPts val="400"/>
              </a:spcAft>
            </a:pPr>
            <a:r>
              <a:rPr sz="2900" b="1">
                <a:solidFill>
                  <a:srgbClr val="161B26"/>
                </a:solidFill>
                <a:latin typeface="Arial"/>
              </a:rPr>
              <a:t>Property 4 — Eigenvalues lie on the unit circle</a:t>
            </a:r>
          </a:p>
        </p:txBody>
      </p:sp>
      <p:sp>
        <p:nvSpPr>
          <p:cNvPr id="6" name="Rectangle 5"/>
          <p:cNvSpPr/>
          <p:nvPr/>
        </p:nvSpPr>
        <p:spPr>
          <a:xfrm>
            <a:off x="777240" y="1554480"/>
            <a:ext cx="10634472" cy="18288"/>
          </a:xfrm>
          <a:prstGeom prst="rect">
            <a:avLst/>
          </a:prstGeom>
          <a:solidFill>
            <a:srgbClr val="E2E8F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Rectangle 6"/>
          <p:cNvSpPr/>
          <p:nvPr/>
        </p:nvSpPr>
        <p:spPr>
          <a:xfrm>
            <a:off x="777240" y="1810512"/>
            <a:ext cx="10634472" cy="2907792"/>
          </a:xfrm>
          <a:prstGeom prst="rect">
            <a:avLst/>
          </a:prstGeom>
          <a:solidFill>
            <a:srgbClr val="0B122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TextBox 7"/>
          <p:cNvSpPr txBox="1"/>
          <p:nvPr/>
        </p:nvSpPr>
        <p:spPr>
          <a:xfrm>
            <a:off x="1097280" y="1956816"/>
            <a:ext cx="9994392" cy="2615184"/>
          </a:xfrm>
          <a:prstGeom prst="rect">
            <a:avLst/>
          </a:prstGeom>
          <a:noFill/>
        </p:spPr>
        <p:txBody>
          <a:bodyPr wrap="square" anchor="t">
            <a:spAutoFit/>
          </a:bodyPr>
          <a:lstStyle/>
          <a:p>
            <a:pPr algn="l">
              <a:spcAft>
                <a:spcPts val="300"/>
              </a:spcAft>
            </a:pPr>
            <a:r>
              <a:rPr sz="1500" b="0">
                <a:solidFill>
                  <a:srgbClr val="9CDCFE"/>
                </a:solidFill>
                <a:latin typeface="Arial"/>
              </a:rPr>
              <a:t>If U|v&gt; = λ|v&gt;, then norm preservation forces:</a:t>
            </a:r>
          </a:p>
          <a:p>
            <a:pPr algn="l">
              <a:spcAft>
                <a:spcPts val="300"/>
              </a:spcAft>
            </a:pPr>
            <a:r>
              <a:rPr sz="1500" b="0">
                <a:solidFill>
                  <a:srgbClr val="0B1220"/>
                </a:solidFill>
                <a:latin typeface="Arial"/>
              </a:rPr>
              <a:t> </a:t>
            </a:r>
          </a:p>
          <a:p>
            <a:pPr algn="l">
              <a:spcAft>
                <a:spcPts val="300"/>
              </a:spcAft>
            </a:pPr>
            <a:r>
              <a:rPr sz="1500" b="0">
                <a:solidFill>
                  <a:srgbClr val="9CDCFE"/>
                </a:solidFill>
                <a:latin typeface="Arial"/>
              </a:rPr>
              <a:t>   |λ|  =  1        so       λ  =  e^(iθ)   for some real θ</a:t>
            </a:r>
          </a:p>
          <a:p>
            <a:pPr algn="l">
              <a:spcAft>
                <a:spcPts val="300"/>
              </a:spcAft>
            </a:pPr>
            <a:r>
              <a:rPr sz="1500" b="0">
                <a:solidFill>
                  <a:srgbClr val="0B1220"/>
                </a:solidFill>
                <a:latin typeface="Arial"/>
              </a:rPr>
              <a:t> </a:t>
            </a:r>
          </a:p>
          <a:p>
            <a:pPr algn="l">
              <a:spcAft>
                <a:spcPts val="300"/>
              </a:spcAft>
            </a:pPr>
            <a:r>
              <a:rPr sz="1500" b="0">
                <a:solidFill>
                  <a:srgbClr val="9CDCFE"/>
                </a:solidFill>
                <a:latin typeface="Arial"/>
              </a:rPr>
              <a:t>Unitary operators can only apply PHASES to their eigenvectors —</a:t>
            </a:r>
          </a:p>
          <a:p>
            <a:pPr algn="l">
              <a:spcAft>
                <a:spcPts val="300"/>
              </a:spcAft>
            </a:pPr>
            <a:r>
              <a:rPr sz="1500" b="0">
                <a:solidFill>
                  <a:srgbClr val="9CDCFE"/>
                </a:solidFill>
                <a:latin typeface="Arial"/>
              </a:rPr>
              <a:t>never amplify or damp them.</a:t>
            </a:r>
          </a:p>
          <a:p>
            <a:pPr algn="l">
              <a:spcAft>
                <a:spcPts val="300"/>
              </a:spcAft>
            </a:pPr>
            <a:r>
              <a:rPr sz="1500" b="0">
                <a:solidFill>
                  <a:srgbClr val="0B1220"/>
                </a:solidFill>
                <a:latin typeface="Arial"/>
              </a:rPr>
              <a:t> </a:t>
            </a:r>
          </a:p>
          <a:p>
            <a:pPr algn="l">
              <a:spcAft>
                <a:spcPts val="300"/>
              </a:spcAft>
            </a:pPr>
            <a:r>
              <a:rPr sz="1500" b="0">
                <a:solidFill>
                  <a:srgbClr val="9CDCFE"/>
                </a:solidFill>
                <a:latin typeface="Arial"/>
              </a:rPr>
              <a:t>This fact is the entire basis of QUANTUM PHASE ESTIMATION.</a:t>
            </a:r>
          </a:p>
        </p:txBody>
      </p:sp>
      <p:sp>
        <p:nvSpPr>
          <p:cNvPr id="9" name="Rectangle 8"/>
          <p:cNvSpPr/>
          <p:nvPr/>
        </p:nvSpPr>
        <p:spPr>
          <a:xfrm>
            <a:off x="777240" y="4919472"/>
            <a:ext cx="10634472" cy="1133856"/>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Rectangle 9"/>
          <p:cNvSpPr/>
          <p:nvPr/>
        </p:nvSpPr>
        <p:spPr>
          <a:xfrm>
            <a:off x="777240" y="4919472"/>
            <a:ext cx="82296" cy="1133856"/>
          </a:xfrm>
          <a:prstGeom prst="rect">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 name="TextBox 10"/>
          <p:cNvSpPr txBox="1"/>
          <p:nvPr/>
        </p:nvSpPr>
        <p:spPr>
          <a:xfrm>
            <a:off x="1097280" y="4919472"/>
            <a:ext cx="10149840" cy="1133856"/>
          </a:xfrm>
          <a:prstGeom prst="rect">
            <a:avLst/>
          </a:prstGeom>
          <a:noFill/>
        </p:spPr>
        <p:txBody>
          <a:bodyPr wrap="square" anchor="ctr">
            <a:spAutoFit/>
          </a:bodyPr>
          <a:lstStyle/>
          <a:p>
            <a:pPr algn="l">
              <a:spcAft>
                <a:spcPts val="400"/>
              </a:spcAft>
            </a:pPr>
            <a:r>
              <a:rPr sz="1150" b="1">
                <a:solidFill>
                  <a:srgbClr val="10B981"/>
                </a:solidFill>
                <a:latin typeface="Arial"/>
              </a:rPr>
              <a:t>KEY POINT:  </a:t>
            </a:r>
            <a:r>
              <a:rPr sz="1300" b="0">
                <a:solidFill>
                  <a:srgbClr val="161B26"/>
                </a:solidFill>
                <a:latin typeface="Arial"/>
              </a:rPr>
              <a:t>Phase estimation exists precisely because unitary eigenvalues are pure phases: estimating λ reduces to estimating the single real number θ.</a:t>
            </a:r>
          </a:p>
        </p:txBody>
      </p:sp>
      <p:sp>
        <p:nvSpPr>
          <p:cNvPr id="12" name="TextBox 11"/>
          <p:cNvSpPr txBox="1"/>
          <p:nvPr/>
        </p:nvSpPr>
        <p:spPr>
          <a:xfrm>
            <a:off x="365760" y="6446520"/>
            <a:ext cx="6858000" cy="320040"/>
          </a:xfrm>
          <a:prstGeom prst="rect">
            <a:avLst/>
          </a:prstGeom>
          <a:noFill/>
        </p:spPr>
        <p:txBody>
          <a:bodyPr wrap="square" anchor="t">
            <a:spAutoFit/>
          </a:bodyPr>
          <a:lstStyle/>
          <a:p>
            <a:pPr algn="l">
              <a:spcAft>
                <a:spcPts val="400"/>
              </a:spcAft>
            </a:pPr>
            <a:r>
              <a:rPr sz="900" b="0">
                <a:solidFill>
                  <a:srgbClr val="5B6372"/>
                </a:solidFill>
                <a:latin typeface="Arial"/>
              </a:rPr>
              <a:t>Securing the Future with Quantum Computing and Cryptography  ·  TGS-2024043419</a:t>
            </a:r>
          </a:p>
        </p:txBody>
      </p:sp>
      <p:sp>
        <p:nvSpPr>
          <p:cNvPr id="13" name="TextBox 12"/>
          <p:cNvSpPr txBox="1"/>
          <p:nvPr/>
        </p:nvSpPr>
        <p:spPr>
          <a:xfrm>
            <a:off x="4572000" y="6446520"/>
            <a:ext cx="3017520" cy="320040"/>
          </a:xfrm>
          <a:prstGeom prst="rect">
            <a:avLst/>
          </a:prstGeom>
          <a:noFill/>
        </p:spPr>
        <p:txBody>
          <a:bodyPr wrap="square" anchor="t">
            <a:spAutoFit/>
          </a:bodyPr>
          <a:lstStyle/>
          <a:p>
            <a:pPr algn="ctr">
              <a:spcAft>
                <a:spcPts val="400"/>
              </a:spcAft>
            </a:pPr>
            <a:r>
              <a:rPr sz="900" b="0">
                <a:solidFill>
                  <a:srgbClr val="5B6372"/>
                </a:solidFill>
                <a:latin typeface="Arial"/>
              </a:rPr>
              <a:t>© 2026 Tertiary Infotech Academy Pte Ltd</a:t>
            </a:r>
          </a:p>
        </p:txBody>
      </p:sp>
      <p:sp>
        <p:nvSpPr>
          <p:cNvPr id="14" name="TextBox 13"/>
          <p:cNvSpPr txBox="1"/>
          <p:nvPr/>
        </p:nvSpPr>
        <p:spPr>
          <a:xfrm>
            <a:off x="11338560" y="6446520"/>
            <a:ext cx="548640" cy="320040"/>
          </a:xfrm>
          <a:prstGeom prst="rect">
            <a:avLst/>
          </a:prstGeom>
          <a:noFill/>
        </p:spPr>
        <p:txBody>
          <a:bodyPr wrap="square" anchor="t">
            <a:spAutoFit/>
          </a:bodyPr>
          <a:lstStyle/>
          <a:p>
            <a:pPr algn="r">
              <a:spcAft>
                <a:spcPts val="400"/>
              </a:spcAft>
            </a:pPr>
            <a:r>
              <a:rPr sz="900" b="0">
                <a:solidFill>
                  <a:srgbClr val="5B6372"/>
                </a:solidFill>
                <a:latin typeface="Arial"/>
              </a:rPr>
              <a:t>31</a:t>
            </a:r>
          </a:p>
        </p:txBody>
      </p:sp>
    </p:spTree>
  </p:cSld>
  <p:clrMapOvr>
    <a:masterClrMapping/>
  </p:clrMapOvr>
</p:sld>
</file>

<file path=ppt/slides/slide33.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256032" cy="1417320"/>
          </a:xfrm>
          <a:prstGeom prst="rect">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777240" y="457200"/>
            <a:ext cx="10607040" cy="365760"/>
          </a:xfrm>
          <a:prstGeom prst="rect">
            <a:avLst/>
          </a:prstGeom>
          <a:noFill/>
        </p:spPr>
        <p:txBody>
          <a:bodyPr wrap="square" anchor="t">
            <a:spAutoFit/>
          </a:bodyPr>
          <a:lstStyle/>
          <a:p>
            <a:pPr algn="l">
              <a:spcAft>
                <a:spcPts val="400"/>
              </a:spcAft>
            </a:pPr>
            <a:r>
              <a:rPr sz="1400" b="1">
                <a:solidFill>
                  <a:srgbClr val="1F6FEB"/>
                </a:solidFill>
                <a:latin typeface="Arial"/>
              </a:rPr>
              <a:t>THE CENTRAL PROPERTY</a:t>
            </a:r>
          </a:p>
        </p:txBody>
      </p:sp>
      <p:sp>
        <p:nvSpPr>
          <p:cNvPr id="5" name="TextBox 4"/>
          <p:cNvSpPr txBox="1"/>
          <p:nvPr/>
        </p:nvSpPr>
        <p:spPr>
          <a:xfrm>
            <a:off x="777240" y="822960"/>
            <a:ext cx="10881360" cy="822960"/>
          </a:xfrm>
          <a:prstGeom prst="rect">
            <a:avLst/>
          </a:prstGeom>
          <a:noFill/>
        </p:spPr>
        <p:txBody>
          <a:bodyPr wrap="square" anchor="t">
            <a:spAutoFit/>
          </a:bodyPr>
          <a:lstStyle/>
          <a:p>
            <a:pPr algn="l">
              <a:spcAft>
                <a:spcPts val="400"/>
              </a:spcAft>
            </a:pPr>
            <a:r>
              <a:rPr sz="2900" b="1">
                <a:solidFill>
                  <a:srgbClr val="161B26"/>
                </a:solidFill>
                <a:latin typeface="Arial"/>
              </a:rPr>
              <a:t>Unitary vs Hermitian — do not confuse them</a:t>
            </a:r>
          </a:p>
        </p:txBody>
      </p:sp>
      <p:sp>
        <p:nvSpPr>
          <p:cNvPr id="6" name="Rectangle 5"/>
          <p:cNvSpPr/>
          <p:nvPr/>
        </p:nvSpPr>
        <p:spPr>
          <a:xfrm>
            <a:off x="777240" y="1554480"/>
            <a:ext cx="10634472" cy="18288"/>
          </a:xfrm>
          <a:prstGeom prst="rect">
            <a:avLst/>
          </a:prstGeom>
          <a:solidFill>
            <a:srgbClr val="E2E8F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Rectangle 6"/>
          <p:cNvSpPr/>
          <p:nvPr/>
        </p:nvSpPr>
        <p:spPr>
          <a:xfrm>
            <a:off x="777240" y="1810512"/>
            <a:ext cx="10634472" cy="3520440"/>
          </a:xfrm>
          <a:prstGeom prst="rect">
            <a:avLst/>
          </a:prstGeom>
          <a:solidFill>
            <a:srgbClr val="0B122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TextBox 7"/>
          <p:cNvSpPr txBox="1"/>
          <p:nvPr/>
        </p:nvSpPr>
        <p:spPr>
          <a:xfrm>
            <a:off x="1097280" y="1956816"/>
            <a:ext cx="9994392" cy="3227832"/>
          </a:xfrm>
          <a:prstGeom prst="rect">
            <a:avLst/>
          </a:prstGeom>
          <a:noFill/>
        </p:spPr>
        <p:txBody>
          <a:bodyPr wrap="square" anchor="t">
            <a:spAutoFit/>
          </a:bodyPr>
          <a:lstStyle/>
          <a:p>
            <a:pPr algn="l">
              <a:spcAft>
                <a:spcPts val="300"/>
              </a:spcAft>
            </a:pPr>
            <a:r>
              <a:rPr sz="1320" b="0">
                <a:solidFill>
                  <a:srgbClr val="9CDCFE"/>
                </a:solidFill>
                <a:latin typeface="Arial"/>
              </a:rPr>
              <a:t>   UNITARY    U†U = I        describes EVOLUTION (gates)</a:t>
            </a:r>
          </a:p>
          <a:p>
            <a:pPr algn="l">
              <a:spcAft>
                <a:spcPts val="300"/>
              </a:spcAft>
            </a:pPr>
            <a:r>
              <a:rPr sz="1320" b="0">
                <a:solidFill>
                  <a:srgbClr val="9CDCFE"/>
                </a:solidFill>
                <a:latin typeface="Arial"/>
              </a:rPr>
              <a:t>                             eigenvalues on the unit circle, e^(iθ)</a:t>
            </a:r>
          </a:p>
          <a:p>
            <a:pPr algn="l">
              <a:spcAft>
                <a:spcPts val="300"/>
              </a:spcAft>
            </a:pPr>
            <a:r>
              <a:rPr sz="1320" b="0">
                <a:solidFill>
                  <a:srgbClr val="0B1220"/>
                </a:solidFill>
                <a:latin typeface="Arial"/>
              </a:rPr>
              <a:t> </a:t>
            </a:r>
          </a:p>
          <a:p>
            <a:pPr algn="l">
              <a:spcAft>
                <a:spcPts val="300"/>
              </a:spcAft>
            </a:pPr>
            <a:r>
              <a:rPr sz="1320" b="0">
                <a:solidFill>
                  <a:srgbClr val="9CDCFE"/>
                </a:solidFill>
                <a:latin typeface="Arial"/>
              </a:rPr>
              <a:t>   HERMITIAN  A† = A         describes OBSERVABLES (measurements)</a:t>
            </a:r>
          </a:p>
          <a:p>
            <a:pPr algn="l">
              <a:spcAft>
                <a:spcPts val="300"/>
              </a:spcAft>
            </a:pPr>
            <a:r>
              <a:rPr sz="1320" b="0">
                <a:solidFill>
                  <a:srgbClr val="9CDCFE"/>
                </a:solidFill>
                <a:latin typeface="Arial"/>
              </a:rPr>
              <a:t>                             eigenvalues REAL</a:t>
            </a:r>
          </a:p>
          <a:p>
            <a:pPr algn="l">
              <a:spcAft>
                <a:spcPts val="300"/>
              </a:spcAft>
            </a:pPr>
            <a:r>
              <a:rPr sz="1320" b="0">
                <a:solidFill>
                  <a:srgbClr val="0B1220"/>
                </a:solidFill>
                <a:latin typeface="Arial"/>
              </a:rPr>
              <a:t> </a:t>
            </a:r>
          </a:p>
          <a:p>
            <a:pPr algn="l">
              <a:spcAft>
                <a:spcPts val="300"/>
              </a:spcAft>
            </a:pPr>
            <a:r>
              <a:rPr sz="1320" b="0">
                <a:solidFill>
                  <a:srgbClr val="9CDCFE"/>
                </a:solidFill>
                <a:latin typeface="Arial"/>
              </a:rPr>
              <a:t>The Pauli gates X, Y, Z are BOTH — which is why they serve as gates</a:t>
            </a:r>
          </a:p>
          <a:p>
            <a:pPr algn="l">
              <a:spcAft>
                <a:spcPts val="300"/>
              </a:spcAft>
            </a:pPr>
            <a:r>
              <a:rPr sz="1320" b="0">
                <a:solidFill>
                  <a:srgbClr val="9CDCFE"/>
                </a:solidFill>
                <a:latin typeface="Arial"/>
              </a:rPr>
              <a:t>and as measurement observables. H is also both.</a:t>
            </a:r>
          </a:p>
          <a:p>
            <a:pPr algn="l">
              <a:spcAft>
                <a:spcPts val="300"/>
              </a:spcAft>
            </a:pPr>
            <a:r>
              <a:rPr sz="1320" b="0">
                <a:solidFill>
                  <a:srgbClr val="0B1220"/>
                </a:solidFill>
                <a:latin typeface="Arial"/>
              </a:rPr>
              <a:t> </a:t>
            </a:r>
          </a:p>
          <a:p>
            <a:pPr algn="l">
              <a:spcAft>
                <a:spcPts val="300"/>
              </a:spcAft>
            </a:pPr>
            <a:r>
              <a:rPr sz="1320" b="0">
                <a:solidFill>
                  <a:srgbClr val="9CDCFE"/>
                </a:solidFill>
                <a:latin typeface="Arial"/>
              </a:rPr>
              <a:t>Link:   A Hermitian  =&gt;  U = e^(iA) is unitary.</a:t>
            </a:r>
          </a:p>
        </p:txBody>
      </p:sp>
      <p:sp>
        <p:nvSpPr>
          <p:cNvPr id="9" name="Rectangle 8"/>
          <p:cNvSpPr/>
          <p:nvPr/>
        </p:nvSpPr>
        <p:spPr>
          <a:xfrm>
            <a:off x="777240" y="5532120"/>
            <a:ext cx="10634472" cy="521208"/>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Rectangle 9"/>
          <p:cNvSpPr/>
          <p:nvPr/>
        </p:nvSpPr>
        <p:spPr>
          <a:xfrm>
            <a:off x="777240" y="5532120"/>
            <a:ext cx="82296" cy="521208"/>
          </a:xfrm>
          <a:prstGeom prst="rect">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 name="TextBox 10"/>
          <p:cNvSpPr txBox="1"/>
          <p:nvPr/>
        </p:nvSpPr>
        <p:spPr>
          <a:xfrm>
            <a:off x="1097280" y="5532120"/>
            <a:ext cx="10149840" cy="521208"/>
          </a:xfrm>
          <a:prstGeom prst="rect">
            <a:avLst/>
          </a:prstGeom>
          <a:noFill/>
        </p:spPr>
        <p:txBody>
          <a:bodyPr wrap="square" anchor="ctr">
            <a:spAutoFit/>
          </a:bodyPr>
          <a:lstStyle/>
          <a:p>
            <a:pPr algn="l">
              <a:spcAft>
                <a:spcPts val="400"/>
              </a:spcAft>
            </a:pPr>
            <a:r>
              <a:rPr sz="1150" b="1">
                <a:solidFill>
                  <a:srgbClr val="10B981"/>
                </a:solidFill>
                <a:latin typeface="Arial"/>
              </a:rPr>
              <a:t>KEY POINT:  </a:t>
            </a:r>
            <a:r>
              <a:rPr sz="1300" b="0">
                <a:solidFill>
                  <a:srgbClr val="161B26"/>
                </a:solidFill>
                <a:latin typeface="Arial"/>
              </a:rPr>
              <a:t>A common exam question. Unitary = evolution; Hermitian = observable; the Paulis happen to be both.</a:t>
            </a:r>
          </a:p>
        </p:txBody>
      </p:sp>
      <p:sp>
        <p:nvSpPr>
          <p:cNvPr id="12" name="TextBox 11"/>
          <p:cNvSpPr txBox="1"/>
          <p:nvPr/>
        </p:nvSpPr>
        <p:spPr>
          <a:xfrm>
            <a:off x="365760" y="6446520"/>
            <a:ext cx="6858000" cy="320040"/>
          </a:xfrm>
          <a:prstGeom prst="rect">
            <a:avLst/>
          </a:prstGeom>
          <a:noFill/>
        </p:spPr>
        <p:txBody>
          <a:bodyPr wrap="square" anchor="t">
            <a:spAutoFit/>
          </a:bodyPr>
          <a:lstStyle/>
          <a:p>
            <a:pPr algn="l">
              <a:spcAft>
                <a:spcPts val="400"/>
              </a:spcAft>
            </a:pPr>
            <a:r>
              <a:rPr sz="900" b="0">
                <a:solidFill>
                  <a:srgbClr val="5B6372"/>
                </a:solidFill>
                <a:latin typeface="Arial"/>
              </a:rPr>
              <a:t>Securing the Future with Quantum Computing and Cryptography  ·  TGS-2024043419</a:t>
            </a:r>
          </a:p>
        </p:txBody>
      </p:sp>
      <p:sp>
        <p:nvSpPr>
          <p:cNvPr id="13" name="TextBox 12"/>
          <p:cNvSpPr txBox="1"/>
          <p:nvPr/>
        </p:nvSpPr>
        <p:spPr>
          <a:xfrm>
            <a:off x="4572000" y="6446520"/>
            <a:ext cx="3017520" cy="320040"/>
          </a:xfrm>
          <a:prstGeom prst="rect">
            <a:avLst/>
          </a:prstGeom>
          <a:noFill/>
        </p:spPr>
        <p:txBody>
          <a:bodyPr wrap="square" anchor="t">
            <a:spAutoFit/>
          </a:bodyPr>
          <a:lstStyle/>
          <a:p>
            <a:pPr algn="ctr">
              <a:spcAft>
                <a:spcPts val="400"/>
              </a:spcAft>
            </a:pPr>
            <a:r>
              <a:rPr sz="900" b="0">
                <a:solidFill>
                  <a:srgbClr val="5B6372"/>
                </a:solidFill>
                <a:latin typeface="Arial"/>
              </a:rPr>
              <a:t>© 2026 Tertiary Infotech Academy Pte Ltd</a:t>
            </a:r>
          </a:p>
        </p:txBody>
      </p:sp>
      <p:sp>
        <p:nvSpPr>
          <p:cNvPr id="14" name="TextBox 13"/>
          <p:cNvSpPr txBox="1"/>
          <p:nvPr/>
        </p:nvSpPr>
        <p:spPr>
          <a:xfrm>
            <a:off x="11338560" y="6446520"/>
            <a:ext cx="548640" cy="320040"/>
          </a:xfrm>
          <a:prstGeom prst="rect">
            <a:avLst/>
          </a:prstGeom>
          <a:noFill/>
        </p:spPr>
        <p:txBody>
          <a:bodyPr wrap="square" anchor="t">
            <a:spAutoFit/>
          </a:bodyPr>
          <a:lstStyle/>
          <a:p>
            <a:pPr algn="r">
              <a:spcAft>
                <a:spcPts val="400"/>
              </a:spcAft>
            </a:pPr>
            <a:r>
              <a:rPr sz="900" b="0">
                <a:solidFill>
                  <a:srgbClr val="5B6372"/>
                </a:solidFill>
                <a:latin typeface="Arial"/>
              </a:rPr>
              <a:t>32</a:t>
            </a:r>
          </a:p>
        </p:txBody>
      </p:sp>
    </p:spTree>
  </p:cSld>
  <p:clrMapOvr>
    <a:masterClrMapping/>
  </p:clrMapOvr>
</p:sld>
</file>

<file path=ppt/slides/slide34.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256032" cy="1417320"/>
          </a:xfrm>
          <a:prstGeom prst="rect">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777240" y="457200"/>
            <a:ext cx="10607040" cy="365760"/>
          </a:xfrm>
          <a:prstGeom prst="rect">
            <a:avLst/>
          </a:prstGeom>
          <a:noFill/>
        </p:spPr>
        <p:txBody>
          <a:bodyPr wrap="square" anchor="t">
            <a:spAutoFit/>
          </a:bodyPr>
          <a:lstStyle/>
          <a:p>
            <a:pPr algn="l">
              <a:spcAft>
                <a:spcPts val="400"/>
              </a:spcAft>
            </a:pPr>
            <a:r>
              <a:rPr sz="1400" b="1">
                <a:solidFill>
                  <a:srgbClr val="1F6FEB"/>
                </a:solidFill>
                <a:latin typeface="Arial"/>
              </a:rPr>
              <a:t>BEYOND PURE STATES</a:t>
            </a:r>
          </a:p>
        </p:txBody>
      </p:sp>
      <p:sp>
        <p:nvSpPr>
          <p:cNvPr id="5" name="TextBox 4"/>
          <p:cNvSpPr txBox="1"/>
          <p:nvPr/>
        </p:nvSpPr>
        <p:spPr>
          <a:xfrm>
            <a:off x="777240" y="822960"/>
            <a:ext cx="10881360" cy="822960"/>
          </a:xfrm>
          <a:prstGeom prst="rect">
            <a:avLst/>
          </a:prstGeom>
          <a:noFill/>
        </p:spPr>
        <p:txBody>
          <a:bodyPr wrap="square" anchor="t">
            <a:spAutoFit/>
          </a:bodyPr>
          <a:lstStyle/>
          <a:p>
            <a:pPr algn="l">
              <a:spcAft>
                <a:spcPts val="400"/>
              </a:spcAft>
            </a:pPr>
            <a:r>
              <a:rPr sz="2900" b="1">
                <a:solidFill>
                  <a:srgbClr val="161B26"/>
                </a:solidFill>
                <a:latin typeface="Arial"/>
              </a:rPr>
              <a:t>Why state vectors are not enough</a:t>
            </a:r>
          </a:p>
        </p:txBody>
      </p:sp>
      <p:sp>
        <p:nvSpPr>
          <p:cNvPr id="6" name="Rectangle 5"/>
          <p:cNvSpPr/>
          <p:nvPr/>
        </p:nvSpPr>
        <p:spPr>
          <a:xfrm>
            <a:off x="777240" y="1554480"/>
            <a:ext cx="10634472" cy="18288"/>
          </a:xfrm>
          <a:prstGeom prst="rect">
            <a:avLst/>
          </a:prstGeom>
          <a:solidFill>
            <a:srgbClr val="E2E8F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Rectangle 6"/>
          <p:cNvSpPr/>
          <p:nvPr/>
        </p:nvSpPr>
        <p:spPr>
          <a:xfrm>
            <a:off x="777240" y="1810512"/>
            <a:ext cx="10634472" cy="2907792"/>
          </a:xfrm>
          <a:prstGeom prst="rect">
            <a:avLst/>
          </a:prstGeom>
          <a:solidFill>
            <a:srgbClr val="0B122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TextBox 7"/>
          <p:cNvSpPr txBox="1"/>
          <p:nvPr/>
        </p:nvSpPr>
        <p:spPr>
          <a:xfrm>
            <a:off x="1097280" y="1956816"/>
            <a:ext cx="9994392" cy="2615184"/>
          </a:xfrm>
          <a:prstGeom prst="rect">
            <a:avLst/>
          </a:prstGeom>
          <a:noFill/>
        </p:spPr>
        <p:txBody>
          <a:bodyPr wrap="square" anchor="t">
            <a:spAutoFit/>
          </a:bodyPr>
          <a:lstStyle/>
          <a:p>
            <a:pPr algn="l">
              <a:spcAft>
                <a:spcPts val="300"/>
              </a:spcAft>
            </a:pPr>
            <a:r>
              <a:rPr sz="1500" b="0">
                <a:solidFill>
                  <a:srgbClr val="9CDCFE"/>
                </a:solidFill>
                <a:latin typeface="Arial"/>
              </a:rPr>
              <a:t>A ket |ψ&gt; describes a PURE state — full knowledge of the system.</a:t>
            </a:r>
          </a:p>
          <a:p>
            <a:pPr algn="l">
              <a:spcAft>
                <a:spcPts val="300"/>
              </a:spcAft>
            </a:pPr>
            <a:r>
              <a:rPr sz="1500" b="0">
                <a:solidFill>
                  <a:srgbClr val="0B1220"/>
                </a:solidFill>
                <a:latin typeface="Arial"/>
              </a:rPr>
              <a:t> </a:t>
            </a:r>
          </a:p>
          <a:p>
            <a:pPr algn="l">
              <a:spcAft>
                <a:spcPts val="300"/>
              </a:spcAft>
            </a:pPr>
            <a:r>
              <a:rPr sz="1500" b="0">
                <a:solidFill>
                  <a:srgbClr val="9CDCFE"/>
                </a:solidFill>
                <a:latin typeface="Arial"/>
              </a:rPr>
              <a:t>But real systems are often:</a:t>
            </a:r>
          </a:p>
          <a:p>
            <a:pPr algn="l">
              <a:spcAft>
                <a:spcPts val="300"/>
              </a:spcAft>
            </a:pPr>
            <a:r>
              <a:rPr sz="1500" b="0">
                <a:solidFill>
                  <a:srgbClr val="9CDCFE"/>
                </a:solidFill>
                <a:latin typeface="Arial"/>
              </a:rPr>
              <a:t>   • statistical mixtures (the source emits |0&gt; or |1&gt; at random)</a:t>
            </a:r>
          </a:p>
          <a:p>
            <a:pPr algn="l">
              <a:spcAft>
                <a:spcPts val="300"/>
              </a:spcAft>
            </a:pPr>
            <a:r>
              <a:rPr sz="1500" b="0">
                <a:solidFill>
                  <a:srgbClr val="9CDCFE"/>
                </a:solidFill>
                <a:latin typeface="Arial"/>
              </a:rPr>
              <a:t>   • entangled with an environment we cannot access</a:t>
            </a:r>
          </a:p>
          <a:p>
            <a:pPr algn="l">
              <a:spcAft>
                <a:spcPts val="300"/>
              </a:spcAft>
            </a:pPr>
            <a:r>
              <a:rPr sz="1500" b="0">
                <a:solidFill>
                  <a:srgbClr val="9CDCFE"/>
                </a:solidFill>
                <a:latin typeface="Arial"/>
              </a:rPr>
              <a:t>   • one half of an entangled pair</a:t>
            </a:r>
          </a:p>
          <a:p>
            <a:pPr algn="l">
              <a:spcAft>
                <a:spcPts val="300"/>
              </a:spcAft>
            </a:pPr>
            <a:r>
              <a:rPr sz="1500" b="0">
                <a:solidFill>
                  <a:srgbClr val="0B1220"/>
                </a:solidFill>
                <a:latin typeface="Arial"/>
              </a:rPr>
              <a:t> </a:t>
            </a:r>
          </a:p>
          <a:p>
            <a:pPr algn="l">
              <a:spcAft>
                <a:spcPts val="300"/>
              </a:spcAft>
            </a:pPr>
            <a:r>
              <a:rPr sz="1500" b="0">
                <a:solidFill>
                  <a:srgbClr val="9CDCFE"/>
                </a:solidFill>
                <a:latin typeface="Arial"/>
              </a:rPr>
              <a:t>None of these can be written as a single ket.</a:t>
            </a:r>
          </a:p>
        </p:txBody>
      </p:sp>
      <p:sp>
        <p:nvSpPr>
          <p:cNvPr id="9" name="Rectangle 8"/>
          <p:cNvSpPr/>
          <p:nvPr/>
        </p:nvSpPr>
        <p:spPr>
          <a:xfrm>
            <a:off x="777240" y="4919472"/>
            <a:ext cx="10634472" cy="1133856"/>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Rectangle 9"/>
          <p:cNvSpPr/>
          <p:nvPr/>
        </p:nvSpPr>
        <p:spPr>
          <a:xfrm>
            <a:off x="777240" y="4919472"/>
            <a:ext cx="82296" cy="1133856"/>
          </a:xfrm>
          <a:prstGeom prst="rect">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 name="TextBox 10"/>
          <p:cNvSpPr txBox="1"/>
          <p:nvPr/>
        </p:nvSpPr>
        <p:spPr>
          <a:xfrm>
            <a:off x="1097280" y="4919472"/>
            <a:ext cx="10149840" cy="1133856"/>
          </a:xfrm>
          <a:prstGeom prst="rect">
            <a:avLst/>
          </a:prstGeom>
          <a:noFill/>
        </p:spPr>
        <p:txBody>
          <a:bodyPr wrap="square" anchor="ctr">
            <a:spAutoFit/>
          </a:bodyPr>
          <a:lstStyle/>
          <a:p>
            <a:pPr algn="l">
              <a:spcAft>
                <a:spcPts val="400"/>
              </a:spcAft>
            </a:pPr>
            <a:r>
              <a:rPr sz="1150" b="1">
                <a:solidFill>
                  <a:srgbClr val="10B981"/>
                </a:solidFill>
                <a:latin typeface="Arial"/>
              </a:rPr>
              <a:t>KEY POINT:  </a:t>
            </a:r>
            <a:r>
              <a:rPr sz="1300" b="0">
                <a:solidFill>
                  <a:srgbClr val="161B26"/>
                </a:solidFill>
                <a:latin typeface="Arial"/>
              </a:rPr>
              <a:t>You need the density matrix as soon as you discuss noise, decoherence or subsystems — which is to say, any real device.</a:t>
            </a:r>
          </a:p>
        </p:txBody>
      </p:sp>
      <p:sp>
        <p:nvSpPr>
          <p:cNvPr id="12" name="TextBox 11"/>
          <p:cNvSpPr txBox="1"/>
          <p:nvPr/>
        </p:nvSpPr>
        <p:spPr>
          <a:xfrm>
            <a:off x="365760" y="6446520"/>
            <a:ext cx="6858000" cy="320040"/>
          </a:xfrm>
          <a:prstGeom prst="rect">
            <a:avLst/>
          </a:prstGeom>
          <a:noFill/>
        </p:spPr>
        <p:txBody>
          <a:bodyPr wrap="square" anchor="t">
            <a:spAutoFit/>
          </a:bodyPr>
          <a:lstStyle/>
          <a:p>
            <a:pPr algn="l">
              <a:spcAft>
                <a:spcPts val="400"/>
              </a:spcAft>
            </a:pPr>
            <a:r>
              <a:rPr sz="900" b="0">
                <a:solidFill>
                  <a:srgbClr val="5B6372"/>
                </a:solidFill>
                <a:latin typeface="Arial"/>
              </a:rPr>
              <a:t>Securing the Future with Quantum Computing and Cryptography  ·  TGS-2024043419</a:t>
            </a:r>
          </a:p>
        </p:txBody>
      </p:sp>
      <p:sp>
        <p:nvSpPr>
          <p:cNvPr id="13" name="TextBox 12"/>
          <p:cNvSpPr txBox="1"/>
          <p:nvPr/>
        </p:nvSpPr>
        <p:spPr>
          <a:xfrm>
            <a:off x="4572000" y="6446520"/>
            <a:ext cx="3017520" cy="320040"/>
          </a:xfrm>
          <a:prstGeom prst="rect">
            <a:avLst/>
          </a:prstGeom>
          <a:noFill/>
        </p:spPr>
        <p:txBody>
          <a:bodyPr wrap="square" anchor="t">
            <a:spAutoFit/>
          </a:bodyPr>
          <a:lstStyle/>
          <a:p>
            <a:pPr algn="ctr">
              <a:spcAft>
                <a:spcPts val="400"/>
              </a:spcAft>
            </a:pPr>
            <a:r>
              <a:rPr sz="900" b="0">
                <a:solidFill>
                  <a:srgbClr val="5B6372"/>
                </a:solidFill>
                <a:latin typeface="Arial"/>
              </a:rPr>
              <a:t>© 2026 Tertiary Infotech Academy Pte Ltd</a:t>
            </a:r>
          </a:p>
        </p:txBody>
      </p:sp>
      <p:sp>
        <p:nvSpPr>
          <p:cNvPr id="14" name="TextBox 13"/>
          <p:cNvSpPr txBox="1"/>
          <p:nvPr/>
        </p:nvSpPr>
        <p:spPr>
          <a:xfrm>
            <a:off x="11338560" y="6446520"/>
            <a:ext cx="548640" cy="320040"/>
          </a:xfrm>
          <a:prstGeom prst="rect">
            <a:avLst/>
          </a:prstGeom>
          <a:noFill/>
        </p:spPr>
        <p:txBody>
          <a:bodyPr wrap="square" anchor="t">
            <a:spAutoFit/>
          </a:bodyPr>
          <a:lstStyle/>
          <a:p>
            <a:pPr algn="r">
              <a:spcAft>
                <a:spcPts val="400"/>
              </a:spcAft>
            </a:pPr>
            <a:r>
              <a:rPr sz="900" b="0">
                <a:solidFill>
                  <a:srgbClr val="5B6372"/>
                </a:solidFill>
                <a:latin typeface="Arial"/>
              </a:rPr>
              <a:t>33</a:t>
            </a:r>
          </a:p>
        </p:txBody>
      </p:sp>
    </p:spTree>
  </p:cSld>
  <p:clrMapOvr>
    <a:masterClrMapping/>
  </p:clrMapOvr>
</p:sld>
</file>

<file path=ppt/slides/slide35.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256032" cy="1417320"/>
          </a:xfrm>
          <a:prstGeom prst="rect">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777240" y="457200"/>
            <a:ext cx="10607040" cy="365760"/>
          </a:xfrm>
          <a:prstGeom prst="rect">
            <a:avLst/>
          </a:prstGeom>
          <a:noFill/>
        </p:spPr>
        <p:txBody>
          <a:bodyPr wrap="square" anchor="t">
            <a:spAutoFit/>
          </a:bodyPr>
          <a:lstStyle/>
          <a:p>
            <a:pPr algn="l">
              <a:spcAft>
                <a:spcPts val="400"/>
              </a:spcAft>
            </a:pPr>
            <a:r>
              <a:rPr sz="1400" b="1">
                <a:solidFill>
                  <a:srgbClr val="1F6FEB"/>
                </a:solidFill>
                <a:latin typeface="Arial"/>
              </a:rPr>
              <a:t>BEYOND PURE STATES</a:t>
            </a:r>
          </a:p>
        </p:txBody>
      </p:sp>
      <p:sp>
        <p:nvSpPr>
          <p:cNvPr id="5" name="TextBox 4"/>
          <p:cNvSpPr txBox="1"/>
          <p:nvPr/>
        </p:nvSpPr>
        <p:spPr>
          <a:xfrm>
            <a:off x="777240" y="822960"/>
            <a:ext cx="10881360" cy="822960"/>
          </a:xfrm>
          <a:prstGeom prst="rect">
            <a:avLst/>
          </a:prstGeom>
          <a:noFill/>
        </p:spPr>
        <p:txBody>
          <a:bodyPr wrap="square" anchor="t">
            <a:spAutoFit/>
          </a:bodyPr>
          <a:lstStyle/>
          <a:p>
            <a:pPr algn="l">
              <a:spcAft>
                <a:spcPts val="400"/>
              </a:spcAft>
            </a:pPr>
            <a:r>
              <a:rPr sz="2900" b="1">
                <a:solidFill>
                  <a:srgbClr val="161B26"/>
                </a:solidFill>
                <a:latin typeface="Arial"/>
              </a:rPr>
              <a:t>Definition</a:t>
            </a:r>
          </a:p>
        </p:txBody>
      </p:sp>
      <p:sp>
        <p:nvSpPr>
          <p:cNvPr id="6" name="Rectangle 5"/>
          <p:cNvSpPr/>
          <p:nvPr/>
        </p:nvSpPr>
        <p:spPr>
          <a:xfrm>
            <a:off x="777240" y="1554480"/>
            <a:ext cx="10634472" cy="18288"/>
          </a:xfrm>
          <a:prstGeom prst="rect">
            <a:avLst/>
          </a:prstGeom>
          <a:solidFill>
            <a:srgbClr val="E2E8F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Rectangle 6"/>
          <p:cNvSpPr/>
          <p:nvPr/>
        </p:nvSpPr>
        <p:spPr>
          <a:xfrm>
            <a:off x="777240" y="1810512"/>
            <a:ext cx="10634472" cy="2601468"/>
          </a:xfrm>
          <a:prstGeom prst="rect">
            <a:avLst/>
          </a:prstGeom>
          <a:solidFill>
            <a:srgbClr val="0B122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TextBox 7"/>
          <p:cNvSpPr txBox="1"/>
          <p:nvPr/>
        </p:nvSpPr>
        <p:spPr>
          <a:xfrm>
            <a:off x="1097280" y="1956816"/>
            <a:ext cx="9994392" cy="2308860"/>
          </a:xfrm>
          <a:prstGeom prst="rect">
            <a:avLst/>
          </a:prstGeom>
          <a:noFill/>
        </p:spPr>
        <p:txBody>
          <a:bodyPr wrap="square" anchor="t">
            <a:spAutoFit/>
          </a:bodyPr>
          <a:lstStyle/>
          <a:p>
            <a:pPr algn="l">
              <a:spcAft>
                <a:spcPts val="300"/>
              </a:spcAft>
            </a:pPr>
            <a:r>
              <a:rPr sz="1500" b="0">
                <a:solidFill>
                  <a:srgbClr val="9CDCFE"/>
                </a:solidFill>
                <a:latin typeface="Arial"/>
              </a:rPr>
              <a:t>   PURE state:    ρ  =  |ψ&gt;&lt;ψ|</a:t>
            </a:r>
          </a:p>
          <a:p>
            <a:pPr algn="l">
              <a:spcAft>
                <a:spcPts val="300"/>
              </a:spcAft>
            </a:pPr>
            <a:r>
              <a:rPr sz="1500" b="0">
                <a:solidFill>
                  <a:srgbClr val="9CDCFE"/>
                </a:solidFill>
                <a:latin typeface="Arial"/>
              </a:rPr>
              <a:t>   MIXED state:   ρ  =  Σ_i pᵢ |ψᵢ&gt;&lt;ψᵢ|      with  Σ pᵢ = 1</a:t>
            </a:r>
          </a:p>
          <a:p>
            <a:pPr algn="l">
              <a:spcAft>
                <a:spcPts val="300"/>
              </a:spcAft>
            </a:pPr>
            <a:r>
              <a:rPr sz="1500" b="0">
                <a:solidFill>
                  <a:srgbClr val="0B1220"/>
                </a:solidFill>
                <a:latin typeface="Arial"/>
              </a:rPr>
              <a:t> </a:t>
            </a:r>
          </a:p>
          <a:p>
            <a:pPr algn="l">
              <a:spcAft>
                <a:spcPts val="300"/>
              </a:spcAft>
            </a:pPr>
            <a:r>
              <a:rPr sz="1500" b="0">
                <a:solidFill>
                  <a:srgbClr val="9CDCFE"/>
                </a:solidFill>
                <a:latin typeface="Arial"/>
              </a:rPr>
              <a:t>Properties of any valid density matrix:</a:t>
            </a:r>
          </a:p>
          <a:p>
            <a:pPr algn="l">
              <a:spcAft>
                <a:spcPts val="300"/>
              </a:spcAft>
            </a:pPr>
            <a:r>
              <a:rPr sz="1500" b="0">
                <a:solidFill>
                  <a:srgbClr val="9CDCFE"/>
                </a:solidFill>
                <a:latin typeface="Arial"/>
              </a:rPr>
              <a:t>   ρ† = ρ            (Hermitian)</a:t>
            </a:r>
          </a:p>
          <a:p>
            <a:pPr algn="l">
              <a:spcAft>
                <a:spcPts val="300"/>
              </a:spcAft>
            </a:pPr>
            <a:r>
              <a:rPr sz="1500" b="0">
                <a:solidFill>
                  <a:srgbClr val="9CDCFE"/>
                </a:solidFill>
                <a:latin typeface="Arial"/>
              </a:rPr>
              <a:t>   Tr(ρ) = 1         (probabilities sum to 1)</a:t>
            </a:r>
          </a:p>
          <a:p>
            <a:pPr algn="l">
              <a:spcAft>
                <a:spcPts val="300"/>
              </a:spcAft>
            </a:pPr>
            <a:r>
              <a:rPr sz="1500" b="0">
                <a:solidFill>
                  <a:srgbClr val="9CDCFE"/>
                </a:solidFill>
                <a:latin typeface="Arial"/>
              </a:rPr>
              <a:t>   ρ ≥ 0             (positive semi-definite)</a:t>
            </a:r>
          </a:p>
        </p:txBody>
      </p:sp>
      <p:sp>
        <p:nvSpPr>
          <p:cNvPr id="9" name="Rectangle 8"/>
          <p:cNvSpPr/>
          <p:nvPr/>
        </p:nvSpPr>
        <p:spPr>
          <a:xfrm>
            <a:off x="777240" y="4613148"/>
            <a:ext cx="10634472" cy="1440180"/>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Rectangle 9"/>
          <p:cNvSpPr/>
          <p:nvPr/>
        </p:nvSpPr>
        <p:spPr>
          <a:xfrm>
            <a:off x="777240" y="4613148"/>
            <a:ext cx="82296" cy="1440180"/>
          </a:xfrm>
          <a:prstGeom prst="rect">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 name="TextBox 10"/>
          <p:cNvSpPr txBox="1"/>
          <p:nvPr/>
        </p:nvSpPr>
        <p:spPr>
          <a:xfrm>
            <a:off x="1097280" y="4613148"/>
            <a:ext cx="10149840" cy="1440180"/>
          </a:xfrm>
          <a:prstGeom prst="rect">
            <a:avLst/>
          </a:prstGeom>
          <a:noFill/>
        </p:spPr>
        <p:txBody>
          <a:bodyPr wrap="square" anchor="ctr">
            <a:spAutoFit/>
          </a:bodyPr>
          <a:lstStyle/>
          <a:p>
            <a:pPr algn="l">
              <a:spcAft>
                <a:spcPts val="400"/>
              </a:spcAft>
            </a:pPr>
            <a:r>
              <a:rPr sz="1150" b="1">
                <a:solidFill>
                  <a:srgbClr val="10B981"/>
                </a:solidFill>
                <a:latin typeface="Arial"/>
              </a:rPr>
              <a:t>KEY POINT:  </a:t>
            </a:r>
            <a:r>
              <a:rPr sz="1300" b="0">
                <a:solidFill>
                  <a:srgbClr val="161B26"/>
                </a:solidFill>
                <a:latin typeface="Arial"/>
              </a:rPr>
              <a:t>The density matrix generalises the state vector — every ket has a ρ, but not every ρ has a ket.</a:t>
            </a:r>
          </a:p>
        </p:txBody>
      </p:sp>
      <p:sp>
        <p:nvSpPr>
          <p:cNvPr id="12" name="TextBox 11"/>
          <p:cNvSpPr txBox="1"/>
          <p:nvPr/>
        </p:nvSpPr>
        <p:spPr>
          <a:xfrm>
            <a:off x="365760" y="6446520"/>
            <a:ext cx="6858000" cy="320040"/>
          </a:xfrm>
          <a:prstGeom prst="rect">
            <a:avLst/>
          </a:prstGeom>
          <a:noFill/>
        </p:spPr>
        <p:txBody>
          <a:bodyPr wrap="square" anchor="t">
            <a:spAutoFit/>
          </a:bodyPr>
          <a:lstStyle/>
          <a:p>
            <a:pPr algn="l">
              <a:spcAft>
                <a:spcPts val="400"/>
              </a:spcAft>
            </a:pPr>
            <a:r>
              <a:rPr sz="900" b="0">
                <a:solidFill>
                  <a:srgbClr val="5B6372"/>
                </a:solidFill>
                <a:latin typeface="Arial"/>
              </a:rPr>
              <a:t>Securing the Future with Quantum Computing and Cryptography  ·  TGS-2024043419</a:t>
            </a:r>
          </a:p>
        </p:txBody>
      </p:sp>
      <p:sp>
        <p:nvSpPr>
          <p:cNvPr id="13" name="TextBox 12"/>
          <p:cNvSpPr txBox="1"/>
          <p:nvPr/>
        </p:nvSpPr>
        <p:spPr>
          <a:xfrm>
            <a:off x="4572000" y="6446520"/>
            <a:ext cx="3017520" cy="320040"/>
          </a:xfrm>
          <a:prstGeom prst="rect">
            <a:avLst/>
          </a:prstGeom>
          <a:noFill/>
        </p:spPr>
        <p:txBody>
          <a:bodyPr wrap="square" anchor="t">
            <a:spAutoFit/>
          </a:bodyPr>
          <a:lstStyle/>
          <a:p>
            <a:pPr algn="ctr">
              <a:spcAft>
                <a:spcPts val="400"/>
              </a:spcAft>
            </a:pPr>
            <a:r>
              <a:rPr sz="900" b="0">
                <a:solidFill>
                  <a:srgbClr val="5B6372"/>
                </a:solidFill>
                <a:latin typeface="Arial"/>
              </a:rPr>
              <a:t>© 2026 Tertiary Infotech Academy Pte Ltd</a:t>
            </a:r>
          </a:p>
        </p:txBody>
      </p:sp>
      <p:sp>
        <p:nvSpPr>
          <p:cNvPr id="14" name="TextBox 13"/>
          <p:cNvSpPr txBox="1"/>
          <p:nvPr/>
        </p:nvSpPr>
        <p:spPr>
          <a:xfrm>
            <a:off x="11338560" y="6446520"/>
            <a:ext cx="548640" cy="320040"/>
          </a:xfrm>
          <a:prstGeom prst="rect">
            <a:avLst/>
          </a:prstGeom>
          <a:noFill/>
        </p:spPr>
        <p:txBody>
          <a:bodyPr wrap="square" anchor="t">
            <a:spAutoFit/>
          </a:bodyPr>
          <a:lstStyle/>
          <a:p>
            <a:pPr algn="r">
              <a:spcAft>
                <a:spcPts val="400"/>
              </a:spcAft>
            </a:pPr>
            <a:r>
              <a:rPr sz="900" b="0">
                <a:solidFill>
                  <a:srgbClr val="5B6372"/>
                </a:solidFill>
                <a:latin typeface="Arial"/>
              </a:rPr>
              <a:t>34</a:t>
            </a:r>
          </a:p>
        </p:txBody>
      </p:sp>
    </p:spTree>
  </p:cSld>
  <p:clrMapOvr>
    <a:masterClrMapping/>
  </p:clrMapOvr>
</p:sld>
</file>

<file path=ppt/slides/slide36.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256032" cy="1417320"/>
          </a:xfrm>
          <a:prstGeom prst="rect">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777240" y="457200"/>
            <a:ext cx="10607040" cy="365760"/>
          </a:xfrm>
          <a:prstGeom prst="rect">
            <a:avLst/>
          </a:prstGeom>
          <a:noFill/>
        </p:spPr>
        <p:txBody>
          <a:bodyPr wrap="square" anchor="t">
            <a:spAutoFit/>
          </a:bodyPr>
          <a:lstStyle/>
          <a:p>
            <a:pPr algn="l">
              <a:spcAft>
                <a:spcPts val="400"/>
              </a:spcAft>
            </a:pPr>
            <a:r>
              <a:rPr sz="1400" b="1">
                <a:solidFill>
                  <a:srgbClr val="1F6FEB"/>
                </a:solidFill>
                <a:latin typeface="Arial"/>
              </a:rPr>
              <a:t>BEYOND PURE STATES</a:t>
            </a:r>
          </a:p>
        </p:txBody>
      </p:sp>
      <p:sp>
        <p:nvSpPr>
          <p:cNvPr id="5" name="TextBox 4"/>
          <p:cNvSpPr txBox="1"/>
          <p:nvPr/>
        </p:nvSpPr>
        <p:spPr>
          <a:xfrm>
            <a:off x="777240" y="822960"/>
            <a:ext cx="10881360" cy="822960"/>
          </a:xfrm>
          <a:prstGeom prst="rect">
            <a:avLst/>
          </a:prstGeom>
          <a:noFill/>
        </p:spPr>
        <p:txBody>
          <a:bodyPr wrap="square" anchor="t">
            <a:spAutoFit/>
          </a:bodyPr>
          <a:lstStyle/>
          <a:p>
            <a:pPr algn="l">
              <a:spcAft>
                <a:spcPts val="400"/>
              </a:spcAft>
            </a:pPr>
            <a:r>
              <a:rPr sz="2900" b="1">
                <a:solidFill>
                  <a:srgbClr val="161B26"/>
                </a:solidFill>
                <a:latin typeface="Arial"/>
              </a:rPr>
              <a:t>Distinguishing pure from mixed</a:t>
            </a:r>
          </a:p>
        </p:txBody>
      </p:sp>
      <p:sp>
        <p:nvSpPr>
          <p:cNvPr id="6" name="Rectangle 5"/>
          <p:cNvSpPr/>
          <p:nvPr/>
        </p:nvSpPr>
        <p:spPr>
          <a:xfrm>
            <a:off x="777240" y="1554480"/>
            <a:ext cx="10634472" cy="18288"/>
          </a:xfrm>
          <a:prstGeom prst="rect">
            <a:avLst/>
          </a:prstGeom>
          <a:solidFill>
            <a:srgbClr val="E2E8F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Rectangle 6"/>
          <p:cNvSpPr/>
          <p:nvPr/>
        </p:nvSpPr>
        <p:spPr>
          <a:xfrm>
            <a:off x="777240" y="1810512"/>
            <a:ext cx="10634472" cy="2601468"/>
          </a:xfrm>
          <a:prstGeom prst="rect">
            <a:avLst/>
          </a:prstGeom>
          <a:solidFill>
            <a:srgbClr val="0B122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TextBox 7"/>
          <p:cNvSpPr txBox="1"/>
          <p:nvPr/>
        </p:nvSpPr>
        <p:spPr>
          <a:xfrm>
            <a:off x="1097280" y="1956816"/>
            <a:ext cx="9994392" cy="2308860"/>
          </a:xfrm>
          <a:prstGeom prst="rect">
            <a:avLst/>
          </a:prstGeom>
          <a:noFill/>
        </p:spPr>
        <p:txBody>
          <a:bodyPr wrap="square" anchor="t">
            <a:spAutoFit/>
          </a:bodyPr>
          <a:lstStyle/>
          <a:p>
            <a:pPr algn="l">
              <a:spcAft>
                <a:spcPts val="300"/>
              </a:spcAft>
            </a:pPr>
            <a:r>
              <a:rPr sz="1500" b="0">
                <a:solidFill>
                  <a:srgbClr val="9CDCFE"/>
                </a:solidFill>
                <a:latin typeface="Arial"/>
              </a:rPr>
              <a:t>   Tr(ρ²)  =  1     &lt;=&gt;   PURE</a:t>
            </a:r>
          </a:p>
          <a:p>
            <a:pPr algn="l">
              <a:spcAft>
                <a:spcPts val="300"/>
              </a:spcAft>
            </a:pPr>
            <a:r>
              <a:rPr sz="1500" b="0">
                <a:solidFill>
                  <a:srgbClr val="9CDCFE"/>
                </a:solidFill>
                <a:latin typeface="Arial"/>
              </a:rPr>
              <a:t>   Tr(ρ²)  &lt;  1     &lt;=&gt;   MIXED</a:t>
            </a:r>
          </a:p>
          <a:p>
            <a:pPr algn="l">
              <a:spcAft>
                <a:spcPts val="300"/>
              </a:spcAft>
            </a:pPr>
            <a:r>
              <a:rPr sz="1500" b="0">
                <a:solidFill>
                  <a:srgbClr val="0B1220"/>
                </a:solidFill>
                <a:latin typeface="Arial"/>
              </a:rPr>
              <a:t> </a:t>
            </a:r>
          </a:p>
          <a:p>
            <a:pPr algn="l">
              <a:spcAft>
                <a:spcPts val="300"/>
              </a:spcAft>
            </a:pPr>
            <a:r>
              <a:rPr sz="1500" b="0">
                <a:solidFill>
                  <a:srgbClr val="9CDCFE"/>
                </a:solidFill>
                <a:latin typeface="Arial"/>
              </a:rPr>
              <a:t>The maximally mixed single-qubit state:</a:t>
            </a:r>
          </a:p>
          <a:p>
            <a:pPr algn="l">
              <a:spcAft>
                <a:spcPts val="300"/>
              </a:spcAft>
            </a:pPr>
            <a:r>
              <a:rPr sz="1500" b="0">
                <a:solidFill>
                  <a:srgbClr val="9CDCFE"/>
                </a:solidFill>
                <a:latin typeface="Arial"/>
              </a:rPr>
              <a:t>   ρ = I/2 = [[0.5, 0],[0, 0.5]]      Tr(ρ²) = 0.5</a:t>
            </a:r>
          </a:p>
          <a:p>
            <a:pPr algn="l">
              <a:spcAft>
                <a:spcPts val="300"/>
              </a:spcAft>
            </a:pPr>
            <a:r>
              <a:rPr sz="1500" b="0">
                <a:solidFill>
                  <a:srgbClr val="0B1220"/>
                </a:solidFill>
                <a:latin typeface="Arial"/>
              </a:rPr>
              <a:t> </a:t>
            </a:r>
          </a:p>
          <a:p>
            <a:pPr algn="l">
              <a:spcAft>
                <a:spcPts val="300"/>
              </a:spcAft>
            </a:pPr>
            <a:r>
              <a:rPr sz="1500" b="0">
                <a:solidFill>
                  <a:srgbClr val="9CDCFE"/>
                </a:solidFill>
                <a:latin typeface="Arial"/>
              </a:rPr>
              <a:t>This carries NO information — every measurement gives 50/50 in every basis.</a:t>
            </a:r>
          </a:p>
        </p:txBody>
      </p:sp>
      <p:sp>
        <p:nvSpPr>
          <p:cNvPr id="9" name="Rectangle 8"/>
          <p:cNvSpPr/>
          <p:nvPr/>
        </p:nvSpPr>
        <p:spPr>
          <a:xfrm>
            <a:off x="777240" y="4613148"/>
            <a:ext cx="10634472" cy="1440180"/>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Rectangle 9"/>
          <p:cNvSpPr/>
          <p:nvPr/>
        </p:nvSpPr>
        <p:spPr>
          <a:xfrm>
            <a:off x="777240" y="4613148"/>
            <a:ext cx="82296" cy="1440180"/>
          </a:xfrm>
          <a:prstGeom prst="rect">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 name="TextBox 10"/>
          <p:cNvSpPr txBox="1"/>
          <p:nvPr/>
        </p:nvSpPr>
        <p:spPr>
          <a:xfrm>
            <a:off x="1097280" y="4613148"/>
            <a:ext cx="10149840" cy="1440180"/>
          </a:xfrm>
          <a:prstGeom prst="rect">
            <a:avLst/>
          </a:prstGeom>
          <a:noFill/>
        </p:spPr>
        <p:txBody>
          <a:bodyPr wrap="square" anchor="ctr">
            <a:spAutoFit/>
          </a:bodyPr>
          <a:lstStyle/>
          <a:p>
            <a:pPr algn="l">
              <a:spcAft>
                <a:spcPts val="400"/>
              </a:spcAft>
            </a:pPr>
            <a:r>
              <a:rPr sz="1150" b="1">
                <a:solidFill>
                  <a:srgbClr val="10B981"/>
                </a:solidFill>
                <a:latin typeface="Arial"/>
              </a:rPr>
              <a:t>KEY POINT:  </a:t>
            </a:r>
            <a:r>
              <a:rPr sz="1300" b="0">
                <a:solidFill>
                  <a:srgbClr val="161B26"/>
                </a:solidFill>
                <a:latin typeface="Arial"/>
              </a:rPr>
              <a:t>Bob's qubit before he receives the classical bits in teleportation is exactly I/2 — which is why no faster-than-light signalling occurs.</a:t>
            </a:r>
          </a:p>
        </p:txBody>
      </p:sp>
      <p:sp>
        <p:nvSpPr>
          <p:cNvPr id="12" name="TextBox 11"/>
          <p:cNvSpPr txBox="1"/>
          <p:nvPr/>
        </p:nvSpPr>
        <p:spPr>
          <a:xfrm>
            <a:off x="365760" y="6446520"/>
            <a:ext cx="6858000" cy="320040"/>
          </a:xfrm>
          <a:prstGeom prst="rect">
            <a:avLst/>
          </a:prstGeom>
          <a:noFill/>
        </p:spPr>
        <p:txBody>
          <a:bodyPr wrap="square" anchor="t">
            <a:spAutoFit/>
          </a:bodyPr>
          <a:lstStyle/>
          <a:p>
            <a:pPr algn="l">
              <a:spcAft>
                <a:spcPts val="400"/>
              </a:spcAft>
            </a:pPr>
            <a:r>
              <a:rPr sz="900" b="0">
                <a:solidFill>
                  <a:srgbClr val="5B6372"/>
                </a:solidFill>
                <a:latin typeface="Arial"/>
              </a:rPr>
              <a:t>Securing the Future with Quantum Computing and Cryptography  ·  TGS-2024043419</a:t>
            </a:r>
          </a:p>
        </p:txBody>
      </p:sp>
      <p:sp>
        <p:nvSpPr>
          <p:cNvPr id="13" name="TextBox 12"/>
          <p:cNvSpPr txBox="1"/>
          <p:nvPr/>
        </p:nvSpPr>
        <p:spPr>
          <a:xfrm>
            <a:off x="4572000" y="6446520"/>
            <a:ext cx="3017520" cy="320040"/>
          </a:xfrm>
          <a:prstGeom prst="rect">
            <a:avLst/>
          </a:prstGeom>
          <a:noFill/>
        </p:spPr>
        <p:txBody>
          <a:bodyPr wrap="square" anchor="t">
            <a:spAutoFit/>
          </a:bodyPr>
          <a:lstStyle/>
          <a:p>
            <a:pPr algn="ctr">
              <a:spcAft>
                <a:spcPts val="400"/>
              </a:spcAft>
            </a:pPr>
            <a:r>
              <a:rPr sz="900" b="0">
                <a:solidFill>
                  <a:srgbClr val="5B6372"/>
                </a:solidFill>
                <a:latin typeface="Arial"/>
              </a:rPr>
              <a:t>© 2026 Tertiary Infotech Academy Pte Ltd</a:t>
            </a:r>
          </a:p>
        </p:txBody>
      </p:sp>
      <p:sp>
        <p:nvSpPr>
          <p:cNvPr id="14" name="TextBox 13"/>
          <p:cNvSpPr txBox="1"/>
          <p:nvPr/>
        </p:nvSpPr>
        <p:spPr>
          <a:xfrm>
            <a:off x="11338560" y="6446520"/>
            <a:ext cx="548640" cy="320040"/>
          </a:xfrm>
          <a:prstGeom prst="rect">
            <a:avLst/>
          </a:prstGeom>
          <a:noFill/>
        </p:spPr>
        <p:txBody>
          <a:bodyPr wrap="square" anchor="t">
            <a:spAutoFit/>
          </a:bodyPr>
          <a:lstStyle/>
          <a:p>
            <a:pPr algn="r">
              <a:spcAft>
                <a:spcPts val="400"/>
              </a:spcAft>
            </a:pPr>
            <a:r>
              <a:rPr sz="900" b="0">
                <a:solidFill>
                  <a:srgbClr val="5B6372"/>
                </a:solidFill>
                <a:latin typeface="Arial"/>
              </a:rPr>
              <a:t>35</a:t>
            </a:r>
          </a:p>
        </p:txBody>
      </p:sp>
    </p:spTree>
  </p:cSld>
  <p:clrMapOvr>
    <a:masterClrMapping/>
  </p:clrMapOvr>
</p:sld>
</file>

<file path=ppt/slides/slide37.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256032" cy="1417320"/>
          </a:xfrm>
          <a:prstGeom prst="rect">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777240" y="457200"/>
            <a:ext cx="10607040" cy="365760"/>
          </a:xfrm>
          <a:prstGeom prst="rect">
            <a:avLst/>
          </a:prstGeom>
          <a:noFill/>
        </p:spPr>
        <p:txBody>
          <a:bodyPr wrap="square" anchor="t">
            <a:spAutoFit/>
          </a:bodyPr>
          <a:lstStyle/>
          <a:p>
            <a:pPr algn="l">
              <a:spcAft>
                <a:spcPts val="400"/>
              </a:spcAft>
            </a:pPr>
            <a:r>
              <a:rPr sz="1400" b="1">
                <a:solidFill>
                  <a:srgbClr val="1F6FEB"/>
                </a:solidFill>
                <a:latin typeface="Arial"/>
              </a:rPr>
              <a:t>BEYOND PURE STATES</a:t>
            </a:r>
          </a:p>
        </p:txBody>
      </p:sp>
      <p:sp>
        <p:nvSpPr>
          <p:cNvPr id="5" name="TextBox 4"/>
          <p:cNvSpPr txBox="1"/>
          <p:nvPr/>
        </p:nvSpPr>
        <p:spPr>
          <a:xfrm>
            <a:off x="777240" y="822960"/>
            <a:ext cx="10881360" cy="822960"/>
          </a:xfrm>
          <a:prstGeom prst="rect">
            <a:avLst/>
          </a:prstGeom>
          <a:noFill/>
        </p:spPr>
        <p:txBody>
          <a:bodyPr wrap="square" anchor="t">
            <a:spAutoFit/>
          </a:bodyPr>
          <a:lstStyle/>
          <a:p>
            <a:pPr algn="l">
              <a:spcAft>
                <a:spcPts val="400"/>
              </a:spcAft>
            </a:pPr>
            <a:r>
              <a:rPr sz="2900" b="1">
                <a:solidFill>
                  <a:srgbClr val="161B26"/>
                </a:solidFill>
                <a:latin typeface="Arial"/>
              </a:rPr>
              <a:t>Superposition vs mixture</a:t>
            </a:r>
          </a:p>
        </p:txBody>
      </p:sp>
      <p:sp>
        <p:nvSpPr>
          <p:cNvPr id="6" name="Rectangle 5"/>
          <p:cNvSpPr/>
          <p:nvPr/>
        </p:nvSpPr>
        <p:spPr>
          <a:xfrm>
            <a:off x="777240" y="1554480"/>
            <a:ext cx="10634472" cy="18288"/>
          </a:xfrm>
          <a:prstGeom prst="rect">
            <a:avLst/>
          </a:prstGeom>
          <a:solidFill>
            <a:srgbClr val="E2E8F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Rectangle 6"/>
          <p:cNvSpPr/>
          <p:nvPr/>
        </p:nvSpPr>
        <p:spPr>
          <a:xfrm>
            <a:off x="777240" y="1810512"/>
            <a:ext cx="10634472" cy="3214116"/>
          </a:xfrm>
          <a:prstGeom prst="rect">
            <a:avLst/>
          </a:prstGeom>
          <a:solidFill>
            <a:srgbClr val="0B122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TextBox 7"/>
          <p:cNvSpPr txBox="1"/>
          <p:nvPr/>
        </p:nvSpPr>
        <p:spPr>
          <a:xfrm>
            <a:off x="1097280" y="1956816"/>
            <a:ext cx="9994392" cy="2921508"/>
          </a:xfrm>
          <a:prstGeom prst="rect">
            <a:avLst/>
          </a:prstGeom>
          <a:noFill/>
        </p:spPr>
        <p:txBody>
          <a:bodyPr wrap="square" anchor="t">
            <a:spAutoFit/>
          </a:bodyPr>
          <a:lstStyle/>
          <a:p>
            <a:pPr algn="l">
              <a:spcAft>
                <a:spcPts val="300"/>
              </a:spcAft>
            </a:pPr>
            <a:r>
              <a:rPr sz="1500" b="0">
                <a:solidFill>
                  <a:srgbClr val="9CDCFE"/>
                </a:solidFill>
                <a:latin typeface="Arial"/>
              </a:rPr>
              <a:t>   SUPERPOSITION  |+&gt; = (|0&gt;+|1&gt;)/√2</a:t>
            </a:r>
          </a:p>
          <a:p>
            <a:pPr algn="l">
              <a:spcAft>
                <a:spcPts val="300"/>
              </a:spcAft>
            </a:pPr>
            <a:r>
              <a:rPr sz="1500" b="0">
                <a:solidFill>
                  <a:srgbClr val="9CDCFE"/>
                </a:solidFill>
                <a:latin typeface="Arial"/>
              </a:rPr>
              <a:t>      ρ = [[0.5, 0.5],[0.5, 0.5]]      OFF-DIAGONALS PRESENT</a:t>
            </a:r>
          </a:p>
          <a:p>
            <a:pPr algn="l">
              <a:spcAft>
                <a:spcPts val="300"/>
              </a:spcAft>
            </a:pPr>
            <a:r>
              <a:rPr sz="1500" b="0">
                <a:solidFill>
                  <a:srgbClr val="9CDCFE"/>
                </a:solidFill>
                <a:latin typeface="Arial"/>
              </a:rPr>
              <a:t>      Measure in X basis: always |+&gt;   — deterministic!</a:t>
            </a:r>
          </a:p>
          <a:p>
            <a:pPr algn="l">
              <a:spcAft>
                <a:spcPts val="300"/>
              </a:spcAft>
            </a:pPr>
            <a:r>
              <a:rPr sz="1500" b="0">
                <a:solidFill>
                  <a:srgbClr val="0B1220"/>
                </a:solidFill>
                <a:latin typeface="Arial"/>
              </a:rPr>
              <a:t> </a:t>
            </a:r>
          </a:p>
          <a:p>
            <a:pPr algn="l">
              <a:spcAft>
                <a:spcPts val="300"/>
              </a:spcAft>
            </a:pPr>
            <a:r>
              <a:rPr sz="1500" b="0">
                <a:solidFill>
                  <a:srgbClr val="9CDCFE"/>
                </a:solidFill>
                <a:latin typeface="Arial"/>
              </a:rPr>
              <a:t>   MIXTURE  '50% |0&gt;, 50% |1&gt;'</a:t>
            </a:r>
          </a:p>
          <a:p>
            <a:pPr algn="l">
              <a:spcAft>
                <a:spcPts val="300"/>
              </a:spcAft>
            </a:pPr>
            <a:r>
              <a:rPr sz="1500" b="0">
                <a:solidFill>
                  <a:srgbClr val="9CDCFE"/>
                </a:solidFill>
                <a:latin typeface="Arial"/>
              </a:rPr>
              <a:t>      ρ = [[0.5, 0],[0, 0.5]]          OFF-DIAGONALS ZERO</a:t>
            </a:r>
          </a:p>
          <a:p>
            <a:pPr algn="l">
              <a:spcAft>
                <a:spcPts val="300"/>
              </a:spcAft>
            </a:pPr>
            <a:r>
              <a:rPr sz="1500" b="0">
                <a:solidFill>
                  <a:srgbClr val="9CDCFE"/>
                </a:solidFill>
                <a:latin typeface="Arial"/>
              </a:rPr>
              <a:t>      Measure in X basis: 50/50        — random</a:t>
            </a:r>
          </a:p>
          <a:p>
            <a:pPr algn="l">
              <a:spcAft>
                <a:spcPts val="300"/>
              </a:spcAft>
            </a:pPr>
            <a:r>
              <a:rPr sz="1500" b="0">
                <a:solidFill>
                  <a:srgbClr val="0B1220"/>
                </a:solidFill>
                <a:latin typeface="Arial"/>
              </a:rPr>
              <a:t> </a:t>
            </a:r>
          </a:p>
          <a:p>
            <a:pPr algn="l">
              <a:spcAft>
                <a:spcPts val="300"/>
              </a:spcAft>
            </a:pPr>
            <a:r>
              <a:rPr sz="1500" b="0">
                <a:solidFill>
                  <a:srgbClr val="9CDCFE"/>
                </a:solidFill>
                <a:latin typeface="Arial"/>
              </a:rPr>
              <a:t>In the Z basis BOTH give 50/50 — they look identical.</a:t>
            </a:r>
          </a:p>
        </p:txBody>
      </p:sp>
      <p:sp>
        <p:nvSpPr>
          <p:cNvPr id="9" name="Rectangle 8"/>
          <p:cNvSpPr/>
          <p:nvPr/>
        </p:nvSpPr>
        <p:spPr>
          <a:xfrm>
            <a:off x="777240" y="5225796"/>
            <a:ext cx="10634472" cy="827532"/>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Rectangle 9"/>
          <p:cNvSpPr/>
          <p:nvPr/>
        </p:nvSpPr>
        <p:spPr>
          <a:xfrm>
            <a:off x="777240" y="5225796"/>
            <a:ext cx="82296" cy="827532"/>
          </a:xfrm>
          <a:prstGeom prst="rect">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 name="TextBox 10"/>
          <p:cNvSpPr txBox="1"/>
          <p:nvPr/>
        </p:nvSpPr>
        <p:spPr>
          <a:xfrm>
            <a:off x="1097280" y="5225796"/>
            <a:ext cx="10149840" cy="827532"/>
          </a:xfrm>
          <a:prstGeom prst="rect">
            <a:avLst/>
          </a:prstGeom>
          <a:noFill/>
        </p:spPr>
        <p:txBody>
          <a:bodyPr wrap="square" anchor="ctr">
            <a:spAutoFit/>
          </a:bodyPr>
          <a:lstStyle/>
          <a:p>
            <a:pPr algn="l">
              <a:spcAft>
                <a:spcPts val="400"/>
              </a:spcAft>
            </a:pPr>
            <a:r>
              <a:rPr sz="1150" b="1">
                <a:solidFill>
                  <a:srgbClr val="10B981"/>
                </a:solidFill>
                <a:latin typeface="Arial"/>
              </a:rPr>
              <a:t>KEY POINT:  </a:t>
            </a:r>
            <a:r>
              <a:rPr sz="1300" b="0">
                <a:solidFill>
                  <a:srgbClr val="161B26"/>
                </a:solidFill>
                <a:latin typeface="Arial"/>
              </a:rPr>
              <a:t>The off-diagonal terms are the COHERENCES. Decoherence is precisely the process that decays them, turning a superposition into a mixture.</a:t>
            </a:r>
          </a:p>
        </p:txBody>
      </p:sp>
      <p:sp>
        <p:nvSpPr>
          <p:cNvPr id="12" name="TextBox 11"/>
          <p:cNvSpPr txBox="1"/>
          <p:nvPr/>
        </p:nvSpPr>
        <p:spPr>
          <a:xfrm>
            <a:off x="365760" y="6446520"/>
            <a:ext cx="6858000" cy="320040"/>
          </a:xfrm>
          <a:prstGeom prst="rect">
            <a:avLst/>
          </a:prstGeom>
          <a:noFill/>
        </p:spPr>
        <p:txBody>
          <a:bodyPr wrap="square" anchor="t">
            <a:spAutoFit/>
          </a:bodyPr>
          <a:lstStyle/>
          <a:p>
            <a:pPr algn="l">
              <a:spcAft>
                <a:spcPts val="400"/>
              </a:spcAft>
            </a:pPr>
            <a:r>
              <a:rPr sz="900" b="0">
                <a:solidFill>
                  <a:srgbClr val="5B6372"/>
                </a:solidFill>
                <a:latin typeface="Arial"/>
              </a:rPr>
              <a:t>Securing the Future with Quantum Computing and Cryptography  ·  TGS-2024043419</a:t>
            </a:r>
          </a:p>
        </p:txBody>
      </p:sp>
      <p:sp>
        <p:nvSpPr>
          <p:cNvPr id="13" name="TextBox 12"/>
          <p:cNvSpPr txBox="1"/>
          <p:nvPr/>
        </p:nvSpPr>
        <p:spPr>
          <a:xfrm>
            <a:off x="4572000" y="6446520"/>
            <a:ext cx="3017520" cy="320040"/>
          </a:xfrm>
          <a:prstGeom prst="rect">
            <a:avLst/>
          </a:prstGeom>
          <a:noFill/>
        </p:spPr>
        <p:txBody>
          <a:bodyPr wrap="square" anchor="t">
            <a:spAutoFit/>
          </a:bodyPr>
          <a:lstStyle/>
          <a:p>
            <a:pPr algn="ctr">
              <a:spcAft>
                <a:spcPts val="400"/>
              </a:spcAft>
            </a:pPr>
            <a:r>
              <a:rPr sz="900" b="0">
                <a:solidFill>
                  <a:srgbClr val="5B6372"/>
                </a:solidFill>
                <a:latin typeface="Arial"/>
              </a:rPr>
              <a:t>© 2026 Tertiary Infotech Academy Pte Ltd</a:t>
            </a:r>
          </a:p>
        </p:txBody>
      </p:sp>
      <p:sp>
        <p:nvSpPr>
          <p:cNvPr id="14" name="TextBox 13"/>
          <p:cNvSpPr txBox="1"/>
          <p:nvPr/>
        </p:nvSpPr>
        <p:spPr>
          <a:xfrm>
            <a:off x="11338560" y="6446520"/>
            <a:ext cx="548640" cy="320040"/>
          </a:xfrm>
          <a:prstGeom prst="rect">
            <a:avLst/>
          </a:prstGeom>
          <a:noFill/>
        </p:spPr>
        <p:txBody>
          <a:bodyPr wrap="square" anchor="t">
            <a:spAutoFit/>
          </a:bodyPr>
          <a:lstStyle/>
          <a:p>
            <a:pPr algn="r">
              <a:spcAft>
                <a:spcPts val="400"/>
              </a:spcAft>
            </a:pPr>
            <a:r>
              <a:rPr sz="900" b="0">
                <a:solidFill>
                  <a:srgbClr val="5B6372"/>
                </a:solidFill>
                <a:latin typeface="Arial"/>
              </a:rPr>
              <a:t>36</a:t>
            </a:r>
          </a:p>
        </p:txBody>
      </p:sp>
    </p:spTree>
  </p:cSld>
  <p:clrMapOvr>
    <a:masterClrMapping/>
  </p:clrMapOvr>
</p:sld>
</file>

<file path=ppt/slides/slide38.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256032" cy="1417320"/>
          </a:xfrm>
          <a:prstGeom prst="rect">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777240" y="457200"/>
            <a:ext cx="10607040" cy="365760"/>
          </a:xfrm>
          <a:prstGeom prst="rect">
            <a:avLst/>
          </a:prstGeom>
          <a:noFill/>
        </p:spPr>
        <p:txBody>
          <a:bodyPr wrap="square" anchor="t">
            <a:spAutoFit/>
          </a:bodyPr>
          <a:lstStyle/>
          <a:p>
            <a:pPr algn="l">
              <a:spcAft>
                <a:spcPts val="400"/>
              </a:spcAft>
            </a:pPr>
            <a:r>
              <a:rPr sz="1400" b="1">
                <a:solidFill>
                  <a:srgbClr val="1F6FEB"/>
                </a:solidFill>
                <a:latin typeface="Arial"/>
              </a:rPr>
              <a:t>THE AXIOMS OF QUANTUM MECHANICS</a:t>
            </a:r>
          </a:p>
        </p:txBody>
      </p:sp>
      <p:sp>
        <p:nvSpPr>
          <p:cNvPr id="5" name="TextBox 4"/>
          <p:cNvSpPr txBox="1"/>
          <p:nvPr/>
        </p:nvSpPr>
        <p:spPr>
          <a:xfrm>
            <a:off x="777240" y="822960"/>
            <a:ext cx="10881360" cy="822960"/>
          </a:xfrm>
          <a:prstGeom prst="rect">
            <a:avLst/>
          </a:prstGeom>
          <a:noFill/>
        </p:spPr>
        <p:txBody>
          <a:bodyPr wrap="square" anchor="t">
            <a:spAutoFit/>
          </a:bodyPr>
          <a:lstStyle/>
          <a:p>
            <a:pPr algn="l">
              <a:spcAft>
                <a:spcPts val="400"/>
              </a:spcAft>
            </a:pPr>
            <a:r>
              <a:rPr sz="2900" b="1">
                <a:solidFill>
                  <a:srgbClr val="161B26"/>
                </a:solidFill>
                <a:latin typeface="Arial"/>
              </a:rPr>
              <a:t>The Five Postulates — Overview</a:t>
            </a:r>
          </a:p>
        </p:txBody>
      </p:sp>
      <p:sp>
        <p:nvSpPr>
          <p:cNvPr id="6" name="Rectangle 5"/>
          <p:cNvSpPr/>
          <p:nvPr/>
        </p:nvSpPr>
        <p:spPr>
          <a:xfrm>
            <a:off x="777240" y="1554480"/>
            <a:ext cx="10634472" cy="18288"/>
          </a:xfrm>
          <a:prstGeom prst="rect">
            <a:avLst/>
          </a:prstGeom>
          <a:solidFill>
            <a:srgbClr val="E2E8F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TextBox 6"/>
          <p:cNvSpPr txBox="1"/>
          <p:nvPr/>
        </p:nvSpPr>
        <p:spPr>
          <a:xfrm>
            <a:off x="777240" y="1783080"/>
            <a:ext cx="10607040" cy="4480560"/>
          </a:xfrm>
          <a:prstGeom prst="rect">
            <a:avLst/>
          </a:prstGeom>
          <a:noFill/>
        </p:spPr>
        <p:txBody>
          <a:bodyPr wrap="square">
            <a:spAutoFit/>
          </a:bodyPr>
          <a:lstStyle/>
          <a:p>
            <a:pPr>
              <a:spcAft>
                <a:spcPts val="1000"/>
              </a:spcAft>
            </a:pPr>
            <a:r>
              <a:rPr sz="1700">
                <a:solidFill>
                  <a:srgbClr val="161B26"/>
                </a:solidFill>
                <a:latin typeface="Arial"/>
              </a:rPr>
              <a:t>•  Postulate 1 — STATE SPACE: a state is a unit vector in a complex Hilbert space.</a:t>
            </a:r>
          </a:p>
          <a:p>
            <a:pPr>
              <a:spcAft>
                <a:spcPts val="1000"/>
              </a:spcAft>
            </a:pPr>
            <a:r>
              <a:rPr sz="1700">
                <a:solidFill>
                  <a:srgbClr val="161B26"/>
                </a:solidFill>
                <a:latin typeface="Arial"/>
              </a:rPr>
              <a:t>•  Postulate 2 — TIME EVOLUTION: closed systems evolve by a unitary operator.</a:t>
            </a:r>
          </a:p>
          <a:p>
            <a:pPr>
              <a:spcAft>
                <a:spcPts val="1000"/>
              </a:spcAft>
            </a:pPr>
            <a:r>
              <a:rPr sz="1700">
                <a:solidFill>
                  <a:srgbClr val="161B26"/>
                </a:solidFill>
                <a:latin typeface="Arial"/>
              </a:rPr>
              <a:t>•  Postulate 3 — OBSERVABLES: measurable quantities are Hermitian operators.</a:t>
            </a:r>
          </a:p>
          <a:p>
            <a:pPr>
              <a:spcAft>
                <a:spcPts val="1000"/>
              </a:spcAft>
            </a:pPr>
            <a:r>
              <a:rPr sz="1700">
                <a:solidFill>
                  <a:srgbClr val="161B26"/>
                </a:solidFill>
                <a:latin typeface="Arial"/>
              </a:rPr>
              <a:t>•  Postulate 4 — BORN RULE: probability is the squared magnitude of the amplitude.</a:t>
            </a:r>
          </a:p>
          <a:p>
            <a:pPr>
              <a:spcAft>
                <a:spcPts val="1000"/>
              </a:spcAft>
            </a:pPr>
            <a:r>
              <a:rPr sz="1700">
                <a:solidFill>
                  <a:srgbClr val="161B26"/>
                </a:solidFill>
                <a:latin typeface="Arial"/>
              </a:rPr>
              <a:t>•  Postulate 5 — COLLAPSE: measurement projects the state onto the observed eigenspace.</a:t>
            </a:r>
          </a:p>
        </p:txBody>
      </p:sp>
      <p:sp>
        <p:nvSpPr>
          <p:cNvPr id="8" name="TextBox 7"/>
          <p:cNvSpPr txBox="1"/>
          <p:nvPr/>
        </p:nvSpPr>
        <p:spPr>
          <a:xfrm>
            <a:off x="365760" y="6446520"/>
            <a:ext cx="6858000" cy="320040"/>
          </a:xfrm>
          <a:prstGeom prst="rect">
            <a:avLst/>
          </a:prstGeom>
          <a:noFill/>
        </p:spPr>
        <p:txBody>
          <a:bodyPr wrap="square" anchor="t">
            <a:spAutoFit/>
          </a:bodyPr>
          <a:lstStyle/>
          <a:p>
            <a:pPr algn="l">
              <a:spcAft>
                <a:spcPts val="400"/>
              </a:spcAft>
            </a:pPr>
            <a:r>
              <a:rPr sz="900" b="0">
                <a:solidFill>
                  <a:srgbClr val="5B6372"/>
                </a:solidFill>
                <a:latin typeface="Arial"/>
              </a:rPr>
              <a:t>Securing the Future with Quantum Computing and Cryptography  ·  TGS-2024043419</a:t>
            </a:r>
          </a:p>
        </p:txBody>
      </p:sp>
      <p:sp>
        <p:nvSpPr>
          <p:cNvPr id="9" name="TextBox 8"/>
          <p:cNvSpPr txBox="1"/>
          <p:nvPr/>
        </p:nvSpPr>
        <p:spPr>
          <a:xfrm>
            <a:off x="4572000" y="6446520"/>
            <a:ext cx="3017520" cy="320040"/>
          </a:xfrm>
          <a:prstGeom prst="rect">
            <a:avLst/>
          </a:prstGeom>
          <a:noFill/>
        </p:spPr>
        <p:txBody>
          <a:bodyPr wrap="square" anchor="t">
            <a:spAutoFit/>
          </a:bodyPr>
          <a:lstStyle/>
          <a:p>
            <a:pPr algn="ctr">
              <a:spcAft>
                <a:spcPts val="400"/>
              </a:spcAft>
            </a:pPr>
            <a:r>
              <a:rPr sz="900" b="0">
                <a:solidFill>
                  <a:srgbClr val="5B6372"/>
                </a:solidFill>
                <a:latin typeface="Arial"/>
              </a:rPr>
              <a:t>© 2026 Tertiary Infotech Academy Pte Ltd</a:t>
            </a:r>
          </a:p>
        </p:txBody>
      </p:sp>
      <p:sp>
        <p:nvSpPr>
          <p:cNvPr id="10" name="TextBox 9"/>
          <p:cNvSpPr txBox="1"/>
          <p:nvPr/>
        </p:nvSpPr>
        <p:spPr>
          <a:xfrm>
            <a:off x="11338560" y="6446520"/>
            <a:ext cx="548640" cy="320040"/>
          </a:xfrm>
          <a:prstGeom prst="rect">
            <a:avLst/>
          </a:prstGeom>
          <a:noFill/>
        </p:spPr>
        <p:txBody>
          <a:bodyPr wrap="square" anchor="t">
            <a:spAutoFit/>
          </a:bodyPr>
          <a:lstStyle/>
          <a:p>
            <a:pPr algn="r">
              <a:spcAft>
                <a:spcPts val="400"/>
              </a:spcAft>
            </a:pPr>
            <a:r>
              <a:rPr sz="900" b="0">
                <a:solidFill>
                  <a:srgbClr val="5B6372"/>
                </a:solidFill>
                <a:latin typeface="Arial"/>
              </a:rPr>
              <a:t>37</a:t>
            </a:r>
          </a:p>
        </p:txBody>
      </p:sp>
    </p:spTree>
  </p:cSld>
  <p:clrMapOvr>
    <a:masterClrMapping/>
  </p:clrMapOvr>
</p:sld>
</file>

<file path=ppt/slides/slide39.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256032" cy="1417320"/>
          </a:xfrm>
          <a:prstGeom prst="rect">
            <a:avLst/>
          </a:prstGeom>
          <a:solidFill>
            <a:srgbClr val="7C3AE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777240" y="457200"/>
            <a:ext cx="10607040" cy="365760"/>
          </a:xfrm>
          <a:prstGeom prst="rect">
            <a:avLst/>
          </a:prstGeom>
          <a:noFill/>
        </p:spPr>
        <p:txBody>
          <a:bodyPr wrap="square" anchor="t">
            <a:spAutoFit/>
          </a:bodyPr>
          <a:lstStyle/>
          <a:p>
            <a:pPr algn="l">
              <a:spcAft>
                <a:spcPts val="400"/>
              </a:spcAft>
            </a:pPr>
            <a:r>
              <a:rPr sz="1400" b="1">
                <a:solidFill>
                  <a:srgbClr val="7C3AED"/>
                </a:solidFill>
                <a:latin typeface="Arial"/>
              </a:rPr>
              <a:t>THE FIVE AXIOMS OF QUANTUM MECHANICS</a:t>
            </a:r>
          </a:p>
        </p:txBody>
      </p:sp>
      <p:sp>
        <p:nvSpPr>
          <p:cNvPr id="5" name="TextBox 4"/>
          <p:cNvSpPr txBox="1"/>
          <p:nvPr/>
        </p:nvSpPr>
        <p:spPr>
          <a:xfrm>
            <a:off x="777240" y="822960"/>
            <a:ext cx="10881360" cy="822960"/>
          </a:xfrm>
          <a:prstGeom prst="rect">
            <a:avLst/>
          </a:prstGeom>
          <a:noFill/>
        </p:spPr>
        <p:txBody>
          <a:bodyPr wrap="square" anchor="t">
            <a:spAutoFit/>
          </a:bodyPr>
          <a:lstStyle/>
          <a:p>
            <a:pPr algn="l">
              <a:spcAft>
                <a:spcPts val="400"/>
              </a:spcAft>
            </a:pPr>
            <a:r>
              <a:rPr sz="2900" b="1">
                <a:solidFill>
                  <a:srgbClr val="161B26"/>
                </a:solidFill>
                <a:latin typeface="Arial"/>
              </a:rPr>
              <a:t>Postulate 1 — State Space</a:t>
            </a:r>
          </a:p>
        </p:txBody>
      </p:sp>
      <p:sp>
        <p:nvSpPr>
          <p:cNvPr id="6" name="Rectangle 5"/>
          <p:cNvSpPr/>
          <p:nvPr/>
        </p:nvSpPr>
        <p:spPr>
          <a:xfrm>
            <a:off x="777240" y="1554480"/>
            <a:ext cx="10634472" cy="18288"/>
          </a:xfrm>
          <a:prstGeom prst="rect">
            <a:avLst/>
          </a:prstGeom>
          <a:solidFill>
            <a:srgbClr val="E2E8F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Rectangle 6"/>
          <p:cNvSpPr/>
          <p:nvPr/>
        </p:nvSpPr>
        <p:spPr>
          <a:xfrm>
            <a:off x="777240" y="1783080"/>
            <a:ext cx="10634472" cy="749808"/>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Rectangle 7"/>
          <p:cNvSpPr/>
          <p:nvPr/>
        </p:nvSpPr>
        <p:spPr>
          <a:xfrm>
            <a:off x="777240" y="1783080"/>
            <a:ext cx="100584" cy="749808"/>
          </a:xfrm>
          <a:prstGeom prst="rect">
            <a:avLst/>
          </a:prstGeom>
          <a:solidFill>
            <a:srgbClr val="7C3AE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TextBox 8"/>
          <p:cNvSpPr txBox="1"/>
          <p:nvPr/>
        </p:nvSpPr>
        <p:spPr>
          <a:xfrm>
            <a:off x="1097280" y="1783080"/>
            <a:ext cx="10149840" cy="749808"/>
          </a:xfrm>
          <a:prstGeom prst="rect">
            <a:avLst/>
          </a:prstGeom>
          <a:noFill/>
        </p:spPr>
        <p:txBody>
          <a:bodyPr wrap="square" anchor="ctr">
            <a:spAutoFit/>
          </a:bodyPr>
          <a:lstStyle/>
          <a:p>
            <a:pPr algn="l">
              <a:spcAft>
                <a:spcPts val="400"/>
              </a:spcAft>
            </a:pPr>
            <a:r>
              <a:rPr sz="1450" b="1">
                <a:solidFill>
                  <a:srgbClr val="161B26"/>
                </a:solidFill>
                <a:latin typeface="Arial"/>
              </a:rPr>
              <a:t>The state of an isolated quantum system is a UNIT VECTOR in a complex Hilbert space H.</a:t>
            </a:r>
          </a:p>
        </p:txBody>
      </p:sp>
      <p:sp>
        <p:nvSpPr>
          <p:cNvPr id="10" name="Rectangle 9"/>
          <p:cNvSpPr/>
          <p:nvPr/>
        </p:nvSpPr>
        <p:spPr>
          <a:xfrm>
            <a:off x="777240" y="2697480"/>
            <a:ext cx="6035040" cy="3291840"/>
          </a:xfrm>
          <a:prstGeom prst="rect">
            <a:avLst/>
          </a:prstGeom>
          <a:solidFill>
            <a:srgbClr val="0B122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 name="TextBox 10"/>
          <p:cNvSpPr txBox="1"/>
          <p:nvPr/>
        </p:nvSpPr>
        <p:spPr>
          <a:xfrm>
            <a:off x="1097280" y="2843784"/>
            <a:ext cx="5394960" cy="2999232"/>
          </a:xfrm>
          <a:prstGeom prst="rect">
            <a:avLst/>
          </a:prstGeom>
          <a:noFill/>
        </p:spPr>
        <p:txBody>
          <a:bodyPr wrap="square" anchor="t">
            <a:spAutoFit/>
          </a:bodyPr>
          <a:lstStyle/>
          <a:p>
            <a:pPr algn="l">
              <a:spcAft>
                <a:spcPts val="300"/>
              </a:spcAft>
            </a:pPr>
            <a:r>
              <a:rPr sz="1300" b="0">
                <a:solidFill>
                  <a:srgbClr val="9CDCFE"/>
                </a:solidFill>
                <a:latin typeface="Arial"/>
              </a:rPr>
              <a:t>|ψ&gt;  ∈  H,      with   &lt;ψ|ψ&gt; = 1</a:t>
            </a:r>
          </a:p>
          <a:p>
            <a:pPr algn="l">
              <a:spcAft>
                <a:spcPts val="300"/>
              </a:spcAft>
            </a:pPr>
            <a:r>
              <a:rPr sz="1300" b="0">
                <a:solidFill>
                  <a:srgbClr val="0B1220"/>
                </a:solidFill>
                <a:latin typeface="Arial"/>
              </a:rPr>
              <a:t> </a:t>
            </a:r>
          </a:p>
          <a:p>
            <a:pPr algn="l">
              <a:spcAft>
                <a:spcPts val="300"/>
              </a:spcAft>
            </a:pPr>
            <a:r>
              <a:rPr sz="1300" b="0">
                <a:solidFill>
                  <a:srgbClr val="9CDCFE"/>
                </a:solidFill>
                <a:latin typeface="Arial"/>
              </a:rPr>
              <a:t>A single qubit:   H = C²,  spanned by |0&gt; and |1&gt;</a:t>
            </a:r>
          </a:p>
          <a:p>
            <a:pPr algn="l">
              <a:spcAft>
                <a:spcPts val="300"/>
              </a:spcAft>
            </a:pPr>
            <a:r>
              <a:rPr sz="1300" b="0">
                <a:solidFill>
                  <a:srgbClr val="9CDCFE"/>
                </a:solidFill>
                <a:latin typeface="Arial"/>
              </a:rPr>
              <a:t>   |ψ&gt; = α|0&gt; + β|1&gt;,     α, β ∈ C,     |α|² + |β|² = 1</a:t>
            </a:r>
          </a:p>
          <a:p>
            <a:pPr algn="l">
              <a:spcAft>
                <a:spcPts val="300"/>
              </a:spcAft>
            </a:pPr>
            <a:r>
              <a:rPr sz="1300" b="0">
                <a:solidFill>
                  <a:srgbClr val="0B1220"/>
                </a:solidFill>
                <a:latin typeface="Arial"/>
              </a:rPr>
              <a:t> </a:t>
            </a:r>
          </a:p>
          <a:p>
            <a:pPr algn="l">
              <a:spcAft>
                <a:spcPts val="300"/>
              </a:spcAft>
            </a:pPr>
            <a:r>
              <a:rPr sz="1300" b="0">
                <a:solidFill>
                  <a:srgbClr val="9CDCFE"/>
                </a:solidFill>
                <a:latin typeface="Arial"/>
              </a:rPr>
              <a:t>n qubits:   H = C² (x) C² (x) … (x) C²  =  C^(2ⁿ)</a:t>
            </a:r>
          </a:p>
        </p:txBody>
      </p:sp>
      <p:sp>
        <p:nvSpPr>
          <p:cNvPr id="12" name="TextBox 11"/>
          <p:cNvSpPr txBox="1"/>
          <p:nvPr/>
        </p:nvSpPr>
        <p:spPr>
          <a:xfrm>
            <a:off x="7059168" y="2697480"/>
            <a:ext cx="4352544" cy="320040"/>
          </a:xfrm>
          <a:prstGeom prst="rect">
            <a:avLst/>
          </a:prstGeom>
          <a:noFill/>
        </p:spPr>
        <p:txBody>
          <a:bodyPr wrap="square" anchor="t">
            <a:spAutoFit/>
          </a:bodyPr>
          <a:lstStyle/>
          <a:p>
            <a:pPr algn="l">
              <a:spcAft>
                <a:spcPts val="400"/>
              </a:spcAft>
            </a:pPr>
            <a:r>
              <a:rPr sz="1150" b="1">
                <a:solidFill>
                  <a:srgbClr val="1F6FEB"/>
                </a:solidFill>
                <a:latin typeface="Arial"/>
              </a:rPr>
              <a:t>WHAT IT MEANS</a:t>
            </a:r>
          </a:p>
        </p:txBody>
      </p:sp>
      <p:sp>
        <p:nvSpPr>
          <p:cNvPr id="13" name="Rectangle 12"/>
          <p:cNvSpPr/>
          <p:nvPr/>
        </p:nvSpPr>
        <p:spPr>
          <a:xfrm>
            <a:off x="7059168" y="3063240"/>
            <a:ext cx="4352544" cy="386333"/>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 name="Rectangle 13"/>
          <p:cNvSpPr/>
          <p:nvPr/>
        </p:nvSpPr>
        <p:spPr>
          <a:xfrm>
            <a:off x="7059168" y="3063240"/>
            <a:ext cx="73152" cy="386333"/>
          </a:xfrm>
          <a:prstGeom prst="rect">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5" name="TextBox 14"/>
          <p:cNvSpPr txBox="1"/>
          <p:nvPr/>
        </p:nvSpPr>
        <p:spPr>
          <a:xfrm>
            <a:off x="7260336" y="3063240"/>
            <a:ext cx="3986784" cy="386333"/>
          </a:xfrm>
          <a:prstGeom prst="rect">
            <a:avLst/>
          </a:prstGeom>
          <a:noFill/>
        </p:spPr>
        <p:txBody>
          <a:bodyPr wrap="square" anchor="ctr">
            <a:spAutoFit/>
          </a:bodyPr>
          <a:lstStyle/>
          <a:p>
            <a:pPr algn="l">
              <a:spcAft>
                <a:spcPts val="400"/>
              </a:spcAft>
            </a:pPr>
            <a:r>
              <a:rPr sz="1150" b="0">
                <a:solidFill>
                  <a:srgbClr val="161B26"/>
                </a:solidFill>
                <a:latin typeface="Arial"/>
              </a:rPr>
              <a:t>The amplitudes α and β are COMPLEX numbers, not probabilities.</a:t>
            </a:r>
          </a:p>
        </p:txBody>
      </p:sp>
      <p:sp>
        <p:nvSpPr>
          <p:cNvPr id="16" name="Rectangle 15"/>
          <p:cNvSpPr/>
          <p:nvPr/>
        </p:nvSpPr>
        <p:spPr>
          <a:xfrm>
            <a:off x="7059168" y="3559301"/>
            <a:ext cx="4352544" cy="386333"/>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7" name="Rectangle 16"/>
          <p:cNvSpPr/>
          <p:nvPr/>
        </p:nvSpPr>
        <p:spPr>
          <a:xfrm>
            <a:off x="7059168" y="3559301"/>
            <a:ext cx="73152" cy="386333"/>
          </a:xfrm>
          <a:prstGeom prst="rect">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8" name="TextBox 17"/>
          <p:cNvSpPr txBox="1"/>
          <p:nvPr/>
        </p:nvSpPr>
        <p:spPr>
          <a:xfrm>
            <a:off x="7260336" y="3559301"/>
            <a:ext cx="3986784" cy="386333"/>
          </a:xfrm>
          <a:prstGeom prst="rect">
            <a:avLst/>
          </a:prstGeom>
          <a:noFill/>
        </p:spPr>
        <p:txBody>
          <a:bodyPr wrap="square" anchor="ctr">
            <a:spAutoFit/>
          </a:bodyPr>
          <a:lstStyle/>
          <a:p>
            <a:pPr algn="l">
              <a:spcAft>
                <a:spcPts val="400"/>
              </a:spcAft>
            </a:pPr>
            <a:r>
              <a:rPr sz="1150" b="0">
                <a:solidFill>
                  <a:srgbClr val="161B26"/>
                </a:solidFill>
                <a:latin typeface="Arial"/>
              </a:rPr>
              <a:t>Normalisation &lt;ψ|ψ&gt; = 1 says the total probability is 1.</a:t>
            </a:r>
          </a:p>
        </p:txBody>
      </p:sp>
      <p:sp>
        <p:nvSpPr>
          <p:cNvPr id="19" name="Rectangle 18"/>
          <p:cNvSpPr/>
          <p:nvPr/>
        </p:nvSpPr>
        <p:spPr>
          <a:xfrm>
            <a:off x="7059168" y="4055362"/>
            <a:ext cx="4352544" cy="386333"/>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0" name="Rectangle 19"/>
          <p:cNvSpPr/>
          <p:nvPr/>
        </p:nvSpPr>
        <p:spPr>
          <a:xfrm>
            <a:off x="7059168" y="4055362"/>
            <a:ext cx="73152" cy="386333"/>
          </a:xfrm>
          <a:prstGeom prst="rect">
            <a:avLst/>
          </a:prstGeom>
          <a:solidFill>
            <a:srgbClr val="7C3AE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1" name="TextBox 20"/>
          <p:cNvSpPr txBox="1"/>
          <p:nvPr/>
        </p:nvSpPr>
        <p:spPr>
          <a:xfrm>
            <a:off x="7260336" y="4055362"/>
            <a:ext cx="3986784" cy="386333"/>
          </a:xfrm>
          <a:prstGeom prst="rect">
            <a:avLst/>
          </a:prstGeom>
          <a:noFill/>
        </p:spPr>
        <p:txBody>
          <a:bodyPr wrap="square" anchor="ctr">
            <a:spAutoFit/>
          </a:bodyPr>
          <a:lstStyle/>
          <a:p>
            <a:pPr algn="l">
              <a:spcAft>
                <a:spcPts val="400"/>
              </a:spcAft>
            </a:pPr>
            <a:r>
              <a:rPr sz="1150" b="0">
                <a:solidFill>
                  <a:srgbClr val="161B26"/>
                </a:solidFill>
                <a:latin typeface="Arial"/>
              </a:rPr>
              <a:t>A GLOBAL phase carries no physics: |ψ&gt; and e^(iφ)|ψ&gt; are the same state.</a:t>
            </a:r>
          </a:p>
        </p:txBody>
      </p:sp>
      <p:sp>
        <p:nvSpPr>
          <p:cNvPr id="22" name="Rectangle 21"/>
          <p:cNvSpPr/>
          <p:nvPr/>
        </p:nvSpPr>
        <p:spPr>
          <a:xfrm>
            <a:off x="7059168" y="4551423"/>
            <a:ext cx="4352544" cy="386333"/>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3" name="Rectangle 22"/>
          <p:cNvSpPr/>
          <p:nvPr/>
        </p:nvSpPr>
        <p:spPr>
          <a:xfrm>
            <a:off x="7059168" y="4551423"/>
            <a:ext cx="73152" cy="386333"/>
          </a:xfrm>
          <a:prstGeom prst="rect">
            <a:avLst/>
          </a:prstGeom>
          <a:solidFill>
            <a:srgbClr val="F59E0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4" name="TextBox 23"/>
          <p:cNvSpPr txBox="1"/>
          <p:nvPr/>
        </p:nvSpPr>
        <p:spPr>
          <a:xfrm>
            <a:off x="7260336" y="4551423"/>
            <a:ext cx="3986784" cy="386333"/>
          </a:xfrm>
          <a:prstGeom prst="rect">
            <a:avLst/>
          </a:prstGeom>
          <a:noFill/>
        </p:spPr>
        <p:txBody>
          <a:bodyPr wrap="square" anchor="ctr">
            <a:spAutoFit/>
          </a:bodyPr>
          <a:lstStyle/>
          <a:p>
            <a:pPr algn="l">
              <a:spcAft>
                <a:spcPts val="400"/>
              </a:spcAft>
            </a:pPr>
            <a:r>
              <a:rPr sz="1150" b="0">
                <a:solidFill>
                  <a:srgbClr val="161B26"/>
                </a:solidFill>
                <a:latin typeface="Arial"/>
              </a:rPr>
              <a:t>A RELATIVE phase between terms is physical — it drives interference.</a:t>
            </a:r>
          </a:p>
        </p:txBody>
      </p:sp>
      <p:sp>
        <p:nvSpPr>
          <p:cNvPr id="25" name="Rectangle 24"/>
          <p:cNvSpPr/>
          <p:nvPr/>
        </p:nvSpPr>
        <p:spPr>
          <a:xfrm>
            <a:off x="7059168" y="5074920"/>
            <a:ext cx="4352544" cy="914400"/>
          </a:xfrm>
          <a:prstGeom prst="rect">
            <a:avLst/>
          </a:prstGeom>
          <a:solidFill>
            <a:srgbClr val="E8F7E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6" name="TextBox 25"/>
          <p:cNvSpPr txBox="1"/>
          <p:nvPr/>
        </p:nvSpPr>
        <p:spPr>
          <a:xfrm>
            <a:off x="7260336" y="5074920"/>
            <a:ext cx="3986784" cy="914400"/>
          </a:xfrm>
          <a:prstGeom prst="rect">
            <a:avLst/>
          </a:prstGeom>
          <a:noFill/>
        </p:spPr>
        <p:txBody>
          <a:bodyPr wrap="square" anchor="ctr">
            <a:spAutoFit/>
          </a:bodyPr>
          <a:lstStyle/>
          <a:p>
            <a:pPr algn="l">
              <a:spcAft>
                <a:spcPts val="400"/>
              </a:spcAft>
            </a:pPr>
            <a:r>
              <a:rPr sz="1050" b="1">
                <a:solidFill>
                  <a:srgbClr val="127A3E"/>
                </a:solidFill>
                <a:latin typeface="Arial"/>
              </a:rPr>
              <a:t>WHY IT MATTERS:  </a:t>
            </a:r>
            <a:r>
              <a:rPr sz="1100" b="0">
                <a:solidFill>
                  <a:srgbClr val="161B26"/>
                </a:solidFill>
                <a:latin typeface="Arial"/>
              </a:rPr>
              <a:t>This is why n qubits hold 2ⁿ amplitudes: the state space is a TENSOR PRODUCT, so dimensions multiply rather than add. 300 qubits carry more amplitudes than there are atoms in the observable universe.</a:t>
            </a:r>
          </a:p>
        </p:txBody>
      </p:sp>
      <p:sp>
        <p:nvSpPr>
          <p:cNvPr id="27" name="TextBox 26"/>
          <p:cNvSpPr txBox="1"/>
          <p:nvPr/>
        </p:nvSpPr>
        <p:spPr>
          <a:xfrm>
            <a:off x="365760" y="6446520"/>
            <a:ext cx="6858000" cy="320040"/>
          </a:xfrm>
          <a:prstGeom prst="rect">
            <a:avLst/>
          </a:prstGeom>
          <a:noFill/>
        </p:spPr>
        <p:txBody>
          <a:bodyPr wrap="square" anchor="t">
            <a:spAutoFit/>
          </a:bodyPr>
          <a:lstStyle/>
          <a:p>
            <a:pPr algn="l">
              <a:spcAft>
                <a:spcPts val="400"/>
              </a:spcAft>
            </a:pPr>
            <a:r>
              <a:rPr sz="900" b="0">
                <a:solidFill>
                  <a:srgbClr val="5B6372"/>
                </a:solidFill>
                <a:latin typeface="Arial"/>
              </a:rPr>
              <a:t>Securing the Future with Quantum Computing and Cryptography  ·  TGS-2024043419</a:t>
            </a:r>
          </a:p>
        </p:txBody>
      </p:sp>
      <p:sp>
        <p:nvSpPr>
          <p:cNvPr id="28" name="TextBox 27"/>
          <p:cNvSpPr txBox="1"/>
          <p:nvPr/>
        </p:nvSpPr>
        <p:spPr>
          <a:xfrm>
            <a:off x="4572000" y="6446520"/>
            <a:ext cx="3017520" cy="320040"/>
          </a:xfrm>
          <a:prstGeom prst="rect">
            <a:avLst/>
          </a:prstGeom>
          <a:noFill/>
        </p:spPr>
        <p:txBody>
          <a:bodyPr wrap="square" anchor="t">
            <a:spAutoFit/>
          </a:bodyPr>
          <a:lstStyle/>
          <a:p>
            <a:pPr algn="ctr">
              <a:spcAft>
                <a:spcPts val="400"/>
              </a:spcAft>
            </a:pPr>
            <a:r>
              <a:rPr sz="900" b="0">
                <a:solidFill>
                  <a:srgbClr val="5B6372"/>
                </a:solidFill>
                <a:latin typeface="Arial"/>
              </a:rPr>
              <a:t>© 2026 Tertiary Infotech Academy Pte Ltd</a:t>
            </a:r>
          </a:p>
        </p:txBody>
      </p:sp>
      <p:sp>
        <p:nvSpPr>
          <p:cNvPr id="29" name="TextBox 28"/>
          <p:cNvSpPr txBox="1"/>
          <p:nvPr/>
        </p:nvSpPr>
        <p:spPr>
          <a:xfrm>
            <a:off x="11338560" y="6446520"/>
            <a:ext cx="548640" cy="320040"/>
          </a:xfrm>
          <a:prstGeom prst="rect">
            <a:avLst/>
          </a:prstGeom>
          <a:noFill/>
        </p:spPr>
        <p:txBody>
          <a:bodyPr wrap="square" anchor="t">
            <a:spAutoFit/>
          </a:bodyPr>
          <a:lstStyle/>
          <a:p>
            <a:pPr algn="r">
              <a:spcAft>
                <a:spcPts val="400"/>
              </a:spcAft>
            </a:pPr>
            <a:r>
              <a:rPr sz="900" b="0">
                <a:solidFill>
                  <a:srgbClr val="5B6372"/>
                </a:solidFill>
                <a:latin typeface="Arial"/>
              </a:rPr>
              <a:t>38</a:t>
            </a:r>
          </a:p>
        </p:txBody>
      </p:sp>
    </p:spTree>
  </p:cSld>
  <p:clrMapOvr>
    <a:masterClrMapping/>
  </p:clrMapOvr>
</p:sld>
</file>

<file path=ppt/slides/slide40.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256032" cy="1417320"/>
          </a:xfrm>
          <a:prstGeom prst="rect">
            <a:avLst/>
          </a:prstGeom>
          <a:solidFill>
            <a:srgbClr val="7C3AE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777240" y="457200"/>
            <a:ext cx="10607040" cy="365760"/>
          </a:xfrm>
          <a:prstGeom prst="rect">
            <a:avLst/>
          </a:prstGeom>
          <a:noFill/>
        </p:spPr>
        <p:txBody>
          <a:bodyPr wrap="square" anchor="t">
            <a:spAutoFit/>
          </a:bodyPr>
          <a:lstStyle/>
          <a:p>
            <a:pPr algn="l">
              <a:spcAft>
                <a:spcPts val="400"/>
              </a:spcAft>
            </a:pPr>
            <a:r>
              <a:rPr sz="1400" b="1">
                <a:solidFill>
                  <a:srgbClr val="7C3AED"/>
                </a:solidFill>
                <a:latin typeface="Arial"/>
              </a:rPr>
              <a:t>THE FIVE AXIOMS OF QUANTUM MECHANICS</a:t>
            </a:r>
          </a:p>
        </p:txBody>
      </p:sp>
      <p:sp>
        <p:nvSpPr>
          <p:cNvPr id="5" name="TextBox 4"/>
          <p:cNvSpPr txBox="1"/>
          <p:nvPr/>
        </p:nvSpPr>
        <p:spPr>
          <a:xfrm>
            <a:off x="777240" y="822960"/>
            <a:ext cx="10881360" cy="822960"/>
          </a:xfrm>
          <a:prstGeom prst="rect">
            <a:avLst/>
          </a:prstGeom>
          <a:noFill/>
        </p:spPr>
        <p:txBody>
          <a:bodyPr wrap="square" anchor="t">
            <a:spAutoFit/>
          </a:bodyPr>
          <a:lstStyle/>
          <a:p>
            <a:pPr algn="l">
              <a:spcAft>
                <a:spcPts val="400"/>
              </a:spcAft>
            </a:pPr>
            <a:r>
              <a:rPr sz="2900" b="1">
                <a:solidFill>
                  <a:srgbClr val="161B26"/>
                </a:solidFill>
                <a:latin typeface="Arial"/>
              </a:rPr>
              <a:t>Postulate 2 — Time Evolution (Unitarity)</a:t>
            </a:r>
          </a:p>
        </p:txBody>
      </p:sp>
      <p:sp>
        <p:nvSpPr>
          <p:cNvPr id="6" name="Rectangle 5"/>
          <p:cNvSpPr/>
          <p:nvPr/>
        </p:nvSpPr>
        <p:spPr>
          <a:xfrm>
            <a:off x="777240" y="1554480"/>
            <a:ext cx="10634472" cy="18288"/>
          </a:xfrm>
          <a:prstGeom prst="rect">
            <a:avLst/>
          </a:prstGeom>
          <a:solidFill>
            <a:srgbClr val="E2E8F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Rectangle 6"/>
          <p:cNvSpPr/>
          <p:nvPr/>
        </p:nvSpPr>
        <p:spPr>
          <a:xfrm>
            <a:off x="777240" y="1783080"/>
            <a:ext cx="10634472" cy="749808"/>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Rectangle 7"/>
          <p:cNvSpPr/>
          <p:nvPr/>
        </p:nvSpPr>
        <p:spPr>
          <a:xfrm>
            <a:off x="777240" y="1783080"/>
            <a:ext cx="100584" cy="749808"/>
          </a:xfrm>
          <a:prstGeom prst="rect">
            <a:avLst/>
          </a:prstGeom>
          <a:solidFill>
            <a:srgbClr val="7C3AE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TextBox 8"/>
          <p:cNvSpPr txBox="1"/>
          <p:nvPr/>
        </p:nvSpPr>
        <p:spPr>
          <a:xfrm>
            <a:off x="1097280" y="1783080"/>
            <a:ext cx="10149840" cy="749808"/>
          </a:xfrm>
          <a:prstGeom prst="rect">
            <a:avLst/>
          </a:prstGeom>
          <a:noFill/>
        </p:spPr>
        <p:txBody>
          <a:bodyPr wrap="square" anchor="ctr">
            <a:spAutoFit/>
          </a:bodyPr>
          <a:lstStyle/>
          <a:p>
            <a:pPr algn="l">
              <a:spcAft>
                <a:spcPts val="400"/>
              </a:spcAft>
            </a:pPr>
            <a:r>
              <a:rPr sz="1450" b="1">
                <a:solidFill>
                  <a:srgbClr val="161B26"/>
                </a:solidFill>
                <a:latin typeface="Arial"/>
              </a:rPr>
              <a:t>A closed quantum system evolves by a UNITARY operator.</a:t>
            </a:r>
          </a:p>
        </p:txBody>
      </p:sp>
      <p:sp>
        <p:nvSpPr>
          <p:cNvPr id="10" name="Rectangle 9"/>
          <p:cNvSpPr/>
          <p:nvPr/>
        </p:nvSpPr>
        <p:spPr>
          <a:xfrm>
            <a:off x="777240" y="2697480"/>
            <a:ext cx="6035040" cy="3291840"/>
          </a:xfrm>
          <a:prstGeom prst="rect">
            <a:avLst/>
          </a:prstGeom>
          <a:solidFill>
            <a:srgbClr val="0B122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 name="TextBox 10"/>
          <p:cNvSpPr txBox="1"/>
          <p:nvPr/>
        </p:nvSpPr>
        <p:spPr>
          <a:xfrm>
            <a:off x="1097280" y="2843784"/>
            <a:ext cx="5394960" cy="2999232"/>
          </a:xfrm>
          <a:prstGeom prst="rect">
            <a:avLst/>
          </a:prstGeom>
          <a:noFill/>
        </p:spPr>
        <p:txBody>
          <a:bodyPr wrap="square" anchor="t">
            <a:spAutoFit/>
          </a:bodyPr>
          <a:lstStyle/>
          <a:p>
            <a:pPr algn="l">
              <a:spcAft>
                <a:spcPts val="300"/>
              </a:spcAft>
            </a:pPr>
            <a:r>
              <a:rPr sz="1300" b="0">
                <a:solidFill>
                  <a:srgbClr val="9CDCFE"/>
                </a:solidFill>
                <a:latin typeface="Arial"/>
              </a:rPr>
              <a:t>|ψ(t)&gt;  =  U |ψ(0)&gt;,        where   U†U = UU† = I</a:t>
            </a:r>
          </a:p>
          <a:p>
            <a:pPr algn="l">
              <a:spcAft>
                <a:spcPts val="300"/>
              </a:spcAft>
            </a:pPr>
            <a:r>
              <a:rPr sz="1300" b="0">
                <a:solidFill>
                  <a:srgbClr val="0B1220"/>
                </a:solidFill>
                <a:latin typeface="Arial"/>
              </a:rPr>
              <a:t> </a:t>
            </a:r>
          </a:p>
          <a:p>
            <a:pPr algn="l">
              <a:spcAft>
                <a:spcPts val="300"/>
              </a:spcAft>
            </a:pPr>
            <a:r>
              <a:rPr sz="1300" b="0">
                <a:solidFill>
                  <a:srgbClr val="9CDCFE"/>
                </a:solidFill>
                <a:latin typeface="Arial"/>
              </a:rPr>
              <a:t>Equivalently, from the Schrödinger equation:</a:t>
            </a:r>
          </a:p>
          <a:p>
            <a:pPr algn="l">
              <a:spcAft>
                <a:spcPts val="300"/>
              </a:spcAft>
            </a:pPr>
            <a:r>
              <a:rPr sz="1300" b="0">
                <a:solidFill>
                  <a:srgbClr val="9CDCFE"/>
                </a:solidFill>
                <a:latin typeface="Arial"/>
              </a:rPr>
              <a:t>   iħ d|ψ&gt;/dt  =  H|ψ&gt;        =&gt;        U = e^(-iHt/ħ)</a:t>
            </a:r>
          </a:p>
          <a:p>
            <a:pPr algn="l">
              <a:spcAft>
                <a:spcPts val="300"/>
              </a:spcAft>
            </a:pPr>
            <a:r>
              <a:rPr sz="1300" b="0">
                <a:solidFill>
                  <a:srgbClr val="0B1220"/>
                </a:solidFill>
                <a:latin typeface="Arial"/>
              </a:rPr>
              <a:t> </a:t>
            </a:r>
          </a:p>
          <a:p>
            <a:pPr algn="l">
              <a:spcAft>
                <a:spcPts val="300"/>
              </a:spcAft>
            </a:pPr>
            <a:r>
              <a:rPr sz="1300" b="0">
                <a:solidFill>
                  <a:srgbClr val="9CDCFE"/>
                </a:solidFill>
                <a:latin typeface="Arial"/>
              </a:rPr>
              <a:t>with H the Hamiltonian (Hermitian, so U is unitary).</a:t>
            </a:r>
          </a:p>
        </p:txBody>
      </p:sp>
      <p:sp>
        <p:nvSpPr>
          <p:cNvPr id="12" name="TextBox 11"/>
          <p:cNvSpPr txBox="1"/>
          <p:nvPr/>
        </p:nvSpPr>
        <p:spPr>
          <a:xfrm>
            <a:off x="7059168" y="2697480"/>
            <a:ext cx="4352544" cy="320040"/>
          </a:xfrm>
          <a:prstGeom prst="rect">
            <a:avLst/>
          </a:prstGeom>
          <a:noFill/>
        </p:spPr>
        <p:txBody>
          <a:bodyPr wrap="square" anchor="t">
            <a:spAutoFit/>
          </a:bodyPr>
          <a:lstStyle/>
          <a:p>
            <a:pPr algn="l">
              <a:spcAft>
                <a:spcPts val="400"/>
              </a:spcAft>
            </a:pPr>
            <a:r>
              <a:rPr sz="1150" b="1">
                <a:solidFill>
                  <a:srgbClr val="1F6FEB"/>
                </a:solidFill>
                <a:latin typeface="Arial"/>
              </a:rPr>
              <a:t>WHAT IT MEANS</a:t>
            </a:r>
          </a:p>
        </p:txBody>
      </p:sp>
      <p:sp>
        <p:nvSpPr>
          <p:cNvPr id="13" name="Rectangle 12"/>
          <p:cNvSpPr/>
          <p:nvPr/>
        </p:nvSpPr>
        <p:spPr>
          <a:xfrm>
            <a:off x="7059168" y="3063240"/>
            <a:ext cx="4352544" cy="386333"/>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 name="Rectangle 13"/>
          <p:cNvSpPr/>
          <p:nvPr/>
        </p:nvSpPr>
        <p:spPr>
          <a:xfrm>
            <a:off x="7059168" y="3063240"/>
            <a:ext cx="73152" cy="386333"/>
          </a:xfrm>
          <a:prstGeom prst="rect">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5" name="TextBox 14"/>
          <p:cNvSpPr txBox="1"/>
          <p:nvPr/>
        </p:nvSpPr>
        <p:spPr>
          <a:xfrm>
            <a:off x="7260336" y="3063240"/>
            <a:ext cx="3986784" cy="386333"/>
          </a:xfrm>
          <a:prstGeom prst="rect">
            <a:avLst/>
          </a:prstGeom>
          <a:noFill/>
        </p:spPr>
        <p:txBody>
          <a:bodyPr wrap="square" anchor="ctr">
            <a:spAutoFit/>
          </a:bodyPr>
          <a:lstStyle/>
          <a:p>
            <a:pPr algn="l">
              <a:spcAft>
                <a:spcPts val="400"/>
              </a:spcAft>
            </a:pPr>
            <a:r>
              <a:rPr sz="1150" b="0">
                <a:solidFill>
                  <a:srgbClr val="161B26"/>
                </a:solidFill>
                <a:latin typeface="Arial"/>
              </a:rPr>
              <a:t>EVERY quantum gate is unitary — this is not a design choice but a law.</a:t>
            </a:r>
          </a:p>
        </p:txBody>
      </p:sp>
      <p:sp>
        <p:nvSpPr>
          <p:cNvPr id="16" name="Rectangle 15"/>
          <p:cNvSpPr/>
          <p:nvPr/>
        </p:nvSpPr>
        <p:spPr>
          <a:xfrm>
            <a:off x="7059168" y="3559301"/>
            <a:ext cx="4352544" cy="386333"/>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7" name="Rectangle 16"/>
          <p:cNvSpPr/>
          <p:nvPr/>
        </p:nvSpPr>
        <p:spPr>
          <a:xfrm>
            <a:off x="7059168" y="3559301"/>
            <a:ext cx="73152" cy="386333"/>
          </a:xfrm>
          <a:prstGeom prst="rect">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8" name="TextBox 17"/>
          <p:cNvSpPr txBox="1"/>
          <p:nvPr/>
        </p:nvSpPr>
        <p:spPr>
          <a:xfrm>
            <a:off x="7260336" y="3559301"/>
            <a:ext cx="3986784" cy="386333"/>
          </a:xfrm>
          <a:prstGeom prst="rect">
            <a:avLst/>
          </a:prstGeom>
          <a:noFill/>
        </p:spPr>
        <p:txBody>
          <a:bodyPr wrap="square" anchor="ctr">
            <a:spAutoFit/>
          </a:bodyPr>
          <a:lstStyle/>
          <a:p>
            <a:pPr algn="l">
              <a:spcAft>
                <a:spcPts val="400"/>
              </a:spcAft>
            </a:pPr>
            <a:r>
              <a:rPr sz="1150" b="0">
                <a:solidFill>
                  <a:srgbClr val="161B26"/>
                </a:solidFill>
                <a:latin typeface="Arial"/>
              </a:rPr>
              <a:t>Unitary =&gt; REVERSIBLE: U⁻¹ = U† always exists, so no information is destroyed.</a:t>
            </a:r>
          </a:p>
        </p:txBody>
      </p:sp>
      <p:sp>
        <p:nvSpPr>
          <p:cNvPr id="19" name="Rectangle 18"/>
          <p:cNvSpPr/>
          <p:nvPr/>
        </p:nvSpPr>
        <p:spPr>
          <a:xfrm>
            <a:off x="7059168" y="4055362"/>
            <a:ext cx="4352544" cy="386333"/>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0" name="Rectangle 19"/>
          <p:cNvSpPr/>
          <p:nvPr/>
        </p:nvSpPr>
        <p:spPr>
          <a:xfrm>
            <a:off x="7059168" y="4055362"/>
            <a:ext cx="73152" cy="386333"/>
          </a:xfrm>
          <a:prstGeom prst="rect">
            <a:avLst/>
          </a:prstGeom>
          <a:solidFill>
            <a:srgbClr val="7C3AE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1" name="TextBox 20"/>
          <p:cNvSpPr txBox="1"/>
          <p:nvPr/>
        </p:nvSpPr>
        <p:spPr>
          <a:xfrm>
            <a:off x="7260336" y="4055362"/>
            <a:ext cx="3986784" cy="386333"/>
          </a:xfrm>
          <a:prstGeom prst="rect">
            <a:avLst/>
          </a:prstGeom>
          <a:noFill/>
        </p:spPr>
        <p:txBody>
          <a:bodyPr wrap="square" anchor="ctr">
            <a:spAutoFit/>
          </a:bodyPr>
          <a:lstStyle/>
          <a:p>
            <a:pPr algn="l">
              <a:spcAft>
                <a:spcPts val="400"/>
              </a:spcAft>
            </a:pPr>
            <a:r>
              <a:rPr sz="1150" b="0">
                <a:solidFill>
                  <a:srgbClr val="161B26"/>
                </a:solidFill>
                <a:latin typeface="Arial"/>
              </a:rPr>
              <a:t>Unitary =&gt; NORM-PRESERVING: probabilities still sum to 1 after the operation.</a:t>
            </a:r>
          </a:p>
        </p:txBody>
      </p:sp>
      <p:sp>
        <p:nvSpPr>
          <p:cNvPr id="22" name="Rectangle 21"/>
          <p:cNvSpPr/>
          <p:nvPr/>
        </p:nvSpPr>
        <p:spPr>
          <a:xfrm>
            <a:off x="7059168" y="4551423"/>
            <a:ext cx="4352544" cy="386333"/>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3" name="Rectangle 22"/>
          <p:cNvSpPr/>
          <p:nvPr/>
        </p:nvSpPr>
        <p:spPr>
          <a:xfrm>
            <a:off x="7059168" y="4551423"/>
            <a:ext cx="73152" cy="386333"/>
          </a:xfrm>
          <a:prstGeom prst="rect">
            <a:avLst/>
          </a:prstGeom>
          <a:solidFill>
            <a:srgbClr val="F59E0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4" name="TextBox 23"/>
          <p:cNvSpPr txBox="1"/>
          <p:nvPr/>
        </p:nvSpPr>
        <p:spPr>
          <a:xfrm>
            <a:off x="7260336" y="4551423"/>
            <a:ext cx="3986784" cy="386333"/>
          </a:xfrm>
          <a:prstGeom prst="rect">
            <a:avLst/>
          </a:prstGeom>
          <a:noFill/>
        </p:spPr>
        <p:txBody>
          <a:bodyPr wrap="square" anchor="ctr">
            <a:spAutoFit/>
          </a:bodyPr>
          <a:lstStyle/>
          <a:p>
            <a:pPr algn="l">
              <a:spcAft>
                <a:spcPts val="400"/>
              </a:spcAft>
            </a:pPr>
            <a:r>
              <a:rPr sz="1150" b="0">
                <a:solidFill>
                  <a:srgbClr val="161B26"/>
                </a:solidFill>
                <a:latin typeface="Arial"/>
              </a:rPr>
              <a:t>There is no quantum AND or OR gate — those are irreversible and lose information.</a:t>
            </a:r>
          </a:p>
        </p:txBody>
      </p:sp>
      <p:sp>
        <p:nvSpPr>
          <p:cNvPr id="25" name="Rectangle 24"/>
          <p:cNvSpPr/>
          <p:nvPr/>
        </p:nvSpPr>
        <p:spPr>
          <a:xfrm>
            <a:off x="7059168" y="5074920"/>
            <a:ext cx="4352544" cy="914400"/>
          </a:xfrm>
          <a:prstGeom prst="rect">
            <a:avLst/>
          </a:prstGeom>
          <a:solidFill>
            <a:srgbClr val="E8F7E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6" name="TextBox 25"/>
          <p:cNvSpPr txBox="1"/>
          <p:nvPr/>
        </p:nvSpPr>
        <p:spPr>
          <a:xfrm>
            <a:off x="7260336" y="5074920"/>
            <a:ext cx="3986784" cy="914400"/>
          </a:xfrm>
          <a:prstGeom prst="rect">
            <a:avLst/>
          </a:prstGeom>
          <a:noFill/>
        </p:spPr>
        <p:txBody>
          <a:bodyPr wrap="square" anchor="ctr">
            <a:spAutoFit/>
          </a:bodyPr>
          <a:lstStyle/>
          <a:p>
            <a:pPr algn="l">
              <a:spcAft>
                <a:spcPts val="400"/>
              </a:spcAft>
            </a:pPr>
            <a:r>
              <a:rPr sz="1050" b="1">
                <a:solidFill>
                  <a:srgbClr val="127A3E"/>
                </a:solidFill>
                <a:latin typeface="Arial"/>
              </a:rPr>
              <a:t>WHY IT MATTERS:  </a:t>
            </a:r>
            <a:r>
              <a:rPr sz="1100" b="0">
                <a:solidFill>
                  <a:srgbClr val="161B26"/>
                </a:solidFill>
                <a:latin typeface="Arial"/>
              </a:rPr>
              <a:t>Reversibility is why quantum circuits have the same number of output wires as input wires, and why classical logic must be embedded reversibly (Toffoli) before a quantum computer can run it.</a:t>
            </a:r>
          </a:p>
        </p:txBody>
      </p:sp>
      <p:sp>
        <p:nvSpPr>
          <p:cNvPr id="27" name="TextBox 26"/>
          <p:cNvSpPr txBox="1"/>
          <p:nvPr/>
        </p:nvSpPr>
        <p:spPr>
          <a:xfrm>
            <a:off x="365760" y="6446520"/>
            <a:ext cx="6858000" cy="320040"/>
          </a:xfrm>
          <a:prstGeom prst="rect">
            <a:avLst/>
          </a:prstGeom>
          <a:noFill/>
        </p:spPr>
        <p:txBody>
          <a:bodyPr wrap="square" anchor="t">
            <a:spAutoFit/>
          </a:bodyPr>
          <a:lstStyle/>
          <a:p>
            <a:pPr algn="l">
              <a:spcAft>
                <a:spcPts val="400"/>
              </a:spcAft>
            </a:pPr>
            <a:r>
              <a:rPr sz="900" b="0">
                <a:solidFill>
                  <a:srgbClr val="5B6372"/>
                </a:solidFill>
                <a:latin typeface="Arial"/>
              </a:rPr>
              <a:t>Securing the Future with Quantum Computing and Cryptography  ·  TGS-2024043419</a:t>
            </a:r>
          </a:p>
        </p:txBody>
      </p:sp>
      <p:sp>
        <p:nvSpPr>
          <p:cNvPr id="28" name="TextBox 27"/>
          <p:cNvSpPr txBox="1"/>
          <p:nvPr/>
        </p:nvSpPr>
        <p:spPr>
          <a:xfrm>
            <a:off x="4572000" y="6446520"/>
            <a:ext cx="3017520" cy="320040"/>
          </a:xfrm>
          <a:prstGeom prst="rect">
            <a:avLst/>
          </a:prstGeom>
          <a:noFill/>
        </p:spPr>
        <p:txBody>
          <a:bodyPr wrap="square" anchor="t">
            <a:spAutoFit/>
          </a:bodyPr>
          <a:lstStyle/>
          <a:p>
            <a:pPr algn="ctr">
              <a:spcAft>
                <a:spcPts val="400"/>
              </a:spcAft>
            </a:pPr>
            <a:r>
              <a:rPr sz="900" b="0">
                <a:solidFill>
                  <a:srgbClr val="5B6372"/>
                </a:solidFill>
                <a:latin typeface="Arial"/>
              </a:rPr>
              <a:t>© 2026 Tertiary Infotech Academy Pte Ltd</a:t>
            </a:r>
          </a:p>
        </p:txBody>
      </p:sp>
      <p:sp>
        <p:nvSpPr>
          <p:cNvPr id="29" name="TextBox 28"/>
          <p:cNvSpPr txBox="1"/>
          <p:nvPr/>
        </p:nvSpPr>
        <p:spPr>
          <a:xfrm>
            <a:off x="11338560" y="6446520"/>
            <a:ext cx="548640" cy="320040"/>
          </a:xfrm>
          <a:prstGeom prst="rect">
            <a:avLst/>
          </a:prstGeom>
          <a:noFill/>
        </p:spPr>
        <p:txBody>
          <a:bodyPr wrap="square" anchor="t">
            <a:spAutoFit/>
          </a:bodyPr>
          <a:lstStyle/>
          <a:p>
            <a:pPr algn="r">
              <a:spcAft>
                <a:spcPts val="400"/>
              </a:spcAft>
            </a:pPr>
            <a:r>
              <a:rPr sz="900" b="0">
                <a:solidFill>
                  <a:srgbClr val="5B6372"/>
                </a:solidFill>
                <a:latin typeface="Arial"/>
              </a:rPr>
              <a:t>39</a:t>
            </a:r>
          </a:p>
        </p:txBody>
      </p:sp>
    </p:spTree>
  </p:cSld>
  <p:clrMapOvr>
    <a:masterClrMapping/>
  </p:clrMapOvr>
</p:sld>
</file>

<file path=ppt/slides/slide41.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256032" cy="1417320"/>
          </a:xfrm>
          <a:prstGeom prst="rect">
            <a:avLst/>
          </a:prstGeom>
          <a:solidFill>
            <a:srgbClr val="7C3AE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777240" y="457200"/>
            <a:ext cx="10607040" cy="365760"/>
          </a:xfrm>
          <a:prstGeom prst="rect">
            <a:avLst/>
          </a:prstGeom>
          <a:noFill/>
        </p:spPr>
        <p:txBody>
          <a:bodyPr wrap="square" anchor="t">
            <a:spAutoFit/>
          </a:bodyPr>
          <a:lstStyle/>
          <a:p>
            <a:pPr algn="l">
              <a:spcAft>
                <a:spcPts val="400"/>
              </a:spcAft>
            </a:pPr>
            <a:r>
              <a:rPr sz="1400" b="1">
                <a:solidFill>
                  <a:srgbClr val="7C3AED"/>
                </a:solidFill>
                <a:latin typeface="Arial"/>
              </a:rPr>
              <a:t>THE FIVE AXIOMS OF QUANTUM MECHANICS</a:t>
            </a:r>
          </a:p>
        </p:txBody>
      </p:sp>
      <p:sp>
        <p:nvSpPr>
          <p:cNvPr id="5" name="TextBox 4"/>
          <p:cNvSpPr txBox="1"/>
          <p:nvPr/>
        </p:nvSpPr>
        <p:spPr>
          <a:xfrm>
            <a:off x="777240" y="822960"/>
            <a:ext cx="10881360" cy="822960"/>
          </a:xfrm>
          <a:prstGeom prst="rect">
            <a:avLst/>
          </a:prstGeom>
          <a:noFill/>
        </p:spPr>
        <p:txBody>
          <a:bodyPr wrap="square" anchor="t">
            <a:spAutoFit/>
          </a:bodyPr>
          <a:lstStyle/>
          <a:p>
            <a:pPr algn="l">
              <a:spcAft>
                <a:spcPts val="400"/>
              </a:spcAft>
            </a:pPr>
            <a:r>
              <a:rPr sz="2900" b="1">
                <a:solidFill>
                  <a:srgbClr val="161B26"/>
                </a:solidFill>
                <a:latin typeface="Arial"/>
              </a:rPr>
              <a:t>Postulate 3 — Observables</a:t>
            </a:r>
          </a:p>
        </p:txBody>
      </p:sp>
      <p:sp>
        <p:nvSpPr>
          <p:cNvPr id="6" name="Rectangle 5"/>
          <p:cNvSpPr/>
          <p:nvPr/>
        </p:nvSpPr>
        <p:spPr>
          <a:xfrm>
            <a:off x="777240" y="1554480"/>
            <a:ext cx="10634472" cy="18288"/>
          </a:xfrm>
          <a:prstGeom prst="rect">
            <a:avLst/>
          </a:prstGeom>
          <a:solidFill>
            <a:srgbClr val="E2E8F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Rectangle 6"/>
          <p:cNvSpPr/>
          <p:nvPr/>
        </p:nvSpPr>
        <p:spPr>
          <a:xfrm>
            <a:off x="777240" y="1783080"/>
            <a:ext cx="10634472" cy="749808"/>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Rectangle 7"/>
          <p:cNvSpPr/>
          <p:nvPr/>
        </p:nvSpPr>
        <p:spPr>
          <a:xfrm>
            <a:off x="777240" y="1783080"/>
            <a:ext cx="100584" cy="749808"/>
          </a:xfrm>
          <a:prstGeom prst="rect">
            <a:avLst/>
          </a:prstGeom>
          <a:solidFill>
            <a:srgbClr val="7C3AE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TextBox 8"/>
          <p:cNvSpPr txBox="1"/>
          <p:nvPr/>
        </p:nvSpPr>
        <p:spPr>
          <a:xfrm>
            <a:off x="1097280" y="1783080"/>
            <a:ext cx="10149840" cy="749808"/>
          </a:xfrm>
          <a:prstGeom prst="rect">
            <a:avLst/>
          </a:prstGeom>
          <a:noFill/>
        </p:spPr>
        <p:txBody>
          <a:bodyPr wrap="square" anchor="ctr">
            <a:spAutoFit/>
          </a:bodyPr>
          <a:lstStyle/>
          <a:p>
            <a:pPr algn="l">
              <a:spcAft>
                <a:spcPts val="400"/>
              </a:spcAft>
            </a:pPr>
            <a:r>
              <a:rPr sz="1450" b="1">
                <a:solidFill>
                  <a:srgbClr val="161B26"/>
                </a:solidFill>
                <a:latin typeface="Arial"/>
              </a:rPr>
              <a:t>Every measurable physical quantity is represented by a HERMITIAN operator.</a:t>
            </a:r>
          </a:p>
        </p:txBody>
      </p:sp>
      <p:sp>
        <p:nvSpPr>
          <p:cNvPr id="10" name="Rectangle 9"/>
          <p:cNvSpPr/>
          <p:nvPr/>
        </p:nvSpPr>
        <p:spPr>
          <a:xfrm>
            <a:off x="777240" y="2697480"/>
            <a:ext cx="6035040" cy="3291840"/>
          </a:xfrm>
          <a:prstGeom prst="rect">
            <a:avLst/>
          </a:prstGeom>
          <a:solidFill>
            <a:srgbClr val="0B122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 name="TextBox 10"/>
          <p:cNvSpPr txBox="1"/>
          <p:nvPr/>
        </p:nvSpPr>
        <p:spPr>
          <a:xfrm>
            <a:off x="1097280" y="2843784"/>
            <a:ext cx="5394960" cy="2999232"/>
          </a:xfrm>
          <a:prstGeom prst="rect">
            <a:avLst/>
          </a:prstGeom>
          <a:noFill/>
        </p:spPr>
        <p:txBody>
          <a:bodyPr wrap="square" anchor="t">
            <a:spAutoFit/>
          </a:bodyPr>
          <a:lstStyle/>
          <a:p>
            <a:pPr algn="l">
              <a:spcAft>
                <a:spcPts val="300"/>
              </a:spcAft>
            </a:pPr>
            <a:r>
              <a:rPr sz="1300" b="0">
                <a:solidFill>
                  <a:srgbClr val="9CDCFE"/>
                </a:solidFill>
                <a:latin typeface="Arial"/>
              </a:rPr>
              <a:t>A observable    &lt;=&gt;    A† = A</a:t>
            </a:r>
          </a:p>
          <a:p>
            <a:pPr algn="l">
              <a:spcAft>
                <a:spcPts val="300"/>
              </a:spcAft>
            </a:pPr>
            <a:r>
              <a:rPr sz="1300" b="0">
                <a:solidFill>
                  <a:srgbClr val="0B1220"/>
                </a:solidFill>
                <a:latin typeface="Arial"/>
              </a:rPr>
              <a:t> </a:t>
            </a:r>
          </a:p>
          <a:p>
            <a:pPr algn="l">
              <a:spcAft>
                <a:spcPts val="300"/>
              </a:spcAft>
            </a:pPr>
            <a:r>
              <a:rPr sz="1300" b="0">
                <a:solidFill>
                  <a:srgbClr val="9CDCFE"/>
                </a:solidFill>
                <a:latin typeface="Arial"/>
              </a:rPr>
              <a:t>Spectral decomposition:   A  =  Σ_i λᵢ |i&gt;&lt;i|</a:t>
            </a:r>
          </a:p>
          <a:p>
            <a:pPr algn="l">
              <a:spcAft>
                <a:spcPts val="300"/>
              </a:spcAft>
            </a:pPr>
            <a:r>
              <a:rPr sz="1300" b="0">
                <a:solidFill>
                  <a:srgbClr val="0B1220"/>
                </a:solidFill>
                <a:latin typeface="Arial"/>
              </a:rPr>
              <a:t> </a:t>
            </a:r>
          </a:p>
          <a:p>
            <a:pPr algn="l">
              <a:spcAft>
                <a:spcPts val="300"/>
              </a:spcAft>
            </a:pPr>
            <a:r>
              <a:rPr sz="1300" b="0">
                <a:solidFill>
                  <a:srgbClr val="9CDCFE"/>
                </a:solidFill>
                <a:latin typeface="Arial"/>
              </a:rPr>
              <a:t>  λᵢ  — real eigenvalues  = the possible measurement OUTCOMES</a:t>
            </a:r>
          </a:p>
          <a:p>
            <a:pPr algn="l">
              <a:spcAft>
                <a:spcPts val="300"/>
              </a:spcAft>
            </a:pPr>
            <a:r>
              <a:rPr sz="1300" b="0">
                <a:solidFill>
                  <a:srgbClr val="9CDCFE"/>
                </a:solidFill>
                <a:latin typeface="Arial"/>
              </a:rPr>
              <a:t>  |i&gt; — orthonormal eigenvectors = the measurement BASIS</a:t>
            </a:r>
          </a:p>
          <a:p>
            <a:pPr algn="l">
              <a:spcAft>
                <a:spcPts val="300"/>
              </a:spcAft>
            </a:pPr>
            <a:r>
              <a:rPr sz="1300" b="0">
                <a:solidFill>
                  <a:srgbClr val="0B1220"/>
                </a:solidFill>
                <a:latin typeface="Arial"/>
              </a:rPr>
              <a:t> </a:t>
            </a:r>
          </a:p>
          <a:p>
            <a:pPr algn="l">
              <a:spcAft>
                <a:spcPts val="300"/>
              </a:spcAft>
            </a:pPr>
            <a:r>
              <a:rPr sz="1300" b="0">
                <a:solidFill>
                  <a:srgbClr val="9CDCFE"/>
                </a:solidFill>
                <a:latin typeface="Arial"/>
              </a:rPr>
              <a:t>Example:  Z = |0&gt;&lt;0| - |1&gt;&lt;1|,  eigenvalues +1 and -1</a:t>
            </a:r>
          </a:p>
        </p:txBody>
      </p:sp>
      <p:sp>
        <p:nvSpPr>
          <p:cNvPr id="12" name="TextBox 11"/>
          <p:cNvSpPr txBox="1"/>
          <p:nvPr/>
        </p:nvSpPr>
        <p:spPr>
          <a:xfrm>
            <a:off x="7059168" y="2697480"/>
            <a:ext cx="4352544" cy="320040"/>
          </a:xfrm>
          <a:prstGeom prst="rect">
            <a:avLst/>
          </a:prstGeom>
          <a:noFill/>
        </p:spPr>
        <p:txBody>
          <a:bodyPr wrap="square" anchor="t">
            <a:spAutoFit/>
          </a:bodyPr>
          <a:lstStyle/>
          <a:p>
            <a:pPr algn="l">
              <a:spcAft>
                <a:spcPts val="400"/>
              </a:spcAft>
            </a:pPr>
            <a:r>
              <a:rPr sz="1150" b="1">
                <a:solidFill>
                  <a:srgbClr val="1F6FEB"/>
                </a:solidFill>
                <a:latin typeface="Arial"/>
              </a:rPr>
              <a:t>WHAT IT MEANS</a:t>
            </a:r>
          </a:p>
        </p:txBody>
      </p:sp>
      <p:sp>
        <p:nvSpPr>
          <p:cNvPr id="13" name="Rectangle 12"/>
          <p:cNvSpPr/>
          <p:nvPr/>
        </p:nvSpPr>
        <p:spPr>
          <a:xfrm>
            <a:off x="7059168" y="3063240"/>
            <a:ext cx="4352544" cy="386333"/>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 name="Rectangle 13"/>
          <p:cNvSpPr/>
          <p:nvPr/>
        </p:nvSpPr>
        <p:spPr>
          <a:xfrm>
            <a:off x="7059168" y="3063240"/>
            <a:ext cx="73152" cy="386333"/>
          </a:xfrm>
          <a:prstGeom prst="rect">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5" name="TextBox 14"/>
          <p:cNvSpPr txBox="1"/>
          <p:nvPr/>
        </p:nvSpPr>
        <p:spPr>
          <a:xfrm>
            <a:off x="7260336" y="3063240"/>
            <a:ext cx="3986784" cy="386333"/>
          </a:xfrm>
          <a:prstGeom prst="rect">
            <a:avLst/>
          </a:prstGeom>
          <a:noFill/>
        </p:spPr>
        <p:txBody>
          <a:bodyPr wrap="square" anchor="ctr">
            <a:spAutoFit/>
          </a:bodyPr>
          <a:lstStyle/>
          <a:p>
            <a:pPr algn="l">
              <a:spcAft>
                <a:spcPts val="400"/>
              </a:spcAft>
            </a:pPr>
            <a:r>
              <a:rPr sz="1150" b="0">
                <a:solidFill>
                  <a:srgbClr val="161B26"/>
                </a:solidFill>
                <a:latin typeface="Arial"/>
              </a:rPr>
              <a:t>Hermitian guarantees REAL eigenvalues — measurement results are real numbers.</a:t>
            </a:r>
          </a:p>
        </p:txBody>
      </p:sp>
      <p:sp>
        <p:nvSpPr>
          <p:cNvPr id="16" name="Rectangle 15"/>
          <p:cNvSpPr/>
          <p:nvPr/>
        </p:nvSpPr>
        <p:spPr>
          <a:xfrm>
            <a:off x="7059168" y="3559301"/>
            <a:ext cx="4352544" cy="386333"/>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7" name="Rectangle 16"/>
          <p:cNvSpPr/>
          <p:nvPr/>
        </p:nvSpPr>
        <p:spPr>
          <a:xfrm>
            <a:off x="7059168" y="3559301"/>
            <a:ext cx="73152" cy="386333"/>
          </a:xfrm>
          <a:prstGeom prst="rect">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8" name="TextBox 17"/>
          <p:cNvSpPr txBox="1"/>
          <p:nvPr/>
        </p:nvSpPr>
        <p:spPr>
          <a:xfrm>
            <a:off x="7260336" y="3559301"/>
            <a:ext cx="3986784" cy="386333"/>
          </a:xfrm>
          <a:prstGeom prst="rect">
            <a:avLst/>
          </a:prstGeom>
          <a:noFill/>
        </p:spPr>
        <p:txBody>
          <a:bodyPr wrap="square" anchor="ctr">
            <a:spAutoFit/>
          </a:bodyPr>
          <a:lstStyle/>
          <a:p>
            <a:pPr algn="l">
              <a:spcAft>
                <a:spcPts val="400"/>
              </a:spcAft>
            </a:pPr>
            <a:r>
              <a:rPr sz="1150" b="0">
                <a:solidFill>
                  <a:srgbClr val="161B26"/>
                </a:solidFill>
                <a:latin typeface="Arial"/>
              </a:rPr>
              <a:t>Eigenvectors of a Hermitian operator are orthogonal and form a complete basis.</a:t>
            </a:r>
          </a:p>
        </p:txBody>
      </p:sp>
      <p:sp>
        <p:nvSpPr>
          <p:cNvPr id="19" name="Rectangle 18"/>
          <p:cNvSpPr/>
          <p:nvPr/>
        </p:nvSpPr>
        <p:spPr>
          <a:xfrm>
            <a:off x="7059168" y="4055362"/>
            <a:ext cx="4352544" cy="386333"/>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0" name="Rectangle 19"/>
          <p:cNvSpPr/>
          <p:nvPr/>
        </p:nvSpPr>
        <p:spPr>
          <a:xfrm>
            <a:off x="7059168" y="4055362"/>
            <a:ext cx="73152" cy="386333"/>
          </a:xfrm>
          <a:prstGeom prst="rect">
            <a:avLst/>
          </a:prstGeom>
          <a:solidFill>
            <a:srgbClr val="7C3AE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1" name="TextBox 20"/>
          <p:cNvSpPr txBox="1"/>
          <p:nvPr/>
        </p:nvSpPr>
        <p:spPr>
          <a:xfrm>
            <a:off x="7260336" y="4055362"/>
            <a:ext cx="3986784" cy="386333"/>
          </a:xfrm>
          <a:prstGeom prst="rect">
            <a:avLst/>
          </a:prstGeom>
          <a:noFill/>
        </p:spPr>
        <p:txBody>
          <a:bodyPr wrap="square" anchor="ctr">
            <a:spAutoFit/>
          </a:bodyPr>
          <a:lstStyle/>
          <a:p>
            <a:pPr algn="l">
              <a:spcAft>
                <a:spcPts val="400"/>
              </a:spcAft>
            </a:pPr>
            <a:r>
              <a:rPr sz="1150" b="0">
                <a:solidFill>
                  <a:srgbClr val="161B26"/>
                </a:solidFill>
                <a:latin typeface="Arial"/>
              </a:rPr>
              <a:t>Measuring 'in the Z basis' means measuring the observable Z.</a:t>
            </a:r>
          </a:p>
        </p:txBody>
      </p:sp>
      <p:sp>
        <p:nvSpPr>
          <p:cNvPr id="22" name="Rectangle 21"/>
          <p:cNvSpPr/>
          <p:nvPr/>
        </p:nvSpPr>
        <p:spPr>
          <a:xfrm>
            <a:off x="7059168" y="4551423"/>
            <a:ext cx="4352544" cy="386333"/>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3" name="Rectangle 22"/>
          <p:cNvSpPr/>
          <p:nvPr/>
        </p:nvSpPr>
        <p:spPr>
          <a:xfrm>
            <a:off x="7059168" y="4551423"/>
            <a:ext cx="73152" cy="386333"/>
          </a:xfrm>
          <a:prstGeom prst="rect">
            <a:avLst/>
          </a:prstGeom>
          <a:solidFill>
            <a:srgbClr val="F59E0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4" name="TextBox 23"/>
          <p:cNvSpPr txBox="1"/>
          <p:nvPr/>
        </p:nvSpPr>
        <p:spPr>
          <a:xfrm>
            <a:off x="7260336" y="4551423"/>
            <a:ext cx="3986784" cy="386333"/>
          </a:xfrm>
          <a:prstGeom prst="rect">
            <a:avLst/>
          </a:prstGeom>
          <a:noFill/>
        </p:spPr>
        <p:txBody>
          <a:bodyPr wrap="square" anchor="ctr">
            <a:spAutoFit/>
          </a:bodyPr>
          <a:lstStyle/>
          <a:p>
            <a:pPr algn="l">
              <a:spcAft>
                <a:spcPts val="400"/>
              </a:spcAft>
            </a:pPr>
            <a:r>
              <a:rPr sz="1150" b="0">
                <a:solidFill>
                  <a:srgbClr val="161B26"/>
                </a:solidFill>
                <a:latin typeface="Arial"/>
              </a:rPr>
              <a:t>Non-commuting observables (like X and Z) cannot be measured simultaneously.</a:t>
            </a:r>
          </a:p>
        </p:txBody>
      </p:sp>
      <p:sp>
        <p:nvSpPr>
          <p:cNvPr id="25" name="Rectangle 24"/>
          <p:cNvSpPr/>
          <p:nvPr/>
        </p:nvSpPr>
        <p:spPr>
          <a:xfrm>
            <a:off x="7059168" y="5074920"/>
            <a:ext cx="4352544" cy="914400"/>
          </a:xfrm>
          <a:prstGeom prst="rect">
            <a:avLst/>
          </a:prstGeom>
          <a:solidFill>
            <a:srgbClr val="E8F7E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6" name="TextBox 25"/>
          <p:cNvSpPr txBox="1"/>
          <p:nvPr/>
        </p:nvSpPr>
        <p:spPr>
          <a:xfrm>
            <a:off x="7260336" y="5074920"/>
            <a:ext cx="3986784" cy="914400"/>
          </a:xfrm>
          <a:prstGeom prst="rect">
            <a:avLst/>
          </a:prstGeom>
          <a:noFill/>
        </p:spPr>
        <p:txBody>
          <a:bodyPr wrap="square" anchor="ctr">
            <a:spAutoFit/>
          </a:bodyPr>
          <a:lstStyle/>
          <a:p>
            <a:pPr algn="l">
              <a:spcAft>
                <a:spcPts val="400"/>
              </a:spcAft>
            </a:pPr>
            <a:r>
              <a:rPr sz="1050" b="1">
                <a:solidFill>
                  <a:srgbClr val="127A3E"/>
                </a:solidFill>
                <a:latin typeface="Arial"/>
              </a:rPr>
              <a:t>WHY IT MATTERS:  </a:t>
            </a:r>
            <a:r>
              <a:rPr sz="1100" b="0">
                <a:solidFill>
                  <a:srgbClr val="161B26"/>
                </a:solidFill>
                <a:latin typeface="Arial"/>
              </a:rPr>
              <a:t>The uncertainty principle follows directly: if [A,B] ≠ 0 the two observables have no common eigenbasis, so no state has definite values for both. That is why BB84's two bases are conjugate and why eavesdropping is detectable.</a:t>
            </a:r>
          </a:p>
        </p:txBody>
      </p:sp>
      <p:sp>
        <p:nvSpPr>
          <p:cNvPr id="27" name="TextBox 26"/>
          <p:cNvSpPr txBox="1"/>
          <p:nvPr/>
        </p:nvSpPr>
        <p:spPr>
          <a:xfrm>
            <a:off x="365760" y="6446520"/>
            <a:ext cx="6858000" cy="320040"/>
          </a:xfrm>
          <a:prstGeom prst="rect">
            <a:avLst/>
          </a:prstGeom>
          <a:noFill/>
        </p:spPr>
        <p:txBody>
          <a:bodyPr wrap="square" anchor="t">
            <a:spAutoFit/>
          </a:bodyPr>
          <a:lstStyle/>
          <a:p>
            <a:pPr algn="l">
              <a:spcAft>
                <a:spcPts val="400"/>
              </a:spcAft>
            </a:pPr>
            <a:r>
              <a:rPr sz="900" b="0">
                <a:solidFill>
                  <a:srgbClr val="5B6372"/>
                </a:solidFill>
                <a:latin typeface="Arial"/>
              </a:rPr>
              <a:t>Securing the Future with Quantum Computing and Cryptography  ·  TGS-2024043419</a:t>
            </a:r>
          </a:p>
        </p:txBody>
      </p:sp>
      <p:sp>
        <p:nvSpPr>
          <p:cNvPr id="28" name="TextBox 27"/>
          <p:cNvSpPr txBox="1"/>
          <p:nvPr/>
        </p:nvSpPr>
        <p:spPr>
          <a:xfrm>
            <a:off x="4572000" y="6446520"/>
            <a:ext cx="3017520" cy="320040"/>
          </a:xfrm>
          <a:prstGeom prst="rect">
            <a:avLst/>
          </a:prstGeom>
          <a:noFill/>
        </p:spPr>
        <p:txBody>
          <a:bodyPr wrap="square" anchor="t">
            <a:spAutoFit/>
          </a:bodyPr>
          <a:lstStyle/>
          <a:p>
            <a:pPr algn="ctr">
              <a:spcAft>
                <a:spcPts val="400"/>
              </a:spcAft>
            </a:pPr>
            <a:r>
              <a:rPr sz="900" b="0">
                <a:solidFill>
                  <a:srgbClr val="5B6372"/>
                </a:solidFill>
                <a:latin typeface="Arial"/>
              </a:rPr>
              <a:t>© 2026 Tertiary Infotech Academy Pte Ltd</a:t>
            </a:r>
          </a:p>
        </p:txBody>
      </p:sp>
      <p:sp>
        <p:nvSpPr>
          <p:cNvPr id="29" name="TextBox 28"/>
          <p:cNvSpPr txBox="1"/>
          <p:nvPr/>
        </p:nvSpPr>
        <p:spPr>
          <a:xfrm>
            <a:off x="11338560" y="6446520"/>
            <a:ext cx="548640" cy="320040"/>
          </a:xfrm>
          <a:prstGeom prst="rect">
            <a:avLst/>
          </a:prstGeom>
          <a:noFill/>
        </p:spPr>
        <p:txBody>
          <a:bodyPr wrap="square" anchor="t">
            <a:spAutoFit/>
          </a:bodyPr>
          <a:lstStyle/>
          <a:p>
            <a:pPr algn="r">
              <a:spcAft>
                <a:spcPts val="400"/>
              </a:spcAft>
            </a:pPr>
            <a:r>
              <a:rPr sz="900" b="0">
                <a:solidFill>
                  <a:srgbClr val="5B6372"/>
                </a:solidFill>
                <a:latin typeface="Arial"/>
              </a:rPr>
              <a:t>40</a:t>
            </a:r>
          </a:p>
        </p:txBody>
      </p:sp>
    </p:spTree>
  </p:cSld>
  <p:clrMapOvr>
    <a:masterClrMapping/>
  </p:clrMapOvr>
</p:sld>
</file>

<file path=ppt/slides/slide42.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256032" cy="1417320"/>
          </a:xfrm>
          <a:prstGeom prst="rect">
            <a:avLst/>
          </a:prstGeom>
          <a:solidFill>
            <a:srgbClr val="7C3AE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777240" y="457200"/>
            <a:ext cx="10607040" cy="365760"/>
          </a:xfrm>
          <a:prstGeom prst="rect">
            <a:avLst/>
          </a:prstGeom>
          <a:noFill/>
        </p:spPr>
        <p:txBody>
          <a:bodyPr wrap="square" anchor="t">
            <a:spAutoFit/>
          </a:bodyPr>
          <a:lstStyle/>
          <a:p>
            <a:pPr algn="l">
              <a:spcAft>
                <a:spcPts val="400"/>
              </a:spcAft>
            </a:pPr>
            <a:r>
              <a:rPr sz="1400" b="1">
                <a:solidFill>
                  <a:srgbClr val="7C3AED"/>
                </a:solidFill>
                <a:latin typeface="Arial"/>
              </a:rPr>
              <a:t>THE FIVE AXIOMS OF QUANTUM MECHANICS</a:t>
            </a:r>
          </a:p>
        </p:txBody>
      </p:sp>
      <p:sp>
        <p:nvSpPr>
          <p:cNvPr id="5" name="TextBox 4"/>
          <p:cNvSpPr txBox="1"/>
          <p:nvPr/>
        </p:nvSpPr>
        <p:spPr>
          <a:xfrm>
            <a:off x="777240" y="822960"/>
            <a:ext cx="10881360" cy="822960"/>
          </a:xfrm>
          <a:prstGeom prst="rect">
            <a:avLst/>
          </a:prstGeom>
          <a:noFill/>
        </p:spPr>
        <p:txBody>
          <a:bodyPr wrap="square" anchor="t">
            <a:spAutoFit/>
          </a:bodyPr>
          <a:lstStyle/>
          <a:p>
            <a:pPr algn="l">
              <a:spcAft>
                <a:spcPts val="400"/>
              </a:spcAft>
            </a:pPr>
            <a:r>
              <a:rPr sz="2900" b="1">
                <a:solidFill>
                  <a:srgbClr val="161B26"/>
                </a:solidFill>
                <a:latin typeface="Arial"/>
              </a:rPr>
              <a:t>Postulate 4 — The Born Rule</a:t>
            </a:r>
          </a:p>
        </p:txBody>
      </p:sp>
      <p:sp>
        <p:nvSpPr>
          <p:cNvPr id="6" name="Rectangle 5"/>
          <p:cNvSpPr/>
          <p:nvPr/>
        </p:nvSpPr>
        <p:spPr>
          <a:xfrm>
            <a:off x="777240" y="1554480"/>
            <a:ext cx="10634472" cy="18288"/>
          </a:xfrm>
          <a:prstGeom prst="rect">
            <a:avLst/>
          </a:prstGeom>
          <a:solidFill>
            <a:srgbClr val="E2E8F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Rectangle 6"/>
          <p:cNvSpPr/>
          <p:nvPr/>
        </p:nvSpPr>
        <p:spPr>
          <a:xfrm>
            <a:off x="777240" y="1783080"/>
            <a:ext cx="10634472" cy="749808"/>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Rectangle 7"/>
          <p:cNvSpPr/>
          <p:nvPr/>
        </p:nvSpPr>
        <p:spPr>
          <a:xfrm>
            <a:off x="777240" y="1783080"/>
            <a:ext cx="100584" cy="749808"/>
          </a:xfrm>
          <a:prstGeom prst="rect">
            <a:avLst/>
          </a:prstGeom>
          <a:solidFill>
            <a:srgbClr val="7C3AE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TextBox 8"/>
          <p:cNvSpPr txBox="1"/>
          <p:nvPr/>
        </p:nvSpPr>
        <p:spPr>
          <a:xfrm>
            <a:off x="1097280" y="1783080"/>
            <a:ext cx="10149840" cy="749808"/>
          </a:xfrm>
          <a:prstGeom prst="rect">
            <a:avLst/>
          </a:prstGeom>
          <a:noFill/>
        </p:spPr>
        <p:txBody>
          <a:bodyPr wrap="square" anchor="ctr">
            <a:spAutoFit/>
          </a:bodyPr>
          <a:lstStyle/>
          <a:p>
            <a:pPr algn="l">
              <a:spcAft>
                <a:spcPts val="400"/>
              </a:spcAft>
            </a:pPr>
            <a:r>
              <a:rPr sz="1450" b="1">
                <a:solidFill>
                  <a:srgbClr val="161B26"/>
                </a:solidFill>
                <a:latin typeface="Arial"/>
              </a:rPr>
              <a:t>The probability of an outcome is the SQUARED MAGNITUDE of its amplitude.</a:t>
            </a:r>
          </a:p>
        </p:txBody>
      </p:sp>
      <p:sp>
        <p:nvSpPr>
          <p:cNvPr id="10" name="Rectangle 9"/>
          <p:cNvSpPr/>
          <p:nvPr/>
        </p:nvSpPr>
        <p:spPr>
          <a:xfrm>
            <a:off x="777240" y="2697480"/>
            <a:ext cx="6035040" cy="3291840"/>
          </a:xfrm>
          <a:prstGeom prst="rect">
            <a:avLst/>
          </a:prstGeom>
          <a:solidFill>
            <a:srgbClr val="0B122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 name="TextBox 10"/>
          <p:cNvSpPr txBox="1"/>
          <p:nvPr/>
        </p:nvSpPr>
        <p:spPr>
          <a:xfrm>
            <a:off x="1097280" y="2843784"/>
            <a:ext cx="5394960" cy="2999232"/>
          </a:xfrm>
          <a:prstGeom prst="rect">
            <a:avLst/>
          </a:prstGeom>
          <a:noFill/>
        </p:spPr>
        <p:txBody>
          <a:bodyPr wrap="square" anchor="t">
            <a:spAutoFit/>
          </a:bodyPr>
          <a:lstStyle/>
          <a:p>
            <a:pPr algn="l">
              <a:spcAft>
                <a:spcPts val="300"/>
              </a:spcAft>
            </a:pPr>
            <a:r>
              <a:rPr sz="1300" b="0">
                <a:solidFill>
                  <a:srgbClr val="9CDCFE"/>
                </a:solidFill>
                <a:latin typeface="Arial"/>
              </a:rPr>
              <a:t>P(outcome i)  =  |&lt;i|ψ&gt;|²      =    &lt;ψ|Pᵢ|ψ&gt;      with Pᵢ = |i&gt;&lt;i|</a:t>
            </a:r>
          </a:p>
          <a:p>
            <a:pPr algn="l">
              <a:spcAft>
                <a:spcPts val="300"/>
              </a:spcAft>
            </a:pPr>
            <a:r>
              <a:rPr sz="1300" b="0">
                <a:solidFill>
                  <a:srgbClr val="0B1220"/>
                </a:solidFill>
                <a:latin typeface="Arial"/>
              </a:rPr>
              <a:t> </a:t>
            </a:r>
          </a:p>
          <a:p>
            <a:pPr algn="l">
              <a:spcAft>
                <a:spcPts val="300"/>
              </a:spcAft>
            </a:pPr>
            <a:r>
              <a:rPr sz="1300" b="0">
                <a:solidFill>
                  <a:srgbClr val="9CDCFE"/>
                </a:solidFill>
                <a:latin typeface="Arial"/>
              </a:rPr>
              <a:t>For |ψ&gt; = α|0&gt; + β|1&gt;:</a:t>
            </a:r>
          </a:p>
          <a:p>
            <a:pPr algn="l">
              <a:spcAft>
                <a:spcPts val="300"/>
              </a:spcAft>
            </a:pPr>
            <a:r>
              <a:rPr sz="1300" b="0">
                <a:solidFill>
                  <a:srgbClr val="9CDCFE"/>
                </a:solidFill>
                <a:latin typeface="Arial"/>
              </a:rPr>
              <a:t>   P(0) = |α|²,    P(1) = |β|²,    |α|² + |β|² = 1</a:t>
            </a:r>
          </a:p>
          <a:p>
            <a:pPr algn="l">
              <a:spcAft>
                <a:spcPts val="300"/>
              </a:spcAft>
            </a:pPr>
            <a:r>
              <a:rPr sz="1300" b="0">
                <a:solidFill>
                  <a:srgbClr val="0B1220"/>
                </a:solidFill>
                <a:latin typeface="Arial"/>
              </a:rPr>
              <a:t> </a:t>
            </a:r>
          </a:p>
          <a:p>
            <a:pPr algn="l">
              <a:spcAft>
                <a:spcPts val="300"/>
              </a:spcAft>
            </a:pPr>
            <a:r>
              <a:rPr sz="1300" b="0">
                <a:solidFill>
                  <a:srgbClr val="9CDCFE"/>
                </a:solidFill>
                <a:latin typeface="Arial"/>
              </a:rPr>
              <a:t>Expectation value of an observable A:</a:t>
            </a:r>
          </a:p>
          <a:p>
            <a:pPr algn="l">
              <a:spcAft>
                <a:spcPts val="300"/>
              </a:spcAft>
            </a:pPr>
            <a:r>
              <a:rPr sz="1300" b="0">
                <a:solidFill>
                  <a:srgbClr val="9CDCFE"/>
                </a:solidFill>
                <a:latin typeface="Arial"/>
              </a:rPr>
              <a:t>   &lt;A&gt;  =  &lt;ψ|A|ψ&gt;  =  Σ_i λᵢ P(i)</a:t>
            </a:r>
          </a:p>
        </p:txBody>
      </p:sp>
      <p:sp>
        <p:nvSpPr>
          <p:cNvPr id="12" name="TextBox 11"/>
          <p:cNvSpPr txBox="1"/>
          <p:nvPr/>
        </p:nvSpPr>
        <p:spPr>
          <a:xfrm>
            <a:off x="7059168" y="2697480"/>
            <a:ext cx="4352544" cy="320040"/>
          </a:xfrm>
          <a:prstGeom prst="rect">
            <a:avLst/>
          </a:prstGeom>
          <a:noFill/>
        </p:spPr>
        <p:txBody>
          <a:bodyPr wrap="square" anchor="t">
            <a:spAutoFit/>
          </a:bodyPr>
          <a:lstStyle/>
          <a:p>
            <a:pPr algn="l">
              <a:spcAft>
                <a:spcPts val="400"/>
              </a:spcAft>
            </a:pPr>
            <a:r>
              <a:rPr sz="1150" b="1">
                <a:solidFill>
                  <a:srgbClr val="1F6FEB"/>
                </a:solidFill>
                <a:latin typeface="Arial"/>
              </a:rPr>
              <a:t>WHAT IT MEANS</a:t>
            </a:r>
          </a:p>
        </p:txBody>
      </p:sp>
      <p:sp>
        <p:nvSpPr>
          <p:cNvPr id="13" name="Rectangle 12"/>
          <p:cNvSpPr/>
          <p:nvPr/>
        </p:nvSpPr>
        <p:spPr>
          <a:xfrm>
            <a:off x="7059168" y="3063240"/>
            <a:ext cx="4352544" cy="386333"/>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 name="Rectangle 13"/>
          <p:cNvSpPr/>
          <p:nvPr/>
        </p:nvSpPr>
        <p:spPr>
          <a:xfrm>
            <a:off x="7059168" y="3063240"/>
            <a:ext cx="73152" cy="386333"/>
          </a:xfrm>
          <a:prstGeom prst="rect">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5" name="TextBox 14"/>
          <p:cNvSpPr txBox="1"/>
          <p:nvPr/>
        </p:nvSpPr>
        <p:spPr>
          <a:xfrm>
            <a:off x="7260336" y="3063240"/>
            <a:ext cx="3986784" cy="386333"/>
          </a:xfrm>
          <a:prstGeom prst="rect">
            <a:avLst/>
          </a:prstGeom>
          <a:noFill/>
        </p:spPr>
        <p:txBody>
          <a:bodyPr wrap="square" anchor="ctr">
            <a:spAutoFit/>
          </a:bodyPr>
          <a:lstStyle/>
          <a:p>
            <a:pPr algn="l">
              <a:spcAft>
                <a:spcPts val="400"/>
              </a:spcAft>
            </a:pPr>
            <a:r>
              <a:rPr sz="1150" b="0">
                <a:solidFill>
                  <a:srgbClr val="161B26"/>
                </a:solidFill>
                <a:latin typeface="Arial"/>
              </a:rPr>
              <a:t>Amplitudes ADD (and can cancel); probabilities never cancel.</a:t>
            </a:r>
          </a:p>
        </p:txBody>
      </p:sp>
      <p:sp>
        <p:nvSpPr>
          <p:cNvPr id="16" name="Rectangle 15"/>
          <p:cNvSpPr/>
          <p:nvPr/>
        </p:nvSpPr>
        <p:spPr>
          <a:xfrm>
            <a:off x="7059168" y="3559301"/>
            <a:ext cx="4352544" cy="386333"/>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7" name="Rectangle 16"/>
          <p:cNvSpPr/>
          <p:nvPr/>
        </p:nvSpPr>
        <p:spPr>
          <a:xfrm>
            <a:off x="7059168" y="3559301"/>
            <a:ext cx="73152" cy="386333"/>
          </a:xfrm>
          <a:prstGeom prst="rect">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8" name="TextBox 17"/>
          <p:cNvSpPr txBox="1"/>
          <p:nvPr/>
        </p:nvSpPr>
        <p:spPr>
          <a:xfrm>
            <a:off x="7260336" y="3559301"/>
            <a:ext cx="3986784" cy="386333"/>
          </a:xfrm>
          <a:prstGeom prst="rect">
            <a:avLst/>
          </a:prstGeom>
          <a:noFill/>
        </p:spPr>
        <p:txBody>
          <a:bodyPr wrap="square" anchor="ctr">
            <a:spAutoFit/>
          </a:bodyPr>
          <a:lstStyle/>
          <a:p>
            <a:pPr algn="l">
              <a:spcAft>
                <a:spcPts val="400"/>
              </a:spcAft>
            </a:pPr>
            <a:r>
              <a:rPr sz="1150" b="0">
                <a:solidFill>
                  <a:srgbClr val="161B26"/>
                </a:solidFill>
                <a:latin typeface="Arial"/>
              </a:rPr>
              <a:t>This squaring is what makes interference possible — the source of quantum advantage.</a:t>
            </a:r>
          </a:p>
        </p:txBody>
      </p:sp>
      <p:sp>
        <p:nvSpPr>
          <p:cNvPr id="19" name="Rectangle 18"/>
          <p:cNvSpPr/>
          <p:nvPr/>
        </p:nvSpPr>
        <p:spPr>
          <a:xfrm>
            <a:off x="7059168" y="4055362"/>
            <a:ext cx="4352544" cy="386333"/>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0" name="Rectangle 19"/>
          <p:cNvSpPr/>
          <p:nvPr/>
        </p:nvSpPr>
        <p:spPr>
          <a:xfrm>
            <a:off x="7059168" y="4055362"/>
            <a:ext cx="73152" cy="386333"/>
          </a:xfrm>
          <a:prstGeom prst="rect">
            <a:avLst/>
          </a:prstGeom>
          <a:solidFill>
            <a:srgbClr val="7C3AE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1" name="TextBox 20"/>
          <p:cNvSpPr txBox="1"/>
          <p:nvPr/>
        </p:nvSpPr>
        <p:spPr>
          <a:xfrm>
            <a:off x="7260336" y="4055362"/>
            <a:ext cx="3986784" cy="386333"/>
          </a:xfrm>
          <a:prstGeom prst="rect">
            <a:avLst/>
          </a:prstGeom>
          <a:noFill/>
        </p:spPr>
        <p:txBody>
          <a:bodyPr wrap="square" anchor="ctr">
            <a:spAutoFit/>
          </a:bodyPr>
          <a:lstStyle/>
          <a:p>
            <a:pPr algn="l">
              <a:spcAft>
                <a:spcPts val="400"/>
              </a:spcAft>
            </a:pPr>
            <a:r>
              <a:rPr sz="1150" b="0">
                <a:solidFill>
                  <a:srgbClr val="161B26"/>
                </a:solidFill>
                <a:latin typeface="Arial"/>
              </a:rPr>
              <a:t>The rule is fundamentally PROBABILISTIC: identical states can give different results.</a:t>
            </a:r>
          </a:p>
        </p:txBody>
      </p:sp>
      <p:sp>
        <p:nvSpPr>
          <p:cNvPr id="22" name="Rectangle 21"/>
          <p:cNvSpPr/>
          <p:nvPr/>
        </p:nvSpPr>
        <p:spPr>
          <a:xfrm>
            <a:off x="7059168" y="4551423"/>
            <a:ext cx="4352544" cy="386333"/>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3" name="Rectangle 22"/>
          <p:cNvSpPr/>
          <p:nvPr/>
        </p:nvSpPr>
        <p:spPr>
          <a:xfrm>
            <a:off x="7059168" y="4551423"/>
            <a:ext cx="73152" cy="386333"/>
          </a:xfrm>
          <a:prstGeom prst="rect">
            <a:avLst/>
          </a:prstGeom>
          <a:solidFill>
            <a:srgbClr val="F59E0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4" name="TextBox 23"/>
          <p:cNvSpPr txBox="1"/>
          <p:nvPr/>
        </p:nvSpPr>
        <p:spPr>
          <a:xfrm>
            <a:off x="7260336" y="4551423"/>
            <a:ext cx="3986784" cy="386333"/>
          </a:xfrm>
          <a:prstGeom prst="rect">
            <a:avLst/>
          </a:prstGeom>
          <a:noFill/>
        </p:spPr>
        <p:txBody>
          <a:bodyPr wrap="square" anchor="ctr">
            <a:spAutoFit/>
          </a:bodyPr>
          <a:lstStyle/>
          <a:p>
            <a:pPr algn="l">
              <a:spcAft>
                <a:spcPts val="400"/>
              </a:spcAft>
            </a:pPr>
            <a:r>
              <a:rPr sz="1150" b="0">
                <a:solidFill>
                  <a:srgbClr val="161B26"/>
                </a:solidFill>
                <a:latin typeface="Arial"/>
              </a:rPr>
              <a:t>To estimate a probability you must repeat the circuit many times ('shots').</a:t>
            </a:r>
          </a:p>
        </p:txBody>
      </p:sp>
      <p:sp>
        <p:nvSpPr>
          <p:cNvPr id="25" name="Rectangle 24"/>
          <p:cNvSpPr/>
          <p:nvPr/>
        </p:nvSpPr>
        <p:spPr>
          <a:xfrm>
            <a:off x="7059168" y="5074920"/>
            <a:ext cx="4352544" cy="914400"/>
          </a:xfrm>
          <a:prstGeom prst="rect">
            <a:avLst/>
          </a:prstGeom>
          <a:solidFill>
            <a:srgbClr val="E8F7E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6" name="TextBox 25"/>
          <p:cNvSpPr txBox="1"/>
          <p:nvPr/>
        </p:nvSpPr>
        <p:spPr>
          <a:xfrm>
            <a:off x="7260336" y="5074920"/>
            <a:ext cx="3986784" cy="914400"/>
          </a:xfrm>
          <a:prstGeom prst="rect">
            <a:avLst/>
          </a:prstGeom>
          <a:noFill/>
        </p:spPr>
        <p:txBody>
          <a:bodyPr wrap="square" anchor="ctr">
            <a:spAutoFit/>
          </a:bodyPr>
          <a:lstStyle/>
          <a:p>
            <a:pPr algn="l">
              <a:spcAft>
                <a:spcPts val="400"/>
              </a:spcAft>
            </a:pPr>
            <a:r>
              <a:rPr sz="1050" b="1">
                <a:solidFill>
                  <a:srgbClr val="127A3E"/>
                </a:solidFill>
                <a:latin typeface="Arial"/>
              </a:rPr>
              <a:t>WHY IT MATTERS:  </a:t>
            </a:r>
            <a:r>
              <a:rPr sz="1100" b="0">
                <a:solidFill>
                  <a:srgbClr val="161B26"/>
                </a:solidFill>
                <a:latin typeface="Arial"/>
              </a:rPr>
              <a:t>The Born rule is why quantum algorithms must ENGINEER interference: you cannot read amplitudes directly, so you must arrange for wrong answers to cancel and the right answer to be amplified before measuring.</a:t>
            </a:r>
          </a:p>
        </p:txBody>
      </p:sp>
      <p:sp>
        <p:nvSpPr>
          <p:cNvPr id="27" name="TextBox 26"/>
          <p:cNvSpPr txBox="1"/>
          <p:nvPr/>
        </p:nvSpPr>
        <p:spPr>
          <a:xfrm>
            <a:off x="365760" y="6446520"/>
            <a:ext cx="6858000" cy="320040"/>
          </a:xfrm>
          <a:prstGeom prst="rect">
            <a:avLst/>
          </a:prstGeom>
          <a:noFill/>
        </p:spPr>
        <p:txBody>
          <a:bodyPr wrap="square" anchor="t">
            <a:spAutoFit/>
          </a:bodyPr>
          <a:lstStyle/>
          <a:p>
            <a:pPr algn="l">
              <a:spcAft>
                <a:spcPts val="400"/>
              </a:spcAft>
            </a:pPr>
            <a:r>
              <a:rPr sz="900" b="0">
                <a:solidFill>
                  <a:srgbClr val="5B6372"/>
                </a:solidFill>
                <a:latin typeface="Arial"/>
              </a:rPr>
              <a:t>Securing the Future with Quantum Computing and Cryptography  ·  TGS-2024043419</a:t>
            </a:r>
          </a:p>
        </p:txBody>
      </p:sp>
      <p:sp>
        <p:nvSpPr>
          <p:cNvPr id="28" name="TextBox 27"/>
          <p:cNvSpPr txBox="1"/>
          <p:nvPr/>
        </p:nvSpPr>
        <p:spPr>
          <a:xfrm>
            <a:off x="4572000" y="6446520"/>
            <a:ext cx="3017520" cy="320040"/>
          </a:xfrm>
          <a:prstGeom prst="rect">
            <a:avLst/>
          </a:prstGeom>
          <a:noFill/>
        </p:spPr>
        <p:txBody>
          <a:bodyPr wrap="square" anchor="t">
            <a:spAutoFit/>
          </a:bodyPr>
          <a:lstStyle/>
          <a:p>
            <a:pPr algn="ctr">
              <a:spcAft>
                <a:spcPts val="400"/>
              </a:spcAft>
            </a:pPr>
            <a:r>
              <a:rPr sz="900" b="0">
                <a:solidFill>
                  <a:srgbClr val="5B6372"/>
                </a:solidFill>
                <a:latin typeface="Arial"/>
              </a:rPr>
              <a:t>© 2026 Tertiary Infotech Academy Pte Ltd</a:t>
            </a:r>
          </a:p>
        </p:txBody>
      </p:sp>
      <p:sp>
        <p:nvSpPr>
          <p:cNvPr id="29" name="TextBox 28"/>
          <p:cNvSpPr txBox="1"/>
          <p:nvPr/>
        </p:nvSpPr>
        <p:spPr>
          <a:xfrm>
            <a:off x="11338560" y="6446520"/>
            <a:ext cx="548640" cy="320040"/>
          </a:xfrm>
          <a:prstGeom prst="rect">
            <a:avLst/>
          </a:prstGeom>
          <a:noFill/>
        </p:spPr>
        <p:txBody>
          <a:bodyPr wrap="square" anchor="t">
            <a:spAutoFit/>
          </a:bodyPr>
          <a:lstStyle/>
          <a:p>
            <a:pPr algn="r">
              <a:spcAft>
                <a:spcPts val="400"/>
              </a:spcAft>
            </a:pPr>
            <a:r>
              <a:rPr sz="900" b="0">
                <a:solidFill>
                  <a:srgbClr val="5B6372"/>
                </a:solidFill>
                <a:latin typeface="Arial"/>
              </a:rPr>
              <a:t>41</a:t>
            </a:r>
          </a:p>
        </p:txBody>
      </p:sp>
    </p:spTree>
  </p:cSld>
  <p:clrMapOvr>
    <a:masterClrMapping/>
  </p:clrMapOvr>
</p:sld>
</file>

<file path=ppt/slides/slide43.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256032" cy="1417320"/>
          </a:xfrm>
          <a:prstGeom prst="rect">
            <a:avLst/>
          </a:prstGeom>
          <a:solidFill>
            <a:srgbClr val="7C3AE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777240" y="457200"/>
            <a:ext cx="10607040" cy="365760"/>
          </a:xfrm>
          <a:prstGeom prst="rect">
            <a:avLst/>
          </a:prstGeom>
          <a:noFill/>
        </p:spPr>
        <p:txBody>
          <a:bodyPr wrap="square" anchor="t">
            <a:spAutoFit/>
          </a:bodyPr>
          <a:lstStyle/>
          <a:p>
            <a:pPr algn="l">
              <a:spcAft>
                <a:spcPts val="400"/>
              </a:spcAft>
            </a:pPr>
            <a:r>
              <a:rPr sz="1400" b="1">
                <a:solidFill>
                  <a:srgbClr val="7C3AED"/>
                </a:solidFill>
                <a:latin typeface="Arial"/>
              </a:rPr>
              <a:t>THE FIVE AXIOMS OF QUANTUM MECHANICS</a:t>
            </a:r>
          </a:p>
        </p:txBody>
      </p:sp>
      <p:sp>
        <p:nvSpPr>
          <p:cNvPr id="5" name="TextBox 4"/>
          <p:cNvSpPr txBox="1"/>
          <p:nvPr/>
        </p:nvSpPr>
        <p:spPr>
          <a:xfrm>
            <a:off x="777240" y="822960"/>
            <a:ext cx="10881360" cy="822960"/>
          </a:xfrm>
          <a:prstGeom prst="rect">
            <a:avLst/>
          </a:prstGeom>
          <a:noFill/>
        </p:spPr>
        <p:txBody>
          <a:bodyPr wrap="square" anchor="t">
            <a:spAutoFit/>
          </a:bodyPr>
          <a:lstStyle/>
          <a:p>
            <a:pPr algn="l">
              <a:spcAft>
                <a:spcPts val="400"/>
              </a:spcAft>
            </a:pPr>
            <a:r>
              <a:rPr sz="2900" b="1">
                <a:solidFill>
                  <a:srgbClr val="161B26"/>
                </a:solidFill>
                <a:latin typeface="Arial"/>
              </a:rPr>
              <a:t>Postulate 5 — Measurement Collapse</a:t>
            </a:r>
          </a:p>
        </p:txBody>
      </p:sp>
      <p:sp>
        <p:nvSpPr>
          <p:cNvPr id="6" name="Rectangle 5"/>
          <p:cNvSpPr/>
          <p:nvPr/>
        </p:nvSpPr>
        <p:spPr>
          <a:xfrm>
            <a:off x="777240" y="1554480"/>
            <a:ext cx="10634472" cy="18288"/>
          </a:xfrm>
          <a:prstGeom prst="rect">
            <a:avLst/>
          </a:prstGeom>
          <a:solidFill>
            <a:srgbClr val="E2E8F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Rectangle 6"/>
          <p:cNvSpPr/>
          <p:nvPr/>
        </p:nvSpPr>
        <p:spPr>
          <a:xfrm>
            <a:off x="777240" y="1783080"/>
            <a:ext cx="10634472" cy="749808"/>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Rectangle 7"/>
          <p:cNvSpPr/>
          <p:nvPr/>
        </p:nvSpPr>
        <p:spPr>
          <a:xfrm>
            <a:off x="777240" y="1783080"/>
            <a:ext cx="100584" cy="749808"/>
          </a:xfrm>
          <a:prstGeom prst="rect">
            <a:avLst/>
          </a:prstGeom>
          <a:solidFill>
            <a:srgbClr val="7C3AE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TextBox 8"/>
          <p:cNvSpPr txBox="1"/>
          <p:nvPr/>
        </p:nvSpPr>
        <p:spPr>
          <a:xfrm>
            <a:off x="1097280" y="1783080"/>
            <a:ext cx="10149840" cy="749808"/>
          </a:xfrm>
          <a:prstGeom prst="rect">
            <a:avLst/>
          </a:prstGeom>
          <a:noFill/>
        </p:spPr>
        <p:txBody>
          <a:bodyPr wrap="square" anchor="ctr">
            <a:spAutoFit/>
          </a:bodyPr>
          <a:lstStyle/>
          <a:p>
            <a:pPr algn="l">
              <a:spcAft>
                <a:spcPts val="400"/>
              </a:spcAft>
            </a:pPr>
            <a:r>
              <a:rPr sz="1450" b="1">
                <a:solidFill>
                  <a:srgbClr val="161B26"/>
                </a:solidFill>
                <a:latin typeface="Arial"/>
              </a:rPr>
              <a:t>Measurement PROJECTS the state onto the observed eigenspace and renormalises.</a:t>
            </a:r>
          </a:p>
        </p:txBody>
      </p:sp>
      <p:sp>
        <p:nvSpPr>
          <p:cNvPr id="10" name="Rectangle 9"/>
          <p:cNvSpPr/>
          <p:nvPr/>
        </p:nvSpPr>
        <p:spPr>
          <a:xfrm>
            <a:off x="777240" y="2697480"/>
            <a:ext cx="6035040" cy="3291840"/>
          </a:xfrm>
          <a:prstGeom prst="rect">
            <a:avLst/>
          </a:prstGeom>
          <a:solidFill>
            <a:srgbClr val="0B122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 name="TextBox 10"/>
          <p:cNvSpPr txBox="1"/>
          <p:nvPr/>
        </p:nvSpPr>
        <p:spPr>
          <a:xfrm>
            <a:off x="1097280" y="2843784"/>
            <a:ext cx="5394960" cy="2999232"/>
          </a:xfrm>
          <a:prstGeom prst="rect">
            <a:avLst/>
          </a:prstGeom>
          <a:noFill/>
        </p:spPr>
        <p:txBody>
          <a:bodyPr wrap="square" anchor="t">
            <a:spAutoFit/>
          </a:bodyPr>
          <a:lstStyle/>
          <a:p>
            <a:pPr algn="l">
              <a:spcAft>
                <a:spcPts val="300"/>
              </a:spcAft>
            </a:pPr>
            <a:r>
              <a:rPr sz="1300" b="0">
                <a:solidFill>
                  <a:srgbClr val="9CDCFE"/>
                </a:solidFill>
                <a:latin typeface="Arial"/>
              </a:rPr>
              <a:t>If outcome i is observed, the post-measurement state is:</a:t>
            </a:r>
          </a:p>
          <a:p>
            <a:pPr algn="l">
              <a:spcAft>
                <a:spcPts val="300"/>
              </a:spcAft>
            </a:pPr>
            <a:r>
              <a:rPr sz="1300" b="0">
                <a:solidFill>
                  <a:srgbClr val="0B1220"/>
                </a:solidFill>
                <a:latin typeface="Arial"/>
              </a:rPr>
              <a:t> </a:t>
            </a:r>
          </a:p>
          <a:p>
            <a:pPr algn="l">
              <a:spcAft>
                <a:spcPts val="300"/>
              </a:spcAft>
            </a:pPr>
            <a:r>
              <a:rPr sz="1300" b="0">
                <a:solidFill>
                  <a:srgbClr val="9CDCFE"/>
                </a:solidFill>
                <a:latin typeface="Arial"/>
              </a:rPr>
              <a:t>   |ψ'&gt;  =  Pᵢ|ψ&gt; / √(&lt;ψ|Pᵢ|ψ&gt;)</a:t>
            </a:r>
          </a:p>
          <a:p>
            <a:pPr algn="l">
              <a:spcAft>
                <a:spcPts val="300"/>
              </a:spcAft>
            </a:pPr>
            <a:r>
              <a:rPr sz="1300" b="0">
                <a:solidFill>
                  <a:srgbClr val="0B1220"/>
                </a:solidFill>
                <a:latin typeface="Arial"/>
              </a:rPr>
              <a:t> </a:t>
            </a:r>
          </a:p>
          <a:p>
            <a:pPr algn="l">
              <a:spcAft>
                <a:spcPts val="300"/>
              </a:spcAft>
            </a:pPr>
            <a:r>
              <a:rPr sz="1300" b="0">
                <a:solidFill>
                  <a:srgbClr val="9CDCFE"/>
                </a:solidFill>
                <a:latin typeface="Arial"/>
              </a:rPr>
              <a:t>Example:  |ψ&gt; = (|0&gt; + |1&gt;)/√2 , measure Z and get 0</a:t>
            </a:r>
          </a:p>
          <a:p>
            <a:pPr algn="l">
              <a:spcAft>
                <a:spcPts val="300"/>
              </a:spcAft>
            </a:pPr>
            <a:r>
              <a:rPr sz="1300" b="0">
                <a:solidFill>
                  <a:srgbClr val="9CDCFE"/>
                </a:solidFill>
                <a:latin typeface="Arial"/>
              </a:rPr>
              <a:t>   |ψ'&gt; = |0&gt;       — the superposition is GONE</a:t>
            </a:r>
          </a:p>
          <a:p>
            <a:pPr algn="l">
              <a:spcAft>
                <a:spcPts val="300"/>
              </a:spcAft>
            </a:pPr>
            <a:r>
              <a:rPr sz="1300" b="0">
                <a:solidFill>
                  <a:srgbClr val="0B1220"/>
                </a:solidFill>
                <a:latin typeface="Arial"/>
              </a:rPr>
              <a:t> </a:t>
            </a:r>
          </a:p>
          <a:p>
            <a:pPr algn="l">
              <a:spcAft>
                <a:spcPts val="300"/>
              </a:spcAft>
            </a:pPr>
            <a:r>
              <a:rPr sz="1300" b="0">
                <a:solidFill>
                  <a:srgbClr val="9CDCFE"/>
                </a:solidFill>
                <a:latin typeface="Arial"/>
              </a:rPr>
              <a:t>Measuring again immediately returns 0 with probability 1.</a:t>
            </a:r>
          </a:p>
        </p:txBody>
      </p:sp>
      <p:sp>
        <p:nvSpPr>
          <p:cNvPr id="12" name="TextBox 11"/>
          <p:cNvSpPr txBox="1"/>
          <p:nvPr/>
        </p:nvSpPr>
        <p:spPr>
          <a:xfrm>
            <a:off x="7059168" y="2697480"/>
            <a:ext cx="4352544" cy="320040"/>
          </a:xfrm>
          <a:prstGeom prst="rect">
            <a:avLst/>
          </a:prstGeom>
          <a:noFill/>
        </p:spPr>
        <p:txBody>
          <a:bodyPr wrap="square" anchor="t">
            <a:spAutoFit/>
          </a:bodyPr>
          <a:lstStyle/>
          <a:p>
            <a:pPr algn="l">
              <a:spcAft>
                <a:spcPts val="400"/>
              </a:spcAft>
            </a:pPr>
            <a:r>
              <a:rPr sz="1150" b="1">
                <a:solidFill>
                  <a:srgbClr val="1F6FEB"/>
                </a:solidFill>
                <a:latin typeface="Arial"/>
              </a:rPr>
              <a:t>WHAT IT MEANS</a:t>
            </a:r>
          </a:p>
        </p:txBody>
      </p:sp>
      <p:sp>
        <p:nvSpPr>
          <p:cNvPr id="13" name="Rectangle 12"/>
          <p:cNvSpPr/>
          <p:nvPr/>
        </p:nvSpPr>
        <p:spPr>
          <a:xfrm>
            <a:off x="7059168" y="3063240"/>
            <a:ext cx="4352544" cy="386333"/>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 name="Rectangle 13"/>
          <p:cNvSpPr/>
          <p:nvPr/>
        </p:nvSpPr>
        <p:spPr>
          <a:xfrm>
            <a:off x="7059168" y="3063240"/>
            <a:ext cx="73152" cy="386333"/>
          </a:xfrm>
          <a:prstGeom prst="rect">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5" name="TextBox 14"/>
          <p:cNvSpPr txBox="1"/>
          <p:nvPr/>
        </p:nvSpPr>
        <p:spPr>
          <a:xfrm>
            <a:off x="7260336" y="3063240"/>
            <a:ext cx="3986784" cy="386333"/>
          </a:xfrm>
          <a:prstGeom prst="rect">
            <a:avLst/>
          </a:prstGeom>
          <a:noFill/>
        </p:spPr>
        <p:txBody>
          <a:bodyPr wrap="square" anchor="ctr">
            <a:spAutoFit/>
          </a:bodyPr>
          <a:lstStyle/>
          <a:p>
            <a:pPr algn="l">
              <a:spcAft>
                <a:spcPts val="400"/>
              </a:spcAft>
            </a:pPr>
            <a:r>
              <a:rPr sz="1150" b="0">
                <a:solidFill>
                  <a:srgbClr val="161B26"/>
                </a:solidFill>
                <a:latin typeface="Arial"/>
              </a:rPr>
              <a:t>Measurement is IRREVERSIBLE — the only non-unitary operation in quantum mechanics.</a:t>
            </a:r>
          </a:p>
        </p:txBody>
      </p:sp>
      <p:sp>
        <p:nvSpPr>
          <p:cNvPr id="16" name="Rectangle 15"/>
          <p:cNvSpPr/>
          <p:nvPr/>
        </p:nvSpPr>
        <p:spPr>
          <a:xfrm>
            <a:off x="7059168" y="3559301"/>
            <a:ext cx="4352544" cy="386333"/>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7" name="Rectangle 16"/>
          <p:cNvSpPr/>
          <p:nvPr/>
        </p:nvSpPr>
        <p:spPr>
          <a:xfrm>
            <a:off x="7059168" y="3559301"/>
            <a:ext cx="73152" cy="386333"/>
          </a:xfrm>
          <a:prstGeom prst="rect">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8" name="TextBox 17"/>
          <p:cNvSpPr txBox="1"/>
          <p:nvPr/>
        </p:nvSpPr>
        <p:spPr>
          <a:xfrm>
            <a:off x="7260336" y="3559301"/>
            <a:ext cx="3986784" cy="386333"/>
          </a:xfrm>
          <a:prstGeom prst="rect">
            <a:avLst/>
          </a:prstGeom>
          <a:noFill/>
        </p:spPr>
        <p:txBody>
          <a:bodyPr wrap="square" anchor="ctr">
            <a:spAutoFit/>
          </a:bodyPr>
          <a:lstStyle/>
          <a:p>
            <a:pPr algn="l">
              <a:spcAft>
                <a:spcPts val="400"/>
              </a:spcAft>
            </a:pPr>
            <a:r>
              <a:rPr sz="1150" b="0">
                <a:solidFill>
                  <a:srgbClr val="161B26"/>
                </a:solidFill>
                <a:latin typeface="Arial"/>
              </a:rPr>
              <a:t>Information about the other branches is destroyed permanently.</a:t>
            </a:r>
          </a:p>
        </p:txBody>
      </p:sp>
      <p:sp>
        <p:nvSpPr>
          <p:cNvPr id="19" name="Rectangle 18"/>
          <p:cNvSpPr/>
          <p:nvPr/>
        </p:nvSpPr>
        <p:spPr>
          <a:xfrm>
            <a:off x="7059168" y="4055362"/>
            <a:ext cx="4352544" cy="386333"/>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0" name="Rectangle 19"/>
          <p:cNvSpPr/>
          <p:nvPr/>
        </p:nvSpPr>
        <p:spPr>
          <a:xfrm>
            <a:off x="7059168" y="4055362"/>
            <a:ext cx="73152" cy="386333"/>
          </a:xfrm>
          <a:prstGeom prst="rect">
            <a:avLst/>
          </a:prstGeom>
          <a:solidFill>
            <a:srgbClr val="7C3AE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1" name="TextBox 20"/>
          <p:cNvSpPr txBox="1"/>
          <p:nvPr/>
        </p:nvSpPr>
        <p:spPr>
          <a:xfrm>
            <a:off x="7260336" y="4055362"/>
            <a:ext cx="3986784" cy="386333"/>
          </a:xfrm>
          <a:prstGeom prst="rect">
            <a:avLst/>
          </a:prstGeom>
          <a:noFill/>
        </p:spPr>
        <p:txBody>
          <a:bodyPr wrap="square" anchor="ctr">
            <a:spAutoFit/>
          </a:bodyPr>
          <a:lstStyle/>
          <a:p>
            <a:pPr algn="l">
              <a:spcAft>
                <a:spcPts val="400"/>
              </a:spcAft>
            </a:pPr>
            <a:r>
              <a:rPr sz="1150" b="0">
                <a:solidFill>
                  <a:srgbClr val="161B26"/>
                </a:solidFill>
                <a:latin typeface="Arial"/>
              </a:rPr>
              <a:t>You cannot 'peek' at a quantum state without disturbing it.</a:t>
            </a:r>
          </a:p>
        </p:txBody>
      </p:sp>
      <p:sp>
        <p:nvSpPr>
          <p:cNvPr id="22" name="Rectangle 21"/>
          <p:cNvSpPr/>
          <p:nvPr/>
        </p:nvSpPr>
        <p:spPr>
          <a:xfrm>
            <a:off x="7059168" y="4551423"/>
            <a:ext cx="4352544" cy="386333"/>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3" name="Rectangle 22"/>
          <p:cNvSpPr/>
          <p:nvPr/>
        </p:nvSpPr>
        <p:spPr>
          <a:xfrm>
            <a:off x="7059168" y="4551423"/>
            <a:ext cx="73152" cy="386333"/>
          </a:xfrm>
          <a:prstGeom prst="rect">
            <a:avLst/>
          </a:prstGeom>
          <a:solidFill>
            <a:srgbClr val="F59E0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4" name="TextBox 23"/>
          <p:cNvSpPr txBox="1"/>
          <p:nvPr/>
        </p:nvSpPr>
        <p:spPr>
          <a:xfrm>
            <a:off x="7260336" y="4551423"/>
            <a:ext cx="3986784" cy="386333"/>
          </a:xfrm>
          <a:prstGeom prst="rect">
            <a:avLst/>
          </a:prstGeom>
          <a:noFill/>
        </p:spPr>
        <p:txBody>
          <a:bodyPr wrap="square" anchor="ctr">
            <a:spAutoFit/>
          </a:bodyPr>
          <a:lstStyle/>
          <a:p>
            <a:pPr algn="l">
              <a:spcAft>
                <a:spcPts val="400"/>
              </a:spcAft>
            </a:pPr>
            <a:r>
              <a:rPr sz="1150" b="0">
                <a:solidFill>
                  <a:srgbClr val="161B26"/>
                </a:solidFill>
                <a:latin typeface="Arial"/>
              </a:rPr>
              <a:t>This is why you measure ONCE, at the very end of a quantum circuit.</a:t>
            </a:r>
          </a:p>
        </p:txBody>
      </p:sp>
      <p:sp>
        <p:nvSpPr>
          <p:cNvPr id="25" name="Rectangle 24"/>
          <p:cNvSpPr/>
          <p:nvPr/>
        </p:nvSpPr>
        <p:spPr>
          <a:xfrm>
            <a:off x="7059168" y="5074920"/>
            <a:ext cx="4352544" cy="914400"/>
          </a:xfrm>
          <a:prstGeom prst="rect">
            <a:avLst/>
          </a:prstGeom>
          <a:solidFill>
            <a:srgbClr val="E8F7E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6" name="TextBox 25"/>
          <p:cNvSpPr txBox="1"/>
          <p:nvPr/>
        </p:nvSpPr>
        <p:spPr>
          <a:xfrm>
            <a:off x="7260336" y="5074920"/>
            <a:ext cx="3986784" cy="914400"/>
          </a:xfrm>
          <a:prstGeom prst="rect">
            <a:avLst/>
          </a:prstGeom>
          <a:noFill/>
        </p:spPr>
        <p:txBody>
          <a:bodyPr wrap="square" anchor="ctr">
            <a:spAutoFit/>
          </a:bodyPr>
          <a:lstStyle/>
          <a:p>
            <a:pPr algn="l">
              <a:spcAft>
                <a:spcPts val="400"/>
              </a:spcAft>
            </a:pPr>
            <a:r>
              <a:rPr sz="1050" b="1">
                <a:solidFill>
                  <a:srgbClr val="127A3E"/>
                </a:solidFill>
                <a:latin typeface="Arial"/>
              </a:rPr>
              <a:t>WHY IT MATTERS:  </a:t>
            </a:r>
            <a:r>
              <a:rPr sz="1100" b="0">
                <a:solidFill>
                  <a:srgbClr val="161B26"/>
                </a:solidFill>
                <a:latin typeface="Arial"/>
              </a:rPr>
              <a:t>Collapse is the security mechanism of QKD (Eve's measurement disturbs the state) AND the central obstacle in error correction (you must diagnose an error WITHOUT measuring the data — hence syndrome measurement on ancillas).</a:t>
            </a:r>
          </a:p>
        </p:txBody>
      </p:sp>
      <p:sp>
        <p:nvSpPr>
          <p:cNvPr id="27" name="TextBox 26"/>
          <p:cNvSpPr txBox="1"/>
          <p:nvPr/>
        </p:nvSpPr>
        <p:spPr>
          <a:xfrm>
            <a:off x="365760" y="6446520"/>
            <a:ext cx="6858000" cy="320040"/>
          </a:xfrm>
          <a:prstGeom prst="rect">
            <a:avLst/>
          </a:prstGeom>
          <a:noFill/>
        </p:spPr>
        <p:txBody>
          <a:bodyPr wrap="square" anchor="t">
            <a:spAutoFit/>
          </a:bodyPr>
          <a:lstStyle/>
          <a:p>
            <a:pPr algn="l">
              <a:spcAft>
                <a:spcPts val="400"/>
              </a:spcAft>
            </a:pPr>
            <a:r>
              <a:rPr sz="900" b="0">
                <a:solidFill>
                  <a:srgbClr val="5B6372"/>
                </a:solidFill>
                <a:latin typeface="Arial"/>
              </a:rPr>
              <a:t>Securing the Future with Quantum Computing and Cryptography  ·  TGS-2024043419</a:t>
            </a:r>
          </a:p>
        </p:txBody>
      </p:sp>
      <p:sp>
        <p:nvSpPr>
          <p:cNvPr id="28" name="TextBox 27"/>
          <p:cNvSpPr txBox="1"/>
          <p:nvPr/>
        </p:nvSpPr>
        <p:spPr>
          <a:xfrm>
            <a:off x="4572000" y="6446520"/>
            <a:ext cx="3017520" cy="320040"/>
          </a:xfrm>
          <a:prstGeom prst="rect">
            <a:avLst/>
          </a:prstGeom>
          <a:noFill/>
        </p:spPr>
        <p:txBody>
          <a:bodyPr wrap="square" anchor="t">
            <a:spAutoFit/>
          </a:bodyPr>
          <a:lstStyle/>
          <a:p>
            <a:pPr algn="ctr">
              <a:spcAft>
                <a:spcPts val="400"/>
              </a:spcAft>
            </a:pPr>
            <a:r>
              <a:rPr sz="900" b="0">
                <a:solidFill>
                  <a:srgbClr val="5B6372"/>
                </a:solidFill>
                <a:latin typeface="Arial"/>
              </a:rPr>
              <a:t>© 2026 Tertiary Infotech Academy Pte Ltd</a:t>
            </a:r>
          </a:p>
        </p:txBody>
      </p:sp>
      <p:sp>
        <p:nvSpPr>
          <p:cNvPr id="29" name="TextBox 28"/>
          <p:cNvSpPr txBox="1"/>
          <p:nvPr/>
        </p:nvSpPr>
        <p:spPr>
          <a:xfrm>
            <a:off x="11338560" y="6446520"/>
            <a:ext cx="548640" cy="320040"/>
          </a:xfrm>
          <a:prstGeom prst="rect">
            <a:avLst/>
          </a:prstGeom>
          <a:noFill/>
        </p:spPr>
        <p:txBody>
          <a:bodyPr wrap="square" anchor="t">
            <a:spAutoFit/>
          </a:bodyPr>
          <a:lstStyle/>
          <a:p>
            <a:pPr algn="r">
              <a:spcAft>
                <a:spcPts val="400"/>
              </a:spcAft>
            </a:pPr>
            <a:r>
              <a:rPr sz="900" b="0">
                <a:solidFill>
                  <a:srgbClr val="5B6372"/>
                </a:solidFill>
                <a:latin typeface="Arial"/>
              </a:rPr>
              <a:t>42</a:t>
            </a:r>
          </a:p>
        </p:txBody>
      </p:sp>
    </p:spTree>
  </p:cSld>
  <p:clrMapOvr>
    <a:masterClrMapping/>
  </p:clrMapOvr>
</p:sld>
</file>

<file path=ppt/slides/slide44.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256032" cy="1417320"/>
          </a:xfrm>
          <a:prstGeom prst="rect">
            <a:avLst/>
          </a:prstGeom>
          <a:solidFill>
            <a:srgbClr val="7C3AE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777240" y="457200"/>
            <a:ext cx="10607040" cy="365760"/>
          </a:xfrm>
          <a:prstGeom prst="rect">
            <a:avLst/>
          </a:prstGeom>
          <a:noFill/>
        </p:spPr>
        <p:txBody>
          <a:bodyPr wrap="square" anchor="t">
            <a:spAutoFit/>
          </a:bodyPr>
          <a:lstStyle/>
          <a:p>
            <a:pPr algn="l">
              <a:spcAft>
                <a:spcPts val="400"/>
              </a:spcAft>
            </a:pPr>
            <a:r>
              <a:rPr sz="1400" b="1">
                <a:solidFill>
                  <a:srgbClr val="7C3AED"/>
                </a:solidFill>
                <a:latin typeface="Arial"/>
              </a:rPr>
              <a:t>KEEP THIS FOR THE OPEN-BOOK ASSESSMENT</a:t>
            </a:r>
          </a:p>
        </p:txBody>
      </p:sp>
      <p:sp>
        <p:nvSpPr>
          <p:cNvPr id="5" name="TextBox 4"/>
          <p:cNvSpPr txBox="1"/>
          <p:nvPr/>
        </p:nvSpPr>
        <p:spPr>
          <a:xfrm>
            <a:off x="777240" y="822960"/>
            <a:ext cx="10881360" cy="822960"/>
          </a:xfrm>
          <a:prstGeom prst="rect">
            <a:avLst/>
          </a:prstGeom>
          <a:noFill/>
        </p:spPr>
        <p:txBody>
          <a:bodyPr wrap="square" anchor="t">
            <a:spAutoFit/>
          </a:bodyPr>
          <a:lstStyle/>
          <a:p>
            <a:pPr algn="l">
              <a:spcAft>
                <a:spcPts val="400"/>
              </a:spcAft>
            </a:pPr>
            <a:r>
              <a:rPr sz="2900" b="1">
                <a:solidFill>
                  <a:srgbClr val="161B26"/>
                </a:solidFill>
                <a:latin typeface="Arial"/>
              </a:rPr>
              <a:t>The Five Postulates — Reference Card</a:t>
            </a:r>
          </a:p>
        </p:txBody>
      </p:sp>
      <p:sp>
        <p:nvSpPr>
          <p:cNvPr id="6" name="Rectangle 5"/>
          <p:cNvSpPr/>
          <p:nvPr/>
        </p:nvSpPr>
        <p:spPr>
          <a:xfrm>
            <a:off x="777240" y="1554480"/>
            <a:ext cx="10634472" cy="18288"/>
          </a:xfrm>
          <a:prstGeom prst="rect">
            <a:avLst/>
          </a:prstGeom>
          <a:solidFill>
            <a:srgbClr val="E2E8F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Rectangle 6"/>
          <p:cNvSpPr/>
          <p:nvPr/>
        </p:nvSpPr>
        <p:spPr>
          <a:xfrm>
            <a:off x="777240" y="1874519"/>
            <a:ext cx="638068" cy="475488"/>
          </a:xfrm>
          <a:prstGeom prst="rect">
            <a:avLst/>
          </a:prstGeom>
          <a:solidFill>
            <a:srgbClr val="7C3AE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TextBox 7"/>
          <p:cNvSpPr txBox="1"/>
          <p:nvPr/>
        </p:nvSpPr>
        <p:spPr>
          <a:xfrm>
            <a:off x="914400" y="1874519"/>
            <a:ext cx="363748" cy="475488"/>
          </a:xfrm>
          <a:prstGeom prst="rect">
            <a:avLst/>
          </a:prstGeom>
          <a:noFill/>
        </p:spPr>
        <p:txBody>
          <a:bodyPr wrap="square" anchor="ctr">
            <a:spAutoFit/>
          </a:bodyPr>
          <a:lstStyle/>
          <a:p>
            <a:pPr algn="l">
              <a:spcAft>
                <a:spcPts val="400"/>
              </a:spcAft>
            </a:pPr>
            <a:r>
              <a:rPr sz="1300" b="1">
                <a:solidFill>
                  <a:srgbClr val="FFFFFF"/>
                </a:solidFill>
                <a:latin typeface="Arial"/>
              </a:rPr>
              <a:t>#</a:t>
            </a:r>
          </a:p>
        </p:txBody>
      </p:sp>
      <p:sp>
        <p:nvSpPr>
          <p:cNvPr id="9" name="Rectangle 8"/>
          <p:cNvSpPr/>
          <p:nvPr/>
        </p:nvSpPr>
        <p:spPr>
          <a:xfrm>
            <a:off x="1415308" y="1874519"/>
            <a:ext cx="2126894" cy="475488"/>
          </a:xfrm>
          <a:prstGeom prst="rect">
            <a:avLst/>
          </a:prstGeom>
          <a:solidFill>
            <a:srgbClr val="7C3AE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TextBox 9"/>
          <p:cNvSpPr txBox="1"/>
          <p:nvPr/>
        </p:nvSpPr>
        <p:spPr>
          <a:xfrm>
            <a:off x="1552468" y="1874519"/>
            <a:ext cx="1852574" cy="475488"/>
          </a:xfrm>
          <a:prstGeom prst="rect">
            <a:avLst/>
          </a:prstGeom>
          <a:noFill/>
        </p:spPr>
        <p:txBody>
          <a:bodyPr wrap="square" anchor="ctr">
            <a:spAutoFit/>
          </a:bodyPr>
          <a:lstStyle/>
          <a:p>
            <a:pPr algn="l">
              <a:spcAft>
                <a:spcPts val="400"/>
              </a:spcAft>
            </a:pPr>
            <a:r>
              <a:rPr sz="1300" b="1">
                <a:solidFill>
                  <a:srgbClr val="FFFFFF"/>
                </a:solidFill>
                <a:latin typeface="Arial"/>
              </a:rPr>
              <a:t>Postulate</a:t>
            </a:r>
          </a:p>
        </p:txBody>
      </p:sp>
      <p:sp>
        <p:nvSpPr>
          <p:cNvPr id="11" name="Rectangle 10"/>
          <p:cNvSpPr/>
          <p:nvPr/>
        </p:nvSpPr>
        <p:spPr>
          <a:xfrm>
            <a:off x="3542202" y="1874519"/>
            <a:ext cx="4041099" cy="475488"/>
          </a:xfrm>
          <a:prstGeom prst="rect">
            <a:avLst/>
          </a:prstGeom>
          <a:solidFill>
            <a:srgbClr val="7C3AE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 name="TextBox 11"/>
          <p:cNvSpPr txBox="1"/>
          <p:nvPr/>
        </p:nvSpPr>
        <p:spPr>
          <a:xfrm>
            <a:off x="3679362" y="1874519"/>
            <a:ext cx="3766779" cy="475488"/>
          </a:xfrm>
          <a:prstGeom prst="rect">
            <a:avLst/>
          </a:prstGeom>
          <a:noFill/>
        </p:spPr>
        <p:txBody>
          <a:bodyPr wrap="square" anchor="ctr">
            <a:spAutoFit/>
          </a:bodyPr>
          <a:lstStyle/>
          <a:p>
            <a:pPr algn="l">
              <a:spcAft>
                <a:spcPts val="400"/>
              </a:spcAft>
            </a:pPr>
            <a:r>
              <a:rPr sz="1300" b="1">
                <a:solidFill>
                  <a:srgbClr val="FFFFFF"/>
                </a:solidFill>
                <a:latin typeface="Arial"/>
              </a:rPr>
              <a:t>Mathematics</a:t>
            </a:r>
          </a:p>
        </p:txBody>
      </p:sp>
      <p:sp>
        <p:nvSpPr>
          <p:cNvPr id="13" name="Rectangle 12"/>
          <p:cNvSpPr/>
          <p:nvPr/>
        </p:nvSpPr>
        <p:spPr>
          <a:xfrm>
            <a:off x="7583301" y="1874519"/>
            <a:ext cx="3828409" cy="475488"/>
          </a:xfrm>
          <a:prstGeom prst="rect">
            <a:avLst/>
          </a:prstGeom>
          <a:solidFill>
            <a:srgbClr val="7C3AE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 name="TextBox 13"/>
          <p:cNvSpPr txBox="1"/>
          <p:nvPr/>
        </p:nvSpPr>
        <p:spPr>
          <a:xfrm>
            <a:off x="7720461" y="1874519"/>
            <a:ext cx="3554089" cy="475488"/>
          </a:xfrm>
          <a:prstGeom prst="rect">
            <a:avLst/>
          </a:prstGeom>
          <a:noFill/>
        </p:spPr>
        <p:txBody>
          <a:bodyPr wrap="square" anchor="ctr">
            <a:spAutoFit/>
          </a:bodyPr>
          <a:lstStyle/>
          <a:p>
            <a:pPr algn="l">
              <a:spcAft>
                <a:spcPts val="400"/>
              </a:spcAft>
            </a:pPr>
            <a:r>
              <a:rPr sz="1300" b="1">
                <a:solidFill>
                  <a:srgbClr val="FFFFFF"/>
                </a:solidFill>
                <a:latin typeface="Arial"/>
              </a:rPr>
              <a:t>Governs</a:t>
            </a:r>
          </a:p>
        </p:txBody>
      </p:sp>
      <p:sp>
        <p:nvSpPr>
          <p:cNvPr id="15" name="Rectangle 14"/>
          <p:cNvSpPr/>
          <p:nvPr/>
        </p:nvSpPr>
        <p:spPr>
          <a:xfrm>
            <a:off x="777240" y="2350007"/>
            <a:ext cx="638068" cy="475488"/>
          </a:xfrm>
          <a:prstGeom prst="rect">
            <a:avLst/>
          </a:prstGeom>
          <a:solidFill>
            <a:srgbClr val="F5F8FC"/>
          </a:solidFill>
          <a:ln w="12700">
            <a:solidFill>
              <a:srgbClr val="E2E8F0"/>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6" name="TextBox 15"/>
          <p:cNvSpPr txBox="1"/>
          <p:nvPr/>
        </p:nvSpPr>
        <p:spPr>
          <a:xfrm>
            <a:off x="914400" y="2350007"/>
            <a:ext cx="363748" cy="475488"/>
          </a:xfrm>
          <a:prstGeom prst="rect">
            <a:avLst/>
          </a:prstGeom>
          <a:noFill/>
        </p:spPr>
        <p:txBody>
          <a:bodyPr wrap="square" anchor="ctr">
            <a:spAutoFit/>
          </a:bodyPr>
          <a:lstStyle/>
          <a:p>
            <a:pPr algn="l">
              <a:spcAft>
                <a:spcPts val="400"/>
              </a:spcAft>
            </a:pPr>
            <a:r>
              <a:rPr sz="1200" b="1">
                <a:solidFill>
                  <a:srgbClr val="161B26"/>
                </a:solidFill>
                <a:latin typeface="Arial"/>
              </a:rPr>
              <a:t>1</a:t>
            </a:r>
          </a:p>
        </p:txBody>
      </p:sp>
      <p:sp>
        <p:nvSpPr>
          <p:cNvPr id="17" name="Rectangle 16"/>
          <p:cNvSpPr/>
          <p:nvPr/>
        </p:nvSpPr>
        <p:spPr>
          <a:xfrm>
            <a:off x="1415308" y="2350007"/>
            <a:ext cx="2126894" cy="475488"/>
          </a:xfrm>
          <a:prstGeom prst="rect">
            <a:avLst/>
          </a:prstGeom>
          <a:solidFill>
            <a:srgbClr val="F5F8FC"/>
          </a:solidFill>
          <a:ln w="12700">
            <a:solidFill>
              <a:srgbClr val="E2E8F0"/>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8" name="TextBox 17"/>
          <p:cNvSpPr txBox="1"/>
          <p:nvPr/>
        </p:nvSpPr>
        <p:spPr>
          <a:xfrm>
            <a:off x="1552468" y="2350007"/>
            <a:ext cx="1852574" cy="475488"/>
          </a:xfrm>
          <a:prstGeom prst="rect">
            <a:avLst/>
          </a:prstGeom>
          <a:noFill/>
        </p:spPr>
        <p:txBody>
          <a:bodyPr wrap="square" anchor="ctr">
            <a:spAutoFit/>
          </a:bodyPr>
          <a:lstStyle/>
          <a:p>
            <a:pPr algn="l">
              <a:spcAft>
                <a:spcPts val="400"/>
              </a:spcAft>
            </a:pPr>
            <a:r>
              <a:rPr sz="1200" b="0">
                <a:solidFill>
                  <a:srgbClr val="161B26"/>
                </a:solidFill>
                <a:latin typeface="Arial"/>
              </a:rPr>
              <a:t>State space</a:t>
            </a:r>
          </a:p>
        </p:txBody>
      </p:sp>
      <p:sp>
        <p:nvSpPr>
          <p:cNvPr id="19" name="Rectangle 18"/>
          <p:cNvSpPr/>
          <p:nvPr/>
        </p:nvSpPr>
        <p:spPr>
          <a:xfrm>
            <a:off x="3542202" y="2350007"/>
            <a:ext cx="4041099" cy="475488"/>
          </a:xfrm>
          <a:prstGeom prst="rect">
            <a:avLst/>
          </a:prstGeom>
          <a:solidFill>
            <a:srgbClr val="F5F8FC"/>
          </a:solidFill>
          <a:ln w="12700">
            <a:solidFill>
              <a:srgbClr val="E2E8F0"/>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0" name="TextBox 19"/>
          <p:cNvSpPr txBox="1"/>
          <p:nvPr/>
        </p:nvSpPr>
        <p:spPr>
          <a:xfrm>
            <a:off x="3679362" y="2350007"/>
            <a:ext cx="3766779" cy="475488"/>
          </a:xfrm>
          <a:prstGeom prst="rect">
            <a:avLst/>
          </a:prstGeom>
          <a:noFill/>
        </p:spPr>
        <p:txBody>
          <a:bodyPr wrap="square" anchor="ctr">
            <a:spAutoFit/>
          </a:bodyPr>
          <a:lstStyle/>
          <a:p>
            <a:pPr algn="l">
              <a:spcAft>
                <a:spcPts val="400"/>
              </a:spcAft>
            </a:pPr>
            <a:r>
              <a:rPr sz="1200" b="0">
                <a:solidFill>
                  <a:srgbClr val="161B26"/>
                </a:solidFill>
                <a:latin typeface="Arial"/>
              </a:rPr>
              <a:t>|ψ&gt; ∈ H,  &lt;ψ|ψ&gt; = 1</a:t>
            </a:r>
          </a:p>
        </p:txBody>
      </p:sp>
      <p:sp>
        <p:nvSpPr>
          <p:cNvPr id="21" name="Rectangle 20"/>
          <p:cNvSpPr/>
          <p:nvPr/>
        </p:nvSpPr>
        <p:spPr>
          <a:xfrm>
            <a:off x="7583301" y="2350007"/>
            <a:ext cx="3828409" cy="475488"/>
          </a:xfrm>
          <a:prstGeom prst="rect">
            <a:avLst/>
          </a:prstGeom>
          <a:solidFill>
            <a:srgbClr val="F5F8FC"/>
          </a:solidFill>
          <a:ln w="12700">
            <a:solidFill>
              <a:srgbClr val="E2E8F0"/>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2" name="TextBox 21"/>
          <p:cNvSpPr txBox="1"/>
          <p:nvPr/>
        </p:nvSpPr>
        <p:spPr>
          <a:xfrm>
            <a:off x="7720461" y="2350007"/>
            <a:ext cx="3554089" cy="475488"/>
          </a:xfrm>
          <a:prstGeom prst="rect">
            <a:avLst/>
          </a:prstGeom>
          <a:noFill/>
        </p:spPr>
        <p:txBody>
          <a:bodyPr wrap="square" anchor="ctr">
            <a:spAutoFit/>
          </a:bodyPr>
          <a:lstStyle/>
          <a:p>
            <a:pPr algn="l">
              <a:spcAft>
                <a:spcPts val="400"/>
              </a:spcAft>
            </a:pPr>
            <a:r>
              <a:rPr sz="1200" b="0">
                <a:solidFill>
                  <a:srgbClr val="161B26"/>
                </a:solidFill>
                <a:latin typeface="Arial"/>
              </a:rPr>
              <a:t>What a state IS</a:t>
            </a:r>
          </a:p>
        </p:txBody>
      </p:sp>
      <p:sp>
        <p:nvSpPr>
          <p:cNvPr id="23" name="Rectangle 22"/>
          <p:cNvSpPr/>
          <p:nvPr/>
        </p:nvSpPr>
        <p:spPr>
          <a:xfrm>
            <a:off x="777240" y="2825495"/>
            <a:ext cx="638068" cy="475488"/>
          </a:xfrm>
          <a:prstGeom prst="rect">
            <a:avLst/>
          </a:prstGeom>
          <a:solidFill>
            <a:srgbClr val="FFFFFF"/>
          </a:solidFill>
          <a:ln w="12700">
            <a:solidFill>
              <a:srgbClr val="E2E8F0"/>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4" name="TextBox 23"/>
          <p:cNvSpPr txBox="1"/>
          <p:nvPr/>
        </p:nvSpPr>
        <p:spPr>
          <a:xfrm>
            <a:off x="914400" y="2825495"/>
            <a:ext cx="363748" cy="475488"/>
          </a:xfrm>
          <a:prstGeom prst="rect">
            <a:avLst/>
          </a:prstGeom>
          <a:noFill/>
        </p:spPr>
        <p:txBody>
          <a:bodyPr wrap="square" anchor="ctr">
            <a:spAutoFit/>
          </a:bodyPr>
          <a:lstStyle/>
          <a:p>
            <a:pPr algn="l">
              <a:spcAft>
                <a:spcPts val="400"/>
              </a:spcAft>
            </a:pPr>
            <a:r>
              <a:rPr sz="1200" b="1">
                <a:solidFill>
                  <a:srgbClr val="161B26"/>
                </a:solidFill>
                <a:latin typeface="Arial"/>
              </a:rPr>
              <a:t>2</a:t>
            </a:r>
          </a:p>
        </p:txBody>
      </p:sp>
      <p:sp>
        <p:nvSpPr>
          <p:cNvPr id="25" name="Rectangle 24"/>
          <p:cNvSpPr/>
          <p:nvPr/>
        </p:nvSpPr>
        <p:spPr>
          <a:xfrm>
            <a:off x="1415308" y="2825495"/>
            <a:ext cx="2126894" cy="475488"/>
          </a:xfrm>
          <a:prstGeom prst="rect">
            <a:avLst/>
          </a:prstGeom>
          <a:solidFill>
            <a:srgbClr val="FFFFFF"/>
          </a:solidFill>
          <a:ln w="12700">
            <a:solidFill>
              <a:srgbClr val="E2E8F0"/>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6" name="TextBox 25"/>
          <p:cNvSpPr txBox="1"/>
          <p:nvPr/>
        </p:nvSpPr>
        <p:spPr>
          <a:xfrm>
            <a:off x="1552468" y="2825495"/>
            <a:ext cx="1852574" cy="475488"/>
          </a:xfrm>
          <a:prstGeom prst="rect">
            <a:avLst/>
          </a:prstGeom>
          <a:noFill/>
        </p:spPr>
        <p:txBody>
          <a:bodyPr wrap="square" anchor="ctr">
            <a:spAutoFit/>
          </a:bodyPr>
          <a:lstStyle/>
          <a:p>
            <a:pPr algn="l">
              <a:spcAft>
                <a:spcPts val="400"/>
              </a:spcAft>
            </a:pPr>
            <a:r>
              <a:rPr sz="1200" b="0">
                <a:solidFill>
                  <a:srgbClr val="161B26"/>
                </a:solidFill>
                <a:latin typeface="Arial"/>
              </a:rPr>
              <a:t>Time evolution</a:t>
            </a:r>
          </a:p>
        </p:txBody>
      </p:sp>
      <p:sp>
        <p:nvSpPr>
          <p:cNvPr id="27" name="Rectangle 26"/>
          <p:cNvSpPr/>
          <p:nvPr/>
        </p:nvSpPr>
        <p:spPr>
          <a:xfrm>
            <a:off x="3542202" y="2825495"/>
            <a:ext cx="4041099" cy="475488"/>
          </a:xfrm>
          <a:prstGeom prst="rect">
            <a:avLst/>
          </a:prstGeom>
          <a:solidFill>
            <a:srgbClr val="FFFFFF"/>
          </a:solidFill>
          <a:ln w="12700">
            <a:solidFill>
              <a:srgbClr val="E2E8F0"/>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8" name="TextBox 27"/>
          <p:cNvSpPr txBox="1"/>
          <p:nvPr/>
        </p:nvSpPr>
        <p:spPr>
          <a:xfrm>
            <a:off x="3679362" y="2825495"/>
            <a:ext cx="3766779" cy="475488"/>
          </a:xfrm>
          <a:prstGeom prst="rect">
            <a:avLst/>
          </a:prstGeom>
          <a:noFill/>
        </p:spPr>
        <p:txBody>
          <a:bodyPr wrap="square" anchor="ctr">
            <a:spAutoFit/>
          </a:bodyPr>
          <a:lstStyle/>
          <a:p>
            <a:pPr algn="l">
              <a:spcAft>
                <a:spcPts val="400"/>
              </a:spcAft>
            </a:pPr>
            <a:r>
              <a:rPr sz="1200" b="0">
                <a:solidFill>
                  <a:srgbClr val="161B26"/>
                </a:solidFill>
                <a:latin typeface="Arial"/>
              </a:rPr>
              <a:t>|ψ'&gt; = U|ψ&gt;,  U†U = I</a:t>
            </a:r>
          </a:p>
        </p:txBody>
      </p:sp>
      <p:sp>
        <p:nvSpPr>
          <p:cNvPr id="29" name="Rectangle 28"/>
          <p:cNvSpPr/>
          <p:nvPr/>
        </p:nvSpPr>
        <p:spPr>
          <a:xfrm>
            <a:off x="7583301" y="2825495"/>
            <a:ext cx="3828409" cy="475488"/>
          </a:xfrm>
          <a:prstGeom prst="rect">
            <a:avLst/>
          </a:prstGeom>
          <a:solidFill>
            <a:srgbClr val="FFFFFF"/>
          </a:solidFill>
          <a:ln w="12700">
            <a:solidFill>
              <a:srgbClr val="E2E8F0"/>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0" name="TextBox 29"/>
          <p:cNvSpPr txBox="1"/>
          <p:nvPr/>
        </p:nvSpPr>
        <p:spPr>
          <a:xfrm>
            <a:off x="7720461" y="2825495"/>
            <a:ext cx="3554089" cy="475488"/>
          </a:xfrm>
          <a:prstGeom prst="rect">
            <a:avLst/>
          </a:prstGeom>
          <a:noFill/>
        </p:spPr>
        <p:txBody>
          <a:bodyPr wrap="square" anchor="ctr">
            <a:spAutoFit/>
          </a:bodyPr>
          <a:lstStyle/>
          <a:p>
            <a:pPr algn="l">
              <a:spcAft>
                <a:spcPts val="400"/>
              </a:spcAft>
            </a:pPr>
            <a:r>
              <a:rPr sz="1200" b="0">
                <a:solidFill>
                  <a:srgbClr val="161B26"/>
                </a:solidFill>
                <a:latin typeface="Arial"/>
              </a:rPr>
              <a:t>How states CHANGE</a:t>
            </a:r>
          </a:p>
        </p:txBody>
      </p:sp>
      <p:sp>
        <p:nvSpPr>
          <p:cNvPr id="31" name="Rectangle 30"/>
          <p:cNvSpPr/>
          <p:nvPr/>
        </p:nvSpPr>
        <p:spPr>
          <a:xfrm>
            <a:off x="777240" y="3300983"/>
            <a:ext cx="638068" cy="475488"/>
          </a:xfrm>
          <a:prstGeom prst="rect">
            <a:avLst/>
          </a:prstGeom>
          <a:solidFill>
            <a:srgbClr val="F5F8FC"/>
          </a:solidFill>
          <a:ln w="12700">
            <a:solidFill>
              <a:srgbClr val="E2E8F0"/>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2" name="TextBox 31"/>
          <p:cNvSpPr txBox="1"/>
          <p:nvPr/>
        </p:nvSpPr>
        <p:spPr>
          <a:xfrm>
            <a:off x="914400" y="3300983"/>
            <a:ext cx="363748" cy="475488"/>
          </a:xfrm>
          <a:prstGeom prst="rect">
            <a:avLst/>
          </a:prstGeom>
          <a:noFill/>
        </p:spPr>
        <p:txBody>
          <a:bodyPr wrap="square" anchor="ctr">
            <a:spAutoFit/>
          </a:bodyPr>
          <a:lstStyle/>
          <a:p>
            <a:pPr algn="l">
              <a:spcAft>
                <a:spcPts val="400"/>
              </a:spcAft>
            </a:pPr>
            <a:r>
              <a:rPr sz="1200" b="1">
                <a:solidFill>
                  <a:srgbClr val="161B26"/>
                </a:solidFill>
                <a:latin typeface="Arial"/>
              </a:rPr>
              <a:t>3</a:t>
            </a:r>
          </a:p>
        </p:txBody>
      </p:sp>
      <p:sp>
        <p:nvSpPr>
          <p:cNvPr id="33" name="Rectangle 32"/>
          <p:cNvSpPr/>
          <p:nvPr/>
        </p:nvSpPr>
        <p:spPr>
          <a:xfrm>
            <a:off x="1415308" y="3300983"/>
            <a:ext cx="2126894" cy="475488"/>
          </a:xfrm>
          <a:prstGeom prst="rect">
            <a:avLst/>
          </a:prstGeom>
          <a:solidFill>
            <a:srgbClr val="F5F8FC"/>
          </a:solidFill>
          <a:ln w="12700">
            <a:solidFill>
              <a:srgbClr val="E2E8F0"/>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4" name="TextBox 33"/>
          <p:cNvSpPr txBox="1"/>
          <p:nvPr/>
        </p:nvSpPr>
        <p:spPr>
          <a:xfrm>
            <a:off x="1552468" y="3300983"/>
            <a:ext cx="1852574" cy="475488"/>
          </a:xfrm>
          <a:prstGeom prst="rect">
            <a:avLst/>
          </a:prstGeom>
          <a:noFill/>
        </p:spPr>
        <p:txBody>
          <a:bodyPr wrap="square" anchor="ctr">
            <a:spAutoFit/>
          </a:bodyPr>
          <a:lstStyle/>
          <a:p>
            <a:pPr algn="l">
              <a:spcAft>
                <a:spcPts val="400"/>
              </a:spcAft>
            </a:pPr>
            <a:r>
              <a:rPr sz="1200" b="0">
                <a:solidFill>
                  <a:srgbClr val="161B26"/>
                </a:solidFill>
                <a:latin typeface="Arial"/>
              </a:rPr>
              <a:t>Observables</a:t>
            </a:r>
          </a:p>
        </p:txBody>
      </p:sp>
      <p:sp>
        <p:nvSpPr>
          <p:cNvPr id="35" name="Rectangle 34"/>
          <p:cNvSpPr/>
          <p:nvPr/>
        </p:nvSpPr>
        <p:spPr>
          <a:xfrm>
            <a:off x="3542202" y="3300983"/>
            <a:ext cx="4041099" cy="475488"/>
          </a:xfrm>
          <a:prstGeom prst="rect">
            <a:avLst/>
          </a:prstGeom>
          <a:solidFill>
            <a:srgbClr val="F5F8FC"/>
          </a:solidFill>
          <a:ln w="12700">
            <a:solidFill>
              <a:srgbClr val="E2E8F0"/>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6" name="TextBox 35"/>
          <p:cNvSpPr txBox="1"/>
          <p:nvPr/>
        </p:nvSpPr>
        <p:spPr>
          <a:xfrm>
            <a:off x="3679362" y="3300983"/>
            <a:ext cx="3766779" cy="475488"/>
          </a:xfrm>
          <a:prstGeom prst="rect">
            <a:avLst/>
          </a:prstGeom>
          <a:noFill/>
        </p:spPr>
        <p:txBody>
          <a:bodyPr wrap="square" anchor="ctr">
            <a:spAutoFit/>
          </a:bodyPr>
          <a:lstStyle/>
          <a:p>
            <a:pPr algn="l">
              <a:spcAft>
                <a:spcPts val="400"/>
              </a:spcAft>
            </a:pPr>
            <a:r>
              <a:rPr sz="1200" b="0">
                <a:solidFill>
                  <a:srgbClr val="161B26"/>
                </a:solidFill>
                <a:latin typeface="Arial"/>
              </a:rPr>
              <a:t>A† = A,  real eigenvalues</a:t>
            </a:r>
          </a:p>
        </p:txBody>
      </p:sp>
      <p:sp>
        <p:nvSpPr>
          <p:cNvPr id="37" name="Rectangle 36"/>
          <p:cNvSpPr/>
          <p:nvPr/>
        </p:nvSpPr>
        <p:spPr>
          <a:xfrm>
            <a:off x="7583301" y="3300983"/>
            <a:ext cx="3828409" cy="475488"/>
          </a:xfrm>
          <a:prstGeom prst="rect">
            <a:avLst/>
          </a:prstGeom>
          <a:solidFill>
            <a:srgbClr val="F5F8FC"/>
          </a:solidFill>
          <a:ln w="12700">
            <a:solidFill>
              <a:srgbClr val="E2E8F0"/>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8" name="TextBox 37"/>
          <p:cNvSpPr txBox="1"/>
          <p:nvPr/>
        </p:nvSpPr>
        <p:spPr>
          <a:xfrm>
            <a:off x="7720461" y="3300983"/>
            <a:ext cx="3554089" cy="475488"/>
          </a:xfrm>
          <a:prstGeom prst="rect">
            <a:avLst/>
          </a:prstGeom>
          <a:noFill/>
        </p:spPr>
        <p:txBody>
          <a:bodyPr wrap="square" anchor="ctr">
            <a:spAutoFit/>
          </a:bodyPr>
          <a:lstStyle/>
          <a:p>
            <a:pPr algn="l">
              <a:spcAft>
                <a:spcPts val="400"/>
              </a:spcAft>
            </a:pPr>
            <a:r>
              <a:rPr sz="1200" b="0">
                <a:solidFill>
                  <a:srgbClr val="161B26"/>
                </a:solidFill>
                <a:latin typeface="Arial"/>
              </a:rPr>
              <a:t>What can be MEASURED</a:t>
            </a:r>
          </a:p>
        </p:txBody>
      </p:sp>
      <p:sp>
        <p:nvSpPr>
          <p:cNvPr id="39" name="Rectangle 38"/>
          <p:cNvSpPr/>
          <p:nvPr/>
        </p:nvSpPr>
        <p:spPr>
          <a:xfrm>
            <a:off x="777240" y="3776471"/>
            <a:ext cx="638068" cy="475488"/>
          </a:xfrm>
          <a:prstGeom prst="rect">
            <a:avLst/>
          </a:prstGeom>
          <a:solidFill>
            <a:srgbClr val="FFFFFF"/>
          </a:solidFill>
          <a:ln w="12700">
            <a:solidFill>
              <a:srgbClr val="E2E8F0"/>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0" name="TextBox 39"/>
          <p:cNvSpPr txBox="1"/>
          <p:nvPr/>
        </p:nvSpPr>
        <p:spPr>
          <a:xfrm>
            <a:off x="914400" y="3776471"/>
            <a:ext cx="363748" cy="475488"/>
          </a:xfrm>
          <a:prstGeom prst="rect">
            <a:avLst/>
          </a:prstGeom>
          <a:noFill/>
        </p:spPr>
        <p:txBody>
          <a:bodyPr wrap="square" anchor="ctr">
            <a:spAutoFit/>
          </a:bodyPr>
          <a:lstStyle/>
          <a:p>
            <a:pPr algn="l">
              <a:spcAft>
                <a:spcPts val="400"/>
              </a:spcAft>
            </a:pPr>
            <a:r>
              <a:rPr sz="1200" b="1">
                <a:solidFill>
                  <a:srgbClr val="161B26"/>
                </a:solidFill>
                <a:latin typeface="Arial"/>
              </a:rPr>
              <a:t>4</a:t>
            </a:r>
          </a:p>
        </p:txBody>
      </p:sp>
      <p:sp>
        <p:nvSpPr>
          <p:cNvPr id="41" name="Rectangle 40"/>
          <p:cNvSpPr/>
          <p:nvPr/>
        </p:nvSpPr>
        <p:spPr>
          <a:xfrm>
            <a:off x="1415308" y="3776471"/>
            <a:ext cx="2126894" cy="475488"/>
          </a:xfrm>
          <a:prstGeom prst="rect">
            <a:avLst/>
          </a:prstGeom>
          <a:solidFill>
            <a:srgbClr val="FFFFFF"/>
          </a:solidFill>
          <a:ln w="12700">
            <a:solidFill>
              <a:srgbClr val="E2E8F0"/>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2" name="TextBox 41"/>
          <p:cNvSpPr txBox="1"/>
          <p:nvPr/>
        </p:nvSpPr>
        <p:spPr>
          <a:xfrm>
            <a:off x="1552468" y="3776471"/>
            <a:ext cx="1852574" cy="475488"/>
          </a:xfrm>
          <a:prstGeom prst="rect">
            <a:avLst/>
          </a:prstGeom>
          <a:noFill/>
        </p:spPr>
        <p:txBody>
          <a:bodyPr wrap="square" anchor="ctr">
            <a:spAutoFit/>
          </a:bodyPr>
          <a:lstStyle/>
          <a:p>
            <a:pPr algn="l">
              <a:spcAft>
                <a:spcPts val="400"/>
              </a:spcAft>
            </a:pPr>
            <a:r>
              <a:rPr sz="1200" b="0">
                <a:solidFill>
                  <a:srgbClr val="161B26"/>
                </a:solidFill>
                <a:latin typeface="Arial"/>
              </a:rPr>
              <a:t>Born rule</a:t>
            </a:r>
          </a:p>
        </p:txBody>
      </p:sp>
      <p:sp>
        <p:nvSpPr>
          <p:cNvPr id="43" name="Rectangle 42"/>
          <p:cNvSpPr/>
          <p:nvPr/>
        </p:nvSpPr>
        <p:spPr>
          <a:xfrm>
            <a:off x="3542202" y="3776471"/>
            <a:ext cx="4041099" cy="475488"/>
          </a:xfrm>
          <a:prstGeom prst="rect">
            <a:avLst/>
          </a:prstGeom>
          <a:solidFill>
            <a:srgbClr val="FFFFFF"/>
          </a:solidFill>
          <a:ln w="12700">
            <a:solidFill>
              <a:srgbClr val="E2E8F0"/>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4" name="TextBox 43"/>
          <p:cNvSpPr txBox="1"/>
          <p:nvPr/>
        </p:nvSpPr>
        <p:spPr>
          <a:xfrm>
            <a:off x="3679362" y="3776471"/>
            <a:ext cx="3766779" cy="475488"/>
          </a:xfrm>
          <a:prstGeom prst="rect">
            <a:avLst/>
          </a:prstGeom>
          <a:noFill/>
        </p:spPr>
        <p:txBody>
          <a:bodyPr wrap="square" anchor="ctr">
            <a:spAutoFit/>
          </a:bodyPr>
          <a:lstStyle/>
          <a:p>
            <a:pPr algn="l">
              <a:spcAft>
                <a:spcPts val="400"/>
              </a:spcAft>
            </a:pPr>
            <a:r>
              <a:rPr sz="1200" b="0">
                <a:solidFill>
                  <a:srgbClr val="161B26"/>
                </a:solidFill>
                <a:latin typeface="Arial"/>
              </a:rPr>
              <a:t>P(i) = |&lt;i|ψ&gt;|²</a:t>
            </a:r>
          </a:p>
        </p:txBody>
      </p:sp>
      <p:sp>
        <p:nvSpPr>
          <p:cNvPr id="45" name="Rectangle 44"/>
          <p:cNvSpPr/>
          <p:nvPr/>
        </p:nvSpPr>
        <p:spPr>
          <a:xfrm>
            <a:off x="7583301" y="3776471"/>
            <a:ext cx="3828409" cy="475488"/>
          </a:xfrm>
          <a:prstGeom prst="rect">
            <a:avLst/>
          </a:prstGeom>
          <a:solidFill>
            <a:srgbClr val="FFFFFF"/>
          </a:solidFill>
          <a:ln w="12700">
            <a:solidFill>
              <a:srgbClr val="E2E8F0"/>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6" name="TextBox 45"/>
          <p:cNvSpPr txBox="1"/>
          <p:nvPr/>
        </p:nvSpPr>
        <p:spPr>
          <a:xfrm>
            <a:off x="7720461" y="3776471"/>
            <a:ext cx="3554089" cy="475488"/>
          </a:xfrm>
          <a:prstGeom prst="rect">
            <a:avLst/>
          </a:prstGeom>
          <a:noFill/>
        </p:spPr>
        <p:txBody>
          <a:bodyPr wrap="square" anchor="ctr">
            <a:spAutoFit/>
          </a:bodyPr>
          <a:lstStyle/>
          <a:p>
            <a:pPr algn="l">
              <a:spcAft>
                <a:spcPts val="400"/>
              </a:spcAft>
            </a:pPr>
            <a:r>
              <a:rPr sz="1200" b="0">
                <a:solidFill>
                  <a:srgbClr val="161B26"/>
                </a:solidFill>
                <a:latin typeface="Arial"/>
              </a:rPr>
              <a:t>How LIKELY each outcome is</a:t>
            </a:r>
          </a:p>
        </p:txBody>
      </p:sp>
      <p:sp>
        <p:nvSpPr>
          <p:cNvPr id="47" name="Rectangle 46"/>
          <p:cNvSpPr/>
          <p:nvPr/>
        </p:nvSpPr>
        <p:spPr>
          <a:xfrm>
            <a:off x="777240" y="4251959"/>
            <a:ext cx="638068" cy="475488"/>
          </a:xfrm>
          <a:prstGeom prst="rect">
            <a:avLst/>
          </a:prstGeom>
          <a:solidFill>
            <a:srgbClr val="F5F8FC"/>
          </a:solidFill>
          <a:ln w="12700">
            <a:solidFill>
              <a:srgbClr val="E2E8F0"/>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8" name="TextBox 47"/>
          <p:cNvSpPr txBox="1"/>
          <p:nvPr/>
        </p:nvSpPr>
        <p:spPr>
          <a:xfrm>
            <a:off x="914400" y="4251959"/>
            <a:ext cx="363748" cy="475488"/>
          </a:xfrm>
          <a:prstGeom prst="rect">
            <a:avLst/>
          </a:prstGeom>
          <a:noFill/>
        </p:spPr>
        <p:txBody>
          <a:bodyPr wrap="square" anchor="ctr">
            <a:spAutoFit/>
          </a:bodyPr>
          <a:lstStyle/>
          <a:p>
            <a:pPr algn="l">
              <a:spcAft>
                <a:spcPts val="400"/>
              </a:spcAft>
            </a:pPr>
            <a:r>
              <a:rPr sz="1200" b="1">
                <a:solidFill>
                  <a:srgbClr val="161B26"/>
                </a:solidFill>
                <a:latin typeface="Arial"/>
              </a:rPr>
              <a:t>5</a:t>
            </a:r>
          </a:p>
        </p:txBody>
      </p:sp>
      <p:sp>
        <p:nvSpPr>
          <p:cNvPr id="49" name="Rectangle 48"/>
          <p:cNvSpPr/>
          <p:nvPr/>
        </p:nvSpPr>
        <p:spPr>
          <a:xfrm>
            <a:off x="1415308" y="4251959"/>
            <a:ext cx="2126894" cy="475488"/>
          </a:xfrm>
          <a:prstGeom prst="rect">
            <a:avLst/>
          </a:prstGeom>
          <a:solidFill>
            <a:srgbClr val="F5F8FC"/>
          </a:solidFill>
          <a:ln w="12700">
            <a:solidFill>
              <a:srgbClr val="E2E8F0"/>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0" name="TextBox 49"/>
          <p:cNvSpPr txBox="1"/>
          <p:nvPr/>
        </p:nvSpPr>
        <p:spPr>
          <a:xfrm>
            <a:off x="1552468" y="4251959"/>
            <a:ext cx="1852574" cy="475488"/>
          </a:xfrm>
          <a:prstGeom prst="rect">
            <a:avLst/>
          </a:prstGeom>
          <a:noFill/>
        </p:spPr>
        <p:txBody>
          <a:bodyPr wrap="square" anchor="ctr">
            <a:spAutoFit/>
          </a:bodyPr>
          <a:lstStyle/>
          <a:p>
            <a:pPr algn="l">
              <a:spcAft>
                <a:spcPts val="400"/>
              </a:spcAft>
            </a:pPr>
            <a:r>
              <a:rPr sz="1200" b="0">
                <a:solidFill>
                  <a:srgbClr val="161B26"/>
                </a:solidFill>
                <a:latin typeface="Arial"/>
              </a:rPr>
              <a:t>Collapse</a:t>
            </a:r>
          </a:p>
        </p:txBody>
      </p:sp>
      <p:sp>
        <p:nvSpPr>
          <p:cNvPr id="51" name="Rectangle 50"/>
          <p:cNvSpPr/>
          <p:nvPr/>
        </p:nvSpPr>
        <p:spPr>
          <a:xfrm>
            <a:off x="3542202" y="4251959"/>
            <a:ext cx="4041099" cy="475488"/>
          </a:xfrm>
          <a:prstGeom prst="rect">
            <a:avLst/>
          </a:prstGeom>
          <a:solidFill>
            <a:srgbClr val="F5F8FC"/>
          </a:solidFill>
          <a:ln w="12700">
            <a:solidFill>
              <a:srgbClr val="E2E8F0"/>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2" name="TextBox 51"/>
          <p:cNvSpPr txBox="1"/>
          <p:nvPr/>
        </p:nvSpPr>
        <p:spPr>
          <a:xfrm>
            <a:off x="3679362" y="4251959"/>
            <a:ext cx="3766779" cy="475488"/>
          </a:xfrm>
          <a:prstGeom prst="rect">
            <a:avLst/>
          </a:prstGeom>
          <a:noFill/>
        </p:spPr>
        <p:txBody>
          <a:bodyPr wrap="square" anchor="ctr">
            <a:spAutoFit/>
          </a:bodyPr>
          <a:lstStyle/>
          <a:p>
            <a:pPr algn="l">
              <a:spcAft>
                <a:spcPts val="400"/>
              </a:spcAft>
            </a:pPr>
            <a:r>
              <a:rPr sz="1200" b="0">
                <a:solidFill>
                  <a:srgbClr val="161B26"/>
                </a:solidFill>
                <a:latin typeface="Arial"/>
              </a:rPr>
              <a:t>|ψ'&gt; = Pᵢ|ψ&gt; / √&lt;ψ|Pᵢ|ψ&gt;</a:t>
            </a:r>
          </a:p>
        </p:txBody>
      </p:sp>
      <p:sp>
        <p:nvSpPr>
          <p:cNvPr id="53" name="Rectangle 52"/>
          <p:cNvSpPr/>
          <p:nvPr/>
        </p:nvSpPr>
        <p:spPr>
          <a:xfrm>
            <a:off x="7583301" y="4251959"/>
            <a:ext cx="3828409" cy="475488"/>
          </a:xfrm>
          <a:prstGeom prst="rect">
            <a:avLst/>
          </a:prstGeom>
          <a:solidFill>
            <a:srgbClr val="F5F8FC"/>
          </a:solidFill>
          <a:ln w="12700">
            <a:solidFill>
              <a:srgbClr val="E2E8F0"/>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4" name="TextBox 53"/>
          <p:cNvSpPr txBox="1"/>
          <p:nvPr/>
        </p:nvSpPr>
        <p:spPr>
          <a:xfrm>
            <a:off x="7720461" y="4251959"/>
            <a:ext cx="3554089" cy="475488"/>
          </a:xfrm>
          <a:prstGeom prst="rect">
            <a:avLst/>
          </a:prstGeom>
          <a:noFill/>
        </p:spPr>
        <p:txBody>
          <a:bodyPr wrap="square" anchor="ctr">
            <a:spAutoFit/>
          </a:bodyPr>
          <a:lstStyle/>
          <a:p>
            <a:pPr algn="l">
              <a:spcAft>
                <a:spcPts val="400"/>
              </a:spcAft>
            </a:pPr>
            <a:r>
              <a:rPr sz="1200" b="0">
                <a:solidFill>
                  <a:srgbClr val="161B26"/>
                </a:solidFill>
                <a:latin typeface="Arial"/>
              </a:rPr>
              <a:t>What happens AFTER measuring</a:t>
            </a:r>
          </a:p>
        </p:txBody>
      </p:sp>
      <p:sp>
        <p:nvSpPr>
          <p:cNvPr id="55" name="TextBox 54"/>
          <p:cNvSpPr txBox="1"/>
          <p:nvPr/>
        </p:nvSpPr>
        <p:spPr>
          <a:xfrm>
            <a:off x="365760" y="6446520"/>
            <a:ext cx="6858000" cy="320040"/>
          </a:xfrm>
          <a:prstGeom prst="rect">
            <a:avLst/>
          </a:prstGeom>
          <a:noFill/>
        </p:spPr>
        <p:txBody>
          <a:bodyPr wrap="square" anchor="t">
            <a:spAutoFit/>
          </a:bodyPr>
          <a:lstStyle/>
          <a:p>
            <a:pPr algn="l">
              <a:spcAft>
                <a:spcPts val="400"/>
              </a:spcAft>
            </a:pPr>
            <a:r>
              <a:rPr sz="900" b="0">
                <a:solidFill>
                  <a:srgbClr val="5B6372"/>
                </a:solidFill>
                <a:latin typeface="Arial"/>
              </a:rPr>
              <a:t>Securing the Future with Quantum Computing and Cryptography  ·  TGS-2024043419</a:t>
            </a:r>
          </a:p>
        </p:txBody>
      </p:sp>
      <p:sp>
        <p:nvSpPr>
          <p:cNvPr id="56" name="TextBox 55"/>
          <p:cNvSpPr txBox="1"/>
          <p:nvPr/>
        </p:nvSpPr>
        <p:spPr>
          <a:xfrm>
            <a:off x="4572000" y="6446520"/>
            <a:ext cx="3017520" cy="320040"/>
          </a:xfrm>
          <a:prstGeom prst="rect">
            <a:avLst/>
          </a:prstGeom>
          <a:noFill/>
        </p:spPr>
        <p:txBody>
          <a:bodyPr wrap="square" anchor="t">
            <a:spAutoFit/>
          </a:bodyPr>
          <a:lstStyle/>
          <a:p>
            <a:pPr algn="ctr">
              <a:spcAft>
                <a:spcPts val="400"/>
              </a:spcAft>
            </a:pPr>
            <a:r>
              <a:rPr sz="900" b="0">
                <a:solidFill>
                  <a:srgbClr val="5B6372"/>
                </a:solidFill>
                <a:latin typeface="Arial"/>
              </a:rPr>
              <a:t>© 2026 Tertiary Infotech Academy Pte Ltd</a:t>
            </a:r>
          </a:p>
        </p:txBody>
      </p:sp>
      <p:sp>
        <p:nvSpPr>
          <p:cNvPr id="57" name="TextBox 56"/>
          <p:cNvSpPr txBox="1"/>
          <p:nvPr/>
        </p:nvSpPr>
        <p:spPr>
          <a:xfrm>
            <a:off x="11338560" y="6446520"/>
            <a:ext cx="548640" cy="320040"/>
          </a:xfrm>
          <a:prstGeom prst="rect">
            <a:avLst/>
          </a:prstGeom>
          <a:noFill/>
        </p:spPr>
        <p:txBody>
          <a:bodyPr wrap="square" anchor="t">
            <a:spAutoFit/>
          </a:bodyPr>
          <a:lstStyle/>
          <a:p>
            <a:pPr algn="r">
              <a:spcAft>
                <a:spcPts val="400"/>
              </a:spcAft>
            </a:pPr>
            <a:r>
              <a:rPr sz="900" b="0">
                <a:solidFill>
                  <a:srgbClr val="5B6372"/>
                </a:solidFill>
                <a:latin typeface="Arial"/>
              </a:rPr>
              <a:t>43</a:t>
            </a:r>
          </a:p>
        </p:txBody>
      </p:sp>
    </p:spTree>
  </p:cSld>
  <p:clrMapOvr>
    <a:masterClrMapping/>
  </p:clrMapOvr>
</p:sld>
</file>

<file path=ppt/slides/slide45.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256032" cy="6858000"/>
          </a:xfrm>
          <a:prstGeom prst="rect">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Rectangle 3"/>
          <p:cNvSpPr/>
          <p:nvPr/>
        </p:nvSpPr>
        <p:spPr>
          <a:xfrm>
            <a:off x="777240" y="2286000"/>
            <a:ext cx="128016" cy="1828800"/>
          </a:xfrm>
          <a:prstGeom prst="rect">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TextBox 4"/>
          <p:cNvSpPr txBox="1"/>
          <p:nvPr/>
        </p:nvSpPr>
        <p:spPr>
          <a:xfrm>
            <a:off x="1143000" y="2331720"/>
            <a:ext cx="10058400" cy="548640"/>
          </a:xfrm>
          <a:prstGeom prst="rect">
            <a:avLst/>
          </a:prstGeom>
          <a:noFill/>
        </p:spPr>
        <p:txBody>
          <a:bodyPr wrap="square" anchor="t">
            <a:spAutoFit/>
          </a:bodyPr>
          <a:lstStyle/>
          <a:p>
            <a:pPr algn="l">
              <a:spcAft>
                <a:spcPts val="400"/>
              </a:spcAft>
            </a:pPr>
            <a:r>
              <a:rPr sz="1800" b="1">
                <a:solidFill>
                  <a:srgbClr val="1F6FEB"/>
                </a:solidFill>
                <a:latin typeface="Arial"/>
              </a:rPr>
              <a:t>TOPIC 01</a:t>
            </a:r>
          </a:p>
        </p:txBody>
      </p:sp>
      <p:sp>
        <p:nvSpPr>
          <p:cNvPr id="6" name="TextBox 5"/>
          <p:cNvSpPr txBox="1"/>
          <p:nvPr/>
        </p:nvSpPr>
        <p:spPr>
          <a:xfrm>
            <a:off x="1143000" y="2743200"/>
            <a:ext cx="9509760" cy="1463040"/>
          </a:xfrm>
          <a:prstGeom prst="rect">
            <a:avLst/>
          </a:prstGeom>
          <a:noFill/>
        </p:spPr>
        <p:txBody>
          <a:bodyPr wrap="square" anchor="t">
            <a:spAutoFit/>
          </a:bodyPr>
          <a:lstStyle/>
          <a:p>
            <a:pPr algn="l">
              <a:spcAft>
                <a:spcPts val="400"/>
              </a:spcAft>
            </a:pPr>
            <a:r>
              <a:rPr sz="4000" b="1">
                <a:solidFill>
                  <a:srgbClr val="161B26"/>
                </a:solidFill>
                <a:latin typeface="Arial"/>
              </a:rPr>
              <a:t>Quantum Physics Fundamentals</a:t>
            </a:r>
          </a:p>
        </p:txBody>
      </p:sp>
      <p:sp>
        <p:nvSpPr>
          <p:cNvPr id="7" name="TextBox 6"/>
          <p:cNvSpPr txBox="1"/>
          <p:nvPr/>
        </p:nvSpPr>
        <p:spPr>
          <a:xfrm>
            <a:off x="1161288" y="4251960"/>
            <a:ext cx="9692640" cy="822960"/>
          </a:xfrm>
          <a:prstGeom prst="rect">
            <a:avLst/>
          </a:prstGeom>
          <a:noFill/>
        </p:spPr>
        <p:txBody>
          <a:bodyPr wrap="square" anchor="t">
            <a:spAutoFit/>
          </a:bodyPr>
          <a:lstStyle/>
          <a:p>
            <a:pPr algn="l">
              <a:spcAft>
                <a:spcPts val="400"/>
              </a:spcAft>
            </a:pPr>
            <a:r>
              <a:rPr sz="1500" b="0">
                <a:solidFill>
                  <a:srgbClr val="5B6372"/>
                </a:solidFill>
                <a:latin typeface="Arial"/>
              </a:rPr>
              <a:t>Postulates of Quantum Mechanics · Mathematics for Quantum Mechanics</a:t>
            </a:r>
          </a:p>
        </p:txBody>
      </p:sp>
      <p:sp>
        <p:nvSpPr>
          <p:cNvPr id="8" name="TextBox 7"/>
          <p:cNvSpPr txBox="1"/>
          <p:nvPr/>
        </p:nvSpPr>
        <p:spPr>
          <a:xfrm>
            <a:off x="9144000" y="640080"/>
            <a:ext cx="2560320" cy="1463040"/>
          </a:xfrm>
          <a:prstGeom prst="rect">
            <a:avLst/>
          </a:prstGeom>
          <a:noFill/>
        </p:spPr>
        <p:txBody>
          <a:bodyPr wrap="square" anchor="t">
            <a:spAutoFit/>
          </a:bodyPr>
          <a:lstStyle/>
          <a:p>
            <a:pPr algn="r">
              <a:spcAft>
                <a:spcPts val="400"/>
              </a:spcAft>
            </a:pPr>
            <a:r>
              <a:rPr sz="7200" b="1">
                <a:solidFill>
                  <a:srgbClr val="E2E8F0"/>
                </a:solidFill>
                <a:latin typeface="Arial"/>
              </a:rPr>
              <a:t>01</a:t>
            </a:r>
          </a:p>
        </p:txBody>
      </p:sp>
      <p:sp>
        <p:nvSpPr>
          <p:cNvPr id="9" name="TextBox 8"/>
          <p:cNvSpPr txBox="1"/>
          <p:nvPr/>
        </p:nvSpPr>
        <p:spPr>
          <a:xfrm>
            <a:off x="365760" y="6446520"/>
            <a:ext cx="6858000" cy="320040"/>
          </a:xfrm>
          <a:prstGeom prst="rect">
            <a:avLst/>
          </a:prstGeom>
          <a:noFill/>
        </p:spPr>
        <p:txBody>
          <a:bodyPr wrap="square" anchor="t">
            <a:spAutoFit/>
          </a:bodyPr>
          <a:lstStyle/>
          <a:p>
            <a:pPr algn="l">
              <a:spcAft>
                <a:spcPts val="400"/>
              </a:spcAft>
            </a:pPr>
            <a:r>
              <a:rPr sz="900" b="0">
                <a:solidFill>
                  <a:srgbClr val="5B6372"/>
                </a:solidFill>
                <a:latin typeface="Arial"/>
              </a:rPr>
              <a:t>Securing the Future with Quantum Computing and Cryptography  ·  TGS-2024043419</a:t>
            </a:r>
          </a:p>
        </p:txBody>
      </p:sp>
      <p:sp>
        <p:nvSpPr>
          <p:cNvPr id="10" name="TextBox 9"/>
          <p:cNvSpPr txBox="1"/>
          <p:nvPr/>
        </p:nvSpPr>
        <p:spPr>
          <a:xfrm>
            <a:off x="4572000" y="6446520"/>
            <a:ext cx="3017520" cy="320040"/>
          </a:xfrm>
          <a:prstGeom prst="rect">
            <a:avLst/>
          </a:prstGeom>
          <a:noFill/>
        </p:spPr>
        <p:txBody>
          <a:bodyPr wrap="square" anchor="t">
            <a:spAutoFit/>
          </a:bodyPr>
          <a:lstStyle/>
          <a:p>
            <a:pPr algn="ctr">
              <a:spcAft>
                <a:spcPts val="400"/>
              </a:spcAft>
            </a:pPr>
            <a:r>
              <a:rPr sz="900" b="0">
                <a:solidFill>
                  <a:srgbClr val="5B6372"/>
                </a:solidFill>
                <a:latin typeface="Arial"/>
              </a:rPr>
              <a:t>© 2026 Tertiary Infotech Academy Pte Ltd</a:t>
            </a:r>
          </a:p>
        </p:txBody>
      </p:sp>
      <p:sp>
        <p:nvSpPr>
          <p:cNvPr id="11" name="TextBox 10"/>
          <p:cNvSpPr txBox="1"/>
          <p:nvPr/>
        </p:nvSpPr>
        <p:spPr>
          <a:xfrm>
            <a:off x="11338560" y="6446520"/>
            <a:ext cx="548640" cy="320040"/>
          </a:xfrm>
          <a:prstGeom prst="rect">
            <a:avLst/>
          </a:prstGeom>
          <a:noFill/>
        </p:spPr>
        <p:txBody>
          <a:bodyPr wrap="square" anchor="t">
            <a:spAutoFit/>
          </a:bodyPr>
          <a:lstStyle/>
          <a:p>
            <a:pPr algn="r">
              <a:spcAft>
                <a:spcPts val="400"/>
              </a:spcAft>
            </a:pPr>
            <a:r>
              <a:rPr sz="900" b="0">
                <a:solidFill>
                  <a:srgbClr val="5B6372"/>
                </a:solidFill>
                <a:latin typeface="Arial"/>
              </a:rPr>
              <a:t>44</a:t>
            </a:r>
          </a:p>
        </p:txBody>
      </p:sp>
    </p:spTree>
  </p:cSld>
  <p:clrMapOvr>
    <a:masterClrMapping/>
  </p:clrMapOvr>
</p:sld>
</file>

<file path=ppt/slides/slide46.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256032" cy="1417320"/>
          </a:xfrm>
          <a:prstGeom prst="rect">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777240" y="457200"/>
            <a:ext cx="10607040" cy="365760"/>
          </a:xfrm>
          <a:prstGeom prst="rect">
            <a:avLst/>
          </a:prstGeom>
          <a:noFill/>
        </p:spPr>
        <p:txBody>
          <a:bodyPr wrap="square" anchor="t">
            <a:spAutoFit/>
          </a:bodyPr>
          <a:lstStyle/>
          <a:p>
            <a:pPr algn="l">
              <a:spcAft>
                <a:spcPts val="400"/>
              </a:spcAft>
            </a:pPr>
            <a:r>
              <a:rPr sz="1400" b="1">
                <a:solidFill>
                  <a:srgbClr val="1F6FEB"/>
                </a:solidFill>
                <a:latin typeface="Arial"/>
              </a:rPr>
              <a:t>MAPS TO LO1</a:t>
            </a:r>
          </a:p>
        </p:txBody>
      </p:sp>
      <p:sp>
        <p:nvSpPr>
          <p:cNvPr id="5" name="TextBox 4"/>
          <p:cNvSpPr txBox="1"/>
          <p:nvPr/>
        </p:nvSpPr>
        <p:spPr>
          <a:xfrm>
            <a:off x="777240" y="822960"/>
            <a:ext cx="10881360" cy="822960"/>
          </a:xfrm>
          <a:prstGeom prst="rect">
            <a:avLst/>
          </a:prstGeom>
          <a:noFill/>
        </p:spPr>
        <p:txBody>
          <a:bodyPr wrap="square" anchor="t">
            <a:spAutoFit/>
          </a:bodyPr>
          <a:lstStyle/>
          <a:p>
            <a:pPr algn="l">
              <a:spcAft>
                <a:spcPts val="400"/>
              </a:spcAft>
            </a:pPr>
            <a:r>
              <a:rPr sz="2900" b="1">
                <a:solidFill>
                  <a:srgbClr val="161B26"/>
                </a:solidFill>
                <a:latin typeface="Arial"/>
              </a:rPr>
              <a:t>Key Concepts — Quantum Physics Fundamentals</a:t>
            </a:r>
          </a:p>
        </p:txBody>
      </p:sp>
      <p:sp>
        <p:nvSpPr>
          <p:cNvPr id="6" name="Rectangle 5"/>
          <p:cNvSpPr/>
          <p:nvPr/>
        </p:nvSpPr>
        <p:spPr>
          <a:xfrm>
            <a:off x="777240" y="1554480"/>
            <a:ext cx="10634472" cy="18288"/>
          </a:xfrm>
          <a:prstGeom prst="rect">
            <a:avLst/>
          </a:prstGeom>
          <a:solidFill>
            <a:srgbClr val="E2E8F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Rectangle 6"/>
          <p:cNvSpPr/>
          <p:nvPr/>
        </p:nvSpPr>
        <p:spPr>
          <a:xfrm>
            <a:off x="777240" y="1783080"/>
            <a:ext cx="5180076" cy="1298448"/>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Rectangle 7"/>
          <p:cNvSpPr/>
          <p:nvPr/>
        </p:nvSpPr>
        <p:spPr>
          <a:xfrm>
            <a:off x="777240" y="1783080"/>
            <a:ext cx="91440" cy="1298448"/>
          </a:xfrm>
          <a:prstGeom prst="rect">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Oval 8"/>
          <p:cNvSpPr/>
          <p:nvPr/>
        </p:nvSpPr>
        <p:spPr>
          <a:xfrm>
            <a:off x="1033272" y="2157984"/>
            <a:ext cx="548640" cy="548640"/>
          </a:xfrm>
          <a:prstGeom prst="ellipse">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TextBox 9"/>
          <p:cNvSpPr txBox="1"/>
          <p:nvPr/>
        </p:nvSpPr>
        <p:spPr>
          <a:xfrm>
            <a:off x="1033272" y="2157984"/>
            <a:ext cx="548640" cy="548640"/>
          </a:xfrm>
          <a:prstGeom prst="rect">
            <a:avLst/>
          </a:prstGeom>
          <a:noFill/>
        </p:spPr>
        <p:txBody>
          <a:bodyPr wrap="square" anchor="ctr">
            <a:spAutoFit/>
          </a:bodyPr>
          <a:lstStyle/>
          <a:p>
            <a:pPr algn="ctr">
              <a:spcAft>
                <a:spcPts val="400"/>
              </a:spcAft>
            </a:pPr>
            <a:r>
              <a:rPr sz="1800" b="1">
                <a:solidFill>
                  <a:srgbClr val="FFFFFF"/>
                </a:solidFill>
                <a:latin typeface="Arial"/>
              </a:rPr>
              <a:t>1</a:t>
            </a:r>
          </a:p>
        </p:txBody>
      </p:sp>
      <p:sp>
        <p:nvSpPr>
          <p:cNvPr id="11" name="TextBox 10"/>
          <p:cNvSpPr txBox="1"/>
          <p:nvPr/>
        </p:nvSpPr>
        <p:spPr>
          <a:xfrm>
            <a:off x="1764792" y="1892808"/>
            <a:ext cx="3973068" cy="1115568"/>
          </a:xfrm>
          <a:prstGeom prst="rect">
            <a:avLst/>
          </a:prstGeom>
          <a:noFill/>
        </p:spPr>
        <p:txBody>
          <a:bodyPr wrap="square" anchor="ctr">
            <a:spAutoFit/>
          </a:bodyPr>
          <a:lstStyle/>
          <a:p>
            <a:pPr algn="l">
              <a:spcAft>
                <a:spcPts val="300"/>
              </a:spcAft>
            </a:pPr>
            <a:r>
              <a:rPr sz="1450" b="1">
                <a:solidFill>
                  <a:srgbClr val="161B26"/>
                </a:solidFill>
                <a:latin typeface="Arial"/>
              </a:rPr>
              <a:t>The five postulates</a:t>
            </a:r>
          </a:p>
          <a:p>
            <a:pPr algn="l">
              <a:spcAft>
                <a:spcPts val="300"/>
              </a:spcAft>
            </a:pPr>
            <a:r>
              <a:rPr sz="1100" b="0">
                <a:solidFill>
                  <a:srgbClr val="5B6372"/>
                </a:solidFill>
                <a:latin typeface="Arial"/>
              </a:rPr>
              <a:t>State space, unitary time evolution, observables, the Born rule and wave-function collapse are the axioms every quantum algorithm obeys.</a:t>
            </a:r>
          </a:p>
        </p:txBody>
      </p:sp>
      <p:sp>
        <p:nvSpPr>
          <p:cNvPr id="12" name="Rectangle 11"/>
          <p:cNvSpPr/>
          <p:nvPr/>
        </p:nvSpPr>
        <p:spPr>
          <a:xfrm>
            <a:off x="6231636" y="1783080"/>
            <a:ext cx="5180076" cy="1298448"/>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 name="Rectangle 12"/>
          <p:cNvSpPr/>
          <p:nvPr/>
        </p:nvSpPr>
        <p:spPr>
          <a:xfrm>
            <a:off x="6231636" y="1783080"/>
            <a:ext cx="91440" cy="1298448"/>
          </a:xfrm>
          <a:prstGeom prst="rect">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 name="Oval 13"/>
          <p:cNvSpPr/>
          <p:nvPr/>
        </p:nvSpPr>
        <p:spPr>
          <a:xfrm>
            <a:off x="6487668" y="2157984"/>
            <a:ext cx="548640" cy="548640"/>
          </a:xfrm>
          <a:prstGeom prst="ellipse">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5" name="TextBox 14"/>
          <p:cNvSpPr txBox="1"/>
          <p:nvPr/>
        </p:nvSpPr>
        <p:spPr>
          <a:xfrm>
            <a:off x="6487668" y="2157984"/>
            <a:ext cx="548640" cy="548640"/>
          </a:xfrm>
          <a:prstGeom prst="rect">
            <a:avLst/>
          </a:prstGeom>
          <a:noFill/>
        </p:spPr>
        <p:txBody>
          <a:bodyPr wrap="square" anchor="ctr">
            <a:spAutoFit/>
          </a:bodyPr>
          <a:lstStyle/>
          <a:p>
            <a:pPr algn="ctr">
              <a:spcAft>
                <a:spcPts val="400"/>
              </a:spcAft>
            </a:pPr>
            <a:r>
              <a:rPr sz="1800" b="1">
                <a:solidFill>
                  <a:srgbClr val="FFFFFF"/>
                </a:solidFill>
                <a:latin typeface="Arial"/>
              </a:rPr>
              <a:t>2</a:t>
            </a:r>
          </a:p>
        </p:txBody>
      </p:sp>
      <p:sp>
        <p:nvSpPr>
          <p:cNvPr id="16" name="TextBox 15"/>
          <p:cNvSpPr txBox="1"/>
          <p:nvPr/>
        </p:nvSpPr>
        <p:spPr>
          <a:xfrm>
            <a:off x="7219188" y="1892808"/>
            <a:ext cx="3973068" cy="1115568"/>
          </a:xfrm>
          <a:prstGeom prst="rect">
            <a:avLst/>
          </a:prstGeom>
          <a:noFill/>
        </p:spPr>
        <p:txBody>
          <a:bodyPr wrap="square" anchor="ctr">
            <a:spAutoFit/>
          </a:bodyPr>
          <a:lstStyle/>
          <a:p>
            <a:pPr algn="l">
              <a:spcAft>
                <a:spcPts val="300"/>
              </a:spcAft>
            </a:pPr>
            <a:r>
              <a:rPr sz="1450" b="1">
                <a:solidFill>
                  <a:srgbClr val="161B26"/>
                </a:solidFill>
                <a:latin typeface="Arial"/>
              </a:rPr>
              <a:t>Hilbert space</a:t>
            </a:r>
          </a:p>
          <a:p>
            <a:pPr algn="l">
              <a:spcAft>
                <a:spcPts val="300"/>
              </a:spcAft>
            </a:pPr>
            <a:r>
              <a:rPr sz="1100" b="0">
                <a:solidFill>
                  <a:srgbClr val="5B6372"/>
                </a:solidFill>
                <a:latin typeface="Arial"/>
              </a:rPr>
              <a:t>Quantum states are unit vectors in a complex inner-product space; a single qubit lives in a 2-dimensional Hilbert space.</a:t>
            </a:r>
          </a:p>
        </p:txBody>
      </p:sp>
      <p:sp>
        <p:nvSpPr>
          <p:cNvPr id="17" name="Rectangle 16"/>
          <p:cNvSpPr/>
          <p:nvPr/>
        </p:nvSpPr>
        <p:spPr>
          <a:xfrm>
            <a:off x="777240" y="3319272"/>
            <a:ext cx="5180076" cy="1298448"/>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8" name="Rectangle 17"/>
          <p:cNvSpPr/>
          <p:nvPr/>
        </p:nvSpPr>
        <p:spPr>
          <a:xfrm>
            <a:off x="777240" y="3319272"/>
            <a:ext cx="91440" cy="1298448"/>
          </a:xfrm>
          <a:prstGeom prst="rect">
            <a:avLst/>
          </a:prstGeom>
          <a:solidFill>
            <a:srgbClr val="7C3AE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9" name="Oval 18"/>
          <p:cNvSpPr/>
          <p:nvPr/>
        </p:nvSpPr>
        <p:spPr>
          <a:xfrm>
            <a:off x="1033272" y="3694176"/>
            <a:ext cx="548640" cy="548640"/>
          </a:xfrm>
          <a:prstGeom prst="ellipse">
            <a:avLst/>
          </a:prstGeom>
          <a:solidFill>
            <a:srgbClr val="7C3AE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0" name="TextBox 19"/>
          <p:cNvSpPr txBox="1"/>
          <p:nvPr/>
        </p:nvSpPr>
        <p:spPr>
          <a:xfrm>
            <a:off x="1033272" y="3694176"/>
            <a:ext cx="548640" cy="548640"/>
          </a:xfrm>
          <a:prstGeom prst="rect">
            <a:avLst/>
          </a:prstGeom>
          <a:noFill/>
        </p:spPr>
        <p:txBody>
          <a:bodyPr wrap="square" anchor="ctr">
            <a:spAutoFit/>
          </a:bodyPr>
          <a:lstStyle/>
          <a:p>
            <a:pPr algn="ctr">
              <a:spcAft>
                <a:spcPts val="400"/>
              </a:spcAft>
            </a:pPr>
            <a:r>
              <a:rPr sz="1800" b="1">
                <a:solidFill>
                  <a:srgbClr val="FFFFFF"/>
                </a:solidFill>
                <a:latin typeface="Arial"/>
              </a:rPr>
              <a:t>3</a:t>
            </a:r>
          </a:p>
        </p:txBody>
      </p:sp>
      <p:sp>
        <p:nvSpPr>
          <p:cNvPr id="21" name="TextBox 20"/>
          <p:cNvSpPr txBox="1"/>
          <p:nvPr/>
        </p:nvSpPr>
        <p:spPr>
          <a:xfrm>
            <a:off x="1764792" y="3429000"/>
            <a:ext cx="3973068" cy="1115568"/>
          </a:xfrm>
          <a:prstGeom prst="rect">
            <a:avLst/>
          </a:prstGeom>
          <a:noFill/>
        </p:spPr>
        <p:txBody>
          <a:bodyPr wrap="square" anchor="ctr">
            <a:spAutoFit/>
          </a:bodyPr>
          <a:lstStyle/>
          <a:p>
            <a:pPr algn="l">
              <a:spcAft>
                <a:spcPts val="300"/>
              </a:spcAft>
            </a:pPr>
            <a:r>
              <a:rPr sz="1450" b="1">
                <a:solidFill>
                  <a:srgbClr val="161B26"/>
                </a:solidFill>
                <a:latin typeface="Arial"/>
              </a:rPr>
              <a:t>Unitary operators</a:t>
            </a:r>
          </a:p>
          <a:p>
            <a:pPr algn="l">
              <a:spcAft>
                <a:spcPts val="300"/>
              </a:spcAft>
            </a:pPr>
            <a:r>
              <a:rPr sz="1100" b="0">
                <a:solidFill>
                  <a:srgbClr val="5B6372"/>
                </a:solidFill>
                <a:latin typeface="Arial"/>
              </a:rPr>
              <a:t>U†U = I preserves the norm — this is why every quantum gate is reversible and probability is conserved.</a:t>
            </a:r>
          </a:p>
        </p:txBody>
      </p:sp>
      <p:sp>
        <p:nvSpPr>
          <p:cNvPr id="22" name="Rectangle 21"/>
          <p:cNvSpPr/>
          <p:nvPr/>
        </p:nvSpPr>
        <p:spPr>
          <a:xfrm>
            <a:off x="6231636" y="3319272"/>
            <a:ext cx="5180076" cy="1298448"/>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3" name="Rectangle 22"/>
          <p:cNvSpPr/>
          <p:nvPr/>
        </p:nvSpPr>
        <p:spPr>
          <a:xfrm>
            <a:off x="6231636" y="3319272"/>
            <a:ext cx="91440" cy="1298448"/>
          </a:xfrm>
          <a:prstGeom prst="rect">
            <a:avLst/>
          </a:prstGeom>
          <a:solidFill>
            <a:srgbClr val="F59E0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4" name="Oval 23"/>
          <p:cNvSpPr/>
          <p:nvPr/>
        </p:nvSpPr>
        <p:spPr>
          <a:xfrm>
            <a:off x="6487668" y="3694176"/>
            <a:ext cx="548640" cy="548640"/>
          </a:xfrm>
          <a:prstGeom prst="ellipse">
            <a:avLst/>
          </a:prstGeom>
          <a:solidFill>
            <a:srgbClr val="F59E0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5" name="TextBox 24"/>
          <p:cNvSpPr txBox="1"/>
          <p:nvPr/>
        </p:nvSpPr>
        <p:spPr>
          <a:xfrm>
            <a:off x="6487668" y="3694176"/>
            <a:ext cx="548640" cy="548640"/>
          </a:xfrm>
          <a:prstGeom prst="rect">
            <a:avLst/>
          </a:prstGeom>
          <a:noFill/>
        </p:spPr>
        <p:txBody>
          <a:bodyPr wrap="square" anchor="ctr">
            <a:spAutoFit/>
          </a:bodyPr>
          <a:lstStyle/>
          <a:p>
            <a:pPr algn="ctr">
              <a:spcAft>
                <a:spcPts val="400"/>
              </a:spcAft>
            </a:pPr>
            <a:r>
              <a:rPr sz="1800" b="1">
                <a:solidFill>
                  <a:srgbClr val="FFFFFF"/>
                </a:solidFill>
                <a:latin typeface="Arial"/>
              </a:rPr>
              <a:t>4</a:t>
            </a:r>
          </a:p>
        </p:txBody>
      </p:sp>
      <p:sp>
        <p:nvSpPr>
          <p:cNvPr id="26" name="TextBox 25"/>
          <p:cNvSpPr txBox="1"/>
          <p:nvPr/>
        </p:nvSpPr>
        <p:spPr>
          <a:xfrm>
            <a:off x="7219188" y="3429000"/>
            <a:ext cx="3973068" cy="1115568"/>
          </a:xfrm>
          <a:prstGeom prst="rect">
            <a:avLst/>
          </a:prstGeom>
          <a:noFill/>
        </p:spPr>
        <p:txBody>
          <a:bodyPr wrap="square" anchor="ctr">
            <a:spAutoFit/>
          </a:bodyPr>
          <a:lstStyle/>
          <a:p>
            <a:pPr algn="l">
              <a:spcAft>
                <a:spcPts val="300"/>
              </a:spcAft>
            </a:pPr>
            <a:r>
              <a:rPr sz="1450" b="1">
                <a:solidFill>
                  <a:srgbClr val="161B26"/>
                </a:solidFill>
                <a:latin typeface="Arial"/>
              </a:rPr>
              <a:t>Hermitian operators</a:t>
            </a:r>
          </a:p>
          <a:p>
            <a:pPr algn="l">
              <a:spcAft>
                <a:spcPts val="300"/>
              </a:spcAft>
            </a:pPr>
            <a:r>
              <a:rPr sz="1100" b="0">
                <a:solidFill>
                  <a:srgbClr val="5B6372"/>
                </a:solidFill>
                <a:latin typeface="Arial"/>
              </a:rPr>
              <a:t>A† = A guarantees real eigenvalues, so Hermitian operators represent physically measurable observables.</a:t>
            </a:r>
          </a:p>
        </p:txBody>
      </p:sp>
      <p:sp>
        <p:nvSpPr>
          <p:cNvPr id="27" name="Rectangle 26"/>
          <p:cNvSpPr/>
          <p:nvPr/>
        </p:nvSpPr>
        <p:spPr>
          <a:xfrm>
            <a:off x="777240" y="4855464"/>
            <a:ext cx="5180076" cy="1298448"/>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8" name="Rectangle 27"/>
          <p:cNvSpPr/>
          <p:nvPr/>
        </p:nvSpPr>
        <p:spPr>
          <a:xfrm>
            <a:off x="777240" y="4855464"/>
            <a:ext cx="91440" cy="1298448"/>
          </a:xfrm>
          <a:prstGeom prst="rect">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9" name="Oval 28"/>
          <p:cNvSpPr/>
          <p:nvPr/>
        </p:nvSpPr>
        <p:spPr>
          <a:xfrm>
            <a:off x="1033272" y="5230368"/>
            <a:ext cx="548640" cy="548640"/>
          </a:xfrm>
          <a:prstGeom prst="ellipse">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0" name="TextBox 29"/>
          <p:cNvSpPr txBox="1"/>
          <p:nvPr/>
        </p:nvSpPr>
        <p:spPr>
          <a:xfrm>
            <a:off x="1033272" y="5230368"/>
            <a:ext cx="548640" cy="548640"/>
          </a:xfrm>
          <a:prstGeom prst="rect">
            <a:avLst/>
          </a:prstGeom>
          <a:noFill/>
        </p:spPr>
        <p:txBody>
          <a:bodyPr wrap="square" anchor="ctr">
            <a:spAutoFit/>
          </a:bodyPr>
          <a:lstStyle/>
          <a:p>
            <a:pPr algn="ctr">
              <a:spcAft>
                <a:spcPts val="400"/>
              </a:spcAft>
            </a:pPr>
            <a:r>
              <a:rPr sz="1800" b="1">
                <a:solidFill>
                  <a:srgbClr val="FFFFFF"/>
                </a:solidFill>
                <a:latin typeface="Arial"/>
              </a:rPr>
              <a:t>5</a:t>
            </a:r>
          </a:p>
        </p:txBody>
      </p:sp>
      <p:sp>
        <p:nvSpPr>
          <p:cNvPr id="31" name="TextBox 30"/>
          <p:cNvSpPr txBox="1"/>
          <p:nvPr/>
        </p:nvSpPr>
        <p:spPr>
          <a:xfrm>
            <a:off x="1764792" y="4965192"/>
            <a:ext cx="3973068" cy="1115568"/>
          </a:xfrm>
          <a:prstGeom prst="rect">
            <a:avLst/>
          </a:prstGeom>
          <a:noFill/>
        </p:spPr>
        <p:txBody>
          <a:bodyPr wrap="square" anchor="ctr">
            <a:spAutoFit/>
          </a:bodyPr>
          <a:lstStyle/>
          <a:p>
            <a:pPr algn="l">
              <a:spcAft>
                <a:spcPts val="300"/>
              </a:spcAft>
            </a:pPr>
            <a:r>
              <a:rPr sz="1450" b="1">
                <a:solidFill>
                  <a:srgbClr val="161B26"/>
                </a:solidFill>
                <a:latin typeface="Arial"/>
              </a:rPr>
              <a:t>Dirac notation</a:t>
            </a:r>
          </a:p>
          <a:p>
            <a:pPr algn="l">
              <a:spcAft>
                <a:spcPts val="300"/>
              </a:spcAft>
            </a:pPr>
            <a:r>
              <a:rPr sz="1100" b="0">
                <a:solidFill>
                  <a:srgbClr val="5B6372"/>
                </a:solidFill>
                <a:latin typeface="Arial"/>
              </a:rPr>
              <a:t>Bra-ket notation compactly expresses states |ψ⟩, dual vectors ⟨ψ|, inner products ⟨φ|ψ⟩ and outer products |ψ⟩⟨φ|.</a:t>
            </a:r>
          </a:p>
        </p:txBody>
      </p:sp>
      <p:sp>
        <p:nvSpPr>
          <p:cNvPr id="32" name="Rectangle 31"/>
          <p:cNvSpPr/>
          <p:nvPr/>
        </p:nvSpPr>
        <p:spPr>
          <a:xfrm>
            <a:off x="6231636" y="4855464"/>
            <a:ext cx="5180076" cy="1298448"/>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3" name="Rectangle 32"/>
          <p:cNvSpPr/>
          <p:nvPr/>
        </p:nvSpPr>
        <p:spPr>
          <a:xfrm>
            <a:off x="6231636" y="4855464"/>
            <a:ext cx="91440" cy="1298448"/>
          </a:xfrm>
          <a:prstGeom prst="rect">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4" name="Oval 33"/>
          <p:cNvSpPr/>
          <p:nvPr/>
        </p:nvSpPr>
        <p:spPr>
          <a:xfrm>
            <a:off x="6487668" y="5230368"/>
            <a:ext cx="548640" cy="548640"/>
          </a:xfrm>
          <a:prstGeom prst="ellipse">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5" name="TextBox 34"/>
          <p:cNvSpPr txBox="1"/>
          <p:nvPr/>
        </p:nvSpPr>
        <p:spPr>
          <a:xfrm>
            <a:off x="6487668" y="5230368"/>
            <a:ext cx="548640" cy="548640"/>
          </a:xfrm>
          <a:prstGeom prst="rect">
            <a:avLst/>
          </a:prstGeom>
          <a:noFill/>
        </p:spPr>
        <p:txBody>
          <a:bodyPr wrap="square" anchor="ctr">
            <a:spAutoFit/>
          </a:bodyPr>
          <a:lstStyle/>
          <a:p>
            <a:pPr algn="ctr">
              <a:spcAft>
                <a:spcPts val="400"/>
              </a:spcAft>
            </a:pPr>
            <a:r>
              <a:rPr sz="1800" b="1">
                <a:solidFill>
                  <a:srgbClr val="FFFFFF"/>
                </a:solidFill>
                <a:latin typeface="Arial"/>
              </a:rPr>
              <a:t>6</a:t>
            </a:r>
          </a:p>
        </p:txBody>
      </p:sp>
      <p:sp>
        <p:nvSpPr>
          <p:cNvPr id="36" name="TextBox 35"/>
          <p:cNvSpPr txBox="1"/>
          <p:nvPr/>
        </p:nvSpPr>
        <p:spPr>
          <a:xfrm>
            <a:off x="7219188" y="4965192"/>
            <a:ext cx="3973068" cy="1115568"/>
          </a:xfrm>
          <a:prstGeom prst="rect">
            <a:avLst/>
          </a:prstGeom>
          <a:noFill/>
        </p:spPr>
        <p:txBody>
          <a:bodyPr wrap="square" anchor="ctr">
            <a:spAutoFit/>
          </a:bodyPr>
          <a:lstStyle/>
          <a:p>
            <a:pPr algn="l">
              <a:spcAft>
                <a:spcPts val="300"/>
              </a:spcAft>
            </a:pPr>
            <a:r>
              <a:rPr sz="1450" b="1">
                <a:solidFill>
                  <a:srgbClr val="161B26"/>
                </a:solidFill>
                <a:latin typeface="Arial"/>
              </a:rPr>
              <a:t>Tensor products</a:t>
            </a:r>
          </a:p>
          <a:p>
            <a:pPr algn="l">
              <a:spcAft>
                <a:spcPts val="300"/>
              </a:spcAft>
            </a:pPr>
            <a:r>
              <a:rPr sz="1100" b="0">
                <a:solidFill>
                  <a:srgbClr val="5B6372"/>
                </a:solidFill>
                <a:latin typeface="Arial"/>
              </a:rPr>
              <a:t>The state space of a multi-qubit system is the tensor product of the single-qubit spaces — dimension grows as 2ⁿ.</a:t>
            </a:r>
          </a:p>
        </p:txBody>
      </p:sp>
      <p:sp>
        <p:nvSpPr>
          <p:cNvPr id="37" name="TextBox 36"/>
          <p:cNvSpPr txBox="1"/>
          <p:nvPr/>
        </p:nvSpPr>
        <p:spPr>
          <a:xfrm>
            <a:off x="365760" y="6446520"/>
            <a:ext cx="6858000" cy="320040"/>
          </a:xfrm>
          <a:prstGeom prst="rect">
            <a:avLst/>
          </a:prstGeom>
          <a:noFill/>
        </p:spPr>
        <p:txBody>
          <a:bodyPr wrap="square" anchor="t">
            <a:spAutoFit/>
          </a:bodyPr>
          <a:lstStyle/>
          <a:p>
            <a:pPr algn="l">
              <a:spcAft>
                <a:spcPts val="400"/>
              </a:spcAft>
            </a:pPr>
            <a:r>
              <a:rPr sz="900" b="0">
                <a:solidFill>
                  <a:srgbClr val="5B6372"/>
                </a:solidFill>
                <a:latin typeface="Arial"/>
              </a:rPr>
              <a:t>Securing the Future with Quantum Computing and Cryptography  ·  TGS-2024043419</a:t>
            </a:r>
          </a:p>
        </p:txBody>
      </p:sp>
      <p:sp>
        <p:nvSpPr>
          <p:cNvPr id="38" name="TextBox 37"/>
          <p:cNvSpPr txBox="1"/>
          <p:nvPr/>
        </p:nvSpPr>
        <p:spPr>
          <a:xfrm>
            <a:off x="4572000" y="6446520"/>
            <a:ext cx="3017520" cy="320040"/>
          </a:xfrm>
          <a:prstGeom prst="rect">
            <a:avLst/>
          </a:prstGeom>
          <a:noFill/>
        </p:spPr>
        <p:txBody>
          <a:bodyPr wrap="square" anchor="t">
            <a:spAutoFit/>
          </a:bodyPr>
          <a:lstStyle/>
          <a:p>
            <a:pPr algn="ctr">
              <a:spcAft>
                <a:spcPts val="400"/>
              </a:spcAft>
            </a:pPr>
            <a:r>
              <a:rPr sz="900" b="0">
                <a:solidFill>
                  <a:srgbClr val="5B6372"/>
                </a:solidFill>
                <a:latin typeface="Arial"/>
              </a:rPr>
              <a:t>© 2026 Tertiary Infotech Academy Pte Ltd</a:t>
            </a:r>
          </a:p>
        </p:txBody>
      </p:sp>
      <p:sp>
        <p:nvSpPr>
          <p:cNvPr id="39" name="TextBox 38"/>
          <p:cNvSpPr txBox="1"/>
          <p:nvPr/>
        </p:nvSpPr>
        <p:spPr>
          <a:xfrm>
            <a:off x="11338560" y="6446520"/>
            <a:ext cx="548640" cy="320040"/>
          </a:xfrm>
          <a:prstGeom prst="rect">
            <a:avLst/>
          </a:prstGeom>
          <a:noFill/>
        </p:spPr>
        <p:txBody>
          <a:bodyPr wrap="square" anchor="t">
            <a:spAutoFit/>
          </a:bodyPr>
          <a:lstStyle/>
          <a:p>
            <a:pPr algn="r">
              <a:spcAft>
                <a:spcPts val="400"/>
              </a:spcAft>
            </a:pPr>
            <a:r>
              <a:rPr sz="900" b="0">
                <a:solidFill>
                  <a:srgbClr val="5B6372"/>
                </a:solidFill>
                <a:latin typeface="Arial"/>
              </a:rPr>
              <a:t>45</a:t>
            </a:r>
          </a:p>
        </p:txBody>
      </p:sp>
    </p:spTree>
  </p:cSld>
  <p:clrMapOvr>
    <a:masterClrMapping/>
  </p:clrMapOvr>
</p:sld>
</file>

<file path=ppt/slides/slide47.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256032" cy="1417320"/>
          </a:xfrm>
          <a:prstGeom prst="rect">
            <a:avLst/>
          </a:prstGeom>
          <a:solidFill>
            <a:srgbClr val="7C3AE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777240" y="457200"/>
            <a:ext cx="10607040" cy="365760"/>
          </a:xfrm>
          <a:prstGeom prst="rect">
            <a:avLst/>
          </a:prstGeom>
          <a:noFill/>
        </p:spPr>
        <p:txBody>
          <a:bodyPr wrap="square" anchor="t">
            <a:spAutoFit/>
          </a:bodyPr>
          <a:lstStyle/>
          <a:p>
            <a:pPr algn="l">
              <a:spcAft>
                <a:spcPts val="400"/>
              </a:spcAft>
            </a:pPr>
            <a:r>
              <a:rPr sz="1400" b="1">
                <a:solidFill>
                  <a:srgbClr val="7C3AED"/>
                </a:solidFill>
                <a:latin typeface="Arial"/>
              </a:rPr>
              <a:t>THE THREE OBJECTS YOU NEED</a:t>
            </a:r>
          </a:p>
        </p:txBody>
      </p:sp>
      <p:sp>
        <p:nvSpPr>
          <p:cNvPr id="5" name="TextBox 4"/>
          <p:cNvSpPr txBox="1"/>
          <p:nvPr/>
        </p:nvSpPr>
        <p:spPr>
          <a:xfrm>
            <a:off x="777240" y="822960"/>
            <a:ext cx="10881360" cy="822960"/>
          </a:xfrm>
          <a:prstGeom prst="rect">
            <a:avLst/>
          </a:prstGeom>
          <a:noFill/>
        </p:spPr>
        <p:txBody>
          <a:bodyPr wrap="square" anchor="t">
            <a:spAutoFit/>
          </a:bodyPr>
          <a:lstStyle/>
          <a:p>
            <a:pPr algn="l">
              <a:spcAft>
                <a:spcPts val="400"/>
              </a:spcAft>
            </a:pPr>
            <a:r>
              <a:rPr sz="2900" b="1">
                <a:solidFill>
                  <a:srgbClr val="161B26"/>
                </a:solidFill>
                <a:latin typeface="Arial"/>
              </a:rPr>
              <a:t>The Mathematical Toolkit</a:t>
            </a:r>
          </a:p>
        </p:txBody>
      </p:sp>
      <p:sp>
        <p:nvSpPr>
          <p:cNvPr id="6" name="Rectangle 5"/>
          <p:cNvSpPr/>
          <p:nvPr/>
        </p:nvSpPr>
        <p:spPr>
          <a:xfrm>
            <a:off x="777240" y="1554480"/>
            <a:ext cx="10634472" cy="18288"/>
          </a:xfrm>
          <a:prstGeom prst="rect">
            <a:avLst/>
          </a:prstGeom>
          <a:solidFill>
            <a:srgbClr val="E2E8F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Rectangle 6"/>
          <p:cNvSpPr/>
          <p:nvPr/>
        </p:nvSpPr>
        <p:spPr>
          <a:xfrm>
            <a:off x="777240" y="1783080"/>
            <a:ext cx="3361944" cy="4297680"/>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Rectangle 7"/>
          <p:cNvSpPr/>
          <p:nvPr/>
        </p:nvSpPr>
        <p:spPr>
          <a:xfrm>
            <a:off x="777240" y="1783080"/>
            <a:ext cx="3361944" cy="91440"/>
          </a:xfrm>
          <a:prstGeom prst="rect">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TextBox 8"/>
          <p:cNvSpPr txBox="1"/>
          <p:nvPr/>
        </p:nvSpPr>
        <p:spPr>
          <a:xfrm>
            <a:off x="1033272" y="2011680"/>
            <a:ext cx="2849880" cy="640080"/>
          </a:xfrm>
          <a:prstGeom prst="rect">
            <a:avLst/>
          </a:prstGeom>
          <a:noFill/>
        </p:spPr>
        <p:txBody>
          <a:bodyPr wrap="square" anchor="t">
            <a:spAutoFit/>
          </a:bodyPr>
          <a:lstStyle/>
          <a:p>
            <a:pPr algn="l">
              <a:spcAft>
                <a:spcPts val="400"/>
              </a:spcAft>
            </a:pPr>
            <a:r>
              <a:rPr sz="1600" b="1">
                <a:solidFill>
                  <a:srgbClr val="1F6FEB"/>
                </a:solidFill>
                <a:latin typeface="Arial"/>
              </a:rPr>
              <a:t>State vector</a:t>
            </a:r>
          </a:p>
        </p:txBody>
      </p:sp>
      <p:sp>
        <p:nvSpPr>
          <p:cNvPr id="10" name="Rectangle 9"/>
          <p:cNvSpPr/>
          <p:nvPr/>
        </p:nvSpPr>
        <p:spPr>
          <a:xfrm>
            <a:off x="1033272" y="2743200"/>
            <a:ext cx="2849880" cy="1371600"/>
          </a:xfrm>
          <a:prstGeom prst="rect">
            <a:avLst/>
          </a:prstGeom>
          <a:solidFill>
            <a:srgbClr val="0B122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 name="TextBox 10"/>
          <p:cNvSpPr txBox="1"/>
          <p:nvPr/>
        </p:nvSpPr>
        <p:spPr>
          <a:xfrm>
            <a:off x="1143000" y="2743200"/>
            <a:ext cx="2630424" cy="1371600"/>
          </a:xfrm>
          <a:prstGeom prst="rect">
            <a:avLst/>
          </a:prstGeom>
          <a:noFill/>
        </p:spPr>
        <p:txBody>
          <a:bodyPr wrap="square" anchor="ctr">
            <a:spAutoFit/>
          </a:bodyPr>
          <a:lstStyle/>
          <a:p>
            <a:pPr algn="ctr">
              <a:spcAft>
                <a:spcPts val="400"/>
              </a:spcAft>
            </a:pPr>
            <a:r>
              <a:rPr sz="1500" b="1">
                <a:solidFill>
                  <a:srgbClr val="9CDCFE"/>
                </a:solidFill>
                <a:latin typeface="Arial"/>
              </a:rPr>
              <a:t>|ψ⟩ = α|0⟩ + β|1⟩</a:t>
            </a:r>
          </a:p>
        </p:txBody>
      </p:sp>
      <p:sp>
        <p:nvSpPr>
          <p:cNvPr id="12" name="TextBox 11"/>
          <p:cNvSpPr txBox="1"/>
          <p:nvPr/>
        </p:nvSpPr>
        <p:spPr>
          <a:xfrm>
            <a:off x="1033272" y="4297680"/>
            <a:ext cx="2849880" cy="1645920"/>
          </a:xfrm>
          <a:prstGeom prst="rect">
            <a:avLst/>
          </a:prstGeom>
          <a:noFill/>
        </p:spPr>
        <p:txBody>
          <a:bodyPr wrap="square" anchor="t">
            <a:spAutoFit/>
          </a:bodyPr>
          <a:lstStyle/>
          <a:p>
            <a:pPr algn="l">
              <a:spcAft>
                <a:spcPts val="400"/>
              </a:spcAft>
            </a:pPr>
            <a:r>
              <a:rPr sz="1250" b="0">
                <a:solidFill>
                  <a:srgbClr val="5B6372"/>
                </a:solidFill>
                <a:latin typeface="Arial"/>
              </a:rPr>
              <a:t>A qubit is a unit vector in a 2-dimensional Hilbert space, with |α|² + |β|² = 1.</a:t>
            </a:r>
          </a:p>
        </p:txBody>
      </p:sp>
      <p:sp>
        <p:nvSpPr>
          <p:cNvPr id="13" name="Rectangle 12"/>
          <p:cNvSpPr/>
          <p:nvPr/>
        </p:nvSpPr>
        <p:spPr>
          <a:xfrm>
            <a:off x="4413504" y="1783080"/>
            <a:ext cx="3361944" cy="4297680"/>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 name="Rectangle 13"/>
          <p:cNvSpPr/>
          <p:nvPr/>
        </p:nvSpPr>
        <p:spPr>
          <a:xfrm>
            <a:off x="4413504" y="1783080"/>
            <a:ext cx="3361944" cy="91440"/>
          </a:xfrm>
          <a:prstGeom prst="rect">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5" name="TextBox 14"/>
          <p:cNvSpPr txBox="1"/>
          <p:nvPr/>
        </p:nvSpPr>
        <p:spPr>
          <a:xfrm>
            <a:off x="4669536" y="2011680"/>
            <a:ext cx="2849880" cy="640080"/>
          </a:xfrm>
          <a:prstGeom prst="rect">
            <a:avLst/>
          </a:prstGeom>
          <a:noFill/>
        </p:spPr>
        <p:txBody>
          <a:bodyPr wrap="square" anchor="t">
            <a:spAutoFit/>
          </a:bodyPr>
          <a:lstStyle/>
          <a:p>
            <a:pPr algn="l">
              <a:spcAft>
                <a:spcPts val="400"/>
              </a:spcAft>
            </a:pPr>
            <a:r>
              <a:rPr sz="1600" b="1">
                <a:solidFill>
                  <a:srgbClr val="10B981"/>
                </a:solidFill>
                <a:latin typeface="Arial"/>
              </a:rPr>
              <a:t>Unitary operator</a:t>
            </a:r>
          </a:p>
        </p:txBody>
      </p:sp>
      <p:sp>
        <p:nvSpPr>
          <p:cNvPr id="16" name="Rectangle 15"/>
          <p:cNvSpPr/>
          <p:nvPr/>
        </p:nvSpPr>
        <p:spPr>
          <a:xfrm>
            <a:off x="4669536" y="2743200"/>
            <a:ext cx="2849880" cy="1371600"/>
          </a:xfrm>
          <a:prstGeom prst="rect">
            <a:avLst/>
          </a:prstGeom>
          <a:solidFill>
            <a:srgbClr val="0B122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7" name="TextBox 16"/>
          <p:cNvSpPr txBox="1"/>
          <p:nvPr/>
        </p:nvSpPr>
        <p:spPr>
          <a:xfrm>
            <a:off x="4779264" y="2743200"/>
            <a:ext cx="2630424" cy="1371600"/>
          </a:xfrm>
          <a:prstGeom prst="rect">
            <a:avLst/>
          </a:prstGeom>
          <a:noFill/>
        </p:spPr>
        <p:txBody>
          <a:bodyPr wrap="square" anchor="ctr">
            <a:spAutoFit/>
          </a:bodyPr>
          <a:lstStyle/>
          <a:p>
            <a:pPr algn="ctr">
              <a:spcAft>
                <a:spcPts val="400"/>
              </a:spcAft>
            </a:pPr>
            <a:r>
              <a:rPr sz="1500" b="1">
                <a:solidFill>
                  <a:srgbClr val="9CDCFE"/>
                </a:solidFill>
                <a:latin typeface="Arial"/>
              </a:rPr>
              <a:t>U†U = I</a:t>
            </a:r>
          </a:p>
        </p:txBody>
      </p:sp>
      <p:sp>
        <p:nvSpPr>
          <p:cNvPr id="18" name="TextBox 17"/>
          <p:cNvSpPr txBox="1"/>
          <p:nvPr/>
        </p:nvSpPr>
        <p:spPr>
          <a:xfrm>
            <a:off x="4669536" y="4297680"/>
            <a:ext cx="2849880" cy="1645920"/>
          </a:xfrm>
          <a:prstGeom prst="rect">
            <a:avLst/>
          </a:prstGeom>
          <a:noFill/>
        </p:spPr>
        <p:txBody>
          <a:bodyPr wrap="square" anchor="t">
            <a:spAutoFit/>
          </a:bodyPr>
          <a:lstStyle/>
          <a:p>
            <a:pPr algn="l">
              <a:spcAft>
                <a:spcPts val="400"/>
              </a:spcAft>
            </a:pPr>
            <a:r>
              <a:rPr sz="1250" b="0">
                <a:solidFill>
                  <a:srgbClr val="5B6372"/>
                </a:solidFill>
                <a:latin typeface="Arial"/>
              </a:rPr>
              <a:t>Every quantum gate is unitary — reversible, and probability-preserving.</a:t>
            </a:r>
          </a:p>
        </p:txBody>
      </p:sp>
      <p:sp>
        <p:nvSpPr>
          <p:cNvPr id="19" name="Rectangle 18"/>
          <p:cNvSpPr/>
          <p:nvPr/>
        </p:nvSpPr>
        <p:spPr>
          <a:xfrm>
            <a:off x="8049768" y="1783080"/>
            <a:ext cx="3361944" cy="4297680"/>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0" name="Rectangle 19"/>
          <p:cNvSpPr/>
          <p:nvPr/>
        </p:nvSpPr>
        <p:spPr>
          <a:xfrm>
            <a:off x="8049768" y="1783080"/>
            <a:ext cx="3361944" cy="91440"/>
          </a:xfrm>
          <a:prstGeom prst="rect">
            <a:avLst/>
          </a:prstGeom>
          <a:solidFill>
            <a:srgbClr val="7C3AE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1" name="TextBox 20"/>
          <p:cNvSpPr txBox="1"/>
          <p:nvPr/>
        </p:nvSpPr>
        <p:spPr>
          <a:xfrm>
            <a:off x="8305800" y="2011680"/>
            <a:ext cx="2849880" cy="640080"/>
          </a:xfrm>
          <a:prstGeom prst="rect">
            <a:avLst/>
          </a:prstGeom>
          <a:noFill/>
        </p:spPr>
        <p:txBody>
          <a:bodyPr wrap="square" anchor="t">
            <a:spAutoFit/>
          </a:bodyPr>
          <a:lstStyle/>
          <a:p>
            <a:pPr algn="l">
              <a:spcAft>
                <a:spcPts val="400"/>
              </a:spcAft>
            </a:pPr>
            <a:r>
              <a:rPr sz="1600" b="1">
                <a:solidFill>
                  <a:srgbClr val="7C3AED"/>
                </a:solidFill>
                <a:latin typeface="Arial"/>
              </a:rPr>
              <a:t>Hermitian operator</a:t>
            </a:r>
          </a:p>
        </p:txBody>
      </p:sp>
      <p:sp>
        <p:nvSpPr>
          <p:cNvPr id="22" name="Rectangle 21"/>
          <p:cNvSpPr/>
          <p:nvPr/>
        </p:nvSpPr>
        <p:spPr>
          <a:xfrm>
            <a:off x="8305800" y="2743200"/>
            <a:ext cx="2849880" cy="1371600"/>
          </a:xfrm>
          <a:prstGeom prst="rect">
            <a:avLst/>
          </a:prstGeom>
          <a:solidFill>
            <a:srgbClr val="0B122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3" name="TextBox 22"/>
          <p:cNvSpPr txBox="1"/>
          <p:nvPr/>
        </p:nvSpPr>
        <p:spPr>
          <a:xfrm>
            <a:off x="8415528" y="2743200"/>
            <a:ext cx="2630424" cy="1371600"/>
          </a:xfrm>
          <a:prstGeom prst="rect">
            <a:avLst/>
          </a:prstGeom>
          <a:noFill/>
        </p:spPr>
        <p:txBody>
          <a:bodyPr wrap="square" anchor="ctr">
            <a:spAutoFit/>
          </a:bodyPr>
          <a:lstStyle/>
          <a:p>
            <a:pPr algn="ctr">
              <a:spcAft>
                <a:spcPts val="400"/>
              </a:spcAft>
            </a:pPr>
            <a:r>
              <a:rPr sz="1500" b="1">
                <a:solidFill>
                  <a:srgbClr val="9CDCFE"/>
                </a:solidFill>
                <a:latin typeface="Arial"/>
              </a:rPr>
              <a:t>A† = A</a:t>
            </a:r>
          </a:p>
        </p:txBody>
      </p:sp>
      <p:sp>
        <p:nvSpPr>
          <p:cNvPr id="24" name="TextBox 23"/>
          <p:cNvSpPr txBox="1"/>
          <p:nvPr/>
        </p:nvSpPr>
        <p:spPr>
          <a:xfrm>
            <a:off x="8305800" y="4297680"/>
            <a:ext cx="2849880" cy="1645920"/>
          </a:xfrm>
          <a:prstGeom prst="rect">
            <a:avLst/>
          </a:prstGeom>
          <a:noFill/>
        </p:spPr>
        <p:txBody>
          <a:bodyPr wrap="square" anchor="t">
            <a:spAutoFit/>
          </a:bodyPr>
          <a:lstStyle/>
          <a:p>
            <a:pPr algn="l">
              <a:spcAft>
                <a:spcPts val="400"/>
              </a:spcAft>
            </a:pPr>
            <a:r>
              <a:rPr sz="1250" b="0">
                <a:solidFill>
                  <a:srgbClr val="5B6372"/>
                </a:solidFill>
                <a:latin typeface="Arial"/>
              </a:rPr>
              <a:t>Observables are Hermitian, which guarantees real measured eigenvalues.</a:t>
            </a:r>
          </a:p>
        </p:txBody>
      </p:sp>
      <p:sp>
        <p:nvSpPr>
          <p:cNvPr id="25" name="TextBox 24"/>
          <p:cNvSpPr txBox="1"/>
          <p:nvPr/>
        </p:nvSpPr>
        <p:spPr>
          <a:xfrm>
            <a:off x="365760" y="6446520"/>
            <a:ext cx="6858000" cy="320040"/>
          </a:xfrm>
          <a:prstGeom prst="rect">
            <a:avLst/>
          </a:prstGeom>
          <a:noFill/>
        </p:spPr>
        <p:txBody>
          <a:bodyPr wrap="square" anchor="t">
            <a:spAutoFit/>
          </a:bodyPr>
          <a:lstStyle/>
          <a:p>
            <a:pPr algn="l">
              <a:spcAft>
                <a:spcPts val="400"/>
              </a:spcAft>
            </a:pPr>
            <a:r>
              <a:rPr sz="900" b="0">
                <a:solidFill>
                  <a:srgbClr val="5B6372"/>
                </a:solidFill>
                <a:latin typeface="Arial"/>
              </a:rPr>
              <a:t>Securing the Future with Quantum Computing and Cryptography  ·  TGS-2024043419</a:t>
            </a:r>
          </a:p>
        </p:txBody>
      </p:sp>
      <p:sp>
        <p:nvSpPr>
          <p:cNvPr id="26" name="TextBox 25"/>
          <p:cNvSpPr txBox="1"/>
          <p:nvPr/>
        </p:nvSpPr>
        <p:spPr>
          <a:xfrm>
            <a:off x="4572000" y="6446520"/>
            <a:ext cx="3017520" cy="320040"/>
          </a:xfrm>
          <a:prstGeom prst="rect">
            <a:avLst/>
          </a:prstGeom>
          <a:noFill/>
        </p:spPr>
        <p:txBody>
          <a:bodyPr wrap="square" anchor="t">
            <a:spAutoFit/>
          </a:bodyPr>
          <a:lstStyle/>
          <a:p>
            <a:pPr algn="ctr">
              <a:spcAft>
                <a:spcPts val="400"/>
              </a:spcAft>
            </a:pPr>
            <a:r>
              <a:rPr sz="900" b="0">
                <a:solidFill>
                  <a:srgbClr val="5B6372"/>
                </a:solidFill>
                <a:latin typeface="Arial"/>
              </a:rPr>
              <a:t>© 2026 Tertiary Infotech Academy Pte Ltd</a:t>
            </a:r>
          </a:p>
        </p:txBody>
      </p:sp>
      <p:sp>
        <p:nvSpPr>
          <p:cNvPr id="27" name="TextBox 26"/>
          <p:cNvSpPr txBox="1"/>
          <p:nvPr/>
        </p:nvSpPr>
        <p:spPr>
          <a:xfrm>
            <a:off x="11338560" y="6446520"/>
            <a:ext cx="548640" cy="320040"/>
          </a:xfrm>
          <a:prstGeom prst="rect">
            <a:avLst/>
          </a:prstGeom>
          <a:noFill/>
        </p:spPr>
        <p:txBody>
          <a:bodyPr wrap="square" anchor="t">
            <a:spAutoFit/>
          </a:bodyPr>
          <a:lstStyle/>
          <a:p>
            <a:pPr algn="r">
              <a:spcAft>
                <a:spcPts val="400"/>
              </a:spcAft>
            </a:pPr>
            <a:r>
              <a:rPr sz="900" b="0">
                <a:solidFill>
                  <a:srgbClr val="5B6372"/>
                </a:solidFill>
                <a:latin typeface="Arial"/>
              </a:rPr>
              <a:t>46</a:t>
            </a:r>
          </a:p>
        </p:txBody>
      </p:sp>
    </p:spTree>
  </p:cSld>
  <p:clrMapOvr>
    <a:masterClrMapping/>
  </p:clrMapOvr>
</p:sld>
</file>

<file path=ppt/slides/slide48.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256032" cy="1417320"/>
          </a:xfrm>
          <a:prstGeom prst="rect">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777240" y="457200"/>
            <a:ext cx="10607040" cy="365760"/>
          </a:xfrm>
          <a:prstGeom prst="rect">
            <a:avLst/>
          </a:prstGeom>
          <a:noFill/>
        </p:spPr>
        <p:txBody>
          <a:bodyPr wrap="square" anchor="t">
            <a:spAutoFit/>
          </a:bodyPr>
          <a:lstStyle/>
          <a:p>
            <a:pPr algn="l">
              <a:spcAft>
                <a:spcPts val="400"/>
              </a:spcAft>
            </a:pPr>
            <a:r>
              <a:rPr sz="1400" b="1">
                <a:solidFill>
                  <a:srgbClr val="1F6FEB"/>
                </a:solidFill>
                <a:latin typeface="Arial"/>
              </a:rPr>
              <a:t>BRA-KET NOTATION</a:t>
            </a:r>
          </a:p>
        </p:txBody>
      </p:sp>
      <p:sp>
        <p:nvSpPr>
          <p:cNvPr id="5" name="TextBox 4"/>
          <p:cNvSpPr txBox="1"/>
          <p:nvPr/>
        </p:nvSpPr>
        <p:spPr>
          <a:xfrm>
            <a:off x="777240" y="822960"/>
            <a:ext cx="10881360" cy="822960"/>
          </a:xfrm>
          <a:prstGeom prst="rect">
            <a:avLst/>
          </a:prstGeom>
          <a:noFill/>
        </p:spPr>
        <p:txBody>
          <a:bodyPr wrap="square" anchor="t">
            <a:spAutoFit/>
          </a:bodyPr>
          <a:lstStyle/>
          <a:p>
            <a:pPr algn="l">
              <a:spcAft>
                <a:spcPts val="400"/>
              </a:spcAft>
            </a:pPr>
            <a:r>
              <a:rPr sz="2900" b="1">
                <a:solidFill>
                  <a:srgbClr val="161B26"/>
                </a:solidFill>
                <a:latin typeface="Arial"/>
              </a:rPr>
              <a:t>Dirac Notation at a Glance</a:t>
            </a:r>
          </a:p>
        </p:txBody>
      </p:sp>
      <p:sp>
        <p:nvSpPr>
          <p:cNvPr id="6" name="Rectangle 5"/>
          <p:cNvSpPr/>
          <p:nvPr/>
        </p:nvSpPr>
        <p:spPr>
          <a:xfrm>
            <a:off x="777240" y="1554480"/>
            <a:ext cx="10634472" cy="18288"/>
          </a:xfrm>
          <a:prstGeom prst="rect">
            <a:avLst/>
          </a:prstGeom>
          <a:solidFill>
            <a:srgbClr val="E2E8F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Rectangle 6"/>
          <p:cNvSpPr/>
          <p:nvPr/>
        </p:nvSpPr>
        <p:spPr>
          <a:xfrm>
            <a:off x="777240" y="1783080"/>
            <a:ext cx="3361944" cy="4297680"/>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Rectangle 7"/>
          <p:cNvSpPr/>
          <p:nvPr/>
        </p:nvSpPr>
        <p:spPr>
          <a:xfrm>
            <a:off x="777240" y="1783080"/>
            <a:ext cx="3361944" cy="91440"/>
          </a:xfrm>
          <a:prstGeom prst="rect">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TextBox 8"/>
          <p:cNvSpPr txBox="1"/>
          <p:nvPr/>
        </p:nvSpPr>
        <p:spPr>
          <a:xfrm>
            <a:off x="1033272" y="2011680"/>
            <a:ext cx="2849880" cy="640080"/>
          </a:xfrm>
          <a:prstGeom prst="rect">
            <a:avLst/>
          </a:prstGeom>
          <a:noFill/>
        </p:spPr>
        <p:txBody>
          <a:bodyPr wrap="square" anchor="t">
            <a:spAutoFit/>
          </a:bodyPr>
          <a:lstStyle/>
          <a:p>
            <a:pPr algn="l">
              <a:spcAft>
                <a:spcPts val="400"/>
              </a:spcAft>
            </a:pPr>
            <a:r>
              <a:rPr sz="1600" b="1">
                <a:solidFill>
                  <a:srgbClr val="1F6FEB"/>
                </a:solidFill>
                <a:latin typeface="Arial"/>
              </a:rPr>
              <a:t>Ket / Bra</a:t>
            </a:r>
          </a:p>
        </p:txBody>
      </p:sp>
      <p:sp>
        <p:nvSpPr>
          <p:cNvPr id="10" name="Rectangle 9"/>
          <p:cNvSpPr/>
          <p:nvPr/>
        </p:nvSpPr>
        <p:spPr>
          <a:xfrm>
            <a:off x="1033272" y="2743200"/>
            <a:ext cx="2849880" cy="1371600"/>
          </a:xfrm>
          <a:prstGeom prst="rect">
            <a:avLst/>
          </a:prstGeom>
          <a:solidFill>
            <a:srgbClr val="0B122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 name="TextBox 10"/>
          <p:cNvSpPr txBox="1"/>
          <p:nvPr/>
        </p:nvSpPr>
        <p:spPr>
          <a:xfrm>
            <a:off x="1143000" y="2743200"/>
            <a:ext cx="2630424" cy="1371600"/>
          </a:xfrm>
          <a:prstGeom prst="rect">
            <a:avLst/>
          </a:prstGeom>
          <a:noFill/>
        </p:spPr>
        <p:txBody>
          <a:bodyPr wrap="square" anchor="ctr">
            <a:spAutoFit/>
          </a:bodyPr>
          <a:lstStyle/>
          <a:p>
            <a:pPr algn="ctr">
              <a:spcAft>
                <a:spcPts val="400"/>
              </a:spcAft>
            </a:pPr>
            <a:r>
              <a:rPr sz="1500" b="1">
                <a:solidFill>
                  <a:srgbClr val="9CDCFE"/>
                </a:solidFill>
                <a:latin typeface="Arial"/>
              </a:rPr>
              <a:t>|ψ⟩   and   ⟨ψ|</a:t>
            </a:r>
          </a:p>
        </p:txBody>
      </p:sp>
      <p:sp>
        <p:nvSpPr>
          <p:cNvPr id="12" name="TextBox 11"/>
          <p:cNvSpPr txBox="1"/>
          <p:nvPr/>
        </p:nvSpPr>
        <p:spPr>
          <a:xfrm>
            <a:off x="1033272" y="4297680"/>
            <a:ext cx="2849880" cy="1645920"/>
          </a:xfrm>
          <a:prstGeom prst="rect">
            <a:avLst/>
          </a:prstGeom>
          <a:noFill/>
        </p:spPr>
        <p:txBody>
          <a:bodyPr wrap="square" anchor="t">
            <a:spAutoFit/>
          </a:bodyPr>
          <a:lstStyle/>
          <a:p>
            <a:pPr algn="l">
              <a:spcAft>
                <a:spcPts val="400"/>
              </a:spcAft>
            </a:pPr>
            <a:r>
              <a:rPr sz="1250" b="0">
                <a:solidFill>
                  <a:srgbClr val="5B6372"/>
                </a:solidFill>
                <a:latin typeface="Arial"/>
              </a:rPr>
              <a:t>A ket is a column vector; a bra is its conjugate transpose (row vector).</a:t>
            </a:r>
          </a:p>
        </p:txBody>
      </p:sp>
      <p:sp>
        <p:nvSpPr>
          <p:cNvPr id="13" name="Rectangle 12"/>
          <p:cNvSpPr/>
          <p:nvPr/>
        </p:nvSpPr>
        <p:spPr>
          <a:xfrm>
            <a:off x="4413504" y="1783080"/>
            <a:ext cx="3361944" cy="4297680"/>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 name="Rectangle 13"/>
          <p:cNvSpPr/>
          <p:nvPr/>
        </p:nvSpPr>
        <p:spPr>
          <a:xfrm>
            <a:off x="4413504" y="1783080"/>
            <a:ext cx="3361944" cy="91440"/>
          </a:xfrm>
          <a:prstGeom prst="rect">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5" name="TextBox 14"/>
          <p:cNvSpPr txBox="1"/>
          <p:nvPr/>
        </p:nvSpPr>
        <p:spPr>
          <a:xfrm>
            <a:off x="4669536" y="2011680"/>
            <a:ext cx="2849880" cy="640080"/>
          </a:xfrm>
          <a:prstGeom prst="rect">
            <a:avLst/>
          </a:prstGeom>
          <a:noFill/>
        </p:spPr>
        <p:txBody>
          <a:bodyPr wrap="square" anchor="t">
            <a:spAutoFit/>
          </a:bodyPr>
          <a:lstStyle/>
          <a:p>
            <a:pPr algn="l">
              <a:spcAft>
                <a:spcPts val="400"/>
              </a:spcAft>
            </a:pPr>
            <a:r>
              <a:rPr sz="1600" b="1">
                <a:solidFill>
                  <a:srgbClr val="10B981"/>
                </a:solidFill>
                <a:latin typeface="Arial"/>
              </a:rPr>
              <a:t>Inner product</a:t>
            </a:r>
          </a:p>
        </p:txBody>
      </p:sp>
      <p:sp>
        <p:nvSpPr>
          <p:cNvPr id="16" name="Rectangle 15"/>
          <p:cNvSpPr/>
          <p:nvPr/>
        </p:nvSpPr>
        <p:spPr>
          <a:xfrm>
            <a:off x="4669536" y="2743200"/>
            <a:ext cx="2849880" cy="1371600"/>
          </a:xfrm>
          <a:prstGeom prst="rect">
            <a:avLst/>
          </a:prstGeom>
          <a:solidFill>
            <a:srgbClr val="0B122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7" name="TextBox 16"/>
          <p:cNvSpPr txBox="1"/>
          <p:nvPr/>
        </p:nvSpPr>
        <p:spPr>
          <a:xfrm>
            <a:off x="4779264" y="2743200"/>
            <a:ext cx="2630424" cy="1371600"/>
          </a:xfrm>
          <a:prstGeom prst="rect">
            <a:avLst/>
          </a:prstGeom>
          <a:noFill/>
        </p:spPr>
        <p:txBody>
          <a:bodyPr wrap="square" anchor="ctr">
            <a:spAutoFit/>
          </a:bodyPr>
          <a:lstStyle/>
          <a:p>
            <a:pPr algn="ctr">
              <a:spcAft>
                <a:spcPts val="400"/>
              </a:spcAft>
            </a:pPr>
            <a:r>
              <a:rPr sz="1500" b="1">
                <a:solidFill>
                  <a:srgbClr val="9CDCFE"/>
                </a:solidFill>
                <a:latin typeface="Arial"/>
              </a:rPr>
              <a:t>⟨φ|ψ⟩</a:t>
            </a:r>
          </a:p>
        </p:txBody>
      </p:sp>
      <p:sp>
        <p:nvSpPr>
          <p:cNvPr id="18" name="TextBox 17"/>
          <p:cNvSpPr txBox="1"/>
          <p:nvPr/>
        </p:nvSpPr>
        <p:spPr>
          <a:xfrm>
            <a:off x="4669536" y="4297680"/>
            <a:ext cx="2849880" cy="1645920"/>
          </a:xfrm>
          <a:prstGeom prst="rect">
            <a:avLst/>
          </a:prstGeom>
          <a:noFill/>
        </p:spPr>
        <p:txBody>
          <a:bodyPr wrap="square" anchor="t">
            <a:spAutoFit/>
          </a:bodyPr>
          <a:lstStyle/>
          <a:p>
            <a:pPr algn="l">
              <a:spcAft>
                <a:spcPts val="400"/>
              </a:spcAft>
            </a:pPr>
            <a:r>
              <a:rPr sz="1250" b="0">
                <a:solidFill>
                  <a:srgbClr val="5B6372"/>
                </a:solidFill>
                <a:latin typeface="Arial"/>
              </a:rPr>
              <a:t>A single complex number — the overlap, or probability amplitude, between two states.</a:t>
            </a:r>
          </a:p>
        </p:txBody>
      </p:sp>
      <p:sp>
        <p:nvSpPr>
          <p:cNvPr id="19" name="Rectangle 18"/>
          <p:cNvSpPr/>
          <p:nvPr/>
        </p:nvSpPr>
        <p:spPr>
          <a:xfrm>
            <a:off x="8049768" y="1783080"/>
            <a:ext cx="3361944" cy="4297680"/>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0" name="Rectangle 19"/>
          <p:cNvSpPr/>
          <p:nvPr/>
        </p:nvSpPr>
        <p:spPr>
          <a:xfrm>
            <a:off x="8049768" y="1783080"/>
            <a:ext cx="3361944" cy="91440"/>
          </a:xfrm>
          <a:prstGeom prst="rect">
            <a:avLst/>
          </a:prstGeom>
          <a:solidFill>
            <a:srgbClr val="7C3AE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1" name="TextBox 20"/>
          <p:cNvSpPr txBox="1"/>
          <p:nvPr/>
        </p:nvSpPr>
        <p:spPr>
          <a:xfrm>
            <a:off x="8305800" y="2011680"/>
            <a:ext cx="2849880" cy="640080"/>
          </a:xfrm>
          <a:prstGeom prst="rect">
            <a:avLst/>
          </a:prstGeom>
          <a:noFill/>
        </p:spPr>
        <p:txBody>
          <a:bodyPr wrap="square" anchor="t">
            <a:spAutoFit/>
          </a:bodyPr>
          <a:lstStyle/>
          <a:p>
            <a:pPr algn="l">
              <a:spcAft>
                <a:spcPts val="400"/>
              </a:spcAft>
            </a:pPr>
            <a:r>
              <a:rPr sz="1600" b="1">
                <a:solidFill>
                  <a:srgbClr val="7C3AED"/>
                </a:solidFill>
                <a:latin typeface="Arial"/>
              </a:rPr>
              <a:t>Born rule</a:t>
            </a:r>
          </a:p>
        </p:txBody>
      </p:sp>
      <p:sp>
        <p:nvSpPr>
          <p:cNvPr id="22" name="Rectangle 21"/>
          <p:cNvSpPr/>
          <p:nvPr/>
        </p:nvSpPr>
        <p:spPr>
          <a:xfrm>
            <a:off x="8305800" y="2743200"/>
            <a:ext cx="2849880" cy="1371600"/>
          </a:xfrm>
          <a:prstGeom prst="rect">
            <a:avLst/>
          </a:prstGeom>
          <a:solidFill>
            <a:srgbClr val="0B122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3" name="TextBox 22"/>
          <p:cNvSpPr txBox="1"/>
          <p:nvPr/>
        </p:nvSpPr>
        <p:spPr>
          <a:xfrm>
            <a:off x="8415528" y="2743200"/>
            <a:ext cx="2630424" cy="1371600"/>
          </a:xfrm>
          <a:prstGeom prst="rect">
            <a:avLst/>
          </a:prstGeom>
          <a:noFill/>
        </p:spPr>
        <p:txBody>
          <a:bodyPr wrap="square" anchor="ctr">
            <a:spAutoFit/>
          </a:bodyPr>
          <a:lstStyle/>
          <a:p>
            <a:pPr algn="ctr">
              <a:spcAft>
                <a:spcPts val="400"/>
              </a:spcAft>
            </a:pPr>
            <a:r>
              <a:rPr sz="1500" b="1">
                <a:solidFill>
                  <a:srgbClr val="9CDCFE"/>
                </a:solidFill>
                <a:latin typeface="Arial"/>
              </a:rPr>
              <a:t>P(x) = |⟨x|ψ⟩|²</a:t>
            </a:r>
          </a:p>
        </p:txBody>
      </p:sp>
      <p:sp>
        <p:nvSpPr>
          <p:cNvPr id="24" name="TextBox 23"/>
          <p:cNvSpPr txBox="1"/>
          <p:nvPr/>
        </p:nvSpPr>
        <p:spPr>
          <a:xfrm>
            <a:off x="8305800" y="4297680"/>
            <a:ext cx="2849880" cy="1645920"/>
          </a:xfrm>
          <a:prstGeom prst="rect">
            <a:avLst/>
          </a:prstGeom>
          <a:noFill/>
        </p:spPr>
        <p:txBody>
          <a:bodyPr wrap="square" anchor="t">
            <a:spAutoFit/>
          </a:bodyPr>
          <a:lstStyle/>
          <a:p>
            <a:pPr algn="l">
              <a:spcAft>
                <a:spcPts val="400"/>
              </a:spcAft>
            </a:pPr>
            <a:r>
              <a:rPr sz="1250" b="0">
                <a:solidFill>
                  <a:srgbClr val="5B6372"/>
                </a:solidFill>
                <a:latin typeface="Arial"/>
              </a:rPr>
              <a:t>The probability of measuring outcome x is the squared magnitude of the amplitude.</a:t>
            </a:r>
          </a:p>
        </p:txBody>
      </p:sp>
      <p:sp>
        <p:nvSpPr>
          <p:cNvPr id="25" name="TextBox 24"/>
          <p:cNvSpPr txBox="1"/>
          <p:nvPr/>
        </p:nvSpPr>
        <p:spPr>
          <a:xfrm>
            <a:off x="365760" y="6446520"/>
            <a:ext cx="6858000" cy="320040"/>
          </a:xfrm>
          <a:prstGeom prst="rect">
            <a:avLst/>
          </a:prstGeom>
          <a:noFill/>
        </p:spPr>
        <p:txBody>
          <a:bodyPr wrap="square" anchor="t">
            <a:spAutoFit/>
          </a:bodyPr>
          <a:lstStyle/>
          <a:p>
            <a:pPr algn="l">
              <a:spcAft>
                <a:spcPts val="400"/>
              </a:spcAft>
            </a:pPr>
            <a:r>
              <a:rPr sz="900" b="0">
                <a:solidFill>
                  <a:srgbClr val="5B6372"/>
                </a:solidFill>
                <a:latin typeface="Arial"/>
              </a:rPr>
              <a:t>Securing the Future with Quantum Computing and Cryptography  ·  TGS-2024043419</a:t>
            </a:r>
          </a:p>
        </p:txBody>
      </p:sp>
      <p:sp>
        <p:nvSpPr>
          <p:cNvPr id="26" name="TextBox 25"/>
          <p:cNvSpPr txBox="1"/>
          <p:nvPr/>
        </p:nvSpPr>
        <p:spPr>
          <a:xfrm>
            <a:off x="4572000" y="6446520"/>
            <a:ext cx="3017520" cy="320040"/>
          </a:xfrm>
          <a:prstGeom prst="rect">
            <a:avLst/>
          </a:prstGeom>
          <a:noFill/>
        </p:spPr>
        <p:txBody>
          <a:bodyPr wrap="square" anchor="t">
            <a:spAutoFit/>
          </a:bodyPr>
          <a:lstStyle/>
          <a:p>
            <a:pPr algn="ctr">
              <a:spcAft>
                <a:spcPts val="400"/>
              </a:spcAft>
            </a:pPr>
            <a:r>
              <a:rPr sz="900" b="0">
                <a:solidFill>
                  <a:srgbClr val="5B6372"/>
                </a:solidFill>
                <a:latin typeface="Arial"/>
              </a:rPr>
              <a:t>© 2026 Tertiary Infotech Academy Pte Ltd</a:t>
            </a:r>
          </a:p>
        </p:txBody>
      </p:sp>
      <p:sp>
        <p:nvSpPr>
          <p:cNvPr id="27" name="TextBox 26"/>
          <p:cNvSpPr txBox="1"/>
          <p:nvPr/>
        </p:nvSpPr>
        <p:spPr>
          <a:xfrm>
            <a:off x="11338560" y="6446520"/>
            <a:ext cx="548640" cy="320040"/>
          </a:xfrm>
          <a:prstGeom prst="rect">
            <a:avLst/>
          </a:prstGeom>
          <a:noFill/>
        </p:spPr>
        <p:txBody>
          <a:bodyPr wrap="square" anchor="t">
            <a:spAutoFit/>
          </a:bodyPr>
          <a:lstStyle/>
          <a:p>
            <a:pPr algn="r">
              <a:spcAft>
                <a:spcPts val="400"/>
              </a:spcAft>
            </a:pPr>
            <a:r>
              <a:rPr sz="900" b="0">
                <a:solidFill>
                  <a:srgbClr val="5B6372"/>
                </a:solidFill>
                <a:latin typeface="Arial"/>
              </a:rPr>
              <a:t>47</a:t>
            </a:r>
          </a:p>
        </p:txBody>
      </p:sp>
    </p:spTree>
  </p:cSld>
  <p:clrMapOvr>
    <a:masterClrMapping/>
  </p:clrMapOvr>
</p:sld>
</file>

<file path=ppt/slides/slide49.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256032" cy="1417320"/>
          </a:xfrm>
          <a:prstGeom prst="rect">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777240" y="457200"/>
            <a:ext cx="10607040" cy="365760"/>
          </a:xfrm>
          <a:prstGeom prst="rect">
            <a:avLst/>
          </a:prstGeom>
          <a:noFill/>
        </p:spPr>
        <p:txBody>
          <a:bodyPr wrap="square" anchor="t">
            <a:spAutoFit/>
          </a:bodyPr>
          <a:lstStyle/>
          <a:p>
            <a:pPr algn="l">
              <a:spcAft>
                <a:spcPts val="400"/>
              </a:spcAft>
            </a:pPr>
            <a:r>
              <a:rPr sz="1400" b="1">
                <a:solidFill>
                  <a:srgbClr val="1F6FEB"/>
                </a:solidFill>
                <a:latin typeface="Arial"/>
              </a:rPr>
              <a:t>WHAT YOU'LL DO</a:t>
            </a:r>
          </a:p>
        </p:txBody>
      </p:sp>
      <p:sp>
        <p:nvSpPr>
          <p:cNvPr id="5" name="TextBox 4"/>
          <p:cNvSpPr txBox="1"/>
          <p:nvPr/>
        </p:nvSpPr>
        <p:spPr>
          <a:xfrm>
            <a:off x="777240" y="822960"/>
            <a:ext cx="10881360" cy="822960"/>
          </a:xfrm>
          <a:prstGeom prst="rect">
            <a:avLst/>
          </a:prstGeom>
          <a:noFill/>
        </p:spPr>
        <p:txBody>
          <a:bodyPr wrap="square" anchor="t">
            <a:spAutoFit/>
          </a:bodyPr>
          <a:lstStyle/>
          <a:p>
            <a:pPr algn="l">
              <a:spcAft>
                <a:spcPts val="400"/>
              </a:spcAft>
            </a:pPr>
            <a:r>
              <a:rPr sz="2900" b="1">
                <a:solidFill>
                  <a:srgbClr val="161B26"/>
                </a:solidFill>
                <a:latin typeface="Arial"/>
              </a:rPr>
              <a:t>Hands-On Activities — Quantum Physics Fundamentals</a:t>
            </a:r>
          </a:p>
        </p:txBody>
      </p:sp>
      <p:sp>
        <p:nvSpPr>
          <p:cNvPr id="6" name="Rectangle 5"/>
          <p:cNvSpPr/>
          <p:nvPr/>
        </p:nvSpPr>
        <p:spPr>
          <a:xfrm>
            <a:off x="777240" y="1554480"/>
            <a:ext cx="10634472" cy="18288"/>
          </a:xfrm>
          <a:prstGeom prst="rect">
            <a:avLst/>
          </a:prstGeom>
          <a:solidFill>
            <a:srgbClr val="E2E8F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Rectangle 6"/>
          <p:cNvSpPr/>
          <p:nvPr/>
        </p:nvSpPr>
        <p:spPr>
          <a:xfrm>
            <a:off x="777240" y="1783080"/>
            <a:ext cx="3337560" cy="4297680"/>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Rectangle 7"/>
          <p:cNvSpPr/>
          <p:nvPr/>
        </p:nvSpPr>
        <p:spPr>
          <a:xfrm>
            <a:off x="777240" y="1783080"/>
            <a:ext cx="3337560" cy="109728"/>
          </a:xfrm>
          <a:prstGeom prst="rect">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TextBox 8"/>
          <p:cNvSpPr txBox="1"/>
          <p:nvPr/>
        </p:nvSpPr>
        <p:spPr>
          <a:xfrm>
            <a:off x="1005840" y="2011680"/>
            <a:ext cx="2926080" cy="548640"/>
          </a:xfrm>
          <a:prstGeom prst="rect">
            <a:avLst/>
          </a:prstGeom>
          <a:noFill/>
        </p:spPr>
        <p:txBody>
          <a:bodyPr wrap="square" anchor="t">
            <a:spAutoFit/>
          </a:bodyPr>
          <a:lstStyle/>
          <a:p>
            <a:pPr algn="l">
              <a:spcAft>
                <a:spcPts val="400"/>
              </a:spcAft>
            </a:pPr>
            <a:r>
              <a:rPr sz="1900" b="1">
                <a:solidFill>
                  <a:srgbClr val="1F6FEB"/>
                </a:solidFill>
                <a:latin typeface="Arial"/>
              </a:rPr>
              <a:t>Activity 1</a:t>
            </a:r>
          </a:p>
        </p:txBody>
      </p:sp>
      <p:sp>
        <p:nvSpPr>
          <p:cNvPr id="10" name="TextBox 9"/>
          <p:cNvSpPr txBox="1"/>
          <p:nvPr/>
        </p:nvSpPr>
        <p:spPr>
          <a:xfrm>
            <a:off x="1005840" y="2697480"/>
            <a:ext cx="2926080" cy="3108960"/>
          </a:xfrm>
          <a:prstGeom prst="rect">
            <a:avLst/>
          </a:prstGeom>
          <a:noFill/>
        </p:spPr>
        <p:txBody>
          <a:bodyPr wrap="square">
            <a:spAutoFit/>
          </a:bodyPr>
          <a:lstStyle/>
          <a:p>
            <a:pPr>
              <a:spcAft>
                <a:spcPts val="900"/>
              </a:spcAft>
            </a:pPr>
            <a:r>
              <a:rPr sz="1400">
                <a:solidFill>
                  <a:srgbClr val="161B26"/>
                </a:solidFill>
                <a:latin typeface="Arial"/>
              </a:rPr>
              <a:t>•  Linear Algebra for Quantum Mechanics in Python</a:t>
            </a:r>
          </a:p>
        </p:txBody>
      </p:sp>
      <p:sp>
        <p:nvSpPr>
          <p:cNvPr id="11" name="Rectangle 10"/>
          <p:cNvSpPr/>
          <p:nvPr/>
        </p:nvSpPr>
        <p:spPr>
          <a:xfrm>
            <a:off x="4572000" y="1783080"/>
            <a:ext cx="3337560" cy="4297680"/>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 name="Rectangle 11"/>
          <p:cNvSpPr/>
          <p:nvPr/>
        </p:nvSpPr>
        <p:spPr>
          <a:xfrm>
            <a:off x="4572000" y="1783080"/>
            <a:ext cx="3337560" cy="109728"/>
          </a:xfrm>
          <a:prstGeom prst="rect">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 name="TextBox 12"/>
          <p:cNvSpPr txBox="1"/>
          <p:nvPr/>
        </p:nvSpPr>
        <p:spPr>
          <a:xfrm>
            <a:off x="4800600" y="2011680"/>
            <a:ext cx="2926080" cy="548640"/>
          </a:xfrm>
          <a:prstGeom prst="rect">
            <a:avLst/>
          </a:prstGeom>
          <a:noFill/>
        </p:spPr>
        <p:txBody>
          <a:bodyPr wrap="square" anchor="t">
            <a:spAutoFit/>
          </a:bodyPr>
          <a:lstStyle/>
          <a:p>
            <a:pPr algn="l">
              <a:spcAft>
                <a:spcPts val="400"/>
              </a:spcAft>
            </a:pPr>
            <a:r>
              <a:rPr sz="1900" b="1">
                <a:solidFill>
                  <a:srgbClr val="10B981"/>
                </a:solidFill>
                <a:latin typeface="Arial"/>
              </a:rPr>
              <a:t>—</a:t>
            </a:r>
          </a:p>
        </p:txBody>
      </p:sp>
      <p:sp>
        <p:nvSpPr>
          <p:cNvPr id="14" name="TextBox 13"/>
          <p:cNvSpPr txBox="1"/>
          <p:nvPr/>
        </p:nvSpPr>
        <p:spPr>
          <a:xfrm>
            <a:off x="4800600" y="2697480"/>
            <a:ext cx="2926080" cy="3108960"/>
          </a:xfrm>
          <a:prstGeom prst="rect">
            <a:avLst/>
          </a:prstGeom>
          <a:noFill/>
        </p:spPr>
        <p:txBody>
          <a:bodyPr wrap="square">
            <a:spAutoFit/>
          </a:bodyPr>
          <a:lstStyle/>
          <a:p>
            <a:pPr>
              <a:spcAft>
                <a:spcPts val="900"/>
              </a:spcAft>
            </a:pPr>
            <a:r>
              <a:rPr sz="1400">
                <a:solidFill>
                  <a:srgbClr val="161B26"/>
                </a:solidFill>
                <a:latin typeface="Arial"/>
              </a:rPr>
              <a:t>•  —</a:t>
            </a:r>
          </a:p>
        </p:txBody>
      </p:sp>
      <p:sp>
        <p:nvSpPr>
          <p:cNvPr id="15" name="Rectangle 14"/>
          <p:cNvSpPr/>
          <p:nvPr/>
        </p:nvSpPr>
        <p:spPr>
          <a:xfrm>
            <a:off x="8366760" y="1783080"/>
            <a:ext cx="3337560" cy="4297680"/>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6" name="Rectangle 15"/>
          <p:cNvSpPr/>
          <p:nvPr/>
        </p:nvSpPr>
        <p:spPr>
          <a:xfrm>
            <a:off x="8366760" y="1783080"/>
            <a:ext cx="3337560" cy="109728"/>
          </a:xfrm>
          <a:prstGeom prst="rect">
            <a:avLst/>
          </a:prstGeom>
          <a:solidFill>
            <a:srgbClr val="7C3AE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7" name="TextBox 16"/>
          <p:cNvSpPr txBox="1"/>
          <p:nvPr/>
        </p:nvSpPr>
        <p:spPr>
          <a:xfrm>
            <a:off x="8595360" y="2011680"/>
            <a:ext cx="2926080" cy="548640"/>
          </a:xfrm>
          <a:prstGeom prst="rect">
            <a:avLst/>
          </a:prstGeom>
          <a:noFill/>
        </p:spPr>
        <p:txBody>
          <a:bodyPr wrap="square" anchor="t">
            <a:spAutoFit/>
          </a:bodyPr>
          <a:lstStyle/>
          <a:p>
            <a:pPr algn="l">
              <a:spcAft>
                <a:spcPts val="400"/>
              </a:spcAft>
            </a:pPr>
            <a:r>
              <a:rPr sz="1900" b="1">
                <a:solidFill>
                  <a:srgbClr val="7C3AED"/>
                </a:solidFill>
                <a:latin typeface="Arial"/>
              </a:rPr>
              <a:t>—</a:t>
            </a:r>
          </a:p>
        </p:txBody>
      </p:sp>
      <p:sp>
        <p:nvSpPr>
          <p:cNvPr id="18" name="TextBox 17"/>
          <p:cNvSpPr txBox="1"/>
          <p:nvPr/>
        </p:nvSpPr>
        <p:spPr>
          <a:xfrm>
            <a:off x="8595360" y="2697480"/>
            <a:ext cx="2926080" cy="3108960"/>
          </a:xfrm>
          <a:prstGeom prst="rect">
            <a:avLst/>
          </a:prstGeom>
          <a:noFill/>
        </p:spPr>
        <p:txBody>
          <a:bodyPr wrap="square">
            <a:spAutoFit/>
          </a:bodyPr>
          <a:lstStyle/>
          <a:p>
            <a:pPr>
              <a:spcAft>
                <a:spcPts val="900"/>
              </a:spcAft>
            </a:pPr>
            <a:r>
              <a:rPr sz="1400">
                <a:solidFill>
                  <a:srgbClr val="161B26"/>
                </a:solidFill>
                <a:latin typeface="Arial"/>
              </a:rPr>
              <a:t>•  —</a:t>
            </a:r>
          </a:p>
        </p:txBody>
      </p:sp>
      <p:sp>
        <p:nvSpPr>
          <p:cNvPr id="19" name="TextBox 18"/>
          <p:cNvSpPr txBox="1"/>
          <p:nvPr/>
        </p:nvSpPr>
        <p:spPr>
          <a:xfrm>
            <a:off x="365760" y="6446520"/>
            <a:ext cx="6858000" cy="320040"/>
          </a:xfrm>
          <a:prstGeom prst="rect">
            <a:avLst/>
          </a:prstGeom>
          <a:noFill/>
        </p:spPr>
        <p:txBody>
          <a:bodyPr wrap="square" anchor="t">
            <a:spAutoFit/>
          </a:bodyPr>
          <a:lstStyle/>
          <a:p>
            <a:pPr algn="l">
              <a:spcAft>
                <a:spcPts val="400"/>
              </a:spcAft>
            </a:pPr>
            <a:r>
              <a:rPr sz="900" b="0">
                <a:solidFill>
                  <a:srgbClr val="5B6372"/>
                </a:solidFill>
                <a:latin typeface="Arial"/>
              </a:rPr>
              <a:t>Securing the Future with Quantum Computing and Cryptography  ·  TGS-2024043419</a:t>
            </a:r>
          </a:p>
        </p:txBody>
      </p:sp>
      <p:sp>
        <p:nvSpPr>
          <p:cNvPr id="20" name="TextBox 19"/>
          <p:cNvSpPr txBox="1"/>
          <p:nvPr/>
        </p:nvSpPr>
        <p:spPr>
          <a:xfrm>
            <a:off x="4572000" y="6446520"/>
            <a:ext cx="3017520" cy="320040"/>
          </a:xfrm>
          <a:prstGeom prst="rect">
            <a:avLst/>
          </a:prstGeom>
          <a:noFill/>
        </p:spPr>
        <p:txBody>
          <a:bodyPr wrap="square" anchor="t">
            <a:spAutoFit/>
          </a:bodyPr>
          <a:lstStyle/>
          <a:p>
            <a:pPr algn="ctr">
              <a:spcAft>
                <a:spcPts val="400"/>
              </a:spcAft>
            </a:pPr>
            <a:r>
              <a:rPr sz="900" b="0">
                <a:solidFill>
                  <a:srgbClr val="5B6372"/>
                </a:solidFill>
                <a:latin typeface="Arial"/>
              </a:rPr>
              <a:t>© 2026 Tertiary Infotech Academy Pte Ltd</a:t>
            </a:r>
          </a:p>
        </p:txBody>
      </p:sp>
      <p:sp>
        <p:nvSpPr>
          <p:cNvPr id="21" name="TextBox 20"/>
          <p:cNvSpPr txBox="1"/>
          <p:nvPr/>
        </p:nvSpPr>
        <p:spPr>
          <a:xfrm>
            <a:off x="11338560" y="6446520"/>
            <a:ext cx="548640" cy="320040"/>
          </a:xfrm>
          <a:prstGeom prst="rect">
            <a:avLst/>
          </a:prstGeom>
          <a:noFill/>
        </p:spPr>
        <p:txBody>
          <a:bodyPr wrap="square" anchor="t">
            <a:spAutoFit/>
          </a:bodyPr>
          <a:lstStyle/>
          <a:p>
            <a:pPr algn="r">
              <a:spcAft>
                <a:spcPts val="400"/>
              </a:spcAft>
            </a:pPr>
            <a:r>
              <a:rPr sz="900" b="0">
                <a:solidFill>
                  <a:srgbClr val="5B6372"/>
                </a:solidFill>
                <a:latin typeface="Arial"/>
              </a:rPr>
              <a:t>48</a:t>
            </a:r>
          </a:p>
        </p:txBody>
      </p:sp>
    </p:spTree>
  </p:cSld>
  <p:clrMapOvr>
    <a:masterClrMapping/>
  </p:clrMapOvr>
</p:sld>
</file>

<file path=ppt/slides/slide50.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256032" cy="1417320"/>
          </a:xfrm>
          <a:prstGeom prst="rect">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777240" y="457200"/>
            <a:ext cx="10607040" cy="365760"/>
          </a:xfrm>
          <a:prstGeom prst="rect">
            <a:avLst/>
          </a:prstGeom>
          <a:noFill/>
        </p:spPr>
        <p:txBody>
          <a:bodyPr wrap="square" anchor="t">
            <a:spAutoFit/>
          </a:bodyPr>
          <a:lstStyle/>
          <a:p>
            <a:pPr algn="l">
              <a:spcAft>
                <a:spcPts val="400"/>
              </a:spcAft>
            </a:pPr>
            <a:r>
              <a:rPr sz="1400" b="1">
                <a:solidFill>
                  <a:srgbClr val="10B981"/>
                </a:solidFill>
                <a:latin typeface="Arial"/>
              </a:rPr>
              <a:t>TOPIC 01 · HANDS-ON ACTIVITY</a:t>
            </a:r>
          </a:p>
        </p:txBody>
      </p:sp>
      <p:sp>
        <p:nvSpPr>
          <p:cNvPr id="5" name="TextBox 4"/>
          <p:cNvSpPr txBox="1"/>
          <p:nvPr/>
        </p:nvSpPr>
        <p:spPr>
          <a:xfrm>
            <a:off x="777240" y="822960"/>
            <a:ext cx="10881360" cy="822960"/>
          </a:xfrm>
          <a:prstGeom prst="rect">
            <a:avLst/>
          </a:prstGeom>
          <a:noFill/>
        </p:spPr>
        <p:txBody>
          <a:bodyPr wrap="square" anchor="t">
            <a:spAutoFit/>
          </a:bodyPr>
          <a:lstStyle/>
          <a:p>
            <a:pPr algn="l">
              <a:spcAft>
                <a:spcPts val="400"/>
              </a:spcAft>
            </a:pPr>
            <a:r>
              <a:rPr sz="2900" b="1">
                <a:solidFill>
                  <a:srgbClr val="161B26"/>
                </a:solidFill>
                <a:latin typeface="Arial"/>
              </a:rPr>
              <a:t>Linear Algebra for Quantum Mechanics in Python</a:t>
            </a:r>
          </a:p>
        </p:txBody>
      </p:sp>
      <p:sp>
        <p:nvSpPr>
          <p:cNvPr id="6" name="Rectangle 5"/>
          <p:cNvSpPr/>
          <p:nvPr/>
        </p:nvSpPr>
        <p:spPr>
          <a:xfrm>
            <a:off x="777240" y="1554480"/>
            <a:ext cx="10634472" cy="18288"/>
          </a:xfrm>
          <a:prstGeom prst="rect">
            <a:avLst/>
          </a:prstGeom>
          <a:solidFill>
            <a:srgbClr val="E2E8F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Rectangle 6"/>
          <p:cNvSpPr/>
          <p:nvPr/>
        </p:nvSpPr>
        <p:spPr>
          <a:xfrm>
            <a:off x="9646920" y="457200"/>
            <a:ext cx="1783080" cy="457200"/>
          </a:xfrm>
          <a:prstGeom prst="rect">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TextBox 7"/>
          <p:cNvSpPr txBox="1"/>
          <p:nvPr/>
        </p:nvSpPr>
        <p:spPr>
          <a:xfrm>
            <a:off x="9646920" y="457200"/>
            <a:ext cx="1783080" cy="457200"/>
          </a:xfrm>
          <a:prstGeom prst="rect">
            <a:avLst/>
          </a:prstGeom>
          <a:noFill/>
        </p:spPr>
        <p:txBody>
          <a:bodyPr wrap="square" anchor="ctr">
            <a:spAutoFit/>
          </a:bodyPr>
          <a:lstStyle/>
          <a:p>
            <a:pPr algn="ctr">
              <a:spcAft>
                <a:spcPts val="400"/>
              </a:spcAft>
            </a:pPr>
            <a:r>
              <a:rPr sz="1300" b="1">
                <a:solidFill>
                  <a:srgbClr val="FFFFFF"/>
                </a:solidFill>
                <a:latin typeface="Arial"/>
              </a:rPr>
              <a:t>ACTIVITY 1</a:t>
            </a:r>
          </a:p>
        </p:txBody>
      </p:sp>
      <p:sp>
        <p:nvSpPr>
          <p:cNvPr id="9" name="TextBox 8"/>
          <p:cNvSpPr txBox="1"/>
          <p:nvPr/>
        </p:nvSpPr>
        <p:spPr>
          <a:xfrm>
            <a:off x="777240" y="1828800"/>
            <a:ext cx="10607040" cy="1051560"/>
          </a:xfrm>
          <a:prstGeom prst="rect">
            <a:avLst/>
          </a:prstGeom>
          <a:noFill/>
        </p:spPr>
        <p:txBody>
          <a:bodyPr wrap="square" anchor="t">
            <a:spAutoFit/>
          </a:bodyPr>
          <a:lstStyle/>
          <a:p>
            <a:pPr algn="l">
              <a:spcAft>
                <a:spcPts val="400"/>
              </a:spcAft>
            </a:pPr>
            <a:r>
              <a:rPr sz="1700" b="0">
                <a:solidFill>
                  <a:srgbClr val="161B26"/>
                </a:solidFill>
                <a:latin typeface="Arial"/>
              </a:rPr>
              <a:t>Work with the mathematical objects every quantum algorithm is built from: state vectors, inner and outer products, unitary and Hermitian operators, eigenvalues and tensor products — all in NumPy.</a:t>
            </a:r>
          </a:p>
        </p:txBody>
      </p:sp>
      <p:sp>
        <p:nvSpPr>
          <p:cNvPr id="10" name="Rectangle 9"/>
          <p:cNvSpPr/>
          <p:nvPr/>
        </p:nvSpPr>
        <p:spPr>
          <a:xfrm>
            <a:off x="777240" y="2971800"/>
            <a:ext cx="10634472" cy="457200"/>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 name="TextBox 10"/>
          <p:cNvSpPr txBox="1"/>
          <p:nvPr/>
        </p:nvSpPr>
        <p:spPr>
          <a:xfrm>
            <a:off x="960120" y="2971800"/>
            <a:ext cx="10241280" cy="457200"/>
          </a:xfrm>
          <a:prstGeom prst="rect">
            <a:avLst/>
          </a:prstGeom>
          <a:noFill/>
        </p:spPr>
        <p:txBody>
          <a:bodyPr wrap="square" anchor="ctr">
            <a:spAutoFit/>
          </a:bodyPr>
          <a:lstStyle/>
          <a:p>
            <a:pPr algn="l">
              <a:spcAft>
                <a:spcPts val="400"/>
              </a:spcAft>
            </a:pPr>
            <a:r>
              <a:rPr sz="1100" b="1">
                <a:solidFill>
                  <a:srgbClr val="1F6FEB"/>
                </a:solidFill>
                <a:latin typeface="Arial"/>
              </a:rPr>
              <a:t>MAPS TO  </a:t>
            </a:r>
            <a:r>
              <a:rPr sz="1250" b="0">
                <a:solidFill>
                  <a:srgbClr val="161B26"/>
                </a:solidFill>
                <a:latin typeface="Arial"/>
              </a:rPr>
              <a:t>LO1 — Design mathematical models required for quantum computing applications</a:t>
            </a:r>
          </a:p>
        </p:txBody>
      </p:sp>
      <p:sp>
        <p:nvSpPr>
          <p:cNvPr id="12" name="Rectangle 11"/>
          <p:cNvSpPr/>
          <p:nvPr/>
        </p:nvSpPr>
        <p:spPr>
          <a:xfrm>
            <a:off x="777240" y="3611880"/>
            <a:ext cx="10634472" cy="1234440"/>
          </a:xfrm>
          <a:prstGeom prst="rect">
            <a:avLst/>
          </a:prstGeom>
          <a:solidFill>
            <a:srgbClr val="E8F7E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 name="TextBox 12"/>
          <p:cNvSpPr txBox="1"/>
          <p:nvPr/>
        </p:nvSpPr>
        <p:spPr>
          <a:xfrm>
            <a:off x="1051560" y="3767328"/>
            <a:ext cx="10058400" cy="365760"/>
          </a:xfrm>
          <a:prstGeom prst="rect">
            <a:avLst/>
          </a:prstGeom>
          <a:noFill/>
        </p:spPr>
        <p:txBody>
          <a:bodyPr wrap="square" anchor="t">
            <a:spAutoFit/>
          </a:bodyPr>
          <a:lstStyle/>
          <a:p>
            <a:pPr algn="l">
              <a:spcAft>
                <a:spcPts val="400"/>
              </a:spcAft>
            </a:pPr>
            <a:r>
              <a:rPr sz="1200" b="1">
                <a:solidFill>
                  <a:srgbClr val="127A3E"/>
                </a:solidFill>
                <a:latin typeface="Arial"/>
              </a:rPr>
              <a:t>YOU'LL PRODUCE</a:t>
            </a:r>
          </a:p>
        </p:txBody>
      </p:sp>
      <p:sp>
        <p:nvSpPr>
          <p:cNvPr id="14" name="TextBox 13"/>
          <p:cNvSpPr txBox="1"/>
          <p:nvPr/>
        </p:nvSpPr>
        <p:spPr>
          <a:xfrm>
            <a:off x="1051560" y="4133087"/>
            <a:ext cx="10058400" cy="640080"/>
          </a:xfrm>
          <a:prstGeom prst="rect">
            <a:avLst/>
          </a:prstGeom>
          <a:noFill/>
        </p:spPr>
        <p:txBody>
          <a:bodyPr wrap="square" anchor="t">
            <a:spAutoFit/>
          </a:bodyPr>
          <a:lstStyle/>
          <a:p>
            <a:pPr algn="l">
              <a:spcAft>
                <a:spcPts val="400"/>
              </a:spcAft>
            </a:pPr>
            <a:r>
              <a:rPr sz="1550" b="1">
                <a:solidFill>
                  <a:srgbClr val="161B26"/>
                </a:solidFill>
                <a:latin typeface="Arial"/>
              </a:rPr>
              <a:t>A Python notebook that verifies unitarity and Hermiticity, computes eigenvalues/eigenvectors, and builds two-qubit states with the tensor product.</a:t>
            </a:r>
          </a:p>
        </p:txBody>
      </p:sp>
      <p:sp>
        <p:nvSpPr>
          <p:cNvPr id="15" name="Rectangle 14"/>
          <p:cNvSpPr/>
          <p:nvPr/>
        </p:nvSpPr>
        <p:spPr>
          <a:xfrm>
            <a:off x="777240" y="5029200"/>
            <a:ext cx="10634472" cy="960120"/>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6" name="TextBox 15"/>
          <p:cNvSpPr txBox="1"/>
          <p:nvPr/>
        </p:nvSpPr>
        <p:spPr>
          <a:xfrm>
            <a:off x="1051560" y="5138928"/>
            <a:ext cx="10058400" cy="365760"/>
          </a:xfrm>
          <a:prstGeom prst="rect">
            <a:avLst/>
          </a:prstGeom>
          <a:noFill/>
        </p:spPr>
        <p:txBody>
          <a:bodyPr wrap="square" anchor="t">
            <a:spAutoFit/>
          </a:bodyPr>
          <a:lstStyle/>
          <a:p>
            <a:pPr algn="l">
              <a:spcAft>
                <a:spcPts val="400"/>
              </a:spcAft>
            </a:pPr>
            <a:r>
              <a:rPr sz="1200" b="1">
                <a:solidFill>
                  <a:srgbClr val="5B6372"/>
                </a:solidFill>
                <a:latin typeface="Arial"/>
              </a:rPr>
              <a:t>Tools:  </a:t>
            </a:r>
            <a:r>
              <a:rPr sz="1200" b="0">
                <a:solidFill>
                  <a:srgbClr val="5B6372"/>
                </a:solidFill>
                <a:latin typeface="Arial"/>
              </a:rPr>
              <a:t>Python 3.13, NumPy, Google Colab / VS Code</a:t>
            </a:r>
          </a:p>
        </p:txBody>
      </p:sp>
      <p:sp>
        <p:nvSpPr>
          <p:cNvPr id="17" name="TextBox 16"/>
          <p:cNvSpPr txBox="1"/>
          <p:nvPr/>
        </p:nvSpPr>
        <p:spPr>
          <a:xfrm>
            <a:off x="1051560" y="5504688"/>
            <a:ext cx="10058400" cy="365760"/>
          </a:xfrm>
          <a:prstGeom prst="rect">
            <a:avLst/>
          </a:prstGeom>
          <a:noFill/>
        </p:spPr>
        <p:txBody>
          <a:bodyPr wrap="square" anchor="t">
            <a:spAutoFit/>
          </a:bodyPr>
          <a:lstStyle/>
          <a:p>
            <a:pPr algn="l">
              <a:spcAft>
                <a:spcPts val="400"/>
              </a:spcAft>
            </a:pPr>
            <a:r>
              <a:rPr sz="1200" b="1">
                <a:solidFill>
                  <a:srgbClr val="1F6FEB"/>
                </a:solidFill>
                <a:latin typeface="Arial"/>
              </a:rPr>
              <a:t>Full step-by-step guide:  </a:t>
            </a:r>
            <a:r>
              <a:rPr sz="1200" b="0">
                <a:solidFill>
                  <a:srgbClr val="161B26"/>
                </a:solidFill>
                <a:latin typeface="Arial"/>
              </a:rPr>
              <a:t>Learner Guide — Activity 1: Linear Algebra for Quantum Mechanics in Python</a:t>
            </a:r>
          </a:p>
        </p:txBody>
      </p:sp>
      <p:sp>
        <p:nvSpPr>
          <p:cNvPr id="18" name="TextBox 17"/>
          <p:cNvSpPr txBox="1"/>
          <p:nvPr/>
        </p:nvSpPr>
        <p:spPr>
          <a:xfrm>
            <a:off x="365760" y="6446520"/>
            <a:ext cx="6858000" cy="320040"/>
          </a:xfrm>
          <a:prstGeom prst="rect">
            <a:avLst/>
          </a:prstGeom>
          <a:noFill/>
        </p:spPr>
        <p:txBody>
          <a:bodyPr wrap="square" anchor="t">
            <a:spAutoFit/>
          </a:bodyPr>
          <a:lstStyle/>
          <a:p>
            <a:pPr algn="l">
              <a:spcAft>
                <a:spcPts val="400"/>
              </a:spcAft>
            </a:pPr>
            <a:r>
              <a:rPr sz="900" b="0">
                <a:solidFill>
                  <a:srgbClr val="5B6372"/>
                </a:solidFill>
                <a:latin typeface="Arial"/>
              </a:rPr>
              <a:t>Securing the Future with Quantum Computing and Cryptography  ·  TGS-2024043419</a:t>
            </a:r>
          </a:p>
        </p:txBody>
      </p:sp>
      <p:sp>
        <p:nvSpPr>
          <p:cNvPr id="19" name="TextBox 18"/>
          <p:cNvSpPr txBox="1"/>
          <p:nvPr/>
        </p:nvSpPr>
        <p:spPr>
          <a:xfrm>
            <a:off x="4572000" y="6446520"/>
            <a:ext cx="3017520" cy="320040"/>
          </a:xfrm>
          <a:prstGeom prst="rect">
            <a:avLst/>
          </a:prstGeom>
          <a:noFill/>
        </p:spPr>
        <p:txBody>
          <a:bodyPr wrap="square" anchor="t">
            <a:spAutoFit/>
          </a:bodyPr>
          <a:lstStyle/>
          <a:p>
            <a:pPr algn="ctr">
              <a:spcAft>
                <a:spcPts val="400"/>
              </a:spcAft>
            </a:pPr>
            <a:r>
              <a:rPr sz="900" b="0">
                <a:solidFill>
                  <a:srgbClr val="5B6372"/>
                </a:solidFill>
                <a:latin typeface="Arial"/>
              </a:rPr>
              <a:t>© 2026 Tertiary Infotech Academy Pte Ltd</a:t>
            </a:r>
          </a:p>
        </p:txBody>
      </p:sp>
      <p:sp>
        <p:nvSpPr>
          <p:cNvPr id="20" name="TextBox 19"/>
          <p:cNvSpPr txBox="1"/>
          <p:nvPr/>
        </p:nvSpPr>
        <p:spPr>
          <a:xfrm>
            <a:off x="11338560" y="6446520"/>
            <a:ext cx="548640" cy="320040"/>
          </a:xfrm>
          <a:prstGeom prst="rect">
            <a:avLst/>
          </a:prstGeom>
          <a:noFill/>
        </p:spPr>
        <p:txBody>
          <a:bodyPr wrap="square" anchor="t">
            <a:spAutoFit/>
          </a:bodyPr>
          <a:lstStyle/>
          <a:p>
            <a:pPr algn="r">
              <a:spcAft>
                <a:spcPts val="400"/>
              </a:spcAft>
            </a:pPr>
            <a:r>
              <a:rPr sz="900" b="0">
                <a:solidFill>
                  <a:srgbClr val="5B6372"/>
                </a:solidFill>
                <a:latin typeface="Arial"/>
              </a:rPr>
              <a:t>49</a:t>
            </a:r>
          </a:p>
        </p:txBody>
      </p:sp>
    </p:spTree>
  </p:cSld>
  <p:clrMapOvr>
    <a:masterClrMapping/>
  </p:clrMapOvr>
</p:sld>
</file>

<file path=ppt/slides/slide51.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256032" cy="1417320"/>
          </a:xfrm>
          <a:prstGeom prst="rect">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777240" y="457200"/>
            <a:ext cx="10607040" cy="365760"/>
          </a:xfrm>
          <a:prstGeom prst="rect">
            <a:avLst/>
          </a:prstGeom>
          <a:noFill/>
        </p:spPr>
        <p:txBody>
          <a:bodyPr wrap="square" anchor="t">
            <a:spAutoFit/>
          </a:bodyPr>
          <a:lstStyle/>
          <a:p>
            <a:pPr algn="l">
              <a:spcAft>
                <a:spcPts val="400"/>
              </a:spcAft>
            </a:pPr>
            <a:r>
              <a:rPr sz="1400" b="1">
                <a:solidFill>
                  <a:srgbClr val="10B981"/>
                </a:solidFill>
                <a:latin typeface="Arial"/>
              </a:rPr>
              <a:t>ACTIVITY 1 · VERIFY &amp; DEBRIEF</a:t>
            </a:r>
          </a:p>
        </p:txBody>
      </p:sp>
      <p:sp>
        <p:nvSpPr>
          <p:cNvPr id="5" name="TextBox 4"/>
          <p:cNvSpPr txBox="1"/>
          <p:nvPr/>
        </p:nvSpPr>
        <p:spPr>
          <a:xfrm>
            <a:off x="777240" y="822960"/>
            <a:ext cx="10881360" cy="822960"/>
          </a:xfrm>
          <a:prstGeom prst="rect">
            <a:avLst/>
          </a:prstGeom>
          <a:noFill/>
        </p:spPr>
        <p:txBody>
          <a:bodyPr wrap="square" anchor="t">
            <a:spAutoFit/>
          </a:bodyPr>
          <a:lstStyle/>
          <a:p>
            <a:pPr algn="l">
              <a:spcAft>
                <a:spcPts val="400"/>
              </a:spcAft>
            </a:pPr>
            <a:r>
              <a:rPr sz="2900" b="1">
                <a:solidFill>
                  <a:srgbClr val="161B26"/>
                </a:solidFill>
                <a:latin typeface="Arial"/>
              </a:rPr>
              <a:t>Linear Algebra for Quantum Mechanics in Python</a:t>
            </a:r>
          </a:p>
        </p:txBody>
      </p:sp>
      <p:sp>
        <p:nvSpPr>
          <p:cNvPr id="6" name="Rectangle 5"/>
          <p:cNvSpPr/>
          <p:nvPr/>
        </p:nvSpPr>
        <p:spPr>
          <a:xfrm>
            <a:off x="777240" y="1554480"/>
            <a:ext cx="10634472" cy="18288"/>
          </a:xfrm>
          <a:prstGeom prst="rect">
            <a:avLst/>
          </a:prstGeom>
          <a:solidFill>
            <a:srgbClr val="E2E8F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Rectangle 6"/>
          <p:cNvSpPr/>
          <p:nvPr/>
        </p:nvSpPr>
        <p:spPr>
          <a:xfrm>
            <a:off x="777240" y="1783080"/>
            <a:ext cx="10634472" cy="2148840"/>
          </a:xfrm>
          <a:prstGeom prst="rect">
            <a:avLst/>
          </a:prstGeom>
          <a:solidFill>
            <a:srgbClr val="E8F7E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Rectangle 7"/>
          <p:cNvSpPr/>
          <p:nvPr/>
        </p:nvSpPr>
        <p:spPr>
          <a:xfrm>
            <a:off x="777240" y="1783080"/>
            <a:ext cx="100584" cy="2148840"/>
          </a:xfrm>
          <a:prstGeom prst="rect">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TextBox 8"/>
          <p:cNvSpPr txBox="1"/>
          <p:nvPr/>
        </p:nvSpPr>
        <p:spPr>
          <a:xfrm>
            <a:off x="1143000" y="1965960"/>
            <a:ext cx="10058400" cy="411480"/>
          </a:xfrm>
          <a:prstGeom prst="rect">
            <a:avLst/>
          </a:prstGeom>
          <a:noFill/>
        </p:spPr>
        <p:txBody>
          <a:bodyPr wrap="square" anchor="t">
            <a:spAutoFit/>
          </a:bodyPr>
          <a:lstStyle/>
          <a:p>
            <a:pPr algn="l">
              <a:spcAft>
                <a:spcPts val="400"/>
              </a:spcAft>
            </a:pPr>
            <a:r>
              <a:rPr sz="1300" b="1">
                <a:solidFill>
                  <a:srgbClr val="127A3E"/>
                </a:solidFill>
                <a:latin typeface="Arial"/>
              </a:rPr>
              <a:t>TEST IT — HOW YOU KNOW IT WORKED</a:t>
            </a:r>
          </a:p>
        </p:txBody>
      </p:sp>
      <p:sp>
        <p:nvSpPr>
          <p:cNvPr id="10" name="TextBox 9"/>
          <p:cNvSpPr txBox="1"/>
          <p:nvPr/>
        </p:nvSpPr>
        <p:spPr>
          <a:xfrm>
            <a:off x="1143000" y="2423160"/>
            <a:ext cx="10058400" cy="1371600"/>
          </a:xfrm>
          <a:prstGeom prst="rect">
            <a:avLst/>
          </a:prstGeom>
          <a:noFill/>
        </p:spPr>
        <p:txBody>
          <a:bodyPr wrap="square" anchor="t">
            <a:spAutoFit/>
          </a:bodyPr>
          <a:lstStyle/>
          <a:p>
            <a:pPr algn="l">
              <a:spcAft>
                <a:spcPts val="400"/>
              </a:spcAft>
            </a:pPr>
            <a:r>
              <a:rPr sz="1600" b="0">
                <a:solidFill>
                  <a:srgbClr val="161B26"/>
                </a:solidFill>
                <a:latin typeface="Arial"/>
              </a:rPr>
              <a:t>H-dagger H equals the identity, X and Z return real eigenvalues +1 and -1, the Born-rule probability of measuring 0 in |+&gt; is 0.5, and the tensor product produces a 4-component two-qubit state.</a:t>
            </a:r>
          </a:p>
        </p:txBody>
      </p:sp>
      <p:sp>
        <p:nvSpPr>
          <p:cNvPr id="11" name="TextBox 10"/>
          <p:cNvSpPr txBox="1"/>
          <p:nvPr/>
        </p:nvSpPr>
        <p:spPr>
          <a:xfrm>
            <a:off x="777240" y="4096512"/>
            <a:ext cx="10607040" cy="365760"/>
          </a:xfrm>
          <a:prstGeom prst="rect">
            <a:avLst/>
          </a:prstGeom>
          <a:noFill/>
        </p:spPr>
        <p:txBody>
          <a:bodyPr wrap="square" anchor="t">
            <a:spAutoFit/>
          </a:bodyPr>
          <a:lstStyle/>
          <a:p>
            <a:pPr algn="l">
              <a:spcAft>
                <a:spcPts val="400"/>
              </a:spcAft>
            </a:pPr>
            <a:r>
              <a:rPr sz="1300" b="1">
                <a:solidFill>
                  <a:srgbClr val="1F6FEB"/>
                </a:solidFill>
                <a:latin typeface="Arial"/>
              </a:rPr>
              <a:t>DISCUSS WITH YOUR TRAINER</a:t>
            </a:r>
          </a:p>
        </p:txBody>
      </p:sp>
      <p:sp>
        <p:nvSpPr>
          <p:cNvPr id="12" name="Rectangle 11"/>
          <p:cNvSpPr/>
          <p:nvPr/>
        </p:nvSpPr>
        <p:spPr>
          <a:xfrm>
            <a:off x="777240" y="4480560"/>
            <a:ext cx="3447288" cy="1463040"/>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 name="Rectangle 12"/>
          <p:cNvSpPr/>
          <p:nvPr/>
        </p:nvSpPr>
        <p:spPr>
          <a:xfrm>
            <a:off x="777240" y="4480560"/>
            <a:ext cx="3447288" cy="82296"/>
          </a:xfrm>
          <a:prstGeom prst="rect">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 name="TextBox 13"/>
          <p:cNvSpPr txBox="1"/>
          <p:nvPr/>
        </p:nvSpPr>
        <p:spPr>
          <a:xfrm>
            <a:off x="978408" y="4663440"/>
            <a:ext cx="3044952" cy="457200"/>
          </a:xfrm>
          <a:prstGeom prst="rect">
            <a:avLst/>
          </a:prstGeom>
          <a:noFill/>
        </p:spPr>
        <p:txBody>
          <a:bodyPr wrap="square" anchor="t">
            <a:spAutoFit/>
          </a:bodyPr>
          <a:lstStyle/>
          <a:p>
            <a:pPr algn="l">
              <a:spcAft>
                <a:spcPts val="400"/>
              </a:spcAft>
            </a:pPr>
            <a:r>
              <a:rPr sz="1350" b="1">
                <a:solidFill>
                  <a:srgbClr val="1F6FEB"/>
                </a:solidFill>
                <a:latin typeface="Arial"/>
              </a:rPr>
              <a:t>What did the result show?</a:t>
            </a:r>
          </a:p>
        </p:txBody>
      </p:sp>
      <p:sp>
        <p:nvSpPr>
          <p:cNvPr id="15" name="TextBox 14"/>
          <p:cNvSpPr txBox="1"/>
          <p:nvPr/>
        </p:nvSpPr>
        <p:spPr>
          <a:xfrm>
            <a:off x="978408" y="5138928"/>
            <a:ext cx="3044952" cy="731520"/>
          </a:xfrm>
          <a:prstGeom prst="rect">
            <a:avLst/>
          </a:prstGeom>
          <a:noFill/>
        </p:spPr>
        <p:txBody>
          <a:bodyPr wrap="square" anchor="t">
            <a:spAutoFit/>
          </a:bodyPr>
          <a:lstStyle/>
          <a:p>
            <a:pPr algn="l">
              <a:spcAft>
                <a:spcPts val="400"/>
              </a:spcAft>
            </a:pPr>
            <a:r>
              <a:rPr sz="1200" b="0">
                <a:solidFill>
                  <a:srgbClr val="5B6372"/>
                </a:solidFill>
                <a:latin typeface="Arial"/>
              </a:rPr>
              <a:t>Restate the outcome in your own words.</a:t>
            </a:r>
          </a:p>
        </p:txBody>
      </p:sp>
      <p:sp>
        <p:nvSpPr>
          <p:cNvPr id="16" name="Rectangle 15"/>
          <p:cNvSpPr/>
          <p:nvPr/>
        </p:nvSpPr>
        <p:spPr>
          <a:xfrm>
            <a:off x="4370832" y="4480560"/>
            <a:ext cx="3447288" cy="1463040"/>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7" name="Rectangle 16"/>
          <p:cNvSpPr/>
          <p:nvPr/>
        </p:nvSpPr>
        <p:spPr>
          <a:xfrm>
            <a:off x="4370832" y="4480560"/>
            <a:ext cx="3447288" cy="82296"/>
          </a:xfrm>
          <a:prstGeom prst="rect">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8" name="TextBox 17"/>
          <p:cNvSpPr txBox="1"/>
          <p:nvPr/>
        </p:nvSpPr>
        <p:spPr>
          <a:xfrm>
            <a:off x="4572000" y="4663440"/>
            <a:ext cx="3044952" cy="457200"/>
          </a:xfrm>
          <a:prstGeom prst="rect">
            <a:avLst/>
          </a:prstGeom>
          <a:noFill/>
        </p:spPr>
        <p:txBody>
          <a:bodyPr wrap="square" anchor="t">
            <a:spAutoFit/>
          </a:bodyPr>
          <a:lstStyle/>
          <a:p>
            <a:pPr algn="l">
              <a:spcAft>
                <a:spcPts val="400"/>
              </a:spcAft>
            </a:pPr>
            <a:r>
              <a:rPr sz="1350" b="1">
                <a:solidFill>
                  <a:srgbClr val="10B981"/>
                </a:solidFill>
                <a:latin typeface="Arial"/>
              </a:rPr>
              <a:t>Why does it work?</a:t>
            </a:r>
          </a:p>
        </p:txBody>
      </p:sp>
      <p:sp>
        <p:nvSpPr>
          <p:cNvPr id="19" name="TextBox 18"/>
          <p:cNvSpPr txBox="1"/>
          <p:nvPr/>
        </p:nvSpPr>
        <p:spPr>
          <a:xfrm>
            <a:off x="4572000" y="5138928"/>
            <a:ext cx="3044952" cy="731520"/>
          </a:xfrm>
          <a:prstGeom prst="rect">
            <a:avLst/>
          </a:prstGeom>
          <a:noFill/>
        </p:spPr>
        <p:txBody>
          <a:bodyPr wrap="square" anchor="t">
            <a:spAutoFit/>
          </a:bodyPr>
          <a:lstStyle/>
          <a:p>
            <a:pPr algn="l">
              <a:spcAft>
                <a:spcPts val="400"/>
              </a:spcAft>
            </a:pPr>
            <a:r>
              <a:rPr sz="1200" b="0">
                <a:solidFill>
                  <a:srgbClr val="5B6372"/>
                </a:solidFill>
                <a:latin typeface="Arial"/>
              </a:rPr>
              <a:t>Name the quantum principle the activity relies on.</a:t>
            </a:r>
          </a:p>
        </p:txBody>
      </p:sp>
      <p:sp>
        <p:nvSpPr>
          <p:cNvPr id="20" name="Rectangle 19"/>
          <p:cNvSpPr/>
          <p:nvPr/>
        </p:nvSpPr>
        <p:spPr>
          <a:xfrm>
            <a:off x="7964424" y="4480560"/>
            <a:ext cx="3447288" cy="1463040"/>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1" name="Rectangle 20"/>
          <p:cNvSpPr/>
          <p:nvPr/>
        </p:nvSpPr>
        <p:spPr>
          <a:xfrm>
            <a:off x="7964424" y="4480560"/>
            <a:ext cx="3447288" cy="82296"/>
          </a:xfrm>
          <a:prstGeom prst="rect">
            <a:avLst/>
          </a:prstGeom>
          <a:solidFill>
            <a:srgbClr val="7C3AE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2" name="TextBox 21"/>
          <p:cNvSpPr txBox="1"/>
          <p:nvPr/>
        </p:nvSpPr>
        <p:spPr>
          <a:xfrm>
            <a:off x="8165592" y="4663440"/>
            <a:ext cx="3044952" cy="457200"/>
          </a:xfrm>
          <a:prstGeom prst="rect">
            <a:avLst/>
          </a:prstGeom>
          <a:noFill/>
        </p:spPr>
        <p:txBody>
          <a:bodyPr wrap="square" anchor="t">
            <a:spAutoFit/>
          </a:bodyPr>
          <a:lstStyle/>
          <a:p>
            <a:pPr algn="l">
              <a:spcAft>
                <a:spcPts val="400"/>
              </a:spcAft>
            </a:pPr>
            <a:r>
              <a:rPr sz="1350" b="1">
                <a:solidFill>
                  <a:srgbClr val="7C3AED"/>
                </a:solidFill>
                <a:latin typeface="Arial"/>
              </a:rPr>
              <a:t>Where would you use it?</a:t>
            </a:r>
          </a:p>
        </p:txBody>
      </p:sp>
      <p:sp>
        <p:nvSpPr>
          <p:cNvPr id="23" name="TextBox 22"/>
          <p:cNvSpPr txBox="1"/>
          <p:nvPr/>
        </p:nvSpPr>
        <p:spPr>
          <a:xfrm>
            <a:off x="8165592" y="5138928"/>
            <a:ext cx="3044952" cy="731520"/>
          </a:xfrm>
          <a:prstGeom prst="rect">
            <a:avLst/>
          </a:prstGeom>
          <a:noFill/>
        </p:spPr>
        <p:txBody>
          <a:bodyPr wrap="square" anchor="t">
            <a:spAutoFit/>
          </a:bodyPr>
          <a:lstStyle/>
          <a:p>
            <a:pPr algn="l">
              <a:spcAft>
                <a:spcPts val="400"/>
              </a:spcAft>
            </a:pPr>
            <a:r>
              <a:rPr sz="1200" b="0">
                <a:solidFill>
                  <a:srgbClr val="5B6372"/>
                </a:solidFill>
                <a:latin typeface="Arial"/>
              </a:rPr>
              <a:t>Give one realistic application in your own field.</a:t>
            </a:r>
          </a:p>
        </p:txBody>
      </p:sp>
      <p:sp>
        <p:nvSpPr>
          <p:cNvPr id="24" name="TextBox 23"/>
          <p:cNvSpPr txBox="1"/>
          <p:nvPr/>
        </p:nvSpPr>
        <p:spPr>
          <a:xfrm>
            <a:off x="365760" y="6446520"/>
            <a:ext cx="6858000" cy="320040"/>
          </a:xfrm>
          <a:prstGeom prst="rect">
            <a:avLst/>
          </a:prstGeom>
          <a:noFill/>
        </p:spPr>
        <p:txBody>
          <a:bodyPr wrap="square" anchor="t">
            <a:spAutoFit/>
          </a:bodyPr>
          <a:lstStyle/>
          <a:p>
            <a:pPr algn="l">
              <a:spcAft>
                <a:spcPts val="400"/>
              </a:spcAft>
            </a:pPr>
            <a:r>
              <a:rPr sz="900" b="0">
                <a:solidFill>
                  <a:srgbClr val="5B6372"/>
                </a:solidFill>
                <a:latin typeface="Arial"/>
              </a:rPr>
              <a:t>Securing the Future with Quantum Computing and Cryptography  ·  TGS-2024043419</a:t>
            </a:r>
          </a:p>
        </p:txBody>
      </p:sp>
      <p:sp>
        <p:nvSpPr>
          <p:cNvPr id="25" name="TextBox 24"/>
          <p:cNvSpPr txBox="1"/>
          <p:nvPr/>
        </p:nvSpPr>
        <p:spPr>
          <a:xfrm>
            <a:off x="4572000" y="6446520"/>
            <a:ext cx="3017520" cy="320040"/>
          </a:xfrm>
          <a:prstGeom prst="rect">
            <a:avLst/>
          </a:prstGeom>
          <a:noFill/>
        </p:spPr>
        <p:txBody>
          <a:bodyPr wrap="square" anchor="t">
            <a:spAutoFit/>
          </a:bodyPr>
          <a:lstStyle/>
          <a:p>
            <a:pPr algn="ctr">
              <a:spcAft>
                <a:spcPts val="400"/>
              </a:spcAft>
            </a:pPr>
            <a:r>
              <a:rPr sz="900" b="0">
                <a:solidFill>
                  <a:srgbClr val="5B6372"/>
                </a:solidFill>
                <a:latin typeface="Arial"/>
              </a:rPr>
              <a:t>© 2026 Tertiary Infotech Academy Pte Ltd</a:t>
            </a:r>
          </a:p>
        </p:txBody>
      </p:sp>
      <p:sp>
        <p:nvSpPr>
          <p:cNvPr id="26" name="TextBox 25"/>
          <p:cNvSpPr txBox="1"/>
          <p:nvPr/>
        </p:nvSpPr>
        <p:spPr>
          <a:xfrm>
            <a:off x="11338560" y="6446520"/>
            <a:ext cx="548640" cy="320040"/>
          </a:xfrm>
          <a:prstGeom prst="rect">
            <a:avLst/>
          </a:prstGeom>
          <a:noFill/>
        </p:spPr>
        <p:txBody>
          <a:bodyPr wrap="square" anchor="t">
            <a:spAutoFit/>
          </a:bodyPr>
          <a:lstStyle/>
          <a:p>
            <a:pPr algn="r">
              <a:spcAft>
                <a:spcPts val="400"/>
              </a:spcAft>
            </a:pPr>
            <a:r>
              <a:rPr sz="900" b="0">
                <a:solidFill>
                  <a:srgbClr val="5B6372"/>
                </a:solidFill>
                <a:latin typeface="Arial"/>
              </a:rPr>
              <a:t>50</a:t>
            </a:r>
          </a:p>
        </p:txBody>
      </p:sp>
    </p:spTree>
  </p:cSld>
  <p:clrMapOvr>
    <a:masterClrMapping/>
  </p:clrMapOvr>
</p:sld>
</file>

<file path=ppt/slides/slide52.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256032" cy="1417320"/>
          </a:xfrm>
          <a:prstGeom prst="rect">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777240" y="457200"/>
            <a:ext cx="10607040" cy="365760"/>
          </a:xfrm>
          <a:prstGeom prst="rect">
            <a:avLst/>
          </a:prstGeom>
          <a:noFill/>
        </p:spPr>
        <p:txBody>
          <a:bodyPr wrap="square" anchor="t">
            <a:spAutoFit/>
          </a:bodyPr>
          <a:lstStyle/>
          <a:p>
            <a:pPr algn="l">
              <a:spcAft>
                <a:spcPts val="400"/>
              </a:spcAft>
            </a:pPr>
            <a:r>
              <a:rPr sz="1400" b="1">
                <a:solidFill>
                  <a:srgbClr val="1F6FEB"/>
                </a:solidFill>
                <a:latin typeface="Arial"/>
              </a:rPr>
              <a:t>TOPIC RECAP</a:t>
            </a:r>
          </a:p>
        </p:txBody>
      </p:sp>
      <p:sp>
        <p:nvSpPr>
          <p:cNvPr id="5" name="TextBox 4"/>
          <p:cNvSpPr txBox="1"/>
          <p:nvPr/>
        </p:nvSpPr>
        <p:spPr>
          <a:xfrm>
            <a:off x="777240" y="822960"/>
            <a:ext cx="10881360" cy="822960"/>
          </a:xfrm>
          <a:prstGeom prst="rect">
            <a:avLst/>
          </a:prstGeom>
          <a:noFill/>
        </p:spPr>
        <p:txBody>
          <a:bodyPr wrap="square" anchor="t">
            <a:spAutoFit/>
          </a:bodyPr>
          <a:lstStyle/>
          <a:p>
            <a:pPr algn="l">
              <a:spcAft>
                <a:spcPts val="400"/>
              </a:spcAft>
            </a:pPr>
            <a:r>
              <a:rPr sz="2900" b="1">
                <a:solidFill>
                  <a:srgbClr val="161B26"/>
                </a:solidFill>
                <a:latin typeface="Arial"/>
              </a:rPr>
              <a:t>Recap — Quantum Physics Fundamentals</a:t>
            </a:r>
          </a:p>
        </p:txBody>
      </p:sp>
      <p:sp>
        <p:nvSpPr>
          <p:cNvPr id="6" name="Rectangle 5"/>
          <p:cNvSpPr/>
          <p:nvPr/>
        </p:nvSpPr>
        <p:spPr>
          <a:xfrm>
            <a:off x="777240" y="1554480"/>
            <a:ext cx="10634472" cy="18288"/>
          </a:xfrm>
          <a:prstGeom prst="rect">
            <a:avLst/>
          </a:prstGeom>
          <a:solidFill>
            <a:srgbClr val="E2E8F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TextBox 6"/>
          <p:cNvSpPr txBox="1"/>
          <p:nvPr/>
        </p:nvSpPr>
        <p:spPr>
          <a:xfrm>
            <a:off x="777240" y="1783080"/>
            <a:ext cx="10607040" cy="4480560"/>
          </a:xfrm>
          <a:prstGeom prst="rect">
            <a:avLst/>
          </a:prstGeom>
          <a:noFill/>
        </p:spPr>
        <p:txBody>
          <a:bodyPr wrap="square">
            <a:spAutoFit/>
          </a:bodyPr>
          <a:lstStyle/>
          <a:p>
            <a:pPr>
              <a:spcAft>
                <a:spcPts val="1000"/>
              </a:spcAft>
            </a:pPr>
            <a:r>
              <a:rPr sz="1600">
                <a:solidFill>
                  <a:srgbClr val="161B26"/>
                </a:solidFill>
                <a:latin typeface="Arial"/>
              </a:rPr>
              <a:t>•  The five postulates</a:t>
            </a:r>
          </a:p>
          <a:p>
            <a:pPr>
              <a:spcAft>
                <a:spcPts val="1000"/>
              </a:spcAft>
            </a:pPr>
            <a:r>
              <a:rPr sz="1600">
                <a:solidFill>
                  <a:srgbClr val="161B26"/>
                </a:solidFill>
                <a:latin typeface="Arial"/>
              </a:rPr>
              <a:t>•  Hilbert space</a:t>
            </a:r>
          </a:p>
          <a:p>
            <a:pPr>
              <a:spcAft>
                <a:spcPts val="1000"/>
              </a:spcAft>
            </a:pPr>
            <a:r>
              <a:rPr sz="1600">
                <a:solidFill>
                  <a:srgbClr val="161B26"/>
                </a:solidFill>
                <a:latin typeface="Arial"/>
              </a:rPr>
              <a:t>•  Unitary operators</a:t>
            </a:r>
          </a:p>
          <a:p>
            <a:pPr>
              <a:spcAft>
                <a:spcPts val="1000"/>
              </a:spcAft>
            </a:pPr>
            <a:r>
              <a:rPr sz="1600">
                <a:solidFill>
                  <a:srgbClr val="161B26"/>
                </a:solidFill>
                <a:latin typeface="Arial"/>
              </a:rPr>
              <a:t>•  Hermitian operators</a:t>
            </a:r>
          </a:p>
          <a:p>
            <a:pPr>
              <a:spcAft>
                <a:spcPts val="1000"/>
              </a:spcAft>
            </a:pPr>
            <a:r>
              <a:rPr sz="1600">
                <a:solidFill>
                  <a:srgbClr val="161B26"/>
                </a:solidFill>
                <a:latin typeface="Arial"/>
              </a:rPr>
              <a:t>•  Dirac notation</a:t>
            </a:r>
          </a:p>
          <a:p>
            <a:pPr>
              <a:spcAft>
                <a:spcPts val="1000"/>
              </a:spcAft>
            </a:pPr>
            <a:r>
              <a:rPr sz="1600">
                <a:solidFill>
                  <a:srgbClr val="161B26"/>
                </a:solidFill>
                <a:latin typeface="Arial"/>
              </a:rPr>
              <a:t>•  Tensor products</a:t>
            </a:r>
          </a:p>
        </p:txBody>
      </p:sp>
      <p:sp>
        <p:nvSpPr>
          <p:cNvPr id="8" name="TextBox 7"/>
          <p:cNvSpPr txBox="1"/>
          <p:nvPr/>
        </p:nvSpPr>
        <p:spPr>
          <a:xfrm>
            <a:off x="365760" y="6446520"/>
            <a:ext cx="6858000" cy="320040"/>
          </a:xfrm>
          <a:prstGeom prst="rect">
            <a:avLst/>
          </a:prstGeom>
          <a:noFill/>
        </p:spPr>
        <p:txBody>
          <a:bodyPr wrap="square" anchor="t">
            <a:spAutoFit/>
          </a:bodyPr>
          <a:lstStyle/>
          <a:p>
            <a:pPr algn="l">
              <a:spcAft>
                <a:spcPts val="400"/>
              </a:spcAft>
            </a:pPr>
            <a:r>
              <a:rPr sz="900" b="0">
                <a:solidFill>
                  <a:srgbClr val="5B6372"/>
                </a:solidFill>
                <a:latin typeface="Arial"/>
              </a:rPr>
              <a:t>Securing the Future with Quantum Computing and Cryptography  ·  TGS-2024043419</a:t>
            </a:r>
          </a:p>
        </p:txBody>
      </p:sp>
      <p:sp>
        <p:nvSpPr>
          <p:cNvPr id="9" name="TextBox 8"/>
          <p:cNvSpPr txBox="1"/>
          <p:nvPr/>
        </p:nvSpPr>
        <p:spPr>
          <a:xfrm>
            <a:off x="4572000" y="6446520"/>
            <a:ext cx="3017520" cy="320040"/>
          </a:xfrm>
          <a:prstGeom prst="rect">
            <a:avLst/>
          </a:prstGeom>
          <a:noFill/>
        </p:spPr>
        <p:txBody>
          <a:bodyPr wrap="square" anchor="t">
            <a:spAutoFit/>
          </a:bodyPr>
          <a:lstStyle/>
          <a:p>
            <a:pPr algn="ctr">
              <a:spcAft>
                <a:spcPts val="400"/>
              </a:spcAft>
            </a:pPr>
            <a:r>
              <a:rPr sz="900" b="0">
                <a:solidFill>
                  <a:srgbClr val="5B6372"/>
                </a:solidFill>
                <a:latin typeface="Arial"/>
              </a:rPr>
              <a:t>© 2026 Tertiary Infotech Academy Pte Ltd</a:t>
            </a:r>
          </a:p>
        </p:txBody>
      </p:sp>
      <p:sp>
        <p:nvSpPr>
          <p:cNvPr id="10" name="TextBox 9"/>
          <p:cNvSpPr txBox="1"/>
          <p:nvPr/>
        </p:nvSpPr>
        <p:spPr>
          <a:xfrm>
            <a:off x="11338560" y="6446520"/>
            <a:ext cx="548640" cy="320040"/>
          </a:xfrm>
          <a:prstGeom prst="rect">
            <a:avLst/>
          </a:prstGeom>
          <a:noFill/>
        </p:spPr>
        <p:txBody>
          <a:bodyPr wrap="square" anchor="t">
            <a:spAutoFit/>
          </a:bodyPr>
          <a:lstStyle/>
          <a:p>
            <a:pPr algn="r">
              <a:spcAft>
                <a:spcPts val="400"/>
              </a:spcAft>
            </a:pPr>
            <a:r>
              <a:rPr sz="900" b="0">
                <a:solidFill>
                  <a:srgbClr val="5B6372"/>
                </a:solidFill>
                <a:latin typeface="Arial"/>
              </a:rPr>
              <a:t>51</a:t>
            </a:r>
          </a:p>
        </p:txBody>
      </p:sp>
    </p:spTree>
  </p:cSld>
  <p:clrMapOvr>
    <a:masterClrMapping/>
  </p:clrMapOvr>
</p:sld>
</file>

<file path=ppt/slides/slide53.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256032" cy="6858000"/>
          </a:xfrm>
          <a:prstGeom prst="rect">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Rectangle 3"/>
          <p:cNvSpPr/>
          <p:nvPr/>
        </p:nvSpPr>
        <p:spPr>
          <a:xfrm>
            <a:off x="777240" y="2286000"/>
            <a:ext cx="128016" cy="1828800"/>
          </a:xfrm>
          <a:prstGeom prst="rect">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TextBox 4"/>
          <p:cNvSpPr txBox="1"/>
          <p:nvPr/>
        </p:nvSpPr>
        <p:spPr>
          <a:xfrm>
            <a:off x="1143000" y="2331720"/>
            <a:ext cx="10058400" cy="548640"/>
          </a:xfrm>
          <a:prstGeom prst="rect">
            <a:avLst/>
          </a:prstGeom>
          <a:noFill/>
        </p:spPr>
        <p:txBody>
          <a:bodyPr wrap="square" anchor="t">
            <a:spAutoFit/>
          </a:bodyPr>
          <a:lstStyle/>
          <a:p>
            <a:pPr algn="l">
              <a:spcAft>
                <a:spcPts val="400"/>
              </a:spcAft>
            </a:pPr>
            <a:r>
              <a:rPr sz="1800" b="1">
                <a:solidFill>
                  <a:srgbClr val="1F6FEB"/>
                </a:solidFill>
                <a:latin typeface="Arial"/>
              </a:rPr>
              <a:t>TOPIC 02</a:t>
            </a:r>
          </a:p>
        </p:txBody>
      </p:sp>
      <p:sp>
        <p:nvSpPr>
          <p:cNvPr id="6" name="TextBox 5"/>
          <p:cNvSpPr txBox="1"/>
          <p:nvPr/>
        </p:nvSpPr>
        <p:spPr>
          <a:xfrm>
            <a:off x="1143000" y="2743200"/>
            <a:ext cx="9509760" cy="1463040"/>
          </a:xfrm>
          <a:prstGeom prst="rect">
            <a:avLst/>
          </a:prstGeom>
          <a:noFill/>
        </p:spPr>
        <p:txBody>
          <a:bodyPr wrap="square" anchor="t">
            <a:spAutoFit/>
          </a:bodyPr>
          <a:lstStyle/>
          <a:p>
            <a:pPr algn="l">
              <a:spcAft>
                <a:spcPts val="400"/>
              </a:spcAft>
            </a:pPr>
            <a:r>
              <a:rPr sz="4000" b="1">
                <a:solidFill>
                  <a:srgbClr val="161B26"/>
                </a:solidFill>
                <a:latin typeface="Arial"/>
              </a:rPr>
              <a:t>Introduction to Quantum Computing Systems</a:t>
            </a:r>
          </a:p>
        </p:txBody>
      </p:sp>
      <p:sp>
        <p:nvSpPr>
          <p:cNvPr id="7" name="TextBox 6"/>
          <p:cNvSpPr txBox="1"/>
          <p:nvPr/>
        </p:nvSpPr>
        <p:spPr>
          <a:xfrm>
            <a:off x="1161288" y="4251960"/>
            <a:ext cx="9692640" cy="822960"/>
          </a:xfrm>
          <a:prstGeom prst="rect">
            <a:avLst/>
          </a:prstGeom>
          <a:noFill/>
        </p:spPr>
        <p:txBody>
          <a:bodyPr wrap="square" anchor="t">
            <a:spAutoFit/>
          </a:bodyPr>
          <a:lstStyle/>
          <a:p>
            <a:pPr algn="l">
              <a:spcAft>
                <a:spcPts val="400"/>
              </a:spcAft>
            </a:pPr>
            <a:r>
              <a:rPr sz="1500" b="0">
                <a:solidFill>
                  <a:srgbClr val="5B6372"/>
                </a:solidFill>
                <a:latin typeface="Arial"/>
              </a:rPr>
              <a:t>Overview of quantum computers · Commercial systems · Superposition and Entanglement</a:t>
            </a:r>
          </a:p>
        </p:txBody>
      </p:sp>
      <p:sp>
        <p:nvSpPr>
          <p:cNvPr id="8" name="TextBox 7"/>
          <p:cNvSpPr txBox="1"/>
          <p:nvPr/>
        </p:nvSpPr>
        <p:spPr>
          <a:xfrm>
            <a:off x="9144000" y="640080"/>
            <a:ext cx="2560320" cy="1463040"/>
          </a:xfrm>
          <a:prstGeom prst="rect">
            <a:avLst/>
          </a:prstGeom>
          <a:noFill/>
        </p:spPr>
        <p:txBody>
          <a:bodyPr wrap="square" anchor="t">
            <a:spAutoFit/>
          </a:bodyPr>
          <a:lstStyle/>
          <a:p>
            <a:pPr algn="r">
              <a:spcAft>
                <a:spcPts val="400"/>
              </a:spcAft>
            </a:pPr>
            <a:r>
              <a:rPr sz="7200" b="1">
                <a:solidFill>
                  <a:srgbClr val="E2E8F0"/>
                </a:solidFill>
                <a:latin typeface="Arial"/>
              </a:rPr>
              <a:t>02</a:t>
            </a:r>
          </a:p>
        </p:txBody>
      </p:sp>
      <p:sp>
        <p:nvSpPr>
          <p:cNvPr id="9" name="TextBox 8"/>
          <p:cNvSpPr txBox="1"/>
          <p:nvPr/>
        </p:nvSpPr>
        <p:spPr>
          <a:xfrm>
            <a:off x="365760" y="6446520"/>
            <a:ext cx="6858000" cy="320040"/>
          </a:xfrm>
          <a:prstGeom prst="rect">
            <a:avLst/>
          </a:prstGeom>
          <a:noFill/>
        </p:spPr>
        <p:txBody>
          <a:bodyPr wrap="square" anchor="t">
            <a:spAutoFit/>
          </a:bodyPr>
          <a:lstStyle/>
          <a:p>
            <a:pPr algn="l">
              <a:spcAft>
                <a:spcPts val="400"/>
              </a:spcAft>
            </a:pPr>
            <a:r>
              <a:rPr sz="900" b="0">
                <a:solidFill>
                  <a:srgbClr val="5B6372"/>
                </a:solidFill>
                <a:latin typeface="Arial"/>
              </a:rPr>
              <a:t>Securing the Future with Quantum Computing and Cryptography  ·  TGS-2024043419</a:t>
            </a:r>
          </a:p>
        </p:txBody>
      </p:sp>
      <p:sp>
        <p:nvSpPr>
          <p:cNvPr id="10" name="TextBox 9"/>
          <p:cNvSpPr txBox="1"/>
          <p:nvPr/>
        </p:nvSpPr>
        <p:spPr>
          <a:xfrm>
            <a:off x="4572000" y="6446520"/>
            <a:ext cx="3017520" cy="320040"/>
          </a:xfrm>
          <a:prstGeom prst="rect">
            <a:avLst/>
          </a:prstGeom>
          <a:noFill/>
        </p:spPr>
        <p:txBody>
          <a:bodyPr wrap="square" anchor="t">
            <a:spAutoFit/>
          </a:bodyPr>
          <a:lstStyle/>
          <a:p>
            <a:pPr algn="ctr">
              <a:spcAft>
                <a:spcPts val="400"/>
              </a:spcAft>
            </a:pPr>
            <a:r>
              <a:rPr sz="900" b="0">
                <a:solidFill>
                  <a:srgbClr val="5B6372"/>
                </a:solidFill>
                <a:latin typeface="Arial"/>
              </a:rPr>
              <a:t>© 2026 Tertiary Infotech Academy Pte Ltd</a:t>
            </a:r>
          </a:p>
        </p:txBody>
      </p:sp>
      <p:sp>
        <p:nvSpPr>
          <p:cNvPr id="11" name="TextBox 10"/>
          <p:cNvSpPr txBox="1"/>
          <p:nvPr/>
        </p:nvSpPr>
        <p:spPr>
          <a:xfrm>
            <a:off x="11338560" y="6446520"/>
            <a:ext cx="548640" cy="320040"/>
          </a:xfrm>
          <a:prstGeom prst="rect">
            <a:avLst/>
          </a:prstGeom>
          <a:noFill/>
        </p:spPr>
        <p:txBody>
          <a:bodyPr wrap="square" anchor="t">
            <a:spAutoFit/>
          </a:bodyPr>
          <a:lstStyle/>
          <a:p>
            <a:pPr algn="r">
              <a:spcAft>
                <a:spcPts val="400"/>
              </a:spcAft>
            </a:pPr>
            <a:r>
              <a:rPr sz="900" b="0">
                <a:solidFill>
                  <a:srgbClr val="5B6372"/>
                </a:solidFill>
                <a:latin typeface="Arial"/>
              </a:rPr>
              <a:t>52</a:t>
            </a:r>
          </a:p>
        </p:txBody>
      </p:sp>
    </p:spTree>
  </p:cSld>
  <p:clrMapOvr>
    <a:masterClrMapping/>
  </p:clrMapOvr>
</p:sld>
</file>

<file path=ppt/slides/slide54.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256032" cy="1417320"/>
          </a:xfrm>
          <a:prstGeom prst="rect">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777240" y="457200"/>
            <a:ext cx="10607040" cy="365760"/>
          </a:xfrm>
          <a:prstGeom prst="rect">
            <a:avLst/>
          </a:prstGeom>
          <a:noFill/>
        </p:spPr>
        <p:txBody>
          <a:bodyPr wrap="square" anchor="t">
            <a:spAutoFit/>
          </a:bodyPr>
          <a:lstStyle/>
          <a:p>
            <a:pPr algn="l">
              <a:spcAft>
                <a:spcPts val="400"/>
              </a:spcAft>
            </a:pPr>
            <a:r>
              <a:rPr sz="1400" b="1">
                <a:solidFill>
                  <a:srgbClr val="1F6FEB"/>
                </a:solidFill>
                <a:latin typeface="Arial"/>
              </a:rPr>
              <a:t>MAPS TO LO2, LO4</a:t>
            </a:r>
          </a:p>
        </p:txBody>
      </p:sp>
      <p:sp>
        <p:nvSpPr>
          <p:cNvPr id="5" name="TextBox 4"/>
          <p:cNvSpPr txBox="1"/>
          <p:nvPr/>
        </p:nvSpPr>
        <p:spPr>
          <a:xfrm>
            <a:off x="777240" y="822960"/>
            <a:ext cx="10881360" cy="822960"/>
          </a:xfrm>
          <a:prstGeom prst="rect">
            <a:avLst/>
          </a:prstGeom>
          <a:noFill/>
        </p:spPr>
        <p:txBody>
          <a:bodyPr wrap="square" anchor="t">
            <a:spAutoFit/>
          </a:bodyPr>
          <a:lstStyle/>
          <a:p>
            <a:pPr algn="l">
              <a:spcAft>
                <a:spcPts val="400"/>
              </a:spcAft>
            </a:pPr>
            <a:r>
              <a:rPr sz="2900" b="1">
                <a:solidFill>
                  <a:srgbClr val="161B26"/>
                </a:solidFill>
                <a:latin typeface="Arial"/>
              </a:rPr>
              <a:t>Key Concepts — Introduction to Quantum Computing Systems</a:t>
            </a:r>
          </a:p>
        </p:txBody>
      </p:sp>
      <p:sp>
        <p:nvSpPr>
          <p:cNvPr id="6" name="Rectangle 5"/>
          <p:cNvSpPr/>
          <p:nvPr/>
        </p:nvSpPr>
        <p:spPr>
          <a:xfrm>
            <a:off x="777240" y="1554480"/>
            <a:ext cx="10634472" cy="18288"/>
          </a:xfrm>
          <a:prstGeom prst="rect">
            <a:avLst/>
          </a:prstGeom>
          <a:solidFill>
            <a:srgbClr val="E2E8F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Rectangle 6"/>
          <p:cNvSpPr/>
          <p:nvPr/>
        </p:nvSpPr>
        <p:spPr>
          <a:xfrm>
            <a:off x="777240" y="1783080"/>
            <a:ext cx="5180076" cy="1298448"/>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Rectangle 7"/>
          <p:cNvSpPr/>
          <p:nvPr/>
        </p:nvSpPr>
        <p:spPr>
          <a:xfrm>
            <a:off x="777240" y="1783080"/>
            <a:ext cx="91440" cy="1298448"/>
          </a:xfrm>
          <a:prstGeom prst="rect">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Oval 8"/>
          <p:cNvSpPr/>
          <p:nvPr/>
        </p:nvSpPr>
        <p:spPr>
          <a:xfrm>
            <a:off x="1033272" y="2157984"/>
            <a:ext cx="548640" cy="548640"/>
          </a:xfrm>
          <a:prstGeom prst="ellipse">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TextBox 9"/>
          <p:cNvSpPr txBox="1"/>
          <p:nvPr/>
        </p:nvSpPr>
        <p:spPr>
          <a:xfrm>
            <a:off x="1033272" y="2157984"/>
            <a:ext cx="548640" cy="548640"/>
          </a:xfrm>
          <a:prstGeom prst="rect">
            <a:avLst/>
          </a:prstGeom>
          <a:noFill/>
        </p:spPr>
        <p:txBody>
          <a:bodyPr wrap="square" anchor="ctr">
            <a:spAutoFit/>
          </a:bodyPr>
          <a:lstStyle/>
          <a:p>
            <a:pPr algn="ctr">
              <a:spcAft>
                <a:spcPts val="400"/>
              </a:spcAft>
            </a:pPr>
            <a:r>
              <a:rPr sz="1800" b="1">
                <a:solidFill>
                  <a:srgbClr val="FFFFFF"/>
                </a:solidFill>
                <a:latin typeface="Arial"/>
              </a:rPr>
              <a:t>1</a:t>
            </a:r>
          </a:p>
        </p:txBody>
      </p:sp>
      <p:sp>
        <p:nvSpPr>
          <p:cNvPr id="11" name="TextBox 10"/>
          <p:cNvSpPr txBox="1"/>
          <p:nvPr/>
        </p:nvSpPr>
        <p:spPr>
          <a:xfrm>
            <a:off x="1764792" y="1892808"/>
            <a:ext cx="3973068" cy="1115568"/>
          </a:xfrm>
          <a:prstGeom prst="rect">
            <a:avLst/>
          </a:prstGeom>
          <a:noFill/>
        </p:spPr>
        <p:txBody>
          <a:bodyPr wrap="square" anchor="ctr">
            <a:spAutoFit/>
          </a:bodyPr>
          <a:lstStyle/>
          <a:p>
            <a:pPr algn="l">
              <a:spcAft>
                <a:spcPts val="300"/>
              </a:spcAft>
            </a:pPr>
            <a:r>
              <a:rPr sz="1450" b="1">
                <a:solidFill>
                  <a:srgbClr val="161B26"/>
                </a:solidFill>
                <a:latin typeface="Arial"/>
              </a:rPr>
              <a:t>Qubit vs classical bit</a:t>
            </a:r>
          </a:p>
          <a:p>
            <a:pPr algn="l">
              <a:spcAft>
                <a:spcPts val="300"/>
              </a:spcAft>
            </a:pPr>
            <a:r>
              <a:rPr sz="1100" b="0">
                <a:solidFill>
                  <a:srgbClr val="5B6372"/>
                </a:solidFill>
                <a:latin typeface="Arial"/>
              </a:rPr>
              <a:t>A bit is 0 or 1; a qubit is α|0⟩ + β|1⟩ with |α|² + |β|² = 1, allowing superposition of both values.</a:t>
            </a:r>
          </a:p>
        </p:txBody>
      </p:sp>
      <p:sp>
        <p:nvSpPr>
          <p:cNvPr id="12" name="Rectangle 11"/>
          <p:cNvSpPr/>
          <p:nvPr/>
        </p:nvSpPr>
        <p:spPr>
          <a:xfrm>
            <a:off x="6231636" y="1783080"/>
            <a:ext cx="5180076" cy="1298448"/>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 name="Rectangle 12"/>
          <p:cNvSpPr/>
          <p:nvPr/>
        </p:nvSpPr>
        <p:spPr>
          <a:xfrm>
            <a:off x="6231636" y="1783080"/>
            <a:ext cx="91440" cy="1298448"/>
          </a:xfrm>
          <a:prstGeom prst="rect">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 name="Oval 13"/>
          <p:cNvSpPr/>
          <p:nvPr/>
        </p:nvSpPr>
        <p:spPr>
          <a:xfrm>
            <a:off x="6487668" y="2157984"/>
            <a:ext cx="548640" cy="548640"/>
          </a:xfrm>
          <a:prstGeom prst="ellipse">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5" name="TextBox 14"/>
          <p:cNvSpPr txBox="1"/>
          <p:nvPr/>
        </p:nvSpPr>
        <p:spPr>
          <a:xfrm>
            <a:off x="6487668" y="2157984"/>
            <a:ext cx="548640" cy="548640"/>
          </a:xfrm>
          <a:prstGeom prst="rect">
            <a:avLst/>
          </a:prstGeom>
          <a:noFill/>
        </p:spPr>
        <p:txBody>
          <a:bodyPr wrap="square" anchor="ctr">
            <a:spAutoFit/>
          </a:bodyPr>
          <a:lstStyle/>
          <a:p>
            <a:pPr algn="ctr">
              <a:spcAft>
                <a:spcPts val="400"/>
              </a:spcAft>
            </a:pPr>
            <a:r>
              <a:rPr sz="1800" b="1">
                <a:solidFill>
                  <a:srgbClr val="FFFFFF"/>
                </a:solidFill>
                <a:latin typeface="Arial"/>
              </a:rPr>
              <a:t>2</a:t>
            </a:r>
          </a:p>
        </p:txBody>
      </p:sp>
      <p:sp>
        <p:nvSpPr>
          <p:cNvPr id="16" name="TextBox 15"/>
          <p:cNvSpPr txBox="1"/>
          <p:nvPr/>
        </p:nvSpPr>
        <p:spPr>
          <a:xfrm>
            <a:off x="7219188" y="1892808"/>
            <a:ext cx="3973068" cy="1115568"/>
          </a:xfrm>
          <a:prstGeom prst="rect">
            <a:avLst/>
          </a:prstGeom>
          <a:noFill/>
        </p:spPr>
        <p:txBody>
          <a:bodyPr wrap="square" anchor="ctr">
            <a:spAutoFit/>
          </a:bodyPr>
          <a:lstStyle/>
          <a:p>
            <a:pPr algn="l">
              <a:spcAft>
                <a:spcPts val="300"/>
              </a:spcAft>
            </a:pPr>
            <a:r>
              <a:rPr sz="1450" b="1">
                <a:solidFill>
                  <a:srgbClr val="161B26"/>
                </a:solidFill>
                <a:latin typeface="Arial"/>
              </a:rPr>
              <a:t>Bloch sphere</a:t>
            </a:r>
          </a:p>
          <a:p>
            <a:pPr algn="l">
              <a:spcAft>
                <a:spcPts val="300"/>
              </a:spcAft>
            </a:pPr>
            <a:r>
              <a:rPr sz="1100" b="0">
                <a:solidFill>
                  <a:srgbClr val="5B6372"/>
                </a:solidFill>
                <a:latin typeface="Arial"/>
              </a:rPr>
              <a:t>Every pure single-qubit state maps to a point on the unit sphere — the standard geometric picture of qubit state and rotation.</a:t>
            </a:r>
          </a:p>
        </p:txBody>
      </p:sp>
      <p:sp>
        <p:nvSpPr>
          <p:cNvPr id="17" name="Rectangle 16"/>
          <p:cNvSpPr/>
          <p:nvPr/>
        </p:nvSpPr>
        <p:spPr>
          <a:xfrm>
            <a:off x="777240" y="3319272"/>
            <a:ext cx="5180076" cy="1298448"/>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8" name="Rectangle 17"/>
          <p:cNvSpPr/>
          <p:nvPr/>
        </p:nvSpPr>
        <p:spPr>
          <a:xfrm>
            <a:off x="777240" y="3319272"/>
            <a:ext cx="91440" cy="1298448"/>
          </a:xfrm>
          <a:prstGeom prst="rect">
            <a:avLst/>
          </a:prstGeom>
          <a:solidFill>
            <a:srgbClr val="7C3AE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9" name="Oval 18"/>
          <p:cNvSpPr/>
          <p:nvPr/>
        </p:nvSpPr>
        <p:spPr>
          <a:xfrm>
            <a:off x="1033272" y="3694176"/>
            <a:ext cx="548640" cy="548640"/>
          </a:xfrm>
          <a:prstGeom prst="ellipse">
            <a:avLst/>
          </a:prstGeom>
          <a:solidFill>
            <a:srgbClr val="7C3AE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0" name="TextBox 19"/>
          <p:cNvSpPr txBox="1"/>
          <p:nvPr/>
        </p:nvSpPr>
        <p:spPr>
          <a:xfrm>
            <a:off x="1033272" y="3694176"/>
            <a:ext cx="548640" cy="548640"/>
          </a:xfrm>
          <a:prstGeom prst="rect">
            <a:avLst/>
          </a:prstGeom>
          <a:noFill/>
        </p:spPr>
        <p:txBody>
          <a:bodyPr wrap="square" anchor="ctr">
            <a:spAutoFit/>
          </a:bodyPr>
          <a:lstStyle/>
          <a:p>
            <a:pPr algn="ctr">
              <a:spcAft>
                <a:spcPts val="400"/>
              </a:spcAft>
            </a:pPr>
            <a:r>
              <a:rPr sz="1800" b="1">
                <a:solidFill>
                  <a:srgbClr val="FFFFFF"/>
                </a:solidFill>
                <a:latin typeface="Arial"/>
              </a:rPr>
              <a:t>3</a:t>
            </a:r>
          </a:p>
        </p:txBody>
      </p:sp>
      <p:sp>
        <p:nvSpPr>
          <p:cNvPr id="21" name="TextBox 20"/>
          <p:cNvSpPr txBox="1"/>
          <p:nvPr/>
        </p:nvSpPr>
        <p:spPr>
          <a:xfrm>
            <a:off x="1764792" y="3429000"/>
            <a:ext cx="3973068" cy="1115568"/>
          </a:xfrm>
          <a:prstGeom prst="rect">
            <a:avLst/>
          </a:prstGeom>
          <a:noFill/>
        </p:spPr>
        <p:txBody>
          <a:bodyPr wrap="square" anchor="ctr">
            <a:spAutoFit/>
          </a:bodyPr>
          <a:lstStyle/>
          <a:p>
            <a:pPr algn="l">
              <a:spcAft>
                <a:spcPts val="300"/>
              </a:spcAft>
            </a:pPr>
            <a:r>
              <a:rPr sz="1450" b="1">
                <a:solidFill>
                  <a:srgbClr val="161B26"/>
                </a:solidFill>
                <a:latin typeface="Arial"/>
              </a:rPr>
              <a:t>Physical qubits</a:t>
            </a:r>
          </a:p>
          <a:p>
            <a:pPr algn="l">
              <a:spcAft>
                <a:spcPts val="300"/>
              </a:spcAft>
            </a:pPr>
            <a:r>
              <a:rPr sz="1100" b="0">
                <a:solidFill>
                  <a:srgbClr val="5B6372"/>
                </a:solidFill>
                <a:latin typeface="Arial"/>
              </a:rPr>
              <a:t>Superconducting (Josephson junction), trapped-ion and topological qubits trade off speed, coherence time and connectivity.</a:t>
            </a:r>
          </a:p>
        </p:txBody>
      </p:sp>
      <p:sp>
        <p:nvSpPr>
          <p:cNvPr id="22" name="Rectangle 21"/>
          <p:cNvSpPr/>
          <p:nvPr/>
        </p:nvSpPr>
        <p:spPr>
          <a:xfrm>
            <a:off x="6231636" y="3319272"/>
            <a:ext cx="5180076" cy="1298448"/>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3" name="Rectangle 22"/>
          <p:cNvSpPr/>
          <p:nvPr/>
        </p:nvSpPr>
        <p:spPr>
          <a:xfrm>
            <a:off x="6231636" y="3319272"/>
            <a:ext cx="91440" cy="1298448"/>
          </a:xfrm>
          <a:prstGeom prst="rect">
            <a:avLst/>
          </a:prstGeom>
          <a:solidFill>
            <a:srgbClr val="F59E0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4" name="Oval 23"/>
          <p:cNvSpPr/>
          <p:nvPr/>
        </p:nvSpPr>
        <p:spPr>
          <a:xfrm>
            <a:off x="6487668" y="3694176"/>
            <a:ext cx="548640" cy="548640"/>
          </a:xfrm>
          <a:prstGeom prst="ellipse">
            <a:avLst/>
          </a:prstGeom>
          <a:solidFill>
            <a:srgbClr val="F59E0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5" name="TextBox 24"/>
          <p:cNvSpPr txBox="1"/>
          <p:nvPr/>
        </p:nvSpPr>
        <p:spPr>
          <a:xfrm>
            <a:off x="6487668" y="3694176"/>
            <a:ext cx="548640" cy="548640"/>
          </a:xfrm>
          <a:prstGeom prst="rect">
            <a:avLst/>
          </a:prstGeom>
          <a:noFill/>
        </p:spPr>
        <p:txBody>
          <a:bodyPr wrap="square" anchor="ctr">
            <a:spAutoFit/>
          </a:bodyPr>
          <a:lstStyle/>
          <a:p>
            <a:pPr algn="ctr">
              <a:spcAft>
                <a:spcPts val="400"/>
              </a:spcAft>
            </a:pPr>
            <a:r>
              <a:rPr sz="1800" b="1">
                <a:solidFill>
                  <a:srgbClr val="FFFFFF"/>
                </a:solidFill>
                <a:latin typeface="Arial"/>
              </a:rPr>
              <a:t>4</a:t>
            </a:r>
          </a:p>
        </p:txBody>
      </p:sp>
      <p:sp>
        <p:nvSpPr>
          <p:cNvPr id="26" name="TextBox 25"/>
          <p:cNvSpPr txBox="1"/>
          <p:nvPr/>
        </p:nvSpPr>
        <p:spPr>
          <a:xfrm>
            <a:off x="7219188" y="3429000"/>
            <a:ext cx="3973068" cy="1115568"/>
          </a:xfrm>
          <a:prstGeom prst="rect">
            <a:avLst/>
          </a:prstGeom>
          <a:noFill/>
        </p:spPr>
        <p:txBody>
          <a:bodyPr wrap="square" anchor="ctr">
            <a:spAutoFit/>
          </a:bodyPr>
          <a:lstStyle/>
          <a:p>
            <a:pPr algn="l">
              <a:spcAft>
                <a:spcPts val="300"/>
              </a:spcAft>
            </a:pPr>
            <a:r>
              <a:rPr sz="1450" b="1">
                <a:solidFill>
                  <a:srgbClr val="161B26"/>
                </a:solidFill>
                <a:latin typeface="Arial"/>
              </a:rPr>
              <a:t>Commercial platforms</a:t>
            </a:r>
          </a:p>
          <a:p>
            <a:pPr algn="l">
              <a:spcAft>
                <a:spcPts val="300"/>
              </a:spcAft>
            </a:pPr>
            <a:r>
              <a:rPr sz="1100" b="0">
                <a:solidFill>
                  <a:srgbClr val="5B6372"/>
                </a:solidFill>
                <a:latin typeface="Arial"/>
              </a:rPr>
              <a:t>IBM Quantum, Google, IonQ, Rigetti and D-Wave offer cloud access to real quantum processors today.</a:t>
            </a:r>
          </a:p>
        </p:txBody>
      </p:sp>
      <p:sp>
        <p:nvSpPr>
          <p:cNvPr id="27" name="Rectangle 26"/>
          <p:cNvSpPr/>
          <p:nvPr/>
        </p:nvSpPr>
        <p:spPr>
          <a:xfrm>
            <a:off x="777240" y="4855464"/>
            <a:ext cx="5180076" cy="1298448"/>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8" name="Rectangle 27"/>
          <p:cNvSpPr/>
          <p:nvPr/>
        </p:nvSpPr>
        <p:spPr>
          <a:xfrm>
            <a:off x="777240" y="4855464"/>
            <a:ext cx="91440" cy="1298448"/>
          </a:xfrm>
          <a:prstGeom prst="rect">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9" name="Oval 28"/>
          <p:cNvSpPr/>
          <p:nvPr/>
        </p:nvSpPr>
        <p:spPr>
          <a:xfrm>
            <a:off x="1033272" y="5230368"/>
            <a:ext cx="548640" cy="548640"/>
          </a:xfrm>
          <a:prstGeom prst="ellipse">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0" name="TextBox 29"/>
          <p:cNvSpPr txBox="1"/>
          <p:nvPr/>
        </p:nvSpPr>
        <p:spPr>
          <a:xfrm>
            <a:off x="1033272" y="5230368"/>
            <a:ext cx="548640" cy="548640"/>
          </a:xfrm>
          <a:prstGeom prst="rect">
            <a:avLst/>
          </a:prstGeom>
          <a:noFill/>
        </p:spPr>
        <p:txBody>
          <a:bodyPr wrap="square" anchor="ctr">
            <a:spAutoFit/>
          </a:bodyPr>
          <a:lstStyle/>
          <a:p>
            <a:pPr algn="ctr">
              <a:spcAft>
                <a:spcPts val="400"/>
              </a:spcAft>
            </a:pPr>
            <a:r>
              <a:rPr sz="1800" b="1">
                <a:solidFill>
                  <a:srgbClr val="FFFFFF"/>
                </a:solidFill>
                <a:latin typeface="Arial"/>
              </a:rPr>
              <a:t>5</a:t>
            </a:r>
          </a:p>
        </p:txBody>
      </p:sp>
      <p:sp>
        <p:nvSpPr>
          <p:cNvPr id="31" name="TextBox 30"/>
          <p:cNvSpPr txBox="1"/>
          <p:nvPr/>
        </p:nvSpPr>
        <p:spPr>
          <a:xfrm>
            <a:off x="1764792" y="4965192"/>
            <a:ext cx="3973068" cy="1115568"/>
          </a:xfrm>
          <a:prstGeom prst="rect">
            <a:avLst/>
          </a:prstGeom>
          <a:noFill/>
        </p:spPr>
        <p:txBody>
          <a:bodyPr wrap="square" anchor="ctr">
            <a:spAutoFit/>
          </a:bodyPr>
          <a:lstStyle/>
          <a:p>
            <a:pPr algn="l">
              <a:spcAft>
                <a:spcPts val="300"/>
              </a:spcAft>
            </a:pPr>
            <a:r>
              <a:rPr sz="1450" b="1">
                <a:solidFill>
                  <a:srgbClr val="161B26"/>
                </a:solidFill>
                <a:latin typeface="Arial"/>
              </a:rPr>
              <a:t>Superposition</a:t>
            </a:r>
          </a:p>
          <a:p>
            <a:pPr algn="l">
              <a:spcAft>
                <a:spcPts val="300"/>
              </a:spcAft>
            </a:pPr>
            <a:r>
              <a:rPr sz="1100" b="0">
                <a:solidFill>
                  <a:srgbClr val="5B6372"/>
                </a:solidFill>
                <a:latin typeface="Arial"/>
              </a:rPr>
              <a:t>A quantum register of n qubits holds a superposition of all 2ⁿ basis states simultaneously — the source of quantum parallelism.</a:t>
            </a:r>
          </a:p>
        </p:txBody>
      </p:sp>
      <p:sp>
        <p:nvSpPr>
          <p:cNvPr id="32" name="Rectangle 31"/>
          <p:cNvSpPr/>
          <p:nvPr/>
        </p:nvSpPr>
        <p:spPr>
          <a:xfrm>
            <a:off x="6231636" y="4855464"/>
            <a:ext cx="5180076" cy="1298448"/>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3" name="Rectangle 32"/>
          <p:cNvSpPr/>
          <p:nvPr/>
        </p:nvSpPr>
        <p:spPr>
          <a:xfrm>
            <a:off x="6231636" y="4855464"/>
            <a:ext cx="91440" cy="1298448"/>
          </a:xfrm>
          <a:prstGeom prst="rect">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4" name="Oval 33"/>
          <p:cNvSpPr/>
          <p:nvPr/>
        </p:nvSpPr>
        <p:spPr>
          <a:xfrm>
            <a:off x="6487668" y="5230368"/>
            <a:ext cx="548640" cy="548640"/>
          </a:xfrm>
          <a:prstGeom prst="ellipse">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5" name="TextBox 34"/>
          <p:cNvSpPr txBox="1"/>
          <p:nvPr/>
        </p:nvSpPr>
        <p:spPr>
          <a:xfrm>
            <a:off x="6487668" y="5230368"/>
            <a:ext cx="548640" cy="548640"/>
          </a:xfrm>
          <a:prstGeom prst="rect">
            <a:avLst/>
          </a:prstGeom>
          <a:noFill/>
        </p:spPr>
        <p:txBody>
          <a:bodyPr wrap="square" anchor="ctr">
            <a:spAutoFit/>
          </a:bodyPr>
          <a:lstStyle/>
          <a:p>
            <a:pPr algn="ctr">
              <a:spcAft>
                <a:spcPts val="400"/>
              </a:spcAft>
            </a:pPr>
            <a:r>
              <a:rPr sz="1800" b="1">
                <a:solidFill>
                  <a:srgbClr val="FFFFFF"/>
                </a:solidFill>
                <a:latin typeface="Arial"/>
              </a:rPr>
              <a:t>6</a:t>
            </a:r>
          </a:p>
        </p:txBody>
      </p:sp>
      <p:sp>
        <p:nvSpPr>
          <p:cNvPr id="36" name="TextBox 35"/>
          <p:cNvSpPr txBox="1"/>
          <p:nvPr/>
        </p:nvSpPr>
        <p:spPr>
          <a:xfrm>
            <a:off x="7219188" y="4965192"/>
            <a:ext cx="3973068" cy="1115568"/>
          </a:xfrm>
          <a:prstGeom prst="rect">
            <a:avLst/>
          </a:prstGeom>
          <a:noFill/>
        </p:spPr>
        <p:txBody>
          <a:bodyPr wrap="square" anchor="ctr">
            <a:spAutoFit/>
          </a:bodyPr>
          <a:lstStyle/>
          <a:p>
            <a:pPr algn="l">
              <a:spcAft>
                <a:spcPts val="300"/>
              </a:spcAft>
            </a:pPr>
            <a:r>
              <a:rPr sz="1450" b="1">
                <a:solidFill>
                  <a:srgbClr val="161B26"/>
                </a:solidFill>
                <a:latin typeface="Arial"/>
              </a:rPr>
              <a:t>Entanglement</a:t>
            </a:r>
          </a:p>
          <a:p>
            <a:pPr algn="l">
              <a:spcAft>
                <a:spcPts val="300"/>
              </a:spcAft>
            </a:pPr>
            <a:r>
              <a:rPr sz="1100" b="0">
                <a:solidFill>
                  <a:srgbClr val="5B6372"/>
                </a:solidFill>
                <a:latin typeface="Arial"/>
              </a:rPr>
              <a:t>Entangled states cannot be written as a product of single-qubit states; measuring one qubit instantly correlates with the other.</a:t>
            </a:r>
          </a:p>
        </p:txBody>
      </p:sp>
      <p:sp>
        <p:nvSpPr>
          <p:cNvPr id="37" name="TextBox 36"/>
          <p:cNvSpPr txBox="1"/>
          <p:nvPr/>
        </p:nvSpPr>
        <p:spPr>
          <a:xfrm>
            <a:off x="365760" y="6446520"/>
            <a:ext cx="6858000" cy="320040"/>
          </a:xfrm>
          <a:prstGeom prst="rect">
            <a:avLst/>
          </a:prstGeom>
          <a:noFill/>
        </p:spPr>
        <p:txBody>
          <a:bodyPr wrap="square" anchor="t">
            <a:spAutoFit/>
          </a:bodyPr>
          <a:lstStyle/>
          <a:p>
            <a:pPr algn="l">
              <a:spcAft>
                <a:spcPts val="400"/>
              </a:spcAft>
            </a:pPr>
            <a:r>
              <a:rPr sz="900" b="0">
                <a:solidFill>
                  <a:srgbClr val="5B6372"/>
                </a:solidFill>
                <a:latin typeface="Arial"/>
              </a:rPr>
              <a:t>Securing the Future with Quantum Computing and Cryptography  ·  TGS-2024043419</a:t>
            </a:r>
          </a:p>
        </p:txBody>
      </p:sp>
      <p:sp>
        <p:nvSpPr>
          <p:cNvPr id="38" name="TextBox 37"/>
          <p:cNvSpPr txBox="1"/>
          <p:nvPr/>
        </p:nvSpPr>
        <p:spPr>
          <a:xfrm>
            <a:off x="4572000" y="6446520"/>
            <a:ext cx="3017520" cy="320040"/>
          </a:xfrm>
          <a:prstGeom prst="rect">
            <a:avLst/>
          </a:prstGeom>
          <a:noFill/>
        </p:spPr>
        <p:txBody>
          <a:bodyPr wrap="square" anchor="t">
            <a:spAutoFit/>
          </a:bodyPr>
          <a:lstStyle/>
          <a:p>
            <a:pPr algn="ctr">
              <a:spcAft>
                <a:spcPts val="400"/>
              </a:spcAft>
            </a:pPr>
            <a:r>
              <a:rPr sz="900" b="0">
                <a:solidFill>
                  <a:srgbClr val="5B6372"/>
                </a:solidFill>
                <a:latin typeface="Arial"/>
              </a:rPr>
              <a:t>© 2026 Tertiary Infotech Academy Pte Ltd</a:t>
            </a:r>
          </a:p>
        </p:txBody>
      </p:sp>
      <p:sp>
        <p:nvSpPr>
          <p:cNvPr id="39" name="TextBox 38"/>
          <p:cNvSpPr txBox="1"/>
          <p:nvPr/>
        </p:nvSpPr>
        <p:spPr>
          <a:xfrm>
            <a:off x="11338560" y="6446520"/>
            <a:ext cx="548640" cy="320040"/>
          </a:xfrm>
          <a:prstGeom prst="rect">
            <a:avLst/>
          </a:prstGeom>
          <a:noFill/>
        </p:spPr>
        <p:txBody>
          <a:bodyPr wrap="square" anchor="t">
            <a:spAutoFit/>
          </a:bodyPr>
          <a:lstStyle/>
          <a:p>
            <a:pPr algn="r">
              <a:spcAft>
                <a:spcPts val="400"/>
              </a:spcAft>
            </a:pPr>
            <a:r>
              <a:rPr sz="900" b="0">
                <a:solidFill>
                  <a:srgbClr val="5B6372"/>
                </a:solidFill>
                <a:latin typeface="Arial"/>
              </a:rPr>
              <a:t>53</a:t>
            </a:r>
          </a:p>
        </p:txBody>
      </p:sp>
    </p:spTree>
  </p:cSld>
  <p:clrMapOvr>
    <a:masterClrMapping/>
  </p:clrMapOvr>
</p:sld>
</file>

<file path=ppt/slides/slide55.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256032" cy="1417320"/>
          </a:xfrm>
          <a:prstGeom prst="rect">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777240" y="457200"/>
            <a:ext cx="10607040" cy="365760"/>
          </a:xfrm>
          <a:prstGeom prst="rect">
            <a:avLst/>
          </a:prstGeom>
          <a:noFill/>
        </p:spPr>
        <p:txBody>
          <a:bodyPr wrap="square" anchor="t">
            <a:spAutoFit/>
          </a:bodyPr>
          <a:lstStyle/>
          <a:p>
            <a:pPr algn="l">
              <a:spcAft>
                <a:spcPts val="400"/>
              </a:spcAft>
            </a:pPr>
            <a:r>
              <a:rPr sz="1400" b="1">
                <a:solidFill>
                  <a:srgbClr val="1F6FEB"/>
                </a:solidFill>
                <a:latin typeface="Arial"/>
              </a:rPr>
              <a:t>GEOMETRY OF A SINGLE QUBIT</a:t>
            </a:r>
          </a:p>
        </p:txBody>
      </p:sp>
      <p:sp>
        <p:nvSpPr>
          <p:cNvPr id="5" name="TextBox 4"/>
          <p:cNvSpPr txBox="1"/>
          <p:nvPr/>
        </p:nvSpPr>
        <p:spPr>
          <a:xfrm>
            <a:off x="777240" y="822960"/>
            <a:ext cx="10881360" cy="822960"/>
          </a:xfrm>
          <a:prstGeom prst="rect">
            <a:avLst/>
          </a:prstGeom>
          <a:noFill/>
        </p:spPr>
        <p:txBody>
          <a:bodyPr wrap="square" anchor="t">
            <a:spAutoFit/>
          </a:bodyPr>
          <a:lstStyle/>
          <a:p>
            <a:pPr algn="l">
              <a:spcAft>
                <a:spcPts val="400"/>
              </a:spcAft>
            </a:pPr>
            <a:r>
              <a:rPr sz="2900" b="1">
                <a:solidFill>
                  <a:srgbClr val="161B26"/>
                </a:solidFill>
                <a:latin typeface="Arial"/>
              </a:rPr>
              <a:t>Visualising a Qubit — The Bloch Sphere</a:t>
            </a:r>
          </a:p>
        </p:txBody>
      </p:sp>
      <p:sp>
        <p:nvSpPr>
          <p:cNvPr id="6" name="Rectangle 5"/>
          <p:cNvSpPr/>
          <p:nvPr/>
        </p:nvSpPr>
        <p:spPr>
          <a:xfrm>
            <a:off x="777240" y="1554480"/>
            <a:ext cx="10634472" cy="18288"/>
          </a:xfrm>
          <a:prstGeom prst="rect">
            <a:avLst/>
          </a:prstGeom>
          <a:solidFill>
            <a:srgbClr val="E2E8F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pic>
        <p:nvPicPr>
          <p:cNvPr id="7" name="Picture 6" descr="bloch-sphere.png"/>
          <p:cNvPicPr>
            <a:picLocks noChangeAspect="1"/>
          </p:cNvPicPr>
          <p:nvPr/>
        </p:nvPicPr>
        <p:blipFill>
          <a:blip r:embed="rId2"/>
          <a:stretch>
            <a:fillRect/>
          </a:stretch>
        </p:blipFill>
        <p:spPr>
          <a:xfrm>
            <a:off x="1937614" y="1783080"/>
            <a:ext cx="4080052" cy="4206240"/>
          </a:xfrm>
          <a:prstGeom prst="rect">
            <a:avLst/>
          </a:prstGeom>
        </p:spPr>
      </p:pic>
      <p:sp>
        <p:nvSpPr>
          <p:cNvPr id="8" name="Rectangle 7"/>
          <p:cNvSpPr/>
          <p:nvPr/>
        </p:nvSpPr>
        <p:spPr>
          <a:xfrm>
            <a:off x="7452360" y="1783080"/>
            <a:ext cx="3959352" cy="937260"/>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Rectangle 8"/>
          <p:cNvSpPr/>
          <p:nvPr/>
        </p:nvSpPr>
        <p:spPr>
          <a:xfrm>
            <a:off x="7452360" y="1783080"/>
            <a:ext cx="82296" cy="937260"/>
          </a:xfrm>
          <a:prstGeom prst="rect">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TextBox 9"/>
          <p:cNvSpPr txBox="1"/>
          <p:nvPr/>
        </p:nvSpPr>
        <p:spPr>
          <a:xfrm>
            <a:off x="7708392" y="1783080"/>
            <a:ext cx="3502152" cy="937260"/>
          </a:xfrm>
          <a:prstGeom prst="rect">
            <a:avLst/>
          </a:prstGeom>
          <a:noFill/>
        </p:spPr>
        <p:txBody>
          <a:bodyPr wrap="square" anchor="ctr">
            <a:spAutoFit/>
          </a:bodyPr>
          <a:lstStyle/>
          <a:p>
            <a:pPr algn="l">
              <a:spcAft>
                <a:spcPts val="300"/>
              </a:spcAft>
            </a:pPr>
            <a:r>
              <a:rPr sz="1400" b="1">
                <a:solidFill>
                  <a:srgbClr val="1F6FEB"/>
                </a:solidFill>
                <a:latin typeface="Arial"/>
              </a:rPr>
              <a:t>North / south poles</a:t>
            </a:r>
          </a:p>
          <a:p>
            <a:pPr algn="l">
              <a:spcAft>
                <a:spcPts val="300"/>
              </a:spcAft>
            </a:pPr>
            <a:r>
              <a:rPr sz="1200" b="0">
                <a:solidFill>
                  <a:srgbClr val="161B26"/>
                </a:solidFill>
                <a:latin typeface="Arial"/>
              </a:rPr>
              <a:t>|0⟩ and |1⟩ — the classical computational basis states.</a:t>
            </a:r>
          </a:p>
        </p:txBody>
      </p:sp>
      <p:sp>
        <p:nvSpPr>
          <p:cNvPr id="11" name="Rectangle 10"/>
          <p:cNvSpPr/>
          <p:nvPr/>
        </p:nvSpPr>
        <p:spPr>
          <a:xfrm>
            <a:off x="7452360" y="2903220"/>
            <a:ext cx="3959352" cy="937260"/>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 name="Rectangle 11"/>
          <p:cNvSpPr/>
          <p:nvPr/>
        </p:nvSpPr>
        <p:spPr>
          <a:xfrm>
            <a:off x="7452360" y="2903220"/>
            <a:ext cx="82296" cy="937260"/>
          </a:xfrm>
          <a:prstGeom prst="rect">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 name="TextBox 12"/>
          <p:cNvSpPr txBox="1"/>
          <p:nvPr/>
        </p:nvSpPr>
        <p:spPr>
          <a:xfrm>
            <a:off x="7708392" y="2903220"/>
            <a:ext cx="3502152" cy="937260"/>
          </a:xfrm>
          <a:prstGeom prst="rect">
            <a:avLst/>
          </a:prstGeom>
          <a:noFill/>
        </p:spPr>
        <p:txBody>
          <a:bodyPr wrap="square" anchor="ctr">
            <a:spAutoFit/>
          </a:bodyPr>
          <a:lstStyle/>
          <a:p>
            <a:pPr algn="l">
              <a:spcAft>
                <a:spcPts val="300"/>
              </a:spcAft>
            </a:pPr>
            <a:r>
              <a:rPr sz="1400" b="1">
                <a:solidFill>
                  <a:srgbClr val="10B981"/>
                </a:solidFill>
                <a:latin typeface="Arial"/>
              </a:rPr>
              <a:t>The equator</a:t>
            </a:r>
          </a:p>
          <a:p>
            <a:pPr algn="l">
              <a:spcAft>
                <a:spcPts val="300"/>
              </a:spcAft>
            </a:pPr>
            <a:r>
              <a:rPr sz="1200" b="0">
                <a:solidFill>
                  <a:srgbClr val="161B26"/>
                </a:solidFill>
                <a:latin typeface="Arial"/>
              </a:rPr>
              <a:t>Equal superpositions such as |+⟩ and |−⟩ — maximally uncertain in Z.</a:t>
            </a:r>
          </a:p>
        </p:txBody>
      </p:sp>
      <p:sp>
        <p:nvSpPr>
          <p:cNvPr id="14" name="Rectangle 13"/>
          <p:cNvSpPr/>
          <p:nvPr/>
        </p:nvSpPr>
        <p:spPr>
          <a:xfrm>
            <a:off x="7452360" y="4023360"/>
            <a:ext cx="3959352" cy="937260"/>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5" name="Rectangle 14"/>
          <p:cNvSpPr/>
          <p:nvPr/>
        </p:nvSpPr>
        <p:spPr>
          <a:xfrm>
            <a:off x="7452360" y="4023360"/>
            <a:ext cx="82296" cy="937260"/>
          </a:xfrm>
          <a:prstGeom prst="rect">
            <a:avLst/>
          </a:prstGeom>
          <a:solidFill>
            <a:srgbClr val="7C3AE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6" name="TextBox 15"/>
          <p:cNvSpPr txBox="1"/>
          <p:nvPr/>
        </p:nvSpPr>
        <p:spPr>
          <a:xfrm>
            <a:off x="7708392" y="4023360"/>
            <a:ext cx="3502152" cy="937260"/>
          </a:xfrm>
          <a:prstGeom prst="rect">
            <a:avLst/>
          </a:prstGeom>
          <a:noFill/>
        </p:spPr>
        <p:txBody>
          <a:bodyPr wrap="square" anchor="ctr">
            <a:spAutoFit/>
          </a:bodyPr>
          <a:lstStyle/>
          <a:p>
            <a:pPr algn="l">
              <a:spcAft>
                <a:spcPts val="300"/>
              </a:spcAft>
            </a:pPr>
            <a:r>
              <a:rPr sz="1400" b="1">
                <a:solidFill>
                  <a:srgbClr val="7C3AED"/>
                </a:solidFill>
                <a:latin typeface="Arial"/>
              </a:rPr>
              <a:t>θ sets probability</a:t>
            </a:r>
          </a:p>
          <a:p>
            <a:pPr algn="l">
              <a:spcAft>
                <a:spcPts val="300"/>
              </a:spcAft>
            </a:pPr>
            <a:r>
              <a:rPr sz="1200" b="0">
                <a:solidFill>
                  <a:srgbClr val="161B26"/>
                </a:solidFill>
                <a:latin typeface="Arial"/>
              </a:rPr>
              <a:t>cos²(θ/2) is the chance of measuring 0.</a:t>
            </a:r>
          </a:p>
        </p:txBody>
      </p:sp>
      <p:sp>
        <p:nvSpPr>
          <p:cNvPr id="17" name="Rectangle 16"/>
          <p:cNvSpPr/>
          <p:nvPr/>
        </p:nvSpPr>
        <p:spPr>
          <a:xfrm>
            <a:off x="7452360" y="5143500"/>
            <a:ext cx="3959352" cy="937260"/>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8" name="Rectangle 17"/>
          <p:cNvSpPr/>
          <p:nvPr/>
        </p:nvSpPr>
        <p:spPr>
          <a:xfrm>
            <a:off x="7452360" y="5143500"/>
            <a:ext cx="82296" cy="937260"/>
          </a:xfrm>
          <a:prstGeom prst="rect">
            <a:avLst/>
          </a:prstGeom>
          <a:solidFill>
            <a:srgbClr val="F59E0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9" name="TextBox 18"/>
          <p:cNvSpPr txBox="1"/>
          <p:nvPr/>
        </p:nvSpPr>
        <p:spPr>
          <a:xfrm>
            <a:off x="7708392" y="5143500"/>
            <a:ext cx="3502152" cy="937260"/>
          </a:xfrm>
          <a:prstGeom prst="rect">
            <a:avLst/>
          </a:prstGeom>
          <a:noFill/>
        </p:spPr>
        <p:txBody>
          <a:bodyPr wrap="square" anchor="ctr">
            <a:spAutoFit/>
          </a:bodyPr>
          <a:lstStyle/>
          <a:p>
            <a:pPr algn="l">
              <a:spcAft>
                <a:spcPts val="300"/>
              </a:spcAft>
            </a:pPr>
            <a:r>
              <a:rPr sz="1400" b="1">
                <a:solidFill>
                  <a:srgbClr val="F59E0B"/>
                </a:solidFill>
                <a:latin typeface="Arial"/>
              </a:rPr>
              <a:t>φ sets phase</a:t>
            </a:r>
          </a:p>
          <a:p>
            <a:pPr algn="l">
              <a:spcAft>
                <a:spcPts val="300"/>
              </a:spcAft>
            </a:pPr>
            <a:r>
              <a:rPr sz="1200" b="0">
                <a:solidFill>
                  <a:srgbClr val="161B26"/>
                </a:solidFill>
                <a:latin typeface="Arial"/>
              </a:rPr>
              <a:t>Invisible to a Z measurement, but it drives interference.</a:t>
            </a:r>
          </a:p>
        </p:txBody>
      </p:sp>
      <p:sp>
        <p:nvSpPr>
          <p:cNvPr id="20" name="TextBox 19"/>
          <p:cNvSpPr txBox="1"/>
          <p:nvPr/>
        </p:nvSpPr>
        <p:spPr>
          <a:xfrm>
            <a:off x="365760" y="6446520"/>
            <a:ext cx="6858000" cy="320040"/>
          </a:xfrm>
          <a:prstGeom prst="rect">
            <a:avLst/>
          </a:prstGeom>
          <a:noFill/>
        </p:spPr>
        <p:txBody>
          <a:bodyPr wrap="square" anchor="t">
            <a:spAutoFit/>
          </a:bodyPr>
          <a:lstStyle/>
          <a:p>
            <a:pPr algn="l">
              <a:spcAft>
                <a:spcPts val="400"/>
              </a:spcAft>
            </a:pPr>
            <a:r>
              <a:rPr sz="900" b="0">
                <a:solidFill>
                  <a:srgbClr val="5B6372"/>
                </a:solidFill>
                <a:latin typeface="Arial"/>
              </a:rPr>
              <a:t>Securing the Future with Quantum Computing and Cryptography  ·  TGS-2024043419</a:t>
            </a:r>
          </a:p>
        </p:txBody>
      </p:sp>
      <p:sp>
        <p:nvSpPr>
          <p:cNvPr id="21" name="TextBox 20"/>
          <p:cNvSpPr txBox="1"/>
          <p:nvPr/>
        </p:nvSpPr>
        <p:spPr>
          <a:xfrm>
            <a:off x="4572000" y="6446520"/>
            <a:ext cx="3017520" cy="320040"/>
          </a:xfrm>
          <a:prstGeom prst="rect">
            <a:avLst/>
          </a:prstGeom>
          <a:noFill/>
        </p:spPr>
        <p:txBody>
          <a:bodyPr wrap="square" anchor="t">
            <a:spAutoFit/>
          </a:bodyPr>
          <a:lstStyle/>
          <a:p>
            <a:pPr algn="ctr">
              <a:spcAft>
                <a:spcPts val="400"/>
              </a:spcAft>
            </a:pPr>
            <a:r>
              <a:rPr sz="900" b="0">
                <a:solidFill>
                  <a:srgbClr val="5B6372"/>
                </a:solidFill>
                <a:latin typeface="Arial"/>
              </a:rPr>
              <a:t>© 2026 Tertiary Infotech Academy Pte Ltd</a:t>
            </a:r>
          </a:p>
        </p:txBody>
      </p:sp>
      <p:sp>
        <p:nvSpPr>
          <p:cNvPr id="22" name="TextBox 21"/>
          <p:cNvSpPr txBox="1"/>
          <p:nvPr/>
        </p:nvSpPr>
        <p:spPr>
          <a:xfrm>
            <a:off x="11338560" y="6446520"/>
            <a:ext cx="548640" cy="320040"/>
          </a:xfrm>
          <a:prstGeom prst="rect">
            <a:avLst/>
          </a:prstGeom>
          <a:noFill/>
        </p:spPr>
        <p:txBody>
          <a:bodyPr wrap="square" anchor="t">
            <a:spAutoFit/>
          </a:bodyPr>
          <a:lstStyle/>
          <a:p>
            <a:pPr algn="r">
              <a:spcAft>
                <a:spcPts val="400"/>
              </a:spcAft>
            </a:pPr>
            <a:r>
              <a:rPr sz="900" b="0">
                <a:solidFill>
                  <a:srgbClr val="5B6372"/>
                </a:solidFill>
                <a:latin typeface="Arial"/>
              </a:rPr>
              <a:t>54</a:t>
            </a:r>
          </a:p>
        </p:txBody>
      </p:sp>
    </p:spTree>
  </p:cSld>
  <p:clrMapOvr>
    <a:masterClrMapping/>
  </p:clrMapOvr>
</p:sld>
</file>

<file path=ppt/slides/slide56.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256032" cy="1417320"/>
          </a:xfrm>
          <a:prstGeom prst="rect">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777240" y="457200"/>
            <a:ext cx="10607040" cy="365760"/>
          </a:xfrm>
          <a:prstGeom prst="rect">
            <a:avLst/>
          </a:prstGeom>
          <a:noFill/>
        </p:spPr>
        <p:txBody>
          <a:bodyPr wrap="square" anchor="t">
            <a:spAutoFit/>
          </a:bodyPr>
          <a:lstStyle/>
          <a:p>
            <a:pPr algn="l">
              <a:spcAft>
                <a:spcPts val="400"/>
              </a:spcAft>
            </a:pPr>
            <a:r>
              <a:rPr sz="1400" b="1">
                <a:solidFill>
                  <a:srgbClr val="1F6FEB"/>
                </a:solidFill>
                <a:latin typeface="Arial"/>
              </a:rPr>
              <a:t>HOW QUBITS ARE ACTUALLY BUILT</a:t>
            </a:r>
          </a:p>
        </p:txBody>
      </p:sp>
      <p:sp>
        <p:nvSpPr>
          <p:cNvPr id="5" name="TextBox 4"/>
          <p:cNvSpPr txBox="1"/>
          <p:nvPr/>
        </p:nvSpPr>
        <p:spPr>
          <a:xfrm>
            <a:off x="777240" y="822960"/>
            <a:ext cx="10881360" cy="822960"/>
          </a:xfrm>
          <a:prstGeom prst="rect">
            <a:avLst/>
          </a:prstGeom>
          <a:noFill/>
        </p:spPr>
        <p:txBody>
          <a:bodyPr wrap="square" anchor="t">
            <a:spAutoFit/>
          </a:bodyPr>
          <a:lstStyle/>
          <a:p>
            <a:pPr algn="l">
              <a:spcAft>
                <a:spcPts val="400"/>
              </a:spcAft>
            </a:pPr>
            <a:r>
              <a:rPr sz="2900" b="1">
                <a:solidFill>
                  <a:srgbClr val="161B26"/>
                </a:solidFill>
                <a:latin typeface="Arial"/>
              </a:rPr>
              <a:t>Physical Qubit Technologies</a:t>
            </a:r>
          </a:p>
        </p:txBody>
      </p:sp>
      <p:sp>
        <p:nvSpPr>
          <p:cNvPr id="6" name="Rectangle 5"/>
          <p:cNvSpPr/>
          <p:nvPr/>
        </p:nvSpPr>
        <p:spPr>
          <a:xfrm>
            <a:off x="777240" y="1554480"/>
            <a:ext cx="10634472" cy="18288"/>
          </a:xfrm>
          <a:prstGeom prst="rect">
            <a:avLst/>
          </a:prstGeom>
          <a:solidFill>
            <a:srgbClr val="E2E8F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pic>
        <p:nvPicPr>
          <p:cNvPr id="7" name="Picture 6" descr="hardware-compare.png"/>
          <p:cNvPicPr>
            <a:picLocks noChangeAspect="1"/>
          </p:cNvPicPr>
          <p:nvPr/>
        </p:nvPicPr>
        <p:blipFill>
          <a:blip r:embed="rId2"/>
          <a:stretch>
            <a:fillRect/>
          </a:stretch>
        </p:blipFill>
        <p:spPr>
          <a:xfrm>
            <a:off x="1505480" y="1755648"/>
            <a:ext cx="9177992" cy="3950208"/>
          </a:xfrm>
          <a:prstGeom prst="rect">
            <a:avLst/>
          </a:prstGeom>
        </p:spPr>
      </p:pic>
      <p:sp>
        <p:nvSpPr>
          <p:cNvPr id="8" name="Rectangle 7"/>
          <p:cNvSpPr/>
          <p:nvPr/>
        </p:nvSpPr>
        <p:spPr>
          <a:xfrm>
            <a:off x="777240" y="5870448"/>
            <a:ext cx="10634472" cy="457200"/>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TextBox 8"/>
          <p:cNvSpPr txBox="1"/>
          <p:nvPr/>
        </p:nvSpPr>
        <p:spPr>
          <a:xfrm>
            <a:off x="960120" y="5870448"/>
            <a:ext cx="10241280" cy="457200"/>
          </a:xfrm>
          <a:prstGeom prst="rect">
            <a:avLst/>
          </a:prstGeom>
          <a:noFill/>
        </p:spPr>
        <p:txBody>
          <a:bodyPr wrap="square" anchor="ctr">
            <a:spAutoFit/>
          </a:bodyPr>
          <a:lstStyle/>
          <a:p>
            <a:pPr algn="ctr">
              <a:spcAft>
                <a:spcPts val="400"/>
              </a:spcAft>
            </a:pPr>
            <a:r>
              <a:rPr sz="1350" b="0">
                <a:solidFill>
                  <a:srgbClr val="161B26"/>
                </a:solidFill>
                <a:latin typeface="Arial"/>
              </a:rPr>
              <a:t>No technology has won yet — each trades gate speed against coherence time and connectivity.</a:t>
            </a:r>
          </a:p>
        </p:txBody>
      </p:sp>
      <p:sp>
        <p:nvSpPr>
          <p:cNvPr id="10" name="TextBox 9"/>
          <p:cNvSpPr txBox="1"/>
          <p:nvPr/>
        </p:nvSpPr>
        <p:spPr>
          <a:xfrm>
            <a:off x="365760" y="6446520"/>
            <a:ext cx="6858000" cy="320040"/>
          </a:xfrm>
          <a:prstGeom prst="rect">
            <a:avLst/>
          </a:prstGeom>
          <a:noFill/>
        </p:spPr>
        <p:txBody>
          <a:bodyPr wrap="square" anchor="t">
            <a:spAutoFit/>
          </a:bodyPr>
          <a:lstStyle/>
          <a:p>
            <a:pPr algn="l">
              <a:spcAft>
                <a:spcPts val="400"/>
              </a:spcAft>
            </a:pPr>
            <a:r>
              <a:rPr sz="900" b="0">
                <a:solidFill>
                  <a:srgbClr val="5B6372"/>
                </a:solidFill>
                <a:latin typeface="Arial"/>
              </a:rPr>
              <a:t>Securing the Future with Quantum Computing and Cryptography  ·  TGS-2024043419</a:t>
            </a:r>
          </a:p>
        </p:txBody>
      </p:sp>
      <p:sp>
        <p:nvSpPr>
          <p:cNvPr id="11" name="TextBox 10"/>
          <p:cNvSpPr txBox="1"/>
          <p:nvPr/>
        </p:nvSpPr>
        <p:spPr>
          <a:xfrm>
            <a:off x="4572000" y="6446520"/>
            <a:ext cx="3017520" cy="320040"/>
          </a:xfrm>
          <a:prstGeom prst="rect">
            <a:avLst/>
          </a:prstGeom>
          <a:noFill/>
        </p:spPr>
        <p:txBody>
          <a:bodyPr wrap="square" anchor="t">
            <a:spAutoFit/>
          </a:bodyPr>
          <a:lstStyle/>
          <a:p>
            <a:pPr algn="ctr">
              <a:spcAft>
                <a:spcPts val="400"/>
              </a:spcAft>
            </a:pPr>
            <a:r>
              <a:rPr sz="900" b="0">
                <a:solidFill>
                  <a:srgbClr val="5B6372"/>
                </a:solidFill>
                <a:latin typeface="Arial"/>
              </a:rPr>
              <a:t>© 2026 Tertiary Infotech Academy Pte Ltd</a:t>
            </a:r>
          </a:p>
        </p:txBody>
      </p:sp>
      <p:sp>
        <p:nvSpPr>
          <p:cNvPr id="12" name="TextBox 11"/>
          <p:cNvSpPr txBox="1"/>
          <p:nvPr/>
        </p:nvSpPr>
        <p:spPr>
          <a:xfrm>
            <a:off x="11338560" y="6446520"/>
            <a:ext cx="548640" cy="320040"/>
          </a:xfrm>
          <a:prstGeom prst="rect">
            <a:avLst/>
          </a:prstGeom>
          <a:noFill/>
        </p:spPr>
        <p:txBody>
          <a:bodyPr wrap="square" anchor="t">
            <a:spAutoFit/>
          </a:bodyPr>
          <a:lstStyle/>
          <a:p>
            <a:pPr algn="r">
              <a:spcAft>
                <a:spcPts val="400"/>
              </a:spcAft>
            </a:pPr>
            <a:r>
              <a:rPr sz="900" b="0">
                <a:solidFill>
                  <a:srgbClr val="5B6372"/>
                </a:solidFill>
                <a:latin typeface="Arial"/>
              </a:rPr>
              <a:t>55</a:t>
            </a:r>
          </a:p>
        </p:txBody>
      </p:sp>
    </p:spTree>
  </p:cSld>
  <p:clrMapOvr>
    <a:masterClrMapping/>
  </p:clrMapOvr>
</p:sld>
</file>

<file path=ppt/slides/slide57.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256032" cy="1417320"/>
          </a:xfrm>
          <a:prstGeom prst="rect">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777240" y="457200"/>
            <a:ext cx="10607040" cy="365760"/>
          </a:xfrm>
          <a:prstGeom prst="rect">
            <a:avLst/>
          </a:prstGeom>
          <a:noFill/>
        </p:spPr>
        <p:txBody>
          <a:bodyPr wrap="square" anchor="t">
            <a:spAutoFit/>
          </a:bodyPr>
          <a:lstStyle/>
          <a:p>
            <a:pPr algn="l">
              <a:spcAft>
                <a:spcPts val="400"/>
              </a:spcAft>
            </a:pPr>
            <a:r>
              <a:rPr sz="1400" b="1">
                <a:solidFill>
                  <a:srgbClr val="10B981"/>
                </a:solidFill>
                <a:latin typeface="Arial"/>
              </a:rPr>
              <a:t>THE MOST IMPORTANT TWO-QUBIT STATE</a:t>
            </a:r>
          </a:p>
        </p:txBody>
      </p:sp>
      <p:sp>
        <p:nvSpPr>
          <p:cNvPr id="5" name="TextBox 4"/>
          <p:cNvSpPr txBox="1"/>
          <p:nvPr/>
        </p:nvSpPr>
        <p:spPr>
          <a:xfrm>
            <a:off x="777240" y="822960"/>
            <a:ext cx="10881360" cy="822960"/>
          </a:xfrm>
          <a:prstGeom prst="rect">
            <a:avLst/>
          </a:prstGeom>
          <a:noFill/>
        </p:spPr>
        <p:txBody>
          <a:bodyPr wrap="square" anchor="t">
            <a:spAutoFit/>
          </a:bodyPr>
          <a:lstStyle/>
          <a:p>
            <a:pPr algn="l">
              <a:spcAft>
                <a:spcPts val="400"/>
              </a:spcAft>
            </a:pPr>
            <a:r>
              <a:rPr sz="2900" b="1">
                <a:solidFill>
                  <a:srgbClr val="161B26"/>
                </a:solidFill>
                <a:latin typeface="Arial"/>
              </a:rPr>
              <a:t>Entanglement — The Bell State</a:t>
            </a:r>
          </a:p>
        </p:txBody>
      </p:sp>
      <p:sp>
        <p:nvSpPr>
          <p:cNvPr id="6" name="Rectangle 5"/>
          <p:cNvSpPr/>
          <p:nvPr/>
        </p:nvSpPr>
        <p:spPr>
          <a:xfrm>
            <a:off x="777240" y="1554480"/>
            <a:ext cx="10634472" cy="18288"/>
          </a:xfrm>
          <a:prstGeom prst="rect">
            <a:avLst/>
          </a:prstGeom>
          <a:solidFill>
            <a:srgbClr val="E2E8F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pic>
        <p:nvPicPr>
          <p:cNvPr id="7" name="Picture 6" descr="bell-circuit.png"/>
          <p:cNvPicPr>
            <a:picLocks noChangeAspect="1"/>
          </p:cNvPicPr>
          <p:nvPr/>
        </p:nvPicPr>
        <p:blipFill>
          <a:blip r:embed="rId2"/>
          <a:stretch>
            <a:fillRect/>
          </a:stretch>
        </p:blipFill>
        <p:spPr>
          <a:xfrm>
            <a:off x="777240" y="2530151"/>
            <a:ext cx="6400800" cy="2712097"/>
          </a:xfrm>
          <a:prstGeom prst="rect">
            <a:avLst/>
          </a:prstGeom>
        </p:spPr>
      </p:pic>
      <p:sp>
        <p:nvSpPr>
          <p:cNvPr id="8" name="Rectangle 7"/>
          <p:cNvSpPr/>
          <p:nvPr/>
        </p:nvSpPr>
        <p:spPr>
          <a:xfrm>
            <a:off x="7452360" y="1783080"/>
            <a:ext cx="3959352" cy="937260"/>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Rectangle 8"/>
          <p:cNvSpPr/>
          <p:nvPr/>
        </p:nvSpPr>
        <p:spPr>
          <a:xfrm>
            <a:off x="7452360" y="1783080"/>
            <a:ext cx="82296" cy="937260"/>
          </a:xfrm>
          <a:prstGeom prst="rect">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TextBox 9"/>
          <p:cNvSpPr txBox="1"/>
          <p:nvPr/>
        </p:nvSpPr>
        <p:spPr>
          <a:xfrm>
            <a:off x="7708392" y="1783080"/>
            <a:ext cx="3502152" cy="937260"/>
          </a:xfrm>
          <a:prstGeom prst="rect">
            <a:avLst/>
          </a:prstGeom>
          <a:noFill/>
        </p:spPr>
        <p:txBody>
          <a:bodyPr wrap="square" anchor="ctr">
            <a:spAutoFit/>
          </a:bodyPr>
          <a:lstStyle/>
          <a:p>
            <a:pPr algn="l">
              <a:spcAft>
                <a:spcPts val="300"/>
              </a:spcAft>
            </a:pPr>
            <a:r>
              <a:rPr sz="1400" b="1">
                <a:solidFill>
                  <a:srgbClr val="1F6FEB"/>
                </a:solidFill>
                <a:latin typeface="Arial"/>
              </a:rPr>
              <a:t>Two gates</a:t>
            </a:r>
          </a:p>
          <a:p>
            <a:pPr algn="l">
              <a:spcAft>
                <a:spcPts val="300"/>
              </a:spcAft>
            </a:pPr>
            <a:r>
              <a:rPr sz="1200" b="0">
                <a:solidFill>
                  <a:srgbClr val="161B26"/>
                </a:solidFill>
                <a:latin typeface="Arial"/>
              </a:rPr>
              <a:t>A Hadamard followed by a CNOT is all it takes.</a:t>
            </a:r>
          </a:p>
        </p:txBody>
      </p:sp>
      <p:sp>
        <p:nvSpPr>
          <p:cNvPr id="11" name="Rectangle 10"/>
          <p:cNvSpPr/>
          <p:nvPr/>
        </p:nvSpPr>
        <p:spPr>
          <a:xfrm>
            <a:off x="7452360" y="2903220"/>
            <a:ext cx="3959352" cy="937260"/>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 name="Rectangle 11"/>
          <p:cNvSpPr/>
          <p:nvPr/>
        </p:nvSpPr>
        <p:spPr>
          <a:xfrm>
            <a:off x="7452360" y="2903220"/>
            <a:ext cx="82296" cy="937260"/>
          </a:xfrm>
          <a:prstGeom prst="rect">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 name="TextBox 12"/>
          <p:cNvSpPr txBox="1"/>
          <p:nvPr/>
        </p:nvSpPr>
        <p:spPr>
          <a:xfrm>
            <a:off x="7708392" y="2903220"/>
            <a:ext cx="3502152" cy="937260"/>
          </a:xfrm>
          <a:prstGeom prst="rect">
            <a:avLst/>
          </a:prstGeom>
          <a:noFill/>
        </p:spPr>
        <p:txBody>
          <a:bodyPr wrap="square" anchor="ctr">
            <a:spAutoFit/>
          </a:bodyPr>
          <a:lstStyle/>
          <a:p>
            <a:pPr algn="l">
              <a:spcAft>
                <a:spcPts val="300"/>
              </a:spcAft>
            </a:pPr>
            <a:r>
              <a:rPr sz="1400" b="1">
                <a:solidFill>
                  <a:srgbClr val="10B981"/>
                </a:solidFill>
                <a:latin typeface="Arial"/>
              </a:rPr>
              <a:t>Perfect correlation</a:t>
            </a:r>
          </a:p>
          <a:p>
            <a:pPr algn="l">
              <a:spcAft>
                <a:spcPts val="300"/>
              </a:spcAft>
            </a:pPr>
            <a:r>
              <a:rPr sz="1200" b="0">
                <a:solidFill>
                  <a:srgbClr val="161B26"/>
                </a:solidFill>
                <a:latin typeface="Arial"/>
              </a:rPr>
              <a:t>Measure 0 on one qubit and the other is certainly 0.</a:t>
            </a:r>
          </a:p>
        </p:txBody>
      </p:sp>
      <p:sp>
        <p:nvSpPr>
          <p:cNvPr id="14" name="Rectangle 13"/>
          <p:cNvSpPr/>
          <p:nvPr/>
        </p:nvSpPr>
        <p:spPr>
          <a:xfrm>
            <a:off x="7452360" y="4023360"/>
            <a:ext cx="3959352" cy="937260"/>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5" name="Rectangle 14"/>
          <p:cNvSpPr/>
          <p:nvPr/>
        </p:nvSpPr>
        <p:spPr>
          <a:xfrm>
            <a:off x="7452360" y="4023360"/>
            <a:ext cx="82296" cy="937260"/>
          </a:xfrm>
          <a:prstGeom prst="rect">
            <a:avLst/>
          </a:prstGeom>
          <a:solidFill>
            <a:srgbClr val="7C3AE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6" name="TextBox 15"/>
          <p:cNvSpPr txBox="1"/>
          <p:nvPr/>
        </p:nvSpPr>
        <p:spPr>
          <a:xfrm>
            <a:off x="7708392" y="4023360"/>
            <a:ext cx="3502152" cy="937260"/>
          </a:xfrm>
          <a:prstGeom prst="rect">
            <a:avLst/>
          </a:prstGeom>
          <a:noFill/>
        </p:spPr>
        <p:txBody>
          <a:bodyPr wrap="square" anchor="ctr">
            <a:spAutoFit/>
          </a:bodyPr>
          <a:lstStyle/>
          <a:p>
            <a:pPr algn="l">
              <a:spcAft>
                <a:spcPts val="300"/>
              </a:spcAft>
            </a:pPr>
            <a:r>
              <a:rPr sz="1400" b="1">
                <a:solidFill>
                  <a:srgbClr val="7C3AED"/>
                </a:solidFill>
                <a:latin typeface="Arial"/>
              </a:rPr>
              <a:t>Not separable</a:t>
            </a:r>
          </a:p>
          <a:p>
            <a:pPr algn="l">
              <a:spcAft>
                <a:spcPts val="300"/>
              </a:spcAft>
            </a:pPr>
            <a:r>
              <a:rPr sz="1200" b="0">
                <a:solidFill>
                  <a:srgbClr val="161B26"/>
                </a:solidFill>
                <a:latin typeface="Arial"/>
              </a:rPr>
              <a:t>The state cannot be written as a product of two single-qubit states.</a:t>
            </a:r>
          </a:p>
        </p:txBody>
      </p:sp>
      <p:sp>
        <p:nvSpPr>
          <p:cNvPr id="17" name="Rectangle 16"/>
          <p:cNvSpPr/>
          <p:nvPr/>
        </p:nvSpPr>
        <p:spPr>
          <a:xfrm>
            <a:off x="7452360" y="5143500"/>
            <a:ext cx="3959352" cy="937260"/>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8" name="Rectangle 17"/>
          <p:cNvSpPr/>
          <p:nvPr/>
        </p:nvSpPr>
        <p:spPr>
          <a:xfrm>
            <a:off x="7452360" y="5143500"/>
            <a:ext cx="82296" cy="937260"/>
          </a:xfrm>
          <a:prstGeom prst="rect">
            <a:avLst/>
          </a:prstGeom>
          <a:solidFill>
            <a:srgbClr val="F59E0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9" name="TextBox 18"/>
          <p:cNvSpPr txBox="1"/>
          <p:nvPr/>
        </p:nvSpPr>
        <p:spPr>
          <a:xfrm>
            <a:off x="7708392" y="5143500"/>
            <a:ext cx="3502152" cy="937260"/>
          </a:xfrm>
          <a:prstGeom prst="rect">
            <a:avLst/>
          </a:prstGeom>
          <a:noFill/>
        </p:spPr>
        <p:txBody>
          <a:bodyPr wrap="square" anchor="ctr">
            <a:spAutoFit/>
          </a:bodyPr>
          <a:lstStyle/>
          <a:p>
            <a:pPr algn="l">
              <a:spcAft>
                <a:spcPts val="300"/>
              </a:spcAft>
            </a:pPr>
            <a:r>
              <a:rPr sz="1400" b="1">
                <a:solidFill>
                  <a:srgbClr val="F59E0B"/>
                </a:solidFill>
                <a:latin typeface="Arial"/>
              </a:rPr>
              <a:t>The resource</a:t>
            </a:r>
          </a:p>
          <a:p>
            <a:pPr algn="l">
              <a:spcAft>
                <a:spcPts val="300"/>
              </a:spcAft>
            </a:pPr>
            <a:r>
              <a:rPr sz="1200" b="0">
                <a:solidFill>
                  <a:srgbClr val="161B26"/>
                </a:solidFill>
                <a:latin typeface="Arial"/>
              </a:rPr>
              <a:t>Teleportation, superdense coding and QKD all consume entanglement.</a:t>
            </a:r>
          </a:p>
        </p:txBody>
      </p:sp>
      <p:sp>
        <p:nvSpPr>
          <p:cNvPr id="20" name="TextBox 19"/>
          <p:cNvSpPr txBox="1"/>
          <p:nvPr/>
        </p:nvSpPr>
        <p:spPr>
          <a:xfrm>
            <a:off x="365760" y="6446520"/>
            <a:ext cx="6858000" cy="320040"/>
          </a:xfrm>
          <a:prstGeom prst="rect">
            <a:avLst/>
          </a:prstGeom>
          <a:noFill/>
        </p:spPr>
        <p:txBody>
          <a:bodyPr wrap="square" anchor="t">
            <a:spAutoFit/>
          </a:bodyPr>
          <a:lstStyle/>
          <a:p>
            <a:pPr algn="l">
              <a:spcAft>
                <a:spcPts val="400"/>
              </a:spcAft>
            </a:pPr>
            <a:r>
              <a:rPr sz="900" b="0">
                <a:solidFill>
                  <a:srgbClr val="5B6372"/>
                </a:solidFill>
                <a:latin typeface="Arial"/>
              </a:rPr>
              <a:t>Securing the Future with Quantum Computing and Cryptography  ·  TGS-2024043419</a:t>
            </a:r>
          </a:p>
        </p:txBody>
      </p:sp>
      <p:sp>
        <p:nvSpPr>
          <p:cNvPr id="21" name="TextBox 20"/>
          <p:cNvSpPr txBox="1"/>
          <p:nvPr/>
        </p:nvSpPr>
        <p:spPr>
          <a:xfrm>
            <a:off x="4572000" y="6446520"/>
            <a:ext cx="3017520" cy="320040"/>
          </a:xfrm>
          <a:prstGeom prst="rect">
            <a:avLst/>
          </a:prstGeom>
          <a:noFill/>
        </p:spPr>
        <p:txBody>
          <a:bodyPr wrap="square" anchor="t">
            <a:spAutoFit/>
          </a:bodyPr>
          <a:lstStyle/>
          <a:p>
            <a:pPr algn="ctr">
              <a:spcAft>
                <a:spcPts val="400"/>
              </a:spcAft>
            </a:pPr>
            <a:r>
              <a:rPr sz="900" b="0">
                <a:solidFill>
                  <a:srgbClr val="5B6372"/>
                </a:solidFill>
                <a:latin typeface="Arial"/>
              </a:rPr>
              <a:t>© 2026 Tertiary Infotech Academy Pte Ltd</a:t>
            </a:r>
          </a:p>
        </p:txBody>
      </p:sp>
      <p:sp>
        <p:nvSpPr>
          <p:cNvPr id="22" name="TextBox 21"/>
          <p:cNvSpPr txBox="1"/>
          <p:nvPr/>
        </p:nvSpPr>
        <p:spPr>
          <a:xfrm>
            <a:off x="11338560" y="6446520"/>
            <a:ext cx="548640" cy="320040"/>
          </a:xfrm>
          <a:prstGeom prst="rect">
            <a:avLst/>
          </a:prstGeom>
          <a:noFill/>
        </p:spPr>
        <p:txBody>
          <a:bodyPr wrap="square" anchor="t">
            <a:spAutoFit/>
          </a:bodyPr>
          <a:lstStyle/>
          <a:p>
            <a:pPr algn="r">
              <a:spcAft>
                <a:spcPts val="400"/>
              </a:spcAft>
            </a:pPr>
            <a:r>
              <a:rPr sz="900" b="0">
                <a:solidFill>
                  <a:srgbClr val="5B6372"/>
                </a:solidFill>
                <a:latin typeface="Arial"/>
              </a:rPr>
              <a:t>56</a:t>
            </a:r>
          </a:p>
        </p:txBody>
      </p:sp>
    </p:spTree>
  </p:cSld>
  <p:clrMapOvr>
    <a:masterClrMapping/>
  </p:clrMapOvr>
</p:sld>
</file>

<file path=ppt/slides/slide58.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256032" cy="1417320"/>
          </a:xfrm>
          <a:prstGeom prst="rect">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777240" y="457200"/>
            <a:ext cx="10607040" cy="365760"/>
          </a:xfrm>
          <a:prstGeom prst="rect">
            <a:avLst/>
          </a:prstGeom>
          <a:noFill/>
        </p:spPr>
        <p:txBody>
          <a:bodyPr wrap="square" anchor="t">
            <a:spAutoFit/>
          </a:bodyPr>
          <a:lstStyle/>
          <a:p>
            <a:pPr algn="l">
              <a:spcAft>
                <a:spcPts val="400"/>
              </a:spcAft>
            </a:pPr>
            <a:r>
              <a:rPr sz="1400" b="1">
                <a:solidFill>
                  <a:srgbClr val="1F6FEB"/>
                </a:solidFill>
                <a:latin typeface="Arial"/>
              </a:rPr>
              <a:t>WHAT YOU'LL DO</a:t>
            </a:r>
          </a:p>
        </p:txBody>
      </p:sp>
      <p:sp>
        <p:nvSpPr>
          <p:cNvPr id="5" name="TextBox 4"/>
          <p:cNvSpPr txBox="1"/>
          <p:nvPr/>
        </p:nvSpPr>
        <p:spPr>
          <a:xfrm>
            <a:off x="777240" y="822960"/>
            <a:ext cx="10881360" cy="822960"/>
          </a:xfrm>
          <a:prstGeom prst="rect">
            <a:avLst/>
          </a:prstGeom>
          <a:noFill/>
        </p:spPr>
        <p:txBody>
          <a:bodyPr wrap="square" anchor="t">
            <a:spAutoFit/>
          </a:bodyPr>
          <a:lstStyle/>
          <a:p>
            <a:pPr algn="l">
              <a:spcAft>
                <a:spcPts val="400"/>
              </a:spcAft>
            </a:pPr>
            <a:r>
              <a:rPr sz="2900" b="1">
                <a:solidFill>
                  <a:srgbClr val="161B26"/>
                </a:solidFill>
                <a:latin typeface="Arial"/>
              </a:rPr>
              <a:t>Hands-On Activities — Introduction to Quantum Computing Systems</a:t>
            </a:r>
          </a:p>
        </p:txBody>
      </p:sp>
      <p:sp>
        <p:nvSpPr>
          <p:cNvPr id="6" name="Rectangle 5"/>
          <p:cNvSpPr/>
          <p:nvPr/>
        </p:nvSpPr>
        <p:spPr>
          <a:xfrm>
            <a:off x="777240" y="1554480"/>
            <a:ext cx="10634472" cy="18288"/>
          </a:xfrm>
          <a:prstGeom prst="rect">
            <a:avLst/>
          </a:prstGeom>
          <a:solidFill>
            <a:srgbClr val="E2E8F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Rectangle 6"/>
          <p:cNvSpPr/>
          <p:nvPr/>
        </p:nvSpPr>
        <p:spPr>
          <a:xfrm>
            <a:off x="777240" y="1783080"/>
            <a:ext cx="3337560" cy="4297680"/>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Rectangle 7"/>
          <p:cNvSpPr/>
          <p:nvPr/>
        </p:nvSpPr>
        <p:spPr>
          <a:xfrm>
            <a:off x="777240" y="1783080"/>
            <a:ext cx="3337560" cy="109728"/>
          </a:xfrm>
          <a:prstGeom prst="rect">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TextBox 8"/>
          <p:cNvSpPr txBox="1"/>
          <p:nvPr/>
        </p:nvSpPr>
        <p:spPr>
          <a:xfrm>
            <a:off x="1005840" y="2011680"/>
            <a:ext cx="2926080" cy="548640"/>
          </a:xfrm>
          <a:prstGeom prst="rect">
            <a:avLst/>
          </a:prstGeom>
          <a:noFill/>
        </p:spPr>
        <p:txBody>
          <a:bodyPr wrap="square" anchor="t">
            <a:spAutoFit/>
          </a:bodyPr>
          <a:lstStyle/>
          <a:p>
            <a:pPr algn="l">
              <a:spcAft>
                <a:spcPts val="400"/>
              </a:spcAft>
            </a:pPr>
            <a:r>
              <a:rPr sz="1900" b="1">
                <a:solidFill>
                  <a:srgbClr val="1F6FEB"/>
                </a:solidFill>
                <a:latin typeface="Arial"/>
              </a:rPr>
              <a:t>Activity 2</a:t>
            </a:r>
          </a:p>
        </p:txBody>
      </p:sp>
      <p:sp>
        <p:nvSpPr>
          <p:cNvPr id="10" name="TextBox 9"/>
          <p:cNvSpPr txBox="1"/>
          <p:nvPr/>
        </p:nvSpPr>
        <p:spPr>
          <a:xfrm>
            <a:off x="1005840" y="2697480"/>
            <a:ext cx="2926080" cy="3108960"/>
          </a:xfrm>
          <a:prstGeom prst="rect">
            <a:avLst/>
          </a:prstGeom>
          <a:noFill/>
        </p:spPr>
        <p:txBody>
          <a:bodyPr wrap="square">
            <a:spAutoFit/>
          </a:bodyPr>
          <a:lstStyle/>
          <a:p>
            <a:pPr>
              <a:spcAft>
                <a:spcPts val="900"/>
              </a:spcAft>
            </a:pPr>
            <a:r>
              <a:rPr sz="1400">
                <a:solidFill>
                  <a:srgbClr val="161B26"/>
                </a:solidFill>
                <a:latin typeface="Arial"/>
              </a:rPr>
              <a:t>•  Visualising a Qubit on the Bloch Sphere</a:t>
            </a:r>
          </a:p>
        </p:txBody>
      </p:sp>
      <p:sp>
        <p:nvSpPr>
          <p:cNvPr id="11" name="Rectangle 10"/>
          <p:cNvSpPr/>
          <p:nvPr/>
        </p:nvSpPr>
        <p:spPr>
          <a:xfrm>
            <a:off x="4572000" y="1783080"/>
            <a:ext cx="3337560" cy="4297680"/>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 name="Rectangle 11"/>
          <p:cNvSpPr/>
          <p:nvPr/>
        </p:nvSpPr>
        <p:spPr>
          <a:xfrm>
            <a:off x="4572000" y="1783080"/>
            <a:ext cx="3337560" cy="109728"/>
          </a:xfrm>
          <a:prstGeom prst="rect">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 name="TextBox 12"/>
          <p:cNvSpPr txBox="1"/>
          <p:nvPr/>
        </p:nvSpPr>
        <p:spPr>
          <a:xfrm>
            <a:off x="4800600" y="2011680"/>
            <a:ext cx="2926080" cy="548640"/>
          </a:xfrm>
          <a:prstGeom prst="rect">
            <a:avLst/>
          </a:prstGeom>
          <a:noFill/>
        </p:spPr>
        <p:txBody>
          <a:bodyPr wrap="square" anchor="t">
            <a:spAutoFit/>
          </a:bodyPr>
          <a:lstStyle/>
          <a:p>
            <a:pPr algn="l">
              <a:spcAft>
                <a:spcPts val="400"/>
              </a:spcAft>
            </a:pPr>
            <a:r>
              <a:rPr sz="1900" b="1">
                <a:solidFill>
                  <a:srgbClr val="10B981"/>
                </a:solidFill>
                <a:latin typeface="Arial"/>
              </a:rPr>
              <a:t>Activity 3</a:t>
            </a:r>
          </a:p>
        </p:txBody>
      </p:sp>
      <p:sp>
        <p:nvSpPr>
          <p:cNvPr id="14" name="TextBox 13"/>
          <p:cNvSpPr txBox="1"/>
          <p:nvPr/>
        </p:nvSpPr>
        <p:spPr>
          <a:xfrm>
            <a:off x="4800600" y="2697480"/>
            <a:ext cx="2926080" cy="3108960"/>
          </a:xfrm>
          <a:prstGeom prst="rect">
            <a:avLst/>
          </a:prstGeom>
          <a:noFill/>
        </p:spPr>
        <p:txBody>
          <a:bodyPr wrap="square">
            <a:spAutoFit/>
          </a:bodyPr>
          <a:lstStyle/>
          <a:p>
            <a:pPr>
              <a:spcAft>
                <a:spcPts val="900"/>
              </a:spcAft>
            </a:pPr>
            <a:r>
              <a:rPr sz="1400">
                <a:solidFill>
                  <a:srgbClr val="161B26"/>
                </a:solidFill>
                <a:latin typeface="Arial"/>
              </a:rPr>
              <a:t>•  Superposition and Entanglement on IBM Quantum</a:t>
            </a:r>
          </a:p>
        </p:txBody>
      </p:sp>
      <p:sp>
        <p:nvSpPr>
          <p:cNvPr id="15" name="Rectangle 14"/>
          <p:cNvSpPr/>
          <p:nvPr/>
        </p:nvSpPr>
        <p:spPr>
          <a:xfrm>
            <a:off x="8366760" y="1783080"/>
            <a:ext cx="3337560" cy="4297680"/>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6" name="Rectangle 15"/>
          <p:cNvSpPr/>
          <p:nvPr/>
        </p:nvSpPr>
        <p:spPr>
          <a:xfrm>
            <a:off x="8366760" y="1783080"/>
            <a:ext cx="3337560" cy="109728"/>
          </a:xfrm>
          <a:prstGeom prst="rect">
            <a:avLst/>
          </a:prstGeom>
          <a:solidFill>
            <a:srgbClr val="7C3AE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7" name="TextBox 16"/>
          <p:cNvSpPr txBox="1"/>
          <p:nvPr/>
        </p:nvSpPr>
        <p:spPr>
          <a:xfrm>
            <a:off x="8595360" y="2011680"/>
            <a:ext cx="2926080" cy="548640"/>
          </a:xfrm>
          <a:prstGeom prst="rect">
            <a:avLst/>
          </a:prstGeom>
          <a:noFill/>
        </p:spPr>
        <p:txBody>
          <a:bodyPr wrap="square" anchor="t">
            <a:spAutoFit/>
          </a:bodyPr>
          <a:lstStyle/>
          <a:p>
            <a:pPr algn="l">
              <a:spcAft>
                <a:spcPts val="400"/>
              </a:spcAft>
            </a:pPr>
            <a:r>
              <a:rPr sz="1900" b="1">
                <a:solidFill>
                  <a:srgbClr val="7C3AED"/>
                </a:solidFill>
                <a:latin typeface="Arial"/>
              </a:rPr>
              <a:t>—</a:t>
            </a:r>
          </a:p>
        </p:txBody>
      </p:sp>
      <p:sp>
        <p:nvSpPr>
          <p:cNvPr id="18" name="TextBox 17"/>
          <p:cNvSpPr txBox="1"/>
          <p:nvPr/>
        </p:nvSpPr>
        <p:spPr>
          <a:xfrm>
            <a:off x="8595360" y="2697480"/>
            <a:ext cx="2926080" cy="3108960"/>
          </a:xfrm>
          <a:prstGeom prst="rect">
            <a:avLst/>
          </a:prstGeom>
          <a:noFill/>
        </p:spPr>
        <p:txBody>
          <a:bodyPr wrap="square">
            <a:spAutoFit/>
          </a:bodyPr>
          <a:lstStyle/>
          <a:p>
            <a:pPr>
              <a:spcAft>
                <a:spcPts val="900"/>
              </a:spcAft>
            </a:pPr>
            <a:r>
              <a:rPr sz="1400">
                <a:solidFill>
                  <a:srgbClr val="161B26"/>
                </a:solidFill>
                <a:latin typeface="Arial"/>
              </a:rPr>
              <a:t>•  —</a:t>
            </a:r>
          </a:p>
        </p:txBody>
      </p:sp>
      <p:sp>
        <p:nvSpPr>
          <p:cNvPr id="19" name="TextBox 18"/>
          <p:cNvSpPr txBox="1"/>
          <p:nvPr/>
        </p:nvSpPr>
        <p:spPr>
          <a:xfrm>
            <a:off x="365760" y="6446520"/>
            <a:ext cx="6858000" cy="320040"/>
          </a:xfrm>
          <a:prstGeom prst="rect">
            <a:avLst/>
          </a:prstGeom>
          <a:noFill/>
        </p:spPr>
        <p:txBody>
          <a:bodyPr wrap="square" anchor="t">
            <a:spAutoFit/>
          </a:bodyPr>
          <a:lstStyle/>
          <a:p>
            <a:pPr algn="l">
              <a:spcAft>
                <a:spcPts val="400"/>
              </a:spcAft>
            </a:pPr>
            <a:r>
              <a:rPr sz="900" b="0">
                <a:solidFill>
                  <a:srgbClr val="5B6372"/>
                </a:solidFill>
                <a:latin typeface="Arial"/>
              </a:rPr>
              <a:t>Securing the Future with Quantum Computing and Cryptography  ·  TGS-2024043419</a:t>
            </a:r>
          </a:p>
        </p:txBody>
      </p:sp>
      <p:sp>
        <p:nvSpPr>
          <p:cNvPr id="20" name="TextBox 19"/>
          <p:cNvSpPr txBox="1"/>
          <p:nvPr/>
        </p:nvSpPr>
        <p:spPr>
          <a:xfrm>
            <a:off x="4572000" y="6446520"/>
            <a:ext cx="3017520" cy="320040"/>
          </a:xfrm>
          <a:prstGeom prst="rect">
            <a:avLst/>
          </a:prstGeom>
          <a:noFill/>
        </p:spPr>
        <p:txBody>
          <a:bodyPr wrap="square" anchor="t">
            <a:spAutoFit/>
          </a:bodyPr>
          <a:lstStyle/>
          <a:p>
            <a:pPr algn="ctr">
              <a:spcAft>
                <a:spcPts val="400"/>
              </a:spcAft>
            </a:pPr>
            <a:r>
              <a:rPr sz="900" b="0">
                <a:solidFill>
                  <a:srgbClr val="5B6372"/>
                </a:solidFill>
                <a:latin typeface="Arial"/>
              </a:rPr>
              <a:t>© 2026 Tertiary Infotech Academy Pte Ltd</a:t>
            </a:r>
          </a:p>
        </p:txBody>
      </p:sp>
      <p:sp>
        <p:nvSpPr>
          <p:cNvPr id="21" name="TextBox 20"/>
          <p:cNvSpPr txBox="1"/>
          <p:nvPr/>
        </p:nvSpPr>
        <p:spPr>
          <a:xfrm>
            <a:off x="11338560" y="6446520"/>
            <a:ext cx="548640" cy="320040"/>
          </a:xfrm>
          <a:prstGeom prst="rect">
            <a:avLst/>
          </a:prstGeom>
          <a:noFill/>
        </p:spPr>
        <p:txBody>
          <a:bodyPr wrap="square" anchor="t">
            <a:spAutoFit/>
          </a:bodyPr>
          <a:lstStyle/>
          <a:p>
            <a:pPr algn="r">
              <a:spcAft>
                <a:spcPts val="400"/>
              </a:spcAft>
            </a:pPr>
            <a:r>
              <a:rPr sz="900" b="0">
                <a:solidFill>
                  <a:srgbClr val="5B6372"/>
                </a:solidFill>
                <a:latin typeface="Arial"/>
              </a:rPr>
              <a:t>57</a:t>
            </a:r>
          </a:p>
        </p:txBody>
      </p:sp>
    </p:spTree>
  </p:cSld>
  <p:clrMapOvr>
    <a:masterClrMapping/>
  </p:clrMapOvr>
</p:sld>
</file>

<file path=ppt/slides/slide59.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256032" cy="1417320"/>
          </a:xfrm>
          <a:prstGeom prst="rect">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777240" y="457200"/>
            <a:ext cx="10607040" cy="365760"/>
          </a:xfrm>
          <a:prstGeom prst="rect">
            <a:avLst/>
          </a:prstGeom>
          <a:noFill/>
        </p:spPr>
        <p:txBody>
          <a:bodyPr wrap="square" anchor="t">
            <a:spAutoFit/>
          </a:bodyPr>
          <a:lstStyle/>
          <a:p>
            <a:pPr algn="l">
              <a:spcAft>
                <a:spcPts val="400"/>
              </a:spcAft>
            </a:pPr>
            <a:r>
              <a:rPr sz="1400" b="1">
                <a:solidFill>
                  <a:srgbClr val="10B981"/>
                </a:solidFill>
                <a:latin typeface="Arial"/>
              </a:rPr>
              <a:t>TOPIC 02 · HANDS-ON ACTIVITY</a:t>
            </a:r>
          </a:p>
        </p:txBody>
      </p:sp>
      <p:sp>
        <p:nvSpPr>
          <p:cNvPr id="5" name="TextBox 4"/>
          <p:cNvSpPr txBox="1"/>
          <p:nvPr/>
        </p:nvSpPr>
        <p:spPr>
          <a:xfrm>
            <a:off x="777240" y="822960"/>
            <a:ext cx="10881360" cy="822960"/>
          </a:xfrm>
          <a:prstGeom prst="rect">
            <a:avLst/>
          </a:prstGeom>
          <a:noFill/>
        </p:spPr>
        <p:txBody>
          <a:bodyPr wrap="square" anchor="t">
            <a:spAutoFit/>
          </a:bodyPr>
          <a:lstStyle/>
          <a:p>
            <a:pPr algn="l">
              <a:spcAft>
                <a:spcPts val="400"/>
              </a:spcAft>
            </a:pPr>
            <a:r>
              <a:rPr sz="2900" b="1">
                <a:solidFill>
                  <a:srgbClr val="161B26"/>
                </a:solidFill>
                <a:latin typeface="Arial"/>
              </a:rPr>
              <a:t>Visualising a Qubit on the Bloch Sphere</a:t>
            </a:r>
          </a:p>
        </p:txBody>
      </p:sp>
      <p:sp>
        <p:nvSpPr>
          <p:cNvPr id="6" name="Rectangle 5"/>
          <p:cNvSpPr/>
          <p:nvPr/>
        </p:nvSpPr>
        <p:spPr>
          <a:xfrm>
            <a:off x="777240" y="1554480"/>
            <a:ext cx="10634472" cy="18288"/>
          </a:xfrm>
          <a:prstGeom prst="rect">
            <a:avLst/>
          </a:prstGeom>
          <a:solidFill>
            <a:srgbClr val="E2E8F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Rectangle 6"/>
          <p:cNvSpPr/>
          <p:nvPr/>
        </p:nvSpPr>
        <p:spPr>
          <a:xfrm>
            <a:off x="9646920" y="457200"/>
            <a:ext cx="1783080" cy="457200"/>
          </a:xfrm>
          <a:prstGeom prst="rect">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TextBox 7"/>
          <p:cNvSpPr txBox="1"/>
          <p:nvPr/>
        </p:nvSpPr>
        <p:spPr>
          <a:xfrm>
            <a:off x="9646920" y="457200"/>
            <a:ext cx="1783080" cy="457200"/>
          </a:xfrm>
          <a:prstGeom prst="rect">
            <a:avLst/>
          </a:prstGeom>
          <a:noFill/>
        </p:spPr>
        <p:txBody>
          <a:bodyPr wrap="square" anchor="ctr">
            <a:spAutoFit/>
          </a:bodyPr>
          <a:lstStyle/>
          <a:p>
            <a:pPr algn="ctr">
              <a:spcAft>
                <a:spcPts val="400"/>
              </a:spcAft>
            </a:pPr>
            <a:r>
              <a:rPr sz="1300" b="1">
                <a:solidFill>
                  <a:srgbClr val="FFFFFF"/>
                </a:solidFill>
                <a:latin typeface="Arial"/>
              </a:rPr>
              <a:t>ACTIVITY 2</a:t>
            </a:r>
          </a:p>
        </p:txBody>
      </p:sp>
      <p:sp>
        <p:nvSpPr>
          <p:cNvPr id="9" name="TextBox 8"/>
          <p:cNvSpPr txBox="1"/>
          <p:nvPr/>
        </p:nvSpPr>
        <p:spPr>
          <a:xfrm>
            <a:off x="777240" y="1828800"/>
            <a:ext cx="10607040" cy="1051560"/>
          </a:xfrm>
          <a:prstGeom prst="rect">
            <a:avLst/>
          </a:prstGeom>
          <a:noFill/>
        </p:spPr>
        <p:txBody>
          <a:bodyPr wrap="square" anchor="t">
            <a:spAutoFit/>
          </a:bodyPr>
          <a:lstStyle/>
          <a:p>
            <a:pPr algn="l">
              <a:spcAft>
                <a:spcPts val="400"/>
              </a:spcAft>
            </a:pPr>
            <a:r>
              <a:rPr sz="1700" b="0">
                <a:solidFill>
                  <a:srgbClr val="161B26"/>
                </a:solidFill>
                <a:latin typeface="Arial"/>
              </a:rPr>
              <a:t>Build single-qubit states in Qiskit and plot them on the Bloch sphere, so you can see how gates rotate a qubit and what superposition and phase actually look like geometrically.</a:t>
            </a:r>
          </a:p>
        </p:txBody>
      </p:sp>
      <p:sp>
        <p:nvSpPr>
          <p:cNvPr id="10" name="Rectangle 9"/>
          <p:cNvSpPr/>
          <p:nvPr/>
        </p:nvSpPr>
        <p:spPr>
          <a:xfrm>
            <a:off x="777240" y="2971800"/>
            <a:ext cx="10634472" cy="457200"/>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 name="TextBox 10"/>
          <p:cNvSpPr txBox="1"/>
          <p:nvPr/>
        </p:nvSpPr>
        <p:spPr>
          <a:xfrm>
            <a:off x="960120" y="2971800"/>
            <a:ext cx="10241280" cy="457200"/>
          </a:xfrm>
          <a:prstGeom prst="rect">
            <a:avLst/>
          </a:prstGeom>
          <a:noFill/>
        </p:spPr>
        <p:txBody>
          <a:bodyPr wrap="square" anchor="ctr">
            <a:spAutoFit/>
          </a:bodyPr>
          <a:lstStyle/>
          <a:p>
            <a:pPr algn="l">
              <a:spcAft>
                <a:spcPts val="400"/>
              </a:spcAft>
            </a:pPr>
            <a:r>
              <a:rPr sz="1100" b="1">
                <a:solidFill>
                  <a:srgbClr val="1F6FEB"/>
                </a:solidFill>
                <a:latin typeface="Arial"/>
              </a:rPr>
              <a:t>MAPS TO  </a:t>
            </a:r>
            <a:r>
              <a:rPr sz="1250" b="0">
                <a:solidFill>
                  <a:srgbClr val="161B26"/>
                </a:solidFill>
                <a:latin typeface="Arial"/>
              </a:rPr>
              <a:t>LO2 — Decide on appropriate physical methodologies specific to quantum computing problems</a:t>
            </a:r>
          </a:p>
        </p:txBody>
      </p:sp>
      <p:sp>
        <p:nvSpPr>
          <p:cNvPr id="12" name="Rectangle 11"/>
          <p:cNvSpPr/>
          <p:nvPr/>
        </p:nvSpPr>
        <p:spPr>
          <a:xfrm>
            <a:off x="777240" y="3611880"/>
            <a:ext cx="10634472" cy="1234440"/>
          </a:xfrm>
          <a:prstGeom prst="rect">
            <a:avLst/>
          </a:prstGeom>
          <a:solidFill>
            <a:srgbClr val="E8F7E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 name="TextBox 12"/>
          <p:cNvSpPr txBox="1"/>
          <p:nvPr/>
        </p:nvSpPr>
        <p:spPr>
          <a:xfrm>
            <a:off x="1051560" y="3767328"/>
            <a:ext cx="10058400" cy="365760"/>
          </a:xfrm>
          <a:prstGeom prst="rect">
            <a:avLst/>
          </a:prstGeom>
          <a:noFill/>
        </p:spPr>
        <p:txBody>
          <a:bodyPr wrap="square" anchor="t">
            <a:spAutoFit/>
          </a:bodyPr>
          <a:lstStyle/>
          <a:p>
            <a:pPr algn="l">
              <a:spcAft>
                <a:spcPts val="400"/>
              </a:spcAft>
            </a:pPr>
            <a:r>
              <a:rPr sz="1200" b="1">
                <a:solidFill>
                  <a:srgbClr val="127A3E"/>
                </a:solidFill>
                <a:latin typeface="Arial"/>
              </a:rPr>
              <a:t>YOU'LL PRODUCE</a:t>
            </a:r>
          </a:p>
        </p:txBody>
      </p:sp>
      <p:sp>
        <p:nvSpPr>
          <p:cNvPr id="14" name="TextBox 13"/>
          <p:cNvSpPr txBox="1"/>
          <p:nvPr/>
        </p:nvSpPr>
        <p:spPr>
          <a:xfrm>
            <a:off x="1051560" y="4133087"/>
            <a:ext cx="10058400" cy="640080"/>
          </a:xfrm>
          <a:prstGeom prst="rect">
            <a:avLst/>
          </a:prstGeom>
          <a:noFill/>
        </p:spPr>
        <p:txBody>
          <a:bodyPr wrap="square" anchor="t">
            <a:spAutoFit/>
          </a:bodyPr>
          <a:lstStyle/>
          <a:p>
            <a:pPr algn="l">
              <a:spcAft>
                <a:spcPts val="400"/>
              </a:spcAft>
            </a:pPr>
            <a:r>
              <a:rPr sz="1550" b="1">
                <a:solidFill>
                  <a:srgbClr val="161B26"/>
                </a:solidFill>
                <a:latin typeface="Arial"/>
              </a:rPr>
              <a:t>A set of Bloch-sphere plots showing |0&gt;, |1&gt;, |+&gt;, |-&gt; and an arbitrary Ry-rotated state.</a:t>
            </a:r>
          </a:p>
        </p:txBody>
      </p:sp>
      <p:sp>
        <p:nvSpPr>
          <p:cNvPr id="15" name="Rectangle 14"/>
          <p:cNvSpPr/>
          <p:nvPr/>
        </p:nvSpPr>
        <p:spPr>
          <a:xfrm>
            <a:off x="777240" y="5029200"/>
            <a:ext cx="10634472" cy="960120"/>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6" name="TextBox 15"/>
          <p:cNvSpPr txBox="1"/>
          <p:nvPr/>
        </p:nvSpPr>
        <p:spPr>
          <a:xfrm>
            <a:off x="1051560" y="5138928"/>
            <a:ext cx="10058400" cy="365760"/>
          </a:xfrm>
          <a:prstGeom prst="rect">
            <a:avLst/>
          </a:prstGeom>
          <a:noFill/>
        </p:spPr>
        <p:txBody>
          <a:bodyPr wrap="square" anchor="t">
            <a:spAutoFit/>
          </a:bodyPr>
          <a:lstStyle/>
          <a:p>
            <a:pPr algn="l">
              <a:spcAft>
                <a:spcPts val="400"/>
              </a:spcAft>
            </a:pPr>
            <a:r>
              <a:rPr sz="1200" b="1">
                <a:solidFill>
                  <a:srgbClr val="5B6372"/>
                </a:solidFill>
                <a:latin typeface="Arial"/>
              </a:rPr>
              <a:t>Tools:  </a:t>
            </a:r>
            <a:r>
              <a:rPr sz="1200" b="0">
                <a:solidFill>
                  <a:srgbClr val="5B6372"/>
                </a:solidFill>
                <a:latin typeface="Arial"/>
              </a:rPr>
              <a:t>Qiskit 2.x, matplotlib, Google Colab</a:t>
            </a:r>
          </a:p>
        </p:txBody>
      </p:sp>
      <p:sp>
        <p:nvSpPr>
          <p:cNvPr id="17" name="TextBox 16"/>
          <p:cNvSpPr txBox="1"/>
          <p:nvPr/>
        </p:nvSpPr>
        <p:spPr>
          <a:xfrm>
            <a:off x="1051560" y="5504688"/>
            <a:ext cx="10058400" cy="365760"/>
          </a:xfrm>
          <a:prstGeom prst="rect">
            <a:avLst/>
          </a:prstGeom>
          <a:noFill/>
        </p:spPr>
        <p:txBody>
          <a:bodyPr wrap="square" anchor="t">
            <a:spAutoFit/>
          </a:bodyPr>
          <a:lstStyle/>
          <a:p>
            <a:pPr algn="l">
              <a:spcAft>
                <a:spcPts val="400"/>
              </a:spcAft>
            </a:pPr>
            <a:r>
              <a:rPr sz="1200" b="1">
                <a:solidFill>
                  <a:srgbClr val="1F6FEB"/>
                </a:solidFill>
                <a:latin typeface="Arial"/>
              </a:rPr>
              <a:t>Full step-by-step guide:  </a:t>
            </a:r>
            <a:r>
              <a:rPr sz="1200" b="0">
                <a:solidFill>
                  <a:srgbClr val="161B26"/>
                </a:solidFill>
                <a:latin typeface="Arial"/>
              </a:rPr>
              <a:t>Learner Guide — Activity 2: Visualising a Qubit on the Bloch Sphere</a:t>
            </a:r>
          </a:p>
        </p:txBody>
      </p:sp>
      <p:sp>
        <p:nvSpPr>
          <p:cNvPr id="18" name="TextBox 17"/>
          <p:cNvSpPr txBox="1"/>
          <p:nvPr/>
        </p:nvSpPr>
        <p:spPr>
          <a:xfrm>
            <a:off x="365760" y="6446520"/>
            <a:ext cx="6858000" cy="320040"/>
          </a:xfrm>
          <a:prstGeom prst="rect">
            <a:avLst/>
          </a:prstGeom>
          <a:noFill/>
        </p:spPr>
        <p:txBody>
          <a:bodyPr wrap="square" anchor="t">
            <a:spAutoFit/>
          </a:bodyPr>
          <a:lstStyle/>
          <a:p>
            <a:pPr algn="l">
              <a:spcAft>
                <a:spcPts val="400"/>
              </a:spcAft>
            </a:pPr>
            <a:r>
              <a:rPr sz="900" b="0">
                <a:solidFill>
                  <a:srgbClr val="5B6372"/>
                </a:solidFill>
                <a:latin typeface="Arial"/>
              </a:rPr>
              <a:t>Securing the Future with Quantum Computing and Cryptography  ·  TGS-2024043419</a:t>
            </a:r>
          </a:p>
        </p:txBody>
      </p:sp>
      <p:sp>
        <p:nvSpPr>
          <p:cNvPr id="19" name="TextBox 18"/>
          <p:cNvSpPr txBox="1"/>
          <p:nvPr/>
        </p:nvSpPr>
        <p:spPr>
          <a:xfrm>
            <a:off x="4572000" y="6446520"/>
            <a:ext cx="3017520" cy="320040"/>
          </a:xfrm>
          <a:prstGeom prst="rect">
            <a:avLst/>
          </a:prstGeom>
          <a:noFill/>
        </p:spPr>
        <p:txBody>
          <a:bodyPr wrap="square" anchor="t">
            <a:spAutoFit/>
          </a:bodyPr>
          <a:lstStyle/>
          <a:p>
            <a:pPr algn="ctr">
              <a:spcAft>
                <a:spcPts val="400"/>
              </a:spcAft>
            </a:pPr>
            <a:r>
              <a:rPr sz="900" b="0">
                <a:solidFill>
                  <a:srgbClr val="5B6372"/>
                </a:solidFill>
                <a:latin typeface="Arial"/>
              </a:rPr>
              <a:t>© 2026 Tertiary Infotech Academy Pte Ltd</a:t>
            </a:r>
          </a:p>
        </p:txBody>
      </p:sp>
      <p:sp>
        <p:nvSpPr>
          <p:cNvPr id="20" name="TextBox 19"/>
          <p:cNvSpPr txBox="1"/>
          <p:nvPr/>
        </p:nvSpPr>
        <p:spPr>
          <a:xfrm>
            <a:off x="11338560" y="6446520"/>
            <a:ext cx="548640" cy="320040"/>
          </a:xfrm>
          <a:prstGeom prst="rect">
            <a:avLst/>
          </a:prstGeom>
          <a:noFill/>
        </p:spPr>
        <p:txBody>
          <a:bodyPr wrap="square" anchor="t">
            <a:spAutoFit/>
          </a:bodyPr>
          <a:lstStyle/>
          <a:p>
            <a:pPr algn="r">
              <a:spcAft>
                <a:spcPts val="400"/>
              </a:spcAft>
            </a:pPr>
            <a:r>
              <a:rPr sz="900" b="0">
                <a:solidFill>
                  <a:srgbClr val="5B6372"/>
                </a:solidFill>
                <a:latin typeface="Arial"/>
              </a:rPr>
              <a:t>58</a:t>
            </a:r>
          </a:p>
        </p:txBody>
      </p:sp>
    </p:spTree>
  </p:cSld>
  <p:clrMapOvr>
    <a:masterClrMapping/>
  </p:clrMapOvr>
</p:sld>
</file>

<file path=ppt/slides/slide60.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256032" cy="1417320"/>
          </a:xfrm>
          <a:prstGeom prst="rect">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777240" y="457200"/>
            <a:ext cx="10607040" cy="365760"/>
          </a:xfrm>
          <a:prstGeom prst="rect">
            <a:avLst/>
          </a:prstGeom>
          <a:noFill/>
        </p:spPr>
        <p:txBody>
          <a:bodyPr wrap="square" anchor="t">
            <a:spAutoFit/>
          </a:bodyPr>
          <a:lstStyle/>
          <a:p>
            <a:pPr algn="l">
              <a:spcAft>
                <a:spcPts val="400"/>
              </a:spcAft>
            </a:pPr>
            <a:r>
              <a:rPr sz="1400" b="1">
                <a:solidFill>
                  <a:srgbClr val="10B981"/>
                </a:solidFill>
                <a:latin typeface="Arial"/>
              </a:rPr>
              <a:t>ACTIVITY 2 · VERIFY &amp; DEBRIEF</a:t>
            </a:r>
          </a:p>
        </p:txBody>
      </p:sp>
      <p:sp>
        <p:nvSpPr>
          <p:cNvPr id="5" name="TextBox 4"/>
          <p:cNvSpPr txBox="1"/>
          <p:nvPr/>
        </p:nvSpPr>
        <p:spPr>
          <a:xfrm>
            <a:off x="777240" y="822960"/>
            <a:ext cx="10881360" cy="822960"/>
          </a:xfrm>
          <a:prstGeom prst="rect">
            <a:avLst/>
          </a:prstGeom>
          <a:noFill/>
        </p:spPr>
        <p:txBody>
          <a:bodyPr wrap="square" anchor="t">
            <a:spAutoFit/>
          </a:bodyPr>
          <a:lstStyle/>
          <a:p>
            <a:pPr algn="l">
              <a:spcAft>
                <a:spcPts val="400"/>
              </a:spcAft>
            </a:pPr>
            <a:r>
              <a:rPr sz="2900" b="1">
                <a:solidFill>
                  <a:srgbClr val="161B26"/>
                </a:solidFill>
                <a:latin typeface="Arial"/>
              </a:rPr>
              <a:t>Visualising a Qubit on the Bloch Sphere</a:t>
            </a:r>
          </a:p>
        </p:txBody>
      </p:sp>
      <p:sp>
        <p:nvSpPr>
          <p:cNvPr id="6" name="Rectangle 5"/>
          <p:cNvSpPr/>
          <p:nvPr/>
        </p:nvSpPr>
        <p:spPr>
          <a:xfrm>
            <a:off x="777240" y="1554480"/>
            <a:ext cx="10634472" cy="18288"/>
          </a:xfrm>
          <a:prstGeom prst="rect">
            <a:avLst/>
          </a:prstGeom>
          <a:solidFill>
            <a:srgbClr val="E2E8F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Rectangle 6"/>
          <p:cNvSpPr/>
          <p:nvPr/>
        </p:nvSpPr>
        <p:spPr>
          <a:xfrm>
            <a:off x="777240" y="1783080"/>
            <a:ext cx="10634472" cy="2148840"/>
          </a:xfrm>
          <a:prstGeom prst="rect">
            <a:avLst/>
          </a:prstGeom>
          <a:solidFill>
            <a:srgbClr val="E8F7E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Rectangle 7"/>
          <p:cNvSpPr/>
          <p:nvPr/>
        </p:nvSpPr>
        <p:spPr>
          <a:xfrm>
            <a:off x="777240" y="1783080"/>
            <a:ext cx="100584" cy="2148840"/>
          </a:xfrm>
          <a:prstGeom prst="rect">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TextBox 8"/>
          <p:cNvSpPr txBox="1"/>
          <p:nvPr/>
        </p:nvSpPr>
        <p:spPr>
          <a:xfrm>
            <a:off x="1143000" y="1965960"/>
            <a:ext cx="10058400" cy="411480"/>
          </a:xfrm>
          <a:prstGeom prst="rect">
            <a:avLst/>
          </a:prstGeom>
          <a:noFill/>
        </p:spPr>
        <p:txBody>
          <a:bodyPr wrap="square" anchor="t">
            <a:spAutoFit/>
          </a:bodyPr>
          <a:lstStyle/>
          <a:p>
            <a:pPr algn="l">
              <a:spcAft>
                <a:spcPts val="400"/>
              </a:spcAft>
            </a:pPr>
            <a:r>
              <a:rPr sz="1300" b="1">
                <a:solidFill>
                  <a:srgbClr val="127A3E"/>
                </a:solidFill>
                <a:latin typeface="Arial"/>
              </a:rPr>
              <a:t>TEST IT — HOW YOU KNOW IT WORKED</a:t>
            </a:r>
          </a:p>
        </p:txBody>
      </p:sp>
      <p:sp>
        <p:nvSpPr>
          <p:cNvPr id="10" name="TextBox 9"/>
          <p:cNvSpPr txBox="1"/>
          <p:nvPr/>
        </p:nvSpPr>
        <p:spPr>
          <a:xfrm>
            <a:off x="1143000" y="2423160"/>
            <a:ext cx="10058400" cy="1371600"/>
          </a:xfrm>
          <a:prstGeom prst="rect">
            <a:avLst/>
          </a:prstGeom>
          <a:noFill/>
        </p:spPr>
        <p:txBody>
          <a:bodyPr wrap="square" anchor="t">
            <a:spAutoFit/>
          </a:bodyPr>
          <a:lstStyle/>
          <a:p>
            <a:pPr algn="l">
              <a:spcAft>
                <a:spcPts val="400"/>
              </a:spcAft>
            </a:pPr>
            <a:r>
              <a:rPr sz="1600" b="0">
                <a:solidFill>
                  <a:srgbClr val="161B26"/>
                </a:solidFill>
                <a:latin typeface="Arial"/>
              </a:rPr>
              <a:t>|0&gt; sits at the north pole, X moves it to the south pole, H places it on the equator at +x, and the S gate rotates it around the equator while leaving the Z-basis probabilities at 50/50.</a:t>
            </a:r>
          </a:p>
        </p:txBody>
      </p:sp>
      <p:sp>
        <p:nvSpPr>
          <p:cNvPr id="11" name="TextBox 10"/>
          <p:cNvSpPr txBox="1"/>
          <p:nvPr/>
        </p:nvSpPr>
        <p:spPr>
          <a:xfrm>
            <a:off x="777240" y="4096512"/>
            <a:ext cx="10607040" cy="365760"/>
          </a:xfrm>
          <a:prstGeom prst="rect">
            <a:avLst/>
          </a:prstGeom>
          <a:noFill/>
        </p:spPr>
        <p:txBody>
          <a:bodyPr wrap="square" anchor="t">
            <a:spAutoFit/>
          </a:bodyPr>
          <a:lstStyle/>
          <a:p>
            <a:pPr algn="l">
              <a:spcAft>
                <a:spcPts val="400"/>
              </a:spcAft>
            </a:pPr>
            <a:r>
              <a:rPr sz="1300" b="1">
                <a:solidFill>
                  <a:srgbClr val="1F6FEB"/>
                </a:solidFill>
                <a:latin typeface="Arial"/>
              </a:rPr>
              <a:t>DISCUSS WITH YOUR TRAINER</a:t>
            </a:r>
          </a:p>
        </p:txBody>
      </p:sp>
      <p:sp>
        <p:nvSpPr>
          <p:cNvPr id="12" name="Rectangle 11"/>
          <p:cNvSpPr/>
          <p:nvPr/>
        </p:nvSpPr>
        <p:spPr>
          <a:xfrm>
            <a:off x="777240" y="4480560"/>
            <a:ext cx="3447288" cy="1463040"/>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 name="Rectangle 12"/>
          <p:cNvSpPr/>
          <p:nvPr/>
        </p:nvSpPr>
        <p:spPr>
          <a:xfrm>
            <a:off x="777240" y="4480560"/>
            <a:ext cx="3447288" cy="82296"/>
          </a:xfrm>
          <a:prstGeom prst="rect">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 name="TextBox 13"/>
          <p:cNvSpPr txBox="1"/>
          <p:nvPr/>
        </p:nvSpPr>
        <p:spPr>
          <a:xfrm>
            <a:off x="978408" y="4663440"/>
            <a:ext cx="3044952" cy="457200"/>
          </a:xfrm>
          <a:prstGeom prst="rect">
            <a:avLst/>
          </a:prstGeom>
          <a:noFill/>
        </p:spPr>
        <p:txBody>
          <a:bodyPr wrap="square" anchor="t">
            <a:spAutoFit/>
          </a:bodyPr>
          <a:lstStyle/>
          <a:p>
            <a:pPr algn="l">
              <a:spcAft>
                <a:spcPts val="400"/>
              </a:spcAft>
            </a:pPr>
            <a:r>
              <a:rPr sz="1350" b="1">
                <a:solidFill>
                  <a:srgbClr val="1F6FEB"/>
                </a:solidFill>
                <a:latin typeface="Arial"/>
              </a:rPr>
              <a:t>What did the result show?</a:t>
            </a:r>
          </a:p>
        </p:txBody>
      </p:sp>
      <p:sp>
        <p:nvSpPr>
          <p:cNvPr id="15" name="TextBox 14"/>
          <p:cNvSpPr txBox="1"/>
          <p:nvPr/>
        </p:nvSpPr>
        <p:spPr>
          <a:xfrm>
            <a:off x="978408" y="5138928"/>
            <a:ext cx="3044952" cy="731520"/>
          </a:xfrm>
          <a:prstGeom prst="rect">
            <a:avLst/>
          </a:prstGeom>
          <a:noFill/>
        </p:spPr>
        <p:txBody>
          <a:bodyPr wrap="square" anchor="t">
            <a:spAutoFit/>
          </a:bodyPr>
          <a:lstStyle/>
          <a:p>
            <a:pPr algn="l">
              <a:spcAft>
                <a:spcPts val="400"/>
              </a:spcAft>
            </a:pPr>
            <a:r>
              <a:rPr sz="1200" b="0">
                <a:solidFill>
                  <a:srgbClr val="5B6372"/>
                </a:solidFill>
                <a:latin typeface="Arial"/>
              </a:rPr>
              <a:t>Restate the outcome in your own words.</a:t>
            </a:r>
          </a:p>
        </p:txBody>
      </p:sp>
      <p:sp>
        <p:nvSpPr>
          <p:cNvPr id="16" name="Rectangle 15"/>
          <p:cNvSpPr/>
          <p:nvPr/>
        </p:nvSpPr>
        <p:spPr>
          <a:xfrm>
            <a:off x="4370832" y="4480560"/>
            <a:ext cx="3447288" cy="1463040"/>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7" name="Rectangle 16"/>
          <p:cNvSpPr/>
          <p:nvPr/>
        </p:nvSpPr>
        <p:spPr>
          <a:xfrm>
            <a:off x="4370832" y="4480560"/>
            <a:ext cx="3447288" cy="82296"/>
          </a:xfrm>
          <a:prstGeom prst="rect">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8" name="TextBox 17"/>
          <p:cNvSpPr txBox="1"/>
          <p:nvPr/>
        </p:nvSpPr>
        <p:spPr>
          <a:xfrm>
            <a:off x="4572000" y="4663440"/>
            <a:ext cx="3044952" cy="457200"/>
          </a:xfrm>
          <a:prstGeom prst="rect">
            <a:avLst/>
          </a:prstGeom>
          <a:noFill/>
        </p:spPr>
        <p:txBody>
          <a:bodyPr wrap="square" anchor="t">
            <a:spAutoFit/>
          </a:bodyPr>
          <a:lstStyle/>
          <a:p>
            <a:pPr algn="l">
              <a:spcAft>
                <a:spcPts val="400"/>
              </a:spcAft>
            </a:pPr>
            <a:r>
              <a:rPr sz="1350" b="1">
                <a:solidFill>
                  <a:srgbClr val="10B981"/>
                </a:solidFill>
                <a:latin typeface="Arial"/>
              </a:rPr>
              <a:t>Why does it work?</a:t>
            </a:r>
          </a:p>
        </p:txBody>
      </p:sp>
      <p:sp>
        <p:nvSpPr>
          <p:cNvPr id="19" name="TextBox 18"/>
          <p:cNvSpPr txBox="1"/>
          <p:nvPr/>
        </p:nvSpPr>
        <p:spPr>
          <a:xfrm>
            <a:off x="4572000" y="5138928"/>
            <a:ext cx="3044952" cy="731520"/>
          </a:xfrm>
          <a:prstGeom prst="rect">
            <a:avLst/>
          </a:prstGeom>
          <a:noFill/>
        </p:spPr>
        <p:txBody>
          <a:bodyPr wrap="square" anchor="t">
            <a:spAutoFit/>
          </a:bodyPr>
          <a:lstStyle/>
          <a:p>
            <a:pPr algn="l">
              <a:spcAft>
                <a:spcPts val="400"/>
              </a:spcAft>
            </a:pPr>
            <a:r>
              <a:rPr sz="1200" b="0">
                <a:solidFill>
                  <a:srgbClr val="5B6372"/>
                </a:solidFill>
                <a:latin typeface="Arial"/>
              </a:rPr>
              <a:t>Name the quantum principle the activity relies on.</a:t>
            </a:r>
          </a:p>
        </p:txBody>
      </p:sp>
      <p:sp>
        <p:nvSpPr>
          <p:cNvPr id="20" name="Rectangle 19"/>
          <p:cNvSpPr/>
          <p:nvPr/>
        </p:nvSpPr>
        <p:spPr>
          <a:xfrm>
            <a:off x="7964424" y="4480560"/>
            <a:ext cx="3447288" cy="1463040"/>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1" name="Rectangle 20"/>
          <p:cNvSpPr/>
          <p:nvPr/>
        </p:nvSpPr>
        <p:spPr>
          <a:xfrm>
            <a:off x="7964424" y="4480560"/>
            <a:ext cx="3447288" cy="82296"/>
          </a:xfrm>
          <a:prstGeom prst="rect">
            <a:avLst/>
          </a:prstGeom>
          <a:solidFill>
            <a:srgbClr val="7C3AE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2" name="TextBox 21"/>
          <p:cNvSpPr txBox="1"/>
          <p:nvPr/>
        </p:nvSpPr>
        <p:spPr>
          <a:xfrm>
            <a:off x="8165592" y="4663440"/>
            <a:ext cx="3044952" cy="457200"/>
          </a:xfrm>
          <a:prstGeom prst="rect">
            <a:avLst/>
          </a:prstGeom>
          <a:noFill/>
        </p:spPr>
        <p:txBody>
          <a:bodyPr wrap="square" anchor="t">
            <a:spAutoFit/>
          </a:bodyPr>
          <a:lstStyle/>
          <a:p>
            <a:pPr algn="l">
              <a:spcAft>
                <a:spcPts val="400"/>
              </a:spcAft>
            </a:pPr>
            <a:r>
              <a:rPr sz="1350" b="1">
                <a:solidFill>
                  <a:srgbClr val="7C3AED"/>
                </a:solidFill>
                <a:latin typeface="Arial"/>
              </a:rPr>
              <a:t>Where would you use it?</a:t>
            </a:r>
          </a:p>
        </p:txBody>
      </p:sp>
      <p:sp>
        <p:nvSpPr>
          <p:cNvPr id="23" name="TextBox 22"/>
          <p:cNvSpPr txBox="1"/>
          <p:nvPr/>
        </p:nvSpPr>
        <p:spPr>
          <a:xfrm>
            <a:off x="8165592" y="5138928"/>
            <a:ext cx="3044952" cy="731520"/>
          </a:xfrm>
          <a:prstGeom prst="rect">
            <a:avLst/>
          </a:prstGeom>
          <a:noFill/>
        </p:spPr>
        <p:txBody>
          <a:bodyPr wrap="square" anchor="t">
            <a:spAutoFit/>
          </a:bodyPr>
          <a:lstStyle/>
          <a:p>
            <a:pPr algn="l">
              <a:spcAft>
                <a:spcPts val="400"/>
              </a:spcAft>
            </a:pPr>
            <a:r>
              <a:rPr sz="1200" b="0">
                <a:solidFill>
                  <a:srgbClr val="5B6372"/>
                </a:solidFill>
                <a:latin typeface="Arial"/>
              </a:rPr>
              <a:t>Give one realistic application in your own field.</a:t>
            </a:r>
          </a:p>
        </p:txBody>
      </p:sp>
      <p:sp>
        <p:nvSpPr>
          <p:cNvPr id="24" name="TextBox 23"/>
          <p:cNvSpPr txBox="1"/>
          <p:nvPr/>
        </p:nvSpPr>
        <p:spPr>
          <a:xfrm>
            <a:off x="365760" y="6446520"/>
            <a:ext cx="6858000" cy="320040"/>
          </a:xfrm>
          <a:prstGeom prst="rect">
            <a:avLst/>
          </a:prstGeom>
          <a:noFill/>
        </p:spPr>
        <p:txBody>
          <a:bodyPr wrap="square" anchor="t">
            <a:spAutoFit/>
          </a:bodyPr>
          <a:lstStyle/>
          <a:p>
            <a:pPr algn="l">
              <a:spcAft>
                <a:spcPts val="400"/>
              </a:spcAft>
            </a:pPr>
            <a:r>
              <a:rPr sz="900" b="0">
                <a:solidFill>
                  <a:srgbClr val="5B6372"/>
                </a:solidFill>
                <a:latin typeface="Arial"/>
              </a:rPr>
              <a:t>Securing the Future with Quantum Computing and Cryptography  ·  TGS-2024043419</a:t>
            </a:r>
          </a:p>
        </p:txBody>
      </p:sp>
      <p:sp>
        <p:nvSpPr>
          <p:cNvPr id="25" name="TextBox 24"/>
          <p:cNvSpPr txBox="1"/>
          <p:nvPr/>
        </p:nvSpPr>
        <p:spPr>
          <a:xfrm>
            <a:off x="4572000" y="6446520"/>
            <a:ext cx="3017520" cy="320040"/>
          </a:xfrm>
          <a:prstGeom prst="rect">
            <a:avLst/>
          </a:prstGeom>
          <a:noFill/>
        </p:spPr>
        <p:txBody>
          <a:bodyPr wrap="square" anchor="t">
            <a:spAutoFit/>
          </a:bodyPr>
          <a:lstStyle/>
          <a:p>
            <a:pPr algn="ctr">
              <a:spcAft>
                <a:spcPts val="400"/>
              </a:spcAft>
            </a:pPr>
            <a:r>
              <a:rPr sz="900" b="0">
                <a:solidFill>
                  <a:srgbClr val="5B6372"/>
                </a:solidFill>
                <a:latin typeface="Arial"/>
              </a:rPr>
              <a:t>© 2026 Tertiary Infotech Academy Pte Ltd</a:t>
            </a:r>
          </a:p>
        </p:txBody>
      </p:sp>
      <p:sp>
        <p:nvSpPr>
          <p:cNvPr id="26" name="TextBox 25"/>
          <p:cNvSpPr txBox="1"/>
          <p:nvPr/>
        </p:nvSpPr>
        <p:spPr>
          <a:xfrm>
            <a:off x="11338560" y="6446520"/>
            <a:ext cx="548640" cy="320040"/>
          </a:xfrm>
          <a:prstGeom prst="rect">
            <a:avLst/>
          </a:prstGeom>
          <a:noFill/>
        </p:spPr>
        <p:txBody>
          <a:bodyPr wrap="square" anchor="t">
            <a:spAutoFit/>
          </a:bodyPr>
          <a:lstStyle/>
          <a:p>
            <a:pPr algn="r">
              <a:spcAft>
                <a:spcPts val="400"/>
              </a:spcAft>
            </a:pPr>
            <a:r>
              <a:rPr sz="900" b="0">
                <a:solidFill>
                  <a:srgbClr val="5B6372"/>
                </a:solidFill>
                <a:latin typeface="Arial"/>
              </a:rPr>
              <a:t>59</a:t>
            </a:r>
          </a:p>
        </p:txBody>
      </p:sp>
    </p:spTree>
  </p:cSld>
  <p:clrMapOvr>
    <a:masterClrMapping/>
  </p:clrMapOvr>
</p:sld>
</file>

<file path=ppt/slides/slide61.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256032" cy="1417320"/>
          </a:xfrm>
          <a:prstGeom prst="rect">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777240" y="457200"/>
            <a:ext cx="10607040" cy="365760"/>
          </a:xfrm>
          <a:prstGeom prst="rect">
            <a:avLst/>
          </a:prstGeom>
          <a:noFill/>
        </p:spPr>
        <p:txBody>
          <a:bodyPr wrap="square" anchor="t">
            <a:spAutoFit/>
          </a:bodyPr>
          <a:lstStyle/>
          <a:p>
            <a:pPr algn="l">
              <a:spcAft>
                <a:spcPts val="400"/>
              </a:spcAft>
            </a:pPr>
            <a:r>
              <a:rPr sz="1400" b="1">
                <a:solidFill>
                  <a:srgbClr val="10B981"/>
                </a:solidFill>
                <a:latin typeface="Arial"/>
              </a:rPr>
              <a:t>TOPIC 02 · HANDS-ON ACTIVITY</a:t>
            </a:r>
          </a:p>
        </p:txBody>
      </p:sp>
      <p:sp>
        <p:nvSpPr>
          <p:cNvPr id="5" name="TextBox 4"/>
          <p:cNvSpPr txBox="1"/>
          <p:nvPr/>
        </p:nvSpPr>
        <p:spPr>
          <a:xfrm>
            <a:off x="777240" y="822960"/>
            <a:ext cx="10881360" cy="822960"/>
          </a:xfrm>
          <a:prstGeom prst="rect">
            <a:avLst/>
          </a:prstGeom>
          <a:noFill/>
        </p:spPr>
        <p:txBody>
          <a:bodyPr wrap="square" anchor="t">
            <a:spAutoFit/>
          </a:bodyPr>
          <a:lstStyle/>
          <a:p>
            <a:pPr algn="l">
              <a:spcAft>
                <a:spcPts val="400"/>
              </a:spcAft>
            </a:pPr>
            <a:r>
              <a:rPr sz="2900" b="1">
                <a:solidFill>
                  <a:srgbClr val="161B26"/>
                </a:solidFill>
                <a:latin typeface="Arial"/>
              </a:rPr>
              <a:t>Superposition and Entanglement on IBM Quantum</a:t>
            </a:r>
          </a:p>
        </p:txBody>
      </p:sp>
      <p:sp>
        <p:nvSpPr>
          <p:cNvPr id="6" name="Rectangle 5"/>
          <p:cNvSpPr/>
          <p:nvPr/>
        </p:nvSpPr>
        <p:spPr>
          <a:xfrm>
            <a:off x="777240" y="1554480"/>
            <a:ext cx="10634472" cy="18288"/>
          </a:xfrm>
          <a:prstGeom prst="rect">
            <a:avLst/>
          </a:prstGeom>
          <a:solidFill>
            <a:srgbClr val="E2E8F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Rectangle 6"/>
          <p:cNvSpPr/>
          <p:nvPr/>
        </p:nvSpPr>
        <p:spPr>
          <a:xfrm>
            <a:off x="9646920" y="457200"/>
            <a:ext cx="1783080" cy="457200"/>
          </a:xfrm>
          <a:prstGeom prst="rect">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TextBox 7"/>
          <p:cNvSpPr txBox="1"/>
          <p:nvPr/>
        </p:nvSpPr>
        <p:spPr>
          <a:xfrm>
            <a:off x="9646920" y="457200"/>
            <a:ext cx="1783080" cy="457200"/>
          </a:xfrm>
          <a:prstGeom prst="rect">
            <a:avLst/>
          </a:prstGeom>
          <a:noFill/>
        </p:spPr>
        <p:txBody>
          <a:bodyPr wrap="square" anchor="ctr">
            <a:spAutoFit/>
          </a:bodyPr>
          <a:lstStyle/>
          <a:p>
            <a:pPr algn="ctr">
              <a:spcAft>
                <a:spcPts val="400"/>
              </a:spcAft>
            </a:pPr>
            <a:r>
              <a:rPr sz="1300" b="1">
                <a:solidFill>
                  <a:srgbClr val="FFFFFF"/>
                </a:solidFill>
                <a:latin typeface="Arial"/>
              </a:rPr>
              <a:t>ACTIVITY 3</a:t>
            </a:r>
          </a:p>
        </p:txBody>
      </p:sp>
      <p:sp>
        <p:nvSpPr>
          <p:cNvPr id="9" name="TextBox 8"/>
          <p:cNvSpPr txBox="1"/>
          <p:nvPr/>
        </p:nvSpPr>
        <p:spPr>
          <a:xfrm>
            <a:off x="777240" y="1828800"/>
            <a:ext cx="10607040" cy="1051560"/>
          </a:xfrm>
          <a:prstGeom prst="rect">
            <a:avLst/>
          </a:prstGeom>
          <a:noFill/>
        </p:spPr>
        <p:txBody>
          <a:bodyPr wrap="square" anchor="t">
            <a:spAutoFit/>
          </a:bodyPr>
          <a:lstStyle/>
          <a:p>
            <a:pPr algn="l">
              <a:spcAft>
                <a:spcPts val="400"/>
              </a:spcAft>
            </a:pPr>
            <a:r>
              <a:rPr sz="1700" b="0">
                <a:solidFill>
                  <a:srgbClr val="161B26"/>
                </a:solidFill>
                <a:latin typeface="Arial"/>
              </a:rPr>
              <a:t>Create your IBM Quantum account, build a superposition circuit and a two-qubit Bell state, and run them on a real quantum processor to see genuine quantum randomness and correlation in the results.</a:t>
            </a:r>
          </a:p>
        </p:txBody>
      </p:sp>
      <p:sp>
        <p:nvSpPr>
          <p:cNvPr id="10" name="Rectangle 9"/>
          <p:cNvSpPr/>
          <p:nvPr/>
        </p:nvSpPr>
        <p:spPr>
          <a:xfrm>
            <a:off x="777240" y="2971800"/>
            <a:ext cx="10634472" cy="457200"/>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 name="TextBox 10"/>
          <p:cNvSpPr txBox="1"/>
          <p:nvPr/>
        </p:nvSpPr>
        <p:spPr>
          <a:xfrm>
            <a:off x="960120" y="2971800"/>
            <a:ext cx="10241280" cy="457200"/>
          </a:xfrm>
          <a:prstGeom prst="rect">
            <a:avLst/>
          </a:prstGeom>
          <a:noFill/>
        </p:spPr>
        <p:txBody>
          <a:bodyPr wrap="square" anchor="ctr">
            <a:spAutoFit/>
          </a:bodyPr>
          <a:lstStyle/>
          <a:p>
            <a:pPr algn="l">
              <a:spcAft>
                <a:spcPts val="400"/>
              </a:spcAft>
            </a:pPr>
            <a:r>
              <a:rPr sz="1100" b="1">
                <a:solidFill>
                  <a:srgbClr val="1F6FEB"/>
                </a:solidFill>
                <a:latin typeface="Arial"/>
              </a:rPr>
              <a:t>MAPS TO  </a:t>
            </a:r>
            <a:r>
              <a:rPr sz="1250" b="0">
                <a:solidFill>
                  <a:srgbClr val="161B26"/>
                </a:solidFill>
                <a:latin typeface="Arial"/>
              </a:rPr>
              <a:t>LO2, LO4 — Evaluate quantum computing applicability in the business context</a:t>
            </a:r>
          </a:p>
        </p:txBody>
      </p:sp>
      <p:sp>
        <p:nvSpPr>
          <p:cNvPr id="12" name="Rectangle 11"/>
          <p:cNvSpPr/>
          <p:nvPr/>
        </p:nvSpPr>
        <p:spPr>
          <a:xfrm>
            <a:off x="777240" y="3611880"/>
            <a:ext cx="10634472" cy="1234440"/>
          </a:xfrm>
          <a:prstGeom prst="rect">
            <a:avLst/>
          </a:prstGeom>
          <a:solidFill>
            <a:srgbClr val="E8F7E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 name="TextBox 12"/>
          <p:cNvSpPr txBox="1"/>
          <p:nvPr/>
        </p:nvSpPr>
        <p:spPr>
          <a:xfrm>
            <a:off x="1051560" y="3767328"/>
            <a:ext cx="10058400" cy="365760"/>
          </a:xfrm>
          <a:prstGeom prst="rect">
            <a:avLst/>
          </a:prstGeom>
          <a:noFill/>
        </p:spPr>
        <p:txBody>
          <a:bodyPr wrap="square" anchor="t">
            <a:spAutoFit/>
          </a:bodyPr>
          <a:lstStyle/>
          <a:p>
            <a:pPr algn="l">
              <a:spcAft>
                <a:spcPts val="400"/>
              </a:spcAft>
            </a:pPr>
            <a:r>
              <a:rPr sz="1200" b="1">
                <a:solidFill>
                  <a:srgbClr val="127A3E"/>
                </a:solidFill>
                <a:latin typeface="Arial"/>
              </a:rPr>
              <a:t>YOU'LL PRODUCE</a:t>
            </a:r>
          </a:p>
        </p:txBody>
      </p:sp>
      <p:sp>
        <p:nvSpPr>
          <p:cNvPr id="14" name="TextBox 13"/>
          <p:cNvSpPr txBox="1"/>
          <p:nvPr/>
        </p:nvSpPr>
        <p:spPr>
          <a:xfrm>
            <a:off x="1051560" y="4133087"/>
            <a:ext cx="10058400" cy="640080"/>
          </a:xfrm>
          <a:prstGeom prst="rect">
            <a:avLst/>
          </a:prstGeom>
          <a:noFill/>
        </p:spPr>
        <p:txBody>
          <a:bodyPr wrap="square" anchor="t">
            <a:spAutoFit/>
          </a:bodyPr>
          <a:lstStyle/>
          <a:p>
            <a:pPr algn="l">
              <a:spcAft>
                <a:spcPts val="400"/>
              </a:spcAft>
            </a:pPr>
            <a:r>
              <a:rPr sz="1550" b="1">
                <a:solidFill>
                  <a:srgbClr val="161B26"/>
                </a:solidFill>
                <a:latin typeface="Arial"/>
              </a:rPr>
              <a:t>A Bell state circuit executed on real IBM Quantum hardware, with a measured histogram showing the |00&gt; and |11&gt; correlation.</a:t>
            </a:r>
          </a:p>
        </p:txBody>
      </p:sp>
      <p:sp>
        <p:nvSpPr>
          <p:cNvPr id="15" name="Rectangle 14"/>
          <p:cNvSpPr/>
          <p:nvPr/>
        </p:nvSpPr>
        <p:spPr>
          <a:xfrm>
            <a:off x="777240" y="5029200"/>
            <a:ext cx="10634472" cy="960120"/>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6" name="TextBox 15"/>
          <p:cNvSpPr txBox="1"/>
          <p:nvPr/>
        </p:nvSpPr>
        <p:spPr>
          <a:xfrm>
            <a:off x="1051560" y="5138928"/>
            <a:ext cx="10058400" cy="365760"/>
          </a:xfrm>
          <a:prstGeom prst="rect">
            <a:avLst/>
          </a:prstGeom>
          <a:noFill/>
        </p:spPr>
        <p:txBody>
          <a:bodyPr wrap="square" anchor="t">
            <a:spAutoFit/>
          </a:bodyPr>
          <a:lstStyle/>
          <a:p>
            <a:pPr algn="l">
              <a:spcAft>
                <a:spcPts val="400"/>
              </a:spcAft>
            </a:pPr>
            <a:r>
              <a:rPr sz="1200" b="1">
                <a:solidFill>
                  <a:srgbClr val="5B6372"/>
                </a:solidFill>
                <a:latin typeface="Arial"/>
              </a:rPr>
              <a:t>Tools:  </a:t>
            </a:r>
            <a:r>
              <a:rPr sz="1200" b="0">
                <a:solidFill>
                  <a:srgbClr val="5B6372"/>
                </a:solidFill>
                <a:latin typeface="Arial"/>
              </a:rPr>
              <a:t>IBM Quantum Platform, Qiskit Runtime, Python 3.13</a:t>
            </a:r>
          </a:p>
        </p:txBody>
      </p:sp>
      <p:sp>
        <p:nvSpPr>
          <p:cNvPr id="17" name="TextBox 16"/>
          <p:cNvSpPr txBox="1"/>
          <p:nvPr/>
        </p:nvSpPr>
        <p:spPr>
          <a:xfrm>
            <a:off x="1051560" y="5504688"/>
            <a:ext cx="10058400" cy="365760"/>
          </a:xfrm>
          <a:prstGeom prst="rect">
            <a:avLst/>
          </a:prstGeom>
          <a:noFill/>
        </p:spPr>
        <p:txBody>
          <a:bodyPr wrap="square" anchor="t">
            <a:spAutoFit/>
          </a:bodyPr>
          <a:lstStyle/>
          <a:p>
            <a:pPr algn="l">
              <a:spcAft>
                <a:spcPts val="400"/>
              </a:spcAft>
            </a:pPr>
            <a:r>
              <a:rPr sz="1200" b="1">
                <a:solidFill>
                  <a:srgbClr val="1F6FEB"/>
                </a:solidFill>
                <a:latin typeface="Arial"/>
              </a:rPr>
              <a:t>Full step-by-step guide:  </a:t>
            </a:r>
            <a:r>
              <a:rPr sz="1200" b="0">
                <a:solidFill>
                  <a:srgbClr val="161B26"/>
                </a:solidFill>
                <a:latin typeface="Arial"/>
              </a:rPr>
              <a:t>Learner Guide — Activity 3: Superposition and Entanglement on IBM Quantum</a:t>
            </a:r>
          </a:p>
        </p:txBody>
      </p:sp>
      <p:sp>
        <p:nvSpPr>
          <p:cNvPr id="18" name="TextBox 17"/>
          <p:cNvSpPr txBox="1"/>
          <p:nvPr/>
        </p:nvSpPr>
        <p:spPr>
          <a:xfrm>
            <a:off x="365760" y="6446520"/>
            <a:ext cx="6858000" cy="320040"/>
          </a:xfrm>
          <a:prstGeom prst="rect">
            <a:avLst/>
          </a:prstGeom>
          <a:noFill/>
        </p:spPr>
        <p:txBody>
          <a:bodyPr wrap="square" anchor="t">
            <a:spAutoFit/>
          </a:bodyPr>
          <a:lstStyle/>
          <a:p>
            <a:pPr algn="l">
              <a:spcAft>
                <a:spcPts val="400"/>
              </a:spcAft>
            </a:pPr>
            <a:r>
              <a:rPr sz="900" b="0">
                <a:solidFill>
                  <a:srgbClr val="5B6372"/>
                </a:solidFill>
                <a:latin typeface="Arial"/>
              </a:rPr>
              <a:t>Securing the Future with Quantum Computing and Cryptography  ·  TGS-2024043419</a:t>
            </a:r>
          </a:p>
        </p:txBody>
      </p:sp>
      <p:sp>
        <p:nvSpPr>
          <p:cNvPr id="19" name="TextBox 18"/>
          <p:cNvSpPr txBox="1"/>
          <p:nvPr/>
        </p:nvSpPr>
        <p:spPr>
          <a:xfrm>
            <a:off x="4572000" y="6446520"/>
            <a:ext cx="3017520" cy="320040"/>
          </a:xfrm>
          <a:prstGeom prst="rect">
            <a:avLst/>
          </a:prstGeom>
          <a:noFill/>
        </p:spPr>
        <p:txBody>
          <a:bodyPr wrap="square" anchor="t">
            <a:spAutoFit/>
          </a:bodyPr>
          <a:lstStyle/>
          <a:p>
            <a:pPr algn="ctr">
              <a:spcAft>
                <a:spcPts val="400"/>
              </a:spcAft>
            </a:pPr>
            <a:r>
              <a:rPr sz="900" b="0">
                <a:solidFill>
                  <a:srgbClr val="5B6372"/>
                </a:solidFill>
                <a:latin typeface="Arial"/>
              </a:rPr>
              <a:t>© 2026 Tertiary Infotech Academy Pte Ltd</a:t>
            </a:r>
          </a:p>
        </p:txBody>
      </p:sp>
      <p:sp>
        <p:nvSpPr>
          <p:cNvPr id="20" name="TextBox 19"/>
          <p:cNvSpPr txBox="1"/>
          <p:nvPr/>
        </p:nvSpPr>
        <p:spPr>
          <a:xfrm>
            <a:off x="11338560" y="6446520"/>
            <a:ext cx="548640" cy="320040"/>
          </a:xfrm>
          <a:prstGeom prst="rect">
            <a:avLst/>
          </a:prstGeom>
          <a:noFill/>
        </p:spPr>
        <p:txBody>
          <a:bodyPr wrap="square" anchor="t">
            <a:spAutoFit/>
          </a:bodyPr>
          <a:lstStyle/>
          <a:p>
            <a:pPr algn="r">
              <a:spcAft>
                <a:spcPts val="400"/>
              </a:spcAft>
            </a:pPr>
            <a:r>
              <a:rPr sz="900" b="0">
                <a:solidFill>
                  <a:srgbClr val="5B6372"/>
                </a:solidFill>
                <a:latin typeface="Arial"/>
              </a:rPr>
              <a:t>60</a:t>
            </a:r>
          </a:p>
        </p:txBody>
      </p:sp>
    </p:spTree>
  </p:cSld>
  <p:clrMapOvr>
    <a:masterClrMapping/>
  </p:clrMapOvr>
</p:sld>
</file>

<file path=ppt/slides/slide62.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256032" cy="1417320"/>
          </a:xfrm>
          <a:prstGeom prst="rect">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777240" y="457200"/>
            <a:ext cx="10607040" cy="365760"/>
          </a:xfrm>
          <a:prstGeom prst="rect">
            <a:avLst/>
          </a:prstGeom>
          <a:noFill/>
        </p:spPr>
        <p:txBody>
          <a:bodyPr wrap="square" anchor="t">
            <a:spAutoFit/>
          </a:bodyPr>
          <a:lstStyle/>
          <a:p>
            <a:pPr algn="l">
              <a:spcAft>
                <a:spcPts val="400"/>
              </a:spcAft>
            </a:pPr>
            <a:r>
              <a:rPr sz="1400" b="1">
                <a:solidFill>
                  <a:srgbClr val="10B981"/>
                </a:solidFill>
                <a:latin typeface="Arial"/>
              </a:rPr>
              <a:t>ACTIVITY 3 · VERIFY &amp; DEBRIEF</a:t>
            </a:r>
          </a:p>
        </p:txBody>
      </p:sp>
      <p:sp>
        <p:nvSpPr>
          <p:cNvPr id="5" name="TextBox 4"/>
          <p:cNvSpPr txBox="1"/>
          <p:nvPr/>
        </p:nvSpPr>
        <p:spPr>
          <a:xfrm>
            <a:off x="777240" y="822960"/>
            <a:ext cx="10881360" cy="822960"/>
          </a:xfrm>
          <a:prstGeom prst="rect">
            <a:avLst/>
          </a:prstGeom>
          <a:noFill/>
        </p:spPr>
        <p:txBody>
          <a:bodyPr wrap="square" anchor="t">
            <a:spAutoFit/>
          </a:bodyPr>
          <a:lstStyle/>
          <a:p>
            <a:pPr algn="l">
              <a:spcAft>
                <a:spcPts val="400"/>
              </a:spcAft>
            </a:pPr>
            <a:r>
              <a:rPr sz="2900" b="1">
                <a:solidFill>
                  <a:srgbClr val="161B26"/>
                </a:solidFill>
                <a:latin typeface="Arial"/>
              </a:rPr>
              <a:t>Superposition and Entanglement on IBM Quantum</a:t>
            </a:r>
          </a:p>
        </p:txBody>
      </p:sp>
      <p:sp>
        <p:nvSpPr>
          <p:cNvPr id="6" name="Rectangle 5"/>
          <p:cNvSpPr/>
          <p:nvPr/>
        </p:nvSpPr>
        <p:spPr>
          <a:xfrm>
            <a:off x="777240" y="1554480"/>
            <a:ext cx="10634472" cy="18288"/>
          </a:xfrm>
          <a:prstGeom prst="rect">
            <a:avLst/>
          </a:prstGeom>
          <a:solidFill>
            <a:srgbClr val="E2E8F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Rectangle 6"/>
          <p:cNvSpPr/>
          <p:nvPr/>
        </p:nvSpPr>
        <p:spPr>
          <a:xfrm>
            <a:off x="777240" y="1783080"/>
            <a:ext cx="10634472" cy="2148840"/>
          </a:xfrm>
          <a:prstGeom prst="rect">
            <a:avLst/>
          </a:prstGeom>
          <a:solidFill>
            <a:srgbClr val="E8F7E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Rectangle 7"/>
          <p:cNvSpPr/>
          <p:nvPr/>
        </p:nvSpPr>
        <p:spPr>
          <a:xfrm>
            <a:off x="777240" y="1783080"/>
            <a:ext cx="100584" cy="2148840"/>
          </a:xfrm>
          <a:prstGeom prst="rect">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TextBox 8"/>
          <p:cNvSpPr txBox="1"/>
          <p:nvPr/>
        </p:nvSpPr>
        <p:spPr>
          <a:xfrm>
            <a:off x="1143000" y="1965960"/>
            <a:ext cx="10058400" cy="411480"/>
          </a:xfrm>
          <a:prstGeom prst="rect">
            <a:avLst/>
          </a:prstGeom>
          <a:noFill/>
        </p:spPr>
        <p:txBody>
          <a:bodyPr wrap="square" anchor="t">
            <a:spAutoFit/>
          </a:bodyPr>
          <a:lstStyle/>
          <a:p>
            <a:pPr algn="l">
              <a:spcAft>
                <a:spcPts val="400"/>
              </a:spcAft>
            </a:pPr>
            <a:r>
              <a:rPr sz="1300" b="1">
                <a:solidFill>
                  <a:srgbClr val="127A3E"/>
                </a:solidFill>
                <a:latin typeface="Arial"/>
              </a:rPr>
              <a:t>TEST IT — HOW YOU KNOW IT WORKED</a:t>
            </a:r>
          </a:p>
        </p:txBody>
      </p:sp>
      <p:sp>
        <p:nvSpPr>
          <p:cNvPr id="10" name="TextBox 9"/>
          <p:cNvSpPr txBox="1"/>
          <p:nvPr/>
        </p:nvSpPr>
        <p:spPr>
          <a:xfrm>
            <a:off x="1143000" y="2423160"/>
            <a:ext cx="10058400" cy="1371600"/>
          </a:xfrm>
          <a:prstGeom prst="rect">
            <a:avLst/>
          </a:prstGeom>
          <a:noFill/>
        </p:spPr>
        <p:txBody>
          <a:bodyPr wrap="square" anchor="t">
            <a:spAutoFit/>
          </a:bodyPr>
          <a:lstStyle/>
          <a:p>
            <a:pPr algn="l">
              <a:spcAft>
                <a:spcPts val="400"/>
              </a:spcAft>
            </a:pPr>
            <a:r>
              <a:rPr sz="1600" b="0">
                <a:solidFill>
                  <a:srgbClr val="161B26"/>
                </a:solidFill>
                <a:latin typeface="Arial"/>
              </a:rPr>
              <a:t>The superposition circuit gives roughly 50% |0&gt; and 50% |1&gt;; the Bell circuit gives roughly 50% |00&gt; and 50% |11&gt; with only a small percentage of |01&gt; and |10&gt; counts caused by hardware noise.</a:t>
            </a:r>
          </a:p>
        </p:txBody>
      </p:sp>
      <p:sp>
        <p:nvSpPr>
          <p:cNvPr id="11" name="TextBox 10"/>
          <p:cNvSpPr txBox="1"/>
          <p:nvPr/>
        </p:nvSpPr>
        <p:spPr>
          <a:xfrm>
            <a:off x="777240" y="4096512"/>
            <a:ext cx="10607040" cy="365760"/>
          </a:xfrm>
          <a:prstGeom prst="rect">
            <a:avLst/>
          </a:prstGeom>
          <a:noFill/>
        </p:spPr>
        <p:txBody>
          <a:bodyPr wrap="square" anchor="t">
            <a:spAutoFit/>
          </a:bodyPr>
          <a:lstStyle/>
          <a:p>
            <a:pPr algn="l">
              <a:spcAft>
                <a:spcPts val="400"/>
              </a:spcAft>
            </a:pPr>
            <a:r>
              <a:rPr sz="1300" b="1">
                <a:solidFill>
                  <a:srgbClr val="1F6FEB"/>
                </a:solidFill>
                <a:latin typeface="Arial"/>
              </a:rPr>
              <a:t>DISCUSS WITH YOUR TRAINER</a:t>
            </a:r>
          </a:p>
        </p:txBody>
      </p:sp>
      <p:sp>
        <p:nvSpPr>
          <p:cNvPr id="12" name="Rectangle 11"/>
          <p:cNvSpPr/>
          <p:nvPr/>
        </p:nvSpPr>
        <p:spPr>
          <a:xfrm>
            <a:off x="777240" y="4480560"/>
            <a:ext cx="3447288" cy="1463040"/>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 name="Rectangle 12"/>
          <p:cNvSpPr/>
          <p:nvPr/>
        </p:nvSpPr>
        <p:spPr>
          <a:xfrm>
            <a:off x="777240" y="4480560"/>
            <a:ext cx="3447288" cy="82296"/>
          </a:xfrm>
          <a:prstGeom prst="rect">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 name="TextBox 13"/>
          <p:cNvSpPr txBox="1"/>
          <p:nvPr/>
        </p:nvSpPr>
        <p:spPr>
          <a:xfrm>
            <a:off x="978408" y="4663440"/>
            <a:ext cx="3044952" cy="457200"/>
          </a:xfrm>
          <a:prstGeom prst="rect">
            <a:avLst/>
          </a:prstGeom>
          <a:noFill/>
        </p:spPr>
        <p:txBody>
          <a:bodyPr wrap="square" anchor="t">
            <a:spAutoFit/>
          </a:bodyPr>
          <a:lstStyle/>
          <a:p>
            <a:pPr algn="l">
              <a:spcAft>
                <a:spcPts val="400"/>
              </a:spcAft>
            </a:pPr>
            <a:r>
              <a:rPr sz="1350" b="1">
                <a:solidFill>
                  <a:srgbClr val="1F6FEB"/>
                </a:solidFill>
                <a:latin typeface="Arial"/>
              </a:rPr>
              <a:t>What did the result show?</a:t>
            </a:r>
          </a:p>
        </p:txBody>
      </p:sp>
      <p:sp>
        <p:nvSpPr>
          <p:cNvPr id="15" name="TextBox 14"/>
          <p:cNvSpPr txBox="1"/>
          <p:nvPr/>
        </p:nvSpPr>
        <p:spPr>
          <a:xfrm>
            <a:off x="978408" y="5138928"/>
            <a:ext cx="3044952" cy="731520"/>
          </a:xfrm>
          <a:prstGeom prst="rect">
            <a:avLst/>
          </a:prstGeom>
          <a:noFill/>
        </p:spPr>
        <p:txBody>
          <a:bodyPr wrap="square" anchor="t">
            <a:spAutoFit/>
          </a:bodyPr>
          <a:lstStyle/>
          <a:p>
            <a:pPr algn="l">
              <a:spcAft>
                <a:spcPts val="400"/>
              </a:spcAft>
            </a:pPr>
            <a:r>
              <a:rPr sz="1200" b="0">
                <a:solidFill>
                  <a:srgbClr val="5B6372"/>
                </a:solidFill>
                <a:latin typeface="Arial"/>
              </a:rPr>
              <a:t>Restate the outcome in your own words.</a:t>
            </a:r>
          </a:p>
        </p:txBody>
      </p:sp>
      <p:sp>
        <p:nvSpPr>
          <p:cNvPr id="16" name="Rectangle 15"/>
          <p:cNvSpPr/>
          <p:nvPr/>
        </p:nvSpPr>
        <p:spPr>
          <a:xfrm>
            <a:off x="4370832" y="4480560"/>
            <a:ext cx="3447288" cy="1463040"/>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7" name="Rectangle 16"/>
          <p:cNvSpPr/>
          <p:nvPr/>
        </p:nvSpPr>
        <p:spPr>
          <a:xfrm>
            <a:off x="4370832" y="4480560"/>
            <a:ext cx="3447288" cy="82296"/>
          </a:xfrm>
          <a:prstGeom prst="rect">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8" name="TextBox 17"/>
          <p:cNvSpPr txBox="1"/>
          <p:nvPr/>
        </p:nvSpPr>
        <p:spPr>
          <a:xfrm>
            <a:off x="4572000" y="4663440"/>
            <a:ext cx="3044952" cy="457200"/>
          </a:xfrm>
          <a:prstGeom prst="rect">
            <a:avLst/>
          </a:prstGeom>
          <a:noFill/>
        </p:spPr>
        <p:txBody>
          <a:bodyPr wrap="square" anchor="t">
            <a:spAutoFit/>
          </a:bodyPr>
          <a:lstStyle/>
          <a:p>
            <a:pPr algn="l">
              <a:spcAft>
                <a:spcPts val="400"/>
              </a:spcAft>
            </a:pPr>
            <a:r>
              <a:rPr sz="1350" b="1">
                <a:solidFill>
                  <a:srgbClr val="10B981"/>
                </a:solidFill>
                <a:latin typeface="Arial"/>
              </a:rPr>
              <a:t>Why does it work?</a:t>
            </a:r>
          </a:p>
        </p:txBody>
      </p:sp>
      <p:sp>
        <p:nvSpPr>
          <p:cNvPr id="19" name="TextBox 18"/>
          <p:cNvSpPr txBox="1"/>
          <p:nvPr/>
        </p:nvSpPr>
        <p:spPr>
          <a:xfrm>
            <a:off x="4572000" y="5138928"/>
            <a:ext cx="3044952" cy="731520"/>
          </a:xfrm>
          <a:prstGeom prst="rect">
            <a:avLst/>
          </a:prstGeom>
          <a:noFill/>
        </p:spPr>
        <p:txBody>
          <a:bodyPr wrap="square" anchor="t">
            <a:spAutoFit/>
          </a:bodyPr>
          <a:lstStyle/>
          <a:p>
            <a:pPr algn="l">
              <a:spcAft>
                <a:spcPts val="400"/>
              </a:spcAft>
            </a:pPr>
            <a:r>
              <a:rPr sz="1200" b="0">
                <a:solidFill>
                  <a:srgbClr val="5B6372"/>
                </a:solidFill>
                <a:latin typeface="Arial"/>
              </a:rPr>
              <a:t>Name the quantum principle the activity relies on.</a:t>
            </a:r>
          </a:p>
        </p:txBody>
      </p:sp>
      <p:sp>
        <p:nvSpPr>
          <p:cNvPr id="20" name="Rectangle 19"/>
          <p:cNvSpPr/>
          <p:nvPr/>
        </p:nvSpPr>
        <p:spPr>
          <a:xfrm>
            <a:off x="7964424" y="4480560"/>
            <a:ext cx="3447288" cy="1463040"/>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1" name="Rectangle 20"/>
          <p:cNvSpPr/>
          <p:nvPr/>
        </p:nvSpPr>
        <p:spPr>
          <a:xfrm>
            <a:off x="7964424" y="4480560"/>
            <a:ext cx="3447288" cy="82296"/>
          </a:xfrm>
          <a:prstGeom prst="rect">
            <a:avLst/>
          </a:prstGeom>
          <a:solidFill>
            <a:srgbClr val="7C3AE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2" name="TextBox 21"/>
          <p:cNvSpPr txBox="1"/>
          <p:nvPr/>
        </p:nvSpPr>
        <p:spPr>
          <a:xfrm>
            <a:off x="8165592" y="4663440"/>
            <a:ext cx="3044952" cy="457200"/>
          </a:xfrm>
          <a:prstGeom prst="rect">
            <a:avLst/>
          </a:prstGeom>
          <a:noFill/>
        </p:spPr>
        <p:txBody>
          <a:bodyPr wrap="square" anchor="t">
            <a:spAutoFit/>
          </a:bodyPr>
          <a:lstStyle/>
          <a:p>
            <a:pPr algn="l">
              <a:spcAft>
                <a:spcPts val="400"/>
              </a:spcAft>
            </a:pPr>
            <a:r>
              <a:rPr sz="1350" b="1">
                <a:solidFill>
                  <a:srgbClr val="7C3AED"/>
                </a:solidFill>
                <a:latin typeface="Arial"/>
              </a:rPr>
              <a:t>Where would you use it?</a:t>
            </a:r>
          </a:p>
        </p:txBody>
      </p:sp>
      <p:sp>
        <p:nvSpPr>
          <p:cNvPr id="23" name="TextBox 22"/>
          <p:cNvSpPr txBox="1"/>
          <p:nvPr/>
        </p:nvSpPr>
        <p:spPr>
          <a:xfrm>
            <a:off x="8165592" y="5138928"/>
            <a:ext cx="3044952" cy="731520"/>
          </a:xfrm>
          <a:prstGeom prst="rect">
            <a:avLst/>
          </a:prstGeom>
          <a:noFill/>
        </p:spPr>
        <p:txBody>
          <a:bodyPr wrap="square" anchor="t">
            <a:spAutoFit/>
          </a:bodyPr>
          <a:lstStyle/>
          <a:p>
            <a:pPr algn="l">
              <a:spcAft>
                <a:spcPts val="400"/>
              </a:spcAft>
            </a:pPr>
            <a:r>
              <a:rPr sz="1200" b="0">
                <a:solidFill>
                  <a:srgbClr val="5B6372"/>
                </a:solidFill>
                <a:latin typeface="Arial"/>
              </a:rPr>
              <a:t>Give one realistic application in your own field.</a:t>
            </a:r>
          </a:p>
        </p:txBody>
      </p:sp>
      <p:sp>
        <p:nvSpPr>
          <p:cNvPr id="24" name="TextBox 23"/>
          <p:cNvSpPr txBox="1"/>
          <p:nvPr/>
        </p:nvSpPr>
        <p:spPr>
          <a:xfrm>
            <a:off x="365760" y="6446520"/>
            <a:ext cx="6858000" cy="320040"/>
          </a:xfrm>
          <a:prstGeom prst="rect">
            <a:avLst/>
          </a:prstGeom>
          <a:noFill/>
        </p:spPr>
        <p:txBody>
          <a:bodyPr wrap="square" anchor="t">
            <a:spAutoFit/>
          </a:bodyPr>
          <a:lstStyle/>
          <a:p>
            <a:pPr algn="l">
              <a:spcAft>
                <a:spcPts val="400"/>
              </a:spcAft>
            </a:pPr>
            <a:r>
              <a:rPr sz="900" b="0">
                <a:solidFill>
                  <a:srgbClr val="5B6372"/>
                </a:solidFill>
                <a:latin typeface="Arial"/>
              </a:rPr>
              <a:t>Securing the Future with Quantum Computing and Cryptography  ·  TGS-2024043419</a:t>
            </a:r>
          </a:p>
        </p:txBody>
      </p:sp>
      <p:sp>
        <p:nvSpPr>
          <p:cNvPr id="25" name="TextBox 24"/>
          <p:cNvSpPr txBox="1"/>
          <p:nvPr/>
        </p:nvSpPr>
        <p:spPr>
          <a:xfrm>
            <a:off x="4572000" y="6446520"/>
            <a:ext cx="3017520" cy="320040"/>
          </a:xfrm>
          <a:prstGeom prst="rect">
            <a:avLst/>
          </a:prstGeom>
          <a:noFill/>
        </p:spPr>
        <p:txBody>
          <a:bodyPr wrap="square" anchor="t">
            <a:spAutoFit/>
          </a:bodyPr>
          <a:lstStyle/>
          <a:p>
            <a:pPr algn="ctr">
              <a:spcAft>
                <a:spcPts val="400"/>
              </a:spcAft>
            </a:pPr>
            <a:r>
              <a:rPr sz="900" b="0">
                <a:solidFill>
                  <a:srgbClr val="5B6372"/>
                </a:solidFill>
                <a:latin typeface="Arial"/>
              </a:rPr>
              <a:t>© 2026 Tertiary Infotech Academy Pte Ltd</a:t>
            </a:r>
          </a:p>
        </p:txBody>
      </p:sp>
      <p:sp>
        <p:nvSpPr>
          <p:cNvPr id="26" name="TextBox 25"/>
          <p:cNvSpPr txBox="1"/>
          <p:nvPr/>
        </p:nvSpPr>
        <p:spPr>
          <a:xfrm>
            <a:off x="11338560" y="6446520"/>
            <a:ext cx="548640" cy="320040"/>
          </a:xfrm>
          <a:prstGeom prst="rect">
            <a:avLst/>
          </a:prstGeom>
          <a:noFill/>
        </p:spPr>
        <p:txBody>
          <a:bodyPr wrap="square" anchor="t">
            <a:spAutoFit/>
          </a:bodyPr>
          <a:lstStyle/>
          <a:p>
            <a:pPr algn="r">
              <a:spcAft>
                <a:spcPts val="400"/>
              </a:spcAft>
            </a:pPr>
            <a:r>
              <a:rPr sz="900" b="0">
                <a:solidFill>
                  <a:srgbClr val="5B6372"/>
                </a:solidFill>
                <a:latin typeface="Arial"/>
              </a:rPr>
              <a:t>61</a:t>
            </a:r>
          </a:p>
        </p:txBody>
      </p:sp>
    </p:spTree>
  </p:cSld>
  <p:clrMapOvr>
    <a:masterClrMapping/>
  </p:clrMapOvr>
</p:sld>
</file>

<file path=ppt/slides/slide63.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256032" cy="1417320"/>
          </a:xfrm>
          <a:prstGeom prst="rect">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777240" y="457200"/>
            <a:ext cx="10607040" cy="365760"/>
          </a:xfrm>
          <a:prstGeom prst="rect">
            <a:avLst/>
          </a:prstGeom>
          <a:noFill/>
        </p:spPr>
        <p:txBody>
          <a:bodyPr wrap="square" anchor="t">
            <a:spAutoFit/>
          </a:bodyPr>
          <a:lstStyle/>
          <a:p>
            <a:pPr algn="l">
              <a:spcAft>
                <a:spcPts val="400"/>
              </a:spcAft>
            </a:pPr>
            <a:r>
              <a:rPr sz="1400" b="1">
                <a:solidFill>
                  <a:srgbClr val="1F6FEB"/>
                </a:solidFill>
                <a:latin typeface="Arial"/>
              </a:rPr>
              <a:t>TOPIC RECAP</a:t>
            </a:r>
          </a:p>
        </p:txBody>
      </p:sp>
      <p:sp>
        <p:nvSpPr>
          <p:cNvPr id="5" name="TextBox 4"/>
          <p:cNvSpPr txBox="1"/>
          <p:nvPr/>
        </p:nvSpPr>
        <p:spPr>
          <a:xfrm>
            <a:off x="777240" y="822960"/>
            <a:ext cx="10881360" cy="822960"/>
          </a:xfrm>
          <a:prstGeom prst="rect">
            <a:avLst/>
          </a:prstGeom>
          <a:noFill/>
        </p:spPr>
        <p:txBody>
          <a:bodyPr wrap="square" anchor="t">
            <a:spAutoFit/>
          </a:bodyPr>
          <a:lstStyle/>
          <a:p>
            <a:pPr algn="l">
              <a:spcAft>
                <a:spcPts val="400"/>
              </a:spcAft>
            </a:pPr>
            <a:r>
              <a:rPr sz="2900" b="1">
                <a:solidFill>
                  <a:srgbClr val="161B26"/>
                </a:solidFill>
                <a:latin typeface="Arial"/>
              </a:rPr>
              <a:t>Recap — Introduction to Quantum Computing Systems</a:t>
            </a:r>
          </a:p>
        </p:txBody>
      </p:sp>
      <p:sp>
        <p:nvSpPr>
          <p:cNvPr id="6" name="Rectangle 5"/>
          <p:cNvSpPr/>
          <p:nvPr/>
        </p:nvSpPr>
        <p:spPr>
          <a:xfrm>
            <a:off x="777240" y="1554480"/>
            <a:ext cx="10634472" cy="18288"/>
          </a:xfrm>
          <a:prstGeom prst="rect">
            <a:avLst/>
          </a:prstGeom>
          <a:solidFill>
            <a:srgbClr val="E2E8F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TextBox 6"/>
          <p:cNvSpPr txBox="1"/>
          <p:nvPr/>
        </p:nvSpPr>
        <p:spPr>
          <a:xfrm>
            <a:off x="777240" y="1783080"/>
            <a:ext cx="10607040" cy="4480560"/>
          </a:xfrm>
          <a:prstGeom prst="rect">
            <a:avLst/>
          </a:prstGeom>
          <a:noFill/>
        </p:spPr>
        <p:txBody>
          <a:bodyPr wrap="square">
            <a:spAutoFit/>
          </a:bodyPr>
          <a:lstStyle/>
          <a:p>
            <a:pPr>
              <a:spcAft>
                <a:spcPts val="1000"/>
              </a:spcAft>
            </a:pPr>
            <a:r>
              <a:rPr sz="1600">
                <a:solidFill>
                  <a:srgbClr val="161B26"/>
                </a:solidFill>
                <a:latin typeface="Arial"/>
              </a:rPr>
              <a:t>•  Qubit vs classical bit</a:t>
            </a:r>
          </a:p>
          <a:p>
            <a:pPr>
              <a:spcAft>
                <a:spcPts val="1000"/>
              </a:spcAft>
            </a:pPr>
            <a:r>
              <a:rPr sz="1600">
                <a:solidFill>
                  <a:srgbClr val="161B26"/>
                </a:solidFill>
                <a:latin typeface="Arial"/>
              </a:rPr>
              <a:t>•  Bloch sphere</a:t>
            </a:r>
          </a:p>
          <a:p>
            <a:pPr>
              <a:spcAft>
                <a:spcPts val="1000"/>
              </a:spcAft>
            </a:pPr>
            <a:r>
              <a:rPr sz="1600">
                <a:solidFill>
                  <a:srgbClr val="161B26"/>
                </a:solidFill>
                <a:latin typeface="Arial"/>
              </a:rPr>
              <a:t>•  Physical qubits</a:t>
            </a:r>
          </a:p>
          <a:p>
            <a:pPr>
              <a:spcAft>
                <a:spcPts val="1000"/>
              </a:spcAft>
            </a:pPr>
            <a:r>
              <a:rPr sz="1600">
                <a:solidFill>
                  <a:srgbClr val="161B26"/>
                </a:solidFill>
                <a:latin typeface="Arial"/>
              </a:rPr>
              <a:t>•  Commercial platforms</a:t>
            </a:r>
          </a:p>
          <a:p>
            <a:pPr>
              <a:spcAft>
                <a:spcPts val="1000"/>
              </a:spcAft>
            </a:pPr>
            <a:r>
              <a:rPr sz="1600">
                <a:solidFill>
                  <a:srgbClr val="161B26"/>
                </a:solidFill>
                <a:latin typeface="Arial"/>
              </a:rPr>
              <a:t>•  Superposition</a:t>
            </a:r>
          </a:p>
          <a:p>
            <a:pPr>
              <a:spcAft>
                <a:spcPts val="1000"/>
              </a:spcAft>
            </a:pPr>
            <a:r>
              <a:rPr sz="1600">
                <a:solidFill>
                  <a:srgbClr val="161B26"/>
                </a:solidFill>
                <a:latin typeface="Arial"/>
              </a:rPr>
              <a:t>•  Entanglement</a:t>
            </a:r>
          </a:p>
        </p:txBody>
      </p:sp>
      <p:sp>
        <p:nvSpPr>
          <p:cNvPr id="8" name="TextBox 7"/>
          <p:cNvSpPr txBox="1"/>
          <p:nvPr/>
        </p:nvSpPr>
        <p:spPr>
          <a:xfrm>
            <a:off x="365760" y="6446520"/>
            <a:ext cx="6858000" cy="320040"/>
          </a:xfrm>
          <a:prstGeom prst="rect">
            <a:avLst/>
          </a:prstGeom>
          <a:noFill/>
        </p:spPr>
        <p:txBody>
          <a:bodyPr wrap="square" anchor="t">
            <a:spAutoFit/>
          </a:bodyPr>
          <a:lstStyle/>
          <a:p>
            <a:pPr algn="l">
              <a:spcAft>
                <a:spcPts val="400"/>
              </a:spcAft>
            </a:pPr>
            <a:r>
              <a:rPr sz="900" b="0">
                <a:solidFill>
                  <a:srgbClr val="5B6372"/>
                </a:solidFill>
                <a:latin typeface="Arial"/>
              </a:rPr>
              <a:t>Securing the Future with Quantum Computing and Cryptography  ·  TGS-2024043419</a:t>
            </a:r>
          </a:p>
        </p:txBody>
      </p:sp>
      <p:sp>
        <p:nvSpPr>
          <p:cNvPr id="9" name="TextBox 8"/>
          <p:cNvSpPr txBox="1"/>
          <p:nvPr/>
        </p:nvSpPr>
        <p:spPr>
          <a:xfrm>
            <a:off x="4572000" y="6446520"/>
            <a:ext cx="3017520" cy="320040"/>
          </a:xfrm>
          <a:prstGeom prst="rect">
            <a:avLst/>
          </a:prstGeom>
          <a:noFill/>
        </p:spPr>
        <p:txBody>
          <a:bodyPr wrap="square" anchor="t">
            <a:spAutoFit/>
          </a:bodyPr>
          <a:lstStyle/>
          <a:p>
            <a:pPr algn="ctr">
              <a:spcAft>
                <a:spcPts val="400"/>
              </a:spcAft>
            </a:pPr>
            <a:r>
              <a:rPr sz="900" b="0">
                <a:solidFill>
                  <a:srgbClr val="5B6372"/>
                </a:solidFill>
                <a:latin typeface="Arial"/>
              </a:rPr>
              <a:t>© 2026 Tertiary Infotech Academy Pte Ltd</a:t>
            </a:r>
          </a:p>
        </p:txBody>
      </p:sp>
      <p:sp>
        <p:nvSpPr>
          <p:cNvPr id="10" name="TextBox 9"/>
          <p:cNvSpPr txBox="1"/>
          <p:nvPr/>
        </p:nvSpPr>
        <p:spPr>
          <a:xfrm>
            <a:off x="11338560" y="6446520"/>
            <a:ext cx="548640" cy="320040"/>
          </a:xfrm>
          <a:prstGeom prst="rect">
            <a:avLst/>
          </a:prstGeom>
          <a:noFill/>
        </p:spPr>
        <p:txBody>
          <a:bodyPr wrap="square" anchor="t">
            <a:spAutoFit/>
          </a:bodyPr>
          <a:lstStyle/>
          <a:p>
            <a:pPr algn="r">
              <a:spcAft>
                <a:spcPts val="400"/>
              </a:spcAft>
            </a:pPr>
            <a:r>
              <a:rPr sz="900" b="0">
                <a:solidFill>
                  <a:srgbClr val="5B6372"/>
                </a:solidFill>
                <a:latin typeface="Arial"/>
              </a:rPr>
              <a:t>62</a:t>
            </a:r>
          </a:p>
        </p:txBody>
      </p:sp>
    </p:spTree>
  </p:cSld>
  <p:clrMapOvr>
    <a:masterClrMapping/>
  </p:clrMapOvr>
</p:sld>
</file>

<file path=ppt/slides/slide64.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256032" cy="6858000"/>
          </a:xfrm>
          <a:prstGeom prst="rect">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Rectangle 3"/>
          <p:cNvSpPr/>
          <p:nvPr/>
        </p:nvSpPr>
        <p:spPr>
          <a:xfrm>
            <a:off x="777240" y="2286000"/>
            <a:ext cx="128016" cy="1828800"/>
          </a:xfrm>
          <a:prstGeom prst="rect">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TextBox 4"/>
          <p:cNvSpPr txBox="1"/>
          <p:nvPr/>
        </p:nvSpPr>
        <p:spPr>
          <a:xfrm>
            <a:off x="1143000" y="2331720"/>
            <a:ext cx="10058400" cy="548640"/>
          </a:xfrm>
          <a:prstGeom prst="rect">
            <a:avLst/>
          </a:prstGeom>
          <a:noFill/>
        </p:spPr>
        <p:txBody>
          <a:bodyPr wrap="square" anchor="t">
            <a:spAutoFit/>
          </a:bodyPr>
          <a:lstStyle/>
          <a:p>
            <a:pPr algn="l">
              <a:spcAft>
                <a:spcPts val="400"/>
              </a:spcAft>
            </a:pPr>
            <a:r>
              <a:rPr sz="1800" b="1">
                <a:solidFill>
                  <a:srgbClr val="1F6FEB"/>
                </a:solidFill>
                <a:latin typeface="Arial"/>
              </a:rPr>
              <a:t>TOPIC 03</a:t>
            </a:r>
          </a:p>
        </p:txBody>
      </p:sp>
      <p:sp>
        <p:nvSpPr>
          <p:cNvPr id="6" name="TextBox 5"/>
          <p:cNvSpPr txBox="1"/>
          <p:nvPr/>
        </p:nvSpPr>
        <p:spPr>
          <a:xfrm>
            <a:off x="1143000" y="2743200"/>
            <a:ext cx="9509760" cy="1463040"/>
          </a:xfrm>
          <a:prstGeom prst="rect">
            <a:avLst/>
          </a:prstGeom>
          <a:noFill/>
        </p:spPr>
        <p:txBody>
          <a:bodyPr wrap="square" anchor="t">
            <a:spAutoFit/>
          </a:bodyPr>
          <a:lstStyle/>
          <a:p>
            <a:pPr algn="l">
              <a:spcAft>
                <a:spcPts val="400"/>
              </a:spcAft>
            </a:pPr>
            <a:r>
              <a:rPr sz="4000" b="1">
                <a:solidFill>
                  <a:srgbClr val="161B26"/>
                </a:solidFill>
                <a:latin typeface="Arial"/>
              </a:rPr>
              <a:t>Quantum Gates and Circuits</a:t>
            </a:r>
          </a:p>
        </p:txBody>
      </p:sp>
      <p:sp>
        <p:nvSpPr>
          <p:cNvPr id="7" name="TextBox 6"/>
          <p:cNvSpPr txBox="1"/>
          <p:nvPr/>
        </p:nvSpPr>
        <p:spPr>
          <a:xfrm>
            <a:off x="1161288" y="4251960"/>
            <a:ext cx="9692640" cy="822960"/>
          </a:xfrm>
          <a:prstGeom prst="rect">
            <a:avLst/>
          </a:prstGeom>
          <a:noFill/>
        </p:spPr>
        <p:txBody>
          <a:bodyPr wrap="square" anchor="t">
            <a:spAutoFit/>
          </a:bodyPr>
          <a:lstStyle/>
          <a:p>
            <a:pPr algn="l">
              <a:spcAft>
                <a:spcPts val="400"/>
              </a:spcAft>
            </a:pPr>
            <a:r>
              <a:rPr sz="1500" b="0">
                <a:solidFill>
                  <a:srgbClr val="5B6372"/>
                </a:solidFill>
                <a:latin typeface="Arial"/>
              </a:rPr>
              <a:t>Single Qubit Gates · Multi Qubit Gates · Bell and GHZ States · Phase Kickback</a:t>
            </a:r>
          </a:p>
        </p:txBody>
      </p:sp>
      <p:sp>
        <p:nvSpPr>
          <p:cNvPr id="8" name="TextBox 7"/>
          <p:cNvSpPr txBox="1"/>
          <p:nvPr/>
        </p:nvSpPr>
        <p:spPr>
          <a:xfrm>
            <a:off x="9144000" y="640080"/>
            <a:ext cx="2560320" cy="1463040"/>
          </a:xfrm>
          <a:prstGeom prst="rect">
            <a:avLst/>
          </a:prstGeom>
          <a:noFill/>
        </p:spPr>
        <p:txBody>
          <a:bodyPr wrap="square" anchor="t">
            <a:spAutoFit/>
          </a:bodyPr>
          <a:lstStyle/>
          <a:p>
            <a:pPr algn="r">
              <a:spcAft>
                <a:spcPts val="400"/>
              </a:spcAft>
            </a:pPr>
            <a:r>
              <a:rPr sz="7200" b="1">
                <a:solidFill>
                  <a:srgbClr val="E2E8F0"/>
                </a:solidFill>
                <a:latin typeface="Arial"/>
              </a:rPr>
              <a:t>03</a:t>
            </a:r>
          </a:p>
        </p:txBody>
      </p:sp>
      <p:sp>
        <p:nvSpPr>
          <p:cNvPr id="9" name="TextBox 8"/>
          <p:cNvSpPr txBox="1"/>
          <p:nvPr/>
        </p:nvSpPr>
        <p:spPr>
          <a:xfrm>
            <a:off x="365760" y="6446520"/>
            <a:ext cx="6858000" cy="320040"/>
          </a:xfrm>
          <a:prstGeom prst="rect">
            <a:avLst/>
          </a:prstGeom>
          <a:noFill/>
        </p:spPr>
        <p:txBody>
          <a:bodyPr wrap="square" anchor="t">
            <a:spAutoFit/>
          </a:bodyPr>
          <a:lstStyle/>
          <a:p>
            <a:pPr algn="l">
              <a:spcAft>
                <a:spcPts val="400"/>
              </a:spcAft>
            </a:pPr>
            <a:r>
              <a:rPr sz="900" b="0">
                <a:solidFill>
                  <a:srgbClr val="5B6372"/>
                </a:solidFill>
                <a:latin typeface="Arial"/>
              </a:rPr>
              <a:t>Securing the Future with Quantum Computing and Cryptography  ·  TGS-2024043419</a:t>
            </a:r>
          </a:p>
        </p:txBody>
      </p:sp>
      <p:sp>
        <p:nvSpPr>
          <p:cNvPr id="10" name="TextBox 9"/>
          <p:cNvSpPr txBox="1"/>
          <p:nvPr/>
        </p:nvSpPr>
        <p:spPr>
          <a:xfrm>
            <a:off x="4572000" y="6446520"/>
            <a:ext cx="3017520" cy="320040"/>
          </a:xfrm>
          <a:prstGeom prst="rect">
            <a:avLst/>
          </a:prstGeom>
          <a:noFill/>
        </p:spPr>
        <p:txBody>
          <a:bodyPr wrap="square" anchor="t">
            <a:spAutoFit/>
          </a:bodyPr>
          <a:lstStyle/>
          <a:p>
            <a:pPr algn="ctr">
              <a:spcAft>
                <a:spcPts val="400"/>
              </a:spcAft>
            </a:pPr>
            <a:r>
              <a:rPr sz="900" b="0">
                <a:solidFill>
                  <a:srgbClr val="5B6372"/>
                </a:solidFill>
                <a:latin typeface="Arial"/>
              </a:rPr>
              <a:t>© 2026 Tertiary Infotech Academy Pte Ltd</a:t>
            </a:r>
          </a:p>
        </p:txBody>
      </p:sp>
      <p:sp>
        <p:nvSpPr>
          <p:cNvPr id="11" name="TextBox 10"/>
          <p:cNvSpPr txBox="1"/>
          <p:nvPr/>
        </p:nvSpPr>
        <p:spPr>
          <a:xfrm>
            <a:off x="11338560" y="6446520"/>
            <a:ext cx="548640" cy="320040"/>
          </a:xfrm>
          <a:prstGeom prst="rect">
            <a:avLst/>
          </a:prstGeom>
          <a:noFill/>
        </p:spPr>
        <p:txBody>
          <a:bodyPr wrap="square" anchor="t">
            <a:spAutoFit/>
          </a:bodyPr>
          <a:lstStyle/>
          <a:p>
            <a:pPr algn="r">
              <a:spcAft>
                <a:spcPts val="400"/>
              </a:spcAft>
            </a:pPr>
            <a:r>
              <a:rPr sz="900" b="0">
                <a:solidFill>
                  <a:srgbClr val="5B6372"/>
                </a:solidFill>
                <a:latin typeface="Arial"/>
              </a:rPr>
              <a:t>63</a:t>
            </a:r>
          </a:p>
        </p:txBody>
      </p:sp>
    </p:spTree>
  </p:cSld>
  <p:clrMapOvr>
    <a:masterClrMapping/>
  </p:clrMapOvr>
</p:sld>
</file>

<file path=ppt/slides/slide65.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256032" cy="1417320"/>
          </a:xfrm>
          <a:prstGeom prst="rect">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777240" y="457200"/>
            <a:ext cx="10607040" cy="365760"/>
          </a:xfrm>
          <a:prstGeom prst="rect">
            <a:avLst/>
          </a:prstGeom>
          <a:noFill/>
        </p:spPr>
        <p:txBody>
          <a:bodyPr wrap="square" anchor="t">
            <a:spAutoFit/>
          </a:bodyPr>
          <a:lstStyle/>
          <a:p>
            <a:pPr algn="l">
              <a:spcAft>
                <a:spcPts val="400"/>
              </a:spcAft>
            </a:pPr>
            <a:r>
              <a:rPr sz="1400" b="1">
                <a:solidFill>
                  <a:srgbClr val="1F6FEB"/>
                </a:solidFill>
                <a:latin typeface="Arial"/>
              </a:rPr>
              <a:t>MAPS TO LO3, LO5</a:t>
            </a:r>
          </a:p>
        </p:txBody>
      </p:sp>
      <p:sp>
        <p:nvSpPr>
          <p:cNvPr id="5" name="TextBox 4"/>
          <p:cNvSpPr txBox="1"/>
          <p:nvPr/>
        </p:nvSpPr>
        <p:spPr>
          <a:xfrm>
            <a:off x="777240" y="822960"/>
            <a:ext cx="10881360" cy="822960"/>
          </a:xfrm>
          <a:prstGeom prst="rect">
            <a:avLst/>
          </a:prstGeom>
          <a:noFill/>
        </p:spPr>
        <p:txBody>
          <a:bodyPr wrap="square" anchor="t">
            <a:spAutoFit/>
          </a:bodyPr>
          <a:lstStyle/>
          <a:p>
            <a:pPr algn="l">
              <a:spcAft>
                <a:spcPts val="400"/>
              </a:spcAft>
            </a:pPr>
            <a:r>
              <a:rPr sz="2900" b="1">
                <a:solidFill>
                  <a:srgbClr val="161B26"/>
                </a:solidFill>
                <a:latin typeface="Arial"/>
              </a:rPr>
              <a:t>Key Concepts — Quantum Gates and Circuits</a:t>
            </a:r>
          </a:p>
        </p:txBody>
      </p:sp>
      <p:sp>
        <p:nvSpPr>
          <p:cNvPr id="6" name="Rectangle 5"/>
          <p:cNvSpPr/>
          <p:nvPr/>
        </p:nvSpPr>
        <p:spPr>
          <a:xfrm>
            <a:off x="777240" y="1554480"/>
            <a:ext cx="10634472" cy="18288"/>
          </a:xfrm>
          <a:prstGeom prst="rect">
            <a:avLst/>
          </a:prstGeom>
          <a:solidFill>
            <a:srgbClr val="E2E8F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Rectangle 6"/>
          <p:cNvSpPr/>
          <p:nvPr/>
        </p:nvSpPr>
        <p:spPr>
          <a:xfrm>
            <a:off x="777240" y="1783080"/>
            <a:ext cx="5180076" cy="1298448"/>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Rectangle 7"/>
          <p:cNvSpPr/>
          <p:nvPr/>
        </p:nvSpPr>
        <p:spPr>
          <a:xfrm>
            <a:off x="777240" y="1783080"/>
            <a:ext cx="91440" cy="1298448"/>
          </a:xfrm>
          <a:prstGeom prst="rect">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Oval 8"/>
          <p:cNvSpPr/>
          <p:nvPr/>
        </p:nvSpPr>
        <p:spPr>
          <a:xfrm>
            <a:off x="1033272" y="2157984"/>
            <a:ext cx="548640" cy="548640"/>
          </a:xfrm>
          <a:prstGeom prst="ellipse">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TextBox 9"/>
          <p:cNvSpPr txBox="1"/>
          <p:nvPr/>
        </p:nvSpPr>
        <p:spPr>
          <a:xfrm>
            <a:off x="1033272" y="2157984"/>
            <a:ext cx="548640" cy="548640"/>
          </a:xfrm>
          <a:prstGeom prst="rect">
            <a:avLst/>
          </a:prstGeom>
          <a:noFill/>
        </p:spPr>
        <p:txBody>
          <a:bodyPr wrap="square" anchor="ctr">
            <a:spAutoFit/>
          </a:bodyPr>
          <a:lstStyle/>
          <a:p>
            <a:pPr algn="ctr">
              <a:spcAft>
                <a:spcPts val="400"/>
              </a:spcAft>
            </a:pPr>
            <a:r>
              <a:rPr sz="1800" b="1">
                <a:solidFill>
                  <a:srgbClr val="FFFFFF"/>
                </a:solidFill>
                <a:latin typeface="Arial"/>
              </a:rPr>
              <a:t>1</a:t>
            </a:r>
          </a:p>
        </p:txBody>
      </p:sp>
      <p:sp>
        <p:nvSpPr>
          <p:cNvPr id="11" name="TextBox 10"/>
          <p:cNvSpPr txBox="1"/>
          <p:nvPr/>
        </p:nvSpPr>
        <p:spPr>
          <a:xfrm>
            <a:off x="1764792" y="1892808"/>
            <a:ext cx="3973068" cy="1115568"/>
          </a:xfrm>
          <a:prstGeom prst="rect">
            <a:avLst/>
          </a:prstGeom>
          <a:noFill/>
        </p:spPr>
        <p:txBody>
          <a:bodyPr wrap="square" anchor="ctr">
            <a:spAutoFit/>
          </a:bodyPr>
          <a:lstStyle/>
          <a:p>
            <a:pPr algn="l">
              <a:spcAft>
                <a:spcPts val="300"/>
              </a:spcAft>
            </a:pPr>
            <a:r>
              <a:rPr sz="1450" b="1">
                <a:solidFill>
                  <a:srgbClr val="161B26"/>
                </a:solidFill>
                <a:latin typeface="Arial"/>
              </a:rPr>
              <a:t>Pauli gates</a:t>
            </a:r>
          </a:p>
          <a:p>
            <a:pPr algn="l">
              <a:spcAft>
                <a:spcPts val="300"/>
              </a:spcAft>
            </a:pPr>
            <a:r>
              <a:rPr sz="1100" b="0">
                <a:solidFill>
                  <a:srgbClr val="5B6372"/>
                </a:solidFill>
                <a:latin typeface="Arial"/>
              </a:rPr>
              <a:t>X (bit flip), Y and Z (phase flip) are self-inverse, Hermitian and unitary — the building blocks of single-qubit logic.</a:t>
            </a:r>
          </a:p>
        </p:txBody>
      </p:sp>
      <p:sp>
        <p:nvSpPr>
          <p:cNvPr id="12" name="Rectangle 11"/>
          <p:cNvSpPr/>
          <p:nvPr/>
        </p:nvSpPr>
        <p:spPr>
          <a:xfrm>
            <a:off x="6231636" y="1783080"/>
            <a:ext cx="5180076" cy="1298448"/>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 name="Rectangle 12"/>
          <p:cNvSpPr/>
          <p:nvPr/>
        </p:nvSpPr>
        <p:spPr>
          <a:xfrm>
            <a:off x="6231636" y="1783080"/>
            <a:ext cx="91440" cy="1298448"/>
          </a:xfrm>
          <a:prstGeom prst="rect">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 name="Oval 13"/>
          <p:cNvSpPr/>
          <p:nvPr/>
        </p:nvSpPr>
        <p:spPr>
          <a:xfrm>
            <a:off x="6487668" y="2157984"/>
            <a:ext cx="548640" cy="548640"/>
          </a:xfrm>
          <a:prstGeom prst="ellipse">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5" name="TextBox 14"/>
          <p:cNvSpPr txBox="1"/>
          <p:nvPr/>
        </p:nvSpPr>
        <p:spPr>
          <a:xfrm>
            <a:off x="6487668" y="2157984"/>
            <a:ext cx="548640" cy="548640"/>
          </a:xfrm>
          <a:prstGeom prst="rect">
            <a:avLst/>
          </a:prstGeom>
          <a:noFill/>
        </p:spPr>
        <p:txBody>
          <a:bodyPr wrap="square" anchor="ctr">
            <a:spAutoFit/>
          </a:bodyPr>
          <a:lstStyle/>
          <a:p>
            <a:pPr algn="ctr">
              <a:spcAft>
                <a:spcPts val="400"/>
              </a:spcAft>
            </a:pPr>
            <a:r>
              <a:rPr sz="1800" b="1">
                <a:solidFill>
                  <a:srgbClr val="FFFFFF"/>
                </a:solidFill>
                <a:latin typeface="Arial"/>
              </a:rPr>
              <a:t>2</a:t>
            </a:r>
          </a:p>
        </p:txBody>
      </p:sp>
      <p:sp>
        <p:nvSpPr>
          <p:cNvPr id="16" name="TextBox 15"/>
          <p:cNvSpPr txBox="1"/>
          <p:nvPr/>
        </p:nvSpPr>
        <p:spPr>
          <a:xfrm>
            <a:off x="7219188" y="1892808"/>
            <a:ext cx="3973068" cy="1115568"/>
          </a:xfrm>
          <a:prstGeom prst="rect">
            <a:avLst/>
          </a:prstGeom>
          <a:noFill/>
        </p:spPr>
        <p:txBody>
          <a:bodyPr wrap="square" anchor="ctr">
            <a:spAutoFit/>
          </a:bodyPr>
          <a:lstStyle/>
          <a:p>
            <a:pPr algn="l">
              <a:spcAft>
                <a:spcPts val="300"/>
              </a:spcAft>
            </a:pPr>
            <a:r>
              <a:rPr sz="1450" b="1">
                <a:solidFill>
                  <a:srgbClr val="161B26"/>
                </a:solidFill>
                <a:latin typeface="Arial"/>
              </a:rPr>
              <a:t>Hadamard gate</a:t>
            </a:r>
          </a:p>
          <a:p>
            <a:pPr algn="l">
              <a:spcAft>
                <a:spcPts val="300"/>
              </a:spcAft>
            </a:pPr>
            <a:r>
              <a:rPr sz="1100" b="0">
                <a:solidFill>
                  <a:srgbClr val="5B6372"/>
                </a:solidFill>
                <a:latin typeface="Arial"/>
              </a:rPr>
              <a:t>H maps |0⟩ → |+⟩ and |1⟩ → |−⟩, creating the equal superposition that starts nearly every quantum algorithm.</a:t>
            </a:r>
          </a:p>
        </p:txBody>
      </p:sp>
      <p:sp>
        <p:nvSpPr>
          <p:cNvPr id="17" name="Rectangle 16"/>
          <p:cNvSpPr/>
          <p:nvPr/>
        </p:nvSpPr>
        <p:spPr>
          <a:xfrm>
            <a:off x="777240" y="3319272"/>
            <a:ext cx="5180076" cy="1298448"/>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8" name="Rectangle 17"/>
          <p:cNvSpPr/>
          <p:nvPr/>
        </p:nvSpPr>
        <p:spPr>
          <a:xfrm>
            <a:off x="777240" y="3319272"/>
            <a:ext cx="91440" cy="1298448"/>
          </a:xfrm>
          <a:prstGeom prst="rect">
            <a:avLst/>
          </a:prstGeom>
          <a:solidFill>
            <a:srgbClr val="7C3AE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9" name="Oval 18"/>
          <p:cNvSpPr/>
          <p:nvPr/>
        </p:nvSpPr>
        <p:spPr>
          <a:xfrm>
            <a:off x="1033272" y="3694176"/>
            <a:ext cx="548640" cy="548640"/>
          </a:xfrm>
          <a:prstGeom prst="ellipse">
            <a:avLst/>
          </a:prstGeom>
          <a:solidFill>
            <a:srgbClr val="7C3AE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0" name="TextBox 19"/>
          <p:cNvSpPr txBox="1"/>
          <p:nvPr/>
        </p:nvSpPr>
        <p:spPr>
          <a:xfrm>
            <a:off x="1033272" y="3694176"/>
            <a:ext cx="548640" cy="548640"/>
          </a:xfrm>
          <a:prstGeom prst="rect">
            <a:avLst/>
          </a:prstGeom>
          <a:noFill/>
        </p:spPr>
        <p:txBody>
          <a:bodyPr wrap="square" anchor="ctr">
            <a:spAutoFit/>
          </a:bodyPr>
          <a:lstStyle/>
          <a:p>
            <a:pPr algn="ctr">
              <a:spcAft>
                <a:spcPts val="400"/>
              </a:spcAft>
            </a:pPr>
            <a:r>
              <a:rPr sz="1800" b="1">
                <a:solidFill>
                  <a:srgbClr val="FFFFFF"/>
                </a:solidFill>
                <a:latin typeface="Arial"/>
              </a:rPr>
              <a:t>3</a:t>
            </a:r>
          </a:p>
        </p:txBody>
      </p:sp>
      <p:sp>
        <p:nvSpPr>
          <p:cNvPr id="21" name="TextBox 20"/>
          <p:cNvSpPr txBox="1"/>
          <p:nvPr/>
        </p:nvSpPr>
        <p:spPr>
          <a:xfrm>
            <a:off x="1764792" y="3429000"/>
            <a:ext cx="3973068" cy="1115568"/>
          </a:xfrm>
          <a:prstGeom prst="rect">
            <a:avLst/>
          </a:prstGeom>
          <a:noFill/>
        </p:spPr>
        <p:txBody>
          <a:bodyPr wrap="square" anchor="ctr">
            <a:spAutoFit/>
          </a:bodyPr>
          <a:lstStyle/>
          <a:p>
            <a:pPr algn="l">
              <a:spcAft>
                <a:spcPts val="300"/>
              </a:spcAft>
            </a:pPr>
            <a:r>
              <a:rPr sz="1450" b="1">
                <a:solidFill>
                  <a:srgbClr val="161B26"/>
                </a:solidFill>
                <a:latin typeface="Arial"/>
              </a:rPr>
              <a:t>Rotation and phase gates</a:t>
            </a:r>
          </a:p>
          <a:p>
            <a:pPr algn="l">
              <a:spcAft>
                <a:spcPts val="300"/>
              </a:spcAft>
            </a:pPr>
            <a:r>
              <a:rPr sz="1100" b="0">
                <a:solidFill>
                  <a:srgbClr val="5B6372"/>
                </a:solidFill>
                <a:latin typeface="Arial"/>
              </a:rPr>
              <a:t>Rx, Ry, Rz rotate the Bloch vector; S and T are special cases of the phase gate P(θ).</a:t>
            </a:r>
          </a:p>
        </p:txBody>
      </p:sp>
      <p:sp>
        <p:nvSpPr>
          <p:cNvPr id="22" name="Rectangle 21"/>
          <p:cNvSpPr/>
          <p:nvPr/>
        </p:nvSpPr>
        <p:spPr>
          <a:xfrm>
            <a:off x="6231636" y="3319272"/>
            <a:ext cx="5180076" cy="1298448"/>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3" name="Rectangle 22"/>
          <p:cNvSpPr/>
          <p:nvPr/>
        </p:nvSpPr>
        <p:spPr>
          <a:xfrm>
            <a:off x="6231636" y="3319272"/>
            <a:ext cx="91440" cy="1298448"/>
          </a:xfrm>
          <a:prstGeom prst="rect">
            <a:avLst/>
          </a:prstGeom>
          <a:solidFill>
            <a:srgbClr val="F59E0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4" name="Oval 23"/>
          <p:cNvSpPr/>
          <p:nvPr/>
        </p:nvSpPr>
        <p:spPr>
          <a:xfrm>
            <a:off x="6487668" y="3694176"/>
            <a:ext cx="548640" cy="548640"/>
          </a:xfrm>
          <a:prstGeom prst="ellipse">
            <a:avLst/>
          </a:prstGeom>
          <a:solidFill>
            <a:srgbClr val="F59E0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5" name="TextBox 24"/>
          <p:cNvSpPr txBox="1"/>
          <p:nvPr/>
        </p:nvSpPr>
        <p:spPr>
          <a:xfrm>
            <a:off x="6487668" y="3694176"/>
            <a:ext cx="548640" cy="548640"/>
          </a:xfrm>
          <a:prstGeom prst="rect">
            <a:avLst/>
          </a:prstGeom>
          <a:noFill/>
        </p:spPr>
        <p:txBody>
          <a:bodyPr wrap="square" anchor="ctr">
            <a:spAutoFit/>
          </a:bodyPr>
          <a:lstStyle/>
          <a:p>
            <a:pPr algn="ctr">
              <a:spcAft>
                <a:spcPts val="400"/>
              </a:spcAft>
            </a:pPr>
            <a:r>
              <a:rPr sz="1800" b="1">
                <a:solidFill>
                  <a:srgbClr val="FFFFFF"/>
                </a:solidFill>
                <a:latin typeface="Arial"/>
              </a:rPr>
              <a:t>4</a:t>
            </a:r>
          </a:p>
        </p:txBody>
      </p:sp>
      <p:sp>
        <p:nvSpPr>
          <p:cNvPr id="26" name="TextBox 25"/>
          <p:cNvSpPr txBox="1"/>
          <p:nvPr/>
        </p:nvSpPr>
        <p:spPr>
          <a:xfrm>
            <a:off x="7219188" y="3429000"/>
            <a:ext cx="3973068" cy="1115568"/>
          </a:xfrm>
          <a:prstGeom prst="rect">
            <a:avLst/>
          </a:prstGeom>
          <a:noFill/>
        </p:spPr>
        <p:txBody>
          <a:bodyPr wrap="square" anchor="ctr">
            <a:spAutoFit/>
          </a:bodyPr>
          <a:lstStyle/>
          <a:p>
            <a:pPr algn="l">
              <a:spcAft>
                <a:spcPts val="300"/>
              </a:spcAft>
            </a:pPr>
            <a:r>
              <a:rPr sz="1450" b="1">
                <a:solidFill>
                  <a:srgbClr val="161B26"/>
                </a:solidFill>
                <a:latin typeface="Arial"/>
              </a:rPr>
              <a:t>Multi-qubit gates</a:t>
            </a:r>
          </a:p>
          <a:p>
            <a:pPr algn="l">
              <a:spcAft>
                <a:spcPts val="300"/>
              </a:spcAft>
            </a:pPr>
            <a:r>
              <a:rPr sz="1100" b="0">
                <a:solidFill>
                  <a:srgbClr val="5B6372"/>
                </a:solidFill>
                <a:latin typeface="Arial"/>
              </a:rPr>
              <a:t>CNOT, CZ, controlled-phase, SWAP and Toffoli (CCNOT) create the entanglement that makes quantum computing powerful.</a:t>
            </a:r>
          </a:p>
        </p:txBody>
      </p:sp>
      <p:sp>
        <p:nvSpPr>
          <p:cNvPr id="27" name="Rectangle 26"/>
          <p:cNvSpPr/>
          <p:nvPr/>
        </p:nvSpPr>
        <p:spPr>
          <a:xfrm>
            <a:off x="777240" y="4855464"/>
            <a:ext cx="5180076" cy="1298448"/>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8" name="Rectangle 27"/>
          <p:cNvSpPr/>
          <p:nvPr/>
        </p:nvSpPr>
        <p:spPr>
          <a:xfrm>
            <a:off x="777240" y="4855464"/>
            <a:ext cx="91440" cy="1298448"/>
          </a:xfrm>
          <a:prstGeom prst="rect">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9" name="Oval 28"/>
          <p:cNvSpPr/>
          <p:nvPr/>
        </p:nvSpPr>
        <p:spPr>
          <a:xfrm>
            <a:off x="1033272" y="5230368"/>
            <a:ext cx="548640" cy="548640"/>
          </a:xfrm>
          <a:prstGeom prst="ellipse">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0" name="TextBox 29"/>
          <p:cNvSpPr txBox="1"/>
          <p:nvPr/>
        </p:nvSpPr>
        <p:spPr>
          <a:xfrm>
            <a:off x="1033272" y="5230368"/>
            <a:ext cx="548640" cy="548640"/>
          </a:xfrm>
          <a:prstGeom prst="rect">
            <a:avLst/>
          </a:prstGeom>
          <a:noFill/>
        </p:spPr>
        <p:txBody>
          <a:bodyPr wrap="square" anchor="ctr">
            <a:spAutoFit/>
          </a:bodyPr>
          <a:lstStyle/>
          <a:p>
            <a:pPr algn="ctr">
              <a:spcAft>
                <a:spcPts val="400"/>
              </a:spcAft>
            </a:pPr>
            <a:r>
              <a:rPr sz="1800" b="1">
                <a:solidFill>
                  <a:srgbClr val="FFFFFF"/>
                </a:solidFill>
                <a:latin typeface="Arial"/>
              </a:rPr>
              <a:t>5</a:t>
            </a:r>
          </a:p>
        </p:txBody>
      </p:sp>
      <p:sp>
        <p:nvSpPr>
          <p:cNvPr id="31" name="TextBox 30"/>
          <p:cNvSpPr txBox="1"/>
          <p:nvPr/>
        </p:nvSpPr>
        <p:spPr>
          <a:xfrm>
            <a:off x="1764792" y="4965192"/>
            <a:ext cx="3973068" cy="1115568"/>
          </a:xfrm>
          <a:prstGeom prst="rect">
            <a:avLst/>
          </a:prstGeom>
          <a:noFill/>
        </p:spPr>
        <p:txBody>
          <a:bodyPr wrap="square" anchor="ctr">
            <a:spAutoFit/>
          </a:bodyPr>
          <a:lstStyle/>
          <a:p>
            <a:pPr algn="l">
              <a:spcAft>
                <a:spcPts val="300"/>
              </a:spcAft>
            </a:pPr>
            <a:r>
              <a:rPr sz="1450" b="1">
                <a:solidFill>
                  <a:srgbClr val="161B26"/>
                </a:solidFill>
                <a:latin typeface="Arial"/>
              </a:rPr>
              <a:t>Bell and GHZ states</a:t>
            </a:r>
          </a:p>
          <a:p>
            <a:pPr algn="l">
              <a:spcAft>
                <a:spcPts val="300"/>
              </a:spcAft>
            </a:pPr>
            <a:r>
              <a:rPr sz="1100" b="0">
                <a:solidFill>
                  <a:srgbClr val="5B6372"/>
                </a:solidFill>
                <a:latin typeface="Arial"/>
              </a:rPr>
              <a:t>H followed by CNOT produces a maximally entangled Bell pair; extending to n qubits gives the GHZ state.</a:t>
            </a:r>
          </a:p>
        </p:txBody>
      </p:sp>
      <p:sp>
        <p:nvSpPr>
          <p:cNvPr id="32" name="Rectangle 31"/>
          <p:cNvSpPr/>
          <p:nvPr/>
        </p:nvSpPr>
        <p:spPr>
          <a:xfrm>
            <a:off x="6231636" y="4855464"/>
            <a:ext cx="5180076" cy="1298448"/>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3" name="Rectangle 32"/>
          <p:cNvSpPr/>
          <p:nvPr/>
        </p:nvSpPr>
        <p:spPr>
          <a:xfrm>
            <a:off x="6231636" y="4855464"/>
            <a:ext cx="91440" cy="1298448"/>
          </a:xfrm>
          <a:prstGeom prst="rect">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4" name="Oval 33"/>
          <p:cNvSpPr/>
          <p:nvPr/>
        </p:nvSpPr>
        <p:spPr>
          <a:xfrm>
            <a:off x="6487668" y="5230368"/>
            <a:ext cx="548640" cy="548640"/>
          </a:xfrm>
          <a:prstGeom prst="ellipse">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5" name="TextBox 34"/>
          <p:cNvSpPr txBox="1"/>
          <p:nvPr/>
        </p:nvSpPr>
        <p:spPr>
          <a:xfrm>
            <a:off x="6487668" y="5230368"/>
            <a:ext cx="548640" cy="548640"/>
          </a:xfrm>
          <a:prstGeom prst="rect">
            <a:avLst/>
          </a:prstGeom>
          <a:noFill/>
        </p:spPr>
        <p:txBody>
          <a:bodyPr wrap="square" anchor="ctr">
            <a:spAutoFit/>
          </a:bodyPr>
          <a:lstStyle/>
          <a:p>
            <a:pPr algn="ctr">
              <a:spcAft>
                <a:spcPts val="400"/>
              </a:spcAft>
            </a:pPr>
            <a:r>
              <a:rPr sz="1800" b="1">
                <a:solidFill>
                  <a:srgbClr val="FFFFFF"/>
                </a:solidFill>
                <a:latin typeface="Arial"/>
              </a:rPr>
              <a:t>6</a:t>
            </a:r>
          </a:p>
        </p:txBody>
      </p:sp>
      <p:sp>
        <p:nvSpPr>
          <p:cNvPr id="36" name="TextBox 35"/>
          <p:cNvSpPr txBox="1"/>
          <p:nvPr/>
        </p:nvSpPr>
        <p:spPr>
          <a:xfrm>
            <a:off x="7219188" y="4965192"/>
            <a:ext cx="3973068" cy="1115568"/>
          </a:xfrm>
          <a:prstGeom prst="rect">
            <a:avLst/>
          </a:prstGeom>
          <a:noFill/>
        </p:spPr>
        <p:txBody>
          <a:bodyPr wrap="square" anchor="ctr">
            <a:spAutoFit/>
          </a:bodyPr>
          <a:lstStyle/>
          <a:p>
            <a:pPr algn="l">
              <a:spcAft>
                <a:spcPts val="300"/>
              </a:spcAft>
            </a:pPr>
            <a:r>
              <a:rPr sz="1450" b="1">
                <a:solidFill>
                  <a:srgbClr val="161B26"/>
                </a:solidFill>
                <a:latin typeface="Arial"/>
              </a:rPr>
              <a:t>Phase kickback</a:t>
            </a:r>
          </a:p>
          <a:p>
            <a:pPr algn="l">
              <a:spcAft>
                <a:spcPts val="300"/>
              </a:spcAft>
            </a:pPr>
            <a:r>
              <a:rPr sz="1100" b="0">
                <a:solidFill>
                  <a:srgbClr val="5B6372"/>
                </a:solidFill>
                <a:latin typeface="Arial"/>
              </a:rPr>
              <a:t>A controlled operation on an eigenstate transfers the eigenvalue phase back to the control qubit — the engine of Deutsch, BV and QPE.</a:t>
            </a:r>
          </a:p>
        </p:txBody>
      </p:sp>
      <p:sp>
        <p:nvSpPr>
          <p:cNvPr id="37" name="TextBox 36"/>
          <p:cNvSpPr txBox="1"/>
          <p:nvPr/>
        </p:nvSpPr>
        <p:spPr>
          <a:xfrm>
            <a:off x="365760" y="6446520"/>
            <a:ext cx="6858000" cy="320040"/>
          </a:xfrm>
          <a:prstGeom prst="rect">
            <a:avLst/>
          </a:prstGeom>
          <a:noFill/>
        </p:spPr>
        <p:txBody>
          <a:bodyPr wrap="square" anchor="t">
            <a:spAutoFit/>
          </a:bodyPr>
          <a:lstStyle/>
          <a:p>
            <a:pPr algn="l">
              <a:spcAft>
                <a:spcPts val="400"/>
              </a:spcAft>
            </a:pPr>
            <a:r>
              <a:rPr sz="900" b="0">
                <a:solidFill>
                  <a:srgbClr val="5B6372"/>
                </a:solidFill>
                <a:latin typeface="Arial"/>
              </a:rPr>
              <a:t>Securing the Future with Quantum Computing and Cryptography  ·  TGS-2024043419</a:t>
            </a:r>
          </a:p>
        </p:txBody>
      </p:sp>
      <p:sp>
        <p:nvSpPr>
          <p:cNvPr id="38" name="TextBox 37"/>
          <p:cNvSpPr txBox="1"/>
          <p:nvPr/>
        </p:nvSpPr>
        <p:spPr>
          <a:xfrm>
            <a:off x="4572000" y="6446520"/>
            <a:ext cx="3017520" cy="320040"/>
          </a:xfrm>
          <a:prstGeom prst="rect">
            <a:avLst/>
          </a:prstGeom>
          <a:noFill/>
        </p:spPr>
        <p:txBody>
          <a:bodyPr wrap="square" anchor="t">
            <a:spAutoFit/>
          </a:bodyPr>
          <a:lstStyle/>
          <a:p>
            <a:pPr algn="ctr">
              <a:spcAft>
                <a:spcPts val="400"/>
              </a:spcAft>
            </a:pPr>
            <a:r>
              <a:rPr sz="900" b="0">
                <a:solidFill>
                  <a:srgbClr val="5B6372"/>
                </a:solidFill>
                <a:latin typeface="Arial"/>
              </a:rPr>
              <a:t>© 2026 Tertiary Infotech Academy Pte Ltd</a:t>
            </a:r>
          </a:p>
        </p:txBody>
      </p:sp>
      <p:sp>
        <p:nvSpPr>
          <p:cNvPr id="39" name="TextBox 38"/>
          <p:cNvSpPr txBox="1"/>
          <p:nvPr/>
        </p:nvSpPr>
        <p:spPr>
          <a:xfrm>
            <a:off x="11338560" y="6446520"/>
            <a:ext cx="548640" cy="320040"/>
          </a:xfrm>
          <a:prstGeom prst="rect">
            <a:avLst/>
          </a:prstGeom>
          <a:noFill/>
        </p:spPr>
        <p:txBody>
          <a:bodyPr wrap="square" anchor="t">
            <a:spAutoFit/>
          </a:bodyPr>
          <a:lstStyle/>
          <a:p>
            <a:pPr algn="r">
              <a:spcAft>
                <a:spcPts val="400"/>
              </a:spcAft>
            </a:pPr>
            <a:r>
              <a:rPr sz="900" b="0">
                <a:solidFill>
                  <a:srgbClr val="5B6372"/>
                </a:solidFill>
                <a:latin typeface="Arial"/>
              </a:rPr>
              <a:t>64</a:t>
            </a:r>
          </a:p>
        </p:txBody>
      </p:sp>
    </p:spTree>
  </p:cSld>
  <p:clrMapOvr>
    <a:masterClrMapping/>
  </p:clrMapOvr>
</p:sld>
</file>

<file path=ppt/slides/slide66.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256032" cy="1417320"/>
          </a:xfrm>
          <a:prstGeom prst="rect">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777240" y="457200"/>
            <a:ext cx="10607040" cy="365760"/>
          </a:xfrm>
          <a:prstGeom prst="rect">
            <a:avLst/>
          </a:prstGeom>
          <a:noFill/>
        </p:spPr>
        <p:txBody>
          <a:bodyPr wrap="square" anchor="t">
            <a:spAutoFit/>
          </a:bodyPr>
          <a:lstStyle/>
          <a:p>
            <a:pPr algn="l">
              <a:spcAft>
                <a:spcPts val="400"/>
              </a:spcAft>
            </a:pPr>
            <a:r>
              <a:rPr sz="1400" b="1">
                <a:solidFill>
                  <a:srgbClr val="1F6FEB"/>
                </a:solidFill>
                <a:latin typeface="Arial"/>
              </a:rPr>
              <a:t>YOUR GATE VOCABULARY</a:t>
            </a:r>
          </a:p>
        </p:txBody>
      </p:sp>
      <p:sp>
        <p:nvSpPr>
          <p:cNvPr id="5" name="TextBox 4"/>
          <p:cNvSpPr txBox="1"/>
          <p:nvPr/>
        </p:nvSpPr>
        <p:spPr>
          <a:xfrm>
            <a:off x="777240" y="822960"/>
            <a:ext cx="10881360" cy="822960"/>
          </a:xfrm>
          <a:prstGeom prst="rect">
            <a:avLst/>
          </a:prstGeom>
          <a:noFill/>
        </p:spPr>
        <p:txBody>
          <a:bodyPr wrap="square" anchor="t">
            <a:spAutoFit/>
          </a:bodyPr>
          <a:lstStyle/>
          <a:p>
            <a:pPr algn="l">
              <a:spcAft>
                <a:spcPts val="400"/>
              </a:spcAft>
            </a:pPr>
            <a:r>
              <a:rPr sz="2900" b="1">
                <a:solidFill>
                  <a:srgbClr val="161B26"/>
                </a:solidFill>
                <a:latin typeface="Arial"/>
              </a:rPr>
              <a:t>The Quantum Gate Set</a:t>
            </a:r>
          </a:p>
        </p:txBody>
      </p:sp>
      <p:sp>
        <p:nvSpPr>
          <p:cNvPr id="6" name="Rectangle 5"/>
          <p:cNvSpPr/>
          <p:nvPr/>
        </p:nvSpPr>
        <p:spPr>
          <a:xfrm>
            <a:off x="777240" y="1554480"/>
            <a:ext cx="10634472" cy="18288"/>
          </a:xfrm>
          <a:prstGeom prst="rect">
            <a:avLst/>
          </a:prstGeom>
          <a:solidFill>
            <a:srgbClr val="E2E8F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pic>
        <p:nvPicPr>
          <p:cNvPr id="7" name="Picture 6" descr="gate-reference.png"/>
          <p:cNvPicPr>
            <a:picLocks noChangeAspect="1"/>
          </p:cNvPicPr>
          <p:nvPr/>
        </p:nvPicPr>
        <p:blipFill>
          <a:blip r:embed="rId2"/>
          <a:stretch>
            <a:fillRect/>
          </a:stretch>
        </p:blipFill>
        <p:spPr>
          <a:xfrm>
            <a:off x="1838403" y="1755648"/>
            <a:ext cx="8512145" cy="3950208"/>
          </a:xfrm>
          <a:prstGeom prst="rect">
            <a:avLst/>
          </a:prstGeom>
        </p:spPr>
      </p:pic>
      <p:sp>
        <p:nvSpPr>
          <p:cNvPr id="8" name="Rectangle 7"/>
          <p:cNvSpPr/>
          <p:nvPr/>
        </p:nvSpPr>
        <p:spPr>
          <a:xfrm>
            <a:off x="777240" y="5870448"/>
            <a:ext cx="10634472" cy="457200"/>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TextBox 8"/>
          <p:cNvSpPr txBox="1"/>
          <p:nvPr/>
        </p:nvSpPr>
        <p:spPr>
          <a:xfrm>
            <a:off x="960120" y="5870448"/>
            <a:ext cx="10241280" cy="457200"/>
          </a:xfrm>
          <a:prstGeom prst="rect">
            <a:avLst/>
          </a:prstGeom>
          <a:noFill/>
        </p:spPr>
        <p:txBody>
          <a:bodyPr wrap="square" anchor="ctr">
            <a:spAutoFit/>
          </a:bodyPr>
          <a:lstStyle/>
          <a:p>
            <a:pPr algn="ctr">
              <a:spcAft>
                <a:spcPts val="400"/>
              </a:spcAft>
            </a:pPr>
            <a:r>
              <a:rPr sz="1350" b="0">
                <a:solidFill>
                  <a:srgbClr val="161B26"/>
                </a:solidFill>
                <a:latin typeface="Arial"/>
              </a:rPr>
              <a:t>Single-qubit gates rotate the Bloch vector; two-qubit gates create the entanglement that makes quantum computing powerful.</a:t>
            </a:r>
          </a:p>
        </p:txBody>
      </p:sp>
      <p:sp>
        <p:nvSpPr>
          <p:cNvPr id="10" name="TextBox 9"/>
          <p:cNvSpPr txBox="1"/>
          <p:nvPr/>
        </p:nvSpPr>
        <p:spPr>
          <a:xfrm>
            <a:off x="365760" y="6446520"/>
            <a:ext cx="6858000" cy="320040"/>
          </a:xfrm>
          <a:prstGeom prst="rect">
            <a:avLst/>
          </a:prstGeom>
          <a:noFill/>
        </p:spPr>
        <p:txBody>
          <a:bodyPr wrap="square" anchor="t">
            <a:spAutoFit/>
          </a:bodyPr>
          <a:lstStyle/>
          <a:p>
            <a:pPr algn="l">
              <a:spcAft>
                <a:spcPts val="400"/>
              </a:spcAft>
            </a:pPr>
            <a:r>
              <a:rPr sz="900" b="0">
                <a:solidFill>
                  <a:srgbClr val="5B6372"/>
                </a:solidFill>
                <a:latin typeface="Arial"/>
              </a:rPr>
              <a:t>Securing the Future with Quantum Computing and Cryptography  ·  TGS-2024043419</a:t>
            </a:r>
          </a:p>
        </p:txBody>
      </p:sp>
      <p:sp>
        <p:nvSpPr>
          <p:cNvPr id="11" name="TextBox 10"/>
          <p:cNvSpPr txBox="1"/>
          <p:nvPr/>
        </p:nvSpPr>
        <p:spPr>
          <a:xfrm>
            <a:off x="4572000" y="6446520"/>
            <a:ext cx="3017520" cy="320040"/>
          </a:xfrm>
          <a:prstGeom prst="rect">
            <a:avLst/>
          </a:prstGeom>
          <a:noFill/>
        </p:spPr>
        <p:txBody>
          <a:bodyPr wrap="square" anchor="t">
            <a:spAutoFit/>
          </a:bodyPr>
          <a:lstStyle/>
          <a:p>
            <a:pPr algn="ctr">
              <a:spcAft>
                <a:spcPts val="400"/>
              </a:spcAft>
            </a:pPr>
            <a:r>
              <a:rPr sz="900" b="0">
                <a:solidFill>
                  <a:srgbClr val="5B6372"/>
                </a:solidFill>
                <a:latin typeface="Arial"/>
              </a:rPr>
              <a:t>© 2026 Tertiary Infotech Academy Pte Ltd</a:t>
            </a:r>
          </a:p>
        </p:txBody>
      </p:sp>
      <p:sp>
        <p:nvSpPr>
          <p:cNvPr id="12" name="TextBox 11"/>
          <p:cNvSpPr txBox="1"/>
          <p:nvPr/>
        </p:nvSpPr>
        <p:spPr>
          <a:xfrm>
            <a:off x="11338560" y="6446520"/>
            <a:ext cx="548640" cy="320040"/>
          </a:xfrm>
          <a:prstGeom prst="rect">
            <a:avLst/>
          </a:prstGeom>
          <a:noFill/>
        </p:spPr>
        <p:txBody>
          <a:bodyPr wrap="square" anchor="t">
            <a:spAutoFit/>
          </a:bodyPr>
          <a:lstStyle/>
          <a:p>
            <a:pPr algn="r">
              <a:spcAft>
                <a:spcPts val="400"/>
              </a:spcAft>
            </a:pPr>
            <a:r>
              <a:rPr sz="900" b="0">
                <a:solidFill>
                  <a:srgbClr val="5B6372"/>
                </a:solidFill>
                <a:latin typeface="Arial"/>
              </a:rPr>
              <a:t>65</a:t>
            </a:r>
          </a:p>
        </p:txBody>
      </p:sp>
    </p:spTree>
  </p:cSld>
  <p:clrMapOvr>
    <a:masterClrMapping/>
  </p:clrMapOvr>
</p:sld>
</file>

<file path=ppt/slides/slide67.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256032" cy="1417320"/>
          </a:xfrm>
          <a:prstGeom prst="rect">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777240" y="457200"/>
            <a:ext cx="10607040" cy="365760"/>
          </a:xfrm>
          <a:prstGeom prst="rect">
            <a:avLst/>
          </a:prstGeom>
          <a:noFill/>
        </p:spPr>
        <p:txBody>
          <a:bodyPr wrap="square" anchor="t">
            <a:spAutoFit/>
          </a:bodyPr>
          <a:lstStyle/>
          <a:p>
            <a:pPr algn="l">
              <a:spcAft>
                <a:spcPts val="400"/>
              </a:spcAft>
            </a:pPr>
            <a:r>
              <a:rPr sz="1400" b="1">
                <a:solidFill>
                  <a:srgbClr val="10B981"/>
                </a:solidFill>
                <a:latin typeface="Arial"/>
              </a:rPr>
              <a:t>GATE REFERENCE</a:t>
            </a:r>
          </a:p>
        </p:txBody>
      </p:sp>
      <p:sp>
        <p:nvSpPr>
          <p:cNvPr id="5" name="TextBox 4"/>
          <p:cNvSpPr txBox="1"/>
          <p:nvPr/>
        </p:nvSpPr>
        <p:spPr>
          <a:xfrm>
            <a:off x="777240" y="822960"/>
            <a:ext cx="10881360" cy="822960"/>
          </a:xfrm>
          <a:prstGeom prst="rect">
            <a:avLst/>
          </a:prstGeom>
          <a:noFill/>
        </p:spPr>
        <p:txBody>
          <a:bodyPr wrap="square" anchor="t">
            <a:spAutoFit/>
          </a:bodyPr>
          <a:lstStyle/>
          <a:p>
            <a:pPr algn="l">
              <a:spcAft>
                <a:spcPts val="400"/>
              </a:spcAft>
            </a:pPr>
            <a:r>
              <a:rPr sz="2900" b="1">
                <a:solidFill>
                  <a:srgbClr val="161B26"/>
                </a:solidFill>
                <a:latin typeface="Arial"/>
              </a:rPr>
              <a:t>Single vs Multi-Qubit Gates</a:t>
            </a:r>
          </a:p>
        </p:txBody>
      </p:sp>
      <p:sp>
        <p:nvSpPr>
          <p:cNvPr id="6" name="Rectangle 5"/>
          <p:cNvSpPr/>
          <p:nvPr/>
        </p:nvSpPr>
        <p:spPr>
          <a:xfrm>
            <a:off x="777240" y="1554480"/>
            <a:ext cx="10634472" cy="18288"/>
          </a:xfrm>
          <a:prstGeom prst="rect">
            <a:avLst/>
          </a:prstGeom>
          <a:solidFill>
            <a:srgbClr val="E2E8F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Rectangle 6"/>
          <p:cNvSpPr/>
          <p:nvPr/>
        </p:nvSpPr>
        <p:spPr>
          <a:xfrm>
            <a:off x="777240" y="1874519"/>
            <a:ext cx="1701515" cy="475488"/>
          </a:xfrm>
          <a:prstGeom prst="rect">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TextBox 7"/>
          <p:cNvSpPr txBox="1"/>
          <p:nvPr/>
        </p:nvSpPr>
        <p:spPr>
          <a:xfrm>
            <a:off x="914400" y="1874519"/>
            <a:ext cx="1427195" cy="475488"/>
          </a:xfrm>
          <a:prstGeom prst="rect">
            <a:avLst/>
          </a:prstGeom>
          <a:noFill/>
        </p:spPr>
        <p:txBody>
          <a:bodyPr wrap="square" anchor="ctr">
            <a:spAutoFit/>
          </a:bodyPr>
          <a:lstStyle/>
          <a:p>
            <a:pPr algn="l">
              <a:spcAft>
                <a:spcPts val="400"/>
              </a:spcAft>
            </a:pPr>
            <a:r>
              <a:rPr sz="1300" b="1">
                <a:solidFill>
                  <a:srgbClr val="FFFFFF"/>
                </a:solidFill>
                <a:latin typeface="Arial"/>
              </a:rPr>
              <a:t>Gate</a:t>
            </a:r>
          </a:p>
        </p:txBody>
      </p:sp>
      <p:sp>
        <p:nvSpPr>
          <p:cNvPr id="9" name="Rectangle 8"/>
          <p:cNvSpPr/>
          <p:nvPr/>
        </p:nvSpPr>
        <p:spPr>
          <a:xfrm>
            <a:off x="2478755" y="1874519"/>
            <a:ext cx="1063447" cy="475488"/>
          </a:xfrm>
          <a:prstGeom prst="rect">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TextBox 9"/>
          <p:cNvSpPr txBox="1"/>
          <p:nvPr/>
        </p:nvSpPr>
        <p:spPr>
          <a:xfrm>
            <a:off x="2615915" y="1874519"/>
            <a:ext cx="789127" cy="475488"/>
          </a:xfrm>
          <a:prstGeom prst="rect">
            <a:avLst/>
          </a:prstGeom>
          <a:noFill/>
        </p:spPr>
        <p:txBody>
          <a:bodyPr wrap="square" anchor="ctr">
            <a:spAutoFit/>
          </a:bodyPr>
          <a:lstStyle/>
          <a:p>
            <a:pPr algn="l">
              <a:spcAft>
                <a:spcPts val="400"/>
              </a:spcAft>
            </a:pPr>
            <a:r>
              <a:rPr sz="1300" b="1">
                <a:solidFill>
                  <a:srgbClr val="FFFFFF"/>
                </a:solidFill>
                <a:latin typeface="Arial"/>
              </a:rPr>
              <a:t>Qubits</a:t>
            </a:r>
          </a:p>
        </p:txBody>
      </p:sp>
      <p:sp>
        <p:nvSpPr>
          <p:cNvPr id="11" name="Rectangle 10"/>
          <p:cNvSpPr/>
          <p:nvPr/>
        </p:nvSpPr>
        <p:spPr>
          <a:xfrm>
            <a:off x="3542202" y="1874519"/>
            <a:ext cx="3828409" cy="475488"/>
          </a:xfrm>
          <a:prstGeom prst="rect">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 name="TextBox 11"/>
          <p:cNvSpPr txBox="1"/>
          <p:nvPr/>
        </p:nvSpPr>
        <p:spPr>
          <a:xfrm>
            <a:off x="3679362" y="1874519"/>
            <a:ext cx="3554089" cy="475488"/>
          </a:xfrm>
          <a:prstGeom prst="rect">
            <a:avLst/>
          </a:prstGeom>
          <a:noFill/>
        </p:spPr>
        <p:txBody>
          <a:bodyPr wrap="square" anchor="ctr">
            <a:spAutoFit/>
          </a:bodyPr>
          <a:lstStyle/>
          <a:p>
            <a:pPr algn="l">
              <a:spcAft>
                <a:spcPts val="400"/>
              </a:spcAft>
            </a:pPr>
            <a:r>
              <a:rPr sz="1300" b="1">
                <a:solidFill>
                  <a:srgbClr val="FFFFFF"/>
                </a:solidFill>
                <a:latin typeface="Arial"/>
              </a:rPr>
              <a:t>Effect</a:t>
            </a:r>
          </a:p>
        </p:txBody>
      </p:sp>
      <p:sp>
        <p:nvSpPr>
          <p:cNvPr id="13" name="Rectangle 12"/>
          <p:cNvSpPr/>
          <p:nvPr/>
        </p:nvSpPr>
        <p:spPr>
          <a:xfrm>
            <a:off x="7370611" y="1874519"/>
            <a:ext cx="4041099" cy="475488"/>
          </a:xfrm>
          <a:prstGeom prst="rect">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 name="TextBox 13"/>
          <p:cNvSpPr txBox="1"/>
          <p:nvPr/>
        </p:nvSpPr>
        <p:spPr>
          <a:xfrm>
            <a:off x="7507771" y="1874519"/>
            <a:ext cx="3766779" cy="475488"/>
          </a:xfrm>
          <a:prstGeom prst="rect">
            <a:avLst/>
          </a:prstGeom>
          <a:noFill/>
        </p:spPr>
        <p:txBody>
          <a:bodyPr wrap="square" anchor="ctr">
            <a:spAutoFit/>
          </a:bodyPr>
          <a:lstStyle/>
          <a:p>
            <a:pPr algn="l">
              <a:spcAft>
                <a:spcPts val="400"/>
              </a:spcAft>
            </a:pPr>
            <a:r>
              <a:rPr sz="1300" b="1">
                <a:solidFill>
                  <a:srgbClr val="FFFFFF"/>
                </a:solidFill>
                <a:latin typeface="Arial"/>
              </a:rPr>
              <a:t>Used for</a:t>
            </a:r>
          </a:p>
        </p:txBody>
      </p:sp>
      <p:sp>
        <p:nvSpPr>
          <p:cNvPr id="15" name="Rectangle 14"/>
          <p:cNvSpPr/>
          <p:nvPr/>
        </p:nvSpPr>
        <p:spPr>
          <a:xfrm>
            <a:off x="777240" y="2350007"/>
            <a:ext cx="1701515" cy="475488"/>
          </a:xfrm>
          <a:prstGeom prst="rect">
            <a:avLst/>
          </a:prstGeom>
          <a:solidFill>
            <a:srgbClr val="F5F8FC"/>
          </a:solidFill>
          <a:ln w="12700">
            <a:solidFill>
              <a:srgbClr val="E2E8F0"/>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6" name="TextBox 15"/>
          <p:cNvSpPr txBox="1"/>
          <p:nvPr/>
        </p:nvSpPr>
        <p:spPr>
          <a:xfrm>
            <a:off x="914400" y="2350007"/>
            <a:ext cx="1427195" cy="475488"/>
          </a:xfrm>
          <a:prstGeom prst="rect">
            <a:avLst/>
          </a:prstGeom>
          <a:noFill/>
        </p:spPr>
        <p:txBody>
          <a:bodyPr wrap="square" anchor="ctr">
            <a:spAutoFit/>
          </a:bodyPr>
          <a:lstStyle/>
          <a:p>
            <a:pPr algn="l">
              <a:spcAft>
                <a:spcPts val="400"/>
              </a:spcAft>
            </a:pPr>
            <a:r>
              <a:rPr sz="1200" b="1">
                <a:solidFill>
                  <a:srgbClr val="161B26"/>
                </a:solidFill>
                <a:latin typeface="Arial"/>
              </a:rPr>
              <a:t>X / Y / Z</a:t>
            </a:r>
          </a:p>
        </p:txBody>
      </p:sp>
      <p:sp>
        <p:nvSpPr>
          <p:cNvPr id="17" name="Rectangle 16"/>
          <p:cNvSpPr/>
          <p:nvPr/>
        </p:nvSpPr>
        <p:spPr>
          <a:xfrm>
            <a:off x="2478755" y="2350007"/>
            <a:ext cx="1063447" cy="475488"/>
          </a:xfrm>
          <a:prstGeom prst="rect">
            <a:avLst/>
          </a:prstGeom>
          <a:solidFill>
            <a:srgbClr val="F5F8FC"/>
          </a:solidFill>
          <a:ln w="12700">
            <a:solidFill>
              <a:srgbClr val="E2E8F0"/>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8" name="TextBox 17"/>
          <p:cNvSpPr txBox="1"/>
          <p:nvPr/>
        </p:nvSpPr>
        <p:spPr>
          <a:xfrm>
            <a:off x="2615915" y="2350007"/>
            <a:ext cx="789127" cy="475488"/>
          </a:xfrm>
          <a:prstGeom prst="rect">
            <a:avLst/>
          </a:prstGeom>
          <a:noFill/>
        </p:spPr>
        <p:txBody>
          <a:bodyPr wrap="square" anchor="ctr">
            <a:spAutoFit/>
          </a:bodyPr>
          <a:lstStyle/>
          <a:p>
            <a:pPr algn="l">
              <a:spcAft>
                <a:spcPts val="400"/>
              </a:spcAft>
            </a:pPr>
            <a:r>
              <a:rPr sz="1200" b="0">
                <a:solidFill>
                  <a:srgbClr val="161B26"/>
                </a:solidFill>
                <a:latin typeface="Arial"/>
              </a:rPr>
              <a:t>1</a:t>
            </a:r>
          </a:p>
        </p:txBody>
      </p:sp>
      <p:sp>
        <p:nvSpPr>
          <p:cNvPr id="19" name="Rectangle 18"/>
          <p:cNvSpPr/>
          <p:nvPr/>
        </p:nvSpPr>
        <p:spPr>
          <a:xfrm>
            <a:off x="3542202" y="2350007"/>
            <a:ext cx="3828409" cy="475488"/>
          </a:xfrm>
          <a:prstGeom prst="rect">
            <a:avLst/>
          </a:prstGeom>
          <a:solidFill>
            <a:srgbClr val="F5F8FC"/>
          </a:solidFill>
          <a:ln w="12700">
            <a:solidFill>
              <a:srgbClr val="E2E8F0"/>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0" name="TextBox 19"/>
          <p:cNvSpPr txBox="1"/>
          <p:nvPr/>
        </p:nvSpPr>
        <p:spPr>
          <a:xfrm>
            <a:off x="3679362" y="2350007"/>
            <a:ext cx="3554089" cy="475488"/>
          </a:xfrm>
          <a:prstGeom prst="rect">
            <a:avLst/>
          </a:prstGeom>
          <a:noFill/>
        </p:spPr>
        <p:txBody>
          <a:bodyPr wrap="square" anchor="ctr">
            <a:spAutoFit/>
          </a:bodyPr>
          <a:lstStyle/>
          <a:p>
            <a:pPr algn="l">
              <a:spcAft>
                <a:spcPts val="400"/>
              </a:spcAft>
            </a:pPr>
            <a:r>
              <a:rPr sz="1200" b="0">
                <a:solidFill>
                  <a:srgbClr val="161B26"/>
                </a:solidFill>
                <a:latin typeface="Arial"/>
              </a:rPr>
              <a:t>Rotate π about an axis</a:t>
            </a:r>
          </a:p>
        </p:txBody>
      </p:sp>
      <p:sp>
        <p:nvSpPr>
          <p:cNvPr id="21" name="Rectangle 20"/>
          <p:cNvSpPr/>
          <p:nvPr/>
        </p:nvSpPr>
        <p:spPr>
          <a:xfrm>
            <a:off x="7370611" y="2350007"/>
            <a:ext cx="4041099" cy="475488"/>
          </a:xfrm>
          <a:prstGeom prst="rect">
            <a:avLst/>
          </a:prstGeom>
          <a:solidFill>
            <a:srgbClr val="F5F8FC"/>
          </a:solidFill>
          <a:ln w="12700">
            <a:solidFill>
              <a:srgbClr val="E2E8F0"/>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2" name="TextBox 21"/>
          <p:cNvSpPr txBox="1"/>
          <p:nvPr/>
        </p:nvSpPr>
        <p:spPr>
          <a:xfrm>
            <a:off x="7507771" y="2350007"/>
            <a:ext cx="3766779" cy="475488"/>
          </a:xfrm>
          <a:prstGeom prst="rect">
            <a:avLst/>
          </a:prstGeom>
          <a:noFill/>
        </p:spPr>
        <p:txBody>
          <a:bodyPr wrap="square" anchor="ctr">
            <a:spAutoFit/>
          </a:bodyPr>
          <a:lstStyle/>
          <a:p>
            <a:pPr algn="l">
              <a:spcAft>
                <a:spcPts val="400"/>
              </a:spcAft>
            </a:pPr>
            <a:r>
              <a:rPr sz="1200" b="0">
                <a:solidFill>
                  <a:srgbClr val="161B26"/>
                </a:solidFill>
                <a:latin typeface="Arial"/>
              </a:rPr>
              <a:t>Bit flip, phase flip</a:t>
            </a:r>
          </a:p>
        </p:txBody>
      </p:sp>
      <p:sp>
        <p:nvSpPr>
          <p:cNvPr id="23" name="Rectangle 22"/>
          <p:cNvSpPr/>
          <p:nvPr/>
        </p:nvSpPr>
        <p:spPr>
          <a:xfrm>
            <a:off x="777240" y="2825495"/>
            <a:ext cx="1701515" cy="475488"/>
          </a:xfrm>
          <a:prstGeom prst="rect">
            <a:avLst/>
          </a:prstGeom>
          <a:solidFill>
            <a:srgbClr val="FFFFFF"/>
          </a:solidFill>
          <a:ln w="12700">
            <a:solidFill>
              <a:srgbClr val="E2E8F0"/>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4" name="TextBox 23"/>
          <p:cNvSpPr txBox="1"/>
          <p:nvPr/>
        </p:nvSpPr>
        <p:spPr>
          <a:xfrm>
            <a:off x="914400" y="2825495"/>
            <a:ext cx="1427195" cy="475488"/>
          </a:xfrm>
          <a:prstGeom prst="rect">
            <a:avLst/>
          </a:prstGeom>
          <a:noFill/>
        </p:spPr>
        <p:txBody>
          <a:bodyPr wrap="square" anchor="ctr">
            <a:spAutoFit/>
          </a:bodyPr>
          <a:lstStyle/>
          <a:p>
            <a:pPr algn="l">
              <a:spcAft>
                <a:spcPts val="400"/>
              </a:spcAft>
            </a:pPr>
            <a:r>
              <a:rPr sz="1200" b="1">
                <a:solidFill>
                  <a:srgbClr val="161B26"/>
                </a:solidFill>
                <a:latin typeface="Arial"/>
              </a:rPr>
              <a:t>H</a:t>
            </a:r>
          </a:p>
        </p:txBody>
      </p:sp>
      <p:sp>
        <p:nvSpPr>
          <p:cNvPr id="25" name="Rectangle 24"/>
          <p:cNvSpPr/>
          <p:nvPr/>
        </p:nvSpPr>
        <p:spPr>
          <a:xfrm>
            <a:off x="2478755" y="2825495"/>
            <a:ext cx="1063447" cy="475488"/>
          </a:xfrm>
          <a:prstGeom prst="rect">
            <a:avLst/>
          </a:prstGeom>
          <a:solidFill>
            <a:srgbClr val="FFFFFF"/>
          </a:solidFill>
          <a:ln w="12700">
            <a:solidFill>
              <a:srgbClr val="E2E8F0"/>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6" name="TextBox 25"/>
          <p:cNvSpPr txBox="1"/>
          <p:nvPr/>
        </p:nvSpPr>
        <p:spPr>
          <a:xfrm>
            <a:off x="2615915" y="2825495"/>
            <a:ext cx="789127" cy="475488"/>
          </a:xfrm>
          <a:prstGeom prst="rect">
            <a:avLst/>
          </a:prstGeom>
          <a:noFill/>
        </p:spPr>
        <p:txBody>
          <a:bodyPr wrap="square" anchor="ctr">
            <a:spAutoFit/>
          </a:bodyPr>
          <a:lstStyle/>
          <a:p>
            <a:pPr algn="l">
              <a:spcAft>
                <a:spcPts val="400"/>
              </a:spcAft>
            </a:pPr>
            <a:r>
              <a:rPr sz="1200" b="0">
                <a:solidFill>
                  <a:srgbClr val="161B26"/>
                </a:solidFill>
                <a:latin typeface="Arial"/>
              </a:rPr>
              <a:t>1</a:t>
            </a:r>
          </a:p>
        </p:txBody>
      </p:sp>
      <p:sp>
        <p:nvSpPr>
          <p:cNvPr id="27" name="Rectangle 26"/>
          <p:cNvSpPr/>
          <p:nvPr/>
        </p:nvSpPr>
        <p:spPr>
          <a:xfrm>
            <a:off x="3542202" y="2825495"/>
            <a:ext cx="3828409" cy="475488"/>
          </a:xfrm>
          <a:prstGeom prst="rect">
            <a:avLst/>
          </a:prstGeom>
          <a:solidFill>
            <a:srgbClr val="FFFFFF"/>
          </a:solidFill>
          <a:ln w="12700">
            <a:solidFill>
              <a:srgbClr val="E2E8F0"/>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8" name="TextBox 27"/>
          <p:cNvSpPr txBox="1"/>
          <p:nvPr/>
        </p:nvSpPr>
        <p:spPr>
          <a:xfrm>
            <a:off x="3679362" y="2825495"/>
            <a:ext cx="3554089" cy="475488"/>
          </a:xfrm>
          <a:prstGeom prst="rect">
            <a:avLst/>
          </a:prstGeom>
          <a:noFill/>
        </p:spPr>
        <p:txBody>
          <a:bodyPr wrap="square" anchor="ctr">
            <a:spAutoFit/>
          </a:bodyPr>
          <a:lstStyle/>
          <a:p>
            <a:pPr algn="l">
              <a:spcAft>
                <a:spcPts val="400"/>
              </a:spcAft>
            </a:pPr>
            <a:r>
              <a:rPr sz="1200" b="0">
                <a:solidFill>
                  <a:srgbClr val="161B26"/>
                </a:solidFill>
                <a:latin typeface="Arial"/>
              </a:rPr>
              <a:t>Basis change</a:t>
            </a:r>
          </a:p>
        </p:txBody>
      </p:sp>
      <p:sp>
        <p:nvSpPr>
          <p:cNvPr id="29" name="Rectangle 28"/>
          <p:cNvSpPr/>
          <p:nvPr/>
        </p:nvSpPr>
        <p:spPr>
          <a:xfrm>
            <a:off x="7370611" y="2825495"/>
            <a:ext cx="4041099" cy="475488"/>
          </a:xfrm>
          <a:prstGeom prst="rect">
            <a:avLst/>
          </a:prstGeom>
          <a:solidFill>
            <a:srgbClr val="FFFFFF"/>
          </a:solidFill>
          <a:ln w="12700">
            <a:solidFill>
              <a:srgbClr val="E2E8F0"/>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0" name="TextBox 29"/>
          <p:cNvSpPr txBox="1"/>
          <p:nvPr/>
        </p:nvSpPr>
        <p:spPr>
          <a:xfrm>
            <a:off x="7507771" y="2825495"/>
            <a:ext cx="3766779" cy="475488"/>
          </a:xfrm>
          <a:prstGeom prst="rect">
            <a:avLst/>
          </a:prstGeom>
          <a:noFill/>
        </p:spPr>
        <p:txBody>
          <a:bodyPr wrap="square" anchor="ctr">
            <a:spAutoFit/>
          </a:bodyPr>
          <a:lstStyle/>
          <a:p>
            <a:pPr algn="l">
              <a:spcAft>
                <a:spcPts val="400"/>
              </a:spcAft>
            </a:pPr>
            <a:r>
              <a:rPr sz="1200" b="0">
                <a:solidFill>
                  <a:srgbClr val="161B26"/>
                </a:solidFill>
                <a:latin typeface="Arial"/>
              </a:rPr>
              <a:t>Create superposition</a:t>
            </a:r>
          </a:p>
        </p:txBody>
      </p:sp>
      <p:sp>
        <p:nvSpPr>
          <p:cNvPr id="31" name="Rectangle 30"/>
          <p:cNvSpPr/>
          <p:nvPr/>
        </p:nvSpPr>
        <p:spPr>
          <a:xfrm>
            <a:off x="777240" y="3300983"/>
            <a:ext cx="1701515" cy="475488"/>
          </a:xfrm>
          <a:prstGeom prst="rect">
            <a:avLst/>
          </a:prstGeom>
          <a:solidFill>
            <a:srgbClr val="F5F8FC"/>
          </a:solidFill>
          <a:ln w="12700">
            <a:solidFill>
              <a:srgbClr val="E2E8F0"/>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2" name="TextBox 31"/>
          <p:cNvSpPr txBox="1"/>
          <p:nvPr/>
        </p:nvSpPr>
        <p:spPr>
          <a:xfrm>
            <a:off x="914400" y="3300983"/>
            <a:ext cx="1427195" cy="475488"/>
          </a:xfrm>
          <a:prstGeom prst="rect">
            <a:avLst/>
          </a:prstGeom>
          <a:noFill/>
        </p:spPr>
        <p:txBody>
          <a:bodyPr wrap="square" anchor="ctr">
            <a:spAutoFit/>
          </a:bodyPr>
          <a:lstStyle/>
          <a:p>
            <a:pPr algn="l">
              <a:spcAft>
                <a:spcPts val="400"/>
              </a:spcAft>
            </a:pPr>
            <a:r>
              <a:rPr sz="1200" b="1">
                <a:solidFill>
                  <a:srgbClr val="161B26"/>
                </a:solidFill>
                <a:latin typeface="Arial"/>
              </a:rPr>
              <a:t>S / T</a:t>
            </a:r>
          </a:p>
        </p:txBody>
      </p:sp>
      <p:sp>
        <p:nvSpPr>
          <p:cNvPr id="33" name="Rectangle 32"/>
          <p:cNvSpPr/>
          <p:nvPr/>
        </p:nvSpPr>
        <p:spPr>
          <a:xfrm>
            <a:off x="2478755" y="3300983"/>
            <a:ext cx="1063447" cy="475488"/>
          </a:xfrm>
          <a:prstGeom prst="rect">
            <a:avLst/>
          </a:prstGeom>
          <a:solidFill>
            <a:srgbClr val="F5F8FC"/>
          </a:solidFill>
          <a:ln w="12700">
            <a:solidFill>
              <a:srgbClr val="E2E8F0"/>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4" name="TextBox 33"/>
          <p:cNvSpPr txBox="1"/>
          <p:nvPr/>
        </p:nvSpPr>
        <p:spPr>
          <a:xfrm>
            <a:off x="2615915" y="3300983"/>
            <a:ext cx="789127" cy="475488"/>
          </a:xfrm>
          <a:prstGeom prst="rect">
            <a:avLst/>
          </a:prstGeom>
          <a:noFill/>
        </p:spPr>
        <p:txBody>
          <a:bodyPr wrap="square" anchor="ctr">
            <a:spAutoFit/>
          </a:bodyPr>
          <a:lstStyle/>
          <a:p>
            <a:pPr algn="l">
              <a:spcAft>
                <a:spcPts val="400"/>
              </a:spcAft>
            </a:pPr>
            <a:r>
              <a:rPr sz="1200" b="0">
                <a:solidFill>
                  <a:srgbClr val="161B26"/>
                </a:solidFill>
                <a:latin typeface="Arial"/>
              </a:rPr>
              <a:t>1</a:t>
            </a:r>
          </a:p>
        </p:txBody>
      </p:sp>
      <p:sp>
        <p:nvSpPr>
          <p:cNvPr id="35" name="Rectangle 34"/>
          <p:cNvSpPr/>
          <p:nvPr/>
        </p:nvSpPr>
        <p:spPr>
          <a:xfrm>
            <a:off x="3542202" y="3300983"/>
            <a:ext cx="3828409" cy="475488"/>
          </a:xfrm>
          <a:prstGeom prst="rect">
            <a:avLst/>
          </a:prstGeom>
          <a:solidFill>
            <a:srgbClr val="F5F8FC"/>
          </a:solidFill>
          <a:ln w="12700">
            <a:solidFill>
              <a:srgbClr val="E2E8F0"/>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6" name="TextBox 35"/>
          <p:cNvSpPr txBox="1"/>
          <p:nvPr/>
        </p:nvSpPr>
        <p:spPr>
          <a:xfrm>
            <a:off x="3679362" y="3300983"/>
            <a:ext cx="3554089" cy="475488"/>
          </a:xfrm>
          <a:prstGeom prst="rect">
            <a:avLst/>
          </a:prstGeom>
          <a:noFill/>
        </p:spPr>
        <p:txBody>
          <a:bodyPr wrap="square" anchor="ctr">
            <a:spAutoFit/>
          </a:bodyPr>
          <a:lstStyle/>
          <a:p>
            <a:pPr algn="l">
              <a:spcAft>
                <a:spcPts val="400"/>
              </a:spcAft>
            </a:pPr>
            <a:r>
              <a:rPr sz="1200" b="0">
                <a:solidFill>
                  <a:srgbClr val="161B26"/>
                </a:solidFill>
                <a:latin typeface="Arial"/>
              </a:rPr>
              <a:t>Phase π/2 and π/4</a:t>
            </a:r>
          </a:p>
        </p:txBody>
      </p:sp>
      <p:sp>
        <p:nvSpPr>
          <p:cNvPr id="37" name="Rectangle 36"/>
          <p:cNvSpPr/>
          <p:nvPr/>
        </p:nvSpPr>
        <p:spPr>
          <a:xfrm>
            <a:off x="7370611" y="3300983"/>
            <a:ext cx="4041099" cy="475488"/>
          </a:xfrm>
          <a:prstGeom prst="rect">
            <a:avLst/>
          </a:prstGeom>
          <a:solidFill>
            <a:srgbClr val="F5F8FC"/>
          </a:solidFill>
          <a:ln w="12700">
            <a:solidFill>
              <a:srgbClr val="E2E8F0"/>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8" name="TextBox 37"/>
          <p:cNvSpPr txBox="1"/>
          <p:nvPr/>
        </p:nvSpPr>
        <p:spPr>
          <a:xfrm>
            <a:off x="7507771" y="3300983"/>
            <a:ext cx="3766779" cy="475488"/>
          </a:xfrm>
          <a:prstGeom prst="rect">
            <a:avLst/>
          </a:prstGeom>
          <a:noFill/>
        </p:spPr>
        <p:txBody>
          <a:bodyPr wrap="square" anchor="ctr">
            <a:spAutoFit/>
          </a:bodyPr>
          <a:lstStyle/>
          <a:p>
            <a:pPr algn="l">
              <a:spcAft>
                <a:spcPts val="400"/>
              </a:spcAft>
            </a:pPr>
            <a:r>
              <a:rPr sz="1200" b="0">
                <a:solidFill>
                  <a:srgbClr val="161B26"/>
                </a:solidFill>
                <a:latin typeface="Arial"/>
              </a:rPr>
              <a:t>Fine phase control</a:t>
            </a:r>
          </a:p>
        </p:txBody>
      </p:sp>
      <p:sp>
        <p:nvSpPr>
          <p:cNvPr id="39" name="Rectangle 38"/>
          <p:cNvSpPr/>
          <p:nvPr/>
        </p:nvSpPr>
        <p:spPr>
          <a:xfrm>
            <a:off x="777240" y="3776471"/>
            <a:ext cx="1701515" cy="475488"/>
          </a:xfrm>
          <a:prstGeom prst="rect">
            <a:avLst/>
          </a:prstGeom>
          <a:solidFill>
            <a:srgbClr val="FFFFFF"/>
          </a:solidFill>
          <a:ln w="12700">
            <a:solidFill>
              <a:srgbClr val="E2E8F0"/>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0" name="TextBox 39"/>
          <p:cNvSpPr txBox="1"/>
          <p:nvPr/>
        </p:nvSpPr>
        <p:spPr>
          <a:xfrm>
            <a:off x="914400" y="3776471"/>
            <a:ext cx="1427195" cy="475488"/>
          </a:xfrm>
          <a:prstGeom prst="rect">
            <a:avLst/>
          </a:prstGeom>
          <a:noFill/>
        </p:spPr>
        <p:txBody>
          <a:bodyPr wrap="square" anchor="ctr">
            <a:spAutoFit/>
          </a:bodyPr>
          <a:lstStyle/>
          <a:p>
            <a:pPr algn="l">
              <a:spcAft>
                <a:spcPts val="400"/>
              </a:spcAft>
            </a:pPr>
            <a:r>
              <a:rPr sz="1200" b="1">
                <a:solidFill>
                  <a:srgbClr val="161B26"/>
                </a:solidFill>
                <a:latin typeface="Arial"/>
              </a:rPr>
              <a:t>Rx / Ry / Rz</a:t>
            </a:r>
          </a:p>
        </p:txBody>
      </p:sp>
      <p:sp>
        <p:nvSpPr>
          <p:cNvPr id="41" name="Rectangle 40"/>
          <p:cNvSpPr/>
          <p:nvPr/>
        </p:nvSpPr>
        <p:spPr>
          <a:xfrm>
            <a:off x="2478755" y="3776471"/>
            <a:ext cx="1063447" cy="475488"/>
          </a:xfrm>
          <a:prstGeom prst="rect">
            <a:avLst/>
          </a:prstGeom>
          <a:solidFill>
            <a:srgbClr val="FFFFFF"/>
          </a:solidFill>
          <a:ln w="12700">
            <a:solidFill>
              <a:srgbClr val="E2E8F0"/>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2" name="TextBox 41"/>
          <p:cNvSpPr txBox="1"/>
          <p:nvPr/>
        </p:nvSpPr>
        <p:spPr>
          <a:xfrm>
            <a:off x="2615915" y="3776471"/>
            <a:ext cx="789127" cy="475488"/>
          </a:xfrm>
          <a:prstGeom prst="rect">
            <a:avLst/>
          </a:prstGeom>
          <a:noFill/>
        </p:spPr>
        <p:txBody>
          <a:bodyPr wrap="square" anchor="ctr">
            <a:spAutoFit/>
          </a:bodyPr>
          <a:lstStyle/>
          <a:p>
            <a:pPr algn="l">
              <a:spcAft>
                <a:spcPts val="400"/>
              </a:spcAft>
            </a:pPr>
            <a:r>
              <a:rPr sz="1200" b="0">
                <a:solidFill>
                  <a:srgbClr val="161B26"/>
                </a:solidFill>
                <a:latin typeface="Arial"/>
              </a:rPr>
              <a:t>1</a:t>
            </a:r>
          </a:p>
        </p:txBody>
      </p:sp>
      <p:sp>
        <p:nvSpPr>
          <p:cNvPr id="43" name="Rectangle 42"/>
          <p:cNvSpPr/>
          <p:nvPr/>
        </p:nvSpPr>
        <p:spPr>
          <a:xfrm>
            <a:off x="3542202" y="3776471"/>
            <a:ext cx="3828409" cy="475488"/>
          </a:xfrm>
          <a:prstGeom prst="rect">
            <a:avLst/>
          </a:prstGeom>
          <a:solidFill>
            <a:srgbClr val="FFFFFF"/>
          </a:solidFill>
          <a:ln w="12700">
            <a:solidFill>
              <a:srgbClr val="E2E8F0"/>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4" name="TextBox 43"/>
          <p:cNvSpPr txBox="1"/>
          <p:nvPr/>
        </p:nvSpPr>
        <p:spPr>
          <a:xfrm>
            <a:off x="3679362" y="3776471"/>
            <a:ext cx="3554089" cy="475488"/>
          </a:xfrm>
          <a:prstGeom prst="rect">
            <a:avLst/>
          </a:prstGeom>
          <a:noFill/>
        </p:spPr>
        <p:txBody>
          <a:bodyPr wrap="square" anchor="ctr">
            <a:spAutoFit/>
          </a:bodyPr>
          <a:lstStyle/>
          <a:p>
            <a:pPr algn="l">
              <a:spcAft>
                <a:spcPts val="400"/>
              </a:spcAft>
            </a:pPr>
            <a:r>
              <a:rPr sz="1200" b="0">
                <a:solidFill>
                  <a:srgbClr val="161B26"/>
                </a:solidFill>
                <a:latin typeface="Arial"/>
              </a:rPr>
              <a:t>Arbitrary rotation</a:t>
            </a:r>
          </a:p>
        </p:txBody>
      </p:sp>
      <p:sp>
        <p:nvSpPr>
          <p:cNvPr id="45" name="Rectangle 44"/>
          <p:cNvSpPr/>
          <p:nvPr/>
        </p:nvSpPr>
        <p:spPr>
          <a:xfrm>
            <a:off x="7370611" y="3776471"/>
            <a:ext cx="4041099" cy="475488"/>
          </a:xfrm>
          <a:prstGeom prst="rect">
            <a:avLst/>
          </a:prstGeom>
          <a:solidFill>
            <a:srgbClr val="FFFFFF"/>
          </a:solidFill>
          <a:ln w="12700">
            <a:solidFill>
              <a:srgbClr val="E2E8F0"/>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6" name="TextBox 45"/>
          <p:cNvSpPr txBox="1"/>
          <p:nvPr/>
        </p:nvSpPr>
        <p:spPr>
          <a:xfrm>
            <a:off x="7507771" y="3776471"/>
            <a:ext cx="3766779" cy="475488"/>
          </a:xfrm>
          <a:prstGeom prst="rect">
            <a:avLst/>
          </a:prstGeom>
          <a:noFill/>
        </p:spPr>
        <p:txBody>
          <a:bodyPr wrap="square" anchor="ctr">
            <a:spAutoFit/>
          </a:bodyPr>
          <a:lstStyle/>
          <a:p>
            <a:pPr algn="l">
              <a:spcAft>
                <a:spcPts val="400"/>
              </a:spcAft>
            </a:pPr>
            <a:r>
              <a:rPr sz="1200" b="0">
                <a:solidFill>
                  <a:srgbClr val="161B26"/>
                </a:solidFill>
                <a:latin typeface="Arial"/>
              </a:rPr>
              <a:t>Variational ansätze</a:t>
            </a:r>
          </a:p>
        </p:txBody>
      </p:sp>
      <p:sp>
        <p:nvSpPr>
          <p:cNvPr id="47" name="Rectangle 46"/>
          <p:cNvSpPr/>
          <p:nvPr/>
        </p:nvSpPr>
        <p:spPr>
          <a:xfrm>
            <a:off x="777240" y="4251959"/>
            <a:ext cx="1701515" cy="475488"/>
          </a:xfrm>
          <a:prstGeom prst="rect">
            <a:avLst/>
          </a:prstGeom>
          <a:solidFill>
            <a:srgbClr val="F5F8FC"/>
          </a:solidFill>
          <a:ln w="12700">
            <a:solidFill>
              <a:srgbClr val="E2E8F0"/>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8" name="TextBox 47"/>
          <p:cNvSpPr txBox="1"/>
          <p:nvPr/>
        </p:nvSpPr>
        <p:spPr>
          <a:xfrm>
            <a:off x="914400" y="4251959"/>
            <a:ext cx="1427195" cy="475488"/>
          </a:xfrm>
          <a:prstGeom prst="rect">
            <a:avLst/>
          </a:prstGeom>
          <a:noFill/>
        </p:spPr>
        <p:txBody>
          <a:bodyPr wrap="square" anchor="ctr">
            <a:spAutoFit/>
          </a:bodyPr>
          <a:lstStyle/>
          <a:p>
            <a:pPr algn="l">
              <a:spcAft>
                <a:spcPts val="400"/>
              </a:spcAft>
            </a:pPr>
            <a:r>
              <a:rPr sz="1200" b="1">
                <a:solidFill>
                  <a:srgbClr val="161B26"/>
                </a:solidFill>
                <a:latin typeface="Arial"/>
              </a:rPr>
              <a:t>CNOT</a:t>
            </a:r>
          </a:p>
        </p:txBody>
      </p:sp>
      <p:sp>
        <p:nvSpPr>
          <p:cNvPr id="49" name="Rectangle 48"/>
          <p:cNvSpPr/>
          <p:nvPr/>
        </p:nvSpPr>
        <p:spPr>
          <a:xfrm>
            <a:off x="2478755" y="4251959"/>
            <a:ext cx="1063447" cy="475488"/>
          </a:xfrm>
          <a:prstGeom prst="rect">
            <a:avLst/>
          </a:prstGeom>
          <a:solidFill>
            <a:srgbClr val="F5F8FC"/>
          </a:solidFill>
          <a:ln w="12700">
            <a:solidFill>
              <a:srgbClr val="E2E8F0"/>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0" name="TextBox 49"/>
          <p:cNvSpPr txBox="1"/>
          <p:nvPr/>
        </p:nvSpPr>
        <p:spPr>
          <a:xfrm>
            <a:off x="2615915" y="4251959"/>
            <a:ext cx="789127" cy="475488"/>
          </a:xfrm>
          <a:prstGeom prst="rect">
            <a:avLst/>
          </a:prstGeom>
          <a:noFill/>
        </p:spPr>
        <p:txBody>
          <a:bodyPr wrap="square" anchor="ctr">
            <a:spAutoFit/>
          </a:bodyPr>
          <a:lstStyle/>
          <a:p>
            <a:pPr algn="l">
              <a:spcAft>
                <a:spcPts val="400"/>
              </a:spcAft>
            </a:pPr>
            <a:r>
              <a:rPr sz="1200" b="0">
                <a:solidFill>
                  <a:srgbClr val="161B26"/>
                </a:solidFill>
                <a:latin typeface="Arial"/>
              </a:rPr>
              <a:t>2</a:t>
            </a:r>
          </a:p>
        </p:txBody>
      </p:sp>
      <p:sp>
        <p:nvSpPr>
          <p:cNvPr id="51" name="Rectangle 50"/>
          <p:cNvSpPr/>
          <p:nvPr/>
        </p:nvSpPr>
        <p:spPr>
          <a:xfrm>
            <a:off x="3542202" y="4251959"/>
            <a:ext cx="3828409" cy="475488"/>
          </a:xfrm>
          <a:prstGeom prst="rect">
            <a:avLst/>
          </a:prstGeom>
          <a:solidFill>
            <a:srgbClr val="F5F8FC"/>
          </a:solidFill>
          <a:ln w="12700">
            <a:solidFill>
              <a:srgbClr val="E2E8F0"/>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2" name="TextBox 51"/>
          <p:cNvSpPr txBox="1"/>
          <p:nvPr/>
        </p:nvSpPr>
        <p:spPr>
          <a:xfrm>
            <a:off x="3679362" y="4251959"/>
            <a:ext cx="3554089" cy="475488"/>
          </a:xfrm>
          <a:prstGeom prst="rect">
            <a:avLst/>
          </a:prstGeom>
          <a:noFill/>
        </p:spPr>
        <p:txBody>
          <a:bodyPr wrap="square" anchor="ctr">
            <a:spAutoFit/>
          </a:bodyPr>
          <a:lstStyle/>
          <a:p>
            <a:pPr algn="l">
              <a:spcAft>
                <a:spcPts val="400"/>
              </a:spcAft>
            </a:pPr>
            <a:r>
              <a:rPr sz="1200" b="0">
                <a:solidFill>
                  <a:srgbClr val="161B26"/>
                </a:solidFill>
                <a:latin typeface="Arial"/>
              </a:rPr>
              <a:t>Flip target if control is 1</a:t>
            </a:r>
          </a:p>
        </p:txBody>
      </p:sp>
      <p:sp>
        <p:nvSpPr>
          <p:cNvPr id="53" name="Rectangle 52"/>
          <p:cNvSpPr/>
          <p:nvPr/>
        </p:nvSpPr>
        <p:spPr>
          <a:xfrm>
            <a:off x="7370611" y="4251959"/>
            <a:ext cx="4041099" cy="475488"/>
          </a:xfrm>
          <a:prstGeom prst="rect">
            <a:avLst/>
          </a:prstGeom>
          <a:solidFill>
            <a:srgbClr val="F5F8FC"/>
          </a:solidFill>
          <a:ln w="12700">
            <a:solidFill>
              <a:srgbClr val="E2E8F0"/>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4" name="TextBox 53"/>
          <p:cNvSpPr txBox="1"/>
          <p:nvPr/>
        </p:nvSpPr>
        <p:spPr>
          <a:xfrm>
            <a:off x="7507771" y="4251959"/>
            <a:ext cx="3766779" cy="475488"/>
          </a:xfrm>
          <a:prstGeom prst="rect">
            <a:avLst/>
          </a:prstGeom>
          <a:noFill/>
        </p:spPr>
        <p:txBody>
          <a:bodyPr wrap="square" anchor="ctr">
            <a:spAutoFit/>
          </a:bodyPr>
          <a:lstStyle/>
          <a:p>
            <a:pPr algn="l">
              <a:spcAft>
                <a:spcPts val="400"/>
              </a:spcAft>
            </a:pPr>
            <a:r>
              <a:rPr sz="1200" b="0">
                <a:solidFill>
                  <a:srgbClr val="161B26"/>
                </a:solidFill>
                <a:latin typeface="Arial"/>
              </a:rPr>
              <a:t>Entanglement, oracles</a:t>
            </a:r>
          </a:p>
        </p:txBody>
      </p:sp>
      <p:sp>
        <p:nvSpPr>
          <p:cNvPr id="55" name="Rectangle 54"/>
          <p:cNvSpPr/>
          <p:nvPr/>
        </p:nvSpPr>
        <p:spPr>
          <a:xfrm>
            <a:off x="777240" y="4727447"/>
            <a:ext cx="1701515" cy="475488"/>
          </a:xfrm>
          <a:prstGeom prst="rect">
            <a:avLst/>
          </a:prstGeom>
          <a:solidFill>
            <a:srgbClr val="FFFFFF"/>
          </a:solidFill>
          <a:ln w="12700">
            <a:solidFill>
              <a:srgbClr val="E2E8F0"/>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6" name="TextBox 55"/>
          <p:cNvSpPr txBox="1"/>
          <p:nvPr/>
        </p:nvSpPr>
        <p:spPr>
          <a:xfrm>
            <a:off x="914400" y="4727447"/>
            <a:ext cx="1427195" cy="475488"/>
          </a:xfrm>
          <a:prstGeom prst="rect">
            <a:avLst/>
          </a:prstGeom>
          <a:noFill/>
        </p:spPr>
        <p:txBody>
          <a:bodyPr wrap="square" anchor="ctr">
            <a:spAutoFit/>
          </a:bodyPr>
          <a:lstStyle/>
          <a:p>
            <a:pPr algn="l">
              <a:spcAft>
                <a:spcPts val="400"/>
              </a:spcAft>
            </a:pPr>
            <a:r>
              <a:rPr sz="1200" b="1">
                <a:solidFill>
                  <a:srgbClr val="161B26"/>
                </a:solidFill>
                <a:latin typeface="Arial"/>
              </a:rPr>
              <a:t>CZ / CP</a:t>
            </a:r>
          </a:p>
        </p:txBody>
      </p:sp>
      <p:sp>
        <p:nvSpPr>
          <p:cNvPr id="57" name="Rectangle 56"/>
          <p:cNvSpPr/>
          <p:nvPr/>
        </p:nvSpPr>
        <p:spPr>
          <a:xfrm>
            <a:off x="2478755" y="4727447"/>
            <a:ext cx="1063447" cy="475488"/>
          </a:xfrm>
          <a:prstGeom prst="rect">
            <a:avLst/>
          </a:prstGeom>
          <a:solidFill>
            <a:srgbClr val="FFFFFF"/>
          </a:solidFill>
          <a:ln w="12700">
            <a:solidFill>
              <a:srgbClr val="E2E8F0"/>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8" name="TextBox 57"/>
          <p:cNvSpPr txBox="1"/>
          <p:nvPr/>
        </p:nvSpPr>
        <p:spPr>
          <a:xfrm>
            <a:off x="2615915" y="4727447"/>
            <a:ext cx="789127" cy="475488"/>
          </a:xfrm>
          <a:prstGeom prst="rect">
            <a:avLst/>
          </a:prstGeom>
          <a:noFill/>
        </p:spPr>
        <p:txBody>
          <a:bodyPr wrap="square" anchor="ctr">
            <a:spAutoFit/>
          </a:bodyPr>
          <a:lstStyle/>
          <a:p>
            <a:pPr algn="l">
              <a:spcAft>
                <a:spcPts val="400"/>
              </a:spcAft>
            </a:pPr>
            <a:r>
              <a:rPr sz="1200" b="0">
                <a:solidFill>
                  <a:srgbClr val="161B26"/>
                </a:solidFill>
                <a:latin typeface="Arial"/>
              </a:rPr>
              <a:t>2</a:t>
            </a:r>
          </a:p>
        </p:txBody>
      </p:sp>
      <p:sp>
        <p:nvSpPr>
          <p:cNvPr id="59" name="Rectangle 58"/>
          <p:cNvSpPr/>
          <p:nvPr/>
        </p:nvSpPr>
        <p:spPr>
          <a:xfrm>
            <a:off x="3542202" y="4727447"/>
            <a:ext cx="3828409" cy="475488"/>
          </a:xfrm>
          <a:prstGeom prst="rect">
            <a:avLst/>
          </a:prstGeom>
          <a:solidFill>
            <a:srgbClr val="FFFFFF"/>
          </a:solidFill>
          <a:ln w="12700">
            <a:solidFill>
              <a:srgbClr val="E2E8F0"/>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0" name="TextBox 59"/>
          <p:cNvSpPr txBox="1"/>
          <p:nvPr/>
        </p:nvSpPr>
        <p:spPr>
          <a:xfrm>
            <a:off x="3679362" y="4727447"/>
            <a:ext cx="3554089" cy="475488"/>
          </a:xfrm>
          <a:prstGeom prst="rect">
            <a:avLst/>
          </a:prstGeom>
          <a:noFill/>
        </p:spPr>
        <p:txBody>
          <a:bodyPr wrap="square" anchor="ctr">
            <a:spAutoFit/>
          </a:bodyPr>
          <a:lstStyle/>
          <a:p>
            <a:pPr algn="l">
              <a:spcAft>
                <a:spcPts val="400"/>
              </a:spcAft>
            </a:pPr>
            <a:r>
              <a:rPr sz="1200" b="0">
                <a:solidFill>
                  <a:srgbClr val="161B26"/>
                </a:solidFill>
                <a:latin typeface="Arial"/>
              </a:rPr>
              <a:t>Conditional phase</a:t>
            </a:r>
          </a:p>
        </p:txBody>
      </p:sp>
      <p:sp>
        <p:nvSpPr>
          <p:cNvPr id="61" name="Rectangle 60"/>
          <p:cNvSpPr/>
          <p:nvPr/>
        </p:nvSpPr>
        <p:spPr>
          <a:xfrm>
            <a:off x="7370611" y="4727447"/>
            <a:ext cx="4041099" cy="475488"/>
          </a:xfrm>
          <a:prstGeom prst="rect">
            <a:avLst/>
          </a:prstGeom>
          <a:solidFill>
            <a:srgbClr val="FFFFFF"/>
          </a:solidFill>
          <a:ln w="12700">
            <a:solidFill>
              <a:srgbClr val="E2E8F0"/>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2" name="TextBox 61"/>
          <p:cNvSpPr txBox="1"/>
          <p:nvPr/>
        </p:nvSpPr>
        <p:spPr>
          <a:xfrm>
            <a:off x="7507771" y="4727447"/>
            <a:ext cx="3766779" cy="475488"/>
          </a:xfrm>
          <a:prstGeom prst="rect">
            <a:avLst/>
          </a:prstGeom>
          <a:noFill/>
        </p:spPr>
        <p:txBody>
          <a:bodyPr wrap="square" anchor="ctr">
            <a:spAutoFit/>
          </a:bodyPr>
          <a:lstStyle/>
          <a:p>
            <a:pPr algn="l">
              <a:spcAft>
                <a:spcPts val="400"/>
              </a:spcAft>
            </a:pPr>
            <a:r>
              <a:rPr sz="1200" b="0">
                <a:solidFill>
                  <a:srgbClr val="161B26"/>
                </a:solidFill>
                <a:latin typeface="Arial"/>
              </a:rPr>
              <a:t>QFT, phase kickback</a:t>
            </a:r>
          </a:p>
        </p:txBody>
      </p:sp>
      <p:sp>
        <p:nvSpPr>
          <p:cNvPr id="63" name="Rectangle 62"/>
          <p:cNvSpPr/>
          <p:nvPr/>
        </p:nvSpPr>
        <p:spPr>
          <a:xfrm>
            <a:off x="777240" y="5202935"/>
            <a:ext cx="1701515" cy="475488"/>
          </a:xfrm>
          <a:prstGeom prst="rect">
            <a:avLst/>
          </a:prstGeom>
          <a:solidFill>
            <a:srgbClr val="F5F8FC"/>
          </a:solidFill>
          <a:ln w="12700">
            <a:solidFill>
              <a:srgbClr val="E2E8F0"/>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4" name="TextBox 63"/>
          <p:cNvSpPr txBox="1"/>
          <p:nvPr/>
        </p:nvSpPr>
        <p:spPr>
          <a:xfrm>
            <a:off x="914400" y="5202935"/>
            <a:ext cx="1427195" cy="475488"/>
          </a:xfrm>
          <a:prstGeom prst="rect">
            <a:avLst/>
          </a:prstGeom>
          <a:noFill/>
        </p:spPr>
        <p:txBody>
          <a:bodyPr wrap="square" anchor="ctr">
            <a:spAutoFit/>
          </a:bodyPr>
          <a:lstStyle/>
          <a:p>
            <a:pPr algn="l">
              <a:spcAft>
                <a:spcPts val="400"/>
              </a:spcAft>
            </a:pPr>
            <a:r>
              <a:rPr sz="1200" b="1">
                <a:solidFill>
                  <a:srgbClr val="161B26"/>
                </a:solidFill>
                <a:latin typeface="Arial"/>
              </a:rPr>
              <a:t>SWAP</a:t>
            </a:r>
          </a:p>
        </p:txBody>
      </p:sp>
      <p:sp>
        <p:nvSpPr>
          <p:cNvPr id="65" name="Rectangle 64"/>
          <p:cNvSpPr/>
          <p:nvPr/>
        </p:nvSpPr>
        <p:spPr>
          <a:xfrm>
            <a:off x="2478755" y="5202935"/>
            <a:ext cx="1063447" cy="475488"/>
          </a:xfrm>
          <a:prstGeom prst="rect">
            <a:avLst/>
          </a:prstGeom>
          <a:solidFill>
            <a:srgbClr val="F5F8FC"/>
          </a:solidFill>
          <a:ln w="12700">
            <a:solidFill>
              <a:srgbClr val="E2E8F0"/>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6" name="TextBox 65"/>
          <p:cNvSpPr txBox="1"/>
          <p:nvPr/>
        </p:nvSpPr>
        <p:spPr>
          <a:xfrm>
            <a:off x="2615915" y="5202935"/>
            <a:ext cx="789127" cy="475488"/>
          </a:xfrm>
          <a:prstGeom prst="rect">
            <a:avLst/>
          </a:prstGeom>
          <a:noFill/>
        </p:spPr>
        <p:txBody>
          <a:bodyPr wrap="square" anchor="ctr">
            <a:spAutoFit/>
          </a:bodyPr>
          <a:lstStyle/>
          <a:p>
            <a:pPr algn="l">
              <a:spcAft>
                <a:spcPts val="400"/>
              </a:spcAft>
            </a:pPr>
            <a:r>
              <a:rPr sz="1200" b="0">
                <a:solidFill>
                  <a:srgbClr val="161B26"/>
                </a:solidFill>
                <a:latin typeface="Arial"/>
              </a:rPr>
              <a:t>2</a:t>
            </a:r>
          </a:p>
        </p:txBody>
      </p:sp>
      <p:sp>
        <p:nvSpPr>
          <p:cNvPr id="67" name="Rectangle 66"/>
          <p:cNvSpPr/>
          <p:nvPr/>
        </p:nvSpPr>
        <p:spPr>
          <a:xfrm>
            <a:off x="3542202" y="5202935"/>
            <a:ext cx="3828409" cy="475488"/>
          </a:xfrm>
          <a:prstGeom prst="rect">
            <a:avLst/>
          </a:prstGeom>
          <a:solidFill>
            <a:srgbClr val="F5F8FC"/>
          </a:solidFill>
          <a:ln w="12700">
            <a:solidFill>
              <a:srgbClr val="E2E8F0"/>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8" name="TextBox 67"/>
          <p:cNvSpPr txBox="1"/>
          <p:nvPr/>
        </p:nvSpPr>
        <p:spPr>
          <a:xfrm>
            <a:off x="3679362" y="5202935"/>
            <a:ext cx="3554089" cy="475488"/>
          </a:xfrm>
          <a:prstGeom prst="rect">
            <a:avLst/>
          </a:prstGeom>
          <a:noFill/>
        </p:spPr>
        <p:txBody>
          <a:bodyPr wrap="square" anchor="ctr">
            <a:spAutoFit/>
          </a:bodyPr>
          <a:lstStyle/>
          <a:p>
            <a:pPr algn="l">
              <a:spcAft>
                <a:spcPts val="400"/>
              </a:spcAft>
            </a:pPr>
            <a:r>
              <a:rPr sz="1200" b="0">
                <a:solidFill>
                  <a:srgbClr val="161B26"/>
                </a:solidFill>
                <a:latin typeface="Arial"/>
              </a:rPr>
              <a:t>Exchange two qubits</a:t>
            </a:r>
          </a:p>
        </p:txBody>
      </p:sp>
      <p:sp>
        <p:nvSpPr>
          <p:cNvPr id="69" name="Rectangle 68"/>
          <p:cNvSpPr/>
          <p:nvPr/>
        </p:nvSpPr>
        <p:spPr>
          <a:xfrm>
            <a:off x="7370611" y="5202935"/>
            <a:ext cx="4041099" cy="475488"/>
          </a:xfrm>
          <a:prstGeom prst="rect">
            <a:avLst/>
          </a:prstGeom>
          <a:solidFill>
            <a:srgbClr val="F5F8FC"/>
          </a:solidFill>
          <a:ln w="12700">
            <a:solidFill>
              <a:srgbClr val="E2E8F0"/>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0" name="TextBox 69"/>
          <p:cNvSpPr txBox="1"/>
          <p:nvPr/>
        </p:nvSpPr>
        <p:spPr>
          <a:xfrm>
            <a:off x="7507771" y="5202935"/>
            <a:ext cx="3766779" cy="475488"/>
          </a:xfrm>
          <a:prstGeom prst="rect">
            <a:avLst/>
          </a:prstGeom>
          <a:noFill/>
        </p:spPr>
        <p:txBody>
          <a:bodyPr wrap="square" anchor="ctr">
            <a:spAutoFit/>
          </a:bodyPr>
          <a:lstStyle/>
          <a:p>
            <a:pPr algn="l">
              <a:spcAft>
                <a:spcPts val="400"/>
              </a:spcAft>
            </a:pPr>
            <a:r>
              <a:rPr sz="1200" b="0">
                <a:solidFill>
                  <a:srgbClr val="161B26"/>
                </a:solidFill>
                <a:latin typeface="Arial"/>
              </a:rPr>
              <a:t>Routing on hardware</a:t>
            </a:r>
          </a:p>
        </p:txBody>
      </p:sp>
      <p:sp>
        <p:nvSpPr>
          <p:cNvPr id="71" name="Rectangle 70"/>
          <p:cNvSpPr/>
          <p:nvPr/>
        </p:nvSpPr>
        <p:spPr>
          <a:xfrm>
            <a:off x="777240" y="5678423"/>
            <a:ext cx="1701515" cy="475488"/>
          </a:xfrm>
          <a:prstGeom prst="rect">
            <a:avLst/>
          </a:prstGeom>
          <a:solidFill>
            <a:srgbClr val="FFFFFF"/>
          </a:solidFill>
          <a:ln w="12700">
            <a:solidFill>
              <a:srgbClr val="E2E8F0"/>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2" name="TextBox 71"/>
          <p:cNvSpPr txBox="1"/>
          <p:nvPr/>
        </p:nvSpPr>
        <p:spPr>
          <a:xfrm>
            <a:off x="914400" y="5678423"/>
            <a:ext cx="1427195" cy="475488"/>
          </a:xfrm>
          <a:prstGeom prst="rect">
            <a:avLst/>
          </a:prstGeom>
          <a:noFill/>
        </p:spPr>
        <p:txBody>
          <a:bodyPr wrap="square" anchor="ctr">
            <a:spAutoFit/>
          </a:bodyPr>
          <a:lstStyle/>
          <a:p>
            <a:pPr algn="l">
              <a:spcAft>
                <a:spcPts val="400"/>
              </a:spcAft>
            </a:pPr>
            <a:r>
              <a:rPr sz="1200" b="1">
                <a:solidFill>
                  <a:srgbClr val="161B26"/>
                </a:solidFill>
                <a:latin typeface="Arial"/>
              </a:rPr>
              <a:t>Toffoli</a:t>
            </a:r>
          </a:p>
        </p:txBody>
      </p:sp>
      <p:sp>
        <p:nvSpPr>
          <p:cNvPr id="73" name="Rectangle 72"/>
          <p:cNvSpPr/>
          <p:nvPr/>
        </p:nvSpPr>
        <p:spPr>
          <a:xfrm>
            <a:off x="2478755" y="5678423"/>
            <a:ext cx="1063447" cy="475488"/>
          </a:xfrm>
          <a:prstGeom prst="rect">
            <a:avLst/>
          </a:prstGeom>
          <a:solidFill>
            <a:srgbClr val="FFFFFF"/>
          </a:solidFill>
          <a:ln w="12700">
            <a:solidFill>
              <a:srgbClr val="E2E8F0"/>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4" name="TextBox 73"/>
          <p:cNvSpPr txBox="1"/>
          <p:nvPr/>
        </p:nvSpPr>
        <p:spPr>
          <a:xfrm>
            <a:off x="2615915" y="5678423"/>
            <a:ext cx="789127" cy="475488"/>
          </a:xfrm>
          <a:prstGeom prst="rect">
            <a:avLst/>
          </a:prstGeom>
          <a:noFill/>
        </p:spPr>
        <p:txBody>
          <a:bodyPr wrap="square" anchor="ctr">
            <a:spAutoFit/>
          </a:bodyPr>
          <a:lstStyle/>
          <a:p>
            <a:pPr algn="l">
              <a:spcAft>
                <a:spcPts val="400"/>
              </a:spcAft>
            </a:pPr>
            <a:r>
              <a:rPr sz="1200" b="0">
                <a:solidFill>
                  <a:srgbClr val="161B26"/>
                </a:solidFill>
                <a:latin typeface="Arial"/>
              </a:rPr>
              <a:t>3</a:t>
            </a:r>
          </a:p>
        </p:txBody>
      </p:sp>
      <p:sp>
        <p:nvSpPr>
          <p:cNvPr id="75" name="Rectangle 74"/>
          <p:cNvSpPr/>
          <p:nvPr/>
        </p:nvSpPr>
        <p:spPr>
          <a:xfrm>
            <a:off x="3542202" y="5678423"/>
            <a:ext cx="3828409" cy="475488"/>
          </a:xfrm>
          <a:prstGeom prst="rect">
            <a:avLst/>
          </a:prstGeom>
          <a:solidFill>
            <a:srgbClr val="FFFFFF"/>
          </a:solidFill>
          <a:ln w="12700">
            <a:solidFill>
              <a:srgbClr val="E2E8F0"/>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6" name="TextBox 75"/>
          <p:cNvSpPr txBox="1"/>
          <p:nvPr/>
        </p:nvSpPr>
        <p:spPr>
          <a:xfrm>
            <a:off x="3679362" y="5678423"/>
            <a:ext cx="3554089" cy="475488"/>
          </a:xfrm>
          <a:prstGeom prst="rect">
            <a:avLst/>
          </a:prstGeom>
          <a:noFill/>
        </p:spPr>
        <p:txBody>
          <a:bodyPr wrap="square" anchor="ctr">
            <a:spAutoFit/>
          </a:bodyPr>
          <a:lstStyle/>
          <a:p>
            <a:pPr algn="l">
              <a:spcAft>
                <a:spcPts val="400"/>
              </a:spcAft>
            </a:pPr>
            <a:r>
              <a:rPr sz="1200" b="0">
                <a:solidFill>
                  <a:srgbClr val="161B26"/>
                </a:solidFill>
                <a:latin typeface="Arial"/>
              </a:rPr>
              <a:t>Flip if both controls are 1</a:t>
            </a:r>
          </a:p>
        </p:txBody>
      </p:sp>
      <p:sp>
        <p:nvSpPr>
          <p:cNvPr id="77" name="Rectangle 76"/>
          <p:cNvSpPr/>
          <p:nvPr/>
        </p:nvSpPr>
        <p:spPr>
          <a:xfrm>
            <a:off x="7370611" y="5678423"/>
            <a:ext cx="4041099" cy="475488"/>
          </a:xfrm>
          <a:prstGeom prst="rect">
            <a:avLst/>
          </a:prstGeom>
          <a:solidFill>
            <a:srgbClr val="FFFFFF"/>
          </a:solidFill>
          <a:ln w="12700">
            <a:solidFill>
              <a:srgbClr val="E2E8F0"/>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8" name="TextBox 77"/>
          <p:cNvSpPr txBox="1"/>
          <p:nvPr/>
        </p:nvSpPr>
        <p:spPr>
          <a:xfrm>
            <a:off x="7507771" y="5678423"/>
            <a:ext cx="3766779" cy="475488"/>
          </a:xfrm>
          <a:prstGeom prst="rect">
            <a:avLst/>
          </a:prstGeom>
          <a:noFill/>
        </p:spPr>
        <p:txBody>
          <a:bodyPr wrap="square" anchor="ctr">
            <a:spAutoFit/>
          </a:bodyPr>
          <a:lstStyle/>
          <a:p>
            <a:pPr algn="l">
              <a:spcAft>
                <a:spcPts val="400"/>
              </a:spcAft>
            </a:pPr>
            <a:r>
              <a:rPr sz="1200" b="0">
                <a:solidFill>
                  <a:srgbClr val="161B26"/>
                </a:solidFill>
                <a:latin typeface="Arial"/>
              </a:rPr>
              <a:t>Reversible classical logic</a:t>
            </a:r>
          </a:p>
        </p:txBody>
      </p:sp>
      <p:sp>
        <p:nvSpPr>
          <p:cNvPr id="79" name="TextBox 78"/>
          <p:cNvSpPr txBox="1"/>
          <p:nvPr/>
        </p:nvSpPr>
        <p:spPr>
          <a:xfrm>
            <a:off x="365760" y="6446520"/>
            <a:ext cx="6858000" cy="320040"/>
          </a:xfrm>
          <a:prstGeom prst="rect">
            <a:avLst/>
          </a:prstGeom>
          <a:noFill/>
        </p:spPr>
        <p:txBody>
          <a:bodyPr wrap="square" anchor="t">
            <a:spAutoFit/>
          </a:bodyPr>
          <a:lstStyle/>
          <a:p>
            <a:pPr algn="l">
              <a:spcAft>
                <a:spcPts val="400"/>
              </a:spcAft>
            </a:pPr>
            <a:r>
              <a:rPr sz="900" b="0">
                <a:solidFill>
                  <a:srgbClr val="5B6372"/>
                </a:solidFill>
                <a:latin typeface="Arial"/>
              </a:rPr>
              <a:t>Securing the Future with Quantum Computing and Cryptography  ·  TGS-2024043419</a:t>
            </a:r>
          </a:p>
        </p:txBody>
      </p:sp>
      <p:sp>
        <p:nvSpPr>
          <p:cNvPr id="80" name="TextBox 79"/>
          <p:cNvSpPr txBox="1"/>
          <p:nvPr/>
        </p:nvSpPr>
        <p:spPr>
          <a:xfrm>
            <a:off x="4572000" y="6446520"/>
            <a:ext cx="3017520" cy="320040"/>
          </a:xfrm>
          <a:prstGeom prst="rect">
            <a:avLst/>
          </a:prstGeom>
          <a:noFill/>
        </p:spPr>
        <p:txBody>
          <a:bodyPr wrap="square" anchor="t">
            <a:spAutoFit/>
          </a:bodyPr>
          <a:lstStyle/>
          <a:p>
            <a:pPr algn="ctr">
              <a:spcAft>
                <a:spcPts val="400"/>
              </a:spcAft>
            </a:pPr>
            <a:r>
              <a:rPr sz="900" b="0">
                <a:solidFill>
                  <a:srgbClr val="5B6372"/>
                </a:solidFill>
                <a:latin typeface="Arial"/>
              </a:rPr>
              <a:t>© 2026 Tertiary Infotech Academy Pte Ltd</a:t>
            </a:r>
          </a:p>
        </p:txBody>
      </p:sp>
      <p:sp>
        <p:nvSpPr>
          <p:cNvPr id="81" name="TextBox 80"/>
          <p:cNvSpPr txBox="1"/>
          <p:nvPr/>
        </p:nvSpPr>
        <p:spPr>
          <a:xfrm>
            <a:off x="11338560" y="6446520"/>
            <a:ext cx="548640" cy="320040"/>
          </a:xfrm>
          <a:prstGeom prst="rect">
            <a:avLst/>
          </a:prstGeom>
          <a:noFill/>
        </p:spPr>
        <p:txBody>
          <a:bodyPr wrap="square" anchor="t">
            <a:spAutoFit/>
          </a:bodyPr>
          <a:lstStyle/>
          <a:p>
            <a:pPr algn="r">
              <a:spcAft>
                <a:spcPts val="400"/>
              </a:spcAft>
            </a:pPr>
            <a:r>
              <a:rPr sz="900" b="0">
                <a:solidFill>
                  <a:srgbClr val="5B6372"/>
                </a:solidFill>
                <a:latin typeface="Arial"/>
              </a:rPr>
              <a:t>66</a:t>
            </a:r>
          </a:p>
        </p:txBody>
      </p:sp>
    </p:spTree>
  </p:cSld>
  <p:clrMapOvr>
    <a:masterClrMapping/>
  </p:clrMapOvr>
</p:sld>
</file>

<file path=ppt/slides/slide68.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256032" cy="6858000"/>
          </a:xfrm>
          <a:prstGeom prst="rect">
            <a:avLst/>
          </a:prstGeom>
          <a:solidFill>
            <a:srgbClr val="7C3AE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1005840" y="2011680"/>
            <a:ext cx="10058400" cy="457200"/>
          </a:xfrm>
          <a:prstGeom prst="rect">
            <a:avLst/>
          </a:prstGeom>
          <a:noFill/>
        </p:spPr>
        <p:txBody>
          <a:bodyPr wrap="square" anchor="t">
            <a:spAutoFit/>
          </a:bodyPr>
          <a:lstStyle/>
          <a:p>
            <a:pPr algn="l">
              <a:spcAft>
                <a:spcPts val="400"/>
              </a:spcAft>
            </a:pPr>
            <a:r>
              <a:rPr sz="1600" b="1">
                <a:solidFill>
                  <a:srgbClr val="7C3AED"/>
                </a:solidFill>
                <a:latin typeface="Arial"/>
              </a:rPr>
              <a:t>THE KEY MECHANISM</a:t>
            </a:r>
          </a:p>
        </p:txBody>
      </p:sp>
      <p:sp>
        <p:nvSpPr>
          <p:cNvPr id="5" name="TextBox 4"/>
          <p:cNvSpPr txBox="1"/>
          <p:nvPr/>
        </p:nvSpPr>
        <p:spPr>
          <a:xfrm>
            <a:off x="1005840" y="2560320"/>
            <a:ext cx="10332720" cy="2194560"/>
          </a:xfrm>
          <a:prstGeom prst="rect">
            <a:avLst/>
          </a:prstGeom>
          <a:noFill/>
        </p:spPr>
        <p:txBody>
          <a:bodyPr wrap="square" anchor="t">
            <a:spAutoFit/>
          </a:bodyPr>
          <a:lstStyle/>
          <a:p>
            <a:pPr algn="l">
              <a:spcAft>
                <a:spcPts val="400"/>
              </a:spcAft>
            </a:pPr>
            <a:r>
              <a:rPr sz="3600" b="1">
                <a:solidFill>
                  <a:srgbClr val="161B26"/>
                </a:solidFill>
                <a:latin typeface="Arial"/>
              </a:rPr>
              <a:t>Phase kickback is the trick behind almost every algorithm.</a:t>
            </a:r>
          </a:p>
        </p:txBody>
      </p:sp>
      <p:sp>
        <p:nvSpPr>
          <p:cNvPr id="6" name="TextBox 5"/>
          <p:cNvSpPr txBox="1"/>
          <p:nvPr/>
        </p:nvSpPr>
        <p:spPr>
          <a:xfrm>
            <a:off x="1024128" y="4572000"/>
            <a:ext cx="10058400" cy="1097280"/>
          </a:xfrm>
          <a:prstGeom prst="rect">
            <a:avLst/>
          </a:prstGeom>
          <a:noFill/>
        </p:spPr>
        <p:txBody>
          <a:bodyPr wrap="square" anchor="t">
            <a:spAutoFit/>
          </a:bodyPr>
          <a:lstStyle/>
          <a:p>
            <a:pPr algn="l">
              <a:spcAft>
                <a:spcPts val="400"/>
              </a:spcAft>
            </a:pPr>
            <a:r>
              <a:rPr sz="1900" b="0">
                <a:solidFill>
                  <a:srgbClr val="5B6372"/>
                </a:solidFill>
                <a:latin typeface="Arial"/>
              </a:rPr>
              <a:t>Apply a controlled-U to an eigenstate of U and the eigenvalue phase appears on the CONTROL qubit — that is how Deutsch, Bernstein-Vazirani, phase estimation and Shor all extract their answers.</a:t>
            </a:r>
          </a:p>
        </p:txBody>
      </p:sp>
      <p:sp>
        <p:nvSpPr>
          <p:cNvPr id="7" name="TextBox 6"/>
          <p:cNvSpPr txBox="1"/>
          <p:nvPr/>
        </p:nvSpPr>
        <p:spPr>
          <a:xfrm>
            <a:off x="365760" y="6446520"/>
            <a:ext cx="6858000" cy="320040"/>
          </a:xfrm>
          <a:prstGeom prst="rect">
            <a:avLst/>
          </a:prstGeom>
          <a:noFill/>
        </p:spPr>
        <p:txBody>
          <a:bodyPr wrap="square" anchor="t">
            <a:spAutoFit/>
          </a:bodyPr>
          <a:lstStyle/>
          <a:p>
            <a:pPr algn="l">
              <a:spcAft>
                <a:spcPts val="400"/>
              </a:spcAft>
            </a:pPr>
            <a:r>
              <a:rPr sz="900" b="0">
                <a:solidFill>
                  <a:srgbClr val="5B6372"/>
                </a:solidFill>
                <a:latin typeface="Arial"/>
              </a:rPr>
              <a:t>Securing the Future with Quantum Computing and Cryptography  ·  TGS-2024043419</a:t>
            </a:r>
          </a:p>
        </p:txBody>
      </p:sp>
      <p:sp>
        <p:nvSpPr>
          <p:cNvPr id="8" name="TextBox 7"/>
          <p:cNvSpPr txBox="1"/>
          <p:nvPr/>
        </p:nvSpPr>
        <p:spPr>
          <a:xfrm>
            <a:off x="4572000" y="6446520"/>
            <a:ext cx="3017520" cy="320040"/>
          </a:xfrm>
          <a:prstGeom prst="rect">
            <a:avLst/>
          </a:prstGeom>
          <a:noFill/>
        </p:spPr>
        <p:txBody>
          <a:bodyPr wrap="square" anchor="t">
            <a:spAutoFit/>
          </a:bodyPr>
          <a:lstStyle/>
          <a:p>
            <a:pPr algn="ctr">
              <a:spcAft>
                <a:spcPts val="400"/>
              </a:spcAft>
            </a:pPr>
            <a:r>
              <a:rPr sz="900" b="0">
                <a:solidFill>
                  <a:srgbClr val="5B6372"/>
                </a:solidFill>
                <a:latin typeface="Arial"/>
              </a:rPr>
              <a:t>© 2026 Tertiary Infotech Academy Pte Ltd</a:t>
            </a:r>
          </a:p>
        </p:txBody>
      </p:sp>
      <p:sp>
        <p:nvSpPr>
          <p:cNvPr id="9" name="TextBox 8"/>
          <p:cNvSpPr txBox="1"/>
          <p:nvPr/>
        </p:nvSpPr>
        <p:spPr>
          <a:xfrm>
            <a:off x="11338560" y="6446520"/>
            <a:ext cx="548640" cy="320040"/>
          </a:xfrm>
          <a:prstGeom prst="rect">
            <a:avLst/>
          </a:prstGeom>
          <a:noFill/>
        </p:spPr>
        <p:txBody>
          <a:bodyPr wrap="square" anchor="t">
            <a:spAutoFit/>
          </a:bodyPr>
          <a:lstStyle/>
          <a:p>
            <a:pPr algn="r">
              <a:spcAft>
                <a:spcPts val="400"/>
              </a:spcAft>
            </a:pPr>
            <a:r>
              <a:rPr sz="900" b="0">
                <a:solidFill>
                  <a:srgbClr val="5B6372"/>
                </a:solidFill>
                <a:latin typeface="Arial"/>
              </a:rPr>
              <a:t>67</a:t>
            </a:r>
          </a:p>
        </p:txBody>
      </p:sp>
    </p:spTree>
  </p:cSld>
  <p:clrMapOvr>
    <a:masterClrMapping/>
  </p:clrMapOvr>
</p:sld>
</file>

<file path=ppt/slides/slide69.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256032" cy="1417320"/>
          </a:xfrm>
          <a:prstGeom prst="rect">
            <a:avLst/>
          </a:prstGeom>
          <a:solidFill>
            <a:srgbClr val="7C3AE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777240" y="457200"/>
            <a:ext cx="10607040" cy="365760"/>
          </a:xfrm>
          <a:prstGeom prst="rect">
            <a:avLst/>
          </a:prstGeom>
          <a:noFill/>
        </p:spPr>
        <p:txBody>
          <a:bodyPr wrap="square" anchor="t">
            <a:spAutoFit/>
          </a:bodyPr>
          <a:lstStyle/>
          <a:p>
            <a:pPr algn="l">
              <a:spcAft>
                <a:spcPts val="400"/>
              </a:spcAft>
            </a:pPr>
            <a:r>
              <a:rPr sz="1400" b="1">
                <a:solidFill>
                  <a:srgbClr val="7C3AED"/>
                </a:solidFill>
                <a:latin typeface="Arial"/>
              </a:rPr>
              <a:t>DERIVATION</a:t>
            </a:r>
          </a:p>
        </p:txBody>
      </p:sp>
      <p:sp>
        <p:nvSpPr>
          <p:cNvPr id="5" name="TextBox 4"/>
          <p:cNvSpPr txBox="1"/>
          <p:nvPr/>
        </p:nvSpPr>
        <p:spPr>
          <a:xfrm>
            <a:off x="777240" y="822960"/>
            <a:ext cx="10881360" cy="822960"/>
          </a:xfrm>
          <a:prstGeom prst="rect">
            <a:avLst/>
          </a:prstGeom>
          <a:noFill/>
        </p:spPr>
        <p:txBody>
          <a:bodyPr wrap="square" anchor="t">
            <a:spAutoFit/>
          </a:bodyPr>
          <a:lstStyle/>
          <a:p>
            <a:pPr algn="l">
              <a:spcAft>
                <a:spcPts val="400"/>
              </a:spcAft>
            </a:pPr>
            <a:r>
              <a:rPr sz="2900" b="1">
                <a:solidFill>
                  <a:srgbClr val="161B26"/>
                </a:solidFill>
                <a:latin typeface="Arial"/>
              </a:rPr>
              <a:t>Proof — Phase Kickback</a:t>
            </a:r>
          </a:p>
        </p:txBody>
      </p:sp>
      <p:sp>
        <p:nvSpPr>
          <p:cNvPr id="6" name="Rectangle 5"/>
          <p:cNvSpPr/>
          <p:nvPr/>
        </p:nvSpPr>
        <p:spPr>
          <a:xfrm>
            <a:off x="777240" y="1554480"/>
            <a:ext cx="10634472" cy="18288"/>
          </a:xfrm>
          <a:prstGeom prst="rect">
            <a:avLst/>
          </a:prstGeom>
          <a:solidFill>
            <a:srgbClr val="E2E8F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Rectangle 6"/>
          <p:cNvSpPr/>
          <p:nvPr/>
        </p:nvSpPr>
        <p:spPr>
          <a:xfrm>
            <a:off x="777240" y="1783080"/>
            <a:ext cx="10634472" cy="1371600"/>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Rectangle 7"/>
          <p:cNvSpPr/>
          <p:nvPr/>
        </p:nvSpPr>
        <p:spPr>
          <a:xfrm>
            <a:off x="777240" y="1783080"/>
            <a:ext cx="100584" cy="1371600"/>
          </a:xfrm>
          <a:prstGeom prst="rect">
            <a:avLst/>
          </a:prstGeom>
          <a:solidFill>
            <a:srgbClr val="7C3AE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TextBox 8"/>
          <p:cNvSpPr txBox="1"/>
          <p:nvPr/>
        </p:nvSpPr>
        <p:spPr>
          <a:xfrm>
            <a:off x="1143000" y="1938528"/>
            <a:ext cx="10058400" cy="365760"/>
          </a:xfrm>
          <a:prstGeom prst="rect">
            <a:avLst/>
          </a:prstGeom>
          <a:noFill/>
        </p:spPr>
        <p:txBody>
          <a:bodyPr wrap="square" anchor="t">
            <a:spAutoFit/>
          </a:bodyPr>
          <a:lstStyle/>
          <a:p>
            <a:pPr algn="l">
              <a:spcAft>
                <a:spcPts val="400"/>
              </a:spcAft>
            </a:pPr>
            <a:r>
              <a:rPr sz="1200" b="1">
                <a:solidFill>
                  <a:srgbClr val="7C3AED"/>
                </a:solidFill>
                <a:latin typeface="Arial"/>
              </a:rPr>
              <a:t>CLAIM</a:t>
            </a:r>
          </a:p>
        </p:txBody>
      </p:sp>
      <p:sp>
        <p:nvSpPr>
          <p:cNvPr id="10" name="TextBox 9"/>
          <p:cNvSpPr txBox="1"/>
          <p:nvPr/>
        </p:nvSpPr>
        <p:spPr>
          <a:xfrm>
            <a:off x="1143000" y="2304288"/>
            <a:ext cx="10058400" cy="777240"/>
          </a:xfrm>
          <a:prstGeom prst="rect">
            <a:avLst/>
          </a:prstGeom>
          <a:noFill/>
        </p:spPr>
        <p:txBody>
          <a:bodyPr wrap="square" anchor="t">
            <a:spAutoFit/>
          </a:bodyPr>
          <a:lstStyle/>
          <a:p>
            <a:pPr algn="l">
              <a:spcAft>
                <a:spcPts val="400"/>
              </a:spcAft>
            </a:pPr>
            <a:r>
              <a:rPr sz="1550" b="1">
                <a:solidFill>
                  <a:srgbClr val="161B26"/>
                </a:solidFill>
                <a:latin typeface="Arial"/>
              </a:rPr>
              <a:t>A controlled-U acting on an EIGENSTATE of U leaves the target unchanged and transfers the eigenvalue phase onto the CONTROL qubit.</a:t>
            </a:r>
          </a:p>
        </p:txBody>
      </p:sp>
      <p:sp>
        <p:nvSpPr>
          <p:cNvPr id="11" name="TextBox 10"/>
          <p:cNvSpPr txBox="1"/>
          <p:nvPr/>
        </p:nvSpPr>
        <p:spPr>
          <a:xfrm>
            <a:off x="777240" y="3364992"/>
            <a:ext cx="10607040" cy="365760"/>
          </a:xfrm>
          <a:prstGeom prst="rect">
            <a:avLst/>
          </a:prstGeom>
          <a:noFill/>
        </p:spPr>
        <p:txBody>
          <a:bodyPr wrap="square" anchor="t">
            <a:spAutoFit/>
          </a:bodyPr>
          <a:lstStyle/>
          <a:p>
            <a:pPr algn="l">
              <a:spcAft>
                <a:spcPts val="400"/>
              </a:spcAft>
            </a:pPr>
            <a:r>
              <a:rPr sz="1200" b="1">
                <a:solidFill>
                  <a:srgbClr val="1F6FEB"/>
                </a:solidFill>
                <a:latin typeface="Arial"/>
              </a:rPr>
              <a:t>GIVEN</a:t>
            </a:r>
          </a:p>
        </p:txBody>
      </p:sp>
      <p:sp>
        <p:nvSpPr>
          <p:cNvPr id="12" name="Rectangle 11"/>
          <p:cNvSpPr/>
          <p:nvPr/>
        </p:nvSpPr>
        <p:spPr>
          <a:xfrm>
            <a:off x="777240" y="3730752"/>
            <a:ext cx="10634472" cy="783336"/>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 name="Rectangle 12"/>
          <p:cNvSpPr/>
          <p:nvPr/>
        </p:nvSpPr>
        <p:spPr>
          <a:xfrm>
            <a:off x="777240" y="3730752"/>
            <a:ext cx="82296" cy="783336"/>
          </a:xfrm>
          <a:prstGeom prst="rect">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 name="TextBox 13"/>
          <p:cNvSpPr txBox="1"/>
          <p:nvPr/>
        </p:nvSpPr>
        <p:spPr>
          <a:xfrm>
            <a:off x="1097280" y="3730752"/>
            <a:ext cx="10149840" cy="783336"/>
          </a:xfrm>
          <a:prstGeom prst="rect">
            <a:avLst/>
          </a:prstGeom>
          <a:noFill/>
        </p:spPr>
        <p:txBody>
          <a:bodyPr wrap="square" anchor="ctr">
            <a:spAutoFit/>
          </a:bodyPr>
          <a:lstStyle/>
          <a:p>
            <a:pPr algn="l">
              <a:spcAft>
                <a:spcPts val="400"/>
              </a:spcAft>
            </a:pPr>
            <a:r>
              <a:rPr sz="1300" b="0">
                <a:solidFill>
                  <a:srgbClr val="161B26"/>
                </a:solidFill>
                <a:latin typeface="Arial"/>
              </a:rPr>
              <a:t>U is a unitary operator with eigenvector |u&gt; and eigenvalue e^(iθ):  U|u&gt; = e^(iθ)|u&gt;.</a:t>
            </a:r>
          </a:p>
        </p:txBody>
      </p:sp>
      <p:sp>
        <p:nvSpPr>
          <p:cNvPr id="15" name="Rectangle 14"/>
          <p:cNvSpPr/>
          <p:nvPr/>
        </p:nvSpPr>
        <p:spPr>
          <a:xfrm>
            <a:off x="777240" y="4642104"/>
            <a:ext cx="10634472" cy="783336"/>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6" name="Rectangle 15"/>
          <p:cNvSpPr/>
          <p:nvPr/>
        </p:nvSpPr>
        <p:spPr>
          <a:xfrm>
            <a:off x="777240" y="4642104"/>
            <a:ext cx="82296" cy="783336"/>
          </a:xfrm>
          <a:prstGeom prst="rect">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7" name="TextBox 16"/>
          <p:cNvSpPr txBox="1"/>
          <p:nvPr/>
        </p:nvSpPr>
        <p:spPr>
          <a:xfrm>
            <a:off x="1097280" y="4642104"/>
            <a:ext cx="10149840" cy="783336"/>
          </a:xfrm>
          <a:prstGeom prst="rect">
            <a:avLst/>
          </a:prstGeom>
          <a:noFill/>
        </p:spPr>
        <p:txBody>
          <a:bodyPr wrap="square" anchor="ctr">
            <a:spAutoFit/>
          </a:bodyPr>
          <a:lstStyle/>
          <a:p>
            <a:pPr algn="l">
              <a:spcAft>
                <a:spcPts val="400"/>
              </a:spcAft>
            </a:pPr>
            <a:r>
              <a:rPr sz="1300" b="0">
                <a:solidFill>
                  <a:srgbClr val="161B26"/>
                </a:solidFill>
                <a:latin typeface="Arial"/>
              </a:rPr>
              <a:t>The control qubit starts in |0&gt;; the target starts in the eigenstate |u&gt;.</a:t>
            </a:r>
          </a:p>
        </p:txBody>
      </p:sp>
      <p:sp>
        <p:nvSpPr>
          <p:cNvPr id="18" name="Rectangle 17"/>
          <p:cNvSpPr/>
          <p:nvPr/>
        </p:nvSpPr>
        <p:spPr>
          <a:xfrm>
            <a:off x="777240" y="5553456"/>
            <a:ext cx="10634472" cy="783336"/>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9" name="Rectangle 18"/>
          <p:cNvSpPr/>
          <p:nvPr/>
        </p:nvSpPr>
        <p:spPr>
          <a:xfrm>
            <a:off x="777240" y="5553456"/>
            <a:ext cx="82296" cy="783336"/>
          </a:xfrm>
          <a:prstGeom prst="rect">
            <a:avLst/>
          </a:prstGeom>
          <a:solidFill>
            <a:srgbClr val="7C3AE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0" name="TextBox 19"/>
          <p:cNvSpPr txBox="1"/>
          <p:nvPr/>
        </p:nvSpPr>
        <p:spPr>
          <a:xfrm>
            <a:off x="1097280" y="5553456"/>
            <a:ext cx="10149840" cy="783336"/>
          </a:xfrm>
          <a:prstGeom prst="rect">
            <a:avLst/>
          </a:prstGeom>
          <a:noFill/>
        </p:spPr>
        <p:txBody>
          <a:bodyPr wrap="square" anchor="ctr">
            <a:spAutoFit/>
          </a:bodyPr>
          <a:lstStyle/>
          <a:p>
            <a:pPr algn="l">
              <a:spcAft>
                <a:spcPts val="400"/>
              </a:spcAft>
            </a:pPr>
            <a:r>
              <a:rPr sz="1300" b="0">
                <a:solidFill>
                  <a:srgbClr val="161B26"/>
                </a:solidFill>
                <a:latin typeface="Arial"/>
              </a:rPr>
              <a:t>CU is the controlled-U gate: it applies U to the target only when the control is |1&gt;.</a:t>
            </a:r>
          </a:p>
        </p:txBody>
      </p:sp>
      <p:sp>
        <p:nvSpPr>
          <p:cNvPr id="21" name="TextBox 20"/>
          <p:cNvSpPr txBox="1"/>
          <p:nvPr/>
        </p:nvSpPr>
        <p:spPr>
          <a:xfrm>
            <a:off x="365760" y="6446520"/>
            <a:ext cx="6858000" cy="320040"/>
          </a:xfrm>
          <a:prstGeom prst="rect">
            <a:avLst/>
          </a:prstGeom>
          <a:noFill/>
        </p:spPr>
        <p:txBody>
          <a:bodyPr wrap="square" anchor="t">
            <a:spAutoFit/>
          </a:bodyPr>
          <a:lstStyle/>
          <a:p>
            <a:pPr algn="l">
              <a:spcAft>
                <a:spcPts val="400"/>
              </a:spcAft>
            </a:pPr>
            <a:r>
              <a:rPr sz="900" b="0">
                <a:solidFill>
                  <a:srgbClr val="5B6372"/>
                </a:solidFill>
                <a:latin typeface="Arial"/>
              </a:rPr>
              <a:t>Securing the Future with Quantum Computing and Cryptography  ·  TGS-2024043419</a:t>
            </a:r>
          </a:p>
        </p:txBody>
      </p:sp>
      <p:sp>
        <p:nvSpPr>
          <p:cNvPr id="22" name="TextBox 21"/>
          <p:cNvSpPr txBox="1"/>
          <p:nvPr/>
        </p:nvSpPr>
        <p:spPr>
          <a:xfrm>
            <a:off x="4572000" y="6446520"/>
            <a:ext cx="3017520" cy="320040"/>
          </a:xfrm>
          <a:prstGeom prst="rect">
            <a:avLst/>
          </a:prstGeom>
          <a:noFill/>
        </p:spPr>
        <p:txBody>
          <a:bodyPr wrap="square" anchor="t">
            <a:spAutoFit/>
          </a:bodyPr>
          <a:lstStyle/>
          <a:p>
            <a:pPr algn="ctr">
              <a:spcAft>
                <a:spcPts val="400"/>
              </a:spcAft>
            </a:pPr>
            <a:r>
              <a:rPr sz="900" b="0">
                <a:solidFill>
                  <a:srgbClr val="5B6372"/>
                </a:solidFill>
                <a:latin typeface="Arial"/>
              </a:rPr>
              <a:t>© 2026 Tertiary Infotech Academy Pte Ltd</a:t>
            </a:r>
          </a:p>
        </p:txBody>
      </p:sp>
      <p:sp>
        <p:nvSpPr>
          <p:cNvPr id="23" name="TextBox 22"/>
          <p:cNvSpPr txBox="1"/>
          <p:nvPr/>
        </p:nvSpPr>
        <p:spPr>
          <a:xfrm>
            <a:off x="11338560" y="6446520"/>
            <a:ext cx="548640" cy="320040"/>
          </a:xfrm>
          <a:prstGeom prst="rect">
            <a:avLst/>
          </a:prstGeom>
          <a:noFill/>
        </p:spPr>
        <p:txBody>
          <a:bodyPr wrap="square" anchor="t">
            <a:spAutoFit/>
          </a:bodyPr>
          <a:lstStyle/>
          <a:p>
            <a:pPr algn="r">
              <a:spcAft>
                <a:spcPts val="400"/>
              </a:spcAft>
            </a:pPr>
            <a:r>
              <a:rPr sz="900" b="0">
                <a:solidFill>
                  <a:srgbClr val="5B6372"/>
                </a:solidFill>
                <a:latin typeface="Arial"/>
              </a:rPr>
              <a:t>68</a:t>
            </a:r>
          </a:p>
        </p:txBody>
      </p:sp>
    </p:spTree>
  </p:cSld>
  <p:clrMapOvr>
    <a:masterClrMapping/>
  </p:clrMapOvr>
</p:sld>
</file>

<file path=ppt/slides/slide70.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256032" cy="1417320"/>
          </a:xfrm>
          <a:prstGeom prst="rect">
            <a:avLst/>
          </a:prstGeom>
          <a:solidFill>
            <a:srgbClr val="7C3AE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777240" y="457200"/>
            <a:ext cx="10607040" cy="365760"/>
          </a:xfrm>
          <a:prstGeom prst="rect">
            <a:avLst/>
          </a:prstGeom>
          <a:noFill/>
        </p:spPr>
        <p:txBody>
          <a:bodyPr wrap="square" anchor="t">
            <a:spAutoFit/>
          </a:bodyPr>
          <a:lstStyle/>
          <a:p>
            <a:pPr algn="l">
              <a:spcAft>
                <a:spcPts val="400"/>
              </a:spcAft>
            </a:pPr>
            <a:r>
              <a:rPr sz="1400" b="1">
                <a:solidFill>
                  <a:srgbClr val="7C3AED"/>
                </a:solidFill>
                <a:latin typeface="Arial"/>
              </a:rPr>
              <a:t>PHASE KICKBACK  ·  STEP 1 OF 5</a:t>
            </a:r>
          </a:p>
        </p:txBody>
      </p:sp>
      <p:sp>
        <p:nvSpPr>
          <p:cNvPr id="5" name="TextBox 4"/>
          <p:cNvSpPr txBox="1"/>
          <p:nvPr/>
        </p:nvSpPr>
        <p:spPr>
          <a:xfrm>
            <a:off x="777240" y="822960"/>
            <a:ext cx="10881360" cy="822960"/>
          </a:xfrm>
          <a:prstGeom prst="rect">
            <a:avLst/>
          </a:prstGeom>
          <a:noFill/>
        </p:spPr>
        <p:txBody>
          <a:bodyPr wrap="square" anchor="t">
            <a:spAutoFit/>
          </a:bodyPr>
          <a:lstStyle/>
          <a:p>
            <a:pPr algn="l">
              <a:spcAft>
                <a:spcPts val="400"/>
              </a:spcAft>
            </a:pPr>
            <a:r>
              <a:rPr sz="2900" b="1">
                <a:solidFill>
                  <a:srgbClr val="161B26"/>
                </a:solidFill>
                <a:latin typeface="Arial"/>
              </a:rPr>
              <a:t>Step 1 — Put the control into superposition</a:t>
            </a:r>
          </a:p>
        </p:txBody>
      </p:sp>
      <p:sp>
        <p:nvSpPr>
          <p:cNvPr id="6" name="Rectangle 5"/>
          <p:cNvSpPr/>
          <p:nvPr/>
        </p:nvSpPr>
        <p:spPr>
          <a:xfrm>
            <a:off x="777240" y="1554480"/>
            <a:ext cx="10634472" cy="18288"/>
          </a:xfrm>
          <a:prstGeom prst="rect">
            <a:avLst/>
          </a:prstGeom>
          <a:solidFill>
            <a:srgbClr val="E2E8F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Rectangle 6"/>
          <p:cNvSpPr/>
          <p:nvPr/>
        </p:nvSpPr>
        <p:spPr>
          <a:xfrm>
            <a:off x="777240" y="1810512"/>
            <a:ext cx="10634472" cy="2011680"/>
          </a:xfrm>
          <a:prstGeom prst="rect">
            <a:avLst/>
          </a:prstGeom>
          <a:solidFill>
            <a:srgbClr val="0B122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TextBox 7"/>
          <p:cNvSpPr txBox="1"/>
          <p:nvPr/>
        </p:nvSpPr>
        <p:spPr>
          <a:xfrm>
            <a:off x="1097280" y="1956816"/>
            <a:ext cx="9994392" cy="1719072"/>
          </a:xfrm>
          <a:prstGeom prst="rect">
            <a:avLst/>
          </a:prstGeom>
          <a:noFill/>
        </p:spPr>
        <p:txBody>
          <a:bodyPr wrap="square" anchor="t">
            <a:spAutoFit/>
          </a:bodyPr>
          <a:lstStyle/>
          <a:p>
            <a:pPr algn="l">
              <a:spcAft>
                <a:spcPts val="300"/>
              </a:spcAft>
            </a:pPr>
            <a:r>
              <a:rPr sz="1550" b="0">
                <a:solidFill>
                  <a:srgbClr val="9CDCFE"/>
                </a:solidFill>
                <a:latin typeface="Arial"/>
              </a:rPr>
              <a:t>Start:            |0&gt; (x) |u&gt;</a:t>
            </a:r>
          </a:p>
          <a:p>
            <a:pPr algn="l">
              <a:spcAft>
                <a:spcPts val="300"/>
              </a:spcAft>
            </a:pPr>
            <a:r>
              <a:rPr sz="1550" b="0">
                <a:solidFill>
                  <a:srgbClr val="9CDCFE"/>
                </a:solidFill>
                <a:latin typeface="Arial"/>
              </a:rPr>
              <a:t>Apply H to the control qubit:</a:t>
            </a:r>
          </a:p>
          <a:p>
            <a:pPr algn="l">
              <a:spcAft>
                <a:spcPts val="300"/>
              </a:spcAft>
            </a:pPr>
            <a:r>
              <a:rPr sz="1550" b="0">
                <a:solidFill>
                  <a:srgbClr val="9CDCFE"/>
                </a:solidFill>
                <a:latin typeface="Arial"/>
              </a:rPr>
              <a:t>H|0&gt; = (|0&gt; + |1&gt;)/√2</a:t>
            </a:r>
          </a:p>
          <a:p>
            <a:pPr algn="l">
              <a:spcAft>
                <a:spcPts val="300"/>
              </a:spcAft>
            </a:pPr>
            <a:r>
              <a:rPr sz="1550" b="0">
                <a:solidFill>
                  <a:srgbClr val="9CDCFE"/>
                </a:solidFill>
                <a:latin typeface="Arial"/>
              </a:rPr>
              <a:t>State:            (1/√2)( |0&gt; + |1&gt; ) (x) |u&gt;</a:t>
            </a:r>
          </a:p>
          <a:p>
            <a:pPr algn="l">
              <a:spcAft>
                <a:spcPts val="300"/>
              </a:spcAft>
            </a:pPr>
            <a:r>
              <a:rPr sz="1550" b="0">
                <a:solidFill>
                  <a:srgbClr val="9CDCFE"/>
                </a:solidFill>
                <a:latin typeface="Arial"/>
              </a:rPr>
              <a:t>                = (1/√2)( |0&gt;|u&gt; + |1&gt;|u&gt; )</a:t>
            </a:r>
          </a:p>
        </p:txBody>
      </p:sp>
      <p:sp>
        <p:nvSpPr>
          <p:cNvPr id="9" name="Rectangle 8"/>
          <p:cNvSpPr/>
          <p:nvPr/>
        </p:nvSpPr>
        <p:spPr>
          <a:xfrm>
            <a:off x="777240" y="4023360"/>
            <a:ext cx="10634472" cy="2029968"/>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Rectangle 9"/>
          <p:cNvSpPr/>
          <p:nvPr/>
        </p:nvSpPr>
        <p:spPr>
          <a:xfrm>
            <a:off x="777240" y="4023360"/>
            <a:ext cx="82296" cy="2029968"/>
          </a:xfrm>
          <a:prstGeom prst="rect">
            <a:avLst/>
          </a:prstGeom>
          <a:solidFill>
            <a:srgbClr val="F59E0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 name="TextBox 10"/>
          <p:cNvSpPr txBox="1"/>
          <p:nvPr/>
        </p:nvSpPr>
        <p:spPr>
          <a:xfrm>
            <a:off x="1097280" y="4023360"/>
            <a:ext cx="10149840" cy="2029968"/>
          </a:xfrm>
          <a:prstGeom prst="rect">
            <a:avLst/>
          </a:prstGeom>
          <a:noFill/>
        </p:spPr>
        <p:txBody>
          <a:bodyPr wrap="square" anchor="ctr">
            <a:spAutoFit/>
          </a:bodyPr>
          <a:lstStyle/>
          <a:p>
            <a:pPr algn="l">
              <a:spcAft>
                <a:spcPts val="400"/>
              </a:spcAft>
            </a:pPr>
            <a:r>
              <a:rPr sz="1150" b="1">
                <a:solidFill>
                  <a:srgbClr val="F59E0B"/>
                </a:solidFill>
                <a:latin typeface="Arial"/>
              </a:rPr>
              <a:t>WHY THIS STEP:  </a:t>
            </a:r>
            <a:r>
              <a:rPr sz="1300" b="0">
                <a:solidFill>
                  <a:srgbClr val="161B26"/>
                </a:solidFill>
                <a:latin typeface="Arial"/>
              </a:rPr>
              <a:t>The control is now in an equal superposition; the target still holds the eigenstate.</a:t>
            </a:r>
          </a:p>
        </p:txBody>
      </p:sp>
      <p:sp>
        <p:nvSpPr>
          <p:cNvPr id="12" name="TextBox 11"/>
          <p:cNvSpPr txBox="1"/>
          <p:nvPr/>
        </p:nvSpPr>
        <p:spPr>
          <a:xfrm>
            <a:off x="365760" y="6446520"/>
            <a:ext cx="6858000" cy="320040"/>
          </a:xfrm>
          <a:prstGeom prst="rect">
            <a:avLst/>
          </a:prstGeom>
          <a:noFill/>
        </p:spPr>
        <p:txBody>
          <a:bodyPr wrap="square" anchor="t">
            <a:spAutoFit/>
          </a:bodyPr>
          <a:lstStyle/>
          <a:p>
            <a:pPr algn="l">
              <a:spcAft>
                <a:spcPts val="400"/>
              </a:spcAft>
            </a:pPr>
            <a:r>
              <a:rPr sz="900" b="0">
                <a:solidFill>
                  <a:srgbClr val="5B6372"/>
                </a:solidFill>
                <a:latin typeface="Arial"/>
              </a:rPr>
              <a:t>Securing the Future with Quantum Computing and Cryptography  ·  TGS-2024043419</a:t>
            </a:r>
          </a:p>
        </p:txBody>
      </p:sp>
      <p:sp>
        <p:nvSpPr>
          <p:cNvPr id="13" name="TextBox 12"/>
          <p:cNvSpPr txBox="1"/>
          <p:nvPr/>
        </p:nvSpPr>
        <p:spPr>
          <a:xfrm>
            <a:off x="4572000" y="6446520"/>
            <a:ext cx="3017520" cy="320040"/>
          </a:xfrm>
          <a:prstGeom prst="rect">
            <a:avLst/>
          </a:prstGeom>
          <a:noFill/>
        </p:spPr>
        <p:txBody>
          <a:bodyPr wrap="square" anchor="t">
            <a:spAutoFit/>
          </a:bodyPr>
          <a:lstStyle/>
          <a:p>
            <a:pPr algn="ctr">
              <a:spcAft>
                <a:spcPts val="400"/>
              </a:spcAft>
            </a:pPr>
            <a:r>
              <a:rPr sz="900" b="0">
                <a:solidFill>
                  <a:srgbClr val="5B6372"/>
                </a:solidFill>
                <a:latin typeface="Arial"/>
              </a:rPr>
              <a:t>© 2026 Tertiary Infotech Academy Pte Ltd</a:t>
            </a:r>
          </a:p>
        </p:txBody>
      </p:sp>
      <p:sp>
        <p:nvSpPr>
          <p:cNvPr id="14" name="TextBox 13"/>
          <p:cNvSpPr txBox="1"/>
          <p:nvPr/>
        </p:nvSpPr>
        <p:spPr>
          <a:xfrm>
            <a:off x="11338560" y="6446520"/>
            <a:ext cx="548640" cy="320040"/>
          </a:xfrm>
          <a:prstGeom prst="rect">
            <a:avLst/>
          </a:prstGeom>
          <a:noFill/>
        </p:spPr>
        <p:txBody>
          <a:bodyPr wrap="square" anchor="t">
            <a:spAutoFit/>
          </a:bodyPr>
          <a:lstStyle/>
          <a:p>
            <a:pPr algn="r">
              <a:spcAft>
                <a:spcPts val="400"/>
              </a:spcAft>
            </a:pPr>
            <a:r>
              <a:rPr sz="900" b="0">
                <a:solidFill>
                  <a:srgbClr val="5B6372"/>
                </a:solidFill>
                <a:latin typeface="Arial"/>
              </a:rPr>
              <a:t>69</a:t>
            </a:r>
          </a:p>
        </p:txBody>
      </p:sp>
    </p:spTree>
  </p:cSld>
  <p:clrMapOvr>
    <a:masterClrMapping/>
  </p:clrMapOvr>
</p:sld>
</file>

<file path=ppt/slides/slide71.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256032" cy="1417320"/>
          </a:xfrm>
          <a:prstGeom prst="rect">
            <a:avLst/>
          </a:prstGeom>
          <a:solidFill>
            <a:srgbClr val="7C3AE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777240" y="457200"/>
            <a:ext cx="10607040" cy="365760"/>
          </a:xfrm>
          <a:prstGeom prst="rect">
            <a:avLst/>
          </a:prstGeom>
          <a:noFill/>
        </p:spPr>
        <p:txBody>
          <a:bodyPr wrap="square" anchor="t">
            <a:spAutoFit/>
          </a:bodyPr>
          <a:lstStyle/>
          <a:p>
            <a:pPr algn="l">
              <a:spcAft>
                <a:spcPts val="400"/>
              </a:spcAft>
            </a:pPr>
            <a:r>
              <a:rPr sz="1400" b="1">
                <a:solidFill>
                  <a:srgbClr val="7C3AED"/>
                </a:solidFill>
                <a:latin typeface="Arial"/>
              </a:rPr>
              <a:t>PHASE KICKBACK  ·  STEP 2 OF 5</a:t>
            </a:r>
          </a:p>
        </p:txBody>
      </p:sp>
      <p:sp>
        <p:nvSpPr>
          <p:cNvPr id="5" name="TextBox 4"/>
          <p:cNvSpPr txBox="1"/>
          <p:nvPr/>
        </p:nvSpPr>
        <p:spPr>
          <a:xfrm>
            <a:off x="777240" y="822960"/>
            <a:ext cx="10881360" cy="822960"/>
          </a:xfrm>
          <a:prstGeom prst="rect">
            <a:avLst/>
          </a:prstGeom>
          <a:noFill/>
        </p:spPr>
        <p:txBody>
          <a:bodyPr wrap="square" anchor="t">
            <a:spAutoFit/>
          </a:bodyPr>
          <a:lstStyle/>
          <a:p>
            <a:pPr algn="l">
              <a:spcAft>
                <a:spcPts val="400"/>
              </a:spcAft>
            </a:pPr>
            <a:r>
              <a:rPr sz="2900" b="1">
                <a:solidFill>
                  <a:srgbClr val="161B26"/>
                </a:solidFill>
                <a:latin typeface="Arial"/>
              </a:rPr>
              <a:t>Step 2 — Apply the controlled-U</a:t>
            </a:r>
          </a:p>
        </p:txBody>
      </p:sp>
      <p:sp>
        <p:nvSpPr>
          <p:cNvPr id="6" name="Rectangle 5"/>
          <p:cNvSpPr/>
          <p:nvPr/>
        </p:nvSpPr>
        <p:spPr>
          <a:xfrm>
            <a:off x="777240" y="1554480"/>
            <a:ext cx="10634472" cy="18288"/>
          </a:xfrm>
          <a:prstGeom prst="rect">
            <a:avLst/>
          </a:prstGeom>
          <a:solidFill>
            <a:srgbClr val="E2E8F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Rectangle 6"/>
          <p:cNvSpPr/>
          <p:nvPr/>
        </p:nvSpPr>
        <p:spPr>
          <a:xfrm>
            <a:off x="777240" y="1810512"/>
            <a:ext cx="10634472" cy="2011680"/>
          </a:xfrm>
          <a:prstGeom prst="rect">
            <a:avLst/>
          </a:prstGeom>
          <a:solidFill>
            <a:srgbClr val="0B122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TextBox 7"/>
          <p:cNvSpPr txBox="1"/>
          <p:nvPr/>
        </p:nvSpPr>
        <p:spPr>
          <a:xfrm>
            <a:off x="1097280" y="1956816"/>
            <a:ext cx="9994392" cy="1719072"/>
          </a:xfrm>
          <a:prstGeom prst="rect">
            <a:avLst/>
          </a:prstGeom>
          <a:noFill/>
        </p:spPr>
        <p:txBody>
          <a:bodyPr wrap="square" anchor="t">
            <a:spAutoFit/>
          </a:bodyPr>
          <a:lstStyle/>
          <a:p>
            <a:pPr algn="l">
              <a:spcAft>
                <a:spcPts val="300"/>
              </a:spcAft>
            </a:pPr>
            <a:r>
              <a:rPr sz="1550" b="0">
                <a:solidFill>
                  <a:srgbClr val="9CDCFE"/>
                </a:solidFill>
                <a:latin typeface="Arial"/>
              </a:rPr>
              <a:t>CU acts term by term (linearity):</a:t>
            </a:r>
          </a:p>
          <a:p>
            <a:pPr algn="l">
              <a:spcAft>
                <a:spcPts val="300"/>
              </a:spcAft>
            </a:pPr>
            <a:r>
              <a:rPr sz="1550" b="0">
                <a:solidFill>
                  <a:srgbClr val="9CDCFE"/>
                </a:solidFill>
                <a:latin typeface="Arial"/>
              </a:rPr>
              <a:t>  CU |0&gt;|u&gt;  =  |0&gt;|u&gt;          (control is 0 -&gt; do nothing)</a:t>
            </a:r>
          </a:p>
          <a:p>
            <a:pPr algn="l">
              <a:spcAft>
                <a:spcPts val="300"/>
              </a:spcAft>
            </a:pPr>
            <a:r>
              <a:rPr sz="1550" b="0">
                <a:solidFill>
                  <a:srgbClr val="9CDCFE"/>
                </a:solidFill>
                <a:latin typeface="Arial"/>
              </a:rPr>
              <a:t>  CU |1&gt;|u&gt;  =  |1&gt; U|u&gt;        (control is 1 -&gt; apply U)</a:t>
            </a:r>
          </a:p>
          <a:p>
            <a:pPr algn="l">
              <a:spcAft>
                <a:spcPts val="300"/>
              </a:spcAft>
            </a:pPr>
            <a:r>
              <a:rPr sz="1550" b="0">
                <a:solidFill>
                  <a:srgbClr val="9CDCFE"/>
                </a:solidFill>
                <a:latin typeface="Arial"/>
              </a:rPr>
              <a:t>Now use the eigenvalue relation U|u&gt; = e^(iθ)|u&gt;:</a:t>
            </a:r>
          </a:p>
          <a:p>
            <a:pPr algn="l">
              <a:spcAft>
                <a:spcPts val="300"/>
              </a:spcAft>
            </a:pPr>
            <a:r>
              <a:rPr sz="1550" b="0">
                <a:solidFill>
                  <a:srgbClr val="9CDCFE"/>
                </a:solidFill>
                <a:latin typeface="Arial"/>
              </a:rPr>
              <a:t>  CU |1&gt;|u&gt;  =  |1&gt; e^(iθ)|u&gt;  =  e^(iθ) |1&gt;|u&gt;</a:t>
            </a:r>
          </a:p>
        </p:txBody>
      </p:sp>
      <p:sp>
        <p:nvSpPr>
          <p:cNvPr id="9" name="Rectangle 8"/>
          <p:cNvSpPr/>
          <p:nvPr/>
        </p:nvSpPr>
        <p:spPr>
          <a:xfrm>
            <a:off x="777240" y="4023360"/>
            <a:ext cx="10634472" cy="2029968"/>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Rectangle 9"/>
          <p:cNvSpPr/>
          <p:nvPr/>
        </p:nvSpPr>
        <p:spPr>
          <a:xfrm>
            <a:off x="777240" y="4023360"/>
            <a:ext cx="82296" cy="2029968"/>
          </a:xfrm>
          <a:prstGeom prst="rect">
            <a:avLst/>
          </a:prstGeom>
          <a:solidFill>
            <a:srgbClr val="F59E0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 name="TextBox 10"/>
          <p:cNvSpPr txBox="1"/>
          <p:nvPr/>
        </p:nvSpPr>
        <p:spPr>
          <a:xfrm>
            <a:off x="1097280" y="4023360"/>
            <a:ext cx="10149840" cy="2029968"/>
          </a:xfrm>
          <a:prstGeom prst="rect">
            <a:avLst/>
          </a:prstGeom>
          <a:noFill/>
        </p:spPr>
        <p:txBody>
          <a:bodyPr wrap="square" anchor="ctr">
            <a:spAutoFit/>
          </a:bodyPr>
          <a:lstStyle/>
          <a:p>
            <a:pPr algn="l">
              <a:spcAft>
                <a:spcPts val="400"/>
              </a:spcAft>
            </a:pPr>
            <a:r>
              <a:rPr sz="1150" b="1">
                <a:solidFill>
                  <a:srgbClr val="F59E0B"/>
                </a:solidFill>
                <a:latin typeface="Arial"/>
              </a:rPr>
              <a:t>WHY THIS STEP:  </a:t>
            </a:r>
            <a:r>
              <a:rPr sz="1300" b="0">
                <a:solidFill>
                  <a:srgbClr val="161B26"/>
                </a:solidFill>
                <a:latin typeface="Arial"/>
              </a:rPr>
              <a:t>The scalar e^(iθ) can be moved freely — it multiplies the WHOLE term.</a:t>
            </a:r>
          </a:p>
        </p:txBody>
      </p:sp>
      <p:sp>
        <p:nvSpPr>
          <p:cNvPr id="12" name="TextBox 11"/>
          <p:cNvSpPr txBox="1"/>
          <p:nvPr/>
        </p:nvSpPr>
        <p:spPr>
          <a:xfrm>
            <a:off x="365760" y="6446520"/>
            <a:ext cx="6858000" cy="320040"/>
          </a:xfrm>
          <a:prstGeom prst="rect">
            <a:avLst/>
          </a:prstGeom>
          <a:noFill/>
        </p:spPr>
        <p:txBody>
          <a:bodyPr wrap="square" anchor="t">
            <a:spAutoFit/>
          </a:bodyPr>
          <a:lstStyle/>
          <a:p>
            <a:pPr algn="l">
              <a:spcAft>
                <a:spcPts val="400"/>
              </a:spcAft>
            </a:pPr>
            <a:r>
              <a:rPr sz="900" b="0">
                <a:solidFill>
                  <a:srgbClr val="5B6372"/>
                </a:solidFill>
                <a:latin typeface="Arial"/>
              </a:rPr>
              <a:t>Securing the Future with Quantum Computing and Cryptography  ·  TGS-2024043419</a:t>
            </a:r>
          </a:p>
        </p:txBody>
      </p:sp>
      <p:sp>
        <p:nvSpPr>
          <p:cNvPr id="13" name="TextBox 12"/>
          <p:cNvSpPr txBox="1"/>
          <p:nvPr/>
        </p:nvSpPr>
        <p:spPr>
          <a:xfrm>
            <a:off x="4572000" y="6446520"/>
            <a:ext cx="3017520" cy="320040"/>
          </a:xfrm>
          <a:prstGeom prst="rect">
            <a:avLst/>
          </a:prstGeom>
          <a:noFill/>
        </p:spPr>
        <p:txBody>
          <a:bodyPr wrap="square" anchor="t">
            <a:spAutoFit/>
          </a:bodyPr>
          <a:lstStyle/>
          <a:p>
            <a:pPr algn="ctr">
              <a:spcAft>
                <a:spcPts val="400"/>
              </a:spcAft>
            </a:pPr>
            <a:r>
              <a:rPr sz="900" b="0">
                <a:solidFill>
                  <a:srgbClr val="5B6372"/>
                </a:solidFill>
                <a:latin typeface="Arial"/>
              </a:rPr>
              <a:t>© 2026 Tertiary Infotech Academy Pte Ltd</a:t>
            </a:r>
          </a:p>
        </p:txBody>
      </p:sp>
      <p:sp>
        <p:nvSpPr>
          <p:cNvPr id="14" name="TextBox 13"/>
          <p:cNvSpPr txBox="1"/>
          <p:nvPr/>
        </p:nvSpPr>
        <p:spPr>
          <a:xfrm>
            <a:off x="11338560" y="6446520"/>
            <a:ext cx="548640" cy="320040"/>
          </a:xfrm>
          <a:prstGeom prst="rect">
            <a:avLst/>
          </a:prstGeom>
          <a:noFill/>
        </p:spPr>
        <p:txBody>
          <a:bodyPr wrap="square" anchor="t">
            <a:spAutoFit/>
          </a:bodyPr>
          <a:lstStyle/>
          <a:p>
            <a:pPr algn="r">
              <a:spcAft>
                <a:spcPts val="400"/>
              </a:spcAft>
            </a:pPr>
            <a:r>
              <a:rPr sz="900" b="0">
                <a:solidFill>
                  <a:srgbClr val="5B6372"/>
                </a:solidFill>
                <a:latin typeface="Arial"/>
              </a:rPr>
              <a:t>70</a:t>
            </a:r>
          </a:p>
        </p:txBody>
      </p:sp>
    </p:spTree>
  </p:cSld>
  <p:clrMapOvr>
    <a:masterClrMapping/>
  </p:clrMapOvr>
</p:sld>
</file>

<file path=ppt/slides/slide72.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256032" cy="1417320"/>
          </a:xfrm>
          <a:prstGeom prst="rect">
            <a:avLst/>
          </a:prstGeom>
          <a:solidFill>
            <a:srgbClr val="7C3AE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777240" y="457200"/>
            <a:ext cx="10607040" cy="365760"/>
          </a:xfrm>
          <a:prstGeom prst="rect">
            <a:avLst/>
          </a:prstGeom>
          <a:noFill/>
        </p:spPr>
        <p:txBody>
          <a:bodyPr wrap="square" anchor="t">
            <a:spAutoFit/>
          </a:bodyPr>
          <a:lstStyle/>
          <a:p>
            <a:pPr algn="l">
              <a:spcAft>
                <a:spcPts val="400"/>
              </a:spcAft>
            </a:pPr>
            <a:r>
              <a:rPr sz="1400" b="1">
                <a:solidFill>
                  <a:srgbClr val="7C3AED"/>
                </a:solidFill>
                <a:latin typeface="Arial"/>
              </a:rPr>
              <a:t>PHASE KICKBACK  ·  STEP 3 OF 5</a:t>
            </a:r>
          </a:p>
        </p:txBody>
      </p:sp>
      <p:sp>
        <p:nvSpPr>
          <p:cNvPr id="5" name="TextBox 4"/>
          <p:cNvSpPr txBox="1"/>
          <p:nvPr/>
        </p:nvSpPr>
        <p:spPr>
          <a:xfrm>
            <a:off x="777240" y="822960"/>
            <a:ext cx="10881360" cy="822960"/>
          </a:xfrm>
          <a:prstGeom prst="rect">
            <a:avLst/>
          </a:prstGeom>
          <a:noFill/>
        </p:spPr>
        <p:txBody>
          <a:bodyPr wrap="square" anchor="t">
            <a:spAutoFit/>
          </a:bodyPr>
          <a:lstStyle/>
          <a:p>
            <a:pPr algn="l">
              <a:spcAft>
                <a:spcPts val="400"/>
              </a:spcAft>
            </a:pPr>
            <a:r>
              <a:rPr sz="2900" b="1">
                <a:solidFill>
                  <a:srgbClr val="161B26"/>
                </a:solidFill>
                <a:latin typeface="Arial"/>
              </a:rPr>
              <a:t>Step 3 — Collect the terms</a:t>
            </a:r>
          </a:p>
        </p:txBody>
      </p:sp>
      <p:sp>
        <p:nvSpPr>
          <p:cNvPr id="6" name="Rectangle 5"/>
          <p:cNvSpPr/>
          <p:nvPr/>
        </p:nvSpPr>
        <p:spPr>
          <a:xfrm>
            <a:off x="777240" y="1554480"/>
            <a:ext cx="10634472" cy="18288"/>
          </a:xfrm>
          <a:prstGeom prst="rect">
            <a:avLst/>
          </a:prstGeom>
          <a:solidFill>
            <a:srgbClr val="E2E8F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Rectangle 6"/>
          <p:cNvSpPr/>
          <p:nvPr/>
        </p:nvSpPr>
        <p:spPr>
          <a:xfrm>
            <a:off x="777240" y="1810512"/>
            <a:ext cx="10634472" cy="1389888"/>
          </a:xfrm>
          <a:prstGeom prst="rect">
            <a:avLst/>
          </a:prstGeom>
          <a:solidFill>
            <a:srgbClr val="0B122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TextBox 7"/>
          <p:cNvSpPr txBox="1"/>
          <p:nvPr/>
        </p:nvSpPr>
        <p:spPr>
          <a:xfrm>
            <a:off x="1097280" y="1956816"/>
            <a:ext cx="9994392" cy="1097280"/>
          </a:xfrm>
          <a:prstGeom prst="rect">
            <a:avLst/>
          </a:prstGeom>
          <a:noFill/>
        </p:spPr>
        <p:txBody>
          <a:bodyPr wrap="square" anchor="t">
            <a:spAutoFit/>
          </a:bodyPr>
          <a:lstStyle/>
          <a:p>
            <a:pPr algn="l">
              <a:spcAft>
                <a:spcPts val="300"/>
              </a:spcAft>
            </a:pPr>
            <a:r>
              <a:rPr sz="1550" b="0">
                <a:solidFill>
                  <a:srgbClr val="9CDCFE"/>
                </a:solidFill>
                <a:latin typeface="Arial"/>
              </a:rPr>
              <a:t>State:  (1/√2)( |0&gt;|u&gt;  +  e^(iθ) |1&gt;|u&gt; )</a:t>
            </a:r>
          </a:p>
          <a:p>
            <a:pPr algn="l">
              <a:spcAft>
                <a:spcPts val="300"/>
              </a:spcAft>
            </a:pPr>
            <a:r>
              <a:rPr sz="1550" b="0">
                <a:solidFill>
                  <a:srgbClr val="9CDCFE"/>
                </a:solidFill>
                <a:latin typeface="Arial"/>
              </a:rPr>
              <a:t>Factor the target |u&gt; out of both terms:</a:t>
            </a:r>
          </a:p>
          <a:p>
            <a:pPr algn="l">
              <a:spcAft>
                <a:spcPts val="300"/>
              </a:spcAft>
            </a:pPr>
            <a:r>
              <a:rPr sz="1550" b="0">
                <a:solidFill>
                  <a:srgbClr val="9CDCFE"/>
                </a:solidFill>
                <a:latin typeface="Arial"/>
              </a:rPr>
              <a:t>        = (1/√2)( |0&gt; + e^(iθ)|1&gt; ) (x) |u&gt;</a:t>
            </a:r>
          </a:p>
        </p:txBody>
      </p:sp>
      <p:sp>
        <p:nvSpPr>
          <p:cNvPr id="9" name="Rectangle 8"/>
          <p:cNvSpPr/>
          <p:nvPr/>
        </p:nvSpPr>
        <p:spPr>
          <a:xfrm>
            <a:off x="777240" y="3401568"/>
            <a:ext cx="10634472" cy="2651760"/>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Rectangle 9"/>
          <p:cNvSpPr/>
          <p:nvPr/>
        </p:nvSpPr>
        <p:spPr>
          <a:xfrm>
            <a:off x="777240" y="3401568"/>
            <a:ext cx="82296" cy="2651760"/>
          </a:xfrm>
          <a:prstGeom prst="rect">
            <a:avLst/>
          </a:prstGeom>
          <a:solidFill>
            <a:srgbClr val="F59E0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 name="TextBox 10"/>
          <p:cNvSpPr txBox="1"/>
          <p:nvPr/>
        </p:nvSpPr>
        <p:spPr>
          <a:xfrm>
            <a:off x="1097280" y="3401568"/>
            <a:ext cx="10149840" cy="2651760"/>
          </a:xfrm>
          <a:prstGeom prst="rect">
            <a:avLst/>
          </a:prstGeom>
          <a:noFill/>
        </p:spPr>
        <p:txBody>
          <a:bodyPr wrap="square" anchor="ctr">
            <a:spAutoFit/>
          </a:bodyPr>
          <a:lstStyle/>
          <a:p>
            <a:pPr algn="l">
              <a:spcAft>
                <a:spcPts val="400"/>
              </a:spcAft>
            </a:pPr>
            <a:r>
              <a:rPr sz="1150" b="1">
                <a:solidFill>
                  <a:srgbClr val="F59E0B"/>
                </a:solidFill>
                <a:latin typeface="Arial"/>
              </a:rPr>
              <a:t>WHY THIS STEP:  </a:t>
            </a:r>
            <a:r>
              <a:rPr sz="1300" b="0">
                <a:solidFill>
                  <a:srgbClr val="161B26"/>
                </a:solidFill>
                <a:latin typeface="Arial"/>
              </a:rPr>
              <a:t>This factorisation is the heart of the proof — the state is SEPARABLE again.</a:t>
            </a:r>
          </a:p>
        </p:txBody>
      </p:sp>
      <p:sp>
        <p:nvSpPr>
          <p:cNvPr id="12" name="TextBox 11"/>
          <p:cNvSpPr txBox="1"/>
          <p:nvPr/>
        </p:nvSpPr>
        <p:spPr>
          <a:xfrm>
            <a:off x="365760" y="6446520"/>
            <a:ext cx="6858000" cy="320040"/>
          </a:xfrm>
          <a:prstGeom prst="rect">
            <a:avLst/>
          </a:prstGeom>
          <a:noFill/>
        </p:spPr>
        <p:txBody>
          <a:bodyPr wrap="square" anchor="t">
            <a:spAutoFit/>
          </a:bodyPr>
          <a:lstStyle/>
          <a:p>
            <a:pPr algn="l">
              <a:spcAft>
                <a:spcPts val="400"/>
              </a:spcAft>
            </a:pPr>
            <a:r>
              <a:rPr sz="900" b="0">
                <a:solidFill>
                  <a:srgbClr val="5B6372"/>
                </a:solidFill>
                <a:latin typeface="Arial"/>
              </a:rPr>
              <a:t>Securing the Future with Quantum Computing and Cryptography  ·  TGS-2024043419</a:t>
            </a:r>
          </a:p>
        </p:txBody>
      </p:sp>
      <p:sp>
        <p:nvSpPr>
          <p:cNvPr id="13" name="TextBox 12"/>
          <p:cNvSpPr txBox="1"/>
          <p:nvPr/>
        </p:nvSpPr>
        <p:spPr>
          <a:xfrm>
            <a:off x="4572000" y="6446520"/>
            <a:ext cx="3017520" cy="320040"/>
          </a:xfrm>
          <a:prstGeom prst="rect">
            <a:avLst/>
          </a:prstGeom>
          <a:noFill/>
        </p:spPr>
        <p:txBody>
          <a:bodyPr wrap="square" anchor="t">
            <a:spAutoFit/>
          </a:bodyPr>
          <a:lstStyle/>
          <a:p>
            <a:pPr algn="ctr">
              <a:spcAft>
                <a:spcPts val="400"/>
              </a:spcAft>
            </a:pPr>
            <a:r>
              <a:rPr sz="900" b="0">
                <a:solidFill>
                  <a:srgbClr val="5B6372"/>
                </a:solidFill>
                <a:latin typeface="Arial"/>
              </a:rPr>
              <a:t>© 2026 Tertiary Infotech Academy Pte Ltd</a:t>
            </a:r>
          </a:p>
        </p:txBody>
      </p:sp>
      <p:sp>
        <p:nvSpPr>
          <p:cNvPr id="14" name="TextBox 13"/>
          <p:cNvSpPr txBox="1"/>
          <p:nvPr/>
        </p:nvSpPr>
        <p:spPr>
          <a:xfrm>
            <a:off x="11338560" y="6446520"/>
            <a:ext cx="548640" cy="320040"/>
          </a:xfrm>
          <a:prstGeom prst="rect">
            <a:avLst/>
          </a:prstGeom>
          <a:noFill/>
        </p:spPr>
        <p:txBody>
          <a:bodyPr wrap="square" anchor="t">
            <a:spAutoFit/>
          </a:bodyPr>
          <a:lstStyle/>
          <a:p>
            <a:pPr algn="r">
              <a:spcAft>
                <a:spcPts val="400"/>
              </a:spcAft>
            </a:pPr>
            <a:r>
              <a:rPr sz="900" b="0">
                <a:solidFill>
                  <a:srgbClr val="5B6372"/>
                </a:solidFill>
                <a:latin typeface="Arial"/>
              </a:rPr>
              <a:t>71</a:t>
            </a:r>
          </a:p>
        </p:txBody>
      </p:sp>
    </p:spTree>
  </p:cSld>
  <p:clrMapOvr>
    <a:masterClrMapping/>
  </p:clrMapOvr>
</p:sld>
</file>

<file path=ppt/slides/slide73.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256032" cy="1417320"/>
          </a:xfrm>
          <a:prstGeom prst="rect">
            <a:avLst/>
          </a:prstGeom>
          <a:solidFill>
            <a:srgbClr val="7C3AE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777240" y="457200"/>
            <a:ext cx="10607040" cy="365760"/>
          </a:xfrm>
          <a:prstGeom prst="rect">
            <a:avLst/>
          </a:prstGeom>
          <a:noFill/>
        </p:spPr>
        <p:txBody>
          <a:bodyPr wrap="square" anchor="t">
            <a:spAutoFit/>
          </a:bodyPr>
          <a:lstStyle/>
          <a:p>
            <a:pPr algn="l">
              <a:spcAft>
                <a:spcPts val="400"/>
              </a:spcAft>
            </a:pPr>
            <a:r>
              <a:rPr sz="1400" b="1">
                <a:solidFill>
                  <a:srgbClr val="7C3AED"/>
                </a:solidFill>
                <a:latin typeface="Arial"/>
              </a:rPr>
              <a:t>PHASE KICKBACK  ·  STEP 4 OF 5</a:t>
            </a:r>
          </a:p>
        </p:txBody>
      </p:sp>
      <p:sp>
        <p:nvSpPr>
          <p:cNvPr id="5" name="TextBox 4"/>
          <p:cNvSpPr txBox="1"/>
          <p:nvPr/>
        </p:nvSpPr>
        <p:spPr>
          <a:xfrm>
            <a:off x="777240" y="822960"/>
            <a:ext cx="10881360" cy="822960"/>
          </a:xfrm>
          <a:prstGeom prst="rect">
            <a:avLst/>
          </a:prstGeom>
          <a:noFill/>
        </p:spPr>
        <p:txBody>
          <a:bodyPr wrap="square" anchor="t">
            <a:spAutoFit/>
          </a:bodyPr>
          <a:lstStyle/>
          <a:p>
            <a:pPr algn="l">
              <a:spcAft>
                <a:spcPts val="400"/>
              </a:spcAft>
            </a:pPr>
            <a:r>
              <a:rPr sz="2900" b="1">
                <a:solidFill>
                  <a:srgbClr val="161B26"/>
                </a:solidFill>
                <a:latin typeface="Arial"/>
              </a:rPr>
              <a:t>Step 4 — Read off the result</a:t>
            </a:r>
          </a:p>
        </p:txBody>
      </p:sp>
      <p:sp>
        <p:nvSpPr>
          <p:cNvPr id="6" name="Rectangle 5"/>
          <p:cNvSpPr/>
          <p:nvPr/>
        </p:nvSpPr>
        <p:spPr>
          <a:xfrm>
            <a:off x="777240" y="1554480"/>
            <a:ext cx="10634472" cy="18288"/>
          </a:xfrm>
          <a:prstGeom prst="rect">
            <a:avLst/>
          </a:prstGeom>
          <a:solidFill>
            <a:srgbClr val="E2E8F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Rectangle 6"/>
          <p:cNvSpPr/>
          <p:nvPr/>
        </p:nvSpPr>
        <p:spPr>
          <a:xfrm>
            <a:off x="777240" y="1810512"/>
            <a:ext cx="10634472" cy="2011680"/>
          </a:xfrm>
          <a:prstGeom prst="rect">
            <a:avLst/>
          </a:prstGeom>
          <a:solidFill>
            <a:srgbClr val="0B122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TextBox 7"/>
          <p:cNvSpPr txBox="1"/>
          <p:nvPr/>
        </p:nvSpPr>
        <p:spPr>
          <a:xfrm>
            <a:off x="1097280" y="1956816"/>
            <a:ext cx="9994392" cy="1719072"/>
          </a:xfrm>
          <a:prstGeom prst="rect">
            <a:avLst/>
          </a:prstGeom>
          <a:noFill/>
        </p:spPr>
        <p:txBody>
          <a:bodyPr wrap="square" anchor="t">
            <a:spAutoFit/>
          </a:bodyPr>
          <a:lstStyle/>
          <a:p>
            <a:pPr algn="l">
              <a:spcAft>
                <a:spcPts val="300"/>
              </a:spcAft>
            </a:pPr>
            <a:r>
              <a:rPr sz="1550" b="0">
                <a:solidFill>
                  <a:srgbClr val="9CDCFE"/>
                </a:solidFill>
                <a:latin typeface="Arial"/>
              </a:rPr>
              <a:t>Target register:   |u&gt;       —  UNCHANGED</a:t>
            </a:r>
          </a:p>
          <a:p>
            <a:pPr algn="l">
              <a:spcAft>
                <a:spcPts val="300"/>
              </a:spcAft>
            </a:pPr>
            <a:r>
              <a:rPr sz="1550" b="0">
                <a:solidFill>
                  <a:srgbClr val="9CDCFE"/>
                </a:solidFill>
                <a:latin typeface="Arial"/>
              </a:rPr>
              <a:t>Control register:  (|0&gt; + e^(iθ)|1&gt;)/√2</a:t>
            </a:r>
          </a:p>
          <a:p>
            <a:pPr algn="l">
              <a:spcAft>
                <a:spcPts val="300"/>
              </a:spcAft>
            </a:pPr>
            <a:r>
              <a:rPr sz="1550" b="0">
                <a:solidFill>
                  <a:srgbClr val="0B1220"/>
                </a:solidFill>
                <a:latin typeface="Arial"/>
              </a:rPr>
              <a:t> </a:t>
            </a:r>
          </a:p>
          <a:p>
            <a:pPr algn="l">
              <a:spcAft>
                <a:spcPts val="300"/>
              </a:spcAft>
            </a:pPr>
            <a:r>
              <a:rPr sz="1550" b="0">
                <a:solidFill>
                  <a:srgbClr val="9CDCFE"/>
                </a:solidFill>
                <a:latin typeface="Arial"/>
              </a:rPr>
              <a:t>The phase e^(iθ), which belonged to the TARGET's eigenvalue,</a:t>
            </a:r>
          </a:p>
          <a:p>
            <a:pPr algn="l">
              <a:spcAft>
                <a:spcPts val="300"/>
              </a:spcAft>
            </a:pPr>
            <a:r>
              <a:rPr sz="1550" b="0">
                <a:solidFill>
                  <a:srgbClr val="9CDCFE"/>
                </a:solidFill>
                <a:latin typeface="Arial"/>
              </a:rPr>
              <a:t>now sits as a RELATIVE PHASE on the CONTROL qubit.</a:t>
            </a:r>
          </a:p>
        </p:txBody>
      </p:sp>
      <p:sp>
        <p:nvSpPr>
          <p:cNvPr id="9" name="Rectangle 8"/>
          <p:cNvSpPr/>
          <p:nvPr/>
        </p:nvSpPr>
        <p:spPr>
          <a:xfrm>
            <a:off x="777240" y="4023360"/>
            <a:ext cx="10634472" cy="2029968"/>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Rectangle 9"/>
          <p:cNvSpPr/>
          <p:nvPr/>
        </p:nvSpPr>
        <p:spPr>
          <a:xfrm>
            <a:off x="777240" y="4023360"/>
            <a:ext cx="82296" cy="2029968"/>
          </a:xfrm>
          <a:prstGeom prst="rect">
            <a:avLst/>
          </a:prstGeom>
          <a:solidFill>
            <a:srgbClr val="F59E0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 name="TextBox 10"/>
          <p:cNvSpPr txBox="1"/>
          <p:nvPr/>
        </p:nvSpPr>
        <p:spPr>
          <a:xfrm>
            <a:off x="1097280" y="4023360"/>
            <a:ext cx="10149840" cy="2029968"/>
          </a:xfrm>
          <a:prstGeom prst="rect">
            <a:avLst/>
          </a:prstGeom>
          <a:noFill/>
        </p:spPr>
        <p:txBody>
          <a:bodyPr wrap="square" anchor="ctr">
            <a:spAutoFit/>
          </a:bodyPr>
          <a:lstStyle/>
          <a:p>
            <a:pPr algn="l">
              <a:spcAft>
                <a:spcPts val="400"/>
              </a:spcAft>
            </a:pPr>
            <a:r>
              <a:rPr sz="1150" b="1">
                <a:solidFill>
                  <a:srgbClr val="F59E0B"/>
                </a:solidFill>
                <a:latin typeface="Arial"/>
              </a:rPr>
              <a:t>WHY THIS STEP:  </a:t>
            </a:r>
            <a:r>
              <a:rPr sz="1300" b="0">
                <a:solidFill>
                  <a:srgbClr val="161B26"/>
                </a:solidFill>
                <a:latin typeface="Arial"/>
              </a:rPr>
              <a:t>The information moved from the target to the control without the target changing.</a:t>
            </a:r>
          </a:p>
        </p:txBody>
      </p:sp>
      <p:sp>
        <p:nvSpPr>
          <p:cNvPr id="12" name="TextBox 11"/>
          <p:cNvSpPr txBox="1"/>
          <p:nvPr/>
        </p:nvSpPr>
        <p:spPr>
          <a:xfrm>
            <a:off x="365760" y="6446520"/>
            <a:ext cx="6858000" cy="320040"/>
          </a:xfrm>
          <a:prstGeom prst="rect">
            <a:avLst/>
          </a:prstGeom>
          <a:noFill/>
        </p:spPr>
        <p:txBody>
          <a:bodyPr wrap="square" anchor="t">
            <a:spAutoFit/>
          </a:bodyPr>
          <a:lstStyle/>
          <a:p>
            <a:pPr algn="l">
              <a:spcAft>
                <a:spcPts val="400"/>
              </a:spcAft>
            </a:pPr>
            <a:r>
              <a:rPr sz="900" b="0">
                <a:solidFill>
                  <a:srgbClr val="5B6372"/>
                </a:solidFill>
                <a:latin typeface="Arial"/>
              </a:rPr>
              <a:t>Securing the Future with Quantum Computing and Cryptography  ·  TGS-2024043419</a:t>
            </a:r>
          </a:p>
        </p:txBody>
      </p:sp>
      <p:sp>
        <p:nvSpPr>
          <p:cNvPr id="13" name="TextBox 12"/>
          <p:cNvSpPr txBox="1"/>
          <p:nvPr/>
        </p:nvSpPr>
        <p:spPr>
          <a:xfrm>
            <a:off x="4572000" y="6446520"/>
            <a:ext cx="3017520" cy="320040"/>
          </a:xfrm>
          <a:prstGeom prst="rect">
            <a:avLst/>
          </a:prstGeom>
          <a:noFill/>
        </p:spPr>
        <p:txBody>
          <a:bodyPr wrap="square" anchor="t">
            <a:spAutoFit/>
          </a:bodyPr>
          <a:lstStyle/>
          <a:p>
            <a:pPr algn="ctr">
              <a:spcAft>
                <a:spcPts val="400"/>
              </a:spcAft>
            </a:pPr>
            <a:r>
              <a:rPr sz="900" b="0">
                <a:solidFill>
                  <a:srgbClr val="5B6372"/>
                </a:solidFill>
                <a:latin typeface="Arial"/>
              </a:rPr>
              <a:t>© 2026 Tertiary Infotech Academy Pte Ltd</a:t>
            </a:r>
          </a:p>
        </p:txBody>
      </p:sp>
      <p:sp>
        <p:nvSpPr>
          <p:cNvPr id="14" name="TextBox 13"/>
          <p:cNvSpPr txBox="1"/>
          <p:nvPr/>
        </p:nvSpPr>
        <p:spPr>
          <a:xfrm>
            <a:off x="11338560" y="6446520"/>
            <a:ext cx="548640" cy="320040"/>
          </a:xfrm>
          <a:prstGeom prst="rect">
            <a:avLst/>
          </a:prstGeom>
          <a:noFill/>
        </p:spPr>
        <p:txBody>
          <a:bodyPr wrap="square" anchor="t">
            <a:spAutoFit/>
          </a:bodyPr>
          <a:lstStyle/>
          <a:p>
            <a:pPr algn="r">
              <a:spcAft>
                <a:spcPts val="400"/>
              </a:spcAft>
            </a:pPr>
            <a:r>
              <a:rPr sz="900" b="0">
                <a:solidFill>
                  <a:srgbClr val="5B6372"/>
                </a:solidFill>
                <a:latin typeface="Arial"/>
              </a:rPr>
              <a:t>72</a:t>
            </a:r>
          </a:p>
        </p:txBody>
      </p:sp>
    </p:spTree>
  </p:cSld>
  <p:clrMapOvr>
    <a:masterClrMapping/>
  </p:clrMapOvr>
</p:sld>
</file>

<file path=ppt/slides/slide74.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256032" cy="1417320"/>
          </a:xfrm>
          <a:prstGeom prst="rect">
            <a:avLst/>
          </a:prstGeom>
          <a:solidFill>
            <a:srgbClr val="7C3AE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777240" y="457200"/>
            <a:ext cx="10607040" cy="365760"/>
          </a:xfrm>
          <a:prstGeom prst="rect">
            <a:avLst/>
          </a:prstGeom>
          <a:noFill/>
        </p:spPr>
        <p:txBody>
          <a:bodyPr wrap="square" anchor="t">
            <a:spAutoFit/>
          </a:bodyPr>
          <a:lstStyle/>
          <a:p>
            <a:pPr algn="l">
              <a:spcAft>
                <a:spcPts val="400"/>
              </a:spcAft>
            </a:pPr>
            <a:r>
              <a:rPr sz="1400" b="1">
                <a:solidFill>
                  <a:srgbClr val="7C3AED"/>
                </a:solidFill>
                <a:latin typeface="Arial"/>
              </a:rPr>
              <a:t>PHASE KICKBACK  ·  STEP 5 OF 5</a:t>
            </a:r>
          </a:p>
        </p:txBody>
      </p:sp>
      <p:sp>
        <p:nvSpPr>
          <p:cNvPr id="5" name="TextBox 4"/>
          <p:cNvSpPr txBox="1"/>
          <p:nvPr/>
        </p:nvSpPr>
        <p:spPr>
          <a:xfrm>
            <a:off x="777240" y="822960"/>
            <a:ext cx="10881360" cy="822960"/>
          </a:xfrm>
          <a:prstGeom prst="rect">
            <a:avLst/>
          </a:prstGeom>
          <a:noFill/>
        </p:spPr>
        <p:txBody>
          <a:bodyPr wrap="square" anchor="t">
            <a:spAutoFit/>
          </a:bodyPr>
          <a:lstStyle/>
          <a:p>
            <a:pPr algn="l">
              <a:spcAft>
                <a:spcPts val="400"/>
              </a:spcAft>
            </a:pPr>
            <a:r>
              <a:rPr sz="2900" b="1">
                <a:solidFill>
                  <a:srgbClr val="161B26"/>
                </a:solidFill>
                <a:latin typeface="Arial"/>
              </a:rPr>
              <a:t>Step 5 — The oracle special case</a:t>
            </a:r>
          </a:p>
        </p:txBody>
      </p:sp>
      <p:sp>
        <p:nvSpPr>
          <p:cNvPr id="6" name="Rectangle 5"/>
          <p:cNvSpPr/>
          <p:nvPr/>
        </p:nvSpPr>
        <p:spPr>
          <a:xfrm>
            <a:off x="777240" y="1554480"/>
            <a:ext cx="10634472" cy="18288"/>
          </a:xfrm>
          <a:prstGeom prst="rect">
            <a:avLst/>
          </a:prstGeom>
          <a:solidFill>
            <a:srgbClr val="E2E8F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Rectangle 6"/>
          <p:cNvSpPr/>
          <p:nvPr/>
        </p:nvSpPr>
        <p:spPr>
          <a:xfrm>
            <a:off x="777240" y="1810512"/>
            <a:ext cx="10634472" cy="2944368"/>
          </a:xfrm>
          <a:prstGeom prst="rect">
            <a:avLst/>
          </a:prstGeom>
          <a:solidFill>
            <a:srgbClr val="0B122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TextBox 7"/>
          <p:cNvSpPr txBox="1"/>
          <p:nvPr/>
        </p:nvSpPr>
        <p:spPr>
          <a:xfrm>
            <a:off x="1097280" y="1956816"/>
            <a:ext cx="9994392" cy="2651760"/>
          </a:xfrm>
          <a:prstGeom prst="rect">
            <a:avLst/>
          </a:prstGeom>
          <a:noFill/>
        </p:spPr>
        <p:txBody>
          <a:bodyPr wrap="square" anchor="t">
            <a:spAutoFit/>
          </a:bodyPr>
          <a:lstStyle/>
          <a:p>
            <a:pPr algn="l">
              <a:spcAft>
                <a:spcPts val="300"/>
              </a:spcAft>
            </a:pPr>
            <a:r>
              <a:rPr sz="1550" b="0">
                <a:solidFill>
                  <a:srgbClr val="9CDCFE"/>
                </a:solidFill>
                <a:latin typeface="Arial"/>
              </a:rPr>
              <a:t>Take U = X (the NOT gate) and |u&gt; = |-&gt; = (|0&gt; - |1&gt;)/√2.</a:t>
            </a:r>
          </a:p>
          <a:p>
            <a:pPr algn="l">
              <a:spcAft>
                <a:spcPts val="300"/>
              </a:spcAft>
            </a:pPr>
            <a:r>
              <a:rPr sz="1550" b="0">
                <a:solidFill>
                  <a:srgbClr val="9CDCFE"/>
                </a:solidFill>
                <a:latin typeface="Arial"/>
              </a:rPr>
              <a:t>Check it is an eigenstate:   X|-&gt; = (X|0&gt; - X|1&gt;)/√2</a:t>
            </a:r>
          </a:p>
          <a:p>
            <a:pPr algn="l">
              <a:spcAft>
                <a:spcPts val="300"/>
              </a:spcAft>
            </a:pPr>
            <a:r>
              <a:rPr sz="1550" b="0">
                <a:solidFill>
                  <a:srgbClr val="9CDCFE"/>
                </a:solidFill>
                <a:latin typeface="Arial"/>
              </a:rPr>
              <a:t>                                  = (|1&gt; - |0&gt;)/√2</a:t>
            </a:r>
          </a:p>
          <a:p>
            <a:pPr algn="l">
              <a:spcAft>
                <a:spcPts val="300"/>
              </a:spcAft>
            </a:pPr>
            <a:r>
              <a:rPr sz="1550" b="0">
                <a:solidFill>
                  <a:srgbClr val="9CDCFE"/>
                </a:solidFill>
                <a:latin typeface="Arial"/>
              </a:rPr>
              <a:t>                                  = -(|0&gt; - |1&gt;)/√2  =  (-1)|-&gt;</a:t>
            </a:r>
          </a:p>
          <a:p>
            <a:pPr algn="l">
              <a:spcAft>
                <a:spcPts val="300"/>
              </a:spcAft>
            </a:pPr>
            <a:r>
              <a:rPr sz="1550" b="0">
                <a:solidFill>
                  <a:srgbClr val="9CDCFE"/>
                </a:solidFill>
                <a:latin typeface="Arial"/>
              </a:rPr>
              <a:t>So |-&gt; is an eigenvector of X with eigenvalue -1, i.e. e^(iπ).</a:t>
            </a:r>
          </a:p>
          <a:p>
            <a:pPr algn="l">
              <a:spcAft>
                <a:spcPts val="300"/>
              </a:spcAft>
            </a:pPr>
            <a:r>
              <a:rPr sz="1550" b="0">
                <a:solidFill>
                  <a:srgbClr val="0B1220"/>
                </a:solidFill>
                <a:latin typeface="Arial"/>
              </a:rPr>
              <a:t> </a:t>
            </a:r>
          </a:p>
          <a:p>
            <a:pPr algn="l">
              <a:spcAft>
                <a:spcPts val="300"/>
              </a:spcAft>
            </a:pPr>
            <a:r>
              <a:rPr sz="1550" b="0">
                <a:solidFill>
                  <a:srgbClr val="9CDCFE"/>
                </a:solidFill>
                <a:latin typeface="Arial"/>
              </a:rPr>
              <a:t>For an oracle U_f: |x&gt;|y&gt; -&gt; |x&gt;|y ⊕ f(x)&gt;, setting the target to |-&gt;:</a:t>
            </a:r>
          </a:p>
          <a:p>
            <a:pPr algn="l">
              <a:spcAft>
                <a:spcPts val="300"/>
              </a:spcAft>
            </a:pPr>
            <a:r>
              <a:rPr sz="1550" b="0">
                <a:solidFill>
                  <a:srgbClr val="9CDCFE"/>
                </a:solidFill>
                <a:latin typeface="Arial"/>
              </a:rPr>
              <a:t>   U_f |x&gt;|-&gt;  =  (-1)^f(x) |x&gt;|-&gt;</a:t>
            </a:r>
          </a:p>
        </p:txBody>
      </p:sp>
      <p:sp>
        <p:nvSpPr>
          <p:cNvPr id="9" name="Rectangle 8"/>
          <p:cNvSpPr/>
          <p:nvPr/>
        </p:nvSpPr>
        <p:spPr>
          <a:xfrm>
            <a:off x="777240" y="4956048"/>
            <a:ext cx="10634472" cy="1097280"/>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Rectangle 9"/>
          <p:cNvSpPr/>
          <p:nvPr/>
        </p:nvSpPr>
        <p:spPr>
          <a:xfrm>
            <a:off x="777240" y="4956048"/>
            <a:ext cx="82296" cy="1097280"/>
          </a:xfrm>
          <a:prstGeom prst="rect">
            <a:avLst/>
          </a:prstGeom>
          <a:solidFill>
            <a:srgbClr val="F59E0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 name="TextBox 10"/>
          <p:cNvSpPr txBox="1"/>
          <p:nvPr/>
        </p:nvSpPr>
        <p:spPr>
          <a:xfrm>
            <a:off x="1097280" y="4956048"/>
            <a:ext cx="10149840" cy="1097280"/>
          </a:xfrm>
          <a:prstGeom prst="rect">
            <a:avLst/>
          </a:prstGeom>
          <a:noFill/>
        </p:spPr>
        <p:txBody>
          <a:bodyPr wrap="square" anchor="ctr">
            <a:spAutoFit/>
          </a:bodyPr>
          <a:lstStyle/>
          <a:p>
            <a:pPr algn="l">
              <a:spcAft>
                <a:spcPts val="400"/>
              </a:spcAft>
            </a:pPr>
            <a:r>
              <a:rPr sz="1150" b="1">
                <a:solidFill>
                  <a:srgbClr val="F59E0B"/>
                </a:solidFill>
                <a:latin typeface="Arial"/>
              </a:rPr>
              <a:t>WHY THIS STEP:  </a:t>
            </a:r>
            <a:r>
              <a:rPr sz="1300" b="0">
                <a:solidFill>
                  <a:srgbClr val="161B26"/>
                </a:solidFill>
                <a:latin typeface="Arial"/>
              </a:rPr>
              <a:t>This is THE identity that powers Deutsch, Deutsch-Jozsa, Bernstein-Vazirani, Grover's oracle and quantum phase estimation.</a:t>
            </a:r>
          </a:p>
        </p:txBody>
      </p:sp>
      <p:sp>
        <p:nvSpPr>
          <p:cNvPr id="12" name="TextBox 11"/>
          <p:cNvSpPr txBox="1"/>
          <p:nvPr/>
        </p:nvSpPr>
        <p:spPr>
          <a:xfrm>
            <a:off x="365760" y="6446520"/>
            <a:ext cx="6858000" cy="320040"/>
          </a:xfrm>
          <a:prstGeom prst="rect">
            <a:avLst/>
          </a:prstGeom>
          <a:noFill/>
        </p:spPr>
        <p:txBody>
          <a:bodyPr wrap="square" anchor="t">
            <a:spAutoFit/>
          </a:bodyPr>
          <a:lstStyle/>
          <a:p>
            <a:pPr algn="l">
              <a:spcAft>
                <a:spcPts val="400"/>
              </a:spcAft>
            </a:pPr>
            <a:r>
              <a:rPr sz="900" b="0">
                <a:solidFill>
                  <a:srgbClr val="5B6372"/>
                </a:solidFill>
                <a:latin typeface="Arial"/>
              </a:rPr>
              <a:t>Securing the Future with Quantum Computing and Cryptography  ·  TGS-2024043419</a:t>
            </a:r>
          </a:p>
        </p:txBody>
      </p:sp>
      <p:sp>
        <p:nvSpPr>
          <p:cNvPr id="13" name="TextBox 12"/>
          <p:cNvSpPr txBox="1"/>
          <p:nvPr/>
        </p:nvSpPr>
        <p:spPr>
          <a:xfrm>
            <a:off x="4572000" y="6446520"/>
            <a:ext cx="3017520" cy="320040"/>
          </a:xfrm>
          <a:prstGeom prst="rect">
            <a:avLst/>
          </a:prstGeom>
          <a:noFill/>
        </p:spPr>
        <p:txBody>
          <a:bodyPr wrap="square" anchor="t">
            <a:spAutoFit/>
          </a:bodyPr>
          <a:lstStyle/>
          <a:p>
            <a:pPr algn="ctr">
              <a:spcAft>
                <a:spcPts val="400"/>
              </a:spcAft>
            </a:pPr>
            <a:r>
              <a:rPr sz="900" b="0">
                <a:solidFill>
                  <a:srgbClr val="5B6372"/>
                </a:solidFill>
                <a:latin typeface="Arial"/>
              </a:rPr>
              <a:t>© 2026 Tertiary Infotech Academy Pte Ltd</a:t>
            </a:r>
          </a:p>
        </p:txBody>
      </p:sp>
      <p:sp>
        <p:nvSpPr>
          <p:cNvPr id="14" name="TextBox 13"/>
          <p:cNvSpPr txBox="1"/>
          <p:nvPr/>
        </p:nvSpPr>
        <p:spPr>
          <a:xfrm>
            <a:off x="11338560" y="6446520"/>
            <a:ext cx="548640" cy="320040"/>
          </a:xfrm>
          <a:prstGeom prst="rect">
            <a:avLst/>
          </a:prstGeom>
          <a:noFill/>
        </p:spPr>
        <p:txBody>
          <a:bodyPr wrap="square" anchor="t">
            <a:spAutoFit/>
          </a:bodyPr>
          <a:lstStyle/>
          <a:p>
            <a:pPr algn="r">
              <a:spcAft>
                <a:spcPts val="400"/>
              </a:spcAft>
            </a:pPr>
            <a:r>
              <a:rPr sz="900" b="0">
                <a:solidFill>
                  <a:srgbClr val="5B6372"/>
                </a:solidFill>
                <a:latin typeface="Arial"/>
              </a:rPr>
              <a:t>73</a:t>
            </a:r>
          </a:p>
        </p:txBody>
      </p:sp>
    </p:spTree>
  </p:cSld>
  <p:clrMapOvr>
    <a:masterClrMapping/>
  </p:clrMapOvr>
</p:sld>
</file>

<file path=ppt/slides/slide75.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256032" cy="1417320"/>
          </a:xfrm>
          <a:prstGeom prst="rect">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777240" y="457200"/>
            <a:ext cx="10607040" cy="365760"/>
          </a:xfrm>
          <a:prstGeom prst="rect">
            <a:avLst/>
          </a:prstGeom>
          <a:noFill/>
        </p:spPr>
        <p:txBody>
          <a:bodyPr wrap="square" anchor="t">
            <a:spAutoFit/>
          </a:bodyPr>
          <a:lstStyle/>
          <a:p>
            <a:pPr algn="l">
              <a:spcAft>
                <a:spcPts val="400"/>
              </a:spcAft>
            </a:pPr>
            <a:r>
              <a:rPr sz="1400" b="1">
                <a:solidFill>
                  <a:srgbClr val="10B981"/>
                </a:solidFill>
                <a:latin typeface="Arial"/>
              </a:rPr>
              <a:t>QED</a:t>
            </a:r>
          </a:p>
        </p:txBody>
      </p:sp>
      <p:sp>
        <p:nvSpPr>
          <p:cNvPr id="5" name="TextBox 4"/>
          <p:cNvSpPr txBox="1"/>
          <p:nvPr/>
        </p:nvSpPr>
        <p:spPr>
          <a:xfrm>
            <a:off x="777240" y="822960"/>
            <a:ext cx="10881360" cy="822960"/>
          </a:xfrm>
          <a:prstGeom prst="rect">
            <a:avLst/>
          </a:prstGeom>
          <a:noFill/>
        </p:spPr>
        <p:txBody>
          <a:bodyPr wrap="square" anchor="t">
            <a:spAutoFit/>
          </a:bodyPr>
          <a:lstStyle/>
          <a:p>
            <a:pPr algn="l">
              <a:spcAft>
                <a:spcPts val="400"/>
              </a:spcAft>
            </a:pPr>
            <a:r>
              <a:rPr sz="2900" b="1">
                <a:solidFill>
                  <a:srgbClr val="161B26"/>
                </a:solidFill>
                <a:latin typeface="Arial"/>
              </a:rPr>
              <a:t>Phase Kickback — Result</a:t>
            </a:r>
          </a:p>
        </p:txBody>
      </p:sp>
      <p:sp>
        <p:nvSpPr>
          <p:cNvPr id="6" name="Rectangle 5"/>
          <p:cNvSpPr/>
          <p:nvPr/>
        </p:nvSpPr>
        <p:spPr>
          <a:xfrm>
            <a:off x="777240" y="1554480"/>
            <a:ext cx="10634472" cy="18288"/>
          </a:xfrm>
          <a:prstGeom prst="rect">
            <a:avLst/>
          </a:prstGeom>
          <a:solidFill>
            <a:srgbClr val="E2E8F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Rectangle 6"/>
          <p:cNvSpPr/>
          <p:nvPr/>
        </p:nvSpPr>
        <p:spPr>
          <a:xfrm>
            <a:off x="777240" y="1783080"/>
            <a:ext cx="10634472" cy="1828800"/>
          </a:xfrm>
          <a:prstGeom prst="rect">
            <a:avLst/>
          </a:prstGeom>
          <a:solidFill>
            <a:srgbClr val="E8F7E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Rectangle 7"/>
          <p:cNvSpPr/>
          <p:nvPr/>
        </p:nvSpPr>
        <p:spPr>
          <a:xfrm>
            <a:off x="777240" y="1783080"/>
            <a:ext cx="100584" cy="1828800"/>
          </a:xfrm>
          <a:prstGeom prst="rect">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TextBox 8"/>
          <p:cNvSpPr txBox="1"/>
          <p:nvPr/>
        </p:nvSpPr>
        <p:spPr>
          <a:xfrm>
            <a:off x="1143000" y="1965960"/>
            <a:ext cx="10058400" cy="365760"/>
          </a:xfrm>
          <a:prstGeom prst="rect">
            <a:avLst/>
          </a:prstGeom>
          <a:noFill/>
        </p:spPr>
        <p:txBody>
          <a:bodyPr wrap="square" anchor="t">
            <a:spAutoFit/>
          </a:bodyPr>
          <a:lstStyle/>
          <a:p>
            <a:pPr algn="l">
              <a:spcAft>
                <a:spcPts val="400"/>
              </a:spcAft>
            </a:pPr>
            <a:r>
              <a:rPr sz="1200" b="1">
                <a:solidFill>
                  <a:srgbClr val="127A3E"/>
                </a:solidFill>
                <a:latin typeface="Arial"/>
              </a:rPr>
              <a:t>RESULT</a:t>
            </a:r>
          </a:p>
        </p:txBody>
      </p:sp>
      <p:sp>
        <p:nvSpPr>
          <p:cNvPr id="10" name="TextBox 9"/>
          <p:cNvSpPr txBox="1"/>
          <p:nvPr/>
        </p:nvSpPr>
        <p:spPr>
          <a:xfrm>
            <a:off x="1143000" y="2377440"/>
            <a:ext cx="10058400" cy="1143000"/>
          </a:xfrm>
          <a:prstGeom prst="rect">
            <a:avLst/>
          </a:prstGeom>
          <a:noFill/>
        </p:spPr>
        <p:txBody>
          <a:bodyPr wrap="square" anchor="t">
            <a:spAutoFit/>
          </a:bodyPr>
          <a:lstStyle/>
          <a:p>
            <a:pPr algn="l">
              <a:spcAft>
                <a:spcPts val="400"/>
              </a:spcAft>
            </a:pPr>
            <a:r>
              <a:rPr sz="1550" b="1">
                <a:solidFill>
                  <a:srgbClr val="161B26"/>
                </a:solidFill>
                <a:latin typeface="Arial"/>
              </a:rPr>
              <a:t>Controlled-U on an eigenstate |u&gt; gives (|0&gt; + e^(iθ)|1&gt;)/√2 (x) |u&gt; — the eigenvalue phase is 'kicked back' onto the control. With U = X and target |-&gt;, the oracle marks inputs with the sign (-1)^f(x).</a:t>
            </a:r>
          </a:p>
        </p:txBody>
      </p:sp>
      <p:sp>
        <p:nvSpPr>
          <p:cNvPr id="11" name="Rectangle 10"/>
          <p:cNvSpPr/>
          <p:nvPr/>
        </p:nvSpPr>
        <p:spPr>
          <a:xfrm>
            <a:off x="777240" y="3840480"/>
            <a:ext cx="10634472" cy="2148840"/>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 name="Rectangle 11"/>
          <p:cNvSpPr/>
          <p:nvPr/>
        </p:nvSpPr>
        <p:spPr>
          <a:xfrm>
            <a:off x="777240" y="3840480"/>
            <a:ext cx="100584" cy="2148840"/>
          </a:xfrm>
          <a:prstGeom prst="rect">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 name="TextBox 12"/>
          <p:cNvSpPr txBox="1"/>
          <p:nvPr/>
        </p:nvSpPr>
        <p:spPr>
          <a:xfrm>
            <a:off x="1143000" y="4023360"/>
            <a:ext cx="10058400" cy="365760"/>
          </a:xfrm>
          <a:prstGeom prst="rect">
            <a:avLst/>
          </a:prstGeom>
          <a:noFill/>
        </p:spPr>
        <p:txBody>
          <a:bodyPr wrap="square" anchor="t">
            <a:spAutoFit/>
          </a:bodyPr>
          <a:lstStyle/>
          <a:p>
            <a:pPr algn="l">
              <a:spcAft>
                <a:spcPts val="400"/>
              </a:spcAft>
            </a:pPr>
            <a:r>
              <a:rPr sz="1200" b="1">
                <a:solidFill>
                  <a:srgbClr val="1F6FEB"/>
                </a:solidFill>
                <a:latin typeface="Arial"/>
              </a:rPr>
              <a:t>WHY IT MATTERS</a:t>
            </a:r>
          </a:p>
        </p:txBody>
      </p:sp>
      <p:sp>
        <p:nvSpPr>
          <p:cNvPr id="14" name="TextBox 13"/>
          <p:cNvSpPr txBox="1"/>
          <p:nvPr/>
        </p:nvSpPr>
        <p:spPr>
          <a:xfrm>
            <a:off x="1143000" y="4434840"/>
            <a:ext cx="10058400" cy="1463040"/>
          </a:xfrm>
          <a:prstGeom prst="rect">
            <a:avLst/>
          </a:prstGeom>
          <a:noFill/>
        </p:spPr>
        <p:txBody>
          <a:bodyPr wrap="square" anchor="t">
            <a:spAutoFit/>
          </a:bodyPr>
          <a:lstStyle/>
          <a:p>
            <a:pPr algn="l">
              <a:spcAft>
                <a:spcPts val="400"/>
              </a:spcAft>
            </a:pPr>
            <a:r>
              <a:rPr sz="1450" b="0">
                <a:solidFill>
                  <a:srgbClr val="161B26"/>
                </a:solidFill>
                <a:latin typeface="Arial"/>
              </a:rPr>
              <a:t>Measurement cannot see a GLOBAL phase, but a RELATIVE phase on the control is converted into a measurable amplitude by a final Hadamard. Phase kickback is how a quantum computer extracts a global property of f without evaluating f at every input.</a:t>
            </a:r>
          </a:p>
        </p:txBody>
      </p:sp>
      <p:sp>
        <p:nvSpPr>
          <p:cNvPr id="15" name="TextBox 14"/>
          <p:cNvSpPr txBox="1"/>
          <p:nvPr/>
        </p:nvSpPr>
        <p:spPr>
          <a:xfrm>
            <a:off x="365760" y="6446520"/>
            <a:ext cx="6858000" cy="320040"/>
          </a:xfrm>
          <a:prstGeom prst="rect">
            <a:avLst/>
          </a:prstGeom>
          <a:noFill/>
        </p:spPr>
        <p:txBody>
          <a:bodyPr wrap="square" anchor="t">
            <a:spAutoFit/>
          </a:bodyPr>
          <a:lstStyle/>
          <a:p>
            <a:pPr algn="l">
              <a:spcAft>
                <a:spcPts val="400"/>
              </a:spcAft>
            </a:pPr>
            <a:r>
              <a:rPr sz="900" b="0">
                <a:solidFill>
                  <a:srgbClr val="5B6372"/>
                </a:solidFill>
                <a:latin typeface="Arial"/>
              </a:rPr>
              <a:t>Securing the Future with Quantum Computing and Cryptography  ·  TGS-2024043419</a:t>
            </a:r>
          </a:p>
        </p:txBody>
      </p:sp>
      <p:sp>
        <p:nvSpPr>
          <p:cNvPr id="16" name="TextBox 15"/>
          <p:cNvSpPr txBox="1"/>
          <p:nvPr/>
        </p:nvSpPr>
        <p:spPr>
          <a:xfrm>
            <a:off x="4572000" y="6446520"/>
            <a:ext cx="3017520" cy="320040"/>
          </a:xfrm>
          <a:prstGeom prst="rect">
            <a:avLst/>
          </a:prstGeom>
          <a:noFill/>
        </p:spPr>
        <p:txBody>
          <a:bodyPr wrap="square" anchor="t">
            <a:spAutoFit/>
          </a:bodyPr>
          <a:lstStyle/>
          <a:p>
            <a:pPr algn="ctr">
              <a:spcAft>
                <a:spcPts val="400"/>
              </a:spcAft>
            </a:pPr>
            <a:r>
              <a:rPr sz="900" b="0">
                <a:solidFill>
                  <a:srgbClr val="5B6372"/>
                </a:solidFill>
                <a:latin typeface="Arial"/>
              </a:rPr>
              <a:t>© 2026 Tertiary Infotech Academy Pte Ltd</a:t>
            </a:r>
          </a:p>
        </p:txBody>
      </p:sp>
      <p:sp>
        <p:nvSpPr>
          <p:cNvPr id="17" name="TextBox 16"/>
          <p:cNvSpPr txBox="1"/>
          <p:nvPr/>
        </p:nvSpPr>
        <p:spPr>
          <a:xfrm>
            <a:off x="11338560" y="6446520"/>
            <a:ext cx="548640" cy="320040"/>
          </a:xfrm>
          <a:prstGeom prst="rect">
            <a:avLst/>
          </a:prstGeom>
          <a:noFill/>
        </p:spPr>
        <p:txBody>
          <a:bodyPr wrap="square" anchor="t">
            <a:spAutoFit/>
          </a:bodyPr>
          <a:lstStyle/>
          <a:p>
            <a:pPr algn="r">
              <a:spcAft>
                <a:spcPts val="400"/>
              </a:spcAft>
            </a:pPr>
            <a:r>
              <a:rPr sz="900" b="0">
                <a:solidFill>
                  <a:srgbClr val="5B6372"/>
                </a:solidFill>
                <a:latin typeface="Arial"/>
              </a:rPr>
              <a:t>74</a:t>
            </a:r>
          </a:p>
        </p:txBody>
      </p:sp>
    </p:spTree>
  </p:cSld>
  <p:clrMapOvr>
    <a:masterClrMapping/>
  </p:clrMapOvr>
</p:sld>
</file>

<file path=ppt/slides/slide76.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256032" cy="1417320"/>
          </a:xfrm>
          <a:prstGeom prst="rect">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777240" y="457200"/>
            <a:ext cx="10607040" cy="365760"/>
          </a:xfrm>
          <a:prstGeom prst="rect">
            <a:avLst/>
          </a:prstGeom>
          <a:noFill/>
        </p:spPr>
        <p:txBody>
          <a:bodyPr wrap="square" anchor="t">
            <a:spAutoFit/>
          </a:bodyPr>
          <a:lstStyle/>
          <a:p>
            <a:pPr algn="l">
              <a:spcAft>
                <a:spcPts val="400"/>
              </a:spcAft>
            </a:pPr>
            <a:r>
              <a:rPr sz="1400" b="1">
                <a:solidFill>
                  <a:srgbClr val="1F6FEB"/>
                </a:solidFill>
                <a:latin typeface="Arial"/>
              </a:rPr>
              <a:t>WHAT YOU'LL DO</a:t>
            </a:r>
          </a:p>
        </p:txBody>
      </p:sp>
      <p:sp>
        <p:nvSpPr>
          <p:cNvPr id="5" name="TextBox 4"/>
          <p:cNvSpPr txBox="1"/>
          <p:nvPr/>
        </p:nvSpPr>
        <p:spPr>
          <a:xfrm>
            <a:off x="777240" y="822960"/>
            <a:ext cx="10881360" cy="822960"/>
          </a:xfrm>
          <a:prstGeom prst="rect">
            <a:avLst/>
          </a:prstGeom>
          <a:noFill/>
        </p:spPr>
        <p:txBody>
          <a:bodyPr wrap="square" anchor="t">
            <a:spAutoFit/>
          </a:bodyPr>
          <a:lstStyle/>
          <a:p>
            <a:pPr algn="l">
              <a:spcAft>
                <a:spcPts val="400"/>
              </a:spcAft>
            </a:pPr>
            <a:r>
              <a:rPr sz="2900" b="1">
                <a:solidFill>
                  <a:srgbClr val="161B26"/>
                </a:solidFill>
                <a:latin typeface="Arial"/>
              </a:rPr>
              <a:t>Hands-On Activities — Quantum Gates and Circuits</a:t>
            </a:r>
          </a:p>
        </p:txBody>
      </p:sp>
      <p:sp>
        <p:nvSpPr>
          <p:cNvPr id="6" name="Rectangle 5"/>
          <p:cNvSpPr/>
          <p:nvPr/>
        </p:nvSpPr>
        <p:spPr>
          <a:xfrm>
            <a:off x="777240" y="1554480"/>
            <a:ext cx="10634472" cy="18288"/>
          </a:xfrm>
          <a:prstGeom prst="rect">
            <a:avLst/>
          </a:prstGeom>
          <a:solidFill>
            <a:srgbClr val="E2E8F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Rectangle 6"/>
          <p:cNvSpPr/>
          <p:nvPr/>
        </p:nvSpPr>
        <p:spPr>
          <a:xfrm>
            <a:off x="777240" y="1783080"/>
            <a:ext cx="3337560" cy="4297680"/>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Rectangle 7"/>
          <p:cNvSpPr/>
          <p:nvPr/>
        </p:nvSpPr>
        <p:spPr>
          <a:xfrm>
            <a:off x="777240" y="1783080"/>
            <a:ext cx="3337560" cy="109728"/>
          </a:xfrm>
          <a:prstGeom prst="rect">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TextBox 8"/>
          <p:cNvSpPr txBox="1"/>
          <p:nvPr/>
        </p:nvSpPr>
        <p:spPr>
          <a:xfrm>
            <a:off x="1005840" y="2011680"/>
            <a:ext cx="2926080" cy="548640"/>
          </a:xfrm>
          <a:prstGeom prst="rect">
            <a:avLst/>
          </a:prstGeom>
          <a:noFill/>
        </p:spPr>
        <p:txBody>
          <a:bodyPr wrap="square" anchor="t">
            <a:spAutoFit/>
          </a:bodyPr>
          <a:lstStyle/>
          <a:p>
            <a:pPr algn="l">
              <a:spcAft>
                <a:spcPts val="400"/>
              </a:spcAft>
            </a:pPr>
            <a:r>
              <a:rPr sz="1900" b="1">
                <a:solidFill>
                  <a:srgbClr val="1F6FEB"/>
                </a:solidFill>
                <a:latin typeface="Arial"/>
              </a:rPr>
              <a:t>Activity 4</a:t>
            </a:r>
          </a:p>
        </p:txBody>
      </p:sp>
      <p:sp>
        <p:nvSpPr>
          <p:cNvPr id="10" name="TextBox 9"/>
          <p:cNvSpPr txBox="1"/>
          <p:nvPr/>
        </p:nvSpPr>
        <p:spPr>
          <a:xfrm>
            <a:off x="1005840" y="2697480"/>
            <a:ext cx="2926080" cy="3108960"/>
          </a:xfrm>
          <a:prstGeom prst="rect">
            <a:avLst/>
          </a:prstGeom>
          <a:noFill/>
        </p:spPr>
        <p:txBody>
          <a:bodyPr wrap="square">
            <a:spAutoFit/>
          </a:bodyPr>
          <a:lstStyle/>
          <a:p>
            <a:pPr>
              <a:spcAft>
                <a:spcPts val="900"/>
              </a:spcAft>
            </a:pPr>
            <a:r>
              <a:rPr sz="1400">
                <a:solidFill>
                  <a:srgbClr val="161B26"/>
                </a:solidFill>
                <a:latin typeface="Arial"/>
              </a:rPr>
              <a:t>•  Building Circuits in IBM Quantum Composer</a:t>
            </a:r>
          </a:p>
        </p:txBody>
      </p:sp>
      <p:sp>
        <p:nvSpPr>
          <p:cNvPr id="11" name="Rectangle 10"/>
          <p:cNvSpPr/>
          <p:nvPr/>
        </p:nvSpPr>
        <p:spPr>
          <a:xfrm>
            <a:off x="4572000" y="1783080"/>
            <a:ext cx="3337560" cy="4297680"/>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 name="Rectangle 11"/>
          <p:cNvSpPr/>
          <p:nvPr/>
        </p:nvSpPr>
        <p:spPr>
          <a:xfrm>
            <a:off x="4572000" y="1783080"/>
            <a:ext cx="3337560" cy="109728"/>
          </a:xfrm>
          <a:prstGeom prst="rect">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 name="TextBox 12"/>
          <p:cNvSpPr txBox="1"/>
          <p:nvPr/>
        </p:nvSpPr>
        <p:spPr>
          <a:xfrm>
            <a:off x="4800600" y="2011680"/>
            <a:ext cx="2926080" cy="548640"/>
          </a:xfrm>
          <a:prstGeom prst="rect">
            <a:avLst/>
          </a:prstGeom>
          <a:noFill/>
        </p:spPr>
        <p:txBody>
          <a:bodyPr wrap="square" anchor="t">
            <a:spAutoFit/>
          </a:bodyPr>
          <a:lstStyle/>
          <a:p>
            <a:pPr algn="l">
              <a:spcAft>
                <a:spcPts val="400"/>
              </a:spcAft>
            </a:pPr>
            <a:r>
              <a:rPr sz="1900" b="1">
                <a:solidFill>
                  <a:srgbClr val="10B981"/>
                </a:solidFill>
                <a:latin typeface="Arial"/>
              </a:rPr>
              <a:t>Activity 5</a:t>
            </a:r>
          </a:p>
        </p:txBody>
      </p:sp>
      <p:sp>
        <p:nvSpPr>
          <p:cNvPr id="14" name="TextBox 13"/>
          <p:cNvSpPr txBox="1"/>
          <p:nvPr/>
        </p:nvSpPr>
        <p:spPr>
          <a:xfrm>
            <a:off x="4800600" y="2697480"/>
            <a:ext cx="2926080" cy="3108960"/>
          </a:xfrm>
          <a:prstGeom prst="rect">
            <a:avLst/>
          </a:prstGeom>
          <a:noFill/>
        </p:spPr>
        <p:txBody>
          <a:bodyPr wrap="square">
            <a:spAutoFit/>
          </a:bodyPr>
          <a:lstStyle/>
          <a:p>
            <a:pPr>
              <a:spcAft>
                <a:spcPts val="900"/>
              </a:spcAft>
            </a:pPr>
            <a:r>
              <a:rPr sz="1400">
                <a:solidFill>
                  <a:srgbClr val="161B26"/>
                </a:solidFill>
                <a:latin typeface="Arial"/>
              </a:rPr>
              <a:t>•  Quantum Gates and Bell/GHZ States with PennyLane</a:t>
            </a:r>
          </a:p>
        </p:txBody>
      </p:sp>
      <p:sp>
        <p:nvSpPr>
          <p:cNvPr id="15" name="Rectangle 14"/>
          <p:cNvSpPr/>
          <p:nvPr/>
        </p:nvSpPr>
        <p:spPr>
          <a:xfrm>
            <a:off x="8366760" y="1783080"/>
            <a:ext cx="3337560" cy="4297680"/>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6" name="Rectangle 15"/>
          <p:cNvSpPr/>
          <p:nvPr/>
        </p:nvSpPr>
        <p:spPr>
          <a:xfrm>
            <a:off x="8366760" y="1783080"/>
            <a:ext cx="3337560" cy="109728"/>
          </a:xfrm>
          <a:prstGeom prst="rect">
            <a:avLst/>
          </a:prstGeom>
          <a:solidFill>
            <a:srgbClr val="7C3AE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7" name="TextBox 16"/>
          <p:cNvSpPr txBox="1"/>
          <p:nvPr/>
        </p:nvSpPr>
        <p:spPr>
          <a:xfrm>
            <a:off x="8595360" y="2011680"/>
            <a:ext cx="2926080" cy="548640"/>
          </a:xfrm>
          <a:prstGeom prst="rect">
            <a:avLst/>
          </a:prstGeom>
          <a:noFill/>
        </p:spPr>
        <p:txBody>
          <a:bodyPr wrap="square" anchor="t">
            <a:spAutoFit/>
          </a:bodyPr>
          <a:lstStyle/>
          <a:p>
            <a:pPr algn="l">
              <a:spcAft>
                <a:spcPts val="400"/>
              </a:spcAft>
            </a:pPr>
            <a:r>
              <a:rPr sz="1900" b="1">
                <a:solidFill>
                  <a:srgbClr val="7C3AED"/>
                </a:solidFill>
                <a:latin typeface="Arial"/>
              </a:rPr>
              <a:t>—</a:t>
            </a:r>
          </a:p>
        </p:txBody>
      </p:sp>
      <p:sp>
        <p:nvSpPr>
          <p:cNvPr id="18" name="TextBox 17"/>
          <p:cNvSpPr txBox="1"/>
          <p:nvPr/>
        </p:nvSpPr>
        <p:spPr>
          <a:xfrm>
            <a:off x="8595360" y="2697480"/>
            <a:ext cx="2926080" cy="3108960"/>
          </a:xfrm>
          <a:prstGeom prst="rect">
            <a:avLst/>
          </a:prstGeom>
          <a:noFill/>
        </p:spPr>
        <p:txBody>
          <a:bodyPr wrap="square">
            <a:spAutoFit/>
          </a:bodyPr>
          <a:lstStyle/>
          <a:p>
            <a:pPr>
              <a:spcAft>
                <a:spcPts val="900"/>
              </a:spcAft>
            </a:pPr>
            <a:r>
              <a:rPr sz="1400">
                <a:solidFill>
                  <a:srgbClr val="161B26"/>
                </a:solidFill>
                <a:latin typeface="Arial"/>
              </a:rPr>
              <a:t>•  —</a:t>
            </a:r>
          </a:p>
        </p:txBody>
      </p:sp>
      <p:sp>
        <p:nvSpPr>
          <p:cNvPr id="19" name="TextBox 18"/>
          <p:cNvSpPr txBox="1"/>
          <p:nvPr/>
        </p:nvSpPr>
        <p:spPr>
          <a:xfrm>
            <a:off x="365760" y="6446520"/>
            <a:ext cx="6858000" cy="320040"/>
          </a:xfrm>
          <a:prstGeom prst="rect">
            <a:avLst/>
          </a:prstGeom>
          <a:noFill/>
        </p:spPr>
        <p:txBody>
          <a:bodyPr wrap="square" anchor="t">
            <a:spAutoFit/>
          </a:bodyPr>
          <a:lstStyle/>
          <a:p>
            <a:pPr algn="l">
              <a:spcAft>
                <a:spcPts val="400"/>
              </a:spcAft>
            </a:pPr>
            <a:r>
              <a:rPr sz="900" b="0">
                <a:solidFill>
                  <a:srgbClr val="5B6372"/>
                </a:solidFill>
                <a:latin typeface="Arial"/>
              </a:rPr>
              <a:t>Securing the Future with Quantum Computing and Cryptography  ·  TGS-2024043419</a:t>
            </a:r>
          </a:p>
        </p:txBody>
      </p:sp>
      <p:sp>
        <p:nvSpPr>
          <p:cNvPr id="20" name="TextBox 19"/>
          <p:cNvSpPr txBox="1"/>
          <p:nvPr/>
        </p:nvSpPr>
        <p:spPr>
          <a:xfrm>
            <a:off x="4572000" y="6446520"/>
            <a:ext cx="3017520" cy="320040"/>
          </a:xfrm>
          <a:prstGeom prst="rect">
            <a:avLst/>
          </a:prstGeom>
          <a:noFill/>
        </p:spPr>
        <p:txBody>
          <a:bodyPr wrap="square" anchor="t">
            <a:spAutoFit/>
          </a:bodyPr>
          <a:lstStyle/>
          <a:p>
            <a:pPr algn="ctr">
              <a:spcAft>
                <a:spcPts val="400"/>
              </a:spcAft>
            </a:pPr>
            <a:r>
              <a:rPr sz="900" b="0">
                <a:solidFill>
                  <a:srgbClr val="5B6372"/>
                </a:solidFill>
                <a:latin typeface="Arial"/>
              </a:rPr>
              <a:t>© 2026 Tertiary Infotech Academy Pte Ltd</a:t>
            </a:r>
          </a:p>
        </p:txBody>
      </p:sp>
      <p:sp>
        <p:nvSpPr>
          <p:cNvPr id="21" name="TextBox 20"/>
          <p:cNvSpPr txBox="1"/>
          <p:nvPr/>
        </p:nvSpPr>
        <p:spPr>
          <a:xfrm>
            <a:off x="11338560" y="6446520"/>
            <a:ext cx="548640" cy="320040"/>
          </a:xfrm>
          <a:prstGeom prst="rect">
            <a:avLst/>
          </a:prstGeom>
          <a:noFill/>
        </p:spPr>
        <p:txBody>
          <a:bodyPr wrap="square" anchor="t">
            <a:spAutoFit/>
          </a:bodyPr>
          <a:lstStyle/>
          <a:p>
            <a:pPr algn="r">
              <a:spcAft>
                <a:spcPts val="400"/>
              </a:spcAft>
            </a:pPr>
            <a:r>
              <a:rPr sz="900" b="0">
                <a:solidFill>
                  <a:srgbClr val="5B6372"/>
                </a:solidFill>
                <a:latin typeface="Arial"/>
              </a:rPr>
              <a:t>75</a:t>
            </a:r>
          </a:p>
        </p:txBody>
      </p:sp>
    </p:spTree>
  </p:cSld>
  <p:clrMapOvr>
    <a:masterClrMapping/>
  </p:clrMapOvr>
</p:sld>
</file>

<file path=ppt/slides/slide77.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256032" cy="1417320"/>
          </a:xfrm>
          <a:prstGeom prst="rect">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777240" y="457200"/>
            <a:ext cx="10607040" cy="365760"/>
          </a:xfrm>
          <a:prstGeom prst="rect">
            <a:avLst/>
          </a:prstGeom>
          <a:noFill/>
        </p:spPr>
        <p:txBody>
          <a:bodyPr wrap="square" anchor="t">
            <a:spAutoFit/>
          </a:bodyPr>
          <a:lstStyle/>
          <a:p>
            <a:pPr algn="l">
              <a:spcAft>
                <a:spcPts val="400"/>
              </a:spcAft>
            </a:pPr>
            <a:r>
              <a:rPr sz="1400" b="1">
                <a:solidFill>
                  <a:srgbClr val="10B981"/>
                </a:solidFill>
                <a:latin typeface="Arial"/>
              </a:rPr>
              <a:t>TOPIC 03 · HANDS-ON ACTIVITY</a:t>
            </a:r>
          </a:p>
        </p:txBody>
      </p:sp>
      <p:sp>
        <p:nvSpPr>
          <p:cNvPr id="5" name="TextBox 4"/>
          <p:cNvSpPr txBox="1"/>
          <p:nvPr/>
        </p:nvSpPr>
        <p:spPr>
          <a:xfrm>
            <a:off x="777240" y="822960"/>
            <a:ext cx="10881360" cy="822960"/>
          </a:xfrm>
          <a:prstGeom prst="rect">
            <a:avLst/>
          </a:prstGeom>
          <a:noFill/>
        </p:spPr>
        <p:txBody>
          <a:bodyPr wrap="square" anchor="t">
            <a:spAutoFit/>
          </a:bodyPr>
          <a:lstStyle/>
          <a:p>
            <a:pPr algn="l">
              <a:spcAft>
                <a:spcPts val="400"/>
              </a:spcAft>
            </a:pPr>
            <a:r>
              <a:rPr sz="2900" b="1">
                <a:solidFill>
                  <a:srgbClr val="161B26"/>
                </a:solidFill>
                <a:latin typeface="Arial"/>
              </a:rPr>
              <a:t>Building Circuits in IBM Quantum Composer</a:t>
            </a:r>
          </a:p>
        </p:txBody>
      </p:sp>
      <p:sp>
        <p:nvSpPr>
          <p:cNvPr id="6" name="Rectangle 5"/>
          <p:cNvSpPr/>
          <p:nvPr/>
        </p:nvSpPr>
        <p:spPr>
          <a:xfrm>
            <a:off x="777240" y="1554480"/>
            <a:ext cx="10634472" cy="18288"/>
          </a:xfrm>
          <a:prstGeom prst="rect">
            <a:avLst/>
          </a:prstGeom>
          <a:solidFill>
            <a:srgbClr val="E2E8F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Rectangle 6"/>
          <p:cNvSpPr/>
          <p:nvPr/>
        </p:nvSpPr>
        <p:spPr>
          <a:xfrm>
            <a:off x="9646920" y="457200"/>
            <a:ext cx="1783080" cy="457200"/>
          </a:xfrm>
          <a:prstGeom prst="rect">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TextBox 7"/>
          <p:cNvSpPr txBox="1"/>
          <p:nvPr/>
        </p:nvSpPr>
        <p:spPr>
          <a:xfrm>
            <a:off x="9646920" y="457200"/>
            <a:ext cx="1783080" cy="457200"/>
          </a:xfrm>
          <a:prstGeom prst="rect">
            <a:avLst/>
          </a:prstGeom>
          <a:noFill/>
        </p:spPr>
        <p:txBody>
          <a:bodyPr wrap="square" anchor="ctr">
            <a:spAutoFit/>
          </a:bodyPr>
          <a:lstStyle/>
          <a:p>
            <a:pPr algn="ctr">
              <a:spcAft>
                <a:spcPts val="400"/>
              </a:spcAft>
            </a:pPr>
            <a:r>
              <a:rPr sz="1300" b="1">
                <a:solidFill>
                  <a:srgbClr val="FFFFFF"/>
                </a:solidFill>
                <a:latin typeface="Arial"/>
              </a:rPr>
              <a:t>ACTIVITY 4</a:t>
            </a:r>
          </a:p>
        </p:txBody>
      </p:sp>
      <p:sp>
        <p:nvSpPr>
          <p:cNvPr id="9" name="TextBox 8"/>
          <p:cNvSpPr txBox="1"/>
          <p:nvPr/>
        </p:nvSpPr>
        <p:spPr>
          <a:xfrm>
            <a:off x="777240" y="1828800"/>
            <a:ext cx="10607040" cy="1051560"/>
          </a:xfrm>
          <a:prstGeom prst="rect">
            <a:avLst/>
          </a:prstGeom>
          <a:noFill/>
        </p:spPr>
        <p:txBody>
          <a:bodyPr wrap="square" anchor="t">
            <a:spAutoFit/>
          </a:bodyPr>
          <a:lstStyle/>
          <a:p>
            <a:pPr algn="l">
              <a:spcAft>
                <a:spcPts val="400"/>
              </a:spcAft>
            </a:pPr>
            <a:r>
              <a:rPr sz="1700" b="0">
                <a:solidFill>
                  <a:srgbClr val="161B26"/>
                </a:solidFill>
                <a:latin typeface="Arial"/>
              </a:rPr>
              <a:t>Use the drag-and-drop IBM Quantum Composer to build single- and multi-qubit circuits, watch the state vector and probability panels update live, and export the circuit as OpenQASM.</a:t>
            </a:r>
          </a:p>
        </p:txBody>
      </p:sp>
      <p:sp>
        <p:nvSpPr>
          <p:cNvPr id="10" name="Rectangle 9"/>
          <p:cNvSpPr/>
          <p:nvPr/>
        </p:nvSpPr>
        <p:spPr>
          <a:xfrm>
            <a:off x="777240" y="2971800"/>
            <a:ext cx="10634472" cy="457200"/>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 name="TextBox 10"/>
          <p:cNvSpPr txBox="1"/>
          <p:nvPr/>
        </p:nvSpPr>
        <p:spPr>
          <a:xfrm>
            <a:off x="960120" y="2971800"/>
            <a:ext cx="10241280" cy="457200"/>
          </a:xfrm>
          <a:prstGeom prst="rect">
            <a:avLst/>
          </a:prstGeom>
          <a:noFill/>
        </p:spPr>
        <p:txBody>
          <a:bodyPr wrap="square" anchor="ctr">
            <a:spAutoFit/>
          </a:bodyPr>
          <a:lstStyle/>
          <a:p>
            <a:pPr algn="l">
              <a:spcAft>
                <a:spcPts val="400"/>
              </a:spcAft>
            </a:pPr>
            <a:r>
              <a:rPr sz="1100" b="1">
                <a:solidFill>
                  <a:srgbClr val="1F6FEB"/>
                </a:solidFill>
                <a:latin typeface="Arial"/>
              </a:rPr>
              <a:t>MAPS TO  </a:t>
            </a:r>
            <a:r>
              <a:rPr sz="1250" b="0">
                <a:solidFill>
                  <a:srgbClr val="161B26"/>
                </a:solidFill>
                <a:latin typeface="Arial"/>
              </a:rPr>
              <a:t>LO5 — Spearhead the application of quantum gates to quantum computing domains</a:t>
            </a:r>
          </a:p>
        </p:txBody>
      </p:sp>
      <p:sp>
        <p:nvSpPr>
          <p:cNvPr id="12" name="Rectangle 11"/>
          <p:cNvSpPr/>
          <p:nvPr/>
        </p:nvSpPr>
        <p:spPr>
          <a:xfrm>
            <a:off x="777240" y="3611880"/>
            <a:ext cx="10634472" cy="1234440"/>
          </a:xfrm>
          <a:prstGeom prst="rect">
            <a:avLst/>
          </a:prstGeom>
          <a:solidFill>
            <a:srgbClr val="E8F7E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 name="TextBox 12"/>
          <p:cNvSpPr txBox="1"/>
          <p:nvPr/>
        </p:nvSpPr>
        <p:spPr>
          <a:xfrm>
            <a:off x="1051560" y="3767328"/>
            <a:ext cx="10058400" cy="365760"/>
          </a:xfrm>
          <a:prstGeom prst="rect">
            <a:avLst/>
          </a:prstGeom>
          <a:noFill/>
        </p:spPr>
        <p:txBody>
          <a:bodyPr wrap="square" anchor="t">
            <a:spAutoFit/>
          </a:bodyPr>
          <a:lstStyle/>
          <a:p>
            <a:pPr algn="l">
              <a:spcAft>
                <a:spcPts val="400"/>
              </a:spcAft>
            </a:pPr>
            <a:r>
              <a:rPr sz="1200" b="1">
                <a:solidFill>
                  <a:srgbClr val="127A3E"/>
                </a:solidFill>
                <a:latin typeface="Arial"/>
              </a:rPr>
              <a:t>YOU'LL PRODUCE</a:t>
            </a:r>
          </a:p>
        </p:txBody>
      </p:sp>
      <p:sp>
        <p:nvSpPr>
          <p:cNvPr id="14" name="TextBox 13"/>
          <p:cNvSpPr txBox="1"/>
          <p:nvPr/>
        </p:nvSpPr>
        <p:spPr>
          <a:xfrm>
            <a:off x="1051560" y="4133087"/>
            <a:ext cx="10058400" cy="640080"/>
          </a:xfrm>
          <a:prstGeom prst="rect">
            <a:avLst/>
          </a:prstGeom>
          <a:noFill/>
        </p:spPr>
        <p:txBody>
          <a:bodyPr wrap="square" anchor="t">
            <a:spAutoFit/>
          </a:bodyPr>
          <a:lstStyle/>
          <a:p>
            <a:pPr algn="l">
              <a:spcAft>
                <a:spcPts val="400"/>
              </a:spcAft>
            </a:pPr>
            <a:r>
              <a:rPr sz="1550" b="1">
                <a:solidFill>
                  <a:srgbClr val="161B26"/>
                </a:solidFill>
                <a:latin typeface="Arial"/>
              </a:rPr>
              <a:t>A set of Composer circuits (X, H, CNOT, Bell state) with their statevector output, exported as OpenQASM 3 code.</a:t>
            </a:r>
          </a:p>
        </p:txBody>
      </p:sp>
      <p:sp>
        <p:nvSpPr>
          <p:cNvPr id="15" name="Rectangle 14"/>
          <p:cNvSpPr/>
          <p:nvPr/>
        </p:nvSpPr>
        <p:spPr>
          <a:xfrm>
            <a:off x="777240" y="5029200"/>
            <a:ext cx="10634472" cy="960120"/>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6" name="TextBox 15"/>
          <p:cNvSpPr txBox="1"/>
          <p:nvPr/>
        </p:nvSpPr>
        <p:spPr>
          <a:xfrm>
            <a:off x="1051560" y="5138928"/>
            <a:ext cx="10058400" cy="365760"/>
          </a:xfrm>
          <a:prstGeom prst="rect">
            <a:avLst/>
          </a:prstGeom>
          <a:noFill/>
        </p:spPr>
        <p:txBody>
          <a:bodyPr wrap="square" anchor="t">
            <a:spAutoFit/>
          </a:bodyPr>
          <a:lstStyle/>
          <a:p>
            <a:pPr algn="l">
              <a:spcAft>
                <a:spcPts val="400"/>
              </a:spcAft>
            </a:pPr>
            <a:r>
              <a:rPr sz="1200" b="1">
                <a:solidFill>
                  <a:srgbClr val="5B6372"/>
                </a:solidFill>
                <a:latin typeface="Arial"/>
              </a:rPr>
              <a:t>Tools:  </a:t>
            </a:r>
            <a:r>
              <a:rPr sz="1200" b="0">
                <a:solidFill>
                  <a:srgbClr val="5B6372"/>
                </a:solidFill>
                <a:latin typeface="Arial"/>
              </a:rPr>
              <a:t>IBM Quantum Composer, OpenQASM 3</a:t>
            </a:r>
          </a:p>
        </p:txBody>
      </p:sp>
      <p:sp>
        <p:nvSpPr>
          <p:cNvPr id="17" name="TextBox 16"/>
          <p:cNvSpPr txBox="1"/>
          <p:nvPr/>
        </p:nvSpPr>
        <p:spPr>
          <a:xfrm>
            <a:off x="1051560" y="5504688"/>
            <a:ext cx="10058400" cy="365760"/>
          </a:xfrm>
          <a:prstGeom prst="rect">
            <a:avLst/>
          </a:prstGeom>
          <a:noFill/>
        </p:spPr>
        <p:txBody>
          <a:bodyPr wrap="square" anchor="t">
            <a:spAutoFit/>
          </a:bodyPr>
          <a:lstStyle/>
          <a:p>
            <a:pPr algn="l">
              <a:spcAft>
                <a:spcPts val="400"/>
              </a:spcAft>
            </a:pPr>
            <a:r>
              <a:rPr sz="1200" b="1">
                <a:solidFill>
                  <a:srgbClr val="1F6FEB"/>
                </a:solidFill>
                <a:latin typeface="Arial"/>
              </a:rPr>
              <a:t>Full step-by-step guide:  </a:t>
            </a:r>
            <a:r>
              <a:rPr sz="1200" b="0">
                <a:solidFill>
                  <a:srgbClr val="161B26"/>
                </a:solidFill>
                <a:latin typeface="Arial"/>
              </a:rPr>
              <a:t>Learner Guide — Activity 4: Building Circuits in IBM Quantum Composer</a:t>
            </a:r>
          </a:p>
        </p:txBody>
      </p:sp>
      <p:sp>
        <p:nvSpPr>
          <p:cNvPr id="18" name="TextBox 17"/>
          <p:cNvSpPr txBox="1"/>
          <p:nvPr/>
        </p:nvSpPr>
        <p:spPr>
          <a:xfrm>
            <a:off x="365760" y="6446520"/>
            <a:ext cx="6858000" cy="320040"/>
          </a:xfrm>
          <a:prstGeom prst="rect">
            <a:avLst/>
          </a:prstGeom>
          <a:noFill/>
        </p:spPr>
        <p:txBody>
          <a:bodyPr wrap="square" anchor="t">
            <a:spAutoFit/>
          </a:bodyPr>
          <a:lstStyle/>
          <a:p>
            <a:pPr algn="l">
              <a:spcAft>
                <a:spcPts val="400"/>
              </a:spcAft>
            </a:pPr>
            <a:r>
              <a:rPr sz="900" b="0">
                <a:solidFill>
                  <a:srgbClr val="5B6372"/>
                </a:solidFill>
                <a:latin typeface="Arial"/>
              </a:rPr>
              <a:t>Securing the Future with Quantum Computing and Cryptography  ·  TGS-2024043419</a:t>
            </a:r>
          </a:p>
        </p:txBody>
      </p:sp>
      <p:sp>
        <p:nvSpPr>
          <p:cNvPr id="19" name="TextBox 18"/>
          <p:cNvSpPr txBox="1"/>
          <p:nvPr/>
        </p:nvSpPr>
        <p:spPr>
          <a:xfrm>
            <a:off x="4572000" y="6446520"/>
            <a:ext cx="3017520" cy="320040"/>
          </a:xfrm>
          <a:prstGeom prst="rect">
            <a:avLst/>
          </a:prstGeom>
          <a:noFill/>
        </p:spPr>
        <p:txBody>
          <a:bodyPr wrap="square" anchor="t">
            <a:spAutoFit/>
          </a:bodyPr>
          <a:lstStyle/>
          <a:p>
            <a:pPr algn="ctr">
              <a:spcAft>
                <a:spcPts val="400"/>
              </a:spcAft>
            </a:pPr>
            <a:r>
              <a:rPr sz="900" b="0">
                <a:solidFill>
                  <a:srgbClr val="5B6372"/>
                </a:solidFill>
                <a:latin typeface="Arial"/>
              </a:rPr>
              <a:t>© 2026 Tertiary Infotech Academy Pte Ltd</a:t>
            </a:r>
          </a:p>
        </p:txBody>
      </p:sp>
      <p:sp>
        <p:nvSpPr>
          <p:cNvPr id="20" name="TextBox 19"/>
          <p:cNvSpPr txBox="1"/>
          <p:nvPr/>
        </p:nvSpPr>
        <p:spPr>
          <a:xfrm>
            <a:off x="11338560" y="6446520"/>
            <a:ext cx="548640" cy="320040"/>
          </a:xfrm>
          <a:prstGeom prst="rect">
            <a:avLst/>
          </a:prstGeom>
          <a:noFill/>
        </p:spPr>
        <p:txBody>
          <a:bodyPr wrap="square" anchor="t">
            <a:spAutoFit/>
          </a:bodyPr>
          <a:lstStyle/>
          <a:p>
            <a:pPr algn="r">
              <a:spcAft>
                <a:spcPts val="400"/>
              </a:spcAft>
            </a:pPr>
            <a:r>
              <a:rPr sz="900" b="0">
                <a:solidFill>
                  <a:srgbClr val="5B6372"/>
                </a:solidFill>
                <a:latin typeface="Arial"/>
              </a:rPr>
              <a:t>76</a:t>
            </a:r>
          </a:p>
        </p:txBody>
      </p:sp>
    </p:spTree>
  </p:cSld>
  <p:clrMapOvr>
    <a:masterClrMapping/>
  </p:clrMapOvr>
</p:sld>
</file>

<file path=ppt/slides/slide78.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256032" cy="1417320"/>
          </a:xfrm>
          <a:prstGeom prst="rect">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777240" y="457200"/>
            <a:ext cx="10607040" cy="365760"/>
          </a:xfrm>
          <a:prstGeom prst="rect">
            <a:avLst/>
          </a:prstGeom>
          <a:noFill/>
        </p:spPr>
        <p:txBody>
          <a:bodyPr wrap="square" anchor="t">
            <a:spAutoFit/>
          </a:bodyPr>
          <a:lstStyle/>
          <a:p>
            <a:pPr algn="l">
              <a:spcAft>
                <a:spcPts val="400"/>
              </a:spcAft>
            </a:pPr>
            <a:r>
              <a:rPr sz="1400" b="1">
                <a:solidFill>
                  <a:srgbClr val="10B981"/>
                </a:solidFill>
                <a:latin typeface="Arial"/>
              </a:rPr>
              <a:t>ACTIVITY 4 · VERIFY &amp; DEBRIEF</a:t>
            </a:r>
          </a:p>
        </p:txBody>
      </p:sp>
      <p:sp>
        <p:nvSpPr>
          <p:cNvPr id="5" name="TextBox 4"/>
          <p:cNvSpPr txBox="1"/>
          <p:nvPr/>
        </p:nvSpPr>
        <p:spPr>
          <a:xfrm>
            <a:off x="777240" y="822960"/>
            <a:ext cx="10881360" cy="822960"/>
          </a:xfrm>
          <a:prstGeom prst="rect">
            <a:avLst/>
          </a:prstGeom>
          <a:noFill/>
        </p:spPr>
        <p:txBody>
          <a:bodyPr wrap="square" anchor="t">
            <a:spAutoFit/>
          </a:bodyPr>
          <a:lstStyle/>
          <a:p>
            <a:pPr algn="l">
              <a:spcAft>
                <a:spcPts val="400"/>
              </a:spcAft>
            </a:pPr>
            <a:r>
              <a:rPr sz="2900" b="1">
                <a:solidFill>
                  <a:srgbClr val="161B26"/>
                </a:solidFill>
                <a:latin typeface="Arial"/>
              </a:rPr>
              <a:t>Building Circuits in IBM Quantum Composer</a:t>
            </a:r>
          </a:p>
        </p:txBody>
      </p:sp>
      <p:sp>
        <p:nvSpPr>
          <p:cNvPr id="6" name="Rectangle 5"/>
          <p:cNvSpPr/>
          <p:nvPr/>
        </p:nvSpPr>
        <p:spPr>
          <a:xfrm>
            <a:off x="777240" y="1554480"/>
            <a:ext cx="10634472" cy="18288"/>
          </a:xfrm>
          <a:prstGeom prst="rect">
            <a:avLst/>
          </a:prstGeom>
          <a:solidFill>
            <a:srgbClr val="E2E8F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Rectangle 6"/>
          <p:cNvSpPr/>
          <p:nvPr/>
        </p:nvSpPr>
        <p:spPr>
          <a:xfrm>
            <a:off x="777240" y="1783080"/>
            <a:ext cx="10634472" cy="2148840"/>
          </a:xfrm>
          <a:prstGeom prst="rect">
            <a:avLst/>
          </a:prstGeom>
          <a:solidFill>
            <a:srgbClr val="E8F7E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Rectangle 7"/>
          <p:cNvSpPr/>
          <p:nvPr/>
        </p:nvSpPr>
        <p:spPr>
          <a:xfrm>
            <a:off x="777240" y="1783080"/>
            <a:ext cx="100584" cy="2148840"/>
          </a:xfrm>
          <a:prstGeom prst="rect">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TextBox 8"/>
          <p:cNvSpPr txBox="1"/>
          <p:nvPr/>
        </p:nvSpPr>
        <p:spPr>
          <a:xfrm>
            <a:off x="1143000" y="1965960"/>
            <a:ext cx="10058400" cy="411480"/>
          </a:xfrm>
          <a:prstGeom prst="rect">
            <a:avLst/>
          </a:prstGeom>
          <a:noFill/>
        </p:spPr>
        <p:txBody>
          <a:bodyPr wrap="square" anchor="t">
            <a:spAutoFit/>
          </a:bodyPr>
          <a:lstStyle/>
          <a:p>
            <a:pPr algn="l">
              <a:spcAft>
                <a:spcPts val="400"/>
              </a:spcAft>
            </a:pPr>
            <a:r>
              <a:rPr sz="1300" b="1">
                <a:solidFill>
                  <a:srgbClr val="127A3E"/>
                </a:solidFill>
                <a:latin typeface="Arial"/>
              </a:rPr>
              <a:t>TEST IT — HOW YOU KNOW IT WORKED</a:t>
            </a:r>
          </a:p>
        </p:txBody>
      </p:sp>
      <p:sp>
        <p:nvSpPr>
          <p:cNvPr id="10" name="TextBox 9"/>
          <p:cNvSpPr txBox="1"/>
          <p:nvPr/>
        </p:nvSpPr>
        <p:spPr>
          <a:xfrm>
            <a:off x="1143000" y="2423160"/>
            <a:ext cx="10058400" cy="1371600"/>
          </a:xfrm>
          <a:prstGeom prst="rect">
            <a:avLst/>
          </a:prstGeom>
          <a:noFill/>
        </p:spPr>
        <p:txBody>
          <a:bodyPr wrap="square" anchor="t">
            <a:spAutoFit/>
          </a:bodyPr>
          <a:lstStyle/>
          <a:p>
            <a:pPr algn="l">
              <a:spcAft>
                <a:spcPts val="400"/>
              </a:spcAft>
            </a:pPr>
            <a:r>
              <a:rPr sz="1600" b="0">
                <a:solidFill>
                  <a:srgbClr val="161B26"/>
                </a:solidFill>
                <a:latin typeface="Arial"/>
              </a:rPr>
              <a:t>The Composer probability panel shows a 50/50 split between |00&gt; and |11&gt; for the Bell circuit, and the exported OpenQASM contains an h instruction followed by a cx instruction.</a:t>
            </a:r>
          </a:p>
        </p:txBody>
      </p:sp>
      <p:sp>
        <p:nvSpPr>
          <p:cNvPr id="11" name="TextBox 10"/>
          <p:cNvSpPr txBox="1"/>
          <p:nvPr/>
        </p:nvSpPr>
        <p:spPr>
          <a:xfrm>
            <a:off x="777240" y="4096512"/>
            <a:ext cx="10607040" cy="365760"/>
          </a:xfrm>
          <a:prstGeom prst="rect">
            <a:avLst/>
          </a:prstGeom>
          <a:noFill/>
        </p:spPr>
        <p:txBody>
          <a:bodyPr wrap="square" anchor="t">
            <a:spAutoFit/>
          </a:bodyPr>
          <a:lstStyle/>
          <a:p>
            <a:pPr algn="l">
              <a:spcAft>
                <a:spcPts val="400"/>
              </a:spcAft>
            </a:pPr>
            <a:r>
              <a:rPr sz="1300" b="1">
                <a:solidFill>
                  <a:srgbClr val="1F6FEB"/>
                </a:solidFill>
                <a:latin typeface="Arial"/>
              </a:rPr>
              <a:t>DISCUSS WITH YOUR TRAINER</a:t>
            </a:r>
          </a:p>
        </p:txBody>
      </p:sp>
      <p:sp>
        <p:nvSpPr>
          <p:cNvPr id="12" name="Rectangle 11"/>
          <p:cNvSpPr/>
          <p:nvPr/>
        </p:nvSpPr>
        <p:spPr>
          <a:xfrm>
            <a:off x="777240" y="4480560"/>
            <a:ext cx="3447288" cy="1463040"/>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 name="Rectangle 12"/>
          <p:cNvSpPr/>
          <p:nvPr/>
        </p:nvSpPr>
        <p:spPr>
          <a:xfrm>
            <a:off x="777240" y="4480560"/>
            <a:ext cx="3447288" cy="82296"/>
          </a:xfrm>
          <a:prstGeom prst="rect">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 name="TextBox 13"/>
          <p:cNvSpPr txBox="1"/>
          <p:nvPr/>
        </p:nvSpPr>
        <p:spPr>
          <a:xfrm>
            <a:off x="978408" y="4663440"/>
            <a:ext cx="3044952" cy="457200"/>
          </a:xfrm>
          <a:prstGeom prst="rect">
            <a:avLst/>
          </a:prstGeom>
          <a:noFill/>
        </p:spPr>
        <p:txBody>
          <a:bodyPr wrap="square" anchor="t">
            <a:spAutoFit/>
          </a:bodyPr>
          <a:lstStyle/>
          <a:p>
            <a:pPr algn="l">
              <a:spcAft>
                <a:spcPts val="400"/>
              </a:spcAft>
            </a:pPr>
            <a:r>
              <a:rPr sz="1350" b="1">
                <a:solidFill>
                  <a:srgbClr val="1F6FEB"/>
                </a:solidFill>
                <a:latin typeface="Arial"/>
              </a:rPr>
              <a:t>What did the result show?</a:t>
            </a:r>
          </a:p>
        </p:txBody>
      </p:sp>
      <p:sp>
        <p:nvSpPr>
          <p:cNvPr id="15" name="TextBox 14"/>
          <p:cNvSpPr txBox="1"/>
          <p:nvPr/>
        </p:nvSpPr>
        <p:spPr>
          <a:xfrm>
            <a:off x="978408" y="5138928"/>
            <a:ext cx="3044952" cy="731520"/>
          </a:xfrm>
          <a:prstGeom prst="rect">
            <a:avLst/>
          </a:prstGeom>
          <a:noFill/>
        </p:spPr>
        <p:txBody>
          <a:bodyPr wrap="square" anchor="t">
            <a:spAutoFit/>
          </a:bodyPr>
          <a:lstStyle/>
          <a:p>
            <a:pPr algn="l">
              <a:spcAft>
                <a:spcPts val="400"/>
              </a:spcAft>
            </a:pPr>
            <a:r>
              <a:rPr sz="1200" b="0">
                <a:solidFill>
                  <a:srgbClr val="5B6372"/>
                </a:solidFill>
                <a:latin typeface="Arial"/>
              </a:rPr>
              <a:t>Restate the outcome in your own words.</a:t>
            </a:r>
          </a:p>
        </p:txBody>
      </p:sp>
      <p:sp>
        <p:nvSpPr>
          <p:cNvPr id="16" name="Rectangle 15"/>
          <p:cNvSpPr/>
          <p:nvPr/>
        </p:nvSpPr>
        <p:spPr>
          <a:xfrm>
            <a:off x="4370832" y="4480560"/>
            <a:ext cx="3447288" cy="1463040"/>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7" name="Rectangle 16"/>
          <p:cNvSpPr/>
          <p:nvPr/>
        </p:nvSpPr>
        <p:spPr>
          <a:xfrm>
            <a:off x="4370832" y="4480560"/>
            <a:ext cx="3447288" cy="82296"/>
          </a:xfrm>
          <a:prstGeom prst="rect">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8" name="TextBox 17"/>
          <p:cNvSpPr txBox="1"/>
          <p:nvPr/>
        </p:nvSpPr>
        <p:spPr>
          <a:xfrm>
            <a:off x="4572000" y="4663440"/>
            <a:ext cx="3044952" cy="457200"/>
          </a:xfrm>
          <a:prstGeom prst="rect">
            <a:avLst/>
          </a:prstGeom>
          <a:noFill/>
        </p:spPr>
        <p:txBody>
          <a:bodyPr wrap="square" anchor="t">
            <a:spAutoFit/>
          </a:bodyPr>
          <a:lstStyle/>
          <a:p>
            <a:pPr algn="l">
              <a:spcAft>
                <a:spcPts val="400"/>
              </a:spcAft>
            </a:pPr>
            <a:r>
              <a:rPr sz="1350" b="1">
                <a:solidFill>
                  <a:srgbClr val="10B981"/>
                </a:solidFill>
                <a:latin typeface="Arial"/>
              </a:rPr>
              <a:t>Why does it work?</a:t>
            </a:r>
          </a:p>
        </p:txBody>
      </p:sp>
      <p:sp>
        <p:nvSpPr>
          <p:cNvPr id="19" name="TextBox 18"/>
          <p:cNvSpPr txBox="1"/>
          <p:nvPr/>
        </p:nvSpPr>
        <p:spPr>
          <a:xfrm>
            <a:off x="4572000" y="5138928"/>
            <a:ext cx="3044952" cy="731520"/>
          </a:xfrm>
          <a:prstGeom prst="rect">
            <a:avLst/>
          </a:prstGeom>
          <a:noFill/>
        </p:spPr>
        <p:txBody>
          <a:bodyPr wrap="square" anchor="t">
            <a:spAutoFit/>
          </a:bodyPr>
          <a:lstStyle/>
          <a:p>
            <a:pPr algn="l">
              <a:spcAft>
                <a:spcPts val="400"/>
              </a:spcAft>
            </a:pPr>
            <a:r>
              <a:rPr sz="1200" b="0">
                <a:solidFill>
                  <a:srgbClr val="5B6372"/>
                </a:solidFill>
                <a:latin typeface="Arial"/>
              </a:rPr>
              <a:t>Name the quantum principle the activity relies on.</a:t>
            </a:r>
          </a:p>
        </p:txBody>
      </p:sp>
      <p:sp>
        <p:nvSpPr>
          <p:cNvPr id="20" name="Rectangle 19"/>
          <p:cNvSpPr/>
          <p:nvPr/>
        </p:nvSpPr>
        <p:spPr>
          <a:xfrm>
            <a:off x="7964424" y="4480560"/>
            <a:ext cx="3447288" cy="1463040"/>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1" name="Rectangle 20"/>
          <p:cNvSpPr/>
          <p:nvPr/>
        </p:nvSpPr>
        <p:spPr>
          <a:xfrm>
            <a:off x="7964424" y="4480560"/>
            <a:ext cx="3447288" cy="82296"/>
          </a:xfrm>
          <a:prstGeom prst="rect">
            <a:avLst/>
          </a:prstGeom>
          <a:solidFill>
            <a:srgbClr val="7C3AE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2" name="TextBox 21"/>
          <p:cNvSpPr txBox="1"/>
          <p:nvPr/>
        </p:nvSpPr>
        <p:spPr>
          <a:xfrm>
            <a:off x="8165592" y="4663440"/>
            <a:ext cx="3044952" cy="457200"/>
          </a:xfrm>
          <a:prstGeom prst="rect">
            <a:avLst/>
          </a:prstGeom>
          <a:noFill/>
        </p:spPr>
        <p:txBody>
          <a:bodyPr wrap="square" anchor="t">
            <a:spAutoFit/>
          </a:bodyPr>
          <a:lstStyle/>
          <a:p>
            <a:pPr algn="l">
              <a:spcAft>
                <a:spcPts val="400"/>
              </a:spcAft>
            </a:pPr>
            <a:r>
              <a:rPr sz="1350" b="1">
                <a:solidFill>
                  <a:srgbClr val="7C3AED"/>
                </a:solidFill>
                <a:latin typeface="Arial"/>
              </a:rPr>
              <a:t>Where would you use it?</a:t>
            </a:r>
          </a:p>
        </p:txBody>
      </p:sp>
      <p:sp>
        <p:nvSpPr>
          <p:cNvPr id="23" name="TextBox 22"/>
          <p:cNvSpPr txBox="1"/>
          <p:nvPr/>
        </p:nvSpPr>
        <p:spPr>
          <a:xfrm>
            <a:off x="8165592" y="5138928"/>
            <a:ext cx="3044952" cy="731520"/>
          </a:xfrm>
          <a:prstGeom prst="rect">
            <a:avLst/>
          </a:prstGeom>
          <a:noFill/>
        </p:spPr>
        <p:txBody>
          <a:bodyPr wrap="square" anchor="t">
            <a:spAutoFit/>
          </a:bodyPr>
          <a:lstStyle/>
          <a:p>
            <a:pPr algn="l">
              <a:spcAft>
                <a:spcPts val="400"/>
              </a:spcAft>
            </a:pPr>
            <a:r>
              <a:rPr sz="1200" b="0">
                <a:solidFill>
                  <a:srgbClr val="5B6372"/>
                </a:solidFill>
                <a:latin typeface="Arial"/>
              </a:rPr>
              <a:t>Give one realistic application in your own field.</a:t>
            </a:r>
          </a:p>
        </p:txBody>
      </p:sp>
      <p:sp>
        <p:nvSpPr>
          <p:cNvPr id="24" name="TextBox 23"/>
          <p:cNvSpPr txBox="1"/>
          <p:nvPr/>
        </p:nvSpPr>
        <p:spPr>
          <a:xfrm>
            <a:off x="365760" y="6446520"/>
            <a:ext cx="6858000" cy="320040"/>
          </a:xfrm>
          <a:prstGeom prst="rect">
            <a:avLst/>
          </a:prstGeom>
          <a:noFill/>
        </p:spPr>
        <p:txBody>
          <a:bodyPr wrap="square" anchor="t">
            <a:spAutoFit/>
          </a:bodyPr>
          <a:lstStyle/>
          <a:p>
            <a:pPr algn="l">
              <a:spcAft>
                <a:spcPts val="400"/>
              </a:spcAft>
            </a:pPr>
            <a:r>
              <a:rPr sz="900" b="0">
                <a:solidFill>
                  <a:srgbClr val="5B6372"/>
                </a:solidFill>
                <a:latin typeface="Arial"/>
              </a:rPr>
              <a:t>Securing the Future with Quantum Computing and Cryptography  ·  TGS-2024043419</a:t>
            </a:r>
          </a:p>
        </p:txBody>
      </p:sp>
      <p:sp>
        <p:nvSpPr>
          <p:cNvPr id="25" name="TextBox 24"/>
          <p:cNvSpPr txBox="1"/>
          <p:nvPr/>
        </p:nvSpPr>
        <p:spPr>
          <a:xfrm>
            <a:off x="4572000" y="6446520"/>
            <a:ext cx="3017520" cy="320040"/>
          </a:xfrm>
          <a:prstGeom prst="rect">
            <a:avLst/>
          </a:prstGeom>
          <a:noFill/>
        </p:spPr>
        <p:txBody>
          <a:bodyPr wrap="square" anchor="t">
            <a:spAutoFit/>
          </a:bodyPr>
          <a:lstStyle/>
          <a:p>
            <a:pPr algn="ctr">
              <a:spcAft>
                <a:spcPts val="400"/>
              </a:spcAft>
            </a:pPr>
            <a:r>
              <a:rPr sz="900" b="0">
                <a:solidFill>
                  <a:srgbClr val="5B6372"/>
                </a:solidFill>
                <a:latin typeface="Arial"/>
              </a:rPr>
              <a:t>© 2026 Tertiary Infotech Academy Pte Ltd</a:t>
            </a:r>
          </a:p>
        </p:txBody>
      </p:sp>
      <p:sp>
        <p:nvSpPr>
          <p:cNvPr id="26" name="TextBox 25"/>
          <p:cNvSpPr txBox="1"/>
          <p:nvPr/>
        </p:nvSpPr>
        <p:spPr>
          <a:xfrm>
            <a:off x="11338560" y="6446520"/>
            <a:ext cx="548640" cy="320040"/>
          </a:xfrm>
          <a:prstGeom prst="rect">
            <a:avLst/>
          </a:prstGeom>
          <a:noFill/>
        </p:spPr>
        <p:txBody>
          <a:bodyPr wrap="square" anchor="t">
            <a:spAutoFit/>
          </a:bodyPr>
          <a:lstStyle/>
          <a:p>
            <a:pPr algn="r">
              <a:spcAft>
                <a:spcPts val="400"/>
              </a:spcAft>
            </a:pPr>
            <a:r>
              <a:rPr sz="900" b="0">
                <a:solidFill>
                  <a:srgbClr val="5B6372"/>
                </a:solidFill>
                <a:latin typeface="Arial"/>
              </a:rPr>
              <a:t>77</a:t>
            </a:r>
          </a:p>
        </p:txBody>
      </p:sp>
    </p:spTree>
  </p:cSld>
  <p:clrMapOvr>
    <a:masterClrMapping/>
  </p:clrMapOvr>
</p:sld>
</file>

<file path=ppt/slides/slide79.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256032" cy="1417320"/>
          </a:xfrm>
          <a:prstGeom prst="rect">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777240" y="457200"/>
            <a:ext cx="10607040" cy="365760"/>
          </a:xfrm>
          <a:prstGeom prst="rect">
            <a:avLst/>
          </a:prstGeom>
          <a:noFill/>
        </p:spPr>
        <p:txBody>
          <a:bodyPr wrap="square" anchor="t">
            <a:spAutoFit/>
          </a:bodyPr>
          <a:lstStyle/>
          <a:p>
            <a:pPr algn="l">
              <a:spcAft>
                <a:spcPts val="400"/>
              </a:spcAft>
            </a:pPr>
            <a:r>
              <a:rPr sz="1400" b="1">
                <a:solidFill>
                  <a:srgbClr val="10B981"/>
                </a:solidFill>
                <a:latin typeface="Arial"/>
              </a:rPr>
              <a:t>TOPIC 03 · HANDS-ON ACTIVITY</a:t>
            </a:r>
          </a:p>
        </p:txBody>
      </p:sp>
      <p:sp>
        <p:nvSpPr>
          <p:cNvPr id="5" name="TextBox 4"/>
          <p:cNvSpPr txBox="1"/>
          <p:nvPr/>
        </p:nvSpPr>
        <p:spPr>
          <a:xfrm>
            <a:off x="777240" y="822960"/>
            <a:ext cx="10881360" cy="822960"/>
          </a:xfrm>
          <a:prstGeom prst="rect">
            <a:avLst/>
          </a:prstGeom>
          <a:noFill/>
        </p:spPr>
        <p:txBody>
          <a:bodyPr wrap="square" anchor="t">
            <a:spAutoFit/>
          </a:bodyPr>
          <a:lstStyle/>
          <a:p>
            <a:pPr algn="l">
              <a:spcAft>
                <a:spcPts val="400"/>
              </a:spcAft>
            </a:pPr>
            <a:r>
              <a:rPr sz="2900" b="1">
                <a:solidFill>
                  <a:srgbClr val="161B26"/>
                </a:solidFill>
                <a:latin typeface="Arial"/>
              </a:rPr>
              <a:t>Quantum Gates and Bell/GHZ States with PennyLane</a:t>
            </a:r>
          </a:p>
        </p:txBody>
      </p:sp>
      <p:sp>
        <p:nvSpPr>
          <p:cNvPr id="6" name="Rectangle 5"/>
          <p:cNvSpPr/>
          <p:nvPr/>
        </p:nvSpPr>
        <p:spPr>
          <a:xfrm>
            <a:off x="777240" y="1554480"/>
            <a:ext cx="10634472" cy="18288"/>
          </a:xfrm>
          <a:prstGeom prst="rect">
            <a:avLst/>
          </a:prstGeom>
          <a:solidFill>
            <a:srgbClr val="E2E8F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Rectangle 6"/>
          <p:cNvSpPr/>
          <p:nvPr/>
        </p:nvSpPr>
        <p:spPr>
          <a:xfrm>
            <a:off x="9646920" y="457200"/>
            <a:ext cx="1783080" cy="457200"/>
          </a:xfrm>
          <a:prstGeom prst="rect">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TextBox 7"/>
          <p:cNvSpPr txBox="1"/>
          <p:nvPr/>
        </p:nvSpPr>
        <p:spPr>
          <a:xfrm>
            <a:off x="9646920" y="457200"/>
            <a:ext cx="1783080" cy="457200"/>
          </a:xfrm>
          <a:prstGeom prst="rect">
            <a:avLst/>
          </a:prstGeom>
          <a:noFill/>
        </p:spPr>
        <p:txBody>
          <a:bodyPr wrap="square" anchor="ctr">
            <a:spAutoFit/>
          </a:bodyPr>
          <a:lstStyle/>
          <a:p>
            <a:pPr algn="ctr">
              <a:spcAft>
                <a:spcPts val="400"/>
              </a:spcAft>
            </a:pPr>
            <a:r>
              <a:rPr sz="1300" b="1">
                <a:solidFill>
                  <a:srgbClr val="FFFFFF"/>
                </a:solidFill>
                <a:latin typeface="Arial"/>
              </a:rPr>
              <a:t>ACTIVITY 5</a:t>
            </a:r>
          </a:p>
        </p:txBody>
      </p:sp>
      <p:sp>
        <p:nvSpPr>
          <p:cNvPr id="9" name="TextBox 8"/>
          <p:cNvSpPr txBox="1"/>
          <p:nvPr/>
        </p:nvSpPr>
        <p:spPr>
          <a:xfrm>
            <a:off x="777240" y="1828800"/>
            <a:ext cx="10607040" cy="1051560"/>
          </a:xfrm>
          <a:prstGeom prst="rect">
            <a:avLst/>
          </a:prstGeom>
          <a:noFill/>
        </p:spPr>
        <p:txBody>
          <a:bodyPr wrap="square" anchor="t">
            <a:spAutoFit/>
          </a:bodyPr>
          <a:lstStyle/>
          <a:p>
            <a:pPr algn="l">
              <a:spcAft>
                <a:spcPts val="400"/>
              </a:spcAft>
            </a:pPr>
            <a:r>
              <a:rPr sz="1700" b="0">
                <a:solidFill>
                  <a:srgbClr val="161B26"/>
                </a:solidFill>
                <a:latin typeface="Arial"/>
              </a:rPr>
              <a:t>Use PennyLane's quantum-function and QNode model to apply the full single- and multi-qubit gate set, then construct Bell and GHZ entangled states and verify their measurement correlations.</a:t>
            </a:r>
          </a:p>
        </p:txBody>
      </p:sp>
      <p:sp>
        <p:nvSpPr>
          <p:cNvPr id="10" name="Rectangle 9"/>
          <p:cNvSpPr/>
          <p:nvPr/>
        </p:nvSpPr>
        <p:spPr>
          <a:xfrm>
            <a:off x="777240" y="2971800"/>
            <a:ext cx="10634472" cy="457200"/>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 name="TextBox 10"/>
          <p:cNvSpPr txBox="1"/>
          <p:nvPr/>
        </p:nvSpPr>
        <p:spPr>
          <a:xfrm>
            <a:off x="960120" y="2971800"/>
            <a:ext cx="10241280" cy="457200"/>
          </a:xfrm>
          <a:prstGeom prst="rect">
            <a:avLst/>
          </a:prstGeom>
          <a:noFill/>
        </p:spPr>
        <p:txBody>
          <a:bodyPr wrap="square" anchor="ctr">
            <a:spAutoFit/>
          </a:bodyPr>
          <a:lstStyle/>
          <a:p>
            <a:pPr algn="l">
              <a:spcAft>
                <a:spcPts val="400"/>
              </a:spcAft>
            </a:pPr>
            <a:r>
              <a:rPr sz="1100" b="1">
                <a:solidFill>
                  <a:srgbClr val="1F6FEB"/>
                </a:solidFill>
                <a:latin typeface="Arial"/>
              </a:rPr>
              <a:t>MAPS TO  </a:t>
            </a:r>
            <a:r>
              <a:rPr sz="1250" b="0">
                <a:solidFill>
                  <a:srgbClr val="161B26"/>
                </a:solidFill>
                <a:latin typeface="Arial"/>
              </a:rPr>
              <a:t>LO3, LO5 — Direct two-level quantum models and apply quantum gates</a:t>
            </a:r>
          </a:p>
        </p:txBody>
      </p:sp>
      <p:sp>
        <p:nvSpPr>
          <p:cNvPr id="12" name="Rectangle 11"/>
          <p:cNvSpPr/>
          <p:nvPr/>
        </p:nvSpPr>
        <p:spPr>
          <a:xfrm>
            <a:off x="777240" y="3611880"/>
            <a:ext cx="10634472" cy="1234440"/>
          </a:xfrm>
          <a:prstGeom prst="rect">
            <a:avLst/>
          </a:prstGeom>
          <a:solidFill>
            <a:srgbClr val="E8F7E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 name="TextBox 12"/>
          <p:cNvSpPr txBox="1"/>
          <p:nvPr/>
        </p:nvSpPr>
        <p:spPr>
          <a:xfrm>
            <a:off x="1051560" y="3767328"/>
            <a:ext cx="10058400" cy="365760"/>
          </a:xfrm>
          <a:prstGeom prst="rect">
            <a:avLst/>
          </a:prstGeom>
          <a:noFill/>
        </p:spPr>
        <p:txBody>
          <a:bodyPr wrap="square" anchor="t">
            <a:spAutoFit/>
          </a:bodyPr>
          <a:lstStyle/>
          <a:p>
            <a:pPr algn="l">
              <a:spcAft>
                <a:spcPts val="400"/>
              </a:spcAft>
            </a:pPr>
            <a:r>
              <a:rPr sz="1200" b="1">
                <a:solidFill>
                  <a:srgbClr val="127A3E"/>
                </a:solidFill>
                <a:latin typeface="Arial"/>
              </a:rPr>
              <a:t>YOU'LL PRODUCE</a:t>
            </a:r>
          </a:p>
        </p:txBody>
      </p:sp>
      <p:sp>
        <p:nvSpPr>
          <p:cNvPr id="14" name="TextBox 13"/>
          <p:cNvSpPr txBox="1"/>
          <p:nvPr/>
        </p:nvSpPr>
        <p:spPr>
          <a:xfrm>
            <a:off x="1051560" y="4133087"/>
            <a:ext cx="10058400" cy="640080"/>
          </a:xfrm>
          <a:prstGeom prst="rect">
            <a:avLst/>
          </a:prstGeom>
          <a:noFill/>
        </p:spPr>
        <p:txBody>
          <a:bodyPr wrap="square" anchor="t">
            <a:spAutoFit/>
          </a:bodyPr>
          <a:lstStyle/>
          <a:p>
            <a:pPr algn="l">
              <a:spcAft>
                <a:spcPts val="400"/>
              </a:spcAft>
            </a:pPr>
            <a:r>
              <a:rPr sz="1550" b="1">
                <a:solidFill>
                  <a:srgbClr val="161B26"/>
                </a:solidFill>
                <a:latin typeface="Arial"/>
              </a:rPr>
              <a:t>A PennyLane script that draws each circuit, returns the state vector, and confirms the Bell and GHZ correlations.</a:t>
            </a:r>
          </a:p>
        </p:txBody>
      </p:sp>
      <p:sp>
        <p:nvSpPr>
          <p:cNvPr id="15" name="Rectangle 14"/>
          <p:cNvSpPr/>
          <p:nvPr/>
        </p:nvSpPr>
        <p:spPr>
          <a:xfrm>
            <a:off x="777240" y="5029200"/>
            <a:ext cx="10634472" cy="960120"/>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6" name="TextBox 15"/>
          <p:cNvSpPr txBox="1"/>
          <p:nvPr/>
        </p:nvSpPr>
        <p:spPr>
          <a:xfrm>
            <a:off x="1051560" y="5138928"/>
            <a:ext cx="10058400" cy="365760"/>
          </a:xfrm>
          <a:prstGeom prst="rect">
            <a:avLst/>
          </a:prstGeom>
          <a:noFill/>
        </p:spPr>
        <p:txBody>
          <a:bodyPr wrap="square" anchor="t">
            <a:spAutoFit/>
          </a:bodyPr>
          <a:lstStyle/>
          <a:p>
            <a:pPr algn="l">
              <a:spcAft>
                <a:spcPts val="400"/>
              </a:spcAft>
            </a:pPr>
            <a:r>
              <a:rPr sz="1200" b="1">
                <a:solidFill>
                  <a:srgbClr val="5B6372"/>
                </a:solidFill>
                <a:latin typeface="Arial"/>
              </a:rPr>
              <a:t>Tools:  </a:t>
            </a:r>
            <a:r>
              <a:rPr sz="1200" b="0">
                <a:solidFill>
                  <a:srgbClr val="5B6372"/>
                </a:solidFill>
                <a:latin typeface="Arial"/>
              </a:rPr>
              <a:t>PennyLane, Python 3.13, matplotlib</a:t>
            </a:r>
          </a:p>
        </p:txBody>
      </p:sp>
      <p:sp>
        <p:nvSpPr>
          <p:cNvPr id="17" name="TextBox 16"/>
          <p:cNvSpPr txBox="1"/>
          <p:nvPr/>
        </p:nvSpPr>
        <p:spPr>
          <a:xfrm>
            <a:off x="1051560" y="5504688"/>
            <a:ext cx="10058400" cy="365760"/>
          </a:xfrm>
          <a:prstGeom prst="rect">
            <a:avLst/>
          </a:prstGeom>
          <a:noFill/>
        </p:spPr>
        <p:txBody>
          <a:bodyPr wrap="square" anchor="t">
            <a:spAutoFit/>
          </a:bodyPr>
          <a:lstStyle/>
          <a:p>
            <a:pPr algn="l">
              <a:spcAft>
                <a:spcPts val="400"/>
              </a:spcAft>
            </a:pPr>
            <a:r>
              <a:rPr sz="1200" b="1">
                <a:solidFill>
                  <a:srgbClr val="1F6FEB"/>
                </a:solidFill>
                <a:latin typeface="Arial"/>
              </a:rPr>
              <a:t>Full step-by-step guide:  </a:t>
            </a:r>
            <a:r>
              <a:rPr sz="1200" b="0">
                <a:solidFill>
                  <a:srgbClr val="161B26"/>
                </a:solidFill>
                <a:latin typeface="Arial"/>
              </a:rPr>
              <a:t>Learner Guide — Activity 5: Quantum Gates and Bell/GHZ States with PennyLane</a:t>
            </a:r>
          </a:p>
        </p:txBody>
      </p:sp>
      <p:sp>
        <p:nvSpPr>
          <p:cNvPr id="18" name="TextBox 17"/>
          <p:cNvSpPr txBox="1"/>
          <p:nvPr/>
        </p:nvSpPr>
        <p:spPr>
          <a:xfrm>
            <a:off x="365760" y="6446520"/>
            <a:ext cx="6858000" cy="320040"/>
          </a:xfrm>
          <a:prstGeom prst="rect">
            <a:avLst/>
          </a:prstGeom>
          <a:noFill/>
        </p:spPr>
        <p:txBody>
          <a:bodyPr wrap="square" anchor="t">
            <a:spAutoFit/>
          </a:bodyPr>
          <a:lstStyle/>
          <a:p>
            <a:pPr algn="l">
              <a:spcAft>
                <a:spcPts val="400"/>
              </a:spcAft>
            </a:pPr>
            <a:r>
              <a:rPr sz="900" b="0">
                <a:solidFill>
                  <a:srgbClr val="5B6372"/>
                </a:solidFill>
                <a:latin typeface="Arial"/>
              </a:rPr>
              <a:t>Securing the Future with Quantum Computing and Cryptography  ·  TGS-2024043419</a:t>
            </a:r>
          </a:p>
        </p:txBody>
      </p:sp>
      <p:sp>
        <p:nvSpPr>
          <p:cNvPr id="19" name="TextBox 18"/>
          <p:cNvSpPr txBox="1"/>
          <p:nvPr/>
        </p:nvSpPr>
        <p:spPr>
          <a:xfrm>
            <a:off x="4572000" y="6446520"/>
            <a:ext cx="3017520" cy="320040"/>
          </a:xfrm>
          <a:prstGeom prst="rect">
            <a:avLst/>
          </a:prstGeom>
          <a:noFill/>
        </p:spPr>
        <p:txBody>
          <a:bodyPr wrap="square" anchor="t">
            <a:spAutoFit/>
          </a:bodyPr>
          <a:lstStyle/>
          <a:p>
            <a:pPr algn="ctr">
              <a:spcAft>
                <a:spcPts val="400"/>
              </a:spcAft>
            </a:pPr>
            <a:r>
              <a:rPr sz="900" b="0">
                <a:solidFill>
                  <a:srgbClr val="5B6372"/>
                </a:solidFill>
                <a:latin typeface="Arial"/>
              </a:rPr>
              <a:t>© 2026 Tertiary Infotech Academy Pte Ltd</a:t>
            </a:r>
          </a:p>
        </p:txBody>
      </p:sp>
      <p:sp>
        <p:nvSpPr>
          <p:cNvPr id="20" name="TextBox 19"/>
          <p:cNvSpPr txBox="1"/>
          <p:nvPr/>
        </p:nvSpPr>
        <p:spPr>
          <a:xfrm>
            <a:off x="11338560" y="6446520"/>
            <a:ext cx="548640" cy="320040"/>
          </a:xfrm>
          <a:prstGeom prst="rect">
            <a:avLst/>
          </a:prstGeom>
          <a:noFill/>
        </p:spPr>
        <p:txBody>
          <a:bodyPr wrap="square" anchor="t">
            <a:spAutoFit/>
          </a:bodyPr>
          <a:lstStyle/>
          <a:p>
            <a:pPr algn="r">
              <a:spcAft>
                <a:spcPts val="400"/>
              </a:spcAft>
            </a:pPr>
            <a:r>
              <a:rPr sz="900" b="0">
                <a:solidFill>
                  <a:srgbClr val="5B6372"/>
                </a:solidFill>
                <a:latin typeface="Arial"/>
              </a:rPr>
              <a:t>78</a:t>
            </a:r>
          </a:p>
        </p:txBody>
      </p:sp>
    </p:spTree>
  </p:cSld>
  <p:clrMapOvr>
    <a:masterClrMapping/>
  </p:clrMapOvr>
</p:sld>
</file>

<file path=ppt/slides/slide80.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256032" cy="1417320"/>
          </a:xfrm>
          <a:prstGeom prst="rect">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777240" y="457200"/>
            <a:ext cx="10607040" cy="365760"/>
          </a:xfrm>
          <a:prstGeom prst="rect">
            <a:avLst/>
          </a:prstGeom>
          <a:noFill/>
        </p:spPr>
        <p:txBody>
          <a:bodyPr wrap="square" anchor="t">
            <a:spAutoFit/>
          </a:bodyPr>
          <a:lstStyle/>
          <a:p>
            <a:pPr algn="l">
              <a:spcAft>
                <a:spcPts val="400"/>
              </a:spcAft>
            </a:pPr>
            <a:r>
              <a:rPr sz="1400" b="1">
                <a:solidFill>
                  <a:srgbClr val="10B981"/>
                </a:solidFill>
                <a:latin typeface="Arial"/>
              </a:rPr>
              <a:t>ACTIVITY 5 · VERIFY &amp; DEBRIEF</a:t>
            </a:r>
          </a:p>
        </p:txBody>
      </p:sp>
      <p:sp>
        <p:nvSpPr>
          <p:cNvPr id="5" name="TextBox 4"/>
          <p:cNvSpPr txBox="1"/>
          <p:nvPr/>
        </p:nvSpPr>
        <p:spPr>
          <a:xfrm>
            <a:off x="777240" y="822960"/>
            <a:ext cx="10881360" cy="822960"/>
          </a:xfrm>
          <a:prstGeom prst="rect">
            <a:avLst/>
          </a:prstGeom>
          <a:noFill/>
        </p:spPr>
        <p:txBody>
          <a:bodyPr wrap="square" anchor="t">
            <a:spAutoFit/>
          </a:bodyPr>
          <a:lstStyle/>
          <a:p>
            <a:pPr algn="l">
              <a:spcAft>
                <a:spcPts val="400"/>
              </a:spcAft>
            </a:pPr>
            <a:r>
              <a:rPr sz="2900" b="1">
                <a:solidFill>
                  <a:srgbClr val="161B26"/>
                </a:solidFill>
                <a:latin typeface="Arial"/>
              </a:rPr>
              <a:t>Quantum Gates and Bell/GHZ States with PennyLane</a:t>
            </a:r>
          </a:p>
        </p:txBody>
      </p:sp>
      <p:sp>
        <p:nvSpPr>
          <p:cNvPr id="6" name="Rectangle 5"/>
          <p:cNvSpPr/>
          <p:nvPr/>
        </p:nvSpPr>
        <p:spPr>
          <a:xfrm>
            <a:off x="777240" y="1554480"/>
            <a:ext cx="10634472" cy="18288"/>
          </a:xfrm>
          <a:prstGeom prst="rect">
            <a:avLst/>
          </a:prstGeom>
          <a:solidFill>
            <a:srgbClr val="E2E8F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Rectangle 6"/>
          <p:cNvSpPr/>
          <p:nvPr/>
        </p:nvSpPr>
        <p:spPr>
          <a:xfrm>
            <a:off x="777240" y="1783080"/>
            <a:ext cx="10634472" cy="2148840"/>
          </a:xfrm>
          <a:prstGeom prst="rect">
            <a:avLst/>
          </a:prstGeom>
          <a:solidFill>
            <a:srgbClr val="E8F7E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Rectangle 7"/>
          <p:cNvSpPr/>
          <p:nvPr/>
        </p:nvSpPr>
        <p:spPr>
          <a:xfrm>
            <a:off x="777240" y="1783080"/>
            <a:ext cx="100584" cy="2148840"/>
          </a:xfrm>
          <a:prstGeom prst="rect">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TextBox 8"/>
          <p:cNvSpPr txBox="1"/>
          <p:nvPr/>
        </p:nvSpPr>
        <p:spPr>
          <a:xfrm>
            <a:off x="1143000" y="1965960"/>
            <a:ext cx="10058400" cy="411480"/>
          </a:xfrm>
          <a:prstGeom prst="rect">
            <a:avLst/>
          </a:prstGeom>
          <a:noFill/>
        </p:spPr>
        <p:txBody>
          <a:bodyPr wrap="square" anchor="t">
            <a:spAutoFit/>
          </a:bodyPr>
          <a:lstStyle/>
          <a:p>
            <a:pPr algn="l">
              <a:spcAft>
                <a:spcPts val="400"/>
              </a:spcAft>
            </a:pPr>
            <a:r>
              <a:rPr sz="1300" b="1">
                <a:solidFill>
                  <a:srgbClr val="127A3E"/>
                </a:solidFill>
                <a:latin typeface="Arial"/>
              </a:rPr>
              <a:t>TEST IT — HOW YOU KNOW IT WORKED</a:t>
            </a:r>
          </a:p>
        </p:txBody>
      </p:sp>
      <p:sp>
        <p:nvSpPr>
          <p:cNvPr id="10" name="TextBox 9"/>
          <p:cNvSpPr txBox="1"/>
          <p:nvPr/>
        </p:nvSpPr>
        <p:spPr>
          <a:xfrm>
            <a:off x="1143000" y="2423160"/>
            <a:ext cx="10058400" cy="1371600"/>
          </a:xfrm>
          <a:prstGeom prst="rect">
            <a:avLst/>
          </a:prstGeom>
          <a:noFill/>
        </p:spPr>
        <p:txBody>
          <a:bodyPr wrap="square" anchor="t">
            <a:spAutoFit/>
          </a:bodyPr>
          <a:lstStyle/>
          <a:p>
            <a:pPr algn="l">
              <a:spcAft>
                <a:spcPts val="400"/>
              </a:spcAft>
            </a:pPr>
            <a:r>
              <a:rPr sz="1600" b="0">
                <a:solidFill>
                  <a:srgbClr val="161B26"/>
                </a:solidFill>
                <a:latin typeface="Arial"/>
              </a:rPr>
              <a:t>The Bell state returns amplitudes of about 0.707 on |00&gt; and |11&gt; and zero elsewhere; the GHZ state returns amplitudes only on |000&gt; and |111&gt;; the phase-kickback circuit shows the eigenvalue phase transferred to the control qubit.</a:t>
            </a:r>
          </a:p>
        </p:txBody>
      </p:sp>
      <p:sp>
        <p:nvSpPr>
          <p:cNvPr id="11" name="TextBox 10"/>
          <p:cNvSpPr txBox="1"/>
          <p:nvPr/>
        </p:nvSpPr>
        <p:spPr>
          <a:xfrm>
            <a:off x="777240" y="4096512"/>
            <a:ext cx="10607040" cy="365760"/>
          </a:xfrm>
          <a:prstGeom prst="rect">
            <a:avLst/>
          </a:prstGeom>
          <a:noFill/>
        </p:spPr>
        <p:txBody>
          <a:bodyPr wrap="square" anchor="t">
            <a:spAutoFit/>
          </a:bodyPr>
          <a:lstStyle/>
          <a:p>
            <a:pPr algn="l">
              <a:spcAft>
                <a:spcPts val="400"/>
              </a:spcAft>
            </a:pPr>
            <a:r>
              <a:rPr sz="1300" b="1">
                <a:solidFill>
                  <a:srgbClr val="1F6FEB"/>
                </a:solidFill>
                <a:latin typeface="Arial"/>
              </a:rPr>
              <a:t>DISCUSS WITH YOUR TRAINER</a:t>
            </a:r>
          </a:p>
        </p:txBody>
      </p:sp>
      <p:sp>
        <p:nvSpPr>
          <p:cNvPr id="12" name="Rectangle 11"/>
          <p:cNvSpPr/>
          <p:nvPr/>
        </p:nvSpPr>
        <p:spPr>
          <a:xfrm>
            <a:off x="777240" y="4480560"/>
            <a:ext cx="3447288" cy="1463040"/>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 name="Rectangle 12"/>
          <p:cNvSpPr/>
          <p:nvPr/>
        </p:nvSpPr>
        <p:spPr>
          <a:xfrm>
            <a:off x="777240" y="4480560"/>
            <a:ext cx="3447288" cy="82296"/>
          </a:xfrm>
          <a:prstGeom prst="rect">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 name="TextBox 13"/>
          <p:cNvSpPr txBox="1"/>
          <p:nvPr/>
        </p:nvSpPr>
        <p:spPr>
          <a:xfrm>
            <a:off x="978408" y="4663440"/>
            <a:ext cx="3044952" cy="457200"/>
          </a:xfrm>
          <a:prstGeom prst="rect">
            <a:avLst/>
          </a:prstGeom>
          <a:noFill/>
        </p:spPr>
        <p:txBody>
          <a:bodyPr wrap="square" anchor="t">
            <a:spAutoFit/>
          </a:bodyPr>
          <a:lstStyle/>
          <a:p>
            <a:pPr algn="l">
              <a:spcAft>
                <a:spcPts val="400"/>
              </a:spcAft>
            </a:pPr>
            <a:r>
              <a:rPr sz="1350" b="1">
                <a:solidFill>
                  <a:srgbClr val="1F6FEB"/>
                </a:solidFill>
                <a:latin typeface="Arial"/>
              </a:rPr>
              <a:t>What did the result show?</a:t>
            </a:r>
          </a:p>
        </p:txBody>
      </p:sp>
      <p:sp>
        <p:nvSpPr>
          <p:cNvPr id="15" name="TextBox 14"/>
          <p:cNvSpPr txBox="1"/>
          <p:nvPr/>
        </p:nvSpPr>
        <p:spPr>
          <a:xfrm>
            <a:off x="978408" y="5138928"/>
            <a:ext cx="3044952" cy="731520"/>
          </a:xfrm>
          <a:prstGeom prst="rect">
            <a:avLst/>
          </a:prstGeom>
          <a:noFill/>
        </p:spPr>
        <p:txBody>
          <a:bodyPr wrap="square" anchor="t">
            <a:spAutoFit/>
          </a:bodyPr>
          <a:lstStyle/>
          <a:p>
            <a:pPr algn="l">
              <a:spcAft>
                <a:spcPts val="400"/>
              </a:spcAft>
            </a:pPr>
            <a:r>
              <a:rPr sz="1200" b="0">
                <a:solidFill>
                  <a:srgbClr val="5B6372"/>
                </a:solidFill>
                <a:latin typeface="Arial"/>
              </a:rPr>
              <a:t>Restate the outcome in your own words.</a:t>
            </a:r>
          </a:p>
        </p:txBody>
      </p:sp>
      <p:sp>
        <p:nvSpPr>
          <p:cNvPr id="16" name="Rectangle 15"/>
          <p:cNvSpPr/>
          <p:nvPr/>
        </p:nvSpPr>
        <p:spPr>
          <a:xfrm>
            <a:off x="4370832" y="4480560"/>
            <a:ext cx="3447288" cy="1463040"/>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7" name="Rectangle 16"/>
          <p:cNvSpPr/>
          <p:nvPr/>
        </p:nvSpPr>
        <p:spPr>
          <a:xfrm>
            <a:off x="4370832" y="4480560"/>
            <a:ext cx="3447288" cy="82296"/>
          </a:xfrm>
          <a:prstGeom prst="rect">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8" name="TextBox 17"/>
          <p:cNvSpPr txBox="1"/>
          <p:nvPr/>
        </p:nvSpPr>
        <p:spPr>
          <a:xfrm>
            <a:off x="4572000" y="4663440"/>
            <a:ext cx="3044952" cy="457200"/>
          </a:xfrm>
          <a:prstGeom prst="rect">
            <a:avLst/>
          </a:prstGeom>
          <a:noFill/>
        </p:spPr>
        <p:txBody>
          <a:bodyPr wrap="square" anchor="t">
            <a:spAutoFit/>
          </a:bodyPr>
          <a:lstStyle/>
          <a:p>
            <a:pPr algn="l">
              <a:spcAft>
                <a:spcPts val="400"/>
              </a:spcAft>
            </a:pPr>
            <a:r>
              <a:rPr sz="1350" b="1">
                <a:solidFill>
                  <a:srgbClr val="10B981"/>
                </a:solidFill>
                <a:latin typeface="Arial"/>
              </a:rPr>
              <a:t>Why does it work?</a:t>
            </a:r>
          </a:p>
        </p:txBody>
      </p:sp>
      <p:sp>
        <p:nvSpPr>
          <p:cNvPr id="19" name="TextBox 18"/>
          <p:cNvSpPr txBox="1"/>
          <p:nvPr/>
        </p:nvSpPr>
        <p:spPr>
          <a:xfrm>
            <a:off x="4572000" y="5138928"/>
            <a:ext cx="3044952" cy="731520"/>
          </a:xfrm>
          <a:prstGeom prst="rect">
            <a:avLst/>
          </a:prstGeom>
          <a:noFill/>
        </p:spPr>
        <p:txBody>
          <a:bodyPr wrap="square" anchor="t">
            <a:spAutoFit/>
          </a:bodyPr>
          <a:lstStyle/>
          <a:p>
            <a:pPr algn="l">
              <a:spcAft>
                <a:spcPts val="400"/>
              </a:spcAft>
            </a:pPr>
            <a:r>
              <a:rPr sz="1200" b="0">
                <a:solidFill>
                  <a:srgbClr val="5B6372"/>
                </a:solidFill>
                <a:latin typeface="Arial"/>
              </a:rPr>
              <a:t>Name the quantum principle the activity relies on.</a:t>
            </a:r>
          </a:p>
        </p:txBody>
      </p:sp>
      <p:sp>
        <p:nvSpPr>
          <p:cNvPr id="20" name="Rectangle 19"/>
          <p:cNvSpPr/>
          <p:nvPr/>
        </p:nvSpPr>
        <p:spPr>
          <a:xfrm>
            <a:off x="7964424" y="4480560"/>
            <a:ext cx="3447288" cy="1463040"/>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1" name="Rectangle 20"/>
          <p:cNvSpPr/>
          <p:nvPr/>
        </p:nvSpPr>
        <p:spPr>
          <a:xfrm>
            <a:off x="7964424" y="4480560"/>
            <a:ext cx="3447288" cy="82296"/>
          </a:xfrm>
          <a:prstGeom prst="rect">
            <a:avLst/>
          </a:prstGeom>
          <a:solidFill>
            <a:srgbClr val="7C3AE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2" name="TextBox 21"/>
          <p:cNvSpPr txBox="1"/>
          <p:nvPr/>
        </p:nvSpPr>
        <p:spPr>
          <a:xfrm>
            <a:off x="8165592" y="4663440"/>
            <a:ext cx="3044952" cy="457200"/>
          </a:xfrm>
          <a:prstGeom prst="rect">
            <a:avLst/>
          </a:prstGeom>
          <a:noFill/>
        </p:spPr>
        <p:txBody>
          <a:bodyPr wrap="square" anchor="t">
            <a:spAutoFit/>
          </a:bodyPr>
          <a:lstStyle/>
          <a:p>
            <a:pPr algn="l">
              <a:spcAft>
                <a:spcPts val="400"/>
              </a:spcAft>
            </a:pPr>
            <a:r>
              <a:rPr sz="1350" b="1">
                <a:solidFill>
                  <a:srgbClr val="7C3AED"/>
                </a:solidFill>
                <a:latin typeface="Arial"/>
              </a:rPr>
              <a:t>Where would you use it?</a:t>
            </a:r>
          </a:p>
        </p:txBody>
      </p:sp>
      <p:sp>
        <p:nvSpPr>
          <p:cNvPr id="23" name="TextBox 22"/>
          <p:cNvSpPr txBox="1"/>
          <p:nvPr/>
        </p:nvSpPr>
        <p:spPr>
          <a:xfrm>
            <a:off x="8165592" y="5138928"/>
            <a:ext cx="3044952" cy="731520"/>
          </a:xfrm>
          <a:prstGeom prst="rect">
            <a:avLst/>
          </a:prstGeom>
          <a:noFill/>
        </p:spPr>
        <p:txBody>
          <a:bodyPr wrap="square" anchor="t">
            <a:spAutoFit/>
          </a:bodyPr>
          <a:lstStyle/>
          <a:p>
            <a:pPr algn="l">
              <a:spcAft>
                <a:spcPts val="400"/>
              </a:spcAft>
            </a:pPr>
            <a:r>
              <a:rPr sz="1200" b="0">
                <a:solidFill>
                  <a:srgbClr val="5B6372"/>
                </a:solidFill>
                <a:latin typeface="Arial"/>
              </a:rPr>
              <a:t>Give one realistic application in your own field.</a:t>
            </a:r>
          </a:p>
        </p:txBody>
      </p:sp>
      <p:sp>
        <p:nvSpPr>
          <p:cNvPr id="24" name="TextBox 23"/>
          <p:cNvSpPr txBox="1"/>
          <p:nvPr/>
        </p:nvSpPr>
        <p:spPr>
          <a:xfrm>
            <a:off x="365760" y="6446520"/>
            <a:ext cx="6858000" cy="320040"/>
          </a:xfrm>
          <a:prstGeom prst="rect">
            <a:avLst/>
          </a:prstGeom>
          <a:noFill/>
        </p:spPr>
        <p:txBody>
          <a:bodyPr wrap="square" anchor="t">
            <a:spAutoFit/>
          </a:bodyPr>
          <a:lstStyle/>
          <a:p>
            <a:pPr algn="l">
              <a:spcAft>
                <a:spcPts val="400"/>
              </a:spcAft>
            </a:pPr>
            <a:r>
              <a:rPr sz="900" b="0">
                <a:solidFill>
                  <a:srgbClr val="5B6372"/>
                </a:solidFill>
                <a:latin typeface="Arial"/>
              </a:rPr>
              <a:t>Securing the Future with Quantum Computing and Cryptography  ·  TGS-2024043419</a:t>
            </a:r>
          </a:p>
        </p:txBody>
      </p:sp>
      <p:sp>
        <p:nvSpPr>
          <p:cNvPr id="25" name="TextBox 24"/>
          <p:cNvSpPr txBox="1"/>
          <p:nvPr/>
        </p:nvSpPr>
        <p:spPr>
          <a:xfrm>
            <a:off x="4572000" y="6446520"/>
            <a:ext cx="3017520" cy="320040"/>
          </a:xfrm>
          <a:prstGeom prst="rect">
            <a:avLst/>
          </a:prstGeom>
          <a:noFill/>
        </p:spPr>
        <p:txBody>
          <a:bodyPr wrap="square" anchor="t">
            <a:spAutoFit/>
          </a:bodyPr>
          <a:lstStyle/>
          <a:p>
            <a:pPr algn="ctr">
              <a:spcAft>
                <a:spcPts val="400"/>
              </a:spcAft>
            </a:pPr>
            <a:r>
              <a:rPr sz="900" b="0">
                <a:solidFill>
                  <a:srgbClr val="5B6372"/>
                </a:solidFill>
                <a:latin typeface="Arial"/>
              </a:rPr>
              <a:t>© 2026 Tertiary Infotech Academy Pte Ltd</a:t>
            </a:r>
          </a:p>
        </p:txBody>
      </p:sp>
      <p:sp>
        <p:nvSpPr>
          <p:cNvPr id="26" name="TextBox 25"/>
          <p:cNvSpPr txBox="1"/>
          <p:nvPr/>
        </p:nvSpPr>
        <p:spPr>
          <a:xfrm>
            <a:off x="11338560" y="6446520"/>
            <a:ext cx="548640" cy="320040"/>
          </a:xfrm>
          <a:prstGeom prst="rect">
            <a:avLst/>
          </a:prstGeom>
          <a:noFill/>
        </p:spPr>
        <p:txBody>
          <a:bodyPr wrap="square" anchor="t">
            <a:spAutoFit/>
          </a:bodyPr>
          <a:lstStyle/>
          <a:p>
            <a:pPr algn="r">
              <a:spcAft>
                <a:spcPts val="400"/>
              </a:spcAft>
            </a:pPr>
            <a:r>
              <a:rPr sz="900" b="0">
                <a:solidFill>
                  <a:srgbClr val="5B6372"/>
                </a:solidFill>
                <a:latin typeface="Arial"/>
              </a:rPr>
              <a:t>79</a:t>
            </a:r>
          </a:p>
        </p:txBody>
      </p:sp>
    </p:spTree>
  </p:cSld>
  <p:clrMapOvr>
    <a:masterClrMapping/>
  </p:clrMapOvr>
</p:sld>
</file>

<file path=ppt/slides/slide81.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256032" cy="1417320"/>
          </a:xfrm>
          <a:prstGeom prst="rect">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777240" y="457200"/>
            <a:ext cx="10607040" cy="365760"/>
          </a:xfrm>
          <a:prstGeom prst="rect">
            <a:avLst/>
          </a:prstGeom>
          <a:noFill/>
        </p:spPr>
        <p:txBody>
          <a:bodyPr wrap="square" anchor="t">
            <a:spAutoFit/>
          </a:bodyPr>
          <a:lstStyle/>
          <a:p>
            <a:pPr algn="l">
              <a:spcAft>
                <a:spcPts val="400"/>
              </a:spcAft>
            </a:pPr>
            <a:r>
              <a:rPr sz="1400" b="1">
                <a:solidFill>
                  <a:srgbClr val="1F6FEB"/>
                </a:solidFill>
                <a:latin typeface="Arial"/>
              </a:rPr>
              <a:t>TOPIC RECAP</a:t>
            </a:r>
          </a:p>
        </p:txBody>
      </p:sp>
      <p:sp>
        <p:nvSpPr>
          <p:cNvPr id="5" name="TextBox 4"/>
          <p:cNvSpPr txBox="1"/>
          <p:nvPr/>
        </p:nvSpPr>
        <p:spPr>
          <a:xfrm>
            <a:off x="777240" y="822960"/>
            <a:ext cx="10881360" cy="822960"/>
          </a:xfrm>
          <a:prstGeom prst="rect">
            <a:avLst/>
          </a:prstGeom>
          <a:noFill/>
        </p:spPr>
        <p:txBody>
          <a:bodyPr wrap="square" anchor="t">
            <a:spAutoFit/>
          </a:bodyPr>
          <a:lstStyle/>
          <a:p>
            <a:pPr algn="l">
              <a:spcAft>
                <a:spcPts val="400"/>
              </a:spcAft>
            </a:pPr>
            <a:r>
              <a:rPr sz="2900" b="1">
                <a:solidFill>
                  <a:srgbClr val="161B26"/>
                </a:solidFill>
                <a:latin typeface="Arial"/>
              </a:rPr>
              <a:t>Recap — Quantum Gates and Circuits</a:t>
            </a:r>
          </a:p>
        </p:txBody>
      </p:sp>
      <p:sp>
        <p:nvSpPr>
          <p:cNvPr id="6" name="Rectangle 5"/>
          <p:cNvSpPr/>
          <p:nvPr/>
        </p:nvSpPr>
        <p:spPr>
          <a:xfrm>
            <a:off x="777240" y="1554480"/>
            <a:ext cx="10634472" cy="18288"/>
          </a:xfrm>
          <a:prstGeom prst="rect">
            <a:avLst/>
          </a:prstGeom>
          <a:solidFill>
            <a:srgbClr val="E2E8F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TextBox 6"/>
          <p:cNvSpPr txBox="1"/>
          <p:nvPr/>
        </p:nvSpPr>
        <p:spPr>
          <a:xfrm>
            <a:off x="777240" y="1783080"/>
            <a:ext cx="10607040" cy="4480560"/>
          </a:xfrm>
          <a:prstGeom prst="rect">
            <a:avLst/>
          </a:prstGeom>
          <a:noFill/>
        </p:spPr>
        <p:txBody>
          <a:bodyPr wrap="square">
            <a:spAutoFit/>
          </a:bodyPr>
          <a:lstStyle/>
          <a:p>
            <a:pPr>
              <a:spcAft>
                <a:spcPts val="1000"/>
              </a:spcAft>
            </a:pPr>
            <a:r>
              <a:rPr sz="1600">
                <a:solidFill>
                  <a:srgbClr val="161B26"/>
                </a:solidFill>
                <a:latin typeface="Arial"/>
              </a:rPr>
              <a:t>•  Pauli gates</a:t>
            </a:r>
          </a:p>
          <a:p>
            <a:pPr>
              <a:spcAft>
                <a:spcPts val="1000"/>
              </a:spcAft>
            </a:pPr>
            <a:r>
              <a:rPr sz="1600">
                <a:solidFill>
                  <a:srgbClr val="161B26"/>
                </a:solidFill>
                <a:latin typeface="Arial"/>
              </a:rPr>
              <a:t>•  Hadamard gate</a:t>
            </a:r>
          </a:p>
          <a:p>
            <a:pPr>
              <a:spcAft>
                <a:spcPts val="1000"/>
              </a:spcAft>
            </a:pPr>
            <a:r>
              <a:rPr sz="1600">
                <a:solidFill>
                  <a:srgbClr val="161B26"/>
                </a:solidFill>
                <a:latin typeface="Arial"/>
              </a:rPr>
              <a:t>•  Rotation and phase gates</a:t>
            </a:r>
          </a:p>
          <a:p>
            <a:pPr>
              <a:spcAft>
                <a:spcPts val="1000"/>
              </a:spcAft>
            </a:pPr>
            <a:r>
              <a:rPr sz="1600">
                <a:solidFill>
                  <a:srgbClr val="161B26"/>
                </a:solidFill>
                <a:latin typeface="Arial"/>
              </a:rPr>
              <a:t>•  Multi-qubit gates</a:t>
            </a:r>
          </a:p>
          <a:p>
            <a:pPr>
              <a:spcAft>
                <a:spcPts val="1000"/>
              </a:spcAft>
            </a:pPr>
            <a:r>
              <a:rPr sz="1600">
                <a:solidFill>
                  <a:srgbClr val="161B26"/>
                </a:solidFill>
                <a:latin typeface="Arial"/>
              </a:rPr>
              <a:t>•  Bell and GHZ states</a:t>
            </a:r>
          </a:p>
          <a:p>
            <a:pPr>
              <a:spcAft>
                <a:spcPts val="1000"/>
              </a:spcAft>
            </a:pPr>
            <a:r>
              <a:rPr sz="1600">
                <a:solidFill>
                  <a:srgbClr val="161B26"/>
                </a:solidFill>
                <a:latin typeface="Arial"/>
              </a:rPr>
              <a:t>•  Phase kickback</a:t>
            </a:r>
          </a:p>
        </p:txBody>
      </p:sp>
      <p:sp>
        <p:nvSpPr>
          <p:cNvPr id="8" name="TextBox 7"/>
          <p:cNvSpPr txBox="1"/>
          <p:nvPr/>
        </p:nvSpPr>
        <p:spPr>
          <a:xfrm>
            <a:off x="365760" y="6446520"/>
            <a:ext cx="6858000" cy="320040"/>
          </a:xfrm>
          <a:prstGeom prst="rect">
            <a:avLst/>
          </a:prstGeom>
          <a:noFill/>
        </p:spPr>
        <p:txBody>
          <a:bodyPr wrap="square" anchor="t">
            <a:spAutoFit/>
          </a:bodyPr>
          <a:lstStyle/>
          <a:p>
            <a:pPr algn="l">
              <a:spcAft>
                <a:spcPts val="400"/>
              </a:spcAft>
            </a:pPr>
            <a:r>
              <a:rPr sz="900" b="0">
                <a:solidFill>
                  <a:srgbClr val="5B6372"/>
                </a:solidFill>
                <a:latin typeface="Arial"/>
              </a:rPr>
              <a:t>Securing the Future with Quantum Computing and Cryptography  ·  TGS-2024043419</a:t>
            </a:r>
          </a:p>
        </p:txBody>
      </p:sp>
      <p:sp>
        <p:nvSpPr>
          <p:cNvPr id="9" name="TextBox 8"/>
          <p:cNvSpPr txBox="1"/>
          <p:nvPr/>
        </p:nvSpPr>
        <p:spPr>
          <a:xfrm>
            <a:off x="4572000" y="6446520"/>
            <a:ext cx="3017520" cy="320040"/>
          </a:xfrm>
          <a:prstGeom prst="rect">
            <a:avLst/>
          </a:prstGeom>
          <a:noFill/>
        </p:spPr>
        <p:txBody>
          <a:bodyPr wrap="square" anchor="t">
            <a:spAutoFit/>
          </a:bodyPr>
          <a:lstStyle/>
          <a:p>
            <a:pPr algn="ctr">
              <a:spcAft>
                <a:spcPts val="400"/>
              </a:spcAft>
            </a:pPr>
            <a:r>
              <a:rPr sz="900" b="0">
                <a:solidFill>
                  <a:srgbClr val="5B6372"/>
                </a:solidFill>
                <a:latin typeface="Arial"/>
              </a:rPr>
              <a:t>© 2026 Tertiary Infotech Academy Pte Ltd</a:t>
            </a:r>
          </a:p>
        </p:txBody>
      </p:sp>
      <p:sp>
        <p:nvSpPr>
          <p:cNvPr id="10" name="TextBox 9"/>
          <p:cNvSpPr txBox="1"/>
          <p:nvPr/>
        </p:nvSpPr>
        <p:spPr>
          <a:xfrm>
            <a:off x="11338560" y="6446520"/>
            <a:ext cx="548640" cy="320040"/>
          </a:xfrm>
          <a:prstGeom prst="rect">
            <a:avLst/>
          </a:prstGeom>
          <a:noFill/>
        </p:spPr>
        <p:txBody>
          <a:bodyPr wrap="square" anchor="t">
            <a:spAutoFit/>
          </a:bodyPr>
          <a:lstStyle/>
          <a:p>
            <a:pPr algn="r">
              <a:spcAft>
                <a:spcPts val="400"/>
              </a:spcAft>
            </a:pPr>
            <a:r>
              <a:rPr sz="900" b="0">
                <a:solidFill>
                  <a:srgbClr val="5B6372"/>
                </a:solidFill>
                <a:latin typeface="Arial"/>
              </a:rPr>
              <a:t>80</a:t>
            </a:r>
          </a:p>
        </p:txBody>
      </p:sp>
    </p:spTree>
  </p:cSld>
  <p:clrMapOvr>
    <a:masterClrMapping/>
  </p:clrMapOvr>
</p:sld>
</file>

<file path=ppt/slides/slide82.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256032" cy="6858000"/>
          </a:xfrm>
          <a:prstGeom prst="rect">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Rectangle 3"/>
          <p:cNvSpPr/>
          <p:nvPr/>
        </p:nvSpPr>
        <p:spPr>
          <a:xfrm>
            <a:off x="777240" y="2286000"/>
            <a:ext cx="128016" cy="1828800"/>
          </a:xfrm>
          <a:prstGeom prst="rect">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TextBox 4"/>
          <p:cNvSpPr txBox="1"/>
          <p:nvPr/>
        </p:nvSpPr>
        <p:spPr>
          <a:xfrm>
            <a:off x="1143000" y="2331720"/>
            <a:ext cx="10058400" cy="548640"/>
          </a:xfrm>
          <a:prstGeom prst="rect">
            <a:avLst/>
          </a:prstGeom>
          <a:noFill/>
        </p:spPr>
        <p:txBody>
          <a:bodyPr wrap="square" anchor="t">
            <a:spAutoFit/>
          </a:bodyPr>
          <a:lstStyle/>
          <a:p>
            <a:pPr algn="l">
              <a:spcAft>
                <a:spcPts val="400"/>
              </a:spcAft>
            </a:pPr>
            <a:r>
              <a:rPr sz="1800" b="1">
                <a:solidFill>
                  <a:srgbClr val="1F6FEB"/>
                </a:solidFill>
                <a:latin typeface="Arial"/>
              </a:rPr>
              <a:t>TOPIC 04</a:t>
            </a:r>
          </a:p>
        </p:txBody>
      </p:sp>
      <p:sp>
        <p:nvSpPr>
          <p:cNvPr id="6" name="TextBox 5"/>
          <p:cNvSpPr txBox="1"/>
          <p:nvPr/>
        </p:nvSpPr>
        <p:spPr>
          <a:xfrm>
            <a:off x="1143000" y="2743200"/>
            <a:ext cx="9509760" cy="1463040"/>
          </a:xfrm>
          <a:prstGeom prst="rect">
            <a:avLst/>
          </a:prstGeom>
          <a:noFill/>
        </p:spPr>
        <p:txBody>
          <a:bodyPr wrap="square" anchor="t">
            <a:spAutoFit/>
          </a:bodyPr>
          <a:lstStyle/>
          <a:p>
            <a:pPr algn="l">
              <a:spcAft>
                <a:spcPts val="400"/>
              </a:spcAft>
            </a:pPr>
            <a:r>
              <a:rPr sz="4000" b="1">
                <a:solidFill>
                  <a:srgbClr val="161B26"/>
                </a:solidFill>
                <a:latin typeface="Arial"/>
              </a:rPr>
              <a:t>Quantum Protocols</a:t>
            </a:r>
          </a:p>
        </p:txBody>
      </p:sp>
      <p:sp>
        <p:nvSpPr>
          <p:cNvPr id="7" name="TextBox 6"/>
          <p:cNvSpPr txBox="1"/>
          <p:nvPr/>
        </p:nvSpPr>
        <p:spPr>
          <a:xfrm>
            <a:off x="1161288" y="4251960"/>
            <a:ext cx="9692640" cy="822960"/>
          </a:xfrm>
          <a:prstGeom prst="rect">
            <a:avLst/>
          </a:prstGeom>
          <a:noFill/>
        </p:spPr>
        <p:txBody>
          <a:bodyPr wrap="square" anchor="t">
            <a:spAutoFit/>
          </a:bodyPr>
          <a:lstStyle/>
          <a:p>
            <a:pPr algn="l">
              <a:spcAft>
                <a:spcPts val="400"/>
              </a:spcAft>
            </a:pPr>
            <a:r>
              <a:rPr sz="1500" b="0">
                <a:solidFill>
                  <a:srgbClr val="5B6372"/>
                </a:solidFill>
                <a:latin typeface="Arial"/>
              </a:rPr>
              <a:t>No-Cloning Theorem · Teleportation · Superdense Coding · BB84 QKD · CHSH Game</a:t>
            </a:r>
          </a:p>
        </p:txBody>
      </p:sp>
      <p:sp>
        <p:nvSpPr>
          <p:cNvPr id="8" name="TextBox 7"/>
          <p:cNvSpPr txBox="1"/>
          <p:nvPr/>
        </p:nvSpPr>
        <p:spPr>
          <a:xfrm>
            <a:off x="9144000" y="640080"/>
            <a:ext cx="2560320" cy="1463040"/>
          </a:xfrm>
          <a:prstGeom prst="rect">
            <a:avLst/>
          </a:prstGeom>
          <a:noFill/>
        </p:spPr>
        <p:txBody>
          <a:bodyPr wrap="square" anchor="t">
            <a:spAutoFit/>
          </a:bodyPr>
          <a:lstStyle/>
          <a:p>
            <a:pPr algn="r">
              <a:spcAft>
                <a:spcPts val="400"/>
              </a:spcAft>
            </a:pPr>
            <a:r>
              <a:rPr sz="7200" b="1">
                <a:solidFill>
                  <a:srgbClr val="E2E8F0"/>
                </a:solidFill>
                <a:latin typeface="Arial"/>
              </a:rPr>
              <a:t>04</a:t>
            </a:r>
          </a:p>
        </p:txBody>
      </p:sp>
      <p:sp>
        <p:nvSpPr>
          <p:cNvPr id="9" name="TextBox 8"/>
          <p:cNvSpPr txBox="1"/>
          <p:nvPr/>
        </p:nvSpPr>
        <p:spPr>
          <a:xfrm>
            <a:off x="365760" y="6446520"/>
            <a:ext cx="6858000" cy="320040"/>
          </a:xfrm>
          <a:prstGeom prst="rect">
            <a:avLst/>
          </a:prstGeom>
          <a:noFill/>
        </p:spPr>
        <p:txBody>
          <a:bodyPr wrap="square" anchor="t">
            <a:spAutoFit/>
          </a:bodyPr>
          <a:lstStyle/>
          <a:p>
            <a:pPr algn="l">
              <a:spcAft>
                <a:spcPts val="400"/>
              </a:spcAft>
            </a:pPr>
            <a:r>
              <a:rPr sz="900" b="0">
                <a:solidFill>
                  <a:srgbClr val="5B6372"/>
                </a:solidFill>
                <a:latin typeface="Arial"/>
              </a:rPr>
              <a:t>Securing the Future with Quantum Computing and Cryptography  ·  TGS-2024043419</a:t>
            </a:r>
          </a:p>
        </p:txBody>
      </p:sp>
      <p:sp>
        <p:nvSpPr>
          <p:cNvPr id="10" name="TextBox 9"/>
          <p:cNvSpPr txBox="1"/>
          <p:nvPr/>
        </p:nvSpPr>
        <p:spPr>
          <a:xfrm>
            <a:off x="4572000" y="6446520"/>
            <a:ext cx="3017520" cy="320040"/>
          </a:xfrm>
          <a:prstGeom prst="rect">
            <a:avLst/>
          </a:prstGeom>
          <a:noFill/>
        </p:spPr>
        <p:txBody>
          <a:bodyPr wrap="square" anchor="t">
            <a:spAutoFit/>
          </a:bodyPr>
          <a:lstStyle/>
          <a:p>
            <a:pPr algn="ctr">
              <a:spcAft>
                <a:spcPts val="400"/>
              </a:spcAft>
            </a:pPr>
            <a:r>
              <a:rPr sz="900" b="0">
                <a:solidFill>
                  <a:srgbClr val="5B6372"/>
                </a:solidFill>
                <a:latin typeface="Arial"/>
              </a:rPr>
              <a:t>© 2026 Tertiary Infotech Academy Pte Ltd</a:t>
            </a:r>
          </a:p>
        </p:txBody>
      </p:sp>
      <p:sp>
        <p:nvSpPr>
          <p:cNvPr id="11" name="TextBox 10"/>
          <p:cNvSpPr txBox="1"/>
          <p:nvPr/>
        </p:nvSpPr>
        <p:spPr>
          <a:xfrm>
            <a:off x="11338560" y="6446520"/>
            <a:ext cx="548640" cy="320040"/>
          </a:xfrm>
          <a:prstGeom prst="rect">
            <a:avLst/>
          </a:prstGeom>
          <a:noFill/>
        </p:spPr>
        <p:txBody>
          <a:bodyPr wrap="square" anchor="t">
            <a:spAutoFit/>
          </a:bodyPr>
          <a:lstStyle/>
          <a:p>
            <a:pPr algn="r">
              <a:spcAft>
                <a:spcPts val="400"/>
              </a:spcAft>
            </a:pPr>
            <a:r>
              <a:rPr sz="900" b="0">
                <a:solidFill>
                  <a:srgbClr val="5B6372"/>
                </a:solidFill>
                <a:latin typeface="Arial"/>
              </a:rPr>
              <a:t>81</a:t>
            </a:r>
          </a:p>
        </p:txBody>
      </p:sp>
    </p:spTree>
  </p:cSld>
  <p:clrMapOvr>
    <a:masterClrMapping/>
  </p:clrMapOvr>
</p:sld>
</file>

<file path=ppt/slides/slide83.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256032" cy="1417320"/>
          </a:xfrm>
          <a:prstGeom prst="rect">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777240" y="457200"/>
            <a:ext cx="10607040" cy="365760"/>
          </a:xfrm>
          <a:prstGeom prst="rect">
            <a:avLst/>
          </a:prstGeom>
          <a:noFill/>
        </p:spPr>
        <p:txBody>
          <a:bodyPr wrap="square" anchor="t">
            <a:spAutoFit/>
          </a:bodyPr>
          <a:lstStyle/>
          <a:p>
            <a:pPr algn="l">
              <a:spcAft>
                <a:spcPts val="400"/>
              </a:spcAft>
            </a:pPr>
            <a:r>
              <a:rPr sz="1400" b="1">
                <a:solidFill>
                  <a:srgbClr val="1F6FEB"/>
                </a:solidFill>
                <a:latin typeface="Arial"/>
              </a:rPr>
              <a:t>MAPS TO LO3, LO7</a:t>
            </a:r>
          </a:p>
        </p:txBody>
      </p:sp>
      <p:sp>
        <p:nvSpPr>
          <p:cNvPr id="5" name="TextBox 4"/>
          <p:cNvSpPr txBox="1"/>
          <p:nvPr/>
        </p:nvSpPr>
        <p:spPr>
          <a:xfrm>
            <a:off x="777240" y="822960"/>
            <a:ext cx="10881360" cy="822960"/>
          </a:xfrm>
          <a:prstGeom prst="rect">
            <a:avLst/>
          </a:prstGeom>
          <a:noFill/>
        </p:spPr>
        <p:txBody>
          <a:bodyPr wrap="square" anchor="t">
            <a:spAutoFit/>
          </a:bodyPr>
          <a:lstStyle/>
          <a:p>
            <a:pPr algn="l">
              <a:spcAft>
                <a:spcPts val="400"/>
              </a:spcAft>
            </a:pPr>
            <a:r>
              <a:rPr sz="2900" b="1">
                <a:solidFill>
                  <a:srgbClr val="161B26"/>
                </a:solidFill>
                <a:latin typeface="Arial"/>
              </a:rPr>
              <a:t>Key Concepts — Quantum Protocols</a:t>
            </a:r>
          </a:p>
        </p:txBody>
      </p:sp>
      <p:sp>
        <p:nvSpPr>
          <p:cNvPr id="6" name="Rectangle 5"/>
          <p:cNvSpPr/>
          <p:nvPr/>
        </p:nvSpPr>
        <p:spPr>
          <a:xfrm>
            <a:off x="777240" y="1554480"/>
            <a:ext cx="10634472" cy="18288"/>
          </a:xfrm>
          <a:prstGeom prst="rect">
            <a:avLst/>
          </a:prstGeom>
          <a:solidFill>
            <a:srgbClr val="E2E8F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Rectangle 6"/>
          <p:cNvSpPr/>
          <p:nvPr/>
        </p:nvSpPr>
        <p:spPr>
          <a:xfrm>
            <a:off x="777240" y="1783080"/>
            <a:ext cx="5180076" cy="1298448"/>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Rectangle 7"/>
          <p:cNvSpPr/>
          <p:nvPr/>
        </p:nvSpPr>
        <p:spPr>
          <a:xfrm>
            <a:off x="777240" y="1783080"/>
            <a:ext cx="91440" cy="1298448"/>
          </a:xfrm>
          <a:prstGeom prst="rect">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Oval 8"/>
          <p:cNvSpPr/>
          <p:nvPr/>
        </p:nvSpPr>
        <p:spPr>
          <a:xfrm>
            <a:off x="1033272" y="2157984"/>
            <a:ext cx="548640" cy="548640"/>
          </a:xfrm>
          <a:prstGeom prst="ellipse">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TextBox 9"/>
          <p:cNvSpPr txBox="1"/>
          <p:nvPr/>
        </p:nvSpPr>
        <p:spPr>
          <a:xfrm>
            <a:off x="1033272" y="2157984"/>
            <a:ext cx="548640" cy="548640"/>
          </a:xfrm>
          <a:prstGeom prst="rect">
            <a:avLst/>
          </a:prstGeom>
          <a:noFill/>
        </p:spPr>
        <p:txBody>
          <a:bodyPr wrap="square" anchor="ctr">
            <a:spAutoFit/>
          </a:bodyPr>
          <a:lstStyle/>
          <a:p>
            <a:pPr algn="ctr">
              <a:spcAft>
                <a:spcPts val="400"/>
              </a:spcAft>
            </a:pPr>
            <a:r>
              <a:rPr sz="1800" b="1">
                <a:solidFill>
                  <a:srgbClr val="FFFFFF"/>
                </a:solidFill>
                <a:latin typeface="Arial"/>
              </a:rPr>
              <a:t>1</a:t>
            </a:r>
          </a:p>
        </p:txBody>
      </p:sp>
      <p:sp>
        <p:nvSpPr>
          <p:cNvPr id="11" name="TextBox 10"/>
          <p:cNvSpPr txBox="1"/>
          <p:nvPr/>
        </p:nvSpPr>
        <p:spPr>
          <a:xfrm>
            <a:off x="1764792" y="1892808"/>
            <a:ext cx="3973068" cy="1115568"/>
          </a:xfrm>
          <a:prstGeom prst="rect">
            <a:avLst/>
          </a:prstGeom>
          <a:noFill/>
        </p:spPr>
        <p:txBody>
          <a:bodyPr wrap="square" anchor="ctr">
            <a:spAutoFit/>
          </a:bodyPr>
          <a:lstStyle/>
          <a:p>
            <a:pPr algn="l">
              <a:spcAft>
                <a:spcPts val="300"/>
              </a:spcAft>
            </a:pPr>
            <a:r>
              <a:rPr sz="1450" b="1">
                <a:solidFill>
                  <a:srgbClr val="161B26"/>
                </a:solidFill>
                <a:latin typeface="Arial"/>
              </a:rPr>
              <a:t>No-cloning theorem</a:t>
            </a:r>
          </a:p>
          <a:p>
            <a:pPr algn="l">
              <a:spcAft>
                <a:spcPts val="300"/>
              </a:spcAft>
            </a:pPr>
            <a:r>
              <a:rPr sz="1100" b="0">
                <a:solidFill>
                  <a:srgbClr val="5B6372"/>
                </a:solidFill>
                <a:latin typeface="Arial"/>
              </a:rPr>
              <a:t>No unitary can copy an arbitrary unknown quantum state — proved by linearity, and the foundation of quantum key security.</a:t>
            </a:r>
          </a:p>
        </p:txBody>
      </p:sp>
      <p:sp>
        <p:nvSpPr>
          <p:cNvPr id="12" name="Rectangle 11"/>
          <p:cNvSpPr/>
          <p:nvPr/>
        </p:nvSpPr>
        <p:spPr>
          <a:xfrm>
            <a:off x="6231636" y="1783080"/>
            <a:ext cx="5180076" cy="1298448"/>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 name="Rectangle 12"/>
          <p:cNvSpPr/>
          <p:nvPr/>
        </p:nvSpPr>
        <p:spPr>
          <a:xfrm>
            <a:off x="6231636" y="1783080"/>
            <a:ext cx="91440" cy="1298448"/>
          </a:xfrm>
          <a:prstGeom prst="rect">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 name="Oval 13"/>
          <p:cNvSpPr/>
          <p:nvPr/>
        </p:nvSpPr>
        <p:spPr>
          <a:xfrm>
            <a:off x="6487668" y="2157984"/>
            <a:ext cx="548640" cy="548640"/>
          </a:xfrm>
          <a:prstGeom prst="ellipse">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5" name="TextBox 14"/>
          <p:cNvSpPr txBox="1"/>
          <p:nvPr/>
        </p:nvSpPr>
        <p:spPr>
          <a:xfrm>
            <a:off x="6487668" y="2157984"/>
            <a:ext cx="548640" cy="548640"/>
          </a:xfrm>
          <a:prstGeom prst="rect">
            <a:avLst/>
          </a:prstGeom>
          <a:noFill/>
        </p:spPr>
        <p:txBody>
          <a:bodyPr wrap="square" anchor="ctr">
            <a:spAutoFit/>
          </a:bodyPr>
          <a:lstStyle/>
          <a:p>
            <a:pPr algn="ctr">
              <a:spcAft>
                <a:spcPts val="400"/>
              </a:spcAft>
            </a:pPr>
            <a:r>
              <a:rPr sz="1800" b="1">
                <a:solidFill>
                  <a:srgbClr val="FFFFFF"/>
                </a:solidFill>
                <a:latin typeface="Arial"/>
              </a:rPr>
              <a:t>2</a:t>
            </a:r>
          </a:p>
        </p:txBody>
      </p:sp>
      <p:sp>
        <p:nvSpPr>
          <p:cNvPr id="16" name="TextBox 15"/>
          <p:cNvSpPr txBox="1"/>
          <p:nvPr/>
        </p:nvSpPr>
        <p:spPr>
          <a:xfrm>
            <a:off x="7219188" y="1892808"/>
            <a:ext cx="3973068" cy="1115568"/>
          </a:xfrm>
          <a:prstGeom prst="rect">
            <a:avLst/>
          </a:prstGeom>
          <a:noFill/>
        </p:spPr>
        <p:txBody>
          <a:bodyPr wrap="square" anchor="ctr">
            <a:spAutoFit/>
          </a:bodyPr>
          <a:lstStyle/>
          <a:p>
            <a:pPr algn="l">
              <a:spcAft>
                <a:spcPts val="300"/>
              </a:spcAft>
            </a:pPr>
            <a:r>
              <a:rPr sz="1450" b="1">
                <a:solidFill>
                  <a:srgbClr val="161B26"/>
                </a:solidFill>
                <a:latin typeface="Arial"/>
              </a:rPr>
              <a:t>Quantum teleportation</a:t>
            </a:r>
          </a:p>
          <a:p>
            <a:pPr algn="l">
              <a:spcAft>
                <a:spcPts val="300"/>
              </a:spcAft>
            </a:pPr>
            <a:r>
              <a:rPr sz="1100" b="0">
                <a:solidFill>
                  <a:srgbClr val="5B6372"/>
                </a:solidFill>
                <a:latin typeface="Arial"/>
              </a:rPr>
              <a:t>Transfers an unknown qubit state using one shared Bell pair plus two classical bits — no faster-than-light signalling.</a:t>
            </a:r>
          </a:p>
        </p:txBody>
      </p:sp>
      <p:sp>
        <p:nvSpPr>
          <p:cNvPr id="17" name="Rectangle 16"/>
          <p:cNvSpPr/>
          <p:nvPr/>
        </p:nvSpPr>
        <p:spPr>
          <a:xfrm>
            <a:off x="777240" y="3319272"/>
            <a:ext cx="5180076" cy="1298448"/>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8" name="Rectangle 17"/>
          <p:cNvSpPr/>
          <p:nvPr/>
        </p:nvSpPr>
        <p:spPr>
          <a:xfrm>
            <a:off x="777240" y="3319272"/>
            <a:ext cx="91440" cy="1298448"/>
          </a:xfrm>
          <a:prstGeom prst="rect">
            <a:avLst/>
          </a:prstGeom>
          <a:solidFill>
            <a:srgbClr val="7C3AE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9" name="Oval 18"/>
          <p:cNvSpPr/>
          <p:nvPr/>
        </p:nvSpPr>
        <p:spPr>
          <a:xfrm>
            <a:off x="1033272" y="3694176"/>
            <a:ext cx="548640" cy="548640"/>
          </a:xfrm>
          <a:prstGeom prst="ellipse">
            <a:avLst/>
          </a:prstGeom>
          <a:solidFill>
            <a:srgbClr val="7C3AE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0" name="TextBox 19"/>
          <p:cNvSpPr txBox="1"/>
          <p:nvPr/>
        </p:nvSpPr>
        <p:spPr>
          <a:xfrm>
            <a:off x="1033272" y="3694176"/>
            <a:ext cx="548640" cy="548640"/>
          </a:xfrm>
          <a:prstGeom prst="rect">
            <a:avLst/>
          </a:prstGeom>
          <a:noFill/>
        </p:spPr>
        <p:txBody>
          <a:bodyPr wrap="square" anchor="ctr">
            <a:spAutoFit/>
          </a:bodyPr>
          <a:lstStyle/>
          <a:p>
            <a:pPr algn="ctr">
              <a:spcAft>
                <a:spcPts val="400"/>
              </a:spcAft>
            </a:pPr>
            <a:r>
              <a:rPr sz="1800" b="1">
                <a:solidFill>
                  <a:srgbClr val="FFFFFF"/>
                </a:solidFill>
                <a:latin typeface="Arial"/>
              </a:rPr>
              <a:t>3</a:t>
            </a:r>
          </a:p>
        </p:txBody>
      </p:sp>
      <p:sp>
        <p:nvSpPr>
          <p:cNvPr id="21" name="TextBox 20"/>
          <p:cNvSpPr txBox="1"/>
          <p:nvPr/>
        </p:nvSpPr>
        <p:spPr>
          <a:xfrm>
            <a:off x="1764792" y="3429000"/>
            <a:ext cx="3973068" cy="1115568"/>
          </a:xfrm>
          <a:prstGeom prst="rect">
            <a:avLst/>
          </a:prstGeom>
          <a:noFill/>
        </p:spPr>
        <p:txBody>
          <a:bodyPr wrap="square" anchor="ctr">
            <a:spAutoFit/>
          </a:bodyPr>
          <a:lstStyle/>
          <a:p>
            <a:pPr algn="l">
              <a:spcAft>
                <a:spcPts val="300"/>
              </a:spcAft>
            </a:pPr>
            <a:r>
              <a:rPr sz="1450" b="1">
                <a:solidFill>
                  <a:srgbClr val="161B26"/>
                </a:solidFill>
                <a:latin typeface="Arial"/>
              </a:rPr>
              <a:t>Superdense coding</a:t>
            </a:r>
          </a:p>
          <a:p>
            <a:pPr algn="l">
              <a:spcAft>
                <a:spcPts val="300"/>
              </a:spcAft>
            </a:pPr>
            <a:r>
              <a:rPr sz="1100" b="0">
                <a:solidFill>
                  <a:srgbClr val="5B6372"/>
                </a:solidFill>
                <a:latin typeface="Arial"/>
              </a:rPr>
              <a:t>The dual of teleportation: send two classical bits by transmitting a single qubit of a pre-shared entangled pair.</a:t>
            </a:r>
          </a:p>
        </p:txBody>
      </p:sp>
      <p:sp>
        <p:nvSpPr>
          <p:cNvPr id="22" name="Rectangle 21"/>
          <p:cNvSpPr/>
          <p:nvPr/>
        </p:nvSpPr>
        <p:spPr>
          <a:xfrm>
            <a:off x="6231636" y="3319272"/>
            <a:ext cx="5180076" cy="1298448"/>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3" name="Rectangle 22"/>
          <p:cNvSpPr/>
          <p:nvPr/>
        </p:nvSpPr>
        <p:spPr>
          <a:xfrm>
            <a:off x="6231636" y="3319272"/>
            <a:ext cx="91440" cy="1298448"/>
          </a:xfrm>
          <a:prstGeom prst="rect">
            <a:avLst/>
          </a:prstGeom>
          <a:solidFill>
            <a:srgbClr val="F59E0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4" name="Oval 23"/>
          <p:cNvSpPr/>
          <p:nvPr/>
        </p:nvSpPr>
        <p:spPr>
          <a:xfrm>
            <a:off x="6487668" y="3694176"/>
            <a:ext cx="548640" cy="548640"/>
          </a:xfrm>
          <a:prstGeom prst="ellipse">
            <a:avLst/>
          </a:prstGeom>
          <a:solidFill>
            <a:srgbClr val="F59E0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5" name="TextBox 24"/>
          <p:cNvSpPr txBox="1"/>
          <p:nvPr/>
        </p:nvSpPr>
        <p:spPr>
          <a:xfrm>
            <a:off x="6487668" y="3694176"/>
            <a:ext cx="548640" cy="548640"/>
          </a:xfrm>
          <a:prstGeom prst="rect">
            <a:avLst/>
          </a:prstGeom>
          <a:noFill/>
        </p:spPr>
        <p:txBody>
          <a:bodyPr wrap="square" anchor="ctr">
            <a:spAutoFit/>
          </a:bodyPr>
          <a:lstStyle/>
          <a:p>
            <a:pPr algn="ctr">
              <a:spcAft>
                <a:spcPts val="400"/>
              </a:spcAft>
            </a:pPr>
            <a:r>
              <a:rPr sz="1800" b="1">
                <a:solidFill>
                  <a:srgbClr val="FFFFFF"/>
                </a:solidFill>
                <a:latin typeface="Arial"/>
              </a:rPr>
              <a:t>4</a:t>
            </a:r>
          </a:p>
        </p:txBody>
      </p:sp>
      <p:sp>
        <p:nvSpPr>
          <p:cNvPr id="26" name="TextBox 25"/>
          <p:cNvSpPr txBox="1"/>
          <p:nvPr/>
        </p:nvSpPr>
        <p:spPr>
          <a:xfrm>
            <a:off x="7219188" y="3429000"/>
            <a:ext cx="3973068" cy="1115568"/>
          </a:xfrm>
          <a:prstGeom prst="rect">
            <a:avLst/>
          </a:prstGeom>
          <a:noFill/>
        </p:spPr>
        <p:txBody>
          <a:bodyPr wrap="square" anchor="ctr">
            <a:spAutoFit/>
          </a:bodyPr>
          <a:lstStyle/>
          <a:p>
            <a:pPr algn="l">
              <a:spcAft>
                <a:spcPts val="300"/>
              </a:spcAft>
            </a:pPr>
            <a:r>
              <a:rPr sz="1450" b="1">
                <a:solidFill>
                  <a:srgbClr val="161B26"/>
                </a:solidFill>
                <a:latin typeface="Arial"/>
              </a:rPr>
              <a:t>BB84 QKD</a:t>
            </a:r>
          </a:p>
          <a:p>
            <a:pPr algn="l">
              <a:spcAft>
                <a:spcPts val="300"/>
              </a:spcAft>
            </a:pPr>
            <a:r>
              <a:rPr sz="1100" b="0">
                <a:solidFill>
                  <a:srgbClr val="5B6372"/>
                </a:solidFill>
                <a:latin typeface="Arial"/>
              </a:rPr>
              <a:t>Alice and Bob build a shared secret key using random bases; eavesdropping disturbs the states and raises the error rate.</a:t>
            </a:r>
          </a:p>
        </p:txBody>
      </p:sp>
      <p:sp>
        <p:nvSpPr>
          <p:cNvPr id="27" name="Rectangle 26"/>
          <p:cNvSpPr/>
          <p:nvPr/>
        </p:nvSpPr>
        <p:spPr>
          <a:xfrm>
            <a:off x="777240" y="4855464"/>
            <a:ext cx="5180076" cy="1298448"/>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8" name="Rectangle 27"/>
          <p:cNvSpPr/>
          <p:nvPr/>
        </p:nvSpPr>
        <p:spPr>
          <a:xfrm>
            <a:off x="777240" y="4855464"/>
            <a:ext cx="91440" cy="1298448"/>
          </a:xfrm>
          <a:prstGeom prst="rect">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9" name="Oval 28"/>
          <p:cNvSpPr/>
          <p:nvPr/>
        </p:nvSpPr>
        <p:spPr>
          <a:xfrm>
            <a:off x="1033272" y="5230368"/>
            <a:ext cx="548640" cy="548640"/>
          </a:xfrm>
          <a:prstGeom prst="ellipse">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0" name="TextBox 29"/>
          <p:cNvSpPr txBox="1"/>
          <p:nvPr/>
        </p:nvSpPr>
        <p:spPr>
          <a:xfrm>
            <a:off x="1033272" y="5230368"/>
            <a:ext cx="548640" cy="548640"/>
          </a:xfrm>
          <a:prstGeom prst="rect">
            <a:avLst/>
          </a:prstGeom>
          <a:noFill/>
        </p:spPr>
        <p:txBody>
          <a:bodyPr wrap="square" anchor="ctr">
            <a:spAutoFit/>
          </a:bodyPr>
          <a:lstStyle/>
          <a:p>
            <a:pPr algn="ctr">
              <a:spcAft>
                <a:spcPts val="400"/>
              </a:spcAft>
            </a:pPr>
            <a:r>
              <a:rPr sz="1800" b="1">
                <a:solidFill>
                  <a:srgbClr val="FFFFFF"/>
                </a:solidFill>
                <a:latin typeface="Arial"/>
              </a:rPr>
              <a:t>5</a:t>
            </a:r>
          </a:p>
        </p:txBody>
      </p:sp>
      <p:sp>
        <p:nvSpPr>
          <p:cNvPr id="31" name="TextBox 30"/>
          <p:cNvSpPr txBox="1"/>
          <p:nvPr/>
        </p:nvSpPr>
        <p:spPr>
          <a:xfrm>
            <a:off x="1764792" y="4965192"/>
            <a:ext cx="3973068" cy="1115568"/>
          </a:xfrm>
          <a:prstGeom prst="rect">
            <a:avLst/>
          </a:prstGeom>
          <a:noFill/>
        </p:spPr>
        <p:txBody>
          <a:bodyPr wrap="square" anchor="ctr">
            <a:spAutoFit/>
          </a:bodyPr>
          <a:lstStyle/>
          <a:p>
            <a:pPr algn="l">
              <a:spcAft>
                <a:spcPts val="300"/>
              </a:spcAft>
            </a:pPr>
            <a:r>
              <a:rPr sz="1450" b="1">
                <a:solidFill>
                  <a:srgbClr val="161B26"/>
                </a:solidFill>
                <a:latin typeface="Arial"/>
              </a:rPr>
              <a:t>Eavesdropping detection</a:t>
            </a:r>
          </a:p>
          <a:p>
            <a:pPr algn="l">
              <a:spcAft>
                <a:spcPts val="300"/>
              </a:spcAft>
            </a:pPr>
            <a:r>
              <a:rPr sz="1100" b="0">
                <a:solidFill>
                  <a:srgbClr val="5B6372"/>
                </a:solidFill>
                <a:latin typeface="Arial"/>
              </a:rPr>
              <a:t>An intercept-resend attack introduces roughly a 25% error rate in the sifted key, revealing Eve's presence.</a:t>
            </a:r>
          </a:p>
        </p:txBody>
      </p:sp>
      <p:sp>
        <p:nvSpPr>
          <p:cNvPr id="32" name="Rectangle 31"/>
          <p:cNvSpPr/>
          <p:nvPr/>
        </p:nvSpPr>
        <p:spPr>
          <a:xfrm>
            <a:off x="6231636" y="4855464"/>
            <a:ext cx="5180076" cy="1298448"/>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3" name="Rectangle 32"/>
          <p:cNvSpPr/>
          <p:nvPr/>
        </p:nvSpPr>
        <p:spPr>
          <a:xfrm>
            <a:off x="6231636" y="4855464"/>
            <a:ext cx="91440" cy="1298448"/>
          </a:xfrm>
          <a:prstGeom prst="rect">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4" name="Oval 33"/>
          <p:cNvSpPr/>
          <p:nvPr/>
        </p:nvSpPr>
        <p:spPr>
          <a:xfrm>
            <a:off x="6487668" y="5230368"/>
            <a:ext cx="548640" cy="548640"/>
          </a:xfrm>
          <a:prstGeom prst="ellipse">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5" name="TextBox 34"/>
          <p:cNvSpPr txBox="1"/>
          <p:nvPr/>
        </p:nvSpPr>
        <p:spPr>
          <a:xfrm>
            <a:off x="6487668" y="5230368"/>
            <a:ext cx="548640" cy="548640"/>
          </a:xfrm>
          <a:prstGeom prst="rect">
            <a:avLst/>
          </a:prstGeom>
          <a:noFill/>
        </p:spPr>
        <p:txBody>
          <a:bodyPr wrap="square" anchor="ctr">
            <a:spAutoFit/>
          </a:bodyPr>
          <a:lstStyle/>
          <a:p>
            <a:pPr algn="ctr">
              <a:spcAft>
                <a:spcPts val="400"/>
              </a:spcAft>
            </a:pPr>
            <a:r>
              <a:rPr sz="1800" b="1">
                <a:solidFill>
                  <a:srgbClr val="FFFFFF"/>
                </a:solidFill>
                <a:latin typeface="Arial"/>
              </a:rPr>
              <a:t>6</a:t>
            </a:r>
          </a:p>
        </p:txBody>
      </p:sp>
      <p:sp>
        <p:nvSpPr>
          <p:cNvPr id="36" name="TextBox 35"/>
          <p:cNvSpPr txBox="1"/>
          <p:nvPr/>
        </p:nvSpPr>
        <p:spPr>
          <a:xfrm>
            <a:off x="7219188" y="4965192"/>
            <a:ext cx="3973068" cy="1115568"/>
          </a:xfrm>
          <a:prstGeom prst="rect">
            <a:avLst/>
          </a:prstGeom>
          <a:noFill/>
        </p:spPr>
        <p:txBody>
          <a:bodyPr wrap="square" anchor="ctr">
            <a:spAutoFit/>
          </a:bodyPr>
          <a:lstStyle/>
          <a:p>
            <a:pPr algn="l">
              <a:spcAft>
                <a:spcPts val="300"/>
              </a:spcAft>
            </a:pPr>
            <a:r>
              <a:rPr sz="1450" b="1">
                <a:solidFill>
                  <a:srgbClr val="161B26"/>
                </a:solidFill>
                <a:latin typeface="Arial"/>
              </a:rPr>
              <a:t>CHSH game</a:t>
            </a:r>
          </a:p>
          <a:p>
            <a:pPr algn="l">
              <a:spcAft>
                <a:spcPts val="300"/>
              </a:spcAft>
            </a:pPr>
            <a:r>
              <a:rPr sz="1100" b="0">
                <a:solidFill>
                  <a:srgbClr val="5B6372"/>
                </a:solidFill>
                <a:latin typeface="Arial"/>
              </a:rPr>
              <a:t>A quantum strategy using entanglement wins ~85% of the time versus the classical maximum of 75%, disproving local hidden variables.</a:t>
            </a:r>
          </a:p>
        </p:txBody>
      </p:sp>
      <p:sp>
        <p:nvSpPr>
          <p:cNvPr id="37" name="TextBox 36"/>
          <p:cNvSpPr txBox="1"/>
          <p:nvPr/>
        </p:nvSpPr>
        <p:spPr>
          <a:xfrm>
            <a:off x="365760" y="6446520"/>
            <a:ext cx="6858000" cy="320040"/>
          </a:xfrm>
          <a:prstGeom prst="rect">
            <a:avLst/>
          </a:prstGeom>
          <a:noFill/>
        </p:spPr>
        <p:txBody>
          <a:bodyPr wrap="square" anchor="t">
            <a:spAutoFit/>
          </a:bodyPr>
          <a:lstStyle/>
          <a:p>
            <a:pPr algn="l">
              <a:spcAft>
                <a:spcPts val="400"/>
              </a:spcAft>
            </a:pPr>
            <a:r>
              <a:rPr sz="900" b="0">
                <a:solidFill>
                  <a:srgbClr val="5B6372"/>
                </a:solidFill>
                <a:latin typeface="Arial"/>
              </a:rPr>
              <a:t>Securing the Future with Quantum Computing and Cryptography  ·  TGS-2024043419</a:t>
            </a:r>
          </a:p>
        </p:txBody>
      </p:sp>
      <p:sp>
        <p:nvSpPr>
          <p:cNvPr id="38" name="TextBox 37"/>
          <p:cNvSpPr txBox="1"/>
          <p:nvPr/>
        </p:nvSpPr>
        <p:spPr>
          <a:xfrm>
            <a:off x="4572000" y="6446520"/>
            <a:ext cx="3017520" cy="320040"/>
          </a:xfrm>
          <a:prstGeom prst="rect">
            <a:avLst/>
          </a:prstGeom>
          <a:noFill/>
        </p:spPr>
        <p:txBody>
          <a:bodyPr wrap="square" anchor="t">
            <a:spAutoFit/>
          </a:bodyPr>
          <a:lstStyle/>
          <a:p>
            <a:pPr algn="ctr">
              <a:spcAft>
                <a:spcPts val="400"/>
              </a:spcAft>
            </a:pPr>
            <a:r>
              <a:rPr sz="900" b="0">
                <a:solidFill>
                  <a:srgbClr val="5B6372"/>
                </a:solidFill>
                <a:latin typeface="Arial"/>
              </a:rPr>
              <a:t>© 2026 Tertiary Infotech Academy Pte Ltd</a:t>
            </a:r>
          </a:p>
        </p:txBody>
      </p:sp>
      <p:sp>
        <p:nvSpPr>
          <p:cNvPr id="39" name="TextBox 38"/>
          <p:cNvSpPr txBox="1"/>
          <p:nvPr/>
        </p:nvSpPr>
        <p:spPr>
          <a:xfrm>
            <a:off x="11338560" y="6446520"/>
            <a:ext cx="548640" cy="320040"/>
          </a:xfrm>
          <a:prstGeom prst="rect">
            <a:avLst/>
          </a:prstGeom>
          <a:noFill/>
        </p:spPr>
        <p:txBody>
          <a:bodyPr wrap="square" anchor="t">
            <a:spAutoFit/>
          </a:bodyPr>
          <a:lstStyle/>
          <a:p>
            <a:pPr algn="r">
              <a:spcAft>
                <a:spcPts val="400"/>
              </a:spcAft>
            </a:pPr>
            <a:r>
              <a:rPr sz="900" b="0">
                <a:solidFill>
                  <a:srgbClr val="5B6372"/>
                </a:solidFill>
                <a:latin typeface="Arial"/>
              </a:rPr>
              <a:t>82</a:t>
            </a:r>
          </a:p>
        </p:txBody>
      </p:sp>
    </p:spTree>
  </p:cSld>
  <p:clrMapOvr>
    <a:masterClrMapping/>
  </p:clrMapOvr>
</p:sld>
</file>

<file path=ppt/slides/slide84.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256032" cy="1417320"/>
          </a:xfrm>
          <a:prstGeom prst="rect">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777240" y="457200"/>
            <a:ext cx="10607040" cy="365760"/>
          </a:xfrm>
          <a:prstGeom prst="rect">
            <a:avLst/>
          </a:prstGeom>
          <a:noFill/>
        </p:spPr>
        <p:txBody>
          <a:bodyPr wrap="square" anchor="t">
            <a:spAutoFit/>
          </a:bodyPr>
          <a:lstStyle/>
          <a:p>
            <a:pPr algn="l">
              <a:spcAft>
                <a:spcPts val="400"/>
              </a:spcAft>
            </a:pPr>
            <a:r>
              <a:rPr sz="1400" b="1">
                <a:solidFill>
                  <a:srgbClr val="1F6FEB"/>
                </a:solidFill>
                <a:latin typeface="Arial"/>
              </a:rPr>
              <a:t>MOVING A STATE WITHOUT MOVING A PARTICLE</a:t>
            </a:r>
          </a:p>
        </p:txBody>
      </p:sp>
      <p:sp>
        <p:nvSpPr>
          <p:cNvPr id="5" name="TextBox 4"/>
          <p:cNvSpPr txBox="1"/>
          <p:nvPr/>
        </p:nvSpPr>
        <p:spPr>
          <a:xfrm>
            <a:off x="777240" y="822960"/>
            <a:ext cx="10881360" cy="822960"/>
          </a:xfrm>
          <a:prstGeom prst="rect">
            <a:avLst/>
          </a:prstGeom>
          <a:noFill/>
        </p:spPr>
        <p:txBody>
          <a:bodyPr wrap="square" anchor="t">
            <a:spAutoFit/>
          </a:bodyPr>
          <a:lstStyle/>
          <a:p>
            <a:pPr algn="l">
              <a:spcAft>
                <a:spcPts val="400"/>
              </a:spcAft>
            </a:pPr>
            <a:r>
              <a:rPr sz="2900" b="1">
                <a:solidFill>
                  <a:srgbClr val="161B26"/>
                </a:solidFill>
                <a:latin typeface="Arial"/>
              </a:rPr>
              <a:t>Quantum Teleportation</a:t>
            </a:r>
          </a:p>
        </p:txBody>
      </p:sp>
      <p:sp>
        <p:nvSpPr>
          <p:cNvPr id="6" name="Rectangle 5"/>
          <p:cNvSpPr/>
          <p:nvPr/>
        </p:nvSpPr>
        <p:spPr>
          <a:xfrm>
            <a:off x="777240" y="1554480"/>
            <a:ext cx="10634472" cy="18288"/>
          </a:xfrm>
          <a:prstGeom prst="rect">
            <a:avLst/>
          </a:prstGeom>
          <a:solidFill>
            <a:srgbClr val="E2E8F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pic>
        <p:nvPicPr>
          <p:cNvPr id="7" name="Picture 6" descr="teleportation-flow.png"/>
          <p:cNvPicPr>
            <a:picLocks noChangeAspect="1"/>
          </p:cNvPicPr>
          <p:nvPr/>
        </p:nvPicPr>
        <p:blipFill>
          <a:blip r:embed="rId2"/>
          <a:stretch>
            <a:fillRect/>
          </a:stretch>
        </p:blipFill>
        <p:spPr>
          <a:xfrm>
            <a:off x="2027128" y="1755648"/>
            <a:ext cx="8134695" cy="3950208"/>
          </a:xfrm>
          <a:prstGeom prst="rect">
            <a:avLst/>
          </a:prstGeom>
        </p:spPr>
      </p:pic>
      <p:sp>
        <p:nvSpPr>
          <p:cNvPr id="8" name="Rectangle 7"/>
          <p:cNvSpPr/>
          <p:nvPr/>
        </p:nvSpPr>
        <p:spPr>
          <a:xfrm>
            <a:off x="777240" y="5870448"/>
            <a:ext cx="10634472" cy="457200"/>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TextBox 8"/>
          <p:cNvSpPr txBox="1"/>
          <p:nvPr/>
        </p:nvSpPr>
        <p:spPr>
          <a:xfrm>
            <a:off x="960120" y="5870448"/>
            <a:ext cx="10241280" cy="457200"/>
          </a:xfrm>
          <a:prstGeom prst="rect">
            <a:avLst/>
          </a:prstGeom>
          <a:noFill/>
        </p:spPr>
        <p:txBody>
          <a:bodyPr wrap="square" anchor="ctr">
            <a:spAutoFit/>
          </a:bodyPr>
          <a:lstStyle/>
          <a:p>
            <a:pPr algn="ctr">
              <a:spcAft>
                <a:spcPts val="400"/>
              </a:spcAft>
            </a:pPr>
            <a:r>
              <a:rPr sz="1350" b="0">
                <a:solidFill>
                  <a:srgbClr val="161B26"/>
                </a:solidFill>
                <a:latin typeface="Arial"/>
              </a:rPr>
              <a:t>Two classical bits must still travel — so teleportation never beats the speed of light.</a:t>
            </a:r>
          </a:p>
        </p:txBody>
      </p:sp>
      <p:sp>
        <p:nvSpPr>
          <p:cNvPr id="10" name="TextBox 9"/>
          <p:cNvSpPr txBox="1"/>
          <p:nvPr/>
        </p:nvSpPr>
        <p:spPr>
          <a:xfrm>
            <a:off x="365760" y="6446520"/>
            <a:ext cx="6858000" cy="320040"/>
          </a:xfrm>
          <a:prstGeom prst="rect">
            <a:avLst/>
          </a:prstGeom>
          <a:noFill/>
        </p:spPr>
        <p:txBody>
          <a:bodyPr wrap="square" anchor="t">
            <a:spAutoFit/>
          </a:bodyPr>
          <a:lstStyle/>
          <a:p>
            <a:pPr algn="l">
              <a:spcAft>
                <a:spcPts val="400"/>
              </a:spcAft>
            </a:pPr>
            <a:r>
              <a:rPr sz="900" b="0">
                <a:solidFill>
                  <a:srgbClr val="5B6372"/>
                </a:solidFill>
                <a:latin typeface="Arial"/>
              </a:rPr>
              <a:t>Securing the Future with Quantum Computing and Cryptography  ·  TGS-2024043419</a:t>
            </a:r>
          </a:p>
        </p:txBody>
      </p:sp>
      <p:sp>
        <p:nvSpPr>
          <p:cNvPr id="11" name="TextBox 10"/>
          <p:cNvSpPr txBox="1"/>
          <p:nvPr/>
        </p:nvSpPr>
        <p:spPr>
          <a:xfrm>
            <a:off x="4572000" y="6446520"/>
            <a:ext cx="3017520" cy="320040"/>
          </a:xfrm>
          <a:prstGeom prst="rect">
            <a:avLst/>
          </a:prstGeom>
          <a:noFill/>
        </p:spPr>
        <p:txBody>
          <a:bodyPr wrap="square" anchor="t">
            <a:spAutoFit/>
          </a:bodyPr>
          <a:lstStyle/>
          <a:p>
            <a:pPr algn="ctr">
              <a:spcAft>
                <a:spcPts val="400"/>
              </a:spcAft>
            </a:pPr>
            <a:r>
              <a:rPr sz="900" b="0">
                <a:solidFill>
                  <a:srgbClr val="5B6372"/>
                </a:solidFill>
                <a:latin typeface="Arial"/>
              </a:rPr>
              <a:t>© 2026 Tertiary Infotech Academy Pte Ltd</a:t>
            </a:r>
          </a:p>
        </p:txBody>
      </p:sp>
      <p:sp>
        <p:nvSpPr>
          <p:cNvPr id="12" name="TextBox 11"/>
          <p:cNvSpPr txBox="1"/>
          <p:nvPr/>
        </p:nvSpPr>
        <p:spPr>
          <a:xfrm>
            <a:off x="11338560" y="6446520"/>
            <a:ext cx="548640" cy="320040"/>
          </a:xfrm>
          <a:prstGeom prst="rect">
            <a:avLst/>
          </a:prstGeom>
          <a:noFill/>
        </p:spPr>
        <p:txBody>
          <a:bodyPr wrap="square" anchor="t">
            <a:spAutoFit/>
          </a:bodyPr>
          <a:lstStyle/>
          <a:p>
            <a:pPr algn="r">
              <a:spcAft>
                <a:spcPts val="400"/>
              </a:spcAft>
            </a:pPr>
            <a:r>
              <a:rPr sz="900" b="0">
                <a:solidFill>
                  <a:srgbClr val="5B6372"/>
                </a:solidFill>
                <a:latin typeface="Arial"/>
              </a:rPr>
              <a:t>83</a:t>
            </a:r>
          </a:p>
        </p:txBody>
      </p:sp>
    </p:spTree>
  </p:cSld>
  <p:clrMapOvr>
    <a:masterClrMapping/>
  </p:clrMapOvr>
</p:sld>
</file>

<file path=ppt/slides/slide85.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256032" cy="1417320"/>
          </a:xfrm>
          <a:prstGeom prst="rect">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777240" y="457200"/>
            <a:ext cx="10607040" cy="365760"/>
          </a:xfrm>
          <a:prstGeom prst="rect">
            <a:avLst/>
          </a:prstGeom>
          <a:noFill/>
        </p:spPr>
        <p:txBody>
          <a:bodyPr wrap="square" anchor="t">
            <a:spAutoFit/>
          </a:bodyPr>
          <a:lstStyle/>
          <a:p>
            <a:pPr algn="l">
              <a:spcAft>
                <a:spcPts val="400"/>
              </a:spcAft>
            </a:pPr>
            <a:r>
              <a:rPr sz="1400" b="1">
                <a:solidFill>
                  <a:srgbClr val="1F6FEB"/>
                </a:solidFill>
                <a:latin typeface="Arial"/>
              </a:rPr>
              <a:t>TWO SIDES OF ONE COIN</a:t>
            </a:r>
          </a:p>
        </p:txBody>
      </p:sp>
      <p:sp>
        <p:nvSpPr>
          <p:cNvPr id="5" name="TextBox 4"/>
          <p:cNvSpPr txBox="1"/>
          <p:nvPr/>
        </p:nvSpPr>
        <p:spPr>
          <a:xfrm>
            <a:off x="777240" y="822960"/>
            <a:ext cx="10881360" cy="822960"/>
          </a:xfrm>
          <a:prstGeom prst="rect">
            <a:avLst/>
          </a:prstGeom>
          <a:noFill/>
        </p:spPr>
        <p:txBody>
          <a:bodyPr wrap="square" anchor="t">
            <a:spAutoFit/>
          </a:bodyPr>
          <a:lstStyle/>
          <a:p>
            <a:pPr algn="l">
              <a:spcAft>
                <a:spcPts val="400"/>
              </a:spcAft>
            </a:pPr>
            <a:r>
              <a:rPr sz="2900" b="1">
                <a:solidFill>
                  <a:srgbClr val="161B26"/>
                </a:solidFill>
                <a:latin typeface="Arial"/>
              </a:rPr>
              <a:t>Teleportation vs Superdense Coding</a:t>
            </a:r>
          </a:p>
        </p:txBody>
      </p:sp>
      <p:sp>
        <p:nvSpPr>
          <p:cNvPr id="6" name="Rectangle 5"/>
          <p:cNvSpPr/>
          <p:nvPr/>
        </p:nvSpPr>
        <p:spPr>
          <a:xfrm>
            <a:off x="777240" y="1554480"/>
            <a:ext cx="10634472" cy="18288"/>
          </a:xfrm>
          <a:prstGeom prst="rect">
            <a:avLst/>
          </a:prstGeom>
          <a:solidFill>
            <a:srgbClr val="E2E8F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Rectangle 6"/>
          <p:cNvSpPr/>
          <p:nvPr/>
        </p:nvSpPr>
        <p:spPr>
          <a:xfrm>
            <a:off x="777240" y="1783080"/>
            <a:ext cx="5212080" cy="4297680"/>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Rectangle 7"/>
          <p:cNvSpPr/>
          <p:nvPr/>
        </p:nvSpPr>
        <p:spPr>
          <a:xfrm>
            <a:off x="6355080" y="1783080"/>
            <a:ext cx="5074920" cy="4297680"/>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TextBox 8"/>
          <p:cNvSpPr txBox="1"/>
          <p:nvPr/>
        </p:nvSpPr>
        <p:spPr>
          <a:xfrm>
            <a:off x="1005840" y="1965960"/>
            <a:ext cx="4754880" cy="365760"/>
          </a:xfrm>
          <a:prstGeom prst="rect">
            <a:avLst/>
          </a:prstGeom>
          <a:noFill/>
        </p:spPr>
        <p:txBody>
          <a:bodyPr wrap="square" anchor="t">
            <a:spAutoFit/>
          </a:bodyPr>
          <a:lstStyle/>
          <a:p>
            <a:pPr algn="l">
              <a:spcAft>
                <a:spcPts val="400"/>
              </a:spcAft>
            </a:pPr>
            <a:r>
              <a:rPr sz="1600" b="1">
                <a:solidFill>
                  <a:srgbClr val="1F6FEB"/>
                </a:solidFill>
                <a:latin typeface="Arial"/>
              </a:rPr>
              <a:t>Qubit → classical channel</a:t>
            </a:r>
          </a:p>
        </p:txBody>
      </p:sp>
      <p:sp>
        <p:nvSpPr>
          <p:cNvPr id="10" name="TextBox 9"/>
          <p:cNvSpPr txBox="1"/>
          <p:nvPr/>
        </p:nvSpPr>
        <p:spPr>
          <a:xfrm>
            <a:off x="6583680" y="1965960"/>
            <a:ext cx="4572000" cy="365760"/>
          </a:xfrm>
          <a:prstGeom prst="rect">
            <a:avLst/>
          </a:prstGeom>
          <a:noFill/>
        </p:spPr>
        <p:txBody>
          <a:bodyPr wrap="square" anchor="t">
            <a:spAutoFit/>
          </a:bodyPr>
          <a:lstStyle/>
          <a:p>
            <a:pPr algn="l">
              <a:spcAft>
                <a:spcPts val="400"/>
              </a:spcAft>
            </a:pPr>
            <a:r>
              <a:rPr sz="1600" b="1">
                <a:solidFill>
                  <a:srgbClr val="10B981"/>
                </a:solidFill>
                <a:latin typeface="Arial"/>
              </a:rPr>
              <a:t>Classical → qubit channel</a:t>
            </a:r>
          </a:p>
        </p:txBody>
      </p:sp>
      <p:sp>
        <p:nvSpPr>
          <p:cNvPr id="11" name="TextBox 10"/>
          <p:cNvSpPr txBox="1"/>
          <p:nvPr/>
        </p:nvSpPr>
        <p:spPr>
          <a:xfrm>
            <a:off x="1005840" y="2468880"/>
            <a:ext cx="4754880" cy="3474720"/>
          </a:xfrm>
          <a:prstGeom prst="rect">
            <a:avLst/>
          </a:prstGeom>
          <a:noFill/>
        </p:spPr>
        <p:txBody>
          <a:bodyPr wrap="square">
            <a:spAutoFit/>
          </a:bodyPr>
          <a:lstStyle/>
          <a:p>
            <a:pPr>
              <a:spcAft>
                <a:spcPts val="1000"/>
              </a:spcAft>
            </a:pPr>
            <a:r>
              <a:rPr sz="1600">
                <a:solidFill>
                  <a:srgbClr val="161B26"/>
                </a:solidFill>
                <a:latin typeface="Arial"/>
              </a:rPr>
              <a:t>•  Quantum Teleportation</a:t>
            </a:r>
          </a:p>
          <a:p>
            <a:pPr>
              <a:spcAft>
                <a:spcPts val="1000"/>
              </a:spcAft>
            </a:pPr>
            <a:r>
              <a:rPr sz="1400">
                <a:solidFill>
                  <a:srgbClr val="5B6372"/>
                </a:solidFill>
                <a:latin typeface="Arial"/>
              </a:rPr>
              <a:t>–  Sends: 1 unknown QUBIT state</a:t>
            </a:r>
          </a:p>
          <a:p>
            <a:pPr>
              <a:spcAft>
                <a:spcPts val="1000"/>
              </a:spcAft>
            </a:pPr>
            <a:r>
              <a:rPr sz="1400">
                <a:solidFill>
                  <a:srgbClr val="5B6372"/>
                </a:solidFill>
                <a:latin typeface="Arial"/>
              </a:rPr>
              <a:t>–  Costs: 1 Bell pair + 2 classical bits</a:t>
            </a:r>
          </a:p>
          <a:p>
            <a:pPr>
              <a:spcAft>
                <a:spcPts val="1000"/>
              </a:spcAft>
            </a:pPr>
            <a:r>
              <a:rPr sz="1400">
                <a:solidFill>
                  <a:srgbClr val="5B6372"/>
                </a:solidFill>
                <a:latin typeface="Arial"/>
              </a:rPr>
              <a:t>–  Original is destroyed (no cloning)</a:t>
            </a:r>
          </a:p>
          <a:p>
            <a:pPr>
              <a:spcAft>
                <a:spcPts val="1000"/>
              </a:spcAft>
            </a:pPr>
            <a:r>
              <a:rPr sz="1400">
                <a:solidFill>
                  <a:srgbClr val="5B6372"/>
                </a:solidFill>
                <a:latin typeface="Arial"/>
              </a:rPr>
              <a:t>–  Use: moving quantum data</a:t>
            </a:r>
          </a:p>
        </p:txBody>
      </p:sp>
      <p:sp>
        <p:nvSpPr>
          <p:cNvPr id="12" name="TextBox 11"/>
          <p:cNvSpPr txBox="1"/>
          <p:nvPr/>
        </p:nvSpPr>
        <p:spPr>
          <a:xfrm>
            <a:off x="6583680" y="2468880"/>
            <a:ext cx="4617720" cy="3474720"/>
          </a:xfrm>
          <a:prstGeom prst="rect">
            <a:avLst/>
          </a:prstGeom>
          <a:noFill/>
        </p:spPr>
        <p:txBody>
          <a:bodyPr wrap="square">
            <a:spAutoFit/>
          </a:bodyPr>
          <a:lstStyle/>
          <a:p>
            <a:pPr>
              <a:spcAft>
                <a:spcPts val="1000"/>
              </a:spcAft>
            </a:pPr>
            <a:r>
              <a:rPr sz="1600">
                <a:solidFill>
                  <a:srgbClr val="161B26"/>
                </a:solidFill>
                <a:latin typeface="Arial"/>
              </a:rPr>
              <a:t>•  Superdense Coding</a:t>
            </a:r>
          </a:p>
          <a:p>
            <a:pPr>
              <a:spcAft>
                <a:spcPts val="1000"/>
              </a:spcAft>
            </a:pPr>
            <a:r>
              <a:rPr sz="1400">
                <a:solidFill>
                  <a:srgbClr val="5B6372"/>
                </a:solidFill>
                <a:latin typeface="Arial"/>
              </a:rPr>
              <a:t>–  Sends: 2 CLASSICAL bits</a:t>
            </a:r>
          </a:p>
          <a:p>
            <a:pPr>
              <a:spcAft>
                <a:spcPts val="1000"/>
              </a:spcAft>
            </a:pPr>
            <a:r>
              <a:rPr sz="1400">
                <a:solidFill>
                  <a:srgbClr val="5B6372"/>
                </a:solidFill>
                <a:latin typeface="Arial"/>
              </a:rPr>
              <a:t>–  Costs: 1 Bell pair + 1 transmitted qubit</a:t>
            </a:r>
          </a:p>
          <a:p>
            <a:pPr>
              <a:spcAft>
                <a:spcPts val="1000"/>
              </a:spcAft>
            </a:pPr>
            <a:r>
              <a:rPr sz="1400">
                <a:solidFill>
                  <a:srgbClr val="5B6372"/>
                </a:solidFill>
                <a:latin typeface="Arial"/>
              </a:rPr>
              <a:t>–  Encode with I, X, Z or ZX</a:t>
            </a:r>
          </a:p>
          <a:p>
            <a:pPr>
              <a:spcAft>
                <a:spcPts val="1000"/>
              </a:spcAft>
            </a:pPr>
            <a:r>
              <a:rPr sz="1400">
                <a:solidFill>
                  <a:srgbClr val="5B6372"/>
                </a:solidFill>
                <a:latin typeface="Arial"/>
              </a:rPr>
              <a:t>–  Use: doubling channel capacity</a:t>
            </a:r>
          </a:p>
        </p:txBody>
      </p:sp>
      <p:sp>
        <p:nvSpPr>
          <p:cNvPr id="13" name="TextBox 12"/>
          <p:cNvSpPr txBox="1"/>
          <p:nvPr/>
        </p:nvSpPr>
        <p:spPr>
          <a:xfrm>
            <a:off x="365760" y="6446520"/>
            <a:ext cx="6858000" cy="320040"/>
          </a:xfrm>
          <a:prstGeom prst="rect">
            <a:avLst/>
          </a:prstGeom>
          <a:noFill/>
        </p:spPr>
        <p:txBody>
          <a:bodyPr wrap="square" anchor="t">
            <a:spAutoFit/>
          </a:bodyPr>
          <a:lstStyle/>
          <a:p>
            <a:pPr algn="l">
              <a:spcAft>
                <a:spcPts val="400"/>
              </a:spcAft>
            </a:pPr>
            <a:r>
              <a:rPr sz="900" b="0">
                <a:solidFill>
                  <a:srgbClr val="5B6372"/>
                </a:solidFill>
                <a:latin typeface="Arial"/>
              </a:rPr>
              <a:t>Securing the Future with Quantum Computing and Cryptography  ·  TGS-2024043419</a:t>
            </a:r>
          </a:p>
        </p:txBody>
      </p:sp>
      <p:sp>
        <p:nvSpPr>
          <p:cNvPr id="14" name="TextBox 13"/>
          <p:cNvSpPr txBox="1"/>
          <p:nvPr/>
        </p:nvSpPr>
        <p:spPr>
          <a:xfrm>
            <a:off x="4572000" y="6446520"/>
            <a:ext cx="3017520" cy="320040"/>
          </a:xfrm>
          <a:prstGeom prst="rect">
            <a:avLst/>
          </a:prstGeom>
          <a:noFill/>
        </p:spPr>
        <p:txBody>
          <a:bodyPr wrap="square" anchor="t">
            <a:spAutoFit/>
          </a:bodyPr>
          <a:lstStyle/>
          <a:p>
            <a:pPr algn="ctr">
              <a:spcAft>
                <a:spcPts val="400"/>
              </a:spcAft>
            </a:pPr>
            <a:r>
              <a:rPr sz="900" b="0">
                <a:solidFill>
                  <a:srgbClr val="5B6372"/>
                </a:solidFill>
                <a:latin typeface="Arial"/>
              </a:rPr>
              <a:t>© 2026 Tertiary Infotech Academy Pte Ltd</a:t>
            </a:r>
          </a:p>
        </p:txBody>
      </p:sp>
      <p:sp>
        <p:nvSpPr>
          <p:cNvPr id="15" name="TextBox 14"/>
          <p:cNvSpPr txBox="1"/>
          <p:nvPr/>
        </p:nvSpPr>
        <p:spPr>
          <a:xfrm>
            <a:off x="11338560" y="6446520"/>
            <a:ext cx="548640" cy="320040"/>
          </a:xfrm>
          <a:prstGeom prst="rect">
            <a:avLst/>
          </a:prstGeom>
          <a:noFill/>
        </p:spPr>
        <p:txBody>
          <a:bodyPr wrap="square" anchor="t">
            <a:spAutoFit/>
          </a:bodyPr>
          <a:lstStyle/>
          <a:p>
            <a:pPr algn="r">
              <a:spcAft>
                <a:spcPts val="400"/>
              </a:spcAft>
            </a:pPr>
            <a:r>
              <a:rPr sz="900" b="0">
                <a:solidFill>
                  <a:srgbClr val="5B6372"/>
                </a:solidFill>
                <a:latin typeface="Arial"/>
              </a:rPr>
              <a:t>84</a:t>
            </a:r>
          </a:p>
        </p:txBody>
      </p:sp>
    </p:spTree>
  </p:cSld>
  <p:clrMapOvr>
    <a:masterClrMapping/>
  </p:clrMapOvr>
</p:sld>
</file>

<file path=ppt/slides/slide86.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256032" cy="1417320"/>
          </a:xfrm>
          <a:prstGeom prst="rect">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777240" y="457200"/>
            <a:ext cx="10607040" cy="365760"/>
          </a:xfrm>
          <a:prstGeom prst="rect">
            <a:avLst/>
          </a:prstGeom>
          <a:noFill/>
        </p:spPr>
        <p:txBody>
          <a:bodyPr wrap="square" anchor="t">
            <a:spAutoFit/>
          </a:bodyPr>
          <a:lstStyle/>
          <a:p>
            <a:pPr algn="l">
              <a:spcAft>
                <a:spcPts val="400"/>
              </a:spcAft>
            </a:pPr>
            <a:r>
              <a:rPr sz="1400" b="1">
                <a:solidFill>
                  <a:srgbClr val="1F6FEB"/>
                </a:solidFill>
                <a:latin typeface="Arial"/>
              </a:rPr>
              <a:t>SECURITY FROM PHYSICS, NOT MATHS</a:t>
            </a:r>
          </a:p>
        </p:txBody>
      </p:sp>
      <p:sp>
        <p:nvSpPr>
          <p:cNvPr id="5" name="TextBox 4"/>
          <p:cNvSpPr txBox="1"/>
          <p:nvPr/>
        </p:nvSpPr>
        <p:spPr>
          <a:xfrm>
            <a:off x="777240" y="822960"/>
            <a:ext cx="10881360" cy="822960"/>
          </a:xfrm>
          <a:prstGeom prst="rect">
            <a:avLst/>
          </a:prstGeom>
          <a:noFill/>
        </p:spPr>
        <p:txBody>
          <a:bodyPr wrap="square" anchor="t">
            <a:spAutoFit/>
          </a:bodyPr>
          <a:lstStyle/>
          <a:p>
            <a:pPr algn="l">
              <a:spcAft>
                <a:spcPts val="400"/>
              </a:spcAft>
            </a:pPr>
            <a:r>
              <a:rPr sz="2900" b="1">
                <a:solidFill>
                  <a:srgbClr val="161B26"/>
                </a:solidFill>
                <a:latin typeface="Arial"/>
              </a:rPr>
              <a:t>BB84 Quantum Key Distribution</a:t>
            </a:r>
          </a:p>
        </p:txBody>
      </p:sp>
      <p:sp>
        <p:nvSpPr>
          <p:cNvPr id="6" name="Rectangle 5"/>
          <p:cNvSpPr/>
          <p:nvPr/>
        </p:nvSpPr>
        <p:spPr>
          <a:xfrm>
            <a:off x="777240" y="1554480"/>
            <a:ext cx="10634472" cy="18288"/>
          </a:xfrm>
          <a:prstGeom prst="rect">
            <a:avLst/>
          </a:prstGeom>
          <a:solidFill>
            <a:srgbClr val="E2E8F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pic>
        <p:nvPicPr>
          <p:cNvPr id="7" name="Picture 6" descr="bb84-protocol.png"/>
          <p:cNvPicPr>
            <a:picLocks noChangeAspect="1"/>
          </p:cNvPicPr>
          <p:nvPr/>
        </p:nvPicPr>
        <p:blipFill>
          <a:blip r:embed="rId2"/>
          <a:stretch>
            <a:fillRect/>
          </a:stretch>
        </p:blipFill>
        <p:spPr>
          <a:xfrm>
            <a:off x="2175619" y="1755648"/>
            <a:ext cx="7837714" cy="3950208"/>
          </a:xfrm>
          <a:prstGeom prst="rect">
            <a:avLst/>
          </a:prstGeom>
        </p:spPr>
      </p:pic>
      <p:sp>
        <p:nvSpPr>
          <p:cNvPr id="8" name="Rectangle 7"/>
          <p:cNvSpPr/>
          <p:nvPr/>
        </p:nvSpPr>
        <p:spPr>
          <a:xfrm>
            <a:off x="777240" y="5870448"/>
            <a:ext cx="10634472" cy="457200"/>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TextBox 8"/>
          <p:cNvSpPr txBox="1"/>
          <p:nvPr/>
        </p:nvSpPr>
        <p:spPr>
          <a:xfrm>
            <a:off x="960120" y="5870448"/>
            <a:ext cx="10241280" cy="457200"/>
          </a:xfrm>
          <a:prstGeom prst="rect">
            <a:avLst/>
          </a:prstGeom>
          <a:noFill/>
        </p:spPr>
        <p:txBody>
          <a:bodyPr wrap="square" anchor="ctr">
            <a:spAutoFit/>
          </a:bodyPr>
          <a:lstStyle/>
          <a:p>
            <a:pPr algn="ctr">
              <a:spcAft>
                <a:spcPts val="400"/>
              </a:spcAft>
            </a:pPr>
            <a:r>
              <a:rPr sz="1350" b="0">
                <a:solidFill>
                  <a:srgbClr val="161B26"/>
                </a:solidFill>
                <a:latin typeface="Arial"/>
              </a:rPr>
              <a:t>Security rests on the no-cloning theorem — an eavesdropper cannot copy the qubits without disturbing them.</a:t>
            </a:r>
          </a:p>
        </p:txBody>
      </p:sp>
      <p:sp>
        <p:nvSpPr>
          <p:cNvPr id="10" name="TextBox 9"/>
          <p:cNvSpPr txBox="1"/>
          <p:nvPr/>
        </p:nvSpPr>
        <p:spPr>
          <a:xfrm>
            <a:off x="365760" y="6446520"/>
            <a:ext cx="6858000" cy="320040"/>
          </a:xfrm>
          <a:prstGeom prst="rect">
            <a:avLst/>
          </a:prstGeom>
          <a:noFill/>
        </p:spPr>
        <p:txBody>
          <a:bodyPr wrap="square" anchor="t">
            <a:spAutoFit/>
          </a:bodyPr>
          <a:lstStyle/>
          <a:p>
            <a:pPr algn="l">
              <a:spcAft>
                <a:spcPts val="400"/>
              </a:spcAft>
            </a:pPr>
            <a:r>
              <a:rPr sz="900" b="0">
                <a:solidFill>
                  <a:srgbClr val="5B6372"/>
                </a:solidFill>
                <a:latin typeface="Arial"/>
              </a:rPr>
              <a:t>Securing the Future with Quantum Computing and Cryptography  ·  TGS-2024043419</a:t>
            </a:r>
          </a:p>
        </p:txBody>
      </p:sp>
      <p:sp>
        <p:nvSpPr>
          <p:cNvPr id="11" name="TextBox 10"/>
          <p:cNvSpPr txBox="1"/>
          <p:nvPr/>
        </p:nvSpPr>
        <p:spPr>
          <a:xfrm>
            <a:off x="4572000" y="6446520"/>
            <a:ext cx="3017520" cy="320040"/>
          </a:xfrm>
          <a:prstGeom prst="rect">
            <a:avLst/>
          </a:prstGeom>
          <a:noFill/>
        </p:spPr>
        <p:txBody>
          <a:bodyPr wrap="square" anchor="t">
            <a:spAutoFit/>
          </a:bodyPr>
          <a:lstStyle/>
          <a:p>
            <a:pPr algn="ctr">
              <a:spcAft>
                <a:spcPts val="400"/>
              </a:spcAft>
            </a:pPr>
            <a:r>
              <a:rPr sz="900" b="0">
                <a:solidFill>
                  <a:srgbClr val="5B6372"/>
                </a:solidFill>
                <a:latin typeface="Arial"/>
              </a:rPr>
              <a:t>© 2026 Tertiary Infotech Academy Pte Ltd</a:t>
            </a:r>
          </a:p>
        </p:txBody>
      </p:sp>
      <p:sp>
        <p:nvSpPr>
          <p:cNvPr id="12" name="TextBox 11"/>
          <p:cNvSpPr txBox="1"/>
          <p:nvPr/>
        </p:nvSpPr>
        <p:spPr>
          <a:xfrm>
            <a:off x="11338560" y="6446520"/>
            <a:ext cx="548640" cy="320040"/>
          </a:xfrm>
          <a:prstGeom prst="rect">
            <a:avLst/>
          </a:prstGeom>
          <a:noFill/>
        </p:spPr>
        <p:txBody>
          <a:bodyPr wrap="square" anchor="t">
            <a:spAutoFit/>
          </a:bodyPr>
          <a:lstStyle/>
          <a:p>
            <a:pPr algn="r">
              <a:spcAft>
                <a:spcPts val="400"/>
              </a:spcAft>
            </a:pPr>
            <a:r>
              <a:rPr sz="900" b="0">
                <a:solidFill>
                  <a:srgbClr val="5B6372"/>
                </a:solidFill>
                <a:latin typeface="Arial"/>
              </a:rPr>
              <a:t>85</a:t>
            </a:r>
          </a:p>
        </p:txBody>
      </p:sp>
    </p:spTree>
  </p:cSld>
  <p:clrMapOvr>
    <a:masterClrMapping/>
  </p:clrMapOvr>
</p:sld>
</file>

<file path=ppt/slides/slide87.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256032" cy="1417320"/>
          </a:xfrm>
          <a:prstGeom prst="rect">
            <a:avLst/>
          </a:prstGeom>
          <a:solidFill>
            <a:srgbClr val="7C3AE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777240" y="457200"/>
            <a:ext cx="10607040" cy="365760"/>
          </a:xfrm>
          <a:prstGeom prst="rect">
            <a:avLst/>
          </a:prstGeom>
          <a:noFill/>
        </p:spPr>
        <p:txBody>
          <a:bodyPr wrap="square" anchor="t">
            <a:spAutoFit/>
          </a:bodyPr>
          <a:lstStyle/>
          <a:p>
            <a:pPr algn="l">
              <a:spcAft>
                <a:spcPts val="400"/>
              </a:spcAft>
            </a:pPr>
            <a:r>
              <a:rPr sz="1400" b="1">
                <a:solidFill>
                  <a:srgbClr val="7C3AED"/>
                </a:solidFill>
                <a:latin typeface="Arial"/>
              </a:rPr>
              <a:t>DERIVATION</a:t>
            </a:r>
          </a:p>
        </p:txBody>
      </p:sp>
      <p:sp>
        <p:nvSpPr>
          <p:cNvPr id="5" name="TextBox 4"/>
          <p:cNvSpPr txBox="1"/>
          <p:nvPr/>
        </p:nvSpPr>
        <p:spPr>
          <a:xfrm>
            <a:off x="777240" y="822960"/>
            <a:ext cx="10881360" cy="822960"/>
          </a:xfrm>
          <a:prstGeom prst="rect">
            <a:avLst/>
          </a:prstGeom>
          <a:noFill/>
        </p:spPr>
        <p:txBody>
          <a:bodyPr wrap="square" anchor="t">
            <a:spAutoFit/>
          </a:bodyPr>
          <a:lstStyle/>
          <a:p>
            <a:pPr algn="l">
              <a:spcAft>
                <a:spcPts val="400"/>
              </a:spcAft>
            </a:pPr>
            <a:r>
              <a:rPr sz="2900" b="1">
                <a:solidFill>
                  <a:srgbClr val="161B26"/>
                </a:solidFill>
                <a:latin typeface="Arial"/>
              </a:rPr>
              <a:t>Proof — Quantum Teleportation</a:t>
            </a:r>
          </a:p>
        </p:txBody>
      </p:sp>
      <p:sp>
        <p:nvSpPr>
          <p:cNvPr id="6" name="Rectangle 5"/>
          <p:cNvSpPr/>
          <p:nvPr/>
        </p:nvSpPr>
        <p:spPr>
          <a:xfrm>
            <a:off x="777240" y="1554480"/>
            <a:ext cx="10634472" cy="18288"/>
          </a:xfrm>
          <a:prstGeom prst="rect">
            <a:avLst/>
          </a:prstGeom>
          <a:solidFill>
            <a:srgbClr val="E2E8F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Rectangle 6"/>
          <p:cNvSpPr/>
          <p:nvPr/>
        </p:nvSpPr>
        <p:spPr>
          <a:xfrm>
            <a:off x="777240" y="1783080"/>
            <a:ext cx="10634472" cy="1371600"/>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Rectangle 7"/>
          <p:cNvSpPr/>
          <p:nvPr/>
        </p:nvSpPr>
        <p:spPr>
          <a:xfrm>
            <a:off x="777240" y="1783080"/>
            <a:ext cx="100584" cy="1371600"/>
          </a:xfrm>
          <a:prstGeom prst="rect">
            <a:avLst/>
          </a:prstGeom>
          <a:solidFill>
            <a:srgbClr val="7C3AE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TextBox 8"/>
          <p:cNvSpPr txBox="1"/>
          <p:nvPr/>
        </p:nvSpPr>
        <p:spPr>
          <a:xfrm>
            <a:off x="1143000" y="1938528"/>
            <a:ext cx="10058400" cy="365760"/>
          </a:xfrm>
          <a:prstGeom prst="rect">
            <a:avLst/>
          </a:prstGeom>
          <a:noFill/>
        </p:spPr>
        <p:txBody>
          <a:bodyPr wrap="square" anchor="t">
            <a:spAutoFit/>
          </a:bodyPr>
          <a:lstStyle/>
          <a:p>
            <a:pPr algn="l">
              <a:spcAft>
                <a:spcPts val="400"/>
              </a:spcAft>
            </a:pPr>
            <a:r>
              <a:rPr sz="1200" b="1">
                <a:solidFill>
                  <a:srgbClr val="7C3AED"/>
                </a:solidFill>
                <a:latin typeface="Arial"/>
              </a:rPr>
              <a:t>CLAIM</a:t>
            </a:r>
          </a:p>
        </p:txBody>
      </p:sp>
      <p:sp>
        <p:nvSpPr>
          <p:cNvPr id="10" name="TextBox 9"/>
          <p:cNvSpPr txBox="1"/>
          <p:nvPr/>
        </p:nvSpPr>
        <p:spPr>
          <a:xfrm>
            <a:off x="1143000" y="2304288"/>
            <a:ext cx="10058400" cy="777240"/>
          </a:xfrm>
          <a:prstGeom prst="rect">
            <a:avLst/>
          </a:prstGeom>
          <a:noFill/>
        </p:spPr>
        <p:txBody>
          <a:bodyPr wrap="square" anchor="t">
            <a:spAutoFit/>
          </a:bodyPr>
          <a:lstStyle/>
          <a:p>
            <a:pPr algn="l">
              <a:spcAft>
                <a:spcPts val="400"/>
              </a:spcAft>
            </a:pPr>
            <a:r>
              <a:rPr sz="1550" b="1">
                <a:solidFill>
                  <a:srgbClr val="161B26"/>
                </a:solidFill>
                <a:latin typeface="Arial"/>
              </a:rPr>
              <a:t>An unknown qubit state can be transferred using one shared Bell pair and two classical bits — without ever measuring or copying the state itself.</a:t>
            </a:r>
          </a:p>
        </p:txBody>
      </p:sp>
      <p:sp>
        <p:nvSpPr>
          <p:cNvPr id="11" name="TextBox 10"/>
          <p:cNvSpPr txBox="1"/>
          <p:nvPr/>
        </p:nvSpPr>
        <p:spPr>
          <a:xfrm>
            <a:off x="777240" y="3364992"/>
            <a:ext cx="10607040" cy="365760"/>
          </a:xfrm>
          <a:prstGeom prst="rect">
            <a:avLst/>
          </a:prstGeom>
          <a:noFill/>
        </p:spPr>
        <p:txBody>
          <a:bodyPr wrap="square" anchor="t">
            <a:spAutoFit/>
          </a:bodyPr>
          <a:lstStyle/>
          <a:p>
            <a:pPr algn="l">
              <a:spcAft>
                <a:spcPts val="400"/>
              </a:spcAft>
            </a:pPr>
            <a:r>
              <a:rPr sz="1200" b="1">
                <a:solidFill>
                  <a:srgbClr val="1F6FEB"/>
                </a:solidFill>
                <a:latin typeface="Arial"/>
              </a:rPr>
              <a:t>GIVEN</a:t>
            </a:r>
          </a:p>
        </p:txBody>
      </p:sp>
      <p:sp>
        <p:nvSpPr>
          <p:cNvPr id="12" name="Rectangle 11"/>
          <p:cNvSpPr/>
          <p:nvPr/>
        </p:nvSpPr>
        <p:spPr>
          <a:xfrm>
            <a:off x="777240" y="3730752"/>
            <a:ext cx="10634472" cy="555498"/>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 name="Rectangle 12"/>
          <p:cNvSpPr/>
          <p:nvPr/>
        </p:nvSpPr>
        <p:spPr>
          <a:xfrm>
            <a:off x="777240" y="3730752"/>
            <a:ext cx="82296" cy="555498"/>
          </a:xfrm>
          <a:prstGeom prst="rect">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 name="TextBox 13"/>
          <p:cNvSpPr txBox="1"/>
          <p:nvPr/>
        </p:nvSpPr>
        <p:spPr>
          <a:xfrm>
            <a:off x="1097280" y="3730752"/>
            <a:ext cx="10149840" cy="555498"/>
          </a:xfrm>
          <a:prstGeom prst="rect">
            <a:avLst/>
          </a:prstGeom>
          <a:noFill/>
        </p:spPr>
        <p:txBody>
          <a:bodyPr wrap="square" anchor="ctr">
            <a:spAutoFit/>
          </a:bodyPr>
          <a:lstStyle/>
          <a:p>
            <a:pPr algn="l">
              <a:spcAft>
                <a:spcPts val="400"/>
              </a:spcAft>
            </a:pPr>
            <a:r>
              <a:rPr sz="1300" b="0">
                <a:solidFill>
                  <a:srgbClr val="161B26"/>
                </a:solidFill>
                <a:latin typeface="Arial"/>
              </a:rPr>
              <a:t>Alice holds an unknown qubit  |ψ&gt; = a|0&gt; + b|1&gt;,  with |a|² + |b|² = 1.</a:t>
            </a:r>
          </a:p>
        </p:txBody>
      </p:sp>
      <p:sp>
        <p:nvSpPr>
          <p:cNvPr id="15" name="Rectangle 14"/>
          <p:cNvSpPr/>
          <p:nvPr/>
        </p:nvSpPr>
        <p:spPr>
          <a:xfrm>
            <a:off x="777240" y="4414266"/>
            <a:ext cx="10634472" cy="555498"/>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6" name="Rectangle 15"/>
          <p:cNvSpPr/>
          <p:nvPr/>
        </p:nvSpPr>
        <p:spPr>
          <a:xfrm>
            <a:off x="777240" y="4414266"/>
            <a:ext cx="82296" cy="555498"/>
          </a:xfrm>
          <a:prstGeom prst="rect">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7" name="TextBox 16"/>
          <p:cNvSpPr txBox="1"/>
          <p:nvPr/>
        </p:nvSpPr>
        <p:spPr>
          <a:xfrm>
            <a:off x="1097280" y="4414266"/>
            <a:ext cx="10149840" cy="555498"/>
          </a:xfrm>
          <a:prstGeom prst="rect">
            <a:avLst/>
          </a:prstGeom>
          <a:noFill/>
        </p:spPr>
        <p:txBody>
          <a:bodyPr wrap="square" anchor="ctr">
            <a:spAutoFit/>
          </a:bodyPr>
          <a:lstStyle/>
          <a:p>
            <a:pPr algn="l">
              <a:spcAft>
                <a:spcPts val="400"/>
              </a:spcAft>
            </a:pPr>
            <a:r>
              <a:rPr sz="1300" b="0">
                <a:solidFill>
                  <a:srgbClr val="161B26"/>
                </a:solidFill>
                <a:latin typeface="Arial"/>
              </a:rPr>
              <a:t>Alice and Bob share the Bell pair  |Φ+&gt; = (|00&gt; + |11&gt;)/√2.</a:t>
            </a:r>
          </a:p>
        </p:txBody>
      </p:sp>
      <p:sp>
        <p:nvSpPr>
          <p:cNvPr id="18" name="Rectangle 17"/>
          <p:cNvSpPr/>
          <p:nvPr/>
        </p:nvSpPr>
        <p:spPr>
          <a:xfrm>
            <a:off x="777240" y="5097780"/>
            <a:ext cx="10634472" cy="555498"/>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9" name="Rectangle 18"/>
          <p:cNvSpPr/>
          <p:nvPr/>
        </p:nvSpPr>
        <p:spPr>
          <a:xfrm>
            <a:off x="777240" y="5097780"/>
            <a:ext cx="82296" cy="555498"/>
          </a:xfrm>
          <a:prstGeom prst="rect">
            <a:avLst/>
          </a:prstGeom>
          <a:solidFill>
            <a:srgbClr val="7C3AE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0" name="TextBox 19"/>
          <p:cNvSpPr txBox="1"/>
          <p:nvPr/>
        </p:nvSpPr>
        <p:spPr>
          <a:xfrm>
            <a:off x="1097280" y="5097780"/>
            <a:ext cx="10149840" cy="555498"/>
          </a:xfrm>
          <a:prstGeom prst="rect">
            <a:avLst/>
          </a:prstGeom>
          <a:noFill/>
        </p:spPr>
        <p:txBody>
          <a:bodyPr wrap="square" anchor="ctr">
            <a:spAutoFit/>
          </a:bodyPr>
          <a:lstStyle/>
          <a:p>
            <a:pPr algn="l">
              <a:spcAft>
                <a:spcPts val="400"/>
              </a:spcAft>
            </a:pPr>
            <a:r>
              <a:rPr sz="1300" b="0">
                <a:solidFill>
                  <a:srgbClr val="161B26"/>
                </a:solidFill>
                <a:latin typeface="Arial"/>
              </a:rPr>
              <a:t>Qubit ordering:  q0 = Alice's unknown state, q1 = Alice's half, q2 = Bob's half.</a:t>
            </a:r>
          </a:p>
        </p:txBody>
      </p:sp>
      <p:sp>
        <p:nvSpPr>
          <p:cNvPr id="21" name="Rectangle 20"/>
          <p:cNvSpPr/>
          <p:nvPr/>
        </p:nvSpPr>
        <p:spPr>
          <a:xfrm>
            <a:off x="777240" y="5781294"/>
            <a:ext cx="10634472" cy="555498"/>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2" name="Rectangle 21"/>
          <p:cNvSpPr/>
          <p:nvPr/>
        </p:nvSpPr>
        <p:spPr>
          <a:xfrm>
            <a:off x="777240" y="5781294"/>
            <a:ext cx="82296" cy="555498"/>
          </a:xfrm>
          <a:prstGeom prst="rect">
            <a:avLst/>
          </a:prstGeom>
          <a:solidFill>
            <a:srgbClr val="F59E0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3" name="TextBox 22"/>
          <p:cNvSpPr txBox="1"/>
          <p:nvPr/>
        </p:nvSpPr>
        <p:spPr>
          <a:xfrm>
            <a:off x="1097280" y="5781294"/>
            <a:ext cx="10149840" cy="555498"/>
          </a:xfrm>
          <a:prstGeom prst="rect">
            <a:avLst/>
          </a:prstGeom>
          <a:noFill/>
        </p:spPr>
        <p:txBody>
          <a:bodyPr wrap="square" anchor="ctr">
            <a:spAutoFit/>
          </a:bodyPr>
          <a:lstStyle/>
          <a:p>
            <a:pPr algn="l">
              <a:spcAft>
                <a:spcPts val="400"/>
              </a:spcAft>
            </a:pPr>
            <a:r>
              <a:rPr sz="1300" b="0">
                <a:solidFill>
                  <a:srgbClr val="161B26"/>
                </a:solidFill>
                <a:latin typeface="Arial"/>
              </a:rPr>
              <a:t>Neither party knows a or b — and neither learns them at any point.</a:t>
            </a:r>
          </a:p>
        </p:txBody>
      </p:sp>
      <p:sp>
        <p:nvSpPr>
          <p:cNvPr id="24" name="TextBox 23"/>
          <p:cNvSpPr txBox="1"/>
          <p:nvPr/>
        </p:nvSpPr>
        <p:spPr>
          <a:xfrm>
            <a:off x="365760" y="6446520"/>
            <a:ext cx="6858000" cy="320040"/>
          </a:xfrm>
          <a:prstGeom prst="rect">
            <a:avLst/>
          </a:prstGeom>
          <a:noFill/>
        </p:spPr>
        <p:txBody>
          <a:bodyPr wrap="square" anchor="t">
            <a:spAutoFit/>
          </a:bodyPr>
          <a:lstStyle/>
          <a:p>
            <a:pPr algn="l">
              <a:spcAft>
                <a:spcPts val="400"/>
              </a:spcAft>
            </a:pPr>
            <a:r>
              <a:rPr sz="900" b="0">
                <a:solidFill>
                  <a:srgbClr val="5B6372"/>
                </a:solidFill>
                <a:latin typeface="Arial"/>
              </a:rPr>
              <a:t>Securing the Future with Quantum Computing and Cryptography  ·  TGS-2024043419</a:t>
            </a:r>
          </a:p>
        </p:txBody>
      </p:sp>
      <p:sp>
        <p:nvSpPr>
          <p:cNvPr id="25" name="TextBox 24"/>
          <p:cNvSpPr txBox="1"/>
          <p:nvPr/>
        </p:nvSpPr>
        <p:spPr>
          <a:xfrm>
            <a:off x="4572000" y="6446520"/>
            <a:ext cx="3017520" cy="320040"/>
          </a:xfrm>
          <a:prstGeom prst="rect">
            <a:avLst/>
          </a:prstGeom>
          <a:noFill/>
        </p:spPr>
        <p:txBody>
          <a:bodyPr wrap="square" anchor="t">
            <a:spAutoFit/>
          </a:bodyPr>
          <a:lstStyle/>
          <a:p>
            <a:pPr algn="ctr">
              <a:spcAft>
                <a:spcPts val="400"/>
              </a:spcAft>
            </a:pPr>
            <a:r>
              <a:rPr sz="900" b="0">
                <a:solidFill>
                  <a:srgbClr val="5B6372"/>
                </a:solidFill>
                <a:latin typeface="Arial"/>
              </a:rPr>
              <a:t>© 2026 Tertiary Infotech Academy Pte Ltd</a:t>
            </a:r>
          </a:p>
        </p:txBody>
      </p:sp>
      <p:sp>
        <p:nvSpPr>
          <p:cNvPr id="26" name="TextBox 25"/>
          <p:cNvSpPr txBox="1"/>
          <p:nvPr/>
        </p:nvSpPr>
        <p:spPr>
          <a:xfrm>
            <a:off x="11338560" y="6446520"/>
            <a:ext cx="548640" cy="320040"/>
          </a:xfrm>
          <a:prstGeom prst="rect">
            <a:avLst/>
          </a:prstGeom>
          <a:noFill/>
        </p:spPr>
        <p:txBody>
          <a:bodyPr wrap="square" anchor="t">
            <a:spAutoFit/>
          </a:bodyPr>
          <a:lstStyle/>
          <a:p>
            <a:pPr algn="r">
              <a:spcAft>
                <a:spcPts val="400"/>
              </a:spcAft>
            </a:pPr>
            <a:r>
              <a:rPr sz="900" b="0">
                <a:solidFill>
                  <a:srgbClr val="5B6372"/>
                </a:solidFill>
                <a:latin typeface="Arial"/>
              </a:rPr>
              <a:t>86</a:t>
            </a:r>
          </a:p>
        </p:txBody>
      </p:sp>
    </p:spTree>
  </p:cSld>
  <p:clrMapOvr>
    <a:masterClrMapping/>
  </p:clrMapOvr>
</p:sld>
</file>

<file path=ppt/slides/slide88.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256032" cy="1417320"/>
          </a:xfrm>
          <a:prstGeom prst="rect">
            <a:avLst/>
          </a:prstGeom>
          <a:solidFill>
            <a:srgbClr val="7C3AE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777240" y="457200"/>
            <a:ext cx="10607040" cy="365760"/>
          </a:xfrm>
          <a:prstGeom prst="rect">
            <a:avLst/>
          </a:prstGeom>
          <a:noFill/>
        </p:spPr>
        <p:txBody>
          <a:bodyPr wrap="square" anchor="t">
            <a:spAutoFit/>
          </a:bodyPr>
          <a:lstStyle/>
          <a:p>
            <a:pPr algn="l">
              <a:spcAft>
                <a:spcPts val="400"/>
              </a:spcAft>
            </a:pPr>
            <a:r>
              <a:rPr sz="1400" b="1">
                <a:solidFill>
                  <a:srgbClr val="7C3AED"/>
                </a:solidFill>
                <a:latin typeface="Arial"/>
              </a:rPr>
              <a:t>QUANTUM TELEPORTATION  ·  STEP 1 OF 7</a:t>
            </a:r>
          </a:p>
        </p:txBody>
      </p:sp>
      <p:sp>
        <p:nvSpPr>
          <p:cNvPr id="5" name="TextBox 4"/>
          <p:cNvSpPr txBox="1"/>
          <p:nvPr/>
        </p:nvSpPr>
        <p:spPr>
          <a:xfrm>
            <a:off x="777240" y="822960"/>
            <a:ext cx="10881360" cy="822960"/>
          </a:xfrm>
          <a:prstGeom prst="rect">
            <a:avLst/>
          </a:prstGeom>
          <a:noFill/>
        </p:spPr>
        <p:txBody>
          <a:bodyPr wrap="square" anchor="t">
            <a:spAutoFit/>
          </a:bodyPr>
          <a:lstStyle/>
          <a:p>
            <a:pPr algn="l">
              <a:spcAft>
                <a:spcPts val="400"/>
              </a:spcAft>
            </a:pPr>
            <a:r>
              <a:rPr sz="2900" b="1">
                <a:solidFill>
                  <a:srgbClr val="161B26"/>
                </a:solidFill>
                <a:latin typeface="Arial"/>
              </a:rPr>
              <a:t>Step 1 — Write the full three-qubit state</a:t>
            </a:r>
          </a:p>
        </p:txBody>
      </p:sp>
      <p:sp>
        <p:nvSpPr>
          <p:cNvPr id="6" name="Rectangle 5"/>
          <p:cNvSpPr/>
          <p:nvPr/>
        </p:nvSpPr>
        <p:spPr>
          <a:xfrm>
            <a:off x="777240" y="1554480"/>
            <a:ext cx="10634472" cy="18288"/>
          </a:xfrm>
          <a:prstGeom prst="rect">
            <a:avLst/>
          </a:prstGeom>
          <a:solidFill>
            <a:srgbClr val="E2E8F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Rectangle 6"/>
          <p:cNvSpPr/>
          <p:nvPr/>
        </p:nvSpPr>
        <p:spPr>
          <a:xfrm>
            <a:off x="777240" y="1810512"/>
            <a:ext cx="10634472" cy="2011680"/>
          </a:xfrm>
          <a:prstGeom prst="rect">
            <a:avLst/>
          </a:prstGeom>
          <a:solidFill>
            <a:srgbClr val="0B122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TextBox 7"/>
          <p:cNvSpPr txBox="1"/>
          <p:nvPr/>
        </p:nvSpPr>
        <p:spPr>
          <a:xfrm>
            <a:off x="1097280" y="1956816"/>
            <a:ext cx="9994392" cy="1719072"/>
          </a:xfrm>
          <a:prstGeom prst="rect">
            <a:avLst/>
          </a:prstGeom>
          <a:noFill/>
        </p:spPr>
        <p:txBody>
          <a:bodyPr wrap="square" anchor="t">
            <a:spAutoFit/>
          </a:bodyPr>
          <a:lstStyle/>
          <a:p>
            <a:pPr algn="l">
              <a:spcAft>
                <a:spcPts val="300"/>
              </a:spcAft>
            </a:pPr>
            <a:r>
              <a:rPr sz="1550" b="0">
                <a:solidFill>
                  <a:srgbClr val="9CDCFE"/>
                </a:solidFill>
                <a:latin typeface="Arial"/>
              </a:rPr>
              <a:t>|Ψ₀&gt;  =  |ψ&gt;₀ (x) |Φ+&gt;₁₂</a:t>
            </a:r>
          </a:p>
          <a:p>
            <a:pPr algn="l">
              <a:spcAft>
                <a:spcPts val="300"/>
              </a:spcAft>
            </a:pPr>
            <a:r>
              <a:rPr sz="1550" b="0">
                <a:solidFill>
                  <a:srgbClr val="9CDCFE"/>
                </a:solidFill>
                <a:latin typeface="Arial"/>
              </a:rPr>
              <a:t>      =  (a|0&gt; + b|1&gt;) (x) (|00&gt; + |11&gt;)/√2</a:t>
            </a:r>
          </a:p>
          <a:p>
            <a:pPr algn="l">
              <a:spcAft>
                <a:spcPts val="300"/>
              </a:spcAft>
            </a:pPr>
            <a:r>
              <a:rPr sz="1550" b="0">
                <a:solidFill>
                  <a:srgbClr val="0B1220"/>
                </a:solidFill>
                <a:latin typeface="Arial"/>
              </a:rPr>
              <a:t> </a:t>
            </a:r>
          </a:p>
          <a:p>
            <a:pPr algn="l">
              <a:spcAft>
                <a:spcPts val="300"/>
              </a:spcAft>
            </a:pPr>
            <a:r>
              <a:rPr sz="1550" b="0">
                <a:solidFill>
                  <a:srgbClr val="9CDCFE"/>
                </a:solidFill>
                <a:latin typeface="Arial"/>
              </a:rPr>
              <a:t>Expand:</a:t>
            </a:r>
          </a:p>
          <a:p>
            <a:pPr algn="l">
              <a:spcAft>
                <a:spcPts val="300"/>
              </a:spcAft>
            </a:pPr>
            <a:r>
              <a:rPr sz="1550" b="0">
                <a:solidFill>
                  <a:srgbClr val="9CDCFE"/>
                </a:solidFill>
                <a:latin typeface="Arial"/>
              </a:rPr>
              <a:t>      =  (1/√2)( a|000&gt; + a|011&gt; + b|100&gt; + b|111&gt; )</a:t>
            </a:r>
          </a:p>
        </p:txBody>
      </p:sp>
      <p:sp>
        <p:nvSpPr>
          <p:cNvPr id="9" name="Rectangle 8"/>
          <p:cNvSpPr/>
          <p:nvPr/>
        </p:nvSpPr>
        <p:spPr>
          <a:xfrm>
            <a:off x="777240" y="4023360"/>
            <a:ext cx="10634472" cy="2029968"/>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Rectangle 9"/>
          <p:cNvSpPr/>
          <p:nvPr/>
        </p:nvSpPr>
        <p:spPr>
          <a:xfrm>
            <a:off x="777240" y="4023360"/>
            <a:ext cx="82296" cy="2029968"/>
          </a:xfrm>
          <a:prstGeom prst="rect">
            <a:avLst/>
          </a:prstGeom>
          <a:solidFill>
            <a:srgbClr val="F59E0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 name="TextBox 10"/>
          <p:cNvSpPr txBox="1"/>
          <p:nvPr/>
        </p:nvSpPr>
        <p:spPr>
          <a:xfrm>
            <a:off x="1097280" y="4023360"/>
            <a:ext cx="10149840" cy="2029968"/>
          </a:xfrm>
          <a:prstGeom prst="rect">
            <a:avLst/>
          </a:prstGeom>
          <a:noFill/>
        </p:spPr>
        <p:txBody>
          <a:bodyPr wrap="square" anchor="ctr">
            <a:spAutoFit/>
          </a:bodyPr>
          <a:lstStyle/>
          <a:p>
            <a:pPr algn="l">
              <a:spcAft>
                <a:spcPts val="400"/>
              </a:spcAft>
            </a:pPr>
            <a:r>
              <a:rPr sz="1150" b="1">
                <a:solidFill>
                  <a:srgbClr val="F59E0B"/>
                </a:solidFill>
                <a:latin typeface="Arial"/>
              </a:rPr>
              <a:t>WHY THIS STEP:  </a:t>
            </a:r>
            <a:r>
              <a:rPr sz="1300" b="0">
                <a:solidFill>
                  <a:srgbClr val="161B26"/>
                </a:solidFill>
                <a:latin typeface="Arial"/>
              </a:rPr>
              <a:t>Three qubits, so the state space has 2³ = 8 dimensions; four terms are populated.</a:t>
            </a:r>
          </a:p>
        </p:txBody>
      </p:sp>
      <p:sp>
        <p:nvSpPr>
          <p:cNvPr id="12" name="TextBox 11"/>
          <p:cNvSpPr txBox="1"/>
          <p:nvPr/>
        </p:nvSpPr>
        <p:spPr>
          <a:xfrm>
            <a:off x="365760" y="6446520"/>
            <a:ext cx="6858000" cy="320040"/>
          </a:xfrm>
          <a:prstGeom prst="rect">
            <a:avLst/>
          </a:prstGeom>
          <a:noFill/>
        </p:spPr>
        <p:txBody>
          <a:bodyPr wrap="square" anchor="t">
            <a:spAutoFit/>
          </a:bodyPr>
          <a:lstStyle/>
          <a:p>
            <a:pPr algn="l">
              <a:spcAft>
                <a:spcPts val="400"/>
              </a:spcAft>
            </a:pPr>
            <a:r>
              <a:rPr sz="900" b="0">
                <a:solidFill>
                  <a:srgbClr val="5B6372"/>
                </a:solidFill>
                <a:latin typeface="Arial"/>
              </a:rPr>
              <a:t>Securing the Future with Quantum Computing and Cryptography  ·  TGS-2024043419</a:t>
            </a:r>
          </a:p>
        </p:txBody>
      </p:sp>
      <p:sp>
        <p:nvSpPr>
          <p:cNvPr id="13" name="TextBox 12"/>
          <p:cNvSpPr txBox="1"/>
          <p:nvPr/>
        </p:nvSpPr>
        <p:spPr>
          <a:xfrm>
            <a:off x="4572000" y="6446520"/>
            <a:ext cx="3017520" cy="320040"/>
          </a:xfrm>
          <a:prstGeom prst="rect">
            <a:avLst/>
          </a:prstGeom>
          <a:noFill/>
        </p:spPr>
        <p:txBody>
          <a:bodyPr wrap="square" anchor="t">
            <a:spAutoFit/>
          </a:bodyPr>
          <a:lstStyle/>
          <a:p>
            <a:pPr algn="ctr">
              <a:spcAft>
                <a:spcPts val="400"/>
              </a:spcAft>
            </a:pPr>
            <a:r>
              <a:rPr sz="900" b="0">
                <a:solidFill>
                  <a:srgbClr val="5B6372"/>
                </a:solidFill>
                <a:latin typeface="Arial"/>
              </a:rPr>
              <a:t>© 2026 Tertiary Infotech Academy Pte Ltd</a:t>
            </a:r>
          </a:p>
        </p:txBody>
      </p:sp>
      <p:sp>
        <p:nvSpPr>
          <p:cNvPr id="14" name="TextBox 13"/>
          <p:cNvSpPr txBox="1"/>
          <p:nvPr/>
        </p:nvSpPr>
        <p:spPr>
          <a:xfrm>
            <a:off x="11338560" y="6446520"/>
            <a:ext cx="548640" cy="320040"/>
          </a:xfrm>
          <a:prstGeom prst="rect">
            <a:avLst/>
          </a:prstGeom>
          <a:noFill/>
        </p:spPr>
        <p:txBody>
          <a:bodyPr wrap="square" anchor="t">
            <a:spAutoFit/>
          </a:bodyPr>
          <a:lstStyle/>
          <a:p>
            <a:pPr algn="r">
              <a:spcAft>
                <a:spcPts val="400"/>
              </a:spcAft>
            </a:pPr>
            <a:r>
              <a:rPr sz="900" b="0">
                <a:solidFill>
                  <a:srgbClr val="5B6372"/>
                </a:solidFill>
                <a:latin typeface="Arial"/>
              </a:rPr>
              <a:t>87</a:t>
            </a:r>
          </a:p>
        </p:txBody>
      </p:sp>
    </p:spTree>
  </p:cSld>
  <p:clrMapOvr>
    <a:masterClrMapping/>
  </p:clrMapOvr>
</p:sld>
</file>

<file path=ppt/slides/slide89.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256032" cy="1417320"/>
          </a:xfrm>
          <a:prstGeom prst="rect">
            <a:avLst/>
          </a:prstGeom>
          <a:solidFill>
            <a:srgbClr val="7C3AE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777240" y="457200"/>
            <a:ext cx="10607040" cy="365760"/>
          </a:xfrm>
          <a:prstGeom prst="rect">
            <a:avLst/>
          </a:prstGeom>
          <a:noFill/>
        </p:spPr>
        <p:txBody>
          <a:bodyPr wrap="square" anchor="t">
            <a:spAutoFit/>
          </a:bodyPr>
          <a:lstStyle/>
          <a:p>
            <a:pPr algn="l">
              <a:spcAft>
                <a:spcPts val="400"/>
              </a:spcAft>
            </a:pPr>
            <a:r>
              <a:rPr sz="1400" b="1">
                <a:solidFill>
                  <a:srgbClr val="7C3AED"/>
                </a:solidFill>
                <a:latin typeface="Arial"/>
              </a:rPr>
              <a:t>QUANTUM TELEPORTATION  ·  STEP 2 OF 7</a:t>
            </a:r>
          </a:p>
        </p:txBody>
      </p:sp>
      <p:sp>
        <p:nvSpPr>
          <p:cNvPr id="5" name="TextBox 4"/>
          <p:cNvSpPr txBox="1"/>
          <p:nvPr/>
        </p:nvSpPr>
        <p:spPr>
          <a:xfrm>
            <a:off x="777240" y="822960"/>
            <a:ext cx="10881360" cy="822960"/>
          </a:xfrm>
          <a:prstGeom prst="rect">
            <a:avLst/>
          </a:prstGeom>
          <a:noFill/>
        </p:spPr>
        <p:txBody>
          <a:bodyPr wrap="square" anchor="t">
            <a:spAutoFit/>
          </a:bodyPr>
          <a:lstStyle/>
          <a:p>
            <a:pPr algn="l">
              <a:spcAft>
                <a:spcPts val="400"/>
              </a:spcAft>
            </a:pPr>
            <a:r>
              <a:rPr sz="2900" b="1">
                <a:solidFill>
                  <a:srgbClr val="161B26"/>
                </a:solidFill>
                <a:latin typeface="Arial"/>
              </a:rPr>
              <a:t>Step 2 — Alice applies CNOT (q0 -&gt; q1)</a:t>
            </a:r>
          </a:p>
        </p:txBody>
      </p:sp>
      <p:sp>
        <p:nvSpPr>
          <p:cNvPr id="6" name="Rectangle 5"/>
          <p:cNvSpPr/>
          <p:nvPr/>
        </p:nvSpPr>
        <p:spPr>
          <a:xfrm>
            <a:off x="777240" y="1554480"/>
            <a:ext cx="10634472" cy="18288"/>
          </a:xfrm>
          <a:prstGeom prst="rect">
            <a:avLst/>
          </a:prstGeom>
          <a:solidFill>
            <a:srgbClr val="E2E8F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Rectangle 6"/>
          <p:cNvSpPr/>
          <p:nvPr/>
        </p:nvSpPr>
        <p:spPr>
          <a:xfrm>
            <a:off x="777240" y="1810512"/>
            <a:ext cx="10634472" cy="2633472"/>
          </a:xfrm>
          <a:prstGeom prst="rect">
            <a:avLst/>
          </a:prstGeom>
          <a:solidFill>
            <a:srgbClr val="0B122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TextBox 7"/>
          <p:cNvSpPr txBox="1"/>
          <p:nvPr/>
        </p:nvSpPr>
        <p:spPr>
          <a:xfrm>
            <a:off x="1097280" y="1956816"/>
            <a:ext cx="9994392" cy="2340864"/>
          </a:xfrm>
          <a:prstGeom prst="rect">
            <a:avLst/>
          </a:prstGeom>
          <a:noFill/>
        </p:spPr>
        <p:txBody>
          <a:bodyPr wrap="square" anchor="t">
            <a:spAutoFit/>
          </a:bodyPr>
          <a:lstStyle/>
          <a:p>
            <a:pPr algn="l">
              <a:spcAft>
                <a:spcPts val="300"/>
              </a:spcAft>
            </a:pPr>
            <a:r>
              <a:rPr sz="1550" b="0">
                <a:solidFill>
                  <a:srgbClr val="9CDCFE"/>
                </a:solidFill>
                <a:latin typeface="Arial"/>
              </a:rPr>
              <a:t>CNOT flips q1 when q0 = 1. Term by term:</a:t>
            </a:r>
          </a:p>
          <a:p>
            <a:pPr algn="l">
              <a:spcAft>
                <a:spcPts val="300"/>
              </a:spcAft>
            </a:pPr>
            <a:r>
              <a:rPr sz="1550" b="0">
                <a:solidFill>
                  <a:srgbClr val="9CDCFE"/>
                </a:solidFill>
                <a:latin typeface="Arial"/>
              </a:rPr>
              <a:t>   a|000&gt; -&gt; a|000&gt;       (q0=0, unchanged)</a:t>
            </a:r>
          </a:p>
          <a:p>
            <a:pPr algn="l">
              <a:spcAft>
                <a:spcPts val="300"/>
              </a:spcAft>
            </a:pPr>
            <a:r>
              <a:rPr sz="1550" b="0">
                <a:solidFill>
                  <a:srgbClr val="9CDCFE"/>
                </a:solidFill>
                <a:latin typeface="Arial"/>
              </a:rPr>
              <a:t>   a|011&gt; -&gt; a|011&gt;       (q0=0, unchanged)</a:t>
            </a:r>
          </a:p>
          <a:p>
            <a:pPr algn="l">
              <a:spcAft>
                <a:spcPts val="300"/>
              </a:spcAft>
            </a:pPr>
            <a:r>
              <a:rPr sz="1550" b="0">
                <a:solidFill>
                  <a:srgbClr val="9CDCFE"/>
                </a:solidFill>
                <a:latin typeface="Arial"/>
              </a:rPr>
              <a:t>   b|100&gt; -&gt; b|110&gt;       (q0=1, flip q1)</a:t>
            </a:r>
          </a:p>
          <a:p>
            <a:pPr algn="l">
              <a:spcAft>
                <a:spcPts val="300"/>
              </a:spcAft>
            </a:pPr>
            <a:r>
              <a:rPr sz="1550" b="0">
                <a:solidFill>
                  <a:srgbClr val="9CDCFE"/>
                </a:solidFill>
                <a:latin typeface="Arial"/>
              </a:rPr>
              <a:t>   b|111&gt; -&gt; b|101&gt;       (q0=1, flip q1)</a:t>
            </a:r>
          </a:p>
          <a:p>
            <a:pPr algn="l">
              <a:spcAft>
                <a:spcPts val="300"/>
              </a:spcAft>
            </a:pPr>
            <a:r>
              <a:rPr sz="1550" b="0">
                <a:solidFill>
                  <a:srgbClr val="0B1220"/>
                </a:solidFill>
                <a:latin typeface="Arial"/>
              </a:rPr>
              <a:t> </a:t>
            </a:r>
          </a:p>
          <a:p>
            <a:pPr algn="l">
              <a:spcAft>
                <a:spcPts val="300"/>
              </a:spcAft>
            </a:pPr>
            <a:r>
              <a:rPr sz="1550" b="0">
                <a:solidFill>
                  <a:srgbClr val="9CDCFE"/>
                </a:solidFill>
                <a:latin typeface="Arial"/>
              </a:rPr>
              <a:t>|Ψ₁&gt; = (1/√2)( a|000&gt; + a|011&gt; + b|110&gt; + b|101&gt; )</a:t>
            </a:r>
          </a:p>
        </p:txBody>
      </p:sp>
      <p:sp>
        <p:nvSpPr>
          <p:cNvPr id="9" name="Rectangle 8"/>
          <p:cNvSpPr/>
          <p:nvPr/>
        </p:nvSpPr>
        <p:spPr>
          <a:xfrm>
            <a:off x="777240" y="4645152"/>
            <a:ext cx="10634472" cy="1408176"/>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Rectangle 9"/>
          <p:cNvSpPr/>
          <p:nvPr/>
        </p:nvSpPr>
        <p:spPr>
          <a:xfrm>
            <a:off x="777240" y="4645152"/>
            <a:ext cx="82296" cy="1408176"/>
          </a:xfrm>
          <a:prstGeom prst="rect">
            <a:avLst/>
          </a:prstGeom>
          <a:solidFill>
            <a:srgbClr val="F59E0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 name="TextBox 10"/>
          <p:cNvSpPr txBox="1"/>
          <p:nvPr/>
        </p:nvSpPr>
        <p:spPr>
          <a:xfrm>
            <a:off x="1097280" y="4645152"/>
            <a:ext cx="10149840" cy="1408176"/>
          </a:xfrm>
          <a:prstGeom prst="rect">
            <a:avLst/>
          </a:prstGeom>
          <a:noFill/>
        </p:spPr>
        <p:txBody>
          <a:bodyPr wrap="square" anchor="ctr">
            <a:spAutoFit/>
          </a:bodyPr>
          <a:lstStyle/>
          <a:p>
            <a:pPr algn="l">
              <a:spcAft>
                <a:spcPts val="400"/>
              </a:spcAft>
            </a:pPr>
            <a:r>
              <a:rPr sz="1150" b="1">
                <a:solidFill>
                  <a:srgbClr val="F59E0B"/>
                </a:solidFill>
                <a:latin typeface="Arial"/>
              </a:rPr>
              <a:t>WHY THIS STEP:  </a:t>
            </a:r>
            <a:r>
              <a:rPr sz="1300" b="0">
                <a:solidFill>
                  <a:srgbClr val="161B26"/>
                </a:solidFill>
                <a:latin typeface="Arial"/>
              </a:rPr>
              <a:t>This begins Alice's Bell-basis measurement — CNOT then H rotates the Bell basis into the computational basis.</a:t>
            </a:r>
          </a:p>
        </p:txBody>
      </p:sp>
      <p:sp>
        <p:nvSpPr>
          <p:cNvPr id="12" name="TextBox 11"/>
          <p:cNvSpPr txBox="1"/>
          <p:nvPr/>
        </p:nvSpPr>
        <p:spPr>
          <a:xfrm>
            <a:off x="365760" y="6446520"/>
            <a:ext cx="6858000" cy="320040"/>
          </a:xfrm>
          <a:prstGeom prst="rect">
            <a:avLst/>
          </a:prstGeom>
          <a:noFill/>
        </p:spPr>
        <p:txBody>
          <a:bodyPr wrap="square" anchor="t">
            <a:spAutoFit/>
          </a:bodyPr>
          <a:lstStyle/>
          <a:p>
            <a:pPr algn="l">
              <a:spcAft>
                <a:spcPts val="400"/>
              </a:spcAft>
            </a:pPr>
            <a:r>
              <a:rPr sz="900" b="0">
                <a:solidFill>
                  <a:srgbClr val="5B6372"/>
                </a:solidFill>
                <a:latin typeface="Arial"/>
              </a:rPr>
              <a:t>Securing the Future with Quantum Computing and Cryptography  ·  TGS-2024043419</a:t>
            </a:r>
          </a:p>
        </p:txBody>
      </p:sp>
      <p:sp>
        <p:nvSpPr>
          <p:cNvPr id="13" name="TextBox 12"/>
          <p:cNvSpPr txBox="1"/>
          <p:nvPr/>
        </p:nvSpPr>
        <p:spPr>
          <a:xfrm>
            <a:off x="4572000" y="6446520"/>
            <a:ext cx="3017520" cy="320040"/>
          </a:xfrm>
          <a:prstGeom prst="rect">
            <a:avLst/>
          </a:prstGeom>
          <a:noFill/>
        </p:spPr>
        <p:txBody>
          <a:bodyPr wrap="square" anchor="t">
            <a:spAutoFit/>
          </a:bodyPr>
          <a:lstStyle/>
          <a:p>
            <a:pPr algn="ctr">
              <a:spcAft>
                <a:spcPts val="400"/>
              </a:spcAft>
            </a:pPr>
            <a:r>
              <a:rPr sz="900" b="0">
                <a:solidFill>
                  <a:srgbClr val="5B6372"/>
                </a:solidFill>
                <a:latin typeface="Arial"/>
              </a:rPr>
              <a:t>© 2026 Tertiary Infotech Academy Pte Ltd</a:t>
            </a:r>
          </a:p>
        </p:txBody>
      </p:sp>
      <p:sp>
        <p:nvSpPr>
          <p:cNvPr id="14" name="TextBox 13"/>
          <p:cNvSpPr txBox="1"/>
          <p:nvPr/>
        </p:nvSpPr>
        <p:spPr>
          <a:xfrm>
            <a:off x="11338560" y="6446520"/>
            <a:ext cx="548640" cy="320040"/>
          </a:xfrm>
          <a:prstGeom prst="rect">
            <a:avLst/>
          </a:prstGeom>
          <a:noFill/>
        </p:spPr>
        <p:txBody>
          <a:bodyPr wrap="square" anchor="t">
            <a:spAutoFit/>
          </a:bodyPr>
          <a:lstStyle/>
          <a:p>
            <a:pPr algn="r">
              <a:spcAft>
                <a:spcPts val="400"/>
              </a:spcAft>
            </a:pPr>
            <a:r>
              <a:rPr sz="900" b="0">
                <a:solidFill>
                  <a:srgbClr val="5B6372"/>
                </a:solidFill>
                <a:latin typeface="Arial"/>
              </a:rPr>
              <a:t>88</a:t>
            </a:r>
          </a:p>
        </p:txBody>
      </p:sp>
    </p:spTree>
  </p:cSld>
  <p:clrMapOvr>
    <a:masterClrMapping/>
  </p:clrMapOvr>
</p:sld>
</file>

<file path=ppt/slides/slide90.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256032" cy="1417320"/>
          </a:xfrm>
          <a:prstGeom prst="rect">
            <a:avLst/>
          </a:prstGeom>
          <a:solidFill>
            <a:srgbClr val="7C3AE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777240" y="457200"/>
            <a:ext cx="10607040" cy="365760"/>
          </a:xfrm>
          <a:prstGeom prst="rect">
            <a:avLst/>
          </a:prstGeom>
          <a:noFill/>
        </p:spPr>
        <p:txBody>
          <a:bodyPr wrap="square" anchor="t">
            <a:spAutoFit/>
          </a:bodyPr>
          <a:lstStyle/>
          <a:p>
            <a:pPr algn="l">
              <a:spcAft>
                <a:spcPts val="400"/>
              </a:spcAft>
            </a:pPr>
            <a:r>
              <a:rPr sz="1400" b="1">
                <a:solidFill>
                  <a:srgbClr val="7C3AED"/>
                </a:solidFill>
                <a:latin typeface="Arial"/>
              </a:rPr>
              <a:t>QUANTUM TELEPORTATION  ·  STEP 3 OF 7</a:t>
            </a:r>
          </a:p>
        </p:txBody>
      </p:sp>
      <p:sp>
        <p:nvSpPr>
          <p:cNvPr id="5" name="TextBox 4"/>
          <p:cNvSpPr txBox="1"/>
          <p:nvPr/>
        </p:nvSpPr>
        <p:spPr>
          <a:xfrm>
            <a:off x="777240" y="822960"/>
            <a:ext cx="10881360" cy="822960"/>
          </a:xfrm>
          <a:prstGeom prst="rect">
            <a:avLst/>
          </a:prstGeom>
          <a:noFill/>
        </p:spPr>
        <p:txBody>
          <a:bodyPr wrap="square" anchor="t">
            <a:spAutoFit/>
          </a:bodyPr>
          <a:lstStyle/>
          <a:p>
            <a:pPr algn="l">
              <a:spcAft>
                <a:spcPts val="400"/>
              </a:spcAft>
            </a:pPr>
            <a:r>
              <a:rPr sz="2900" b="1">
                <a:solidFill>
                  <a:srgbClr val="161B26"/>
                </a:solidFill>
                <a:latin typeface="Arial"/>
              </a:rPr>
              <a:t>Step 3 — Alice applies H to q0</a:t>
            </a:r>
          </a:p>
        </p:txBody>
      </p:sp>
      <p:sp>
        <p:nvSpPr>
          <p:cNvPr id="6" name="Rectangle 5"/>
          <p:cNvSpPr/>
          <p:nvPr/>
        </p:nvSpPr>
        <p:spPr>
          <a:xfrm>
            <a:off x="777240" y="1554480"/>
            <a:ext cx="10634472" cy="18288"/>
          </a:xfrm>
          <a:prstGeom prst="rect">
            <a:avLst/>
          </a:prstGeom>
          <a:solidFill>
            <a:srgbClr val="E2E8F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Rectangle 6"/>
          <p:cNvSpPr/>
          <p:nvPr/>
        </p:nvSpPr>
        <p:spPr>
          <a:xfrm>
            <a:off x="777240" y="1810512"/>
            <a:ext cx="10634472" cy="1700784"/>
          </a:xfrm>
          <a:prstGeom prst="rect">
            <a:avLst/>
          </a:prstGeom>
          <a:solidFill>
            <a:srgbClr val="0B122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TextBox 7"/>
          <p:cNvSpPr txBox="1"/>
          <p:nvPr/>
        </p:nvSpPr>
        <p:spPr>
          <a:xfrm>
            <a:off x="1097280" y="1956816"/>
            <a:ext cx="9994392" cy="1408176"/>
          </a:xfrm>
          <a:prstGeom prst="rect">
            <a:avLst/>
          </a:prstGeom>
          <a:noFill/>
        </p:spPr>
        <p:txBody>
          <a:bodyPr wrap="square" anchor="t">
            <a:spAutoFit/>
          </a:bodyPr>
          <a:lstStyle/>
          <a:p>
            <a:pPr algn="l">
              <a:spcAft>
                <a:spcPts val="300"/>
              </a:spcAft>
            </a:pPr>
            <a:r>
              <a:rPr sz="1550" b="0">
                <a:solidFill>
                  <a:srgbClr val="9CDCFE"/>
                </a:solidFill>
                <a:latin typeface="Arial"/>
              </a:rPr>
              <a:t>H|0&gt; = (|0&gt;+|1&gt;)/√2 ,  H|1&gt; = (|0&gt;-|1&gt;)/√2. Substituting:</a:t>
            </a:r>
          </a:p>
          <a:p>
            <a:pPr algn="l">
              <a:spcAft>
                <a:spcPts val="300"/>
              </a:spcAft>
            </a:pPr>
            <a:r>
              <a:rPr sz="1550" b="0">
                <a:solidFill>
                  <a:srgbClr val="0B1220"/>
                </a:solidFill>
                <a:latin typeface="Arial"/>
              </a:rPr>
              <a:t> </a:t>
            </a:r>
          </a:p>
          <a:p>
            <a:pPr algn="l">
              <a:spcAft>
                <a:spcPts val="300"/>
              </a:spcAft>
            </a:pPr>
            <a:r>
              <a:rPr sz="1550" b="0">
                <a:solidFill>
                  <a:srgbClr val="9CDCFE"/>
                </a:solidFill>
                <a:latin typeface="Arial"/>
              </a:rPr>
              <a:t>|Ψ₂&gt; = (1/2)[ a(|0&gt;+|1&gt;)|00&gt; + a(|0&gt;+|1&gt;)|11&gt;</a:t>
            </a:r>
          </a:p>
          <a:p>
            <a:pPr algn="l">
              <a:spcAft>
                <a:spcPts val="300"/>
              </a:spcAft>
            </a:pPr>
            <a:r>
              <a:rPr sz="1550" b="0">
                <a:solidFill>
                  <a:srgbClr val="9CDCFE"/>
                </a:solidFill>
                <a:latin typeface="Arial"/>
              </a:rPr>
              <a:t>            + b(|0&gt;-|1&gt;)|10&gt; + b(|0&gt;-|1&gt;)|01&gt; ]</a:t>
            </a:r>
          </a:p>
        </p:txBody>
      </p:sp>
      <p:sp>
        <p:nvSpPr>
          <p:cNvPr id="9" name="Rectangle 8"/>
          <p:cNvSpPr/>
          <p:nvPr/>
        </p:nvSpPr>
        <p:spPr>
          <a:xfrm>
            <a:off x="777240" y="3712464"/>
            <a:ext cx="10634472" cy="2340864"/>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Rectangle 9"/>
          <p:cNvSpPr/>
          <p:nvPr/>
        </p:nvSpPr>
        <p:spPr>
          <a:xfrm>
            <a:off x="777240" y="3712464"/>
            <a:ext cx="82296" cy="2340864"/>
          </a:xfrm>
          <a:prstGeom prst="rect">
            <a:avLst/>
          </a:prstGeom>
          <a:solidFill>
            <a:srgbClr val="F59E0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 name="TextBox 10"/>
          <p:cNvSpPr txBox="1"/>
          <p:nvPr/>
        </p:nvSpPr>
        <p:spPr>
          <a:xfrm>
            <a:off x="1097280" y="3712464"/>
            <a:ext cx="10149840" cy="2340864"/>
          </a:xfrm>
          <a:prstGeom prst="rect">
            <a:avLst/>
          </a:prstGeom>
          <a:noFill/>
        </p:spPr>
        <p:txBody>
          <a:bodyPr wrap="square" anchor="ctr">
            <a:spAutoFit/>
          </a:bodyPr>
          <a:lstStyle/>
          <a:p>
            <a:pPr algn="l">
              <a:spcAft>
                <a:spcPts val="400"/>
              </a:spcAft>
            </a:pPr>
            <a:r>
              <a:rPr sz="1150" b="1">
                <a:solidFill>
                  <a:srgbClr val="F59E0B"/>
                </a:solidFill>
                <a:latin typeface="Arial"/>
              </a:rPr>
              <a:t>WHY THIS STEP:  </a:t>
            </a:r>
            <a:r>
              <a:rPr sz="1300" b="0">
                <a:solidFill>
                  <a:srgbClr val="161B26"/>
                </a:solidFill>
                <a:latin typeface="Arial"/>
              </a:rPr>
              <a:t>Now expand and regroup by Alice's two qubits (q0 q1) — the next step.</a:t>
            </a:r>
          </a:p>
        </p:txBody>
      </p:sp>
      <p:sp>
        <p:nvSpPr>
          <p:cNvPr id="12" name="TextBox 11"/>
          <p:cNvSpPr txBox="1"/>
          <p:nvPr/>
        </p:nvSpPr>
        <p:spPr>
          <a:xfrm>
            <a:off x="365760" y="6446520"/>
            <a:ext cx="6858000" cy="320040"/>
          </a:xfrm>
          <a:prstGeom prst="rect">
            <a:avLst/>
          </a:prstGeom>
          <a:noFill/>
        </p:spPr>
        <p:txBody>
          <a:bodyPr wrap="square" anchor="t">
            <a:spAutoFit/>
          </a:bodyPr>
          <a:lstStyle/>
          <a:p>
            <a:pPr algn="l">
              <a:spcAft>
                <a:spcPts val="400"/>
              </a:spcAft>
            </a:pPr>
            <a:r>
              <a:rPr sz="900" b="0">
                <a:solidFill>
                  <a:srgbClr val="5B6372"/>
                </a:solidFill>
                <a:latin typeface="Arial"/>
              </a:rPr>
              <a:t>Securing the Future with Quantum Computing and Cryptography  ·  TGS-2024043419</a:t>
            </a:r>
          </a:p>
        </p:txBody>
      </p:sp>
      <p:sp>
        <p:nvSpPr>
          <p:cNvPr id="13" name="TextBox 12"/>
          <p:cNvSpPr txBox="1"/>
          <p:nvPr/>
        </p:nvSpPr>
        <p:spPr>
          <a:xfrm>
            <a:off x="4572000" y="6446520"/>
            <a:ext cx="3017520" cy="320040"/>
          </a:xfrm>
          <a:prstGeom prst="rect">
            <a:avLst/>
          </a:prstGeom>
          <a:noFill/>
        </p:spPr>
        <p:txBody>
          <a:bodyPr wrap="square" anchor="t">
            <a:spAutoFit/>
          </a:bodyPr>
          <a:lstStyle/>
          <a:p>
            <a:pPr algn="ctr">
              <a:spcAft>
                <a:spcPts val="400"/>
              </a:spcAft>
            </a:pPr>
            <a:r>
              <a:rPr sz="900" b="0">
                <a:solidFill>
                  <a:srgbClr val="5B6372"/>
                </a:solidFill>
                <a:latin typeface="Arial"/>
              </a:rPr>
              <a:t>© 2026 Tertiary Infotech Academy Pte Ltd</a:t>
            </a:r>
          </a:p>
        </p:txBody>
      </p:sp>
      <p:sp>
        <p:nvSpPr>
          <p:cNvPr id="14" name="TextBox 13"/>
          <p:cNvSpPr txBox="1"/>
          <p:nvPr/>
        </p:nvSpPr>
        <p:spPr>
          <a:xfrm>
            <a:off x="11338560" y="6446520"/>
            <a:ext cx="548640" cy="320040"/>
          </a:xfrm>
          <a:prstGeom prst="rect">
            <a:avLst/>
          </a:prstGeom>
          <a:noFill/>
        </p:spPr>
        <p:txBody>
          <a:bodyPr wrap="square" anchor="t">
            <a:spAutoFit/>
          </a:bodyPr>
          <a:lstStyle/>
          <a:p>
            <a:pPr algn="r">
              <a:spcAft>
                <a:spcPts val="400"/>
              </a:spcAft>
            </a:pPr>
            <a:r>
              <a:rPr sz="900" b="0">
                <a:solidFill>
                  <a:srgbClr val="5B6372"/>
                </a:solidFill>
                <a:latin typeface="Arial"/>
              </a:rPr>
              <a:t>89</a:t>
            </a:r>
          </a:p>
        </p:txBody>
      </p:sp>
    </p:spTree>
  </p:cSld>
  <p:clrMapOvr>
    <a:masterClrMapping/>
  </p:clrMapOvr>
</p:sld>
</file>

<file path=ppt/slides/slide91.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256032" cy="1417320"/>
          </a:xfrm>
          <a:prstGeom prst="rect">
            <a:avLst/>
          </a:prstGeom>
          <a:solidFill>
            <a:srgbClr val="7C3AE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777240" y="457200"/>
            <a:ext cx="10607040" cy="365760"/>
          </a:xfrm>
          <a:prstGeom prst="rect">
            <a:avLst/>
          </a:prstGeom>
          <a:noFill/>
        </p:spPr>
        <p:txBody>
          <a:bodyPr wrap="square" anchor="t">
            <a:spAutoFit/>
          </a:bodyPr>
          <a:lstStyle/>
          <a:p>
            <a:pPr algn="l">
              <a:spcAft>
                <a:spcPts val="400"/>
              </a:spcAft>
            </a:pPr>
            <a:r>
              <a:rPr sz="1400" b="1">
                <a:solidFill>
                  <a:srgbClr val="7C3AED"/>
                </a:solidFill>
                <a:latin typeface="Arial"/>
              </a:rPr>
              <a:t>QUANTUM TELEPORTATION  ·  STEP 4 OF 7</a:t>
            </a:r>
          </a:p>
        </p:txBody>
      </p:sp>
      <p:sp>
        <p:nvSpPr>
          <p:cNvPr id="5" name="TextBox 4"/>
          <p:cNvSpPr txBox="1"/>
          <p:nvPr/>
        </p:nvSpPr>
        <p:spPr>
          <a:xfrm>
            <a:off x="777240" y="822960"/>
            <a:ext cx="10881360" cy="822960"/>
          </a:xfrm>
          <a:prstGeom prst="rect">
            <a:avLst/>
          </a:prstGeom>
          <a:noFill/>
        </p:spPr>
        <p:txBody>
          <a:bodyPr wrap="square" anchor="t">
            <a:spAutoFit/>
          </a:bodyPr>
          <a:lstStyle/>
          <a:p>
            <a:pPr algn="l">
              <a:spcAft>
                <a:spcPts val="400"/>
              </a:spcAft>
            </a:pPr>
            <a:r>
              <a:rPr sz="2900" b="1">
                <a:solidFill>
                  <a:srgbClr val="161B26"/>
                </a:solidFill>
                <a:latin typeface="Arial"/>
              </a:rPr>
              <a:t>Step 4 — Regroup by Alice's measurement outcome</a:t>
            </a:r>
          </a:p>
        </p:txBody>
      </p:sp>
      <p:sp>
        <p:nvSpPr>
          <p:cNvPr id="6" name="Rectangle 5"/>
          <p:cNvSpPr/>
          <p:nvPr/>
        </p:nvSpPr>
        <p:spPr>
          <a:xfrm>
            <a:off x="777240" y="1554480"/>
            <a:ext cx="10634472" cy="18288"/>
          </a:xfrm>
          <a:prstGeom prst="rect">
            <a:avLst/>
          </a:prstGeom>
          <a:solidFill>
            <a:srgbClr val="E2E8F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Rectangle 6"/>
          <p:cNvSpPr/>
          <p:nvPr/>
        </p:nvSpPr>
        <p:spPr>
          <a:xfrm>
            <a:off x="777240" y="1810512"/>
            <a:ext cx="10634472" cy="2322576"/>
          </a:xfrm>
          <a:prstGeom prst="rect">
            <a:avLst/>
          </a:prstGeom>
          <a:solidFill>
            <a:srgbClr val="0B122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TextBox 7"/>
          <p:cNvSpPr txBox="1"/>
          <p:nvPr/>
        </p:nvSpPr>
        <p:spPr>
          <a:xfrm>
            <a:off x="1097280" y="1956816"/>
            <a:ext cx="9994392" cy="2029968"/>
          </a:xfrm>
          <a:prstGeom prst="rect">
            <a:avLst/>
          </a:prstGeom>
          <a:noFill/>
        </p:spPr>
        <p:txBody>
          <a:bodyPr wrap="square" anchor="t">
            <a:spAutoFit/>
          </a:bodyPr>
          <a:lstStyle/>
          <a:p>
            <a:pPr algn="l">
              <a:spcAft>
                <a:spcPts val="300"/>
              </a:spcAft>
            </a:pPr>
            <a:r>
              <a:rPr sz="1550" b="0">
                <a:solidFill>
                  <a:srgbClr val="9CDCFE"/>
                </a:solidFill>
                <a:latin typeface="Arial"/>
              </a:rPr>
              <a:t>Collecting terms with the same q0q1 prefix:</a:t>
            </a:r>
          </a:p>
          <a:p>
            <a:pPr algn="l">
              <a:spcAft>
                <a:spcPts val="300"/>
              </a:spcAft>
            </a:pPr>
            <a:r>
              <a:rPr sz="1550" b="0">
                <a:solidFill>
                  <a:srgbClr val="0B1220"/>
                </a:solidFill>
                <a:latin typeface="Arial"/>
              </a:rPr>
              <a:t> </a:t>
            </a:r>
          </a:p>
          <a:p>
            <a:pPr algn="l">
              <a:spcAft>
                <a:spcPts val="300"/>
              </a:spcAft>
            </a:pPr>
            <a:r>
              <a:rPr sz="1550" b="0">
                <a:solidFill>
                  <a:srgbClr val="9CDCFE"/>
                </a:solidFill>
                <a:latin typeface="Arial"/>
              </a:rPr>
              <a:t>|Ψ₂&gt; = (1/2) [  |00&gt;(a|0&gt; + b|1&gt;)</a:t>
            </a:r>
          </a:p>
          <a:p>
            <a:pPr algn="l">
              <a:spcAft>
                <a:spcPts val="300"/>
              </a:spcAft>
            </a:pPr>
            <a:r>
              <a:rPr sz="1550" b="0">
                <a:solidFill>
                  <a:srgbClr val="9CDCFE"/>
                </a:solidFill>
                <a:latin typeface="Arial"/>
              </a:rPr>
              <a:t>              + |01&gt;(a|1&gt; + b|0&gt;)</a:t>
            </a:r>
          </a:p>
          <a:p>
            <a:pPr algn="l">
              <a:spcAft>
                <a:spcPts val="300"/>
              </a:spcAft>
            </a:pPr>
            <a:r>
              <a:rPr sz="1550" b="0">
                <a:solidFill>
                  <a:srgbClr val="9CDCFE"/>
                </a:solidFill>
                <a:latin typeface="Arial"/>
              </a:rPr>
              <a:t>              + |10&gt;(a|0&gt; - b|1&gt;)</a:t>
            </a:r>
          </a:p>
          <a:p>
            <a:pPr algn="l">
              <a:spcAft>
                <a:spcPts val="300"/>
              </a:spcAft>
            </a:pPr>
            <a:r>
              <a:rPr sz="1550" b="0">
                <a:solidFill>
                  <a:srgbClr val="9CDCFE"/>
                </a:solidFill>
                <a:latin typeface="Arial"/>
              </a:rPr>
              <a:t>              + |11&gt;(a|1&gt; - b|0&gt;) ]</a:t>
            </a:r>
          </a:p>
        </p:txBody>
      </p:sp>
      <p:sp>
        <p:nvSpPr>
          <p:cNvPr id="9" name="Rectangle 8"/>
          <p:cNvSpPr/>
          <p:nvPr/>
        </p:nvSpPr>
        <p:spPr>
          <a:xfrm>
            <a:off x="777240" y="4334256"/>
            <a:ext cx="10634472" cy="1719072"/>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Rectangle 9"/>
          <p:cNvSpPr/>
          <p:nvPr/>
        </p:nvSpPr>
        <p:spPr>
          <a:xfrm>
            <a:off x="777240" y="4334256"/>
            <a:ext cx="82296" cy="1719072"/>
          </a:xfrm>
          <a:prstGeom prst="rect">
            <a:avLst/>
          </a:prstGeom>
          <a:solidFill>
            <a:srgbClr val="F59E0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 name="TextBox 10"/>
          <p:cNvSpPr txBox="1"/>
          <p:nvPr/>
        </p:nvSpPr>
        <p:spPr>
          <a:xfrm>
            <a:off x="1097280" y="4334256"/>
            <a:ext cx="10149840" cy="1719072"/>
          </a:xfrm>
          <a:prstGeom prst="rect">
            <a:avLst/>
          </a:prstGeom>
          <a:noFill/>
        </p:spPr>
        <p:txBody>
          <a:bodyPr wrap="square" anchor="ctr">
            <a:spAutoFit/>
          </a:bodyPr>
          <a:lstStyle/>
          <a:p>
            <a:pPr algn="l">
              <a:spcAft>
                <a:spcPts val="400"/>
              </a:spcAft>
            </a:pPr>
            <a:r>
              <a:rPr sz="1150" b="1">
                <a:solidFill>
                  <a:srgbClr val="F59E0B"/>
                </a:solidFill>
                <a:latin typeface="Arial"/>
              </a:rPr>
              <a:t>WHY THIS STEP:  </a:t>
            </a:r>
            <a:r>
              <a:rPr sz="1300" b="0">
                <a:solidFill>
                  <a:srgbClr val="161B26"/>
                </a:solidFill>
                <a:latin typeface="Arial"/>
              </a:rPr>
              <a:t>THIS IS THE KEY LINE. Bob's qubit is already |ψ&gt; up to a known correction, in every branch.</a:t>
            </a:r>
          </a:p>
        </p:txBody>
      </p:sp>
      <p:sp>
        <p:nvSpPr>
          <p:cNvPr id="12" name="TextBox 11"/>
          <p:cNvSpPr txBox="1"/>
          <p:nvPr/>
        </p:nvSpPr>
        <p:spPr>
          <a:xfrm>
            <a:off x="365760" y="6446520"/>
            <a:ext cx="6858000" cy="320040"/>
          </a:xfrm>
          <a:prstGeom prst="rect">
            <a:avLst/>
          </a:prstGeom>
          <a:noFill/>
        </p:spPr>
        <p:txBody>
          <a:bodyPr wrap="square" anchor="t">
            <a:spAutoFit/>
          </a:bodyPr>
          <a:lstStyle/>
          <a:p>
            <a:pPr algn="l">
              <a:spcAft>
                <a:spcPts val="400"/>
              </a:spcAft>
            </a:pPr>
            <a:r>
              <a:rPr sz="900" b="0">
                <a:solidFill>
                  <a:srgbClr val="5B6372"/>
                </a:solidFill>
                <a:latin typeface="Arial"/>
              </a:rPr>
              <a:t>Securing the Future with Quantum Computing and Cryptography  ·  TGS-2024043419</a:t>
            </a:r>
          </a:p>
        </p:txBody>
      </p:sp>
      <p:sp>
        <p:nvSpPr>
          <p:cNvPr id="13" name="TextBox 12"/>
          <p:cNvSpPr txBox="1"/>
          <p:nvPr/>
        </p:nvSpPr>
        <p:spPr>
          <a:xfrm>
            <a:off x="4572000" y="6446520"/>
            <a:ext cx="3017520" cy="320040"/>
          </a:xfrm>
          <a:prstGeom prst="rect">
            <a:avLst/>
          </a:prstGeom>
          <a:noFill/>
        </p:spPr>
        <p:txBody>
          <a:bodyPr wrap="square" anchor="t">
            <a:spAutoFit/>
          </a:bodyPr>
          <a:lstStyle/>
          <a:p>
            <a:pPr algn="ctr">
              <a:spcAft>
                <a:spcPts val="400"/>
              </a:spcAft>
            </a:pPr>
            <a:r>
              <a:rPr sz="900" b="0">
                <a:solidFill>
                  <a:srgbClr val="5B6372"/>
                </a:solidFill>
                <a:latin typeface="Arial"/>
              </a:rPr>
              <a:t>© 2026 Tertiary Infotech Academy Pte Ltd</a:t>
            </a:r>
          </a:p>
        </p:txBody>
      </p:sp>
      <p:sp>
        <p:nvSpPr>
          <p:cNvPr id="14" name="TextBox 13"/>
          <p:cNvSpPr txBox="1"/>
          <p:nvPr/>
        </p:nvSpPr>
        <p:spPr>
          <a:xfrm>
            <a:off x="11338560" y="6446520"/>
            <a:ext cx="548640" cy="320040"/>
          </a:xfrm>
          <a:prstGeom prst="rect">
            <a:avLst/>
          </a:prstGeom>
          <a:noFill/>
        </p:spPr>
        <p:txBody>
          <a:bodyPr wrap="square" anchor="t">
            <a:spAutoFit/>
          </a:bodyPr>
          <a:lstStyle/>
          <a:p>
            <a:pPr algn="r">
              <a:spcAft>
                <a:spcPts val="400"/>
              </a:spcAft>
            </a:pPr>
            <a:r>
              <a:rPr sz="900" b="0">
                <a:solidFill>
                  <a:srgbClr val="5B6372"/>
                </a:solidFill>
                <a:latin typeface="Arial"/>
              </a:rPr>
              <a:t>90</a:t>
            </a:r>
          </a:p>
        </p:txBody>
      </p:sp>
    </p:spTree>
  </p:cSld>
  <p:clrMapOvr>
    <a:masterClrMapping/>
  </p:clrMapOvr>
</p:sld>
</file>

<file path=ppt/slides/slide92.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256032" cy="1417320"/>
          </a:xfrm>
          <a:prstGeom prst="rect">
            <a:avLst/>
          </a:prstGeom>
          <a:solidFill>
            <a:srgbClr val="7C3AE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777240" y="457200"/>
            <a:ext cx="10607040" cy="365760"/>
          </a:xfrm>
          <a:prstGeom prst="rect">
            <a:avLst/>
          </a:prstGeom>
          <a:noFill/>
        </p:spPr>
        <p:txBody>
          <a:bodyPr wrap="square" anchor="t">
            <a:spAutoFit/>
          </a:bodyPr>
          <a:lstStyle/>
          <a:p>
            <a:pPr algn="l">
              <a:spcAft>
                <a:spcPts val="400"/>
              </a:spcAft>
            </a:pPr>
            <a:r>
              <a:rPr sz="1400" b="1">
                <a:solidFill>
                  <a:srgbClr val="7C3AED"/>
                </a:solidFill>
                <a:latin typeface="Arial"/>
              </a:rPr>
              <a:t>QUANTUM TELEPORTATION  ·  STEP 5 OF 7</a:t>
            </a:r>
          </a:p>
        </p:txBody>
      </p:sp>
      <p:sp>
        <p:nvSpPr>
          <p:cNvPr id="5" name="TextBox 4"/>
          <p:cNvSpPr txBox="1"/>
          <p:nvPr/>
        </p:nvSpPr>
        <p:spPr>
          <a:xfrm>
            <a:off x="777240" y="822960"/>
            <a:ext cx="10881360" cy="822960"/>
          </a:xfrm>
          <a:prstGeom prst="rect">
            <a:avLst/>
          </a:prstGeom>
          <a:noFill/>
        </p:spPr>
        <p:txBody>
          <a:bodyPr wrap="square" anchor="t">
            <a:spAutoFit/>
          </a:bodyPr>
          <a:lstStyle/>
          <a:p>
            <a:pPr algn="l">
              <a:spcAft>
                <a:spcPts val="400"/>
              </a:spcAft>
            </a:pPr>
            <a:r>
              <a:rPr sz="2900" b="1">
                <a:solidFill>
                  <a:srgbClr val="161B26"/>
                </a:solidFill>
                <a:latin typeface="Arial"/>
              </a:rPr>
              <a:t>Step 5 — Alice measures; Bob's state collapses</a:t>
            </a:r>
          </a:p>
        </p:txBody>
      </p:sp>
      <p:sp>
        <p:nvSpPr>
          <p:cNvPr id="6" name="Rectangle 5"/>
          <p:cNvSpPr/>
          <p:nvPr/>
        </p:nvSpPr>
        <p:spPr>
          <a:xfrm>
            <a:off x="777240" y="1554480"/>
            <a:ext cx="10634472" cy="18288"/>
          </a:xfrm>
          <a:prstGeom prst="rect">
            <a:avLst/>
          </a:prstGeom>
          <a:solidFill>
            <a:srgbClr val="E2E8F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Rectangle 6"/>
          <p:cNvSpPr/>
          <p:nvPr/>
        </p:nvSpPr>
        <p:spPr>
          <a:xfrm>
            <a:off x="777240" y="1810512"/>
            <a:ext cx="10634472" cy="2322576"/>
          </a:xfrm>
          <a:prstGeom prst="rect">
            <a:avLst/>
          </a:prstGeom>
          <a:solidFill>
            <a:srgbClr val="0B122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TextBox 7"/>
          <p:cNvSpPr txBox="1"/>
          <p:nvPr/>
        </p:nvSpPr>
        <p:spPr>
          <a:xfrm>
            <a:off x="1097280" y="1956816"/>
            <a:ext cx="9994392" cy="2029968"/>
          </a:xfrm>
          <a:prstGeom prst="rect">
            <a:avLst/>
          </a:prstGeom>
          <a:noFill/>
        </p:spPr>
        <p:txBody>
          <a:bodyPr wrap="square" anchor="t">
            <a:spAutoFit/>
          </a:bodyPr>
          <a:lstStyle/>
          <a:p>
            <a:pPr algn="l">
              <a:spcAft>
                <a:spcPts val="300"/>
              </a:spcAft>
            </a:pPr>
            <a:r>
              <a:rPr sz="1550" b="0">
                <a:solidFill>
                  <a:srgbClr val="9CDCFE"/>
                </a:solidFill>
                <a:latin typeface="Arial"/>
              </a:rPr>
              <a:t>Each outcome has probability |1/2|² = 1/4 — independent of a and b.</a:t>
            </a:r>
          </a:p>
          <a:p>
            <a:pPr algn="l">
              <a:spcAft>
                <a:spcPts val="300"/>
              </a:spcAft>
            </a:pPr>
            <a:r>
              <a:rPr sz="1550" b="0">
                <a:solidFill>
                  <a:srgbClr val="0B1220"/>
                </a:solidFill>
                <a:latin typeface="Arial"/>
              </a:rPr>
              <a:t> </a:t>
            </a:r>
          </a:p>
          <a:p>
            <a:pPr algn="l">
              <a:spcAft>
                <a:spcPts val="300"/>
              </a:spcAft>
            </a:pPr>
            <a:r>
              <a:rPr sz="1550" b="0">
                <a:solidFill>
                  <a:srgbClr val="9CDCFE"/>
                </a:solidFill>
                <a:latin typeface="Arial"/>
              </a:rPr>
              <a:t>   00  -&gt;  Bob has  a|0&gt; + b|1&gt;   =  |ψ&gt;</a:t>
            </a:r>
          </a:p>
          <a:p>
            <a:pPr algn="l">
              <a:spcAft>
                <a:spcPts val="300"/>
              </a:spcAft>
            </a:pPr>
            <a:r>
              <a:rPr sz="1550" b="0">
                <a:solidFill>
                  <a:srgbClr val="9CDCFE"/>
                </a:solidFill>
                <a:latin typeface="Arial"/>
              </a:rPr>
              <a:t>   01  -&gt;  Bob has  a|1&gt; + b|0&gt;   =  X|ψ&gt;</a:t>
            </a:r>
          </a:p>
          <a:p>
            <a:pPr algn="l">
              <a:spcAft>
                <a:spcPts val="300"/>
              </a:spcAft>
            </a:pPr>
            <a:r>
              <a:rPr sz="1550" b="0">
                <a:solidFill>
                  <a:srgbClr val="9CDCFE"/>
                </a:solidFill>
                <a:latin typeface="Arial"/>
              </a:rPr>
              <a:t>   10  -&gt;  Bob has  a|0&gt; - b|1&gt;   =  Z|ψ&gt;</a:t>
            </a:r>
          </a:p>
          <a:p>
            <a:pPr algn="l">
              <a:spcAft>
                <a:spcPts val="300"/>
              </a:spcAft>
            </a:pPr>
            <a:r>
              <a:rPr sz="1550" b="0">
                <a:solidFill>
                  <a:srgbClr val="9CDCFE"/>
                </a:solidFill>
                <a:latin typeface="Arial"/>
              </a:rPr>
              <a:t>   11  -&gt;  Bob has  a|1&gt; - b|0&gt;   =  XZ|ψ&gt; (up to phase)</a:t>
            </a:r>
          </a:p>
        </p:txBody>
      </p:sp>
      <p:sp>
        <p:nvSpPr>
          <p:cNvPr id="9" name="Rectangle 8"/>
          <p:cNvSpPr/>
          <p:nvPr/>
        </p:nvSpPr>
        <p:spPr>
          <a:xfrm>
            <a:off x="777240" y="4334256"/>
            <a:ext cx="10634472" cy="1719072"/>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Rectangle 9"/>
          <p:cNvSpPr/>
          <p:nvPr/>
        </p:nvSpPr>
        <p:spPr>
          <a:xfrm>
            <a:off x="777240" y="4334256"/>
            <a:ext cx="82296" cy="1719072"/>
          </a:xfrm>
          <a:prstGeom prst="rect">
            <a:avLst/>
          </a:prstGeom>
          <a:solidFill>
            <a:srgbClr val="F59E0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 name="TextBox 10"/>
          <p:cNvSpPr txBox="1"/>
          <p:nvPr/>
        </p:nvSpPr>
        <p:spPr>
          <a:xfrm>
            <a:off x="1097280" y="4334256"/>
            <a:ext cx="10149840" cy="1719072"/>
          </a:xfrm>
          <a:prstGeom prst="rect">
            <a:avLst/>
          </a:prstGeom>
          <a:noFill/>
        </p:spPr>
        <p:txBody>
          <a:bodyPr wrap="square" anchor="ctr">
            <a:spAutoFit/>
          </a:bodyPr>
          <a:lstStyle/>
          <a:p>
            <a:pPr algn="l">
              <a:spcAft>
                <a:spcPts val="400"/>
              </a:spcAft>
            </a:pPr>
            <a:r>
              <a:rPr sz="1150" b="1">
                <a:solidFill>
                  <a:srgbClr val="F59E0B"/>
                </a:solidFill>
                <a:latin typeface="Arial"/>
              </a:rPr>
              <a:t>WHY THIS STEP:  </a:t>
            </a:r>
            <a:r>
              <a:rPr sz="1300" b="0">
                <a:solidFill>
                  <a:srgbClr val="161B26"/>
                </a:solidFill>
                <a:latin typeface="Arial"/>
              </a:rPr>
              <a:t>Because every outcome is equally likely REGARDLESS of a and b, Alice's measurement reveals nothing about the state — this is why no information leaks.</a:t>
            </a:r>
          </a:p>
        </p:txBody>
      </p:sp>
      <p:sp>
        <p:nvSpPr>
          <p:cNvPr id="12" name="TextBox 11"/>
          <p:cNvSpPr txBox="1"/>
          <p:nvPr/>
        </p:nvSpPr>
        <p:spPr>
          <a:xfrm>
            <a:off x="365760" y="6446520"/>
            <a:ext cx="6858000" cy="320040"/>
          </a:xfrm>
          <a:prstGeom prst="rect">
            <a:avLst/>
          </a:prstGeom>
          <a:noFill/>
        </p:spPr>
        <p:txBody>
          <a:bodyPr wrap="square" anchor="t">
            <a:spAutoFit/>
          </a:bodyPr>
          <a:lstStyle/>
          <a:p>
            <a:pPr algn="l">
              <a:spcAft>
                <a:spcPts val="400"/>
              </a:spcAft>
            </a:pPr>
            <a:r>
              <a:rPr sz="900" b="0">
                <a:solidFill>
                  <a:srgbClr val="5B6372"/>
                </a:solidFill>
                <a:latin typeface="Arial"/>
              </a:rPr>
              <a:t>Securing the Future with Quantum Computing and Cryptography  ·  TGS-2024043419</a:t>
            </a:r>
          </a:p>
        </p:txBody>
      </p:sp>
      <p:sp>
        <p:nvSpPr>
          <p:cNvPr id="13" name="TextBox 12"/>
          <p:cNvSpPr txBox="1"/>
          <p:nvPr/>
        </p:nvSpPr>
        <p:spPr>
          <a:xfrm>
            <a:off x="4572000" y="6446520"/>
            <a:ext cx="3017520" cy="320040"/>
          </a:xfrm>
          <a:prstGeom prst="rect">
            <a:avLst/>
          </a:prstGeom>
          <a:noFill/>
        </p:spPr>
        <p:txBody>
          <a:bodyPr wrap="square" anchor="t">
            <a:spAutoFit/>
          </a:bodyPr>
          <a:lstStyle/>
          <a:p>
            <a:pPr algn="ctr">
              <a:spcAft>
                <a:spcPts val="400"/>
              </a:spcAft>
            </a:pPr>
            <a:r>
              <a:rPr sz="900" b="0">
                <a:solidFill>
                  <a:srgbClr val="5B6372"/>
                </a:solidFill>
                <a:latin typeface="Arial"/>
              </a:rPr>
              <a:t>© 2026 Tertiary Infotech Academy Pte Ltd</a:t>
            </a:r>
          </a:p>
        </p:txBody>
      </p:sp>
      <p:sp>
        <p:nvSpPr>
          <p:cNvPr id="14" name="TextBox 13"/>
          <p:cNvSpPr txBox="1"/>
          <p:nvPr/>
        </p:nvSpPr>
        <p:spPr>
          <a:xfrm>
            <a:off x="11338560" y="6446520"/>
            <a:ext cx="548640" cy="320040"/>
          </a:xfrm>
          <a:prstGeom prst="rect">
            <a:avLst/>
          </a:prstGeom>
          <a:noFill/>
        </p:spPr>
        <p:txBody>
          <a:bodyPr wrap="square" anchor="t">
            <a:spAutoFit/>
          </a:bodyPr>
          <a:lstStyle/>
          <a:p>
            <a:pPr algn="r">
              <a:spcAft>
                <a:spcPts val="400"/>
              </a:spcAft>
            </a:pPr>
            <a:r>
              <a:rPr sz="900" b="0">
                <a:solidFill>
                  <a:srgbClr val="5B6372"/>
                </a:solidFill>
                <a:latin typeface="Arial"/>
              </a:rPr>
              <a:t>91</a:t>
            </a:r>
          </a:p>
        </p:txBody>
      </p:sp>
    </p:spTree>
  </p:cSld>
  <p:clrMapOvr>
    <a:masterClrMapping/>
  </p:clrMapOvr>
</p:sld>
</file>

<file path=ppt/slides/slide93.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256032" cy="1417320"/>
          </a:xfrm>
          <a:prstGeom prst="rect">
            <a:avLst/>
          </a:prstGeom>
          <a:solidFill>
            <a:srgbClr val="7C3AE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777240" y="457200"/>
            <a:ext cx="10607040" cy="365760"/>
          </a:xfrm>
          <a:prstGeom prst="rect">
            <a:avLst/>
          </a:prstGeom>
          <a:noFill/>
        </p:spPr>
        <p:txBody>
          <a:bodyPr wrap="square" anchor="t">
            <a:spAutoFit/>
          </a:bodyPr>
          <a:lstStyle/>
          <a:p>
            <a:pPr algn="l">
              <a:spcAft>
                <a:spcPts val="400"/>
              </a:spcAft>
            </a:pPr>
            <a:r>
              <a:rPr sz="1400" b="1">
                <a:solidFill>
                  <a:srgbClr val="7C3AED"/>
                </a:solidFill>
                <a:latin typeface="Arial"/>
              </a:rPr>
              <a:t>QUANTUM TELEPORTATION  ·  STEP 6 OF 7</a:t>
            </a:r>
          </a:p>
        </p:txBody>
      </p:sp>
      <p:sp>
        <p:nvSpPr>
          <p:cNvPr id="5" name="TextBox 4"/>
          <p:cNvSpPr txBox="1"/>
          <p:nvPr/>
        </p:nvSpPr>
        <p:spPr>
          <a:xfrm>
            <a:off x="777240" y="822960"/>
            <a:ext cx="10881360" cy="822960"/>
          </a:xfrm>
          <a:prstGeom prst="rect">
            <a:avLst/>
          </a:prstGeom>
          <a:noFill/>
        </p:spPr>
        <p:txBody>
          <a:bodyPr wrap="square" anchor="t">
            <a:spAutoFit/>
          </a:bodyPr>
          <a:lstStyle/>
          <a:p>
            <a:pPr algn="l">
              <a:spcAft>
                <a:spcPts val="400"/>
              </a:spcAft>
            </a:pPr>
            <a:r>
              <a:rPr sz="2900" b="1">
                <a:solidFill>
                  <a:srgbClr val="161B26"/>
                </a:solidFill>
                <a:latin typeface="Arial"/>
              </a:rPr>
              <a:t>Step 6 — Bob applies the correction</a:t>
            </a:r>
          </a:p>
        </p:txBody>
      </p:sp>
      <p:sp>
        <p:nvSpPr>
          <p:cNvPr id="6" name="Rectangle 5"/>
          <p:cNvSpPr/>
          <p:nvPr/>
        </p:nvSpPr>
        <p:spPr>
          <a:xfrm>
            <a:off x="777240" y="1554480"/>
            <a:ext cx="10634472" cy="18288"/>
          </a:xfrm>
          <a:prstGeom prst="rect">
            <a:avLst/>
          </a:prstGeom>
          <a:solidFill>
            <a:srgbClr val="E2E8F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Rectangle 6"/>
          <p:cNvSpPr/>
          <p:nvPr/>
        </p:nvSpPr>
        <p:spPr>
          <a:xfrm>
            <a:off x="777240" y="1810512"/>
            <a:ext cx="10634472" cy="2944368"/>
          </a:xfrm>
          <a:prstGeom prst="rect">
            <a:avLst/>
          </a:prstGeom>
          <a:solidFill>
            <a:srgbClr val="0B122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TextBox 7"/>
          <p:cNvSpPr txBox="1"/>
          <p:nvPr/>
        </p:nvSpPr>
        <p:spPr>
          <a:xfrm>
            <a:off x="1097280" y="1956816"/>
            <a:ext cx="9994392" cy="2651760"/>
          </a:xfrm>
          <a:prstGeom prst="rect">
            <a:avLst/>
          </a:prstGeom>
          <a:noFill/>
        </p:spPr>
        <p:txBody>
          <a:bodyPr wrap="square" anchor="t">
            <a:spAutoFit/>
          </a:bodyPr>
          <a:lstStyle/>
          <a:p>
            <a:pPr algn="l">
              <a:spcAft>
                <a:spcPts val="300"/>
              </a:spcAft>
            </a:pPr>
            <a:r>
              <a:rPr sz="1550" b="0">
                <a:solidFill>
                  <a:srgbClr val="9CDCFE"/>
                </a:solidFill>
                <a:latin typeface="Arial"/>
              </a:rPr>
              <a:t>Alice sends the two classical bits (b₀b₁). Bob applies:</a:t>
            </a:r>
          </a:p>
          <a:p>
            <a:pPr algn="l">
              <a:spcAft>
                <a:spcPts val="300"/>
              </a:spcAft>
            </a:pPr>
            <a:r>
              <a:rPr sz="1550" b="0">
                <a:solidFill>
                  <a:srgbClr val="0B1220"/>
                </a:solidFill>
                <a:latin typeface="Arial"/>
              </a:rPr>
              <a:t> </a:t>
            </a:r>
          </a:p>
          <a:p>
            <a:pPr algn="l">
              <a:spcAft>
                <a:spcPts val="300"/>
              </a:spcAft>
            </a:pPr>
            <a:r>
              <a:rPr sz="1550" b="0">
                <a:solidFill>
                  <a:srgbClr val="9CDCFE"/>
                </a:solidFill>
                <a:latin typeface="Arial"/>
              </a:rPr>
              <a:t>   00  -&gt;  I    (do nothing)         -&gt;  |ψ&gt;</a:t>
            </a:r>
          </a:p>
          <a:p>
            <a:pPr algn="l">
              <a:spcAft>
                <a:spcPts val="300"/>
              </a:spcAft>
            </a:pPr>
            <a:r>
              <a:rPr sz="1550" b="0">
                <a:solidFill>
                  <a:srgbClr val="9CDCFE"/>
                </a:solidFill>
                <a:latin typeface="Arial"/>
              </a:rPr>
              <a:t>   01  -&gt;  X                          -&gt;  X·X|ψ&gt;  = |ψ&gt;</a:t>
            </a:r>
          </a:p>
          <a:p>
            <a:pPr algn="l">
              <a:spcAft>
                <a:spcPts val="300"/>
              </a:spcAft>
            </a:pPr>
            <a:r>
              <a:rPr sz="1550" b="0">
                <a:solidFill>
                  <a:srgbClr val="9CDCFE"/>
                </a:solidFill>
                <a:latin typeface="Arial"/>
              </a:rPr>
              <a:t>   10  -&gt;  Z                          -&gt;  Z·Z|ψ&gt;  = |ψ&gt;</a:t>
            </a:r>
          </a:p>
          <a:p>
            <a:pPr algn="l">
              <a:spcAft>
                <a:spcPts val="300"/>
              </a:spcAft>
            </a:pPr>
            <a:r>
              <a:rPr sz="1550" b="0">
                <a:solidFill>
                  <a:srgbClr val="9CDCFE"/>
                </a:solidFill>
                <a:latin typeface="Arial"/>
              </a:rPr>
              <a:t>   11  -&gt;  ZX                         -&gt;            |ψ&gt;</a:t>
            </a:r>
          </a:p>
          <a:p>
            <a:pPr algn="l">
              <a:spcAft>
                <a:spcPts val="300"/>
              </a:spcAft>
            </a:pPr>
            <a:r>
              <a:rPr sz="1550" b="0">
                <a:solidFill>
                  <a:srgbClr val="0B1220"/>
                </a:solidFill>
                <a:latin typeface="Arial"/>
              </a:rPr>
              <a:t> </a:t>
            </a:r>
          </a:p>
          <a:p>
            <a:pPr algn="l">
              <a:spcAft>
                <a:spcPts val="300"/>
              </a:spcAft>
            </a:pPr>
            <a:r>
              <a:rPr sz="1550" b="0">
                <a:solidFill>
                  <a:srgbClr val="9CDCFE"/>
                </a:solidFill>
                <a:latin typeface="Arial"/>
              </a:rPr>
              <a:t>using X² = Z² = I.</a:t>
            </a:r>
          </a:p>
        </p:txBody>
      </p:sp>
      <p:sp>
        <p:nvSpPr>
          <p:cNvPr id="9" name="Rectangle 8"/>
          <p:cNvSpPr/>
          <p:nvPr/>
        </p:nvSpPr>
        <p:spPr>
          <a:xfrm>
            <a:off x="777240" y="4956048"/>
            <a:ext cx="10634472" cy="1097280"/>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Rectangle 9"/>
          <p:cNvSpPr/>
          <p:nvPr/>
        </p:nvSpPr>
        <p:spPr>
          <a:xfrm>
            <a:off x="777240" y="4956048"/>
            <a:ext cx="82296" cy="1097280"/>
          </a:xfrm>
          <a:prstGeom prst="rect">
            <a:avLst/>
          </a:prstGeom>
          <a:solidFill>
            <a:srgbClr val="F59E0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 name="TextBox 10"/>
          <p:cNvSpPr txBox="1"/>
          <p:nvPr/>
        </p:nvSpPr>
        <p:spPr>
          <a:xfrm>
            <a:off x="1097280" y="4956048"/>
            <a:ext cx="10149840" cy="1097280"/>
          </a:xfrm>
          <a:prstGeom prst="rect">
            <a:avLst/>
          </a:prstGeom>
          <a:noFill/>
        </p:spPr>
        <p:txBody>
          <a:bodyPr wrap="square" anchor="ctr">
            <a:spAutoFit/>
          </a:bodyPr>
          <a:lstStyle/>
          <a:p>
            <a:pPr algn="l">
              <a:spcAft>
                <a:spcPts val="400"/>
              </a:spcAft>
            </a:pPr>
            <a:r>
              <a:rPr sz="1150" b="1">
                <a:solidFill>
                  <a:srgbClr val="F59E0B"/>
                </a:solidFill>
                <a:latin typeface="Arial"/>
              </a:rPr>
              <a:t>WHY THIS STEP:  </a:t>
            </a:r>
            <a:r>
              <a:rPr sz="1300" b="0">
                <a:solidFill>
                  <a:srgbClr val="161B26"/>
                </a:solidFill>
                <a:latin typeface="Arial"/>
              </a:rPr>
              <a:t>In every branch Bob ends holding exactly a|0&gt; + b|1&gt;.</a:t>
            </a:r>
          </a:p>
        </p:txBody>
      </p:sp>
      <p:sp>
        <p:nvSpPr>
          <p:cNvPr id="12" name="TextBox 11"/>
          <p:cNvSpPr txBox="1"/>
          <p:nvPr/>
        </p:nvSpPr>
        <p:spPr>
          <a:xfrm>
            <a:off x="365760" y="6446520"/>
            <a:ext cx="6858000" cy="320040"/>
          </a:xfrm>
          <a:prstGeom prst="rect">
            <a:avLst/>
          </a:prstGeom>
          <a:noFill/>
        </p:spPr>
        <p:txBody>
          <a:bodyPr wrap="square" anchor="t">
            <a:spAutoFit/>
          </a:bodyPr>
          <a:lstStyle/>
          <a:p>
            <a:pPr algn="l">
              <a:spcAft>
                <a:spcPts val="400"/>
              </a:spcAft>
            </a:pPr>
            <a:r>
              <a:rPr sz="900" b="0">
                <a:solidFill>
                  <a:srgbClr val="5B6372"/>
                </a:solidFill>
                <a:latin typeface="Arial"/>
              </a:rPr>
              <a:t>Securing the Future with Quantum Computing and Cryptography  ·  TGS-2024043419</a:t>
            </a:r>
          </a:p>
        </p:txBody>
      </p:sp>
      <p:sp>
        <p:nvSpPr>
          <p:cNvPr id="13" name="TextBox 12"/>
          <p:cNvSpPr txBox="1"/>
          <p:nvPr/>
        </p:nvSpPr>
        <p:spPr>
          <a:xfrm>
            <a:off x="4572000" y="6446520"/>
            <a:ext cx="3017520" cy="320040"/>
          </a:xfrm>
          <a:prstGeom prst="rect">
            <a:avLst/>
          </a:prstGeom>
          <a:noFill/>
        </p:spPr>
        <p:txBody>
          <a:bodyPr wrap="square" anchor="t">
            <a:spAutoFit/>
          </a:bodyPr>
          <a:lstStyle/>
          <a:p>
            <a:pPr algn="ctr">
              <a:spcAft>
                <a:spcPts val="400"/>
              </a:spcAft>
            </a:pPr>
            <a:r>
              <a:rPr sz="900" b="0">
                <a:solidFill>
                  <a:srgbClr val="5B6372"/>
                </a:solidFill>
                <a:latin typeface="Arial"/>
              </a:rPr>
              <a:t>© 2026 Tertiary Infotech Academy Pte Ltd</a:t>
            </a:r>
          </a:p>
        </p:txBody>
      </p:sp>
      <p:sp>
        <p:nvSpPr>
          <p:cNvPr id="14" name="TextBox 13"/>
          <p:cNvSpPr txBox="1"/>
          <p:nvPr/>
        </p:nvSpPr>
        <p:spPr>
          <a:xfrm>
            <a:off x="11338560" y="6446520"/>
            <a:ext cx="548640" cy="320040"/>
          </a:xfrm>
          <a:prstGeom prst="rect">
            <a:avLst/>
          </a:prstGeom>
          <a:noFill/>
        </p:spPr>
        <p:txBody>
          <a:bodyPr wrap="square" anchor="t">
            <a:spAutoFit/>
          </a:bodyPr>
          <a:lstStyle/>
          <a:p>
            <a:pPr algn="r">
              <a:spcAft>
                <a:spcPts val="400"/>
              </a:spcAft>
            </a:pPr>
            <a:r>
              <a:rPr sz="900" b="0">
                <a:solidFill>
                  <a:srgbClr val="5B6372"/>
                </a:solidFill>
                <a:latin typeface="Arial"/>
              </a:rPr>
              <a:t>92</a:t>
            </a:r>
          </a:p>
        </p:txBody>
      </p:sp>
    </p:spTree>
  </p:cSld>
  <p:clrMapOvr>
    <a:masterClrMapping/>
  </p:clrMapOvr>
</p:sld>
</file>

<file path=ppt/slides/slide94.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256032" cy="1417320"/>
          </a:xfrm>
          <a:prstGeom prst="rect">
            <a:avLst/>
          </a:prstGeom>
          <a:solidFill>
            <a:srgbClr val="7C3AE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777240" y="457200"/>
            <a:ext cx="10607040" cy="365760"/>
          </a:xfrm>
          <a:prstGeom prst="rect">
            <a:avLst/>
          </a:prstGeom>
          <a:noFill/>
        </p:spPr>
        <p:txBody>
          <a:bodyPr wrap="square" anchor="t">
            <a:spAutoFit/>
          </a:bodyPr>
          <a:lstStyle/>
          <a:p>
            <a:pPr algn="l">
              <a:spcAft>
                <a:spcPts val="400"/>
              </a:spcAft>
            </a:pPr>
            <a:r>
              <a:rPr sz="1400" b="1">
                <a:solidFill>
                  <a:srgbClr val="7C3AED"/>
                </a:solidFill>
                <a:latin typeface="Arial"/>
              </a:rPr>
              <a:t>QUANTUM TELEPORTATION  ·  STEP 7 OF 7</a:t>
            </a:r>
          </a:p>
        </p:txBody>
      </p:sp>
      <p:sp>
        <p:nvSpPr>
          <p:cNvPr id="5" name="TextBox 4"/>
          <p:cNvSpPr txBox="1"/>
          <p:nvPr/>
        </p:nvSpPr>
        <p:spPr>
          <a:xfrm>
            <a:off x="777240" y="822960"/>
            <a:ext cx="10881360" cy="822960"/>
          </a:xfrm>
          <a:prstGeom prst="rect">
            <a:avLst/>
          </a:prstGeom>
          <a:noFill/>
        </p:spPr>
        <p:txBody>
          <a:bodyPr wrap="square" anchor="t">
            <a:spAutoFit/>
          </a:bodyPr>
          <a:lstStyle/>
          <a:p>
            <a:pPr algn="l">
              <a:spcAft>
                <a:spcPts val="400"/>
              </a:spcAft>
            </a:pPr>
            <a:r>
              <a:rPr sz="2900" b="1">
                <a:solidFill>
                  <a:srgbClr val="161B26"/>
                </a:solidFill>
                <a:latin typeface="Arial"/>
              </a:rPr>
              <a:t>Step 7 — Consistency checks</a:t>
            </a:r>
          </a:p>
        </p:txBody>
      </p:sp>
      <p:sp>
        <p:nvSpPr>
          <p:cNvPr id="6" name="Rectangle 5"/>
          <p:cNvSpPr/>
          <p:nvPr/>
        </p:nvSpPr>
        <p:spPr>
          <a:xfrm>
            <a:off x="777240" y="1554480"/>
            <a:ext cx="10634472" cy="18288"/>
          </a:xfrm>
          <a:prstGeom prst="rect">
            <a:avLst/>
          </a:prstGeom>
          <a:solidFill>
            <a:srgbClr val="E2E8F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Rectangle 6"/>
          <p:cNvSpPr/>
          <p:nvPr/>
        </p:nvSpPr>
        <p:spPr>
          <a:xfrm>
            <a:off x="777240" y="1810512"/>
            <a:ext cx="10634472" cy="3566160"/>
          </a:xfrm>
          <a:prstGeom prst="rect">
            <a:avLst/>
          </a:prstGeom>
          <a:solidFill>
            <a:srgbClr val="0B122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TextBox 7"/>
          <p:cNvSpPr txBox="1"/>
          <p:nvPr/>
        </p:nvSpPr>
        <p:spPr>
          <a:xfrm>
            <a:off x="1097280" y="1956816"/>
            <a:ext cx="9994392" cy="3273552"/>
          </a:xfrm>
          <a:prstGeom prst="rect">
            <a:avLst/>
          </a:prstGeom>
          <a:noFill/>
        </p:spPr>
        <p:txBody>
          <a:bodyPr wrap="square" anchor="t">
            <a:spAutoFit/>
          </a:bodyPr>
          <a:lstStyle/>
          <a:p>
            <a:pPr algn="l">
              <a:spcAft>
                <a:spcPts val="300"/>
              </a:spcAft>
            </a:pPr>
            <a:r>
              <a:rPr sz="1350" b="0">
                <a:solidFill>
                  <a:srgbClr val="9CDCFE"/>
                </a:solidFill>
                <a:latin typeface="Arial"/>
              </a:rPr>
              <a:t>NO CLONING</a:t>
            </a:r>
          </a:p>
          <a:p>
            <a:pPr algn="l">
              <a:spcAft>
                <a:spcPts val="300"/>
              </a:spcAft>
            </a:pPr>
            <a:r>
              <a:rPr sz="1350" b="0">
                <a:solidFill>
                  <a:srgbClr val="9CDCFE"/>
                </a:solidFill>
                <a:latin typeface="Arial"/>
              </a:rPr>
              <a:t>   Alice's q0 was measured, so her copy is destroyed.</a:t>
            </a:r>
          </a:p>
          <a:p>
            <a:pPr algn="l">
              <a:spcAft>
                <a:spcPts val="300"/>
              </a:spcAft>
            </a:pPr>
            <a:r>
              <a:rPr sz="1350" b="0">
                <a:solidFill>
                  <a:srgbClr val="9CDCFE"/>
                </a:solidFill>
                <a:latin typeface="Arial"/>
              </a:rPr>
              <a:t>   Only ONE |ψ&gt; exists at the end — no cloning occurred.</a:t>
            </a:r>
          </a:p>
          <a:p>
            <a:pPr algn="l">
              <a:spcAft>
                <a:spcPts val="300"/>
              </a:spcAft>
            </a:pPr>
            <a:r>
              <a:rPr sz="1350" b="0">
                <a:solidFill>
                  <a:srgbClr val="0B1220"/>
                </a:solidFill>
                <a:latin typeface="Arial"/>
              </a:rPr>
              <a:t> </a:t>
            </a:r>
          </a:p>
          <a:p>
            <a:pPr algn="l">
              <a:spcAft>
                <a:spcPts val="300"/>
              </a:spcAft>
            </a:pPr>
            <a:r>
              <a:rPr sz="1350" b="0">
                <a:solidFill>
                  <a:srgbClr val="9CDCFE"/>
                </a:solidFill>
                <a:latin typeface="Arial"/>
              </a:rPr>
              <a:t>NO FASTER-THAN-LIGHT SIGNALLING</a:t>
            </a:r>
          </a:p>
          <a:p>
            <a:pPr algn="l">
              <a:spcAft>
                <a:spcPts val="300"/>
              </a:spcAft>
            </a:pPr>
            <a:r>
              <a:rPr sz="1350" b="0">
                <a:solidFill>
                  <a:srgbClr val="9CDCFE"/>
                </a:solidFill>
                <a:latin typeface="Arial"/>
              </a:rPr>
              <a:t>   Before the classical bits arrive, Bob's qubit is the maximally</a:t>
            </a:r>
          </a:p>
          <a:p>
            <a:pPr algn="l">
              <a:spcAft>
                <a:spcPts val="300"/>
              </a:spcAft>
            </a:pPr>
            <a:r>
              <a:rPr sz="1350" b="0">
                <a:solidFill>
                  <a:srgbClr val="9CDCFE"/>
                </a:solidFill>
                <a:latin typeface="Arial"/>
              </a:rPr>
              <a:t>   mixed state ρ = I/2 — it carries no information at all.</a:t>
            </a:r>
          </a:p>
          <a:p>
            <a:pPr algn="l">
              <a:spcAft>
                <a:spcPts val="300"/>
              </a:spcAft>
            </a:pPr>
            <a:r>
              <a:rPr sz="1350" b="0">
                <a:solidFill>
                  <a:srgbClr val="9CDCFE"/>
                </a:solidFill>
                <a:latin typeface="Arial"/>
              </a:rPr>
              <a:t>   The two classical bits travel at or below light speed.</a:t>
            </a:r>
          </a:p>
          <a:p>
            <a:pPr algn="l">
              <a:spcAft>
                <a:spcPts val="300"/>
              </a:spcAft>
            </a:pPr>
            <a:r>
              <a:rPr sz="1350" b="0">
                <a:solidFill>
                  <a:srgbClr val="0B1220"/>
                </a:solidFill>
                <a:latin typeface="Arial"/>
              </a:rPr>
              <a:t> </a:t>
            </a:r>
          </a:p>
          <a:p>
            <a:pPr algn="l">
              <a:spcAft>
                <a:spcPts val="300"/>
              </a:spcAft>
            </a:pPr>
            <a:r>
              <a:rPr sz="1350" b="0">
                <a:solidFill>
                  <a:srgbClr val="9CDCFE"/>
                </a:solidFill>
                <a:latin typeface="Arial"/>
              </a:rPr>
              <a:t>NO STATE KNOWLEDGE</a:t>
            </a:r>
          </a:p>
          <a:p>
            <a:pPr algn="l">
              <a:spcAft>
                <a:spcPts val="300"/>
              </a:spcAft>
            </a:pPr>
            <a:r>
              <a:rPr sz="1350" b="0">
                <a:solidFill>
                  <a:srgbClr val="9CDCFE"/>
                </a:solidFill>
                <a:latin typeface="Arial"/>
              </a:rPr>
              <a:t>   Neither party ever learns the amplitudes a or b.</a:t>
            </a:r>
          </a:p>
        </p:txBody>
      </p:sp>
      <p:sp>
        <p:nvSpPr>
          <p:cNvPr id="9" name="Rectangle 8"/>
          <p:cNvSpPr/>
          <p:nvPr/>
        </p:nvSpPr>
        <p:spPr>
          <a:xfrm>
            <a:off x="777240" y="5577840"/>
            <a:ext cx="10634472" cy="475488"/>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Rectangle 9"/>
          <p:cNvSpPr/>
          <p:nvPr/>
        </p:nvSpPr>
        <p:spPr>
          <a:xfrm>
            <a:off x="777240" y="5577840"/>
            <a:ext cx="82296" cy="475488"/>
          </a:xfrm>
          <a:prstGeom prst="rect">
            <a:avLst/>
          </a:prstGeom>
          <a:solidFill>
            <a:srgbClr val="F59E0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 name="TextBox 10"/>
          <p:cNvSpPr txBox="1"/>
          <p:nvPr/>
        </p:nvSpPr>
        <p:spPr>
          <a:xfrm>
            <a:off x="1097280" y="5577840"/>
            <a:ext cx="10149840" cy="475488"/>
          </a:xfrm>
          <a:prstGeom prst="rect">
            <a:avLst/>
          </a:prstGeom>
          <a:noFill/>
        </p:spPr>
        <p:txBody>
          <a:bodyPr wrap="square" anchor="ctr">
            <a:spAutoFit/>
          </a:bodyPr>
          <a:lstStyle/>
          <a:p>
            <a:pPr algn="l">
              <a:spcAft>
                <a:spcPts val="400"/>
              </a:spcAft>
            </a:pPr>
            <a:r>
              <a:rPr sz="1150" b="1">
                <a:solidFill>
                  <a:srgbClr val="F59E0B"/>
                </a:solidFill>
                <a:latin typeface="Arial"/>
              </a:rPr>
              <a:t>WHY THIS STEP:  </a:t>
            </a:r>
            <a:r>
              <a:rPr sz="1300" b="0">
                <a:solidFill>
                  <a:srgbClr val="161B26"/>
                </a:solidFill>
                <a:latin typeface="Arial"/>
              </a:rPr>
              <a:t>Teleportation respects both quantum and relativistic limits.</a:t>
            </a:r>
          </a:p>
        </p:txBody>
      </p:sp>
      <p:sp>
        <p:nvSpPr>
          <p:cNvPr id="12" name="TextBox 11"/>
          <p:cNvSpPr txBox="1"/>
          <p:nvPr/>
        </p:nvSpPr>
        <p:spPr>
          <a:xfrm>
            <a:off x="365760" y="6446520"/>
            <a:ext cx="6858000" cy="320040"/>
          </a:xfrm>
          <a:prstGeom prst="rect">
            <a:avLst/>
          </a:prstGeom>
          <a:noFill/>
        </p:spPr>
        <p:txBody>
          <a:bodyPr wrap="square" anchor="t">
            <a:spAutoFit/>
          </a:bodyPr>
          <a:lstStyle/>
          <a:p>
            <a:pPr algn="l">
              <a:spcAft>
                <a:spcPts val="400"/>
              </a:spcAft>
            </a:pPr>
            <a:r>
              <a:rPr sz="900" b="0">
                <a:solidFill>
                  <a:srgbClr val="5B6372"/>
                </a:solidFill>
                <a:latin typeface="Arial"/>
              </a:rPr>
              <a:t>Securing the Future with Quantum Computing and Cryptography  ·  TGS-2024043419</a:t>
            </a:r>
          </a:p>
        </p:txBody>
      </p:sp>
      <p:sp>
        <p:nvSpPr>
          <p:cNvPr id="13" name="TextBox 12"/>
          <p:cNvSpPr txBox="1"/>
          <p:nvPr/>
        </p:nvSpPr>
        <p:spPr>
          <a:xfrm>
            <a:off x="4572000" y="6446520"/>
            <a:ext cx="3017520" cy="320040"/>
          </a:xfrm>
          <a:prstGeom prst="rect">
            <a:avLst/>
          </a:prstGeom>
          <a:noFill/>
        </p:spPr>
        <p:txBody>
          <a:bodyPr wrap="square" anchor="t">
            <a:spAutoFit/>
          </a:bodyPr>
          <a:lstStyle/>
          <a:p>
            <a:pPr algn="ctr">
              <a:spcAft>
                <a:spcPts val="400"/>
              </a:spcAft>
            </a:pPr>
            <a:r>
              <a:rPr sz="900" b="0">
                <a:solidFill>
                  <a:srgbClr val="5B6372"/>
                </a:solidFill>
                <a:latin typeface="Arial"/>
              </a:rPr>
              <a:t>© 2026 Tertiary Infotech Academy Pte Ltd</a:t>
            </a:r>
          </a:p>
        </p:txBody>
      </p:sp>
      <p:sp>
        <p:nvSpPr>
          <p:cNvPr id="14" name="TextBox 13"/>
          <p:cNvSpPr txBox="1"/>
          <p:nvPr/>
        </p:nvSpPr>
        <p:spPr>
          <a:xfrm>
            <a:off x="11338560" y="6446520"/>
            <a:ext cx="548640" cy="320040"/>
          </a:xfrm>
          <a:prstGeom prst="rect">
            <a:avLst/>
          </a:prstGeom>
          <a:noFill/>
        </p:spPr>
        <p:txBody>
          <a:bodyPr wrap="square" anchor="t">
            <a:spAutoFit/>
          </a:bodyPr>
          <a:lstStyle/>
          <a:p>
            <a:pPr algn="r">
              <a:spcAft>
                <a:spcPts val="400"/>
              </a:spcAft>
            </a:pPr>
            <a:r>
              <a:rPr sz="900" b="0">
                <a:solidFill>
                  <a:srgbClr val="5B6372"/>
                </a:solidFill>
                <a:latin typeface="Arial"/>
              </a:rPr>
              <a:t>93</a:t>
            </a:r>
          </a:p>
        </p:txBody>
      </p:sp>
    </p:spTree>
  </p:cSld>
  <p:clrMapOvr>
    <a:masterClrMapping/>
  </p:clrMapOvr>
</p:sld>
</file>

<file path=ppt/slides/slide95.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256032" cy="1417320"/>
          </a:xfrm>
          <a:prstGeom prst="rect">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777240" y="457200"/>
            <a:ext cx="10607040" cy="365760"/>
          </a:xfrm>
          <a:prstGeom prst="rect">
            <a:avLst/>
          </a:prstGeom>
          <a:noFill/>
        </p:spPr>
        <p:txBody>
          <a:bodyPr wrap="square" anchor="t">
            <a:spAutoFit/>
          </a:bodyPr>
          <a:lstStyle/>
          <a:p>
            <a:pPr algn="l">
              <a:spcAft>
                <a:spcPts val="400"/>
              </a:spcAft>
            </a:pPr>
            <a:r>
              <a:rPr sz="1400" b="1">
                <a:solidFill>
                  <a:srgbClr val="10B981"/>
                </a:solidFill>
                <a:latin typeface="Arial"/>
              </a:rPr>
              <a:t>QED</a:t>
            </a:r>
          </a:p>
        </p:txBody>
      </p:sp>
      <p:sp>
        <p:nvSpPr>
          <p:cNvPr id="5" name="TextBox 4"/>
          <p:cNvSpPr txBox="1"/>
          <p:nvPr/>
        </p:nvSpPr>
        <p:spPr>
          <a:xfrm>
            <a:off x="777240" y="822960"/>
            <a:ext cx="10881360" cy="822960"/>
          </a:xfrm>
          <a:prstGeom prst="rect">
            <a:avLst/>
          </a:prstGeom>
          <a:noFill/>
        </p:spPr>
        <p:txBody>
          <a:bodyPr wrap="square" anchor="t">
            <a:spAutoFit/>
          </a:bodyPr>
          <a:lstStyle/>
          <a:p>
            <a:pPr algn="l">
              <a:spcAft>
                <a:spcPts val="400"/>
              </a:spcAft>
            </a:pPr>
            <a:r>
              <a:rPr sz="2900" b="1">
                <a:solidFill>
                  <a:srgbClr val="161B26"/>
                </a:solidFill>
                <a:latin typeface="Arial"/>
              </a:rPr>
              <a:t>Quantum Teleportation — Result</a:t>
            </a:r>
          </a:p>
        </p:txBody>
      </p:sp>
      <p:sp>
        <p:nvSpPr>
          <p:cNvPr id="6" name="Rectangle 5"/>
          <p:cNvSpPr/>
          <p:nvPr/>
        </p:nvSpPr>
        <p:spPr>
          <a:xfrm>
            <a:off x="777240" y="1554480"/>
            <a:ext cx="10634472" cy="18288"/>
          </a:xfrm>
          <a:prstGeom prst="rect">
            <a:avLst/>
          </a:prstGeom>
          <a:solidFill>
            <a:srgbClr val="E2E8F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Rectangle 6"/>
          <p:cNvSpPr/>
          <p:nvPr/>
        </p:nvSpPr>
        <p:spPr>
          <a:xfrm>
            <a:off x="777240" y="1783080"/>
            <a:ext cx="10634472" cy="1828800"/>
          </a:xfrm>
          <a:prstGeom prst="rect">
            <a:avLst/>
          </a:prstGeom>
          <a:solidFill>
            <a:srgbClr val="E8F7E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Rectangle 7"/>
          <p:cNvSpPr/>
          <p:nvPr/>
        </p:nvSpPr>
        <p:spPr>
          <a:xfrm>
            <a:off x="777240" y="1783080"/>
            <a:ext cx="100584" cy="1828800"/>
          </a:xfrm>
          <a:prstGeom prst="rect">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TextBox 8"/>
          <p:cNvSpPr txBox="1"/>
          <p:nvPr/>
        </p:nvSpPr>
        <p:spPr>
          <a:xfrm>
            <a:off x="1143000" y="1965960"/>
            <a:ext cx="10058400" cy="365760"/>
          </a:xfrm>
          <a:prstGeom prst="rect">
            <a:avLst/>
          </a:prstGeom>
          <a:noFill/>
        </p:spPr>
        <p:txBody>
          <a:bodyPr wrap="square" anchor="t">
            <a:spAutoFit/>
          </a:bodyPr>
          <a:lstStyle/>
          <a:p>
            <a:pPr algn="l">
              <a:spcAft>
                <a:spcPts val="400"/>
              </a:spcAft>
            </a:pPr>
            <a:r>
              <a:rPr sz="1200" b="1">
                <a:solidFill>
                  <a:srgbClr val="127A3E"/>
                </a:solidFill>
                <a:latin typeface="Arial"/>
              </a:rPr>
              <a:t>RESULT</a:t>
            </a:r>
          </a:p>
        </p:txBody>
      </p:sp>
      <p:sp>
        <p:nvSpPr>
          <p:cNvPr id="10" name="TextBox 9"/>
          <p:cNvSpPr txBox="1"/>
          <p:nvPr/>
        </p:nvSpPr>
        <p:spPr>
          <a:xfrm>
            <a:off x="1143000" y="2377440"/>
            <a:ext cx="10058400" cy="1143000"/>
          </a:xfrm>
          <a:prstGeom prst="rect">
            <a:avLst/>
          </a:prstGeom>
          <a:noFill/>
        </p:spPr>
        <p:txBody>
          <a:bodyPr wrap="square" anchor="t">
            <a:spAutoFit/>
          </a:bodyPr>
          <a:lstStyle/>
          <a:p>
            <a:pPr algn="l">
              <a:spcAft>
                <a:spcPts val="400"/>
              </a:spcAft>
            </a:pPr>
            <a:r>
              <a:rPr sz="1550" b="1">
                <a:solidFill>
                  <a:srgbClr val="161B26"/>
                </a:solidFill>
                <a:latin typeface="Arial"/>
              </a:rPr>
              <a:t>Bob's qubit is exactly |ψ&gt; = a|0&gt; + b|1&gt; after applying the correction indicated by Alice's two classical bits. The original was destroyed by the measurement.</a:t>
            </a:r>
          </a:p>
        </p:txBody>
      </p:sp>
      <p:sp>
        <p:nvSpPr>
          <p:cNvPr id="11" name="Rectangle 10"/>
          <p:cNvSpPr/>
          <p:nvPr/>
        </p:nvSpPr>
        <p:spPr>
          <a:xfrm>
            <a:off x="777240" y="3840480"/>
            <a:ext cx="10634472" cy="2148840"/>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 name="Rectangle 11"/>
          <p:cNvSpPr/>
          <p:nvPr/>
        </p:nvSpPr>
        <p:spPr>
          <a:xfrm>
            <a:off x="777240" y="3840480"/>
            <a:ext cx="100584" cy="2148840"/>
          </a:xfrm>
          <a:prstGeom prst="rect">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 name="TextBox 12"/>
          <p:cNvSpPr txBox="1"/>
          <p:nvPr/>
        </p:nvSpPr>
        <p:spPr>
          <a:xfrm>
            <a:off x="1143000" y="4023360"/>
            <a:ext cx="10058400" cy="365760"/>
          </a:xfrm>
          <a:prstGeom prst="rect">
            <a:avLst/>
          </a:prstGeom>
          <a:noFill/>
        </p:spPr>
        <p:txBody>
          <a:bodyPr wrap="square" anchor="t">
            <a:spAutoFit/>
          </a:bodyPr>
          <a:lstStyle/>
          <a:p>
            <a:pPr algn="l">
              <a:spcAft>
                <a:spcPts val="400"/>
              </a:spcAft>
            </a:pPr>
            <a:r>
              <a:rPr sz="1200" b="1">
                <a:solidFill>
                  <a:srgbClr val="1F6FEB"/>
                </a:solidFill>
                <a:latin typeface="Arial"/>
              </a:rPr>
              <a:t>WHY IT MATTERS</a:t>
            </a:r>
          </a:p>
        </p:txBody>
      </p:sp>
      <p:sp>
        <p:nvSpPr>
          <p:cNvPr id="14" name="TextBox 13"/>
          <p:cNvSpPr txBox="1"/>
          <p:nvPr/>
        </p:nvSpPr>
        <p:spPr>
          <a:xfrm>
            <a:off x="1143000" y="4434840"/>
            <a:ext cx="10058400" cy="1463040"/>
          </a:xfrm>
          <a:prstGeom prst="rect">
            <a:avLst/>
          </a:prstGeom>
          <a:noFill/>
        </p:spPr>
        <p:txBody>
          <a:bodyPr wrap="square" anchor="t">
            <a:spAutoFit/>
          </a:bodyPr>
          <a:lstStyle/>
          <a:p>
            <a:pPr algn="l">
              <a:spcAft>
                <a:spcPts val="400"/>
              </a:spcAft>
            </a:pPr>
            <a:r>
              <a:rPr sz="1450" b="0">
                <a:solidFill>
                  <a:srgbClr val="161B26"/>
                </a:solidFill>
                <a:latin typeface="Arial"/>
              </a:rPr>
              <a:t>Teleportation is the foundation of quantum networking and the quantum internet, and is used inside fault-tolerant architectures to move logical qubits between code blocks. It shows entanglement + classical communication can substitute for sending a qubit.</a:t>
            </a:r>
          </a:p>
        </p:txBody>
      </p:sp>
      <p:sp>
        <p:nvSpPr>
          <p:cNvPr id="15" name="TextBox 14"/>
          <p:cNvSpPr txBox="1"/>
          <p:nvPr/>
        </p:nvSpPr>
        <p:spPr>
          <a:xfrm>
            <a:off x="365760" y="6446520"/>
            <a:ext cx="6858000" cy="320040"/>
          </a:xfrm>
          <a:prstGeom prst="rect">
            <a:avLst/>
          </a:prstGeom>
          <a:noFill/>
        </p:spPr>
        <p:txBody>
          <a:bodyPr wrap="square" anchor="t">
            <a:spAutoFit/>
          </a:bodyPr>
          <a:lstStyle/>
          <a:p>
            <a:pPr algn="l">
              <a:spcAft>
                <a:spcPts val="400"/>
              </a:spcAft>
            </a:pPr>
            <a:r>
              <a:rPr sz="900" b="0">
                <a:solidFill>
                  <a:srgbClr val="5B6372"/>
                </a:solidFill>
                <a:latin typeface="Arial"/>
              </a:rPr>
              <a:t>Securing the Future with Quantum Computing and Cryptography  ·  TGS-2024043419</a:t>
            </a:r>
          </a:p>
        </p:txBody>
      </p:sp>
      <p:sp>
        <p:nvSpPr>
          <p:cNvPr id="16" name="TextBox 15"/>
          <p:cNvSpPr txBox="1"/>
          <p:nvPr/>
        </p:nvSpPr>
        <p:spPr>
          <a:xfrm>
            <a:off x="4572000" y="6446520"/>
            <a:ext cx="3017520" cy="320040"/>
          </a:xfrm>
          <a:prstGeom prst="rect">
            <a:avLst/>
          </a:prstGeom>
          <a:noFill/>
        </p:spPr>
        <p:txBody>
          <a:bodyPr wrap="square" anchor="t">
            <a:spAutoFit/>
          </a:bodyPr>
          <a:lstStyle/>
          <a:p>
            <a:pPr algn="ctr">
              <a:spcAft>
                <a:spcPts val="400"/>
              </a:spcAft>
            </a:pPr>
            <a:r>
              <a:rPr sz="900" b="0">
                <a:solidFill>
                  <a:srgbClr val="5B6372"/>
                </a:solidFill>
                <a:latin typeface="Arial"/>
              </a:rPr>
              <a:t>© 2026 Tertiary Infotech Academy Pte Ltd</a:t>
            </a:r>
          </a:p>
        </p:txBody>
      </p:sp>
      <p:sp>
        <p:nvSpPr>
          <p:cNvPr id="17" name="TextBox 16"/>
          <p:cNvSpPr txBox="1"/>
          <p:nvPr/>
        </p:nvSpPr>
        <p:spPr>
          <a:xfrm>
            <a:off x="11338560" y="6446520"/>
            <a:ext cx="548640" cy="320040"/>
          </a:xfrm>
          <a:prstGeom prst="rect">
            <a:avLst/>
          </a:prstGeom>
          <a:noFill/>
        </p:spPr>
        <p:txBody>
          <a:bodyPr wrap="square" anchor="t">
            <a:spAutoFit/>
          </a:bodyPr>
          <a:lstStyle/>
          <a:p>
            <a:pPr algn="r">
              <a:spcAft>
                <a:spcPts val="400"/>
              </a:spcAft>
            </a:pPr>
            <a:r>
              <a:rPr sz="900" b="0">
                <a:solidFill>
                  <a:srgbClr val="5B6372"/>
                </a:solidFill>
                <a:latin typeface="Arial"/>
              </a:rPr>
              <a:t>94</a:t>
            </a:r>
          </a:p>
        </p:txBody>
      </p:sp>
    </p:spTree>
  </p:cSld>
  <p:clrMapOvr>
    <a:masterClrMapping/>
  </p:clrMapOvr>
</p:sld>
</file>

<file path=ppt/slides/slide96.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256032" cy="1417320"/>
          </a:xfrm>
          <a:prstGeom prst="rect">
            <a:avLst/>
          </a:prstGeom>
          <a:solidFill>
            <a:srgbClr val="7C3AE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777240" y="457200"/>
            <a:ext cx="10607040" cy="365760"/>
          </a:xfrm>
          <a:prstGeom prst="rect">
            <a:avLst/>
          </a:prstGeom>
          <a:noFill/>
        </p:spPr>
        <p:txBody>
          <a:bodyPr wrap="square" anchor="t">
            <a:spAutoFit/>
          </a:bodyPr>
          <a:lstStyle/>
          <a:p>
            <a:pPr algn="l">
              <a:spcAft>
                <a:spcPts val="400"/>
              </a:spcAft>
            </a:pPr>
            <a:r>
              <a:rPr sz="1400" b="1">
                <a:solidFill>
                  <a:srgbClr val="7C3AED"/>
                </a:solidFill>
                <a:latin typeface="Arial"/>
              </a:rPr>
              <a:t>DERIVATION</a:t>
            </a:r>
          </a:p>
        </p:txBody>
      </p:sp>
      <p:sp>
        <p:nvSpPr>
          <p:cNvPr id="5" name="TextBox 4"/>
          <p:cNvSpPr txBox="1"/>
          <p:nvPr/>
        </p:nvSpPr>
        <p:spPr>
          <a:xfrm>
            <a:off x="777240" y="822960"/>
            <a:ext cx="10881360" cy="822960"/>
          </a:xfrm>
          <a:prstGeom prst="rect">
            <a:avLst/>
          </a:prstGeom>
          <a:noFill/>
        </p:spPr>
        <p:txBody>
          <a:bodyPr wrap="square" anchor="t">
            <a:spAutoFit/>
          </a:bodyPr>
          <a:lstStyle/>
          <a:p>
            <a:pPr algn="l">
              <a:spcAft>
                <a:spcPts val="400"/>
              </a:spcAft>
            </a:pPr>
            <a:r>
              <a:rPr sz="2900" b="1">
                <a:solidFill>
                  <a:srgbClr val="161B26"/>
                </a:solidFill>
                <a:latin typeface="Arial"/>
              </a:rPr>
              <a:t>Proof — The No-Cloning Theorem</a:t>
            </a:r>
          </a:p>
        </p:txBody>
      </p:sp>
      <p:sp>
        <p:nvSpPr>
          <p:cNvPr id="6" name="Rectangle 5"/>
          <p:cNvSpPr/>
          <p:nvPr/>
        </p:nvSpPr>
        <p:spPr>
          <a:xfrm>
            <a:off x="777240" y="1554480"/>
            <a:ext cx="10634472" cy="18288"/>
          </a:xfrm>
          <a:prstGeom prst="rect">
            <a:avLst/>
          </a:prstGeom>
          <a:solidFill>
            <a:srgbClr val="E2E8F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Rectangle 6"/>
          <p:cNvSpPr/>
          <p:nvPr/>
        </p:nvSpPr>
        <p:spPr>
          <a:xfrm>
            <a:off x="777240" y="1783080"/>
            <a:ext cx="10634472" cy="1371600"/>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Rectangle 7"/>
          <p:cNvSpPr/>
          <p:nvPr/>
        </p:nvSpPr>
        <p:spPr>
          <a:xfrm>
            <a:off x="777240" y="1783080"/>
            <a:ext cx="100584" cy="1371600"/>
          </a:xfrm>
          <a:prstGeom prst="rect">
            <a:avLst/>
          </a:prstGeom>
          <a:solidFill>
            <a:srgbClr val="7C3AE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TextBox 8"/>
          <p:cNvSpPr txBox="1"/>
          <p:nvPr/>
        </p:nvSpPr>
        <p:spPr>
          <a:xfrm>
            <a:off x="1143000" y="1938528"/>
            <a:ext cx="10058400" cy="365760"/>
          </a:xfrm>
          <a:prstGeom prst="rect">
            <a:avLst/>
          </a:prstGeom>
          <a:noFill/>
        </p:spPr>
        <p:txBody>
          <a:bodyPr wrap="square" anchor="t">
            <a:spAutoFit/>
          </a:bodyPr>
          <a:lstStyle/>
          <a:p>
            <a:pPr algn="l">
              <a:spcAft>
                <a:spcPts val="400"/>
              </a:spcAft>
            </a:pPr>
            <a:r>
              <a:rPr sz="1200" b="1">
                <a:solidFill>
                  <a:srgbClr val="7C3AED"/>
                </a:solidFill>
                <a:latin typeface="Arial"/>
              </a:rPr>
              <a:t>CLAIM</a:t>
            </a:r>
          </a:p>
        </p:txBody>
      </p:sp>
      <p:sp>
        <p:nvSpPr>
          <p:cNvPr id="10" name="TextBox 9"/>
          <p:cNvSpPr txBox="1"/>
          <p:nvPr/>
        </p:nvSpPr>
        <p:spPr>
          <a:xfrm>
            <a:off x="1143000" y="2304288"/>
            <a:ext cx="10058400" cy="777240"/>
          </a:xfrm>
          <a:prstGeom prst="rect">
            <a:avLst/>
          </a:prstGeom>
          <a:noFill/>
        </p:spPr>
        <p:txBody>
          <a:bodyPr wrap="square" anchor="t">
            <a:spAutoFit/>
          </a:bodyPr>
          <a:lstStyle/>
          <a:p>
            <a:pPr algn="l">
              <a:spcAft>
                <a:spcPts val="400"/>
              </a:spcAft>
            </a:pPr>
            <a:r>
              <a:rPr sz="1550" b="1">
                <a:solidFill>
                  <a:srgbClr val="161B26"/>
                </a:solidFill>
                <a:latin typeface="Arial"/>
              </a:rPr>
              <a:t>No unitary operation can copy an arbitrary unknown quantum state.</a:t>
            </a:r>
          </a:p>
        </p:txBody>
      </p:sp>
      <p:sp>
        <p:nvSpPr>
          <p:cNvPr id="11" name="TextBox 10"/>
          <p:cNvSpPr txBox="1"/>
          <p:nvPr/>
        </p:nvSpPr>
        <p:spPr>
          <a:xfrm>
            <a:off x="777240" y="3364992"/>
            <a:ext cx="10607040" cy="365760"/>
          </a:xfrm>
          <a:prstGeom prst="rect">
            <a:avLst/>
          </a:prstGeom>
          <a:noFill/>
        </p:spPr>
        <p:txBody>
          <a:bodyPr wrap="square" anchor="t">
            <a:spAutoFit/>
          </a:bodyPr>
          <a:lstStyle/>
          <a:p>
            <a:pPr algn="l">
              <a:spcAft>
                <a:spcPts val="400"/>
              </a:spcAft>
            </a:pPr>
            <a:r>
              <a:rPr sz="1200" b="1">
                <a:solidFill>
                  <a:srgbClr val="1F6FEB"/>
                </a:solidFill>
                <a:latin typeface="Arial"/>
              </a:rPr>
              <a:t>GIVEN</a:t>
            </a:r>
          </a:p>
        </p:txBody>
      </p:sp>
      <p:sp>
        <p:nvSpPr>
          <p:cNvPr id="12" name="Rectangle 11"/>
          <p:cNvSpPr/>
          <p:nvPr/>
        </p:nvSpPr>
        <p:spPr>
          <a:xfrm>
            <a:off x="777240" y="3730752"/>
            <a:ext cx="10634472" cy="783336"/>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 name="Rectangle 12"/>
          <p:cNvSpPr/>
          <p:nvPr/>
        </p:nvSpPr>
        <p:spPr>
          <a:xfrm>
            <a:off x="777240" y="3730752"/>
            <a:ext cx="82296" cy="783336"/>
          </a:xfrm>
          <a:prstGeom prst="rect">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 name="TextBox 13"/>
          <p:cNvSpPr txBox="1"/>
          <p:nvPr/>
        </p:nvSpPr>
        <p:spPr>
          <a:xfrm>
            <a:off x="1097280" y="3730752"/>
            <a:ext cx="10149840" cy="783336"/>
          </a:xfrm>
          <a:prstGeom prst="rect">
            <a:avLst/>
          </a:prstGeom>
          <a:noFill/>
        </p:spPr>
        <p:txBody>
          <a:bodyPr wrap="square" anchor="ctr">
            <a:spAutoFit/>
          </a:bodyPr>
          <a:lstStyle/>
          <a:p>
            <a:pPr algn="l">
              <a:spcAft>
                <a:spcPts val="400"/>
              </a:spcAft>
            </a:pPr>
            <a:r>
              <a:rPr sz="1300" b="0">
                <a:solidFill>
                  <a:srgbClr val="161B26"/>
                </a:solidFill>
                <a:latin typeface="Arial"/>
              </a:rPr>
              <a:t>Suppose a cloning machine U exists with  U(|ψ&gt;|0&gt;) = |ψ&gt;|ψ&gt;  for EVERY state |ψ&gt;.</a:t>
            </a:r>
          </a:p>
        </p:txBody>
      </p:sp>
      <p:sp>
        <p:nvSpPr>
          <p:cNvPr id="15" name="Rectangle 14"/>
          <p:cNvSpPr/>
          <p:nvPr/>
        </p:nvSpPr>
        <p:spPr>
          <a:xfrm>
            <a:off x="777240" y="4642104"/>
            <a:ext cx="10634472" cy="783336"/>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6" name="Rectangle 15"/>
          <p:cNvSpPr/>
          <p:nvPr/>
        </p:nvSpPr>
        <p:spPr>
          <a:xfrm>
            <a:off x="777240" y="4642104"/>
            <a:ext cx="82296" cy="783336"/>
          </a:xfrm>
          <a:prstGeom prst="rect">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7" name="TextBox 16"/>
          <p:cNvSpPr txBox="1"/>
          <p:nvPr/>
        </p:nvSpPr>
        <p:spPr>
          <a:xfrm>
            <a:off x="1097280" y="4642104"/>
            <a:ext cx="10149840" cy="783336"/>
          </a:xfrm>
          <a:prstGeom prst="rect">
            <a:avLst/>
          </a:prstGeom>
          <a:noFill/>
        </p:spPr>
        <p:txBody>
          <a:bodyPr wrap="square" anchor="ctr">
            <a:spAutoFit/>
          </a:bodyPr>
          <a:lstStyle/>
          <a:p>
            <a:pPr algn="l">
              <a:spcAft>
                <a:spcPts val="400"/>
              </a:spcAft>
            </a:pPr>
            <a:r>
              <a:rPr sz="1300" b="0">
                <a:solidFill>
                  <a:srgbClr val="161B26"/>
                </a:solidFill>
                <a:latin typeface="Arial"/>
              </a:rPr>
              <a:t>|0&gt; is a blank slate; |ψ&gt; is the state to copy.</a:t>
            </a:r>
          </a:p>
        </p:txBody>
      </p:sp>
      <p:sp>
        <p:nvSpPr>
          <p:cNvPr id="18" name="Rectangle 17"/>
          <p:cNvSpPr/>
          <p:nvPr/>
        </p:nvSpPr>
        <p:spPr>
          <a:xfrm>
            <a:off x="777240" y="5553456"/>
            <a:ext cx="10634472" cy="783336"/>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9" name="Rectangle 18"/>
          <p:cNvSpPr/>
          <p:nvPr/>
        </p:nvSpPr>
        <p:spPr>
          <a:xfrm>
            <a:off x="777240" y="5553456"/>
            <a:ext cx="82296" cy="783336"/>
          </a:xfrm>
          <a:prstGeom prst="rect">
            <a:avLst/>
          </a:prstGeom>
          <a:solidFill>
            <a:srgbClr val="7C3AE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0" name="TextBox 19"/>
          <p:cNvSpPr txBox="1"/>
          <p:nvPr/>
        </p:nvSpPr>
        <p:spPr>
          <a:xfrm>
            <a:off x="1097280" y="5553456"/>
            <a:ext cx="10149840" cy="783336"/>
          </a:xfrm>
          <a:prstGeom prst="rect">
            <a:avLst/>
          </a:prstGeom>
          <a:noFill/>
        </p:spPr>
        <p:txBody>
          <a:bodyPr wrap="square" anchor="ctr">
            <a:spAutoFit/>
          </a:bodyPr>
          <a:lstStyle/>
          <a:p>
            <a:pPr algn="l">
              <a:spcAft>
                <a:spcPts val="400"/>
              </a:spcAft>
            </a:pPr>
            <a:r>
              <a:rPr sz="1300" b="0">
                <a:solidFill>
                  <a:srgbClr val="161B26"/>
                </a:solidFill>
                <a:latin typeface="Arial"/>
              </a:rPr>
              <a:t>We derive a contradiction — this is a proof by contradiction.</a:t>
            </a:r>
          </a:p>
        </p:txBody>
      </p:sp>
      <p:sp>
        <p:nvSpPr>
          <p:cNvPr id="21" name="TextBox 20"/>
          <p:cNvSpPr txBox="1"/>
          <p:nvPr/>
        </p:nvSpPr>
        <p:spPr>
          <a:xfrm>
            <a:off x="365760" y="6446520"/>
            <a:ext cx="6858000" cy="320040"/>
          </a:xfrm>
          <a:prstGeom prst="rect">
            <a:avLst/>
          </a:prstGeom>
          <a:noFill/>
        </p:spPr>
        <p:txBody>
          <a:bodyPr wrap="square" anchor="t">
            <a:spAutoFit/>
          </a:bodyPr>
          <a:lstStyle/>
          <a:p>
            <a:pPr algn="l">
              <a:spcAft>
                <a:spcPts val="400"/>
              </a:spcAft>
            </a:pPr>
            <a:r>
              <a:rPr sz="900" b="0">
                <a:solidFill>
                  <a:srgbClr val="5B6372"/>
                </a:solidFill>
                <a:latin typeface="Arial"/>
              </a:rPr>
              <a:t>Securing the Future with Quantum Computing and Cryptography  ·  TGS-2024043419</a:t>
            </a:r>
          </a:p>
        </p:txBody>
      </p:sp>
      <p:sp>
        <p:nvSpPr>
          <p:cNvPr id="22" name="TextBox 21"/>
          <p:cNvSpPr txBox="1"/>
          <p:nvPr/>
        </p:nvSpPr>
        <p:spPr>
          <a:xfrm>
            <a:off x="4572000" y="6446520"/>
            <a:ext cx="3017520" cy="320040"/>
          </a:xfrm>
          <a:prstGeom prst="rect">
            <a:avLst/>
          </a:prstGeom>
          <a:noFill/>
        </p:spPr>
        <p:txBody>
          <a:bodyPr wrap="square" anchor="t">
            <a:spAutoFit/>
          </a:bodyPr>
          <a:lstStyle/>
          <a:p>
            <a:pPr algn="ctr">
              <a:spcAft>
                <a:spcPts val="400"/>
              </a:spcAft>
            </a:pPr>
            <a:r>
              <a:rPr sz="900" b="0">
                <a:solidFill>
                  <a:srgbClr val="5B6372"/>
                </a:solidFill>
                <a:latin typeface="Arial"/>
              </a:rPr>
              <a:t>© 2026 Tertiary Infotech Academy Pte Ltd</a:t>
            </a:r>
          </a:p>
        </p:txBody>
      </p:sp>
      <p:sp>
        <p:nvSpPr>
          <p:cNvPr id="23" name="TextBox 22"/>
          <p:cNvSpPr txBox="1"/>
          <p:nvPr/>
        </p:nvSpPr>
        <p:spPr>
          <a:xfrm>
            <a:off x="11338560" y="6446520"/>
            <a:ext cx="548640" cy="320040"/>
          </a:xfrm>
          <a:prstGeom prst="rect">
            <a:avLst/>
          </a:prstGeom>
          <a:noFill/>
        </p:spPr>
        <p:txBody>
          <a:bodyPr wrap="square" anchor="t">
            <a:spAutoFit/>
          </a:bodyPr>
          <a:lstStyle/>
          <a:p>
            <a:pPr algn="r">
              <a:spcAft>
                <a:spcPts val="400"/>
              </a:spcAft>
            </a:pPr>
            <a:r>
              <a:rPr sz="900" b="0">
                <a:solidFill>
                  <a:srgbClr val="5B6372"/>
                </a:solidFill>
                <a:latin typeface="Arial"/>
              </a:rPr>
              <a:t>95</a:t>
            </a:r>
          </a:p>
        </p:txBody>
      </p:sp>
    </p:spTree>
  </p:cSld>
  <p:clrMapOvr>
    <a:masterClrMapping/>
  </p:clrMapOvr>
</p:sld>
</file>

<file path=ppt/slides/slide97.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256032" cy="1417320"/>
          </a:xfrm>
          <a:prstGeom prst="rect">
            <a:avLst/>
          </a:prstGeom>
          <a:solidFill>
            <a:srgbClr val="7C3AE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777240" y="457200"/>
            <a:ext cx="10607040" cy="365760"/>
          </a:xfrm>
          <a:prstGeom prst="rect">
            <a:avLst/>
          </a:prstGeom>
          <a:noFill/>
        </p:spPr>
        <p:txBody>
          <a:bodyPr wrap="square" anchor="t">
            <a:spAutoFit/>
          </a:bodyPr>
          <a:lstStyle/>
          <a:p>
            <a:pPr algn="l">
              <a:spcAft>
                <a:spcPts val="400"/>
              </a:spcAft>
            </a:pPr>
            <a:r>
              <a:rPr sz="1400" b="1">
                <a:solidFill>
                  <a:srgbClr val="7C3AED"/>
                </a:solidFill>
                <a:latin typeface="Arial"/>
              </a:rPr>
              <a:t>THE NO-CLONING THEOREM  ·  STEP 1 OF 5</a:t>
            </a:r>
          </a:p>
        </p:txBody>
      </p:sp>
      <p:sp>
        <p:nvSpPr>
          <p:cNvPr id="5" name="TextBox 4"/>
          <p:cNvSpPr txBox="1"/>
          <p:nvPr/>
        </p:nvSpPr>
        <p:spPr>
          <a:xfrm>
            <a:off x="777240" y="822960"/>
            <a:ext cx="10881360" cy="822960"/>
          </a:xfrm>
          <a:prstGeom prst="rect">
            <a:avLst/>
          </a:prstGeom>
          <a:noFill/>
        </p:spPr>
        <p:txBody>
          <a:bodyPr wrap="square" anchor="t">
            <a:spAutoFit/>
          </a:bodyPr>
          <a:lstStyle/>
          <a:p>
            <a:pPr algn="l">
              <a:spcAft>
                <a:spcPts val="400"/>
              </a:spcAft>
            </a:pPr>
            <a:r>
              <a:rPr sz="2900" b="1">
                <a:solidFill>
                  <a:srgbClr val="161B26"/>
                </a:solidFill>
                <a:latin typeface="Arial"/>
              </a:rPr>
              <a:t>Step 1 — Assume two arbitrary states</a:t>
            </a:r>
          </a:p>
        </p:txBody>
      </p:sp>
      <p:sp>
        <p:nvSpPr>
          <p:cNvPr id="6" name="Rectangle 5"/>
          <p:cNvSpPr/>
          <p:nvPr/>
        </p:nvSpPr>
        <p:spPr>
          <a:xfrm>
            <a:off x="777240" y="1554480"/>
            <a:ext cx="10634472" cy="18288"/>
          </a:xfrm>
          <a:prstGeom prst="rect">
            <a:avLst/>
          </a:prstGeom>
          <a:solidFill>
            <a:srgbClr val="E2E8F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Rectangle 6"/>
          <p:cNvSpPr/>
          <p:nvPr/>
        </p:nvSpPr>
        <p:spPr>
          <a:xfrm>
            <a:off x="777240" y="1810512"/>
            <a:ext cx="10634472" cy="1700784"/>
          </a:xfrm>
          <a:prstGeom prst="rect">
            <a:avLst/>
          </a:prstGeom>
          <a:solidFill>
            <a:srgbClr val="0B122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TextBox 7"/>
          <p:cNvSpPr txBox="1"/>
          <p:nvPr/>
        </p:nvSpPr>
        <p:spPr>
          <a:xfrm>
            <a:off x="1097280" y="1956816"/>
            <a:ext cx="9994392" cy="1408176"/>
          </a:xfrm>
          <a:prstGeom prst="rect">
            <a:avLst/>
          </a:prstGeom>
          <a:noFill/>
        </p:spPr>
        <p:txBody>
          <a:bodyPr wrap="square" anchor="t">
            <a:spAutoFit/>
          </a:bodyPr>
          <a:lstStyle/>
          <a:p>
            <a:pPr algn="l">
              <a:spcAft>
                <a:spcPts val="300"/>
              </a:spcAft>
            </a:pPr>
            <a:r>
              <a:rPr sz="1550" b="0">
                <a:solidFill>
                  <a:srgbClr val="9CDCFE"/>
                </a:solidFill>
                <a:latin typeface="Arial"/>
              </a:rPr>
              <a:t>Let |ψ&gt; and |φ&gt; be any two states. By assumption:</a:t>
            </a:r>
          </a:p>
          <a:p>
            <a:pPr algn="l">
              <a:spcAft>
                <a:spcPts val="300"/>
              </a:spcAft>
            </a:pPr>
            <a:r>
              <a:rPr sz="1550" b="0">
                <a:solidFill>
                  <a:srgbClr val="0B1220"/>
                </a:solidFill>
                <a:latin typeface="Arial"/>
              </a:rPr>
              <a:t> </a:t>
            </a:r>
          </a:p>
          <a:p>
            <a:pPr algn="l">
              <a:spcAft>
                <a:spcPts val="300"/>
              </a:spcAft>
            </a:pPr>
            <a:r>
              <a:rPr sz="1550" b="0">
                <a:solidFill>
                  <a:srgbClr val="9CDCFE"/>
                </a:solidFill>
                <a:latin typeface="Arial"/>
              </a:rPr>
              <a:t>   U(|ψ&gt;|0&gt;)  =  |ψ&gt;|ψ&gt;</a:t>
            </a:r>
          </a:p>
          <a:p>
            <a:pPr algn="l">
              <a:spcAft>
                <a:spcPts val="300"/>
              </a:spcAft>
            </a:pPr>
            <a:r>
              <a:rPr sz="1550" b="0">
                <a:solidFill>
                  <a:srgbClr val="9CDCFE"/>
                </a:solidFill>
                <a:latin typeface="Arial"/>
              </a:rPr>
              <a:t>   U(|φ&gt;|0&gt;)  =  |φ&gt;|φ&gt;</a:t>
            </a:r>
          </a:p>
        </p:txBody>
      </p:sp>
      <p:sp>
        <p:nvSpPr>
          <p:cNvPr id="9" name="Rectangle 8"/>
          <p:cNvSpPr/>
          <p:nvPr/>
        </p:nvSpPr>
        <p:spPr>
          <a:xfrm>
            <a:off x="777240" y="3712464"/>
            <a:ext cx="10634472" cy="2340864"/>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Rectangle 9"/>
          <p:cNvSpPr/>
          <p:nvPr/>
        </p:nvSpPr>
        <p:spPr>
          <a:xfrm>
            <a:off x="777240" y="3712464"/>
            <a:ext cx="82296" cy="2340864"/>
          </a:xfrm>
          <a:prstGeom prst="rect">
            <a:avLst/>
          </a:prstGeom>
          <a:solidFill>
            <a:srgbClr val="F59E0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 name="TextBox 10"/>
          <p:cNvSpPr txBox="1"/>
          <p:nvPr/>
        </p:nvSpPr>
        <p:spPr>
          <a:xfrm>
            <a:off x="1097280" y="3712464"/>
            <a:ext cx="10149840" cy="2340864"/>
          </a:xfrm>
          <a:prstGeom prst="rect">
            <a:avLst/>
          </a:prstGeom>
          <a:noFill/>
        </p:spPr>
        <p:txBody>
          <a:bodyPr wrap="square" anchor="ctr">
            <a:spAutoFit/>
          </a:bodyPr>
          <a:lstStyle/>
          <a:p>
            <a:pPr algn="l">
              <a:spcAft>
                <a:spcPts val="400"/>
              </a:spcAft>
            </a:pPr>
            <a:r>
              <a:rPr sz="1150" b="1">
                <a:solidFill>
                  <a:srgbClr val="F59E0B"/>
                </a:solidFill>
                <a:latin typeface="Arial"/>
              </a:rPr>
              <a:t>WHY THIS STEP:  </a:t>
            </a:r>
            <a:r>
              <a:rPr sz="1300" b="0">
                <a:solidFill>
                  <a:srgbClr val="161B26"/>
                </a:solidFill>
                <a:latin typeface="Arial"/>
              </a:rPr>
              <a:t>No restriction yet — this is just the definition of a universal cloner.</a:t>
            </a:r>
          </a:p>
        </p:txBody>
      </p:sp>
      <p:sp>
        <p:nvSpPr>
          <p:cNvPr id="12" name="TextBox 11"/>
          <p:cNvSpPr txBox="1"/>
          <p:nvPr/>
        </p:nvSpPr>
        <p:spPr>
          <a:xfrm>
            <a:off x="365760" y="6446520"/>
            <a:ext cx="6858000" cy="320040"/>
          </a:xfrm>
          <a:prstGeom prst="rect">
            <a:avLst/>
          </a:prstGeom>
          <a:noFill/>
        </p:spPr>
        <p:txBody>
          <a:bodyPr wrap="square" anchor="t">
            <a:spAutoFit/>
          </a:bodyPr>
          <a:lstStyle/>
          <a:p>
            <a:pPr algn="l">
              <a:spcAft>
                <a:spcPts val="400"/>
              </a:spcAft>
            </a:pPr>
            <a:r>
              <a:rPr sz="900" b="0">
                <a:solidFill>
                  <a:srgbClr val="5B6372"/>
                </a:solidFill>
                <a:latin typeface="Arial"/>
              </a:rPr>
              <a:t>Securing the Future with Quantum Computing and Cryptography  ·  TGS-2024043419</a:t>
            </a:r>
          </a:p>
        </p:txBody>
      </p:sp>
      <p:sp>
        <p:nvSpPr>
          <p:cNvPr id="13" name="TextBox 12"/>
          <p:cNvSpPr txBox="1"/>
          <p:nvPr/>
        </p:nvSpPr>
        <p:spPr>
          <a:xfrm>
            <a:off x="4572000" y="6446520"/>
            <a:ext cx="3017520" cy="320040"/>
          </a:xfrm>
          <a:prstGeom prst="rect">
            <a:avLst/>
          </a:prstGeom>
          <a:noFill/>
        </p:spPr>
        <p:txBody>
          <a:bodyPr wrap="square" anchor="t">
            <a:spAutoFit/>
          </a:bodyPr>
          <a:lstStyle/>
          <a:p>
            <a:pPr algn="ctr">
              <a:spcAft>
                <a:spcPts val="400"/>
              </a:spcAft>
            </a:pPr>
            <a:r>
              <a:rPr sz="900" b="0">
                <a:solidFill>
                  <a:srgbClr val="5B6372"/>
                </a:solidFill>
                <a:latin typeface="Arial"/>
              </a:rPr>
              <a:t>© 2026 Tertiary Infotech Academy Pte Ltd</a:t>
            </a:r>
          </a:p>
        </p:txBody>
      </p:sp>
      <p:sp>
        <p:nvSpPr>
          <p:cNvPr id="14" name="TextBox 13"/>
          <p:cNvSpPr txBox="1"/>
          <p:nvPr/>
        </p:nvSpPr>
        <p:spPr>
          <a:xfrm>
            <a:off x="11338560" y="6446520"/>
            <a:ext cx="548640" cy="320040"/>
          </a:xfrm>
          <a:prstGeom prst="rect">
            <a:avLst/>
          </a:prstGeom>
          <a:noFill/>
        </p:spPr>
        <p:txBody>
          <a:bodyPr wrap="square" anchor="t">
            <a:spAutoFit/>
          </a:bodyPr>
          <a:lstStyle/>
          <a:p>
            <a:pPr algn="r">
              <a:spcAft>
                <a:spcPts val="400"/>
              </a:spcAft>
            </a:pPr>
            <a:r>
              <a:rPr sz="900" b="0">
                <a:solidFill>
                  <a:srgbClr val="5B6372"/>
                </a:solidFill>
                <a:latin typeface="Arial"/>
              </a:rPr>
              <a:t>96</a:t>
            </a:r>
          </a:p>
        </p:txBody>
      </p:sp>
    </p:spTree>
  </p:cSld>
  <p:clrMapOvr>
    <a:masterClrMapping/>
  </p:clrMapOvr>
</p:sld>
</file>

<file path=ppt/slides/slide98.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256032" cy="1417320"/>
          </a:xfrm>
          <a:prstGeom prst="rect">
            <a:avLst/>
          </a:prstGeom>
          <a:solidFill>
            <a:srgbClr val="7C3AE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777240" y="457200"/>
            <a:ext cx="10607040" cy="365760"/>
          </a:xfrm>
          <a:prstGeom prst="rect">
            <a:avLst/>
          </a:prstGeom>
          <a:noFill/>
        </p:spPr>
        <p:txBody>
          <a:bodyPr wrap="square" anchor="t">
            <a:spAutoFit/>
          </a:bodyPr>
          <a:lstStyle/>
          <a:p>
            <a:pPr algn="l">
              <a:spcAft>
                <a:spcPts val="400"/>
              </a:spcAft>
            </a:pPr>
            <a:r>
              <a:rPr sz="1400" b="1">
                <a:solidFill>
                  <a:srgbClr val="7C3AED"/>
                </a:solidFill>
                <a:latin typeface="Arial"/>
              </a:rPr>
              <a:t>THE NO-CLONING THEOREM  ·  STEP 2 OF 5</a:t>
            </a:r>
          </a:p>
        </p:txBody>
      </p:sp>
      <p:sp>
        <p:nvSpPr>
          <p:cNvPr id="5" name="TextBox 4"/>
          <p:cNvSpPr txBox="1"/>
          <p:nvPr/>
        </p:nvSpPr>
        <p:spPr>
          <a:xfrm>
            <a:off x="777240" y="822960"/>
            <a:ext cx="10881360" cy="822960"/>
          </a:xfrm>
          <a:prstGeom prst="rect">
            <a:avLst/>
          </a:prstGeom>
          <a:noFill/>
        </p:spPr>
        <p:txBody>
          <a:bodyPr wrap="square" anchor="t">
            <a:spAutoFit/>
          </a:bodyPr>
          <a:lstStyle/>
          <a:p>
            <a:pPr algn="l">
              <a:spcAft>
                <a:spcPts val="400"/>
              </a:spcAft>
            </a:pPr>
            <a:r>
              <a:rPr sz="2900" b="1">
                <a:solidFill>
                  <a:srgbClr val="161B26"/>
                </a:solidFill>
                <a:latin typeface="Arial"/>
              </a:rPr>
              <a:t>Step 2 — Unitary preserves inner products</a:t>
            </a:r>
          </a:p>
        </p:txBody>
      </p:sp>
      <p:sp>
        <p:nvSpPr>
          <p:cNvPr id="6" name="Rectangle 5"/>
          <p:cNvSpPr/>
          <p:nvPr/>
        </p:nvSpPr>
        <p:spPr>
          <a:xfrm>
            <a:off x="777240" y="1554480"/>
            <a:ext cx="10634472" cy="18288"/>
          </a:xfrm>
          <a:prstGeom prst="rect">
            <a:avLst/>
          </a:prstGeom>
          <a:solidFill>
            <a:srgbClr val="E2E8F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Rectangle 6"/>
          <p:cNvSpPr/>
          <p:nvPr/>
        </p:nvSpPr>
        <p:spPr>
          <a:xfrm>
            <a:off x="777240" y="1810512"/>
            <a:ext cx="10634472" cy="2011680"/>
          </a:xfrm>
          <a:prstGeom prst="rect">
            <a:avLst/>
          </a:prstGeom>
          <a:solidFill>
            <a:srgbClr val="0B122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TextBox 7"/>
          <p:cNvSpPr txBox="1"/>
          <p:nvPr/>
        </p:nvSpPr>
        <p:spPr>
          <a:xfrm>
            <a:off x="1097280" y="1956816"/>
            <a:ext cx="9994392" cy="1719072"/>
          </a:xfrm>
          <a:prstGeom prst="rect">
            <a:avLst/>
          </a:prstGeom>
          <a:noFill/>
        </p:spPr>
        <p:txBody>
          <a:bodyPr wrap="square" anchor="t">
            <a:spAutoFit/>
          </a:bodyPr>
          <a:lstStyle/>
          <a:p>
            <a:pPr algn="l">
              <a:spcAft>
                <a:spcPts val="300"/>
              </a:spcAft>
            </a:pPr>
            <a:r>
              <a:rPr sz="1550" b="0">
                <a:solidFill>
                  <a:srgbClr val="9CDCFE"/>
                </a:solidFill>
                <a:latin typeface="Arial"/>
              </a:rPr>
              <a:t>For any unitary U:   &lt;Uα|Uβ&gt; = &lt;α|U†U|β&gt; = &lt;α|I|β&gt; = &lt;α|β&gt;</a:t>
            </a:r>
          </a:p>
          <a:p>
            <a:pPr algn="l">
              <a:spcAft>
                <a:spcPts val="300"/>
              </a:spcAft>
            </a:pPr>
            <a:r>
              <a:rPr sz="1550" b="0">
                <a:solidFill>
                  <a:srgbClr val="0B1220"/>
                </a:solidFill>
                <a:latin typeface="Arial"/>
              </a:rPr>
              <a:t> </a:t>
            </a:r>
          </a:p>
          <a:p>
            <a:pPr algn="l">
              <a:spcAft>
                <a:spcPts val="300"/>
              </a:spcAft>
            </a:pPr>
            <a:r>
              <a:rPr sz="1550" b="0">
                <a:solidFill>
                  <a:srgbClr val="9CDCFE"/>
                </a:solidFill>
                <a:latin typeface="Arial"/>
              </a:rPr>
              <a:t>Apply this to our two inputs:</a:t>
            </a:r>
          </a:p>
          <a:p>
            <a:pPr algn="l">
              <a:spcAft>
                <a:spcPts val="300"/>
              </a:spcAft>
            </a:pPr>
            <a:r>
              <a:rPr sz="1550" b="0">
                <a:solidFill>
                  <a:srgbClr val="9CDCFE"/>
                </a:solidFill>
                <a:latin typeface="Arial"/>
              </a:rPr>
              <a:t>   LHS  =  &lt;ψ|φ&gt; · &lt;0|0&gt;  =  &lt;ψ|φ&gt;</a:t>
            </a:r>
          </a:p>
          <a:p>
            <a:pPr algn="l">
              <a:spcAft>
                <a:spcPts val="300"/>
              </a:spcAft>
            </a:pPr>
            <a:r>
              <a:rPr sz="1550" b="0">
                <a:solidFill>
                  <a:srgbClr val="9CDCFE"/>
                </a:solidFill>
                <a:latin typeface="Arial"/>
              </a:rPr>
              <a:t>   RHS  =  &lt;ψ|φ&gt; · &lt;ψ|φ&gt;  =  &lt;ψ|φ&gt;²</a:t>
            </a:r>
          </a:p>
        </p:txBody>
      </p:sp>
      <p:sp>
        <p:nvSpPr>
          <p:cNvPr id="9" name="Rectangle 8"/>
          <p:cNvSpPr/>
          <p:nvPr/>
        </p:nvSpPr>
        <p:spPr>
          <a:xfrm>
            <a:off x="777240" y="4023360"/>
            <a:ext cx="10634472" cy="2029968"/>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Rectangle 9"/>
          <p:cNvSpPr/>
          <p:nvPr/>
        </p:nvSpPr>
        <p:spPr>
          <a:xfrm>
            <a:off x="777240" y="4023360"/>
            <a:ext cx="82296" cy="2029968"/>
          </a:xfrm>
          <a:prstGeom prst="rect">
            <a:avLst/>
          </a:prstGeom>
          <a:solidFill>
            <a:srgbClr val="F59E0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 name="TextBox 10"/>
          <p:cNvSpPr txBox="1"/>
          <p:nvPr/>
        </p:nvSpPr>
        <p:spPr>
          <a:xfrm>
            <a:off x="1097280" y="4023360"/>
            <a:ext cx="10149840" cy="2029968"/>
          </a:xfrm>
          <a:prstGeom prst="rect">
            <a:avLst/>
          </a:prstGeom>
          <a:noFill/>
        </p:spPr>
        <p:txBody>
          <a:bodyPr wrap="square" anchor="ctr">
            <a:spAutoFit/>
          </a:bodyPr>
          <a:lstStyle/>
          <a:p>
            <a:pPr algn="l">
              <a:spcAft>
                <a:spcPts val="400"/>
              </a:spcAft>
            </a:pPr>
            <a:r>
              <a:rPr sz="1150" b="1">
                <a:solidFill>
                  <a:srgbClr val="F59E0B"/>
                </a:solidFill>
                <a:latin typeface="Arial"/>
              </a:rPr>
              <a:t>WHY THIS STEP:  </a:t>
            </a:r>
            <a:r>
              <a:rPr sz="1300" b="0">
                <a:solidFill>
                  <a:srgbClr val="161B26"/>
                </a:solidFill>
                <a:latin typeface="Arial"/>
              </a:rPr>
              <a:t>Unitarity is the only physical assumption used — this is why the theorem is so general.</a:t>
            </a:r>
          </a:p>
        </p:txBody>
      </p:sp>
      <p:sp>
        <p:nvSpPr>
          <p:cNvPr id="12" name="TextBox 11"/>
          <p:cNvSpPr txBox="1"/>
          <p:nvPr/>
        </p:nvSpPr>
        <p:spPr>
          <a:xfrm>
            <a:off x="365760" y="6446520"/>
            <a:ext cx="6858000" cy="320040"/>
          </a:xfrm>
          <a:prstGeom prst="rect">
            <a:avLst/>
          </a:prstGeom>
          <a:noFill/>
        </p:spPr>
        <p:txBody>
          <a:bodyPr wrap="square" anchor="t">
            <a:spAutoFit/>
          </a:bodyPr>
          <a:lstStyle/>
          <a:p>
            <a:pPr algn="l">
              <a:spcAft>
                <a:spcPts val="400"/>
              </a:spcAft>
            </a:pPr>
            <a:r>
              <a:rPr sz="900" b="0">
                <a:solidFill>
                  <a:srgbClr val="5B6372"/>
                </a:solidFill>
                <a:latin typeface="Arial"/>
              </a:rPr>
              <a:t>Securing the Future with Quantum Computing and Cryptography  ·  TGS-2024043419</a:t>
            </a:r>
          </a:p>
        </p:txBody>
      </p:sp>
      <p:sp>
        <p:nvSpPr>
          <p:cNvPr id="13" name="TextBox 12"/>
          <p:cNvSpPr txBox="1"/>
          <p:nvPr/>
        </p:nvSpPr>
        <p:spPr>
          <a:xfrm>
            <a:off x="4572000" y="6446520"/>
            <a:ext cx="3017520" cy="320040"/>
          </a:xfrm>
          <a:prstGeom prst="rect">
            <a:avLst/>
          </a:prstGeom>
          <a:noFill/>
        </p:spPr>
        <p:txBody>
          <a:bodyPr wrap="square" anchor="t">
            <a:spAutoFit/>
          </a:bodyPr>
          <a:lstStyle/>
          <a:p>
            <a:pPr algn="ctr">
              <a:spcAft>
                <a:spcPts val="400"/>
              </a:spcAft>
            </a:pPr>
            <a:r>
              <a:rPr sz="900" b="0">
                <a:solidFill>
                  <a:srgbClr val="5B6372"/>
                </a:solidFill>
                <a:latin typeface="Arial"/>
              </a:rPr>
              <a:t>© 2026 Tertiary Infotech Academy Pte Ltd</a:t>
            </a:r>
          </a:p>
        </p:txBody>
      </p:sp>
      <p:sp>
        <p:nvSpPr>
          <p:cNvPr id="14" name="TextBox 13"/>
          <p:cNvSpPr txBox="1"/>
          <p:nvPr/>
        </p:nvSpPr>
        <p:spPr>
          <a:xfrm>
            <a:off x="11338560" y="6446520"/>
            <a:ext cx="548640" cy="320040"/>
          </a:xfrm>
          <a:prstGeom prst="rect">
            <a:avLst/>
          </a:prstGeom>
          <a:noFill/>
        </p:spPr>
        <p:txBody>
          <a:bodyPr wrap="square" anchor="t">
            <a:spAutoFit/>
          </a:bodyPr>
          <a:lstStyle/>
          <a:p>
            <a:pPr algn="r">
              <a:spcAft>
                <a:spcPts val="400"/>
              </a:spcAft>
            </a:pPr>
            <a:r>
              <a:rPr sz="900" b="0">
                <a:solidFill>
                  <a:srgbClr val="5B6372"/>
                </a:solidFill>
                <a:latin typeface="Arial"/>
              </a:rPr>
              <a:t>97</a:t>
            </a:r>
          </a:p>
        </p:txBody>
      </p:sp>
    </p:spTree>
  </p:cSld>
  <p:clrMapOvr>
    <a:masterClrMapping/>
  </p:clrMapOvr>
</p:sld>
</file>

<file path=ppt/slides/slide99.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256032" cy="1417320"/>
          </a:xfrm>
          <a:prstGeom prst="rect">
            <a:avLst/>
          </a:prstGeom>
          <a:solidFill>
            <a:srgbClr val="7C3AE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777240" y="457200"/>
            <a:ext cx="10607040" cy="365760"/>
          </a:xfrm>
          <a:prstGeom prst="rect">
            <a:avLst/>
          </a:prstGeom>
          <a:noFill/>
        </p:spPr>
        <p:txBody>
          <a:bodyPr wrap="square" anchor="t">
            <a:spAutoFit/>
          </a:bodyPr>
          <a:lstStyle/>
          <a:p>
            <a:pPr algn="l">
              <a:spcAft>
                <a:spcPts val="400"/>
              </a:spcAft>
            </a:pPr>
            <a:r>
              <a:rPr sz="1400" b="1">
                <a:solidFill>
                  <a:srgbClr val="7C3AED"/>
                </a:solidFill>
                <a:latin typeface="Arial"/>
              </a:rPr>
              <a:t>THE NO-CLONING THEOREM  ·  STEP 3 OF 5</a:t>
            </a:r>
          </a:p>
        </p:txBody>
      </p:sp>
      <p:sp>
        <p:nvSpPr>
          <p:cNvPr id="5" name="TextBox 4"/>
          <p:cNvSpPr txBox="1"/>
          <p:nvPr/>
        </p:nvSpPr>
        <p:spPr>
          <a:xfrm>
            <a:off x="777240" y="822960"/>
            <a:ext cx="10881360" cy="822960"/>
          </a:xfrm>
          <a:prstGeom prst="rect">
            <a:avLst/>
          </a:prstGeom>
          <a:noFill/>
        </p:spPr>
        <p:txBody>
          <a:bodyPr wrap="square" anchor="t">
            <a:spAutoFit/>
          </a:bodyPr>
          <a:lstStyle/>
          <a:p>
            <a:pPr algn="l">
              <a:spcAft>
                <a:spcPts val="400"/>
              </a:spcAft>
            </a:pPr>
            <a:r>
              <a:rPr sz="2900" b="1">
                <a:solidFill>
                  <a:srgbClr val="161B26"/>
                </a:solidFill>
                <a:latin typeface="Arial"/>
              </a:rPr>
              <a:t>Step 3 — Solve the resulting equation</a:t>
            </a:r>
          </a:p>
        </p:txBody>
      </p:sp>
      <p:sp>
        <p:nvSpPr>
          <p:cNvPr id="6" name="Rectangle 5"/>
          <p:cNvSpPr/>
          <p:nvPr/>
        </p:nvSpPr>
        <p:spPr>
          <a:xfrm>
            <a:off x="777240" y="1554480"/>
            <a:ext cx="10634472" cy="18288"/>
          </a:xfrm>
          <a:prstGeom prst="rect">
            <a:avLst/>
          </a:prstGeom>
          <a:solidFill>
            <a:srgbClr val="E2E8F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Rectangle 6"/>
          <p:cNvSpPr/>
          <p:nvPr/>
        </p:nvSpPr>
        <p:spPr>
          <a:xfrm>
            <a:off x="777240" y="1810512"/>
            <a:ext cx="10634472" cy="2633472"/>
          </a:xfrm>
          <a:prstGeom prst="rect">
            <a:avLst/>
          </a:prstGeom>
          <a:solidFill>
            <a:srgbClr val="0B122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TextBox 7"/>
          <p:cNvSpPr txBox="1"/>
          <p:nvPr/>
        </p:nvSpPr>
        <p:spPr>
          <a:xfrm>
            <a:off x="1097280" y="1956816"/>
            <a:ext cx="9994392" cy="2340864"/>
          </a:xfrm>
          <a:prstGeom prst="rect">
            <a:avLst/>
          </a:prstGeom>
          <a:noFill/>
        </p:spPr>
        <p:txBody>
          <a:bodyPr wrap="square" anchor="t">
            <a:spAutoFit/>
          </a:bodyPr>
          <a:lstStyle/>
          <a:p>
            <a:pPr algn="l">
              <a:spcAft>
                <a:spcPts val="300"/>
              </a:spcAft>
            </a:pPr>
            <a:r>
              <a:rPr sz="1550" b="0">
                <a:solidFill>
                  <a:srgbClr val="9CDCFE"/>
                </a:solidFill>
                <a:latin typeface="Arial"/>
              </a:rPr>
              <a:t>Setting LHS = RHS and writing z = &lt;ψ|φ&gt;:</a:t>
            </a:r>
          </a:p>
          <a:p>
            <a:pPr algn="l">
              <a:spcAft>
                <a:spcPts val="300"/>
              </a:spcAft>
            </a:pPr>
            <a:r>
              <a:rPr sz="1550" b="0">
                <a:solidFill>
                  <a:srgbClr val="0B1220"/>
                </a:solidFill>
                <a:latin typeface="Arial"/>
              </a:rPr>
              <a:t> </a:t>
            </a:r>
          </a:p>
          <a:p>
            <a:pPr algn="l">
              <a:spcAft>
                <a:spcPts val="300"/>
              </a:spcAft>
            </a:pPr>
            <a:r>
              <a:rPr sz="1550" b="0">
                <a:solidFill>
                  <a:srgbClr val="9CDCFE"/>
                </a:solidFill>
                <a:latin typeface="Arial"/>
              </a:rPr>
              <a:t>        z  =  z²</a:t>
            </a:r>
          </a:p>
          <a:p>
            <a:pPr algn="l">
              <a:spcAft>
                <a:spcPts val="300"/>
              </a:spcAft>
            </a:pPr>
            <a:r>
              <a:rPr sz="1550" b="0">
                <a:solidFill>
                  <a:srgbClr val="9CDCFE"/>
                </a:solidFill>
                <a:latin typeface="Arial"/>
              </a:rPr>
              <a:t>   z² - z  =  0</a:t>
            </a:r>
          </a:p>
          <a:p>
            <a:pPr algn="l">
              <a:spcAft>
                <a:spcPts val="300"/>
              </a:spcAft>
            </a:pPr>
            <a:r>
              <a:rPr sz="1550" b="0">
                <a:solidFill>
                  <a:srgbClr val="9CDCFE"/>
                </a:solidFill>
                <a:latin typeface="Arial"/>
              </a:rPr>
              <a:t>   z(z - 1) =  0</a:t>
            </a:r>
          </a:p>
          <a:p>
            <a:pPr algn="l">
              <a:spcAft>
                <a:spcPts val="300"/>
              </a:spcAft>
            </a:pPr>
            <a:r>
              <a:rPr sz="1550" b="0">
                <a:solidFill>
                  <a:srgbClr val="0B1220"/>
                </a:solidFill>
                <a:latin typeface="Arial"/>
              </a:rPr>
              <a:t> </a:t>
            </a:r>
          </a:p>
          <a:p>
            <a:pPr algn="l">
              <a:spcAft>
                <a:spcPts val="300"/>
              </a:spcAft>
            </a:pPr>
            <a:r>
              <a:rPr sz="1550" b="0">
                <a:solidFill>
                  <a:srgbClr val="9CDCFE"/>
                </a:solidFill>
                <a:latin typeface="Arial"/>
              </a:rPr>
              <a:t>So either  z = 0  or  z = 1.</a:t>
            </a:r>
          </a:p>
        </p:txBody>
      </p:sp>
      <p:sp>
        <p:nvSpPr>
          <p:cNvPr id="9" name="Rectangle 8"/>
          <p:cNvSpPr/>
          <p:nvPr/>
        </p:nvSpPr>
        <p:spPr>
          <a:xfrm>
            <a:off x="777240" y="4645152"/>
            <a:ext cx="10634472" cy="1408176"/>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Rectangle 9"/>
          <p:cNvSpPr/>
          <p:nvPr/>
        </p:nvSpPr>
        <p:spPr>
          <a:xfrm>
            <a:off x="777240" y="4645152"/>
            <a:ext cx="82296" cy="1408176"/>
          </a:xfrm>
          <a:prstGeom prst="rect">
            <a:avLst/>
          </a:prstGeom>
          <a:solidFill>
            <a:srgbClr val="F59E0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 name="TextBox 10"/>
          <p:cNvSpPr txBox="1"/>
          <p:nvPr/>
        </p:nvSpPr>
        <p:spPr>
          <a:xfrm>
            <a:off x="1097280" y="4645152"/>
            <a:ext cx="10149840" cy="1408176"/>
          </a:xfrm>
          <a:prstGeom prst="rect">
            <a:avLst/>
          </a:prstGeom>
          <a:noFill/>
        </p:spPr>
        <p:txBody>
          <a:bodyPr wrap="square" anchor="ctr">
            <a:spAutoFit/>
          </a:bodyPr>
          <a:lstStyle/>
          <a:p>
            <a:pPr algn="l">
              <a:spcAft>
                <a:spcPts val="400"/>
              </a:spcAft>
            </a:pPr>
            <a:r>
              <a:rPr sz="1150" b="1">
                <a:solidFill>
                  <a:srgbClr val="F59E0B"/>
                </a:solidFill>
                <a:latin typeface="Arial"/>
              </a:rPr>
              <a:t>WHY THIS STEP:  </a:t>
            </a:r>
            <a:r>
              <a:rPr sz="1300" b="0">
                <a:solidFill>
                  <a:srgbClr val="161B26"/>
                </a:solidFill>
                <a:latin typeface="Arial"/>
              </a:rPr>
              <a:t>Only two possibilities survive.</a:t>
            </a:r>
          </a:p>
        </p:txBody>
      </p:sp>
      <p:sp>
        <p:nvSpPr>
          <p:cNvPr id="12" name="TextBox 11"/>
          <p:cNvSpPr txBox="1"/>
          <p:nvPr/>
        </p:nvSpPr>
        <p:spPr>
          <a:xfrm>
            <a:off x="365760" y="6446520"/>
            <a:ext cx="6858000" cy="320040"/>
          </a:xfrm>
          <a:prstGeom prst="rect">
            <a:avLst/>
          </a:prstGeom>
          <a:noFill/>
        </p:spPr>
        <p:txBody>
          <a:bodyPr wrap="square" anchor="t">
            <a:spAutoFit/>
          </a:bodyPr>
          <a:lstStyle/>
          <a:p>
            <a:pPr algn="l">
              <a:spcAft>
                <a:spcPts val="400"/>
              </a:spcAft>
            </a:pPr>
            <a:r>
              <a:rPr sz="900" b="0">
                <a:solidFill>
                  <a:srgbClr val="5B6372"/>
                </a:solidFill>
                <a:latin typeface="Arial"/>
              </a:rPr>
              <a:t>Securing the Future with Quantum Computing and Cryptography  ·  TGS-2024043419</a:t>
            </a:r>
          </a:p>
        </p:txBody>
      </p:sp>
      <p:sp>
        <p:nvSpPr>
          <p:cNvPr id="13" name="TextBox 12"/>
          <p:cNvSpPr txBox="1"/>
          <p:nvPr/>
        </p:nvSpPr>
        <p:spPr>
          <a:xfrm>
            <a:off x="4572000" y="6446520"/>
            <a:ext cx="3017520" cy="320040"/>
          </a:xfrm>
          <a:prstGeom prst="rect">
            <a:avLst/>
          </a:prstGeom>
          <a:noFill/>
        </p:spPr>
        <p:txBody>
          <a:bodyPr wrap="square" anchor="t">
            <a:spAutoFit/>
          </a:bodyPr>
          <a:lstStyle/>
          <a:p>
            <a:pPr algn="ctr">
              <a:spcAft>
                <a:spcPts val="400"/>
              </a:spcAft>
            </a:pPr>
            <a:r>
              <a:rPr sz="900" b="0">
                <a:solidFill>
                  <a:srgbClr val="5B6372"/>
                </a:solidFill>
                <a:latin typeface="Arial"/>
              </a:rPr>
              <a:t>© 2026 Tertiary Infotech Academy Pte Ltd</a:t>
            </a:r>
          </a:p>
        </p:txBody>
      </p:sp>
      <p:sp>
        <p:nvSpPr>
          <p:cNvPr id="14" name="TextBox 13"/>
          <p:cNvSpPr txBox="1"/>
          <p:nvPr/>
        </p:nvSpPr>
        <p:spPr>
          <a:xfrm>
            <a:off x="11338560" y="6446520"/>
            <a:ext cx="548640" cy="320040"/>
          </a:xfrm>
          <a:prstGeom prst="rect">
            <a:avLst/>
          </a:prstGeom>
          <a:noFill/>
        </p:spPr>
        <p:txBody>
          <a:bodyPr wrap="square" anchor="t">
            <a:spAutoFit/>
          </a:bodyPr>
          <a:lstStyle/>
          <a:p>
            <a:pPr algn="r">
              <a:spcAft>
                <a:spcPts val="400"/>
              </a:spcAft>
            </a:pPr>
            <a:r>
              <a:rPr sz="900" b="0">
                <a:solidFill>
                  <a:srgbClr val="5B6372"/>
                </a:solidFill>
                <a:latin typeface="Arial"/>
              </a:rPr>
              <a:t>98</a:t>
            </a:r>
          </a:p>
        </p:txBody>
      </p:sp>
    </p:spTree>
  </p:cSld>
  <p:clrMapOvr>
    <a:masterClrMapping/>
  </p:clrMapOvr>
</p:sld>
</file>

<file path=ppt/slides/slide100.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256032" cy="1417320"/>
          </a:xfrm>
          <a:prstGeom prst="rect">
            <a:avLst/>
          </a:prstGeom>
          <a:solidFill>
            <a:srgbClr val="7C3AE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777240" y="457200"/>
            <a:ext cx="10607040" cy="365760"/>
          </a:xfrm>
          <a:prstGeom prst="rect">
            <a:avLst/>
          </a:prstGeom>
          <a:noFill/>
        </p:spPr>
        <p:txBody>
          <a:bodyPr wrap="square" anchor="t">
            <a:spAutoFit/>
          </a:bodyPr>
          <a:lstStyle/>
          <a:p>
            <a:pPr algn="l">
              <a:spcAft>
                <a:spcPts val="400"/>
              </a:spcAft>
            </a:pPr>
            <a:r>
              <a:rPr sz="1400" b="1">
                <a:solidFill>
                  <a:srgbClr val="7C3AED"/>
                </a:solidFill>
                <a:latin typeface="Arial"/>
              </a:rPr>
              <a:t>THE NO-CLONING THEOREM  ·  STEP 4 OF 5</a:t>
            </a:r>
          </a:p>
        </p:txBody>
      </p:sp>
      <p:sp>
        <p:nvSpPr>
          <p:cNvPr id="5" name="TextBox 4"/>
          <p:cNvSpPr txBox="1"/>
          <p:nvPr/>
        </p:nvSpPr>
        <p:spPr>
          <a:xfrm>
            <a:off x="777240" y="822960"/>
            <a:ext cx="10881360" cy="822960"/>
          </a:xfrm>
          <a:prstGeom prst="rect">
            <a:avLst/>
          </a:prstGeom>
          <a:noFill/>
        </p:spPr>
        <p:txBody>
          <a:bodyPr wrap="square" anchor="t">
            <a:spAutoFit/>
          </a:bodyPr>
          <a:lstStyle/>
          <a:p>
            <a:pPr algn="l">
              <a:spcAft>
                <a:spcPts val="400"/>
              </a:spcAft>
            </a:pPr>
            <a:r>
              <a:rPr sz="2900" b="1">
                <a:solidFill>
                  <a:srgbClr val="161B26"/>
                </a:solidFill>
                <a:latin typeface="Arial"/>
              </a:rPr>
              <a:t>Step 4 — Interpret the two solutions</a:t>
            </a:r>
          </a:p>
        </p:txBody>
      </p:sp>
      <p:sp>
        <p:nvSpPr>
          <p:cNvPr id="6" name="Rectangle 5"/>
          <p:cNvSpPr/>
          <p:nvPr/>
        </p:nvSpPr>
        <p:spPr>
          <a:xfrm>
            <a:off x="777240" y="1554480"/>
            <a:ext cx="10634472" cy="18288"/>
          </a:xfrm>
          <a:prstGeom prst="rect">
            <a:avLst/>
          </a:prstGeom>
          <a:solidFill>
            <a:srgbClr val="E2E8F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Rectangle 6"/>
          <p:cNvSpPr/>
          <p:nvPr/>
        </p:nvSpPr>
        <p:spPr>
          <a:xfrm>
            <a:off x="777240" y="1810512"/>
            <a:ext cx="10634472" cy="2633472"/>
          </a:xfrm>
          <a:prstGeom prst="rect">
            <a:avLst/>
          </a:prstGeom>
          <a:solidFill>
            <a:srgbClr val="0B122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TextBox 7"/>
          <p:cNvSpPr txBox="1"/>
          <p:nvPr/>
        </p:nvSpPr>
        <p:spPr>
          <a:xfrm>
            <a:off x="1097280" y="1956816"/>
            <a:ext cx="9994392" cy="2340864"/>
          </a:xfrm>
          <a:prstGeom prst="rect">
            <a:avLst/>
          </a:prstGeom>
          <a:noFill/>
        </p:spPr>
        <p:txBody>
          <a:bodyPr wrap="square" anchor="t">
            <a:spAutoFit/>
          </a:bodyPr>
          <a:lstStyle/>
          <a:p>
            <a:pPr algn="l">
              <a:spcAft>
                <a:spcPts val="300"/>
              </a:spcAft>
            </a:pPr>
            <a:r>
              <a:rPr sz="1550" b="0">
                <a:solidFill>
                  <a:srgbClr val="9CDCFE"/>
                </a:solidFill>
                <a:latin typeface="Arial"/>
              </a:rPr>
              <a:t>z = &lt;ψ|φ&gt; = 1  =&gt;  |ψ&gt; and |φ&gt; are the SAME state.</a:t>
            </a:r>
          </a:p>
          <a:p>
            <a:pPr algn="l">
              <a:spcAft>
                <a:spcPts val="300"/>
              </a:spcAft>
            </a:pPr>
            <a:r>
              <a:rPr sz="1550" b="0">
                <a:solidFill>
                  <a:srgbClr val="9CDCFE"/>
                </a:solidFill>
                <a:latin typeface="Arial"/>
              </a:rPr>
              <a:t>z = &lt;ψ|φ&gt; = 0  =&gt;  |ψ&gt; and |φ&gt; are ORTHOGONAL.</a:t>
            </a:r>
          </a:p>
          <a:p>
            <a:pPr algn="l">
              <a:spcAft>
                <a:spcPts val="300"/>
              </a:spcAft>
            </a:pPr>
            <a:r>
              <a:rPr sz="1550" b="0">
                <a:solidFill>
                  <a:srgbClr val="0B1220"/>
                </a:solidFill>
                <a:latin typeface="Arial"/>
              </a:rPr>
              <a:t> </a:t>
            </a:r>
          </a:p>
          <a:p>
            <a:pPr algn="l">
              <a:spcAft>
                <a:spcPts val="300"/>
              </a:spcAft>
            </a:pPr>
            <a:r>
              <a:rPr sz="1550" b="0">
                <a:solidFill>
                  <a:srgbClr val="9CDCFE"/>
                </a:solidFill>
                <a:latin typeface="Arial"/>
              </a:rPr>
              <a:t>But we assumed U clones ARBITRARY states — including states that are</a:t>
            </a:r>
          </a:p>
          <a:p>
            <a:pPr algn="l">
              <a:spcAft>
                <a:spcPts val="300"/>
              </a:spcAft>
            </a:pPr>
            <a:r>
              <a:rPr sz="1550" b="0">
                <a:solidFill>
                  <a:srgbClr val="9CDCFE"/>
                </a:solidFill>
                <a:latin typeface="Arial"/>
              </a:rPr>
              <a:t>neither identical nor orthogonal, e.g. |0&gt; and |+&gt;, where &lt;0|+&gt; = 1/√2.</a:t>
            </a:r>
          </a:p>
          <a:p>
            <a:pPr algn="l">
              <a:spcAft>
                <a:spcPts val="300"/>
              </a:spcAft>
            </a:pPr>
            <a:r>
              <a:rPr sz="1550" b="0">
                <a:solidFill>
                  <a:srgbClr val="0B1220"/>
                </a:solidFill>
                <a:latin typeface="Arial"/>
              </a:rPr>
              <a:t> </a:t>
            </a:r>
          </a:p>
          <a:p>
            <a:pPr algn="l">
              <a:spcAft>
                <a:spcPts val="300"/>
              </a:spcAft>
            </a:pPr>
            <a:r>
              <a:rPr sz="1550" b="0">
                <a:solidFill>
                  <a:srgbClr val="9CDCFE"/>
                </a:solidFill>
                <a:latin typeface="Arial"/>
              </a:rPr>
              <a:t>1/√2 is neither 0 nor 1  -&gt;  CONTRADICTION.</a:t>
            </a:r>
          </a:p>
        </p:txBody>
      </p:sp>
      <p:sp>
        <p:nvSpPr>
          <p:cNvPr id="9" name="Rectangle 8"/>
          <p:cNvSpPr/>
          <p:nvPr/>
        </p:nvSpPr>
        <p:spPr>
          <a:xfrm>
            <a:off x="777240" y="4645152"/>
            <a:ext cx="10634472" cy="1408176"/>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Rectangle 9"/>
          <p:cNvSpPr/>
          <p:nvPr/>
        </p:nvSpPr>
        <p:spPr>
          <a:xfrm>
            <a:off x="777240" y="4645152"/>
            <a:ext cx="82296" cy="1408176"/>
          </a:xfrm>
          <a:prstGeom prst="rect">
            <a:avLst/>
          </a:prstGeom>
          <a:solidFill>
            <a:srgbClr val="F59E0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 name="TextBox 10"/>
          <p:cNvSpPr txBox="1"/>
          <p:nvPr/>
        </p:nvSpPr>
        <p:spPr>
          <a:xfrm>
            <a:off x="1097280" y="4645152"/>
            <a:ext cx="10149840" cy="1408176"/>
          </a:xfrm>
          <a:prstGeom prst="rect">
            <a:avLst/>
          </a:prstGeom>
          <a:noFill/>
        </p:spPr>
        <p:txBody>
          <a:bodyPr wrap="square" anchor="ctr">
            <a:spAutoFit/>
          </a:bodyPr>
          <a:lstStyle/>
          <a:p>
            <a:pPr algn="l">
              <a:spcAft>
                <a:spcPts val="400"/>
              </a:spcAft>
            </a:pPr>
            <a:r>
              <a:rPr sz="1150" b="1">
                <a:solidFill>
                  <a:srgbClr val="F59E0B"/>
                </a:solidFill>
                <a:latin typeface="Arial"/>
              </a:rPr>
              <a:t>WHY THIS STEP:  </a:t>
            </a:r>
            <a:r>
              <a:rPr sz="1300" b="0">
                <a:solidFill>
                  <a:srgbClr val="161B26"/>
                </a:solidFill>
                <a:latin typeface="Arial"/>
              </a:rPr>
              <a:t>The assumption fails for any pair of non-orthogonal, non-identical states.</a:t>
            </a:r>
          </a:p>
        </p:txBody>
      </p:sp>
      <p:sp>
        <p:nvSpPr>
          <p:cNvPr id="12" name="TextBox 11"/>
          <p:cNvSpPr txBox="1"/>
          <p:nvPr/>
        </p:nvSpPr>
        <p:spPr>
          <a:xfrm>
            <a:off x="365760" y="6446520"/>
            <a:ext cx="6858000" cy="320040"/>
          </a:xfrm>
          <a:prstGeom prst="rect">
            <a:avLst/>
          </a:prstGeom>
          <a:noFill/>
        </p:spPr>
        <p:txBody>
          <a:bodyPr wrap="square" anchor="t">
            <a:spAutoFit/>
          </a:bodyPr>
          <a:lstStyle/>
          <a:p>
            <a:pPr algn="l">
              <a:spcAft>
                <a:spcPts val="400"/>
              </a:spcAft>
            </a:pPr>
            <a:r>
              <a:rPr sz="900" b="0">
                <a:solidFill>
                  <a:srgbClr val="5B6372"/>
                </a:solidFill>
                <a:latin typeface="Arial"/>
              </a:rPr>
              <a:t>Securing the Future with Quantum Computing and Cryptography  ·  TGS-2024043419</a:t>
            </a:r>
          </a:p>
        </p:txBody>
      </p:sp>
      <p:sp>
        <p:nvSpPr>
          <p:cNvPr id="13" name="TextBox 12"/>
          <p:cNvSpPr txBox="1"/>
          <p:nvPr/>
        </p:nvSpPr>
        <p:spPr>
          <a:xfrm>
            <a:off x="4572000" y="6446520"/>
            <a:ext cx="3017520" cy="320040"/>
          </a:xfrm>
          <a:prstGeom prst="rect">
            <a:avLst/>
          </a:prstGeom>
          <a:noFill/>
        </p:spPr>
        <p:txBody>
          <a:bodyPr wrap="square" anchor="t">
            <a:spAutoFit/>
          </a:bodyPr>
          <a:lstStyle/>
          <a:p>
            <a:pPr algn="ctr">
              <a:spcAft>
                <a:spcPts val="400"/>
              </a:spcAft>
            </a:pPr>
            <a:r>
              <a:rPr sz="900" b="0">
                <a:solidFill>
                  <a:srgbClr val="5B6372"/>
                </a:solidFill>
                <a:latin typeface="Arial"/>
              </a:rPr>
              <a:t>© 2026 Tertiary Infotech Academy Pte Ltd</a:t>
            </a:r>
          </a:p>
        </p:txBody>
      </p:sp>
      <p:sp>
        <p:nvSpPr>
          <p:cNvPr id="14" name="TextBox 13"/>
          <p:cNvSpPr txBox="1"/>
          <p:nvPr/>
        </p:nvSpPr>
        <p:spPr>
          <a:xfrm>
            <a:off x="11338560" y="6446520"/>
            <a:ext cx="548640" cy="320040"/>
          </a:xfrm>
          <a:prstGeom prst="rect">
            <a:avLst/>
          </a:prstGeom>
          <a:noFill/>
        </p:spPr>
        <p:txBody>
          <a:bodyPr wrap="square" anchor="t">
            <a:spAutoFit/>
          </a:bodyPr>
          <a:lstStyle/>
          <a:p>
            <a:pPr algn="r">
              <a:spcAft>
                <a:spcPts val="400"/>
              </a:spcAft>
            </a:pPr>
            <a:r>
              <a:rPr sz="900" b="0">
                <a:solidFill>
                  <a:srgbClr val="5B6372"/>
                </a:solidFill>
                <a:latin typeface="Arial"/>
              </a:rPr>
              <a:t>99</a:t>
            </a:r>
          </a:p>
        </p:txBody>
      </p:sp>
    </p:spTree>
  </p:cSld>
  <p:clrMapOvr>
    <a:masterClrMapping/>
  </p:clrMapOvr>
</p:sld>
</file>

<file path=ppt/slides/slide101.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256032" cy="1417320"/>
          </a:xfrm>
          <a:prstGeom prst="rect">
            <a:avLst/>
          </a:prstGeom>
          <a:solidFill>
            <a:srgbClr val="7C3AE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777240" y="457200"/>
            <a:ext cx="10607040" cy="365760"/>
          </a:xfrm>
          <a:prstGeom prst="rect">
            <a:avLst/>
          </a:prstGeom>
          <a:noFill/>
        </p:spPr>
        <p:txBody>
          <a:bodyPr wrap="square" anchor="t">
            <a:spAutoFit/>
          </a:bodyPr>
          <a:lstStyle/>
          <a:p>
            <a:pPr algn="l">
              <a:spcAft>
                <a:spcPts val="400"/>
              </a:spcAft>
            </a:pPr>
            <a:r>
              <a:rPr sz="1400" b="1">
                <a:solidFill>
                  <a:srgbClr val="7C3AED"/>
                </a:solidFill>
                <a:latin typeface="Arial"/>
              </a:rPr>
              <a:t>THE NO-CLONING THEOREM  ·  STEP 5 OF 5</a:t>
            </a:r>
          </a:p>
        </p:txBody>
      </p:sp>
      <p:sp>
        <p:nvSpPr>
          <p:cNvPr id="5" name="TextBox 4"/>
          <p:cNvSpPr txBox="1"/>
          <p:nvPr/>
        </p:nvSpPr>
        <p:spPr>
          <a:xfrm>
            <a:off x="777240" y="822960"/>
            <a:ext cx="10881360" cy="822960"/>
          </a:xfrm>
          <a:prstGeom prst="rect">
            <a:avLst/>
          </a:prstGeom>
          <a:noFill/>
        </p:spPr>
        <p:txBody>
          <a:bodyPr wrap="square" anchor="t">
            <a:spAutoFit/>
          </a:bodyPr>
          <a:lstStyle/>
          <a:p>
            <a:pPr algn="l">
              <a:spcAft>
                <a:spcPts val="400"/>
              </a:spcAft>
            </a:pPr>
            <a:r>
              <a:rPr sz="2900" b="1">
                <a:solidFill>
                  <a:srgbClr val="161B26"/>
                </a:solidFill>
                <a:latin typeface="Arial"/>
              </a:rPr>
              <a:t>Step 5 — Conclusion</a:t>
            </a:r>
          </a:p>
        </p:txBody>
      </p:sp>
      <p:sp>
        <p:nvSpPr>
          <p:cNvPr id="6" name="Rectangle 5"/>
          <p:cNvSpPr/>
          <p:nvPr/>
        </p:nvSpPr>
        <p:spPr>
          <a:xfrm>
            <a:off x="777240" y="1554480"/>
            <a:ext cx="10634472" cy="18288"/>
          </a:xfrm>
          <a:prstGeom prst="rect">
            <a:avLst/>
          </a:prstGeom>
          <a:solidFill>
            <a:srgbClr val="E2E8F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Rectangle 6"/>
          <p:cNvSpPr/>
          <p:nvPr/>
        </p:nvSpPr>
        <p:spPr>
          <a:xfrm>
            <a:off x="777240" y="1810512"/>
            <a:ext cx="10634472" cy="2322576"/>
          </a:xfrm>
          <a:prstGeom prst="rect">
            <a:avLst/>
          </a:prstGeom>
          <a:solidFill>
            <a:srgbClr val="0B122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TextBox 7"/>
          <p:cNvSpPr txBox="1"/>
          <p:nvPr/>
        </p:nvSpPr>
        <p:spPr>
          <a:xfrm>
            <a:off x="1097280" y="1956816"/>
            <a:ext cx="9994392" cy="2029968"/>
          </a:xfrm>
          <a:prstGeom prst="rect">
            <a:avLst/>
          </a:prstGeom>
          <a:noFill/>
        </p:spPr>
        <p:txBody>
          <a:bodyPr wrap="square" anchor="t">
            <a:spAutoFit/>
          </a:bodyPr>
          <a:lstStyle/>
          <a:p>
            <a:pPr algn="l">
              <a:spcAft>
                <a:spcPts val="300"/>
              </a:spcAft>
            </a:pPr>
            <a:r>
              <a:rPr sz="1550" b="0">
                <a:solidFill>
                  <a:srgbClr val="9CDCFE"/>
                </a:solidFill>
                <a:latin typeface="Arial"/>
              </a:rPr>
              <a:t>No unitary can clone an arbitrary unknown state.</a:t>
            </a:r>
          </a:p>
          <a:p>
            <a:pPr algn="l">
              <a:spcAft>
                <a:spcPts val="300"/>
              </a:spcAft>
            </a:pPr>
            <a:r>
              <a:rPr sz="1550" b="0">
                <a:solidFill>
                  <a:srgbClr val="0B1220"/>
                </a:solidFill>
                <a:latin typeface="Arial"/>
              </a:rPr>
              <a:t> </a:t>
            </a:r>
          </a:p>
          <a:p>
            <a:pPr algn="l">
              <a:spcAft>
                <a:spcPts val="300"/>
              </a:spcAft>
            </a:pPr>
            <a:r>
              <a:rPr sz="1550" b="0">
                <a:solidFill>
                  <a:srgbClr val="9CDCFE"/>
                </a:solidFill>
                <a:latin typeface="Arial"/>
              </a:rPr>
              <a:t>What IS possible:</a:t>
            </a:r>
          </a:p>
          <a:p>
            <a:pPr algn="l">
              <a:spcAft>
                <a:spcPts val="300"/>
              </a:spcAft>
            </a:pPr>
            <a:r>
              <a:rPr sz="1550" b="0">
                <a:solidFill>
                  <a:srgbClr val="9CDCFE"/>
                </a:solidFill>
                <a:latin typeface="Arial"/>
              </a:rPr>
              <a:t>  • copying states known to be from an ORTHOGONAL set (classical copying)</a:t>
            </a:r>
          </a:p>
          <a:p>
            <a:pPr algn="l">
              <a:spcAft>
                <a:spcPts val="300"/>
              </a:spcAft>
            </a:pPr>
            <a:r>
              <a:rPr sz="1550" b="0">
                <a:solidFill>
                  <a:srgbClr val="9CDCFE"/>
                </a:solidFill>
                <a:latin typeface="Arial"/>
              </a:rPr>
              <a:t>  • MOVING a state (teleportation — the original is destroyed)</a:t>
            </a:r>
          </a:p>
          <a:p>
            <a:pPr algn="l">
              <a:spcAft>
                <a:spcPts val="300"/>
              </a:spcAft>
            </a:pPr>
            <a:r>
              <a:rPr sz="1550" b="0">
                <a:solidFill>
                  <a:srgbClr val="9CDCFE"/>
                </a:solidFill>
                <a:latin typeface="Arial"/>
              </a:rPr>
              <a:t>  • approximate cloning with bounded fidelity (max ~5/6 for a universal cloner)</a:t>
            </a:r>
          </a:p>
        </p:txBody>
      </p:sp>
      <p:sp>
        <p:nvSpPr>
          <p:cNvPr id="9" name="Rectangle 8"/>
          <p:cNvSpPr/>
          <p:nvPr/>
        </p:nvSpPr>
        <p:spPr>
          <a:xfrm>
            <a:off x="777240" y="4334256"/>
            <a:ext cx="10634472" cy="1719072"/>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Rectangle 9"/>
          <p:cNvSpPr/>
          <p:nvPr/>
        </p:nvSpPr>
        <p:spPr>
          <a:xfrm>
            <a:off x="777240" y="4334256"/>
            <a:ext cx="82296" cy="1719072"/>
          </a:xfrm>
          <a:prstGeom prst="rect">
            <a:avLst/>
          </a:prstGeom>
          <a:solidFill>
            <a:srgbClr val="F59E0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 name="TextBox 10"/>
          <p:cNvSpPr txBox="1"/>
          <p:nvPr/>
        </p:nvSpPr>
        <p:spPr>
          <a:xfrm>
            <a:off x="1097280" y="4334256"/>
            <a:ext cx="10149840" cy="1719072"/>
          </a:xfrm>
          <a:prstGeom prst="rect">
            <a:avLst/>
          </a:prstGeom>
          <a:noFill/>
        </p:spPr>
        <p:txBody>
          <a:bodyPr wrap="square" anchor="ctr">
            <a:spAutoFit/>
          </a:bodyPr>
          <a:lstStyle/>
          <a:p>
            <a:pPr algn="l">
              <a:spcAft>
                <a:spcPts val="400"/>
              </a:spcAft>
            </a:pPr>
            <a:r>
              <a:rPr sz="1150" b="1">
                <a:solidFill>
                  <a:srgbClr val="F59E0B"/>
                </a:solidFill>
                <a:latin typeface="Arial"/>
              </a:rPr>
              <a:t>WHY THIS STEP:  </a:t>
            </a:r>
            <a:r>
              <a:rPr sz="1300" b="0">
                <a:solidFill>
                  <a:srgbClr val="161B26"/>
                </a:solidFill>
                <a:latin typeface="Arial"/>
              </a:rPr>
              <a:t>Note the theorem forbids perfect copying of UNKNOWN states — classical bits, which are always in an orthogonal set, remain copyable.</a:t>
            </a:r>
          </a:p>
        </p:txBody>
      </p:sp>
      <p:sp>
        <p:nvSpPr>
          <p:cNvPr id="12" name="TextBox 11"/>
          <p:cNvSpPr txBox="1"/>
          <p:nvPr/>
        </p:nvSpPr>
        <p:spPr>
          <a:xfrm>
            <a:off x="365760" y="6446520"/>
            <a:ext cx="6858000" cy="320040"/>
          </a:xfrm>
          <a:prstGeom prst="rect">
            <a:avLst/>
          </a:prstGeom>
          <a:noFill/>
        </p:spPr>
        <p:txBody>
          <a:bodyPr wrap="square" anchor="t">
            <a:spAutoFit/>
          </a:bodyPr>
          <a:lstStyle/>
          <a:p>
            <a:pPr algn="l">
              <a:spcAft>
                <a:spcPts val="400"/>
              </a:spcAft>
            </a:pPr>
            <a:r>
              <a:rPr sz="900" b="0">
                <a:solidFill>
                  <a:srgbClr val="5B6372"/>
                </a:solidFill>
                <a:latin typeface="Arial"/>
              </a:rPr>
              <a:t>Securing the Future with Quantum Computing and Cryptography  ·  TGS-2024043419</a:t>
            </a:r>
          </a:p>
        </p:txBody>
      </p:sp>
      <p:sp>
        <p:nvSpPr>
          <p:cNvPr id="13" name="TextBox 12"/>
          <p:cNvSpPr txBox="1"/>
          <p:nvPr/>
        </p:nvSpPr>
        <p:spPr>
          <a:xfrm>
            <a:off x="4572000" y="6446520"/>
            <a:ext cx="3017520" cy="320040"/>
          </a:xfrm>
          <a:prstGeom prst="rect">
            <a:avLst/>
          </a:prstGeom>
          <a:noFill/>
        </p:spPr>
        <p:txBody>
          <a:bodyPr wrap="square" anchor="t">
            <a:spAutoFit/>
          </a:bodyPr>
          <a:lstStyle/>
          <a:p>
            <a:pPr algn="ctr">
              <a:spcAft>
                <a:spcPts val="400"/>
              </a:spcAft>
            </a:pPr>
            <a:r>
              <a:rPr sz="900" b="0">
                <a:solidFill>
                  <a:srgbClr val="5B6372"/>
                </a:solidFill>
                <a:latin typeface="Arial"/>
              </a:rPr>
              <a:t>© 2026 Tertiary Infotech Academy Pte Ltd</a:t>
            </a:r>
          </a:p>
        </p:txBody>
      </p:sp>
      <p:sp>
        <p:nvSpPr>
          <p:cNvPr id="14" name="TextBox 13"/>
          <p:cNvSpPr txBox="1"/>
          <p:nvPr/>
        </p:nvSpPr>
        <p:spPr>
          <a:xfrm>
            <a:off x="11338560" y="6446520"/>
            <a:ext cx="548640" cy="320040"/>
          </a:xfrm>
          <a:prstGeom prst="rect">
            <a:avLst/>
          </a:prstGeom>
          <a:noFill/>
        </p:spPr>
        <p:txBody>
          <a:bodyPr wrap="square" anchor="t">
            <a:spAutoFit/>
          </a:bodyPr>
          <a:lstStyle/>
          <a:p>
            <a:pPr algn="r">
              <a:spcAft>
                <a:spcPts val="400"/>
              </a:spcAft>
            </a:pPr>
            <a:r>
              <a:rPr sz="900" b="0">
                <a:solidFill>
                  <a:srgbClr val="5B6372"/>
                </a:solidFill>
                <a:latin typeface="Arial"/>
              </a:rPr>
              <a:t>100</a:t>
            </a:r>
          </a:p>
        </p:txBody>
      </p:sp>
    </p:spTree>
  </p:cSld>
  <p:clrMapOvr>
    <a:masterClrMapping/>
  </p:clrMapOvr>
</p:sld>
</file>

<file path=ppt/slides/slide102.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256032" cy="1417320"/>
          </a:xfrm>
          <a:prstGeom prst="rect">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777240" y="457200"/>
            <a:ext cx="10607040" cy="365760"/>
          </a:xfrm>
          <a:prstGeom prst="rect">
            <a:avLst/>
          </a:prstGeom>
          <a:noFill/>
        </p:spPr>
        <p:txBody>
          <a:bodyPr wrap="square" anchor="t">
            <a:spAutoFit/>
          </a:bodyPr>
          <a:lstStyle/>
          <a:p>
            <a:pPr algn="l">
              <a:spcAft>
                <a:spcPts val="400"/>
              </a:spcAft>
            </a:pPr>
            <a:r>
              <a:rPr sz="1400" b="1">
                <a:solidFill>
                  <a:srgbClr val="10B981"/>
                </a:solidFill>
                <a:latin typeface="Arial"/>
              </a:rPr>
              <a:t>QED</a:t>
            </a:r>
          </a:p>
        </p:txBody>
      </p:sp>
      <p:sp>
        <p:nvSpPr>
          <p:cNvPr id="5" name="TextBox 4"/>
          <p:cNvSpPr txBox="1"/>
          <p:nvPr/>
        </p:nvSpPr>
        <p:spPr>
          <a:xfrm>
            <a:off x="777240" y="822960"/>
            <a:ext cx="10881360" cy="822960"/>
          </a:xfrm>
          <a:prstGeom prst="rect">
            <a:avLst/>
          </a:prstGeom>
          <a:noFill/>
        </p:spPr>
        <p:txBody>
          <a:bodyPr wrap="square" anchor="t">
            <a:spAutoFit/>
          </a:bodyPr>
          <a:lstStyle/>
          <a:p>
            <a:pPr algn="l">
              <a:spcAft>
                <a:spcPts val="400"/>
              </a:spcAft>
            </a:pPr>
            <a:r>
              <a:rPr sz="2900" b="1">
                <a:solidFill>
                  <a:srgbClr val="161B26"/>
                </a:solidFill>
                <a:latin typeface="Arial"/>
              </a:rPr>
              <a:t>The No-Cloning Theorem — Result</a:t>
            </a:r>
          </a:p>
        </p:txBody>
      </p:sp>
      <p:sp>
        <p:nvSpPr>
          <p:cNvPr id="6" name="Rectangle 5"/>
          <p:cNvSpPr/>
          <p:nvPr/>
        </p:nvSpPr>
        <p:spPr>
          <a:xfrm>
            <a:off x="777240" y="1554480"/>
            <a:ext cx="10634472" cy="18288"/>
          </a:xfrm>
          <a:prstGeom prst="rect">
            <a:avLst/>
          </a:prstGeom>
          <a:solidFill>
            <a:srgbClr val="E2E8F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Rectangle 6"/>
          <p:cNvSpPr/>
          <p:nvPr/>
        </p:nvSpPr>
        <p:spPr>
          <a:xfrm>
            <a:off x="777240" y="1783080"/>
            <a:ext cx="10634472" cy="1828800"/>
          </a:xfrm>
          <a:prstGeom prst="rect">
            <a:avLst/>
          </a:prstGeom>
          <a:solidFill>
            <a:srgbClr val="E8F7E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Rectangle 7"/>
          <p:cNvSpPr/>
          <p:nvPr/>
        </p:nvSpPr>
        <p:spPr>
          <a:xfrm>
            <a:off x="777240" y="1783080"/>
            <a:ext cx="100584" cy="1828800"/>
          </a:xfrm>
          <a:prstGeom prst="rect">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TextBox 8"/>
          <p:cNvSpPr txBox="1"/>
          <p:nvPr/>
        </p:nvSpPr>
        <p:spPr>
          <a:xfrm>
            <a:off x="1143000" y="1965960"/>
            <a:ext cx="10058400" cy="365760"/>
          </a:xfrm>
          <a:prstGeom prst="rect">
            <a:avLst/>
          </a:prstGeom>
          <a:noFill/>
        </p:spPr>
        <p:txBody>
          <a:bodyPr wrap="square" anchor="t">
            <a:spAutoFit/>
          </a:bodyPr>
          <a:lstStyle/>
          <a:p>
            <a:pPr algn="l">
              <a:spcAft>
                <a:spcPts val="400"/>
              </a:spcAft>
            </a:pPr>
            <a:r>
              <a:rPr sz="1200" b="1">
                <a:solidFill>
                  <a:srgbClr val="127A3E"/>
                </a:solidFill>
                <a:latin typeface="Arial"/>
              </a:rPr>
              <a:t>RESULT</a:t>
            </a:r>
          </a:p>
        </p:txBody>
      </p:sp>
      <p:sp>
        <p:nvSpPr>
          <p:cNvPr id="10" name="TextBox 9"/>
          <p:cNvSpPr txBox="1"/>
          <p:nvPr/>
        </p:nvSpPr>
        <p:spPr>
          <a:xfrm>
            <a:off x="1143000" y="2377440"/>
            <a:ext cx="10058400" cy="1143000"/>
          </a:xfrm>
          <a:prstGeom prst="rect">
            <a:avLst/>
          </a:prstGeom>
          <a:noFill/>
        </p:spPr>
        <p:txBody>
          <a:bodyPr wrap="square" anchor="t">
            <a:spAutoFit/>
          </a:bodyPr>
          <a:lstStyle/>
          <a:p>
            <a:pPr algn="l">
              <a:spcAft>
                <a:spcPts val="400"/>
              </a:spcAft>
            </a:pPr>
            <a:r>
              <a:rPr sz="1550" b="1">
                <a:solidFill>
                  <a:srgbClr val="161B26"/>
                </a:solidFill>
                <a:latin typeface="Arial"/>
              </a:rPr>
              <a:t>Perfect cloning of an arbitrary unknown quantum state is impossible — it would violate the linearity/unitarity of quantum mechanics.</a:t>
            </a:r>
          </a:p>
        </p:txBody>
      </p:sp>
      <p:sp>
        <p:nvSpPr>
          <p:cNvPr id="11" name="Rectangle 10"/>
          <p:cNvSpPr/>
          <p:nvPr/>
        </p:nvSpPr>
        <p:spPr>
          <a:xfrm>
            <a:off x="777240" y="3840480"/>
            <a:ext cx="10634472" cy="2148840"/>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 name="Rectangle 11"/>
          <p:cNvSpPr/>
          <p:nvPr/>
        </p:nvSpPr>
        <p:spPr>
          <a:xfrm>
            <a:off x="777240" y="3840480"/>
            <a:ext cx="100584" cy="2148840"/>
          </a:xfrm>
          <a:prstGeom prst="rect">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 name="TextBox 12"/>
          <p:cNvSpPr txBox="1"/>
          <p:nvPr/>
        </p:nvSpPr>
        <p:spPr>
          <a:xfrm>
            <a:off x="1143000" y="4023360"/>
            <a:ext cx="10058400" cy="365760"/>
          </a:xfrm>
          <a:prstGeom prst="rect">
            <a:avLst/>
          </a:prstGeom>
          <a:noFill/>
        </p:spPr>
        <p:txBody>
          <a:bodyPr wrap="square" anchor="t">
            <a:spAutoFit/>
          </a:bodyPr>
          <a:lstStyle/>
          <a:p>
            <a:pPr algn="l">
              <a:spcAft>
                <a:spcPts val="400"/>
              </a:spcAft>
            </a:pPr>
            <a:r>
              <a:rPr sz="1200" b="1">
                <a:solidFill>
                  <a:srgbClr val="1F6FEB"/>
                </a:solidFill>
                <a:latin typeface="Arial"/>
              </a:rPr>
              <a:t>WHY IT MATTERS</a:t>
            </a:r>
          </a:p>
        </p:txBody>
      </p:sp>
      <p:sp>
        <p:nvSpPr>
          <p:cNvPr id="14" name="TextBox 13"/>
          <p:cNvSpPr txBox="1"/>
          <p:nvPr/>
        </p:nvSpPr>
        <p:spPr>
          <a:xfrm>
            <a:off x="1143000" y="4434840"/>
            <a:ext cx="10058400" cy="1463040"/>
          </a:xfrm>
          <a:prstGeom prst="rect">
            <a:avLst/>
          </a:prstGeom>
          <a:noFill/>
        </p:spPr>
        <p:txBody>
          <a:bodyPr wrap="square" anchor="t">
            <a:spAutoFit/>
          </a:bodyPr>
          <a:lstStyle/>
          <a:p>
            <a:pPr algn="l">
              <a:spcAft>
                <a:spcPts val="400"/>
              </a:spcAft>
            </a:pPr>
            <a:r>
              <a:rPr sz="1450" b="0">
                <a:solidFill>
                  <a:srgbClr val="161B26"/>
                </a:solidFill>
                <a:latin typeface="Arial"/>
              </a:rPr>
              <a:t>No-cloning is the security foundation of QKD: an eavesdropper cannot copy the qubits in transit and must instead measure them, which disturbs the state and reveals her presence. It is also why quantum error correction cannot work by simple redundancy.</a:t>
            </a:r>
          </a:p>
        </p:txBody>
      </p:sp>
      <p:sp>
        <p:nvSpPr>
          <p:cNvPr id="15" name="TextBox 14"/>
          <p:cNvSpPr txBox="1"/>
          <p:nvPr/>
        </p:nvSpPr>
        <p:spPr>
          <a:xfrm>
            <a:off x="365760" y="6446520"/>
            <a:ext cx="6858000" cy="320040"/>
          </a:xfrm>
          <a:prstGeom prst="rect">
            <a:avLst/>
          </a:prstGeom>
          <a:noFill/>
        </p:spPr>
        <p:txBody>
          <a:bodyPr wrap="square" anchor="t">
            <a:spAutoFit/>
          </a:bodyPr>
          <a:lstStyle/>
          <a:p>
            <a:pPr algn="l">
              <a:spcAft>
                <a:spcPts val="400"/>
              </a:spcAft>
            </a:pPr>
            <a:r>
              <a:rPr sz="900" b="0">
                <a:solidFill>
                  <a:srgbClr val="5B6372"/>
                </a:solidFill>
                <a:latin typeface="Arial"/>
              </a:rPr>
              <a:t>Securing the Future with Quantum Computing and Cryptography  ·  TGS-2024043419</a:t>
            </a:r>
          </a:p>
        </p:txBody>
      </p:sp>
      <p:sp>
        <p:nvSpPr>
          <p:cNvPr id="16" name="TextBox 15"/>
          <p:cNvSpPr txBox="1"/>
          <p:nvPr/>
        </p:nvSpPr>
        <p:spPr>
          <a:xfrm>
            <a:off x="4572000" y="6446520"/>
            <a:ext cx="3017520" cy="320040"/>
          </a:xfrm>
          <a:prstGeom prst="rect">
            <a:avLst/>
          </a:prstGeom>
          <a:noFill/>
        </p:spPr>
        <p:txBody>
          <a:bodyPr wrap="square" anchor="t">
            <a:spAutoFit/>
          </a:bodyPr>
          <a:lstStyle/>
          <a:p>
            <a:pPr algn="ctr">
              <a:spcAft>
                <a:spcPts val="400"/>
              </a:spcAft>
            </a:pPr>
            <a:r>
              <a:rPr sz="900" b="0">
                <a:solidFill>
                  <a:srgbClr val="5B6372"/>
                </a:solidFill>
                <a:latin typeface="Arial"/>
              </a:rPr>
              <a:t>© 2026 Tertiary Infotech Academy Pte Ltd</a:t>
            </a:r>
          </a:p>
        </p:txBody>
      </p:sp>
      <p:sp>
        <p:nvSpPr>
          <p:cNvPr id="17" name="TextBox 16"/>
          <p:cNvSpPr txBox="1"/>
          <p:nvPr/>
        </p:nvSpPr>
        <p:spPr>
          <a:xfrm>
            <a:off x="11338560" y="6446520"/>
            <a:ext cx="548640" cy="320040"/>
          </a:xfrm>
          <a:prstGeom prst="rect">
            <a:avLst/>
          </a:prstGeom>
          <a:noFill/>
        </p:spPr>
        <p:txBody>
          <a:bodyPr wrap="square" anchor="t">
            <a:spAutoFit/>
          </a:bodyPr>
          <a:lstStyle/>
          <a:p>
            <a:pPr algn="r">
              <a:spcAft>
                <a:spcPts val="400"/>
              </a:spcAft>
            </a:pPr>
            <a:r>
              <a:rPr sz="900" b="0">
                <a:solidFill>
                  <a:srgbClr val="5B6372"/>
                </a:solidFill>
                <a:latin typeface="Arial"/>
              </a:rPr>
              <a:t>101</a:t>
            </a:r>
          </a:p>
        </p:txBody>
      </p:sp>
    </p:spTree>
  </p:cSld>
  <p:clrMapOvr>
    <a:masterClrMapping/>
  </p:clrMapOvr>
</p:sld>
</file>

<file path=ppt/slides/slide103.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256032" cy="1417320"/>
          </a:xfrm>
          <a:prstGeom prst="rect">
            <a:avLst/>
          </a:prstGeom>
          <a:solidFill>
            <a:srgbClr val="7C3AE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777240" y="457200"/>
            <a:ext cx="10607040" cy="365760"/>
          </a:xfrm>
          <a:prstGeom prst="rect">
            <a:avLst/>
          </a:prstGeom>
          <a:noFill/>
        </p:spPr>
        <p:txBody>
          <a:bodyPr wrap="square" anchor="t">
            <a:spAutoFit/>
          </a:bodyPr>
          <a:lstStyle/>
          <a:p>
            <a:pPr algn="l">
              <a:spcAft>
                <a:spcPts val="400"/>
              </a:spcAft>
            </a:pPr>
            <a:r>
              <a:rPr sz="1400" b="1">
                <a:solidFill>
                  <a:srgbClr val="7C3AED"/>
                </a:solidFill>
                <a:latin typeface="Arial"/>
              </a:rPr>
              <a:t>DERIVATION</a:t>
            </a:r>
          </a:p>
        </p:txBody>
      </p:sp>
      <p:sp>
        <p:nvSpPr>
          <p:cNvPr id="5" name="TextBox 4"/>
          <p:cNvSpPr txBox="1"/>
          <p:nvPr/>
        </p:nvSpPr>
        <p:spPr>
          <a:xfrm>
            <a:off x="777240" y="822960"/>
            <a:ext cx="10881360" cy="822960"/>
          </a:xfrm>
          <a:prstGeom prst="rect">
            <a:avLst/>
          </a:prstGeom>
          <a:noFill/>
        </p:spPr>
        <p:txBody>
          <a:bodyPr wrap="square" anchor="t">
            <a:spAutoFit/>
          </a:bodyPr>
          <a:lstStyle/>
          <a:p>
            <a:pPr algn="l">
              <a:spcAft>
                <a:spcPts val="400"/>
              </a:spcAft>
            </a:pPr>
            <a:r>
              <a:rPr sz="2900" b="1">
                <a:solidFill>
                  <a:srgbClr val="161B26"/>
                </a:solidFill>
                <a:latin typeface="Arial"/>
              </a:rPr>
              <a:t>Proof — BB84 Security and Eavesdropper Detection</a:t>
            </a:r>
          </a:p>
        </p:txBody>
      </p:sp>
      <p:sp>
        <p:nvSpPr>
          <p:cNvPr id="6" name="Rectangle 5"/>
          <p:cNvSpPr/>
          <p:nvPr/>
        </p:nvSpPr>
        <p:spPr>
          <a:xfrm>
            <a:off x="777240" y="1554480"/>
            <a:ext cx="10634472" cy="18288"/>
          </a:xfrm>
          <a:prstGeom prst="rect">
            <a:avLst/>
          </a:prstGeom>
          <a:solidFill>
            <a:srgbClr val="E2E8F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Rectangle 6"/>
          <p:cNvSpPr/>
          <p:nvPr/>
        </p:nvSpPr>
        <p:spPr>
          <a:xfrm>
            <a:off x="777240" y="1783080"/>
            <a:ext cx="10634472" cy="1371600"/>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Rectangle 7"/>
          <p:cNvSpPr/>
          <p:nvPr/>
        </p:nvSpPr>
        <p:spPr>
          <a:xfrm>
            <a:off x="777240" y="1783080"/>
            <a:ext cx="100584" cy="1371600"/>
          </a:xfrm>
          <a:prstGeom prst="rect">
            <a:avLst/>
          </a:prstGeom>
          <a:solidFill>
            <a:srgbClr val="7C3AE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TextBox 8"/>
          <p:cNvSpPr txBox="1"/>
          <p:nvPr/>
        </p:nvSpPr>
        <p:spPr>
          <a:xfrm>
            <a:off x="1143000" y="1938528"/>
            <a:ext cx="10058400" cy="365760"/>
          </a:xfrm>
          <a:prstGeom prst="rect">
            <a:avLst/>
          </a:prstGeom>
          <a:noFill/>
        </p:spPr>
        <p:txBody>
          <a:bodyPr wrap="square" anchor="t">
            <a:spAutoFit/>
          </a:bodyPr>
          <a:lstStyle/>
          <a:p>
            <a:pPr algn="l">
              <a:spcAft>
                <a:spcPts val="400"/>
              </a:spcAft>
            </a:pPr>
            <a:r>
              <a:rPr sz="1200" b="1">
                <a:solidFill>
                  <a:srgbClr val="7C3AED"/>
                </a:solidFill>
                <a:latin typeface="Arial"/>
              </a:rPr>
              <a:t>CLAIM</a:t>
            </a:r>
          </a:p>
        </p:txBody>
      </p:sp>
      <p:sp>
        <p:nvSpPr>
          <p:cNvPr id="10" name="TextBox 9"/>
          <p:cNvSpPr txBox="1"/>
          <p:nvPr/>
        </p:nvSpPr>
        <p:spPr>
          <a:xfrm>
            <a:off x="1143000" y="2304288"/>
            <a:ext cx="10058400" cy="777240"/>
          </a:xfrm>
          <a:prstGeom prst="rect">
            <a:avLst/>
          </a:prstGeom>
          <a:noFill/>
        </p:spPr>
        <p:txBody>
          <a:bodyPr wrap="square" anchor="t">
            <a:spAutoFit/>
          </a:bodyPr>
          <a:lstStyle/>
          <a:p>
            <a:pPr algn="l">
              <a:spcAft>
                <a:spcPts val="400"/>
              </a:spcAft>
            </a:pPr>
            <a:r>
              <a:rPr sz="1550" b="1">
                <a:solidFill>
                  <a:srgbClr val="161B26"/>
                </a:solidFill>
                <a:latin typeface="Arial"/>
              </a:rPr>
              <a:t>An intercept-resend eavesdropper introduces a 25% error rate in the sifted key and is therefore detected with near-certainty.</a:t>
            </a:r>
          </a:p>
        </p:txBody>
      </p:sp>
      <p:sp>
        <p:nvSpPr>
          <p:cNvPr id="11" name="TextBox 10"/>
          <p:cNvSpPr txBox="1"/>
          <p:nvPr/>
        </p:nvSpPr>
        <p:spPr>
          <a:xfrm>
            <a:off x="777240" y="3364992"/>
            <a:ext cx="10607040" cy="365760"/>
          </a:xfrm>
          <a:prstGeom prst="rect">
            <a:avLst/>
          </a:prstGeom>
          <a:noFill/>
        </p:spPr>
        <p:txBody>
          <a:bodyPr wrap="square" anchor="t">
            <a:spAutoFit/>
          </a:bodyPr>
          <a:lstStyle/>
          <a:p>
            <a:pPr algn="l">
              <a:spcAft>
                <a:spcPts val="400"/>
              </a:spcAft>
            </a:pPr>
            <a:r>
              <a:rPr sz="1200" b="1">
                <a:solidFill>
                  <a:srgbClr val="1F6FEB"/>
                </a:solidFill>
                <a:latin typeface="Arial"/>
              </a:rPr>
              <a:t>GIVEN</a:t>
            </a:r>
          </a:p>
        </p:txBody>
      </p:sp>
      <p:sp>
        <p:nvSpPr>
          <p:cNvPr id="12" name="Rectangle 11"/>
          <p:cNvSpPr/>
          <p:nvPr/>
        </p:nvSpPr>
        <p:spPr>
          <a:xfrm>
            <a:off x="777240" y="3730752"/>
            <a:ext cx="10634472" cy="555498"/>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 name="Rectangle 12"/>
          <p:cNvSpPr/>
          <p:nvPr/>
        </p:nvSpPr>
        <p:spPr>
          <a:xfrm>
            <a:off x="777240" y="3730752"/>
            <a:ext cx="82296" cy="555498"/>
          </a:xfrm>
          <a:prstGeom prst="rect">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 name="TextBox 13"/>
          <p:cNvSpPr txBox="1"/>
          <p:nvPr/>
        </p:nvSpPr>
        <p:spPr>
          <a:xfrm>
            <a:off x="1097280" y="3730752"/>
            <a:ext cx="10149840" cy="555498"/>
          </a:xfrm>
          <a:prstGeom prst="rect">
            <a:avLst/>
          </a:prstGeom>
          <a:noFill/>
        </p:spPr>
        <p:txBody>
          <a:bodyPr wrap="square" anchor="ctr">
            <a:spAutoFit/>
          </a:bodyPr>
          <a:lstStyle/>
          <a:p>
            <a:pPr algn="l">
              <a:spcAft>
                <a:spcPts val="400"/>
              </a:spcAft>
            </a:pPr>
            <a:r>
              <a:rPr sz="1300" b="0">
                <a:solidFill>
                  <a:srgbClr val="161B26"/>
                </a:solidFill>
                <a:latin typeface="Arial"/>
              </a:rPr>
              <a:t>Two conjugate bases:  Z = {|0&gt;, |1&gt;}  and  X = {|+&gt;, |-&gt;}.</a:t>
            </a:r>
          </a:p>
        </p:txBody>
      </p:sp>
      <p:sp>
        <p:nvSpPr>
          <p:cNvPr id="15" name="Rectangle 14"/>
          <p:cNvSpPr/>
          <p:nvPr/>
        </p:nvSpPr>
        <p:spPr>
          <a:xfrm>
            <a:off x="777240" y="4414266"/>
            <a:ext cx="10634472" cy="555498"/>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6" name="Rectangle 15"/>
          <p:cNvSpPr/>
          <p:nvPr/>
        </p:nvSpPr>
        <p:spPr>
          <a:xfrm>
            <a:off x="777240" y="4414266"/>
            <a:ext cx="82296" cy="555498"/>
          </a:xfrm>
          <a:prstGeom prst="rect">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7" name="TextBox 16"/>
          <p:cNvSpPr txBox="1"/>
          <p:nvPr/>
        </p:nvSpPr>
        <p:spPr>
          <a:xfrm>
            <a:off x="1097280" y="4414266"/>
            <a:ext cx="10149840" cy="555498"/>
          </a:xfrm>
          <a:prstGeom prst="rect">
            <a:avLst/>
          </a:prstGeom>
          <a:noFill/>
        </p:spPr>
        <p:txBody>
          <a:bodyPr wrap="square" anchor="ctr">
            <a:spAutoFit/>
          </a:bodyPr>
          <a:lstStyle/>
          <a:p>
            <a:pPr algn="l">
              <a:spcAft>
                <a:spcPts val="400"/>
              </a:spcAft>
            </a:pPr>
            <a:r>
              <a:rPr sz="1300" b="0">
                <a:solidFill>
                  <a:srgbClr val="161B26"/>
                </a:solidFill>
                <a:latin typeface="Arial"/>
              </a:rPr>
              <a:t>Encoding:  bit 0 -&gt; |0&gt; or |+&gt; ;  bit 1 -&gt; |1&gt; or |-&gt;  (basis chosen at random).</a:t>
            </a:r>
          </a:p>
        </p:txBody>
      </p:sp>
      <p:sp>
        <p:nvSpPr>
          <p:cNvPr id="18" name="Rectangle 17"/>
          <p:cNvSpPr/>
          <p:nvPr/>
        </p:nvSpPr>
        <p:spPr>
          <a:xfrm>
            <a:off x="777240" y="5097780"/>
            <a:ext cx="10634472" cy="555498"/>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9" name="Rectangle 18"/>
          <p:cNvSpPr/>
          <p:nvPr/>
        </p:nvSpPr>
        <p:spPr>
          <a:xfrm>
            <a:off x="777240" y="5097780"/>
            <a:ext cx="82296" cy="555498"/>
          </a:xfrm>
          <a:prstGeom prst="rect">
            <a:avLst/>
          </a:prstGeom>
          <a:solidFill>
            <a:srgbClr val="7C3AE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0" name="TextBox 19"/>
          <p:cNvSpPr txBox="1"/>
          <p:nvPr/>
        </p:nvSpPr>
        <p:spPr>
          <a:xfrm>
            <a:off x="1097280" y="5097780"/>
            <a:ext cx="10149840" cy="555498"/>
          </a:xfrm>
          <a:prstGeom prst="rect">
            <a:avLst/>
          </a:prstGeom>
          <a:noFill/>
        </p:spPr>
        <p:txBody>
          <a:bodyPr wrap="square" anchor="ctr">
            <a:spAutoFit/>
          </a:bodyPr>
          <a:lstStyle/>
          <a:p>
            <a:pPr algn="l">
              <a:spcAft>
                <a:spcPts val="400"/>
              </a:spcAft>
            </a:pPr>
            <a:r>
              <a:rPr sz="1300" b="0">
                <a:solidFill>
                  <a:srgbClr val="161B26"/>
                </a:solidFill>
                <a:latin typeface="Arial"/>
              </a:rPr>
              <a:t>The bases are UNBIASED: |&lt;0|+&gt;|² = |&lt;0|-&gt;|² = |&lt;1|+&gt;|² = |&lt;1|-&gt;|² = 1/2.</a:t>
            </a:r>
          </a:p>
        </p:txBody>
      </p:sp>
      <p:sp>
        <p:nvSpPr>
          <p:cNvPr id="21" name="Rectangle 20"/>
          <p:cNvSpPr/>
          <p:nvPr/>
        </p:nvSpPr>
        <p:spPr>
          <a:xfrm>
            <a:off x="777240" y="5781294"/>
            <a:ext cx="10634472" cy="555498"/>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2" name="Rectangle 21"/>
          <p:cNvSpPr/>
          <p:nvPr/>
        </p:nvSpPr>
        <p:spPr>
          <a:xfrm>
            <a:off x="777240" y="5781294"/>
            <a:ext cx="82296" cy="555498"/>
          </a:xfrm>
          <a:prstGeom prst="rect">
            <a:avLst/>
          </a:prstGeom>
          <a:solidFill>
            <a:srgbClr val="F59E0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3" name="TextBox 22"/>
          <p:cNvSpPr txBox="1"/>
          <p:nvPr/>
        </p:nvSpPr>
        <p:spPr>
          <a:xfrm>
            <a:off x="1097280" y="5781294"/>
            <a:ext cx="10149840" cy="555498"/>
          </a:xfrm>
          <a:prstGeom prst="rect">
            <a:avLst/>
          </a:prstGeom>
          <a:noFill/>
        </p:spPr>
        <p:txBody>
          <a:bodyPr wrap="square" anchor="ctr">
            <a:spAutoFit/>
          </a:bodyPr>
          <a:lstStyle/>
          <a:p>
            <a:pPr algn="l">
              <a:spcAft>
                <a:spcPts val="400"/>
              </a:spcAft>
            </a:pPr>
            <a:r>
              <a:rPr sz="1300" b="0">
                <a:solidFill>
                  <a:srgbClr val="161B26"/>
                </a:solidFill>
                <a:latin typeface="Arial"/>
              </a:rPr>
              <a:t>Alice and Bob each choose their basis independently and uniformly at random.</a:t>
            </a:r>
          </a:p>
        </p:txBody>
      </p:sp>
      <p:sp>
        <p:nvSpPr>
          <p:cNvPr id="24" name="TextBox 23"/>
          <p:cNvSpPr txBox="1"/>
          <p:nvPr/>
        </p:nvSpPr>
        <p:spPr>
          <a:xfrm>
            <a:off x="365760" y="6446520"/>
            <a:ext cx="6858000" cy="320040"/>
          </a:xfrm>
          <a:prstGeom prst="rect">
            <a:avLst/>
          </a:prstGeom>
          <a:noFill/>
        </p:spPr>
        <p:txBody>
          <a:bodyPr wrap="square" anchor="t">
            <a:spAutoFit/>
          </a:bodyPr>
          <a:lstStyle/>
          <a:p>
            <a:pPr algn="l">
              <a:spcAft>
                <a:spcPts val="400"/>
              </a:spcAft>
            </a:pPr>
            <a:r>
              <a:rPr sz="900" b="0">
                <a:solidFill>
                  <a:srgbClr val="5B6372"/>
                </a:solidFill>
                <a:latin typeface="Arial"/>
              </a:rPr>
              <a:t>Securing the Future with Quantum Computing and Cryptography  ·  TGS-2024043419</a:t>
            </a:r>
          </a:p>
        </p:txBody>
      </p:sp>
      <p:sp>
        <p:nvSpPr>
          <p:cNvPr id="25" name="TextBox 24"/>
          <p:cNvSpPr txBox="1"/>
          <p:nvPr/>
        </p:nvSpPr>
        <p:spPr>
          <a:xfrm>
            <a:off x="4572000" y="6446520"/>
            <a:ext cx="3017520" cy="320040"/>
          </a:xfrm>
          <a:prstGeom prst="rect">
            <a:avLst/>
          </a:prstGeom>
          <a:noFill/>
        </p:spPr>
        <p:txBody>
          <a:bodyPr wrap="square" anchor="t">
            <a:spAutoFit/>
          </a:bodyPr>
          <a:lstStyle/>
          <a:p>
            <a:pPr algn="ctr">
              <a:spcAft>
                <a:spcPts val="400"/>
              </a:spcAft>
            </a:pPr>
            <a:r>
              <a:rPr sz="900" b="0">
                <a:solidFill>
                  <a:srgbClr val="5B6372"/>
                </a:solidFill>
                <a:latin typeface="Arial"/>
              </a:rPr>
              <a:t>© 2026 Tertiary Infotech Academy Pte Ltd</a:t>
            </a:r>
          </a:p>
        </p:txBody>
      </p:sp>
      <p:sp>
        <p:nvSpPr>
          <p:cNvPr id="26" name="TextBox 25"/>
          <p:cNvSpPr txBox="1"/>
          <p:nvPr/>
        </p:nvSpPr>
        <p:spPr>
          <a:xfrm>
            <a:off x="11338560" y="6446520"/>
            <a:ext cx="548640" cy="320040"/>
          </a:xfrm>
          <a:prstGeom prst="rect">
            <a:avLst/>
          </a:prstGeom>
          <a:noFill/>
        </p:spPr>
        <p:txBody>
          <a:bodyPr wrap="square" anchor="t">
            <a:spAutoFit/>
          </a:bodyPr>
          <a:lstStyle/>
          <a:p>
            <a:pPr algn="r">
              <a:spcAft>
                <a:spcPts val="400"/>
              </a:spcAft>
            </a:pPr>
            <a:r>
              <a:rPr sz="900" b="0">
                <a:solidFill>
                  <a:srgbClr val="5B6372"/>
                </a:solidFill>
                <a:latin typeface="Arial"/>
              </a:rPr>
              <a:t>102</a:t>
            </a:r>
          </a:p>
        </p:txBody>
      </p:sp>
    </p:spTree>
  </p:cSld>
  <p:clrMapOvr>
    <a:masterClrMapping/>
  </p:clrMapOvr>
</p:sld>
</file>

<file path=ppt/slides/slide104.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256032" cy="1417320"/>
          </a:xfrm>
          <a:prstGeom prst="rect">
            <a:avLst/>
          </a:prstGeom>
          <a:solidFill>
            <a:srgbClr val="7C3AE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777240" y="457200"/>
            <a:ext cx="10607040" cy="365760"/>
          </a:xfrm>
          <a:prstGeom prst="rect">
            <a:avLst/>
          </a:prstGeom>
          <a:noFill/>
        </p:spPr>
        <p:txBody>
          <a:bodyPr wrap="square" anchor="t">
            <a:spAutoFit/>
          </a:bodyPr>
          <a:lstStyle/>
          <a:p>
            <a:pPr algn="l">
              <a:spcAft>
                <a:spcPts val="400"/>
              </a:spcAft>
            </a:pPr>
            <a:r>
              <a:rPr sz="1400" b="1">
                <a:solidFill>
                  <a:srgbClr val="7C3AED"/>
                </a:solidFill>
                <a:latin typeface="Arial"/>
              </a:rPr>
              <a:t>BB84 SECURITY AND EAVESDROPPER DETECTION  ·  STEP 1 OF 6</a:t>
            </a:r>
          </a:p>
        </p:txBody>
      </p:sp>
      <p:sp>
        <p:nvSpPr>
          <p:cNvPr id="5" name="TextBox 4"/>
          <p:cNvSpPr txBox="1"/>
          <p:nvPr/>
        </p:nvSpPr>
        <p:spPr>
          <a:xfrm>
            <a:off x="777240" y="822960"/>
            <a:ext cx="10881360" cy="822960"/>
          </a:xfrm>
          <a:prstGeom prst="rect">
            <a:avLst/>
          </a:prstGeom>
          <a:noFill/>
        </p:spPr>
        <p:txBody>
          <a:bodyPr wrap="square" anchor="t">
            <a:spAutoFit/>
          </a:bodyPr>
          <a:lstStyle/>
          <a:p>
            <a:pPr algn="l">
              <a:spcAft>
                <a:spcPts val="400"/>
              </a:spcAft>
            </a:pPr>
            <a:r>
              <a:rPr sz="2900" b="1">
                <a:solidFill>
                  <a:srgbClr val="161B26"/>
                </a:solidFill>
                <a:latin typeface="Arial"/>
              </a:rPr>
              <a:t>Step 1 — Sifting (no eavesdropper)</a:t>
            </a:r>
          </a:p>
        </p:txBody>
      </p:sp>
      <p:sp>
        <p:nvSpPr>
          <p:cNvPr id="6" name="Rectangle 5"/>
          <p:cNvSpPr/>
          <p:nvPr/>
        </p:nvSpPr>
        <p:spPr>
          <a:xfrm>
            <a:off x="777240" y="1554480"/>
            <a:ext cx="10634472" cy="18288"/>
          </a:xfrm>
          <a:prstGeom prst="rect">
            <a:avLst/>
          </a:prstGeom>
          <a:solidFill>
            <a:srgbClr val="E2E8F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Rectangle 6"/>
          <p:cNvSpPr/>
          <p:nvPr/>
        </p:nvSpPr>
        <p:spPr>
          <a:xfrm>
            <a:off x="777240" y="1810512"/>
            <a:ext cx="10634472" cy="2633472"/>
          </a:xfrm>
          <a:prstGeom prst="rect">
            <a:avLst/>
          </a:prstGeom>
          <a:solidFill>
            <a:srgbClr val="0B122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TextBox 7"/>
          <p:cNvSpPr txBox="1"/>
          <p:nvPr/>
        </p:nvSpPr>
        <p:spPr>
          <a:xfrm>
            <a:off x="1097280" y="1956816"/>
            <a:ext cx="9994392" cy="2340864"/>
          </a:xfrm>
          <a:prstGeom prst="rect">
            <a:avLst/>
          </a:prstGeom>
          <a:noFill/>
        </p:spPr>
        <p:txBody>
          <a:bodyPr wrap="square" anchor="t">
            <a:spAutoFit/>
          </a:bodyPr>
          <a:lstStyle/>
          <a:p>
            <a:pPr algn="l">
              <a:spcAft>
                <a:spcPts val="300"/>
              </a:spcAft>
            </a:pPr>
            <a:r>
              <a:rPr sz="1550" b="0">
                <a:solidFill>
                  <a:srgbClr val="9CDCFE"/>
                </a:solidFill>
                <a:latin typeface="Arial"/>
              </a:rPr>
              <a:t>Alice sends n qubits. Bob measures each in a random basis.</a:t>
            </a:r>
          </a:p>
          <a:p>
            <a:pPr algn="l">
              <a:spcAft>
                <a:spcPts val="300"/>
              </a:spcAft>
            </a:pPr>
            <a:r>
              <a:rPr sz="1550" b="0">
                <a:solidFill>
                  <a:srgbClr val="0B1220"/>
                </a:solidFill>
                <a:latin typeface="Arial"/>
              </a:rPr>
              <a:t> </a:t>
            </a:r>
          </a:p>
          <a:p>
            <a:pPr algn="l">
              <a:spcAft>
                <a:spcPts val="300"/>
              </a:spcAft>
            </a:pPr>
            <a:r>
              <a:rPr sz="1550" b="0">
                <a:solidFill>
                  <a:srgbClr val="9CDCFE"/>
                </a:solidFill>
                <a:latin typeface="Arial"/>
              </a:rPr>
              <a:t>P(bases match) = 1/2, so about n/2 qubits survive sifting.</a:t>
            </a:r>
          </a:p>
          <a:p>
            <a:pPr algn="l">
              <a:spcAft>
                <a:spcPts val="300"/>
              </a:spcAft>
            </a:pPr>
            <a:r>
              <a:rPr sz="1550" b="0">
                <a:solidFill>
                  <a:srgbClr val="0B1220"/>
                </a:solidFill>
                <a:latin typeface="Arial"/>
              </a:rPr>
              <a:t> </a:t>
            </a:r>
          </a:p>
          <a:p>
            <a:pPr algn="l">
              <a:spcAft>
                <a:spcPts val="300"/>
              </a:spcAft>
            </a:pPr>
            <a:r>
              <a:rPr sz="1550" b="0">
                <a:solidFill>
                  <a:srgbClr val="9CDCFE"/>
                </a:solidFill>
                <a:latin typeface="Arial"/>
              </a:rPr>
              <a:t>When the bases MATCH, Bob's measurement is deterministic:</a:t>
            </a:r>
          </a:p>
          <a:p>
            <a:pPr algn="l">
              <a:spcAft>
                <a:spcPts val="300"/>
              </a:spcAft>
            </a:pPr>
            <a:r>
              <a:rPr sz="1550" b="0">
                <a:solidFill>
                  <a:srgbClr val="9CDCFE"/>
                </a:solidFill>
                <a:latin typeface="Arial"/>
              </a:rPr>
              <a:t>   Alice sends |0&gt; in Z, Bob measures Z  -&gt;  gets 0 with probability 1</a:t>
            </a:r>
          </a:p>
          <a:p>
            <a:pPr algn="l">
              <a:spcAft>
                <a:spcPts val="300"/>
              </a:spcAft>
            </a:pPr>
            <a:r>
              <a:rPr sz="1550" b="0">
                <a:solidFill>
                  <a:srgbClr val="9CDCFE"/>
                </a:solidFill>
                <a:latin typeface="Arial"/>
              </a:rPr>
              <a:t>So the sifted key agrees perfectly (up to channel noise).</a:t>
            </a:r>
          </a:p>
        </p:txBody>
      </p:sp>
      <p:sp>
        <p:nvSpPr>
          <p:cNvPr id="9" name="Rectangle 8"/>
          <p:cNvSpPr/>
          <p:nvPr/>
        </p:nvSpPr>
        <p:spPr>
          <a:xfrm>
            <a:off x="777240" y="4645152"/>
            <a:ext cx="10634472" cy="1408176"/>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Rectangle 9"/>
          <p:cNvSpPr/>
          <p:nvPr/>
        </p:nvSpPr>
        <p:spPr>
          <a:xfrm>
            <a:off x="777240" y="4645152"/>
            <a:ext cx="82296" cy="1408176"/>
          </a:xfrm>
          <a:prstGeom prst="rect">
            <a:avLst/>
          </a:prstGeom>
          <a:solidFill>
            <a:srgbClr val="F59E0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 name="TextBox 10"/>
          <p:cNvSpPr txBox="1"/>
          <p:nvPr/>
        </p:nvSpPr>
        <p:spPr>
          <a:xfrm>
            <a:off x="1097280" y="4645152"/>
            <a:ext cx="10149840" cy="1408176"/>
          </a:xfrm>
          <a:prstGeom prst="rect">
            <a:avLst/>
          </a:prstGeom>
          <a:noFill/>
        </p:spPr>
        <p:txBody>
          <a:bodyPr wrap="square" anchor="ctr">
            <a:spAutoFit/>
          </a:bodyPr>
          <a:lstStyle/>
          <a:p>
            <a:pPr algn="l">
              <a:spcAft>
                <a:spcPts val="400"/>
              </a:spcAft>
            </a:pPr>
            <a:r>
              <a:rPr sz="1150" b="1">
                <a:solidFill>
                  <a:srgbClr val="F59E0B"/>
                </a:solidFill>
                <a:latin typeface="Arial"/>
              </a:rPr>
              <a:t>WHY THIS STEP:  </a:t>
            </a:r>
            <a:r>
              <a:rPr sz="1300" b="0">
                <a:solidFill>
                  <a:srgbClr val="161B26"/>
                </a:solidFill>
                <a:latin typeface="Arial"/>
              </a:rPr>
              <a:t>The bits where the bases differed are publicly discarded — they carry no key.</a:t>
            </a:r>
          </a:p>
        </p:txBody>
      </p:sp>
      <p:sp>
        <p:nvSpPr>
          <p:cNvPr id="12" name="TextBox 11"/>
          <p:cNvSpPr txBox="1"/>
          <p:nvPr/>
        </p:nvSpPr>
        <p:spPr>
          <a:xfrm>
            <a:off x="365760" y="6446520"/>
            <a:ext cx="6858000" cy="320040"/>
          </a:xfrm>
          <a:prstGeom prst="rect">
            <a:avLst/>
          </a:prstGeom>
          <a:noFill/>
        </p:spPr>
        <p:txBody>
          <a:bodyPr wrap="square" anchor="t">
            <a:spAutoFit/>
          </a:bodyPr>
          <a:lstStyle/>
          <a:p>
            <a:pPr algn="l">
              <a:spcAft>
                <a:spcPts val="400"/>
              </a:spcAft>
            </a:pPr>
            <a:r>
              <a:rPr sz="900" b="0">
                <a:solidFill>
                  <a:srgbClr val="5B6372"/>
                </a:solidFill>
                <a:latin typeface="Arial"/>
              </a:rPr>
              <a:t>Securing the Future with Quantum Computing and Cryptography  ·  TGS-2024043419</a:t>
            </a:r>
          </a:p>
        </p:txBody>
      </p:sp>
      <p:sp>
        <p:nvSpPr>
          <p:cNvPr id="13" name="TextBox 12"/>
          <p:cNvSpPr txBox="1"/>
          <p:nvPr/>
        </p:nvSpPr>
        <p:spPr>
          <a:xfrm>
            <a:off x="4572000" y="6446520"/>
            <a:ext cx="3017520" cy="320040"/>
          </a:xfrm>
          <a:prstGeom prst="rect">
            <a:avLst/>
          </a:prstGeom>
          <a:noFill/>
        </p:spPr>
        <p:txBody>
          <a:bodyPr wrap="square" anchor="t">
            <a:spAutoFit/>
          </a:bodyPr>
          <a:lstStyle/>
          <a:p>
            <a:pPr algn="ctr">
              <a:spcAft>
                <a:spcPts val="400"/>
              </a:spcAft>
            </a:pPr>
            <a:r>
              <a:rPr sz="900" b="0">
                <a:solidFill>
                  <a:srgbClr val="5B6372"/>
                </a:solidFill>
                <a:latin typeface="Arial"/>
              </a:rPr>
              <a:t>© 2026 Tertiary Infotech Academy Pte Ltd</a:t>
            </a:r>
          </a:p>
        </p:txBody>
      </p:sp>
      <p:sp>
        <p:nvSpPr>
          <p:cNvPr id="14" name="TextBox 13"/>
          <p:cNvSpPr txBox="1"/>
          <p:nvPr/>
        </p:nvSpPr>
        <p:spPr>
          <a:xfrm>
            <a:off x="11338560" y="6446520"/>
            <a:ext cx="548640" cy="320040"/>
          </a:xfrm>
          <a:prstGeom prst="rect">
            <a:avLst/>
          </a:prstGeom>
          <a:noFill/>
        </p:spPr>
        <p:txBody>
          <a:bodyPr wrap="square" anchor="t">
            <a:spAutoFit/>
          </a:bodyPr>
          <a:lstStyle/>
          <a:p>
            <a:pPr algn="r">
              <a:spcAft>
                <a:spcPts val="400"/>
              </a:spcAft>
            </a:pPr>
            <a:r>
              <a:rPr sz="900" b="0">
                <a:solidFill>
                  <a:srgbClr val="5B6372"/>
                </a:solidFill>
                <a:latin typeface="Arial"/>
              </a:rPr>
              <a:t>103</a:t>
            </a:r>
          </a:p>
        </p:txBody>
      </p:sp>
    </p:spTree>
  </p:cSld>
  <p:clrMapOvr>
    <a:masterClrMapping/>
  </p:clrMapOvr>
</p:sld>
</file>

<file path=ppt/slides/slide105.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256032" cy="1417320"/>
          </a:xfrm>
          <a:prstGeom prst="rect">
            <a:avLst/>
          </a:prstGeom>
          <a:solidFill>
            <a:srgbClr val="7C3AE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777240" y="457200"/>
            <a:ext cx="10607040" cy="365760"/>
          </a:xfrm>
          <a:prstGeom prst="rect">
            <a:avLst/>
          </a:prstGeom>
          <a:noFill/>
        </p:spPr>
        <p:txBody>
          <a:bodyPr wrap="square" anchor="t">
            <a:spAutoFit/>
          </a:bodyPr>
          <a:lstStyle/>
          <a:p>
            <a:pPr algn="l">
              <a:spcAft>
                <a:spcPts val="400"/>
              </a:spcAft>
            </a:pPr>
            <a:r>
              <a:rPr sz="1400" b="1">
                <a:solidFill>
                  <a:srgbClr val="7C3AED"/>
                </a:solidFill>
                <a:latin typeface="Arial"/>
              </a:rPr>
              <a:t>BB84 SECURITY AND EAVESDROPPER DETECTION  ·  STEP 2 OF 6</a:t>
            </a:r>
          </a:p>
        </p:txBody>
      </p:sp>
      <p:sp>
        <p:nvSpPr>
          <p:cNvPr id="5" name="TextBox 4"/>
          <p:cNvSpPr txBox="1"/>
          <p:nvPr/>
        </p:nvSpPr>
        <p:spPr>
          <a:xfrm>
            <a:off x="777240" y="822960"/>
            <a:ext cx="10881360" cy="822960"/>
          </a:xfrm>
          <a:prstGeom prst="rect">
            <a:avLst/>
          </a:prstGeom>
          <a:noFill/>
        </p:spPr>
        <p:txBody>
          <a:bodyPr wrap="square" anchor="t">
            <a:spAutoFit/>
          </a:bodyPr>
          <a:lstStyle/>
          <a:p>
            <a:pPr algn="l">
              <a:spcAft>
                <a:spcPts val="400"/>
              </a:spcAft>
            </a:pPr>
            <a:r>
              <a:rPr sz="2900" b="1">
                <a:solidFill>
                  <a:srgbClr val="161B26"/>
                </a:solidFill>
                <a:latin typeface="Arial"/>
              </a:rPr>
              <a:t>Step 2 — Eve intercepts and resends</a:t>
            </a:r>
          </a:p>
        </p:txBody>
      </p:sp>
      <p:sp>
        <p:nvSpPr>
          <p:cNvPr id="6" name="Rectangle 5"/>
          <p:cNvSpPr/>
          <p:nvPr/>
        </p:nvSpPr>
        <p:spPr>
          <a:xfrm>
            <a:off x="777240" y="1554480"/>
            <a:ext cx="10634472" cy="18288"/>
          </a:xfrm>
          <a:prstGeom prst="rect">
            <a:avLst/>
          </a:prstGeom>
          <a:solidFill>
            <a:srgbClr val="E2E8F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Rectangle 6"/>
          <p:cNvSpPr/>
          <p:nvPr/>
        </p:nvSpPr>
        <p:spPr>
          <a:xfrm>
            <a:off x="777240" y="1810512"/>
            <a:ext cx="10634472" cy="2322576"/>
          </a:xfrm>
          <a:prstGeom prst="rect">
            <a:avLst/>
          </a:prstGeom>
          <a:solidFill>
            <a:srgbClr val="0B122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TextBox 7"/>
          <p:cNvSpPr txBox="1"/>
          <p:nvPr/>
        </p:nvSpPr>
        <p:spPr>
          <a:xfrm>
            <a:off x="1097280" y="1956816"/>
            <a:ext cx="9994392" cy="2029968"/>
          </a:xfrm>
          <a:prstGeom prst="rect">
            <a:avLst/>
          </a:prstGeom>
          <a:noFill/>
        </p:spPr>
        <p:txBody>
          <a:bodyPr wrap="square" anchor="t">
            <a:spAutoFit/>
          </a:bodyPr>
          <a:lstStyle/>
          <a:p>
            <a:pPr algn="l">
              <a:spcAft>
                <a:spcPts val="300"/>
              </a:spcAft>
            </a:pPr>
            <a:r>
              <a:rPr sz="1550" b="0">
                <a:solidFill>
                  <a:srgbClr val="9CDCFE"/>
                </a:solidFill>
                <a:latin typeface="Arial"/>
              </a:rPr>
              <a:t>Eve does not know Alice's basis, so she guesses:</a:t>
            </a:r>
          </a:p>
          <a:p>
            <a:pPr algn="l">
              <a:spcAft>
                <a:spcPts val="300"/>
              </a:spcAft>
            </a:pPr>
            <a:r>
              <a:rPr sz="1550" b="0">
                <a:solidFill>
                  <a:srgbClr val="9CDCFE"/>
                </a:solidFill>
                <a:latin typeface="Arial"/>
              </a:rPr>
              <a:t>   P(Eve picks the right basis) = 1/2</a:t>
            </a:r>
          </a:p>
          <a:p>
            <a:pPr algn="l">
              <a:spcAft>
                <a:spcPts val="300"/>
              </a:spcAft>
            </a:pPr>
            <a:r>
              <a:rPr sz="1550" b="0">
                <a:solidFill>
                  <a:srgbClr val="0B1220"/>
                </a:solidFill>
                <a:latin typeface="Arial"/>
              </a:rPr>
              <a:t> </a:t>
            </a:r>
          </a:p>
          <a:p>
            <a:pPr algn="l">
              <a:spcAft>
                <a:spcPts val="300"/>
              </a:spcAft>
            </a:pPr>
            <a:r>
              <a:rPr sz="1550" b="0">
                <a:solidFill>
                  <a:srgbClr val="9CDCFE"/>
                </a:solidFill>
                <a:latin typeface="Arial"/>
              </a:rPr>
              <a:t>CASE 1 — Eve guesses RIGHT (prob 1/2):</a:t>
            </a:r>
          </a:p>
          <a:p>
            <a:pPr algn="l">
              <a:spcAft>
                <a:spcPts val="300"/>
              </a:spcAft>
            </a:pPr>
            <a:r>
              <a:rPr sz="1550" b="0">
                <a:solidFill>
                  <a:srgbClr val="9CDCFE"/>
                </a:solidFill>
                <a:latin typeface="Arial"/>
              </a:rPr>
              <a:t>   She measures correctly, resends the same state.</a:t>
            </a:r>
          </a:p>
          <a:p>
            <a:pPr algn="l">
              <a:spcAft>
                <a:spcPts val="300"/>
              </a:spcAft>
            </a:pPr>
            <a:r>
              <a:rPr sz="1550" b="0">
                <a:solidFill>
                  <a:srgbClr val="9CDCFE"/>
                </a:solidFill>
                <a:latin typeface="Arial"/>
              </a:rPr>
              <a:t>   Bob (same basis as Alice) gets the right bit. NO error introduced.</a:t>
            </a:r>
          </a:p>
        </p:txBody>
      </p:sp>
      <p:sp>
        <p:nvSpPr>
          <p:cNvPr id="9" name="Rectangle 8"/>
          <p:cNvSpPr/>
          <p:nvPr/>
        </p:nvSpPr>
        <p:spPr>
          <a:xfrm>
            <a:off x="777240" y="4334256"/>
            <a:ext cx="10634472" cy="1719072"/>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Rectangle 9"/>
          <p:cNvSpPr/>
          <p:nvPr/>
        </p:nvSpPr>
        <p:spPr>
          <a:xfrm>
            <a:off x="777240" y="4334256"/>
            <a:ext cx="82296" cy="1719072"/>
          </a:xfrm>
          <a:prstGeom prst="rect">
            <a:avLst/>
          </a:prstGeom>
          <a:solidFill>
            <a:srgbClr val="F59E0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 name="TextBox 10"/>
          <p:cNvSpPr txBox="1"/>
          <p:nvPr/>
        </p:nvSpPr>
        <p:spPr>
          <a:xfrm>
            <a:off x="1097280" y="4334256"/>
            <a:ext cx="10149840" cy="1719072"/>
          </a:xfrm>
          <a:prstGeom prst="rect">
            <a:avLst/>
          </a:prstGeom>
          <a:noFill/>
        </p:spPr>
        <p:txBody>
          <a:bodyPr wrap="square" anchor="ctr">
            <a:spAutoFit/>
          </a:bodyPr>
          <a:lstStyle/>
          <a:p>
            <a:pPr algn="l">
              <a:spcAft>
                <a:spcPts val="400"/>
              </a:spcAft>
            </a:pPr>
            <a:r>
              <a:rPr sz="1150" b="1">
                <a:solidFill>
                  <a:srgbClr val="F59E0B"/>
                </a:solidFill>
                <a:latin typeface="Arial"/>
              </a:rPr>
              <a:t>WHY THIS STEP:  </a:t>
            </a:r>
            <a:r>
              <a:rPr sz="1300" b="0">
                <a:solidFill>
                  <a:srgbClr val="161B26"/>
                </a:solidFill>
                <a:latin typeface="Arial"/>
              </a:rPr>
              <a:t>Half the time Eve is invisible on that qubit.</a:t>
            </a:r>
          </a:p>
        </p:txBody>
      </p:sp>
      <p:sp>
        <p:nvSpPr>
          <p:cNvPr id="12" name="TextBox 11"/>
          <p:cNvSpPr txBox="1"/>
          <p:nvPr/>
        </p:nvSpPr>
        <p:spPr>
          <a:xfrm>
            <a:off x="365760" y="6446520"/>
            <a:ext cx="6858000" cy="320040"/>
          </a:xfrm>
          <a:prstGeom prst="rect">
            <a:avLst/>
          </a:prstGeom>
          <a:noFill/>
        </p:spPr>
        <p:txBody>
          <a:bodyPr wrap="square" anchor="t">
            <a:spAutoFit/>
          </a:bodyPr>
          <a:lstStyle/>
          <a:p>
            <a:pPr algn="l">
              <a:spcAft>
                <a:spcPts val="400"/>
              </a:spcAft>
            </a:pPr>
            <a:r>
              <a:rPr sz="900" b="0">
                <a:solidFill>
                  <a:srgbClr val="5B6372"/>
                </a:solidFill>
                <a:latin typeface="Arial"/>
              </a:rPr>
              <a:t>Securing the Future with Quantum Computing and Cryptography  ·  TGS-2024043419</a:t>
            </a:r>
          </a:p>
        </p:txBody>
      </p:sp>
      <p:sp>
        <p:nvSpPr>
          <p:cNvPr id="13" name="TextBox 12"/>
          <p:cNvSpPr txBox="1"/>
          <p:nvPr/>
        </p:nvSpPr>
        <p:spPr>
          <a:xfrm>
            <a:off x="4572000" y="6446520"/>
            <a:ext cx="3017520" cy="320040"/>
          </a:xfrm>
          <a:prstGeom prst="rect">
            <a:avLst/>
          </a:prstGeom>
          <a:noFill/>
        </p:spPr>
        <p:txBody>
          <a:bodyPr wrap="square" anchor="t">
            <a:spAutoFit/>
          </a:bodyPr>
          <a:lstStyle/>
          <a:p>
            <a:pPr algn="ctr">
              <a:spcAft>
                <a:spcPts val="400"/>
              </a:spcAft>
            </a:pPr>
            <a:r>
              <a:rPr sz="900" b="0">
                <a:solidFill>
                  <a:srgbClr val="5B6372"/>
                </a:solidFill>
                <a:latin typeface="Arial"/>
              </a:rPr>
              <a:t>© 2026 Tertiary Infotech Academy Pte Ltd</a:t>
            </a:r>
          </a:p>
        </p:txBody>
      </p:sp>
      <p:sp>
        <p:nvSpPr>
          <p:cNvPr id="14" name="TextBox 13"/>
          <p:cNvSpPr txBox="1"/>
          <p:nvPr/>
        </p:nvSpPr>
        <p:spPr>
          <a:xfrm>
            <a:off x="11338560" y="6446520"/>
            <a:ext cx="548640" cy="320040"/>
          </a:xfrm>
          <a:prstGeom prst="rect">
            <a:avLst/>
          </a:prstGeom>
          <a:noFill/>
        </p:spPr>
        <p:txBody>
          <a:bodyPr wrap="square" anchor="t">
            <a:spAutoFit/>
          </a:bodyPr>
          <a:lstStyle/>
          <a:p>
            <a:pPr algn="r">
              <a:spcAft>
                <a:spcPts val="400"/>
              </a:spcAft>
            </a:pPr>
            <a:r>
              <a:rPr sz="900" b="0">
                <a:solidFill>
                  <a:srgbClr val="5B6372"/>
                </a:solidFill>
                <a:latin typeface="Arial"/>
              </a:rPr>
              <a:t>104</a:t>
            </a:r>
          </a:p>
        </p:txBody>
      </p:sp>
    </p:spTree>
  </p:cSld>
  <p:clrMapOvr>
    <a:masterClrMapping/>
  </p:clrMapOvr>
</p:sld>
</file>

<file path=ppt/slides/slide106.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256032" cy="1417320"/>
          </a:xfrm>
          <a:prstGeom prst="rect">
            <a:avLst/>
          </a:prstGeom>
          <a:solidFill>
            <a:srgbClr val="7C3AE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777240" y="457200"/>
            <a:ext cx="10607040" cy="365760"/>
          </a:xfrm>
          <a:prstGeom prst="rect">
            <a:avLst/>
          </a:prstGeom>
          <a:noFill/>
        </p:spPr>
        <p:txBody>
          <a:bodyPr wrap="square" anchor="t">
            <a:spAutoFit/>
          </a:bodyPr>
          <a:lstStyle/>
          <a:p>
            <a:pPr algn="l">
              <a:spcAft>
                <a:spcPts val="400"/>
              </a:spcAft>
            </a:pPr>
            <a:r>
              <a:rPr sz="1400" b="1">
                <a:solidFill>
                  <a:srgbClr val="7C3AED"/>
                </a:solidFill>
                <a:latin typeface="Arial"/>
              </a:rPr>
              <a:t>BB84 SECURITY AND EAVESDROPPER DETECTION  ·  STEP 3 OF 6</a:t>
            </a:r>
          </a:p>
        </p:txBody>
      </p:sp>
      <p:sp>
        <p:nvSpPr>
          <p:cNvPr id="5" name="TextBox 4"/>
          <p:cNvSpPr txBox="1"/>
          <p:nvPr/>
        </p:nvSpPr>
        <p:spPr>
          <a:xfrm>
            <a:off x="777240" y="822960"/>
            <a:ext cx="10881360" cy="822960"/>
          </a:xfrm>
          <a:prstGeom prst="rect">
            <a:avLst/>
          </a:prstGeom>
          <a:noFill/>
        </p:spPr>
        <p:txBody>
          <a:bodyPr wrap="square" anchor="t">
            <a:spAutoFit/>
          </a:bodyPr>
          <a:lstStyle/>
          <a:p>
            <a:pPr algn="l">
              <a:spcAft>
                <a:spcPts val="400"/>
              </a:spcAft>
            </a:pPr>
            <a:r>
              <a:rPr sz="2900" b="1">
                <a:solidFill>
                  <a:srgbClr val="161B26"/>
                </a:solidFill>
                <a:latin typeface="Arial"/>
              </a:rPr>
              <a:t>Step 3 — Eve guesses the WRONG basis</a:t>
            </a:r>
          </a:p>
        </p:txBody>
      </p:sp>
      <p:sp>
        <p:nvSpPr>
          <p:cNvPr id="6" name="Rectangle 5"/>
          <p:cNvSpPr/>
          <p:nvPr/>
        </p:nvSpPr>
        <p:spPr>
          <a:xfrm>
            <a:off x="777240" y="1554480"/>
            <a:ext cx="10634472" cy="18288"/>
          </a:xfrm>
          <a:prstGeom prst="rect">
            <a:avLst/>
          </a:prstGeom>
          <a:solidFill>
            <a:srgbClr val="E2E8F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Rectangle 6"/>
          <p:cNvSpPr/>
          <p:nvPr/>
        </p:nvSpPr>
        <p:spPr>
          <a:xfrm>
            <a:off x="777240" y="1810512"/>
            <a:ext cx="10634472" cy="3566160"/>
          </a:xfrm>
          <a:prstGeom prst="rect">
            <a:avLst/>
          </a:prstGeom>
          <a:solidFill>
            <a:srgbClr val="0B122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TextBox 7"/>
          <p:cNvSpPr txBox="1"/>
          <p:nvPr/>
        </p:nvSpPr>
        <p:spPr>
          <a:xfrm>
            <a:off x="1097280" y="1956816"/>
            <a:ext cx="9994392" cy="3273552"/>
          </a:xfrm>
          <a:prstGeom prst="rect">
            <a:avLst/>
          </a:prstGeom>
          <a:noFill/>
        </p:spPr>
        <p:txBody>
          <a:bodyPr wrap="square" anchor="t">
            <a:spAutoFit/>
          </a:bodyPr>
          <a:lstStyle/>
          <a:p>
            <a:pPr algn="l">
              <a:spcAft>
                <a:spcPts val="300"/>
              </a:spcAft>
            </a:pPr>
            <a:r>
              <a:rPr sz="1350" b="0">
                <a:solidFill>
                  <a:srgbClr val="9CDCFE"/>
                </a:solidFill>
                <a:latin typeface="Arial"/>
              </a:rPr>
              <a:t>CASE 2 — Eve guesses WRONG (prob 1/2):</a:t>
            </a:r>
          </a:p>
          <a:p>
            <a:pPr algn="l">
              <a:spcAft>
                <a:spcPts val="300"/>
              </a:spcAft>
            </a:pPr>
            <a:r>
              <a:rPr sz="1350" b="0">
                <a:solidFill>
                  <a:srgbClr val="0B1220"/>
                </a:solidFill>
                <a:latin typeface="Arial"/>
              </a:rPr>
              <a:t> </a:t>
            </a:r>
          </a:p>
          <a:p>
            <a:pPr algn="l">
              <a:spcAft>
                <a:spcPts val="300"/>
              </a:spcAft>
            </a:pPr>
            <a:r>
              <a:rPr sz="1350" b="0">
                <a:solidFill>
                  <a:srgbClr val="9CDCFE"/>
                </a:solidFill>
                <a:latin typeface="Arial"/>
              </a:rPr>
              <a:t>Say Alice sent |0&gt; (Z basis) but Eve measures in X.</a:t>
            </a:r>
          </a:p>
          <a:p>
            <a:pPr algn="l">
              <a:spcAft>
                <a:spcPts val="300"/>
              </a:spcAft>
            </a:pPr>
            <a:r>
              <a:rPr sz="1350" b="0">
                <a:solidFill>
                  <a:srgbClr val="9CDCFE"/>
                </a:solidFill>
                <a:latin typeface="Arial"/>
              </a:rPr>
              <a:t>   |0&gt; = (|+&gt; + |-&gt;)/√2</a:t>
            </a:r>
          </a:p>
          <a:p>
            <a:pPr algn="l">
              <a:spcAft>
                <a:spcPts val="300"/>
              </a:spcAft>
            </a:pPr>
            <a:r>
              <a:rPr sz="1350" b="0">
                <a:solidFill>
                  <a:srgbClr val="9CDCFE"/>
                </a:solidFill>
                <a:latin typeface="Arial"/>
              </a:rPr>
              <a:t>   Eve gets |+&gt; or |-&gt; with probability 1/2 each — and RESENDS that.</a:t>
            </a:r>
          </a:p>
          <a:p>
            <a:pPr algn="l">
              <a:spcAft>
                <a:spcPts val="300"/>
              </a:spcAft>
            </a:pPr>
            <a:r>
              <a:rPr sz="1350" b="0">
                <a:solidFill>
                  <a:srgbClr val="0B1220"/>
                </a:solidFill>
                <a:latin typeface="Arial"/>
              </a:rPr>
              <a:t> </a:t>
            </a:r>
          </a:p>
          <a:p>
            <a:pPr algn="l">
              <a:spcAft>
                <a:spcPts val="300"/>
              </a:spcAft>
            </a:pPr>
            <a:r>
              <a:rPr sz="1350" b="0">
                <a:solidFill>
                  <a:srgbClr val="9CDCFE"/>
                </a:solidFill>
                <a:latin typeface="Arial"/>
              </a:rPr>
              <a:t>Bob now measures in Z (matching Alice). Say Eve resent |+&gt;:</a:t>
            </a:r>
          </a:p>
          <a:p>
            <a:pPr algn="l">
              <a:spcAft>
                <a:spcPts val="300"/>
              </a:spcAft>
            </a:pPr>
            <a:r>
              <a:rPr sz="1350" b="0">
                <a:solidFill>
                  <a:srgbClr val="9CDCFE"/>
                </a:solidFill>
                <a:latin typeface="Arial"/>
              </a:rPr>
              <a:t>   |+&gt; = (|0&gt; + |1&gt;)/√2</a:t>
            </a:r>
          </a:p>
          <a:p>
            <a:pPr algn="l">
              <a:spcAft>
                <a:spcPts val="300"/>
              </a:spcAft>
            </a:pPr>
            <a:r>
              <a:rPr sz="1350" b="0">
                <a:solidFill>
                  <a:srgbClr val="9CDCFE"/>
                </a:solidFill>
                <a:latin typeface="Arial"/>
              </a:rPr>
              <a:t>   Bob gets 0 or 1 with probability 1/2 each.</a:t>
            </a:r>
          </a:p>
          <a:p>
            <a:pPr algn="l">
              <a:spcAft>
                <a:spcPts val="300"/>
              </a:spcAft>
            </a:pPr>
            <a:r>
              <a:rPr sz="1350" b="0">
                <a:solidFill>
                  <a:srgbClr val="9CDCFE"/>
                </a:solidFill>
                <a:latin typeface="Arial"/>
              </a:rPr>
              <a:t>   -&gt; Bob's bit is WRONG with probability 1/2.</a:t>
            </a:r>
          </a:p>
        </p:txBody>
      </p:sp>
      <p:sp>
        <p:nvSpPr>
          <p:cNvPr id="9" name="Rectangle 8"/>
          <p:cNvSpPr/>
          <p:nvPr/>
        </p:nvSpPr>
        <p:spPr>
          <a:xfrm>
            <a:off x="777240" y="5577840"/>
            <a:ext cx="10634472" cy="475488"/>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Rectangle 9"/>
          <p:cNvSpPr/>
          <p:nvPr/>
        </p:nvSpPr>
        <p:spPr>
          <a:xfrm>
            <a:off x="777240" y="5577840"/>
            <a:ext cx="82296" cy="475488"/>
          </a:xfrm>
          <a:prstGeom prst="rect">
            <a:avLst/>
          </a:prstGeom>
          <a:solidFill>
            <a:srgbClr val="F59E0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 name="TextBox 10"/>
          <p:cNvSpPr txBox="1"/>
          <p:nvPr/>
        </p:nvSpPr>
        <p:spPr>
          <a:xfrm>
            <a:off x="1097280" y="5577840"/>
            <a:ext cx="10149840" cy="475488"/>
          </a:xfrm>
          <a:prstGeom prst="rect">
            <a:avLst/>
          </a:prstGeom>
          <a:noFill/>
        </p:spPr>
        <p:txBody>
          <a:bodyPr wrap="square" anchor="ctr">
            <a:spAutoFit/>
          </a:bodyPr>
          <a:lstStyle/>
          <a:p>
            <a:pPr algn="l">
              <a:spcAft>
                <a:spcPts val="400"/>
              </a:spcAft>
            </a:pPr>
            <a:r>
              <a:rPr sz="1150" b="1">
                <a:solidFill>
                  <a:srgbClr val="F59E0B"/>
                </a:solidFill>
                <a:latin typeface="Arial"/>
              </a:rPr>
              <a:t>WHY THIS STEP:  </a:t>
            </a:r>
            <a:r>
              <a:rPr sz="1300" b="0">
                <a:solidFill>
                  <a:srgbClr val="161B26"/>
                </a:solidFill>
                <a:latin typeface="Arial"/>
              </a:rPr>
              <a:t>Eve's wrong-basis measurement has destroyed the original state. She cannot restore it — that is the no-cloning theorem doing the work.</a:t>
            </a:r>
          </a:p>
        </p:txBody>
      </p:sp>
      <p:sp>
        <p:nvSpPr>
          <p:cNvPr id="12" name="TextBox 11"/>
          <p:cNvSpPr txBox="1"/>
          <p:nvPr/>
        </p:nvSpPr>
        <p:spPr>
          <a:xfrm>
            <a:off x="365760" y="6446520"/>
            <a:ext cx="6858000" cy="320040"/>
          </a:xfrm>
          <a:prstGeom prst="rect">
            <a:avLst/>
          </a:prstGeom>
          <a:noFill/>
        </p:spPr>
        <p:txBody>
          <a:bodyPr wrap="square" anchor="t">
            <a:spAutoFit/>
          </a:bodyPr>
          <a:lstStyle/>
          <a:p>
            <a:pPr algn="l">
              <a:spcAft>
                <a:spcPts val="400"/>
              </a:spcAft>
            </a:pPr>
            <a:r>
              <a:rPr sz="900" b="0">
                <a:solidFill>
                  <a:srgbClr val="5B6372"/>
                </a:solidFill>
                <a:latin typeface="Arial"/>
              </a:rPr>
              <a:t>Securing the Future with Quantum Computing and Cryptography  ·  TGS-2024043419</a:t>
            </a:r>
          </a:p>
        </p:txBody>
      </p:sp>
      <p:sp>
        <p:nvSpPr>
          <p:cNvPr id="13" name="TextBox 12"/>
          <p:cNvSpPr txBox="1"/>
          <p:nvPr/>
        </p:nvSpPr>
        <p:spPr>
          <a:xfrm>
            <a:off x="4572000" y="6446520"/>
            <a:ext cx="3017520" cy="320040"/>
          </a:xfrm>
          <a:prstGeom prst="rect">
            <a:avLst/>
          </a:prstGeom>
          <a:noFill/>
        </p:spPr>
        <p:txBody>
          <a:bodyPr wrap="square" anchor="t">
            <a:spAutoFit/>
          </a:bodyPr>
          <a:lstStyle/>
          <a:p>
            <a:pPr algn="ctr">
              <a:spcAft>
                <a:spcPts val="400"/>
              </a:spcAft>
            </a:pPr>
            <a:r>
              <a:rPr sz="900" b="0">
                <a:solidFill>
                  <a:srgbClr val="5B6372"/>
                </a:solidFill>
                <a:latin typeface="Arial"/>
              </a:rPr>
              <a:t>© 2026 Tertiary Infotech Academy Pte Ltd</a:t>
            </a:r>
          </a:p>
        </p:txBody>
      </p:sp>
      <p:sp>
        <p:nvSpPr>
          <p:cNvPr id="14" name="TextBox 13"/>
          <p:cNvSpPr txBox="1"/>
          <p:nvPr/>
        </p:nvSpPr>
        <p:spPr>
          <a:xfrm>
            <a:off x="11338560" y="6446520"/>
            <a:ext cx="548640" cy="320040"/>
          </a:xfrm>
          <a:prstGeom prst="rect">
            <a:avLst/>
          </a:prstGeom>
          <a:noFill/>
        </p:spPr>
        <p:txBody>
          <a:bodyPr wrap="square" anchor="t">
            <a:spAutoFit/>
          </a:bodyPr>
          <a:lstStyle/>
          <a:p>
            <a:pPr algn="r">
              <a:spcAft>
                <a:spcPts val="400"/>
              </a:spcAft>
            </a:pPr>
            <a:r>
              <a:rPr sz="900" b="0">
                <a:solidFill>
                  <a:srgbClr val="5B6372"/>
                </a:solidFill>
                <a:latin typeface="Arial"/>
              </a:rPr>
              <a:t>105</a:t>
            </a:r>
          </a:p>
        </p:txBody>
      </p:sp>
    </p:spTree>
  </p:cSld>
  <p:clrMapOvr>
    <a:masterClrMapping/>
  </p:clrMapOvr>
</p:sld>
</file>

<file path=ppt/slides/slide107.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256032" cy="1417320"/>
          </a:xfrm>
          <a:prstGeom prst="rect">
            <a:avLst/>
          </a:prstGeom>
          <a:solidFill>
            <a:srgbClr val="7C3AE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777240" y="457200"/>
            <a:ext cx="10607040" cy="365760"/>
          </a:xfrm>
          <a:prstGeom prst="rect">
            <a:avLst/>
          </a:prstGeom>
          <a:noFill/>
        </p:spPr>
        <p:txBody>
          <a:bodyPr wrap="square" anchor="t">
            <a:spAutoFit/>
          </a:bodyPr>
          <a:lstStyle/>
          <a:p>
            <a:pPr algn="l">
              <a:spcAft>
                <a:spcPts val="400"/>
              </a:spcAft>
            </a:pPr>
            <a:r>
              <a:rPr sz="1400" b="1">
                <a:solidFill>
                  <a:srgbClr val="7C3AED"/>
                </a:solidFill>
                <a:latin typeface="Arial"/>
              </a:rPr>
              <a:t>BB84 SECURITY AND EAVESDROPPER DETECTION  ·  STEP 4 OF 6</a:t>
            </a:r>
          </a:p>
        </p:txBody>
      </p:sp>
      <p:sp>
        <p:nvSpPr>
          <p:cNvPr id="5" name="TextBox 4"/>
          <p:cNvSpPr txBox="1"/>
          <p:nvPr/>
        </p:nvSpPr>
        <p:spPr>
          <a:xfrm>
            <a:off x="777240" y="822960"/>
            <a:ext cx="10881360" cy="822960"/>
          </a:xfrm>
          <a:prstGeom prst="rect">
            <a:avLst/>
          </a:prstGeom>
          <a:noFill/>
        </p:spPr>
        <p:txBody>
          <a:bodyPr wrap="square" anchor="t">
            <a:spAutoFit/>
          </a:bodyPr>
          <a:lstStyle/>
          <a:p>
            <a:pPr algn="l">
              <a:spcAft>
                <a:spcPts val="400"/>
              </a:spcAft>
            </a:pPr>
            <a:r>
              <a:rPr sz="2900" b="1">
                <a:solidFill>
                  <a:srgbClr val="161B26"/>
                </a:solidFill>
                <a:latin typeface="Arial"/>
              </a:rPr>
              <a:t>Step 4 — Compute the total error rate</a:t>
            </a:r>
          </a:p>
        </p:txBody>
      </p:sp>
      <p:sp>
        <p:nvSpPr>
          <p:cNvPr id="6" name="Rectangle 5"/>
          <p:cNvSpPr/>
          <p:nvPr/>
        </p:nvSpPr>
        <p:spPr>
          <a:xfrm>
            <a:off x="777240" y="1554480"/>
            <a:ext cx="10634472" cy="18288"/>
          </a:xfrm>
          <a:prstGeom prst="rect">
            <a:avLst/>
          </a:prstGeom>
          <a:solidFill>
            <a:srgbClr val="E2E8F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Rectangle 6"/>
          <p:cNvSpPr/>
          <p:nvPr/>
        </p:nvSpPr>
        <p:spPr>
          <a:xfrm>
            <a:off x="777240" y="1810512"/>
            <a:ext cx="10634472" cy="2011680"/>
          </a:xfrm>
          <a:prstGeom prst="rect">
            <a:avLst/>
          </a:prstGeom>
          <a:solidFill>
            <a:srgbClr val="0B122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TextBox 7"/>
          <p:cNvSpPr txBox="1"/>
          <p:nvPr/>
        </p:nvSpPr>
        <p:spPr>
          <a:xfrm>
            <a:off x="1097280" y="1956816"/>
            <a:ext cx="9994392" cy="1719072"/>
          </a:xfrm>
          <a:prstGeom prst="rect">
            <a:avLst/>
          </a:prstGeom>
          <a:noFill/>
        </p:spPr>
        <p:txBody>
          <a:bodyPr wrap="square" anchor="t">
            <a:spAutoFit/>
          </a:bodyPr>
          <a:lstStyle/>
          <a:p>
            <a:pPr algn="l">
              <a:spcAft>
                <a:spcPts val="300"/>
              </a:spcAft>
            </a:pPr>
            <a:r>
              <a:rPr sz="1550" b="0">
                <a:solidFill>
                  <a:srgbClr val="9CDCFE"/>
                </a:solidFill>
                <a:latin typeface="Arial"/>
              </a:rPr>
              <a:t>P(error) = P(Eve wrong basis) × P(Bob then errs)</a:t>
            </a:r>
          </a:p>
          <a:p>
            <a:pPr algn="l">
              <a:spcAft>
                <a:spcPts val="300"/>
              </a:spcAft>
            </a:pPr>
            <a:r>
              <a:rPr sz="1550" b="0">
                <a:solidFill>
                  <a:srgbClr val="9CDCFE"/>
                </a:solidFill>
                <a:latin typeface="Arial"/>
              </a:rPr>
              <a:t>         = 1/2 × 1/2</a:t>
            </a:r>
          </a:p>
          <a:p>
            <a:pPr algn="l">
              <a:spcAft>
                <a:spcPts val="300"/>
              </a:spcAft>
            </a:pPr>
            <a:r>
              <a:rPr sz="1550" b="0">
                <a:solidFill>
                  <a:srgbClr val="9CDCFE"/>
                </a:solidFill>
                <a:latin typeface="Arial"/>
              </a:rPr>
              <a:t>         = 1/4  =  25%</a:t>
            </a:r>
          </a:p>
          <a:p>
            <a:pPr algn="l">
              <a:spcAft>
                <a:spcPts val="300"/>
              </a:spcAft>
            </a:pPr>
            <a:r>
              <a:rPr sz="1550" b="0">
                <a:solidFill>
                  <a:srgbClr val="0B1220"/>
                </a:solidFill>
                <a:latin typeface="Arial"/>
              </a:rPr>
              <a:t> </a:t>
            </a:r>
          </a:p>
          <a:p>
            <a:pPr algn="l">
              <a:spcAft>
                <a:spcPts val="300"/>
              </a:spcAft>
            </a:pPr>
            <a:r>
              <a:rPr sz="1550" b="0">
                <a:solidFill>
                  <a:srgbClr val="9CDCFE"/>
                </a:solidFill>
                <a:latin typeface="Arial"/>
              </a:rPr>
              <a:t>So on the sifted key, roughly 1 bit in 4 disagrees between Alice and Bob.</a:t>
            </a:r>
          </a:p>
        </p:txBody>
      </p:sp>
      <p:sp>
        <p:nvSpPr>
          <p:cNvPr id="9" name="Rectangle 8"/>
          <p:cNvSpPr/>
          <p:nvPr/>
        </p:nvSpPr>
        <p:spPr>
          <a:xfrm>
            <a:off x="777240" y="4023360"/>
            <a:ext cx="10634472" cy="2029968"/>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Rectangle 9"/>
          <p:cNvSpPr/>
          <p:nvPr/>
        </p:nvSpPr>
        <p:spPr>
          <a:xfrm>
            <a:off x="777240" y="4023360"/>
            <a:ext cx="82296" cy="2029968"/>
          </a:xfrm>
          <a:prstGeom prst="rect">
            <a:avLst/>
          </a:prstGeom>
          <a:solidFill>
            <a:srgbClr val="F59E0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 name="TextBox 10"/>
          <p:cNvSpPr txBox="1"/>
          <p:nvPr/>
        </p:nvSpPr>
        <p:spPr>
          <a:xfrm>
            <a:off x="1097280" y="4023360"/>
            <a:ext cx="10149840" cy="2029968"/>
          </a:xfrm>
          <a:prstGeom prst="rect">
            <a:avLst/>
          </a:prstGeom>
          <a:noFill/>
        </p:spPr>
        <p:txBody>
          <a:bodyPr wrap="square" anchor="ctr">
            <a:spAutoFit/>
          </a:bodyPr>
          <a:lstStyle/>
          <a:p>
            <a:pPr algn="l">
              <a:spcAft>
                <a:spcPts val="400"/>
              </a:spcAft>
            </a:pPr>
            <a:r>
              <a:rPr sz="1150" b="1">
                <a:solidFill>
                  <a:srgbClr val="F59E0B"/>
                </a:solidFill>
                <a:latin typeface="Arial"/>
              </a:rPr>
              <a:t>WHY THIS STEP:  </a:t>
            </a:r>
            <a:r>
              <a:rPr sz="1300" b="0">
                <a:solidFill>
                  <a:srgbClr val="161B26"/>
                </a:solidFill>
                <a:latin typeface="Arial"/>
              </a:rPr>
              <a:t>This 25% figure — the Quantum Bit Error Rate (QBER) — is the signature of intercept-resend.</a:t>
            </a:r>
          </a:p>
        </p:txBody>
      </p:sp>
      <p:sp>
        <p:nvSpPr>
          <p:cNvPr id="12" name="TextBox 11"/>
          <p:cNvSpPr txBox="1"/>
          <p:nvPr/>
        </p:nvSpPr>
        <p:spPr>
          <a:xfrm>
            <a:off x="365760" y="6446520"/>
            <a:ext cx="6858000" cy="320040"/>
          </a:xfrm>
          <a:prstGeom prst="rect">
            <a:avLst/>
          </a:prstGeom>
          <a:noFill/>
        </p:spPr>
        <p:txBody>
          <a:bodyPr wrap="square" anchor="t">
            <a:spAutoFit/>
          </a:bodyPr>
          <a:lstStyle/>
          <a:p>
            <a:pPr algn="l">
              <a:spcAft>
                <a:spcPts val="400"/>
              </a:spcAft>
            </a:pPr>
            <a:r>
              <a:rPr sz="900" b="0">
                <a:solidFill>
                  <a:srgbClr val="5B6372"/>
                </a:solidFill>
                <a:latin typeface="Arial"/>
              </a:rPr>
              <a:t>Securing the Future with Quantum Computing and Cryptography  ·  TGS-2024043419</a:t>
            </a:r>
          </a:p>
        </p:txBody>
      </p:sp>
      <p:sp>
        <p:nvSpPr>
          <p:cNvPr id="13" name="TextBox 12"/>
          <p:cNvSpPr txBox="1"/>
          <p:nvPr/>
        </p:nvSpPr>
        <p:spPr>
          <a:xfrm>
            <a:off x="4572000" y="6446520"/>
            <a:ext cx="3017520" cy="320040"/>
          </a:xfrm>
          <a:prstGeom prst="rect">
            <a:avLst/>
          </a:prstGeom>
          <a:noFill/>
        </p:spPr>
        <p:txBody>
          <a:bodyPr wrap="square" anchor="t">
            <a:spAutoFit/>
          </a:bodyPr>
          <a:lstStyle/>
          <a:p>
            <a:pPr algn="ctr">
              <a:spcAft>
                <a:spcPts val="400"/>
              </a:spcAft>
            </a:pPr>
            <a:r>
              <a:rPr sz="900" b="0">
                <a:solidFill>
                  <a:srgbClr val="5B6372"/>
                </a:solidFill>
                <a:latin typeface="Arial"/>
              </a:rPr>
              <a:t>© 2026 Tertiary Infotech Academy Pte Ltd</a:t>
            </a:r>
          </a:p>
        </p:txBody>
      </p:sp>
      <p:sp>
        <p:nvSpPr>
          <p:cNvPr id="14" name="TextBox 13"/>
          <p:cNvSpPr txBox="1"/>
          <p:nvPr/>
        </p:nvSpPr>
        <p:spPr>
          <a:xfrm>
            <a:off x="11338560" y="6446520"/>
            <a:ext cx="548640" cy="320040"/>
          </a:xfrm>
          <a:prstGeom prst="rect">
            <a:avLst/>
          </a:prstGeom>
          <a:noFill/>
        </p:spPr>
        <p:txBody>
          <a:bodyPr wrap="square" anchor="t">
            <a:spAutoFit/>
          </a:bodyPr>
          <a:lstStyle/>
          <a:p>
            <a:pPr algn="r">
              <a:spcAft>
                <a:spcPts val="400"/>
              </a:spcAft>
            </a:pPr>
            <a:r>
              <a:rPr sz="900" b="0">
                <a:solidFill>
                  <a:srgbClr val="5B6372"/>
                </a:solidFill>
                <a:latin typeface="Arial"/>
              </a:rPr>
              <a:t>106</a:t>
            </a:r>
          </a:p>
        </p:txBody>
      </p:sp>
    </p:spTree>
  </p:cSld>
  <p:clrMapOvr>
    <a:masterClrMapping/>
  </p:clrMapOvr>
</p:sld>
</file>

<file path=ppt/slides/slide108.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256032" cy="1417320"/>
          </a:xfrm>
          <a:prstGeom prst="rect">
            <a:avLst/>
          </a:prstGeom>
          <a:solidFill>
            <a:srgbClr val="7C3AE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777240" y="457200"/>
            <a:ext cx="10607040" cy="365760"/>
          </a:xfrm>
          <a:prstGeom prst="rect">
            <a:avLst/>
          </a:prstGeom>
          <a:noFill/>
        </p:spPr>
        <p:txBody>
          <a:bodyPr wrap="square" anchor="t">
            <a:spAutoFit/>
          </a:bodyPr>
          <a:lstStyle/>
          <a:p>
            <a:pPr algn="l">
              <a:spcAft>
                <a:spcPts val="400"/>
              </a:spcAft>
            </a:pPr>
            <a:r>
              <a:rPr sz="1400" b="1">
                <a:solidFill>
                  <a:srgbClr val="7C3AED"/>
                </a:solidFill>
                <a:latin typeface="Arial"/>
              </a:rPr>
              <a:t>BB84 SECURITY AND EAVESDROPPER DETECTION  ·  STEP 5 OF 6</a:t>
            </a:r>
          </a:p>
        </p:txBody>
      </p:sp>
      <p:sp>
        <p:nvSpPr>
          <p:cNvPr id="5" name="TextBox 4"/>
          <p:cNvSpPr txBox="1"/>
          <p:nvPr/>
        </p:nvSpPr>
        <p:spPr>
          <a:xfrm>
            <a:off x="777240" y="822960"/>
            <a:ext cx="10881360" cy="822960"/>
          </a:xfrm>
          <a:prstGeom prst="rect">
            <a:avLst/>
          </a:prstGeom>
          <a:noFill/>
        </p:spPr>
        <p:txBody>
          <a:bodyPr wrap="square" anchor="t">
            <a:spAutoFit/>
          </a:bodyPr>
          <a:lstStyle/>
          <a:p>
            <a:pPr algn="l">
              <a:spcAft>
                <a:spcPts val="400"/>
              </a:spcAft>
            </a:pPr>
            <a:r>
              <a:rPr sz="2900" b="1">
                <a:solidFill>
                  <a:srgbClr val="161B26"/>
                </a:solidFill>
                <a:latin typeface="Arial"/>
              </a:rPr>
              <a:t>Step 5 — Detection probability</a:t>
            </a:r>
          </a:p>
        </p:txBody>
      </p:sp>
      <p:sp>
        <p:nvSpPr>
          <p:cNvPr id="6" name="Rectangle 5"/>
          <p:cNvSpPr/>
          <p:nvPr/>
        </p:nvSpPr>
        <p:spPr>
          <a:xfrm>
            <a:off x="777240" y="1554480"/>
            <a:ext cx="10634472" cy="18288"/>
          </a:xfrm>
          <a:prstGeom prst="rect">
            <a:avLst/>
          </a:prstGeom>
          <a:solidFill>
            <a:srgbClr val="E2E8F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Rectangle 6"/>
          <p:cNvSpPr/>
          <p:nvPr/>
        </p:nvSpPr>
        <p:spPr>
          <a:xfrm>
            <a:off x="777240" y="1810512"/>
            <a:ext cx="10634472" cy="2944368"/>
          </a:xfrm>
          <a:prstGeom prst="rect">
            <a:avLst/>
          </a:prstGeom>
          <a:solidFill>
            <a:srgbClr val="0B122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TextBox 7"/>
          <p:cNvSpPr txBox="1"/>
          <p:nvPr/>
        </p:nvSpPr>
        <p:spPr>
          <a:xfrm>
            <a:off x="1097280" y="1956816"/>
            <a:ext cx="9994392" cy="2651760"/>
          </a:xfrm>
          <a:prstGeom prst="rect">
            <a:avLst/>
          </a:prstGeom>
          <a:noFill/>
        </p:spPr>
        <p:txBody>
          <a:bodyPr wrap="square" anchor="t">
            <a:spAutoFit/>
          </a:bodyPr>
          <a:lstStyle/>
          <a:p>
            <a:pPr algn="l">
              <a:spcAft>
                <a:spcPts val="300"/>
              </a:spcAft>
            </a:pPr>
            <a:r>
              <a:rPr sz="1550" b="0">
                <a:solidFill>
                  <a:srgbClr val="9CDCFE"/>
                </a:solidFill>
                <a:latin typeface="Arial"/>
              </a:rPr>
              <a:t>Alice and Bob publicly compare a random sample of m sifted bits.</a:t>
            </a:r>
          </a:p>
          <a:p>
            <a:pPr algn="l">
              <a:spcAft>
                <a:spcPts val="300"/>
              </a:spcAft>
            </a:pPr>
            <a:r>
              <a:rPr sz="1550" b="0">
                <a:solidFill>
                  <a:srgbClr val="0B1220"/>
                </a:solidFill>
                <a:latin typeface="Arial"/>
              </a:rPr>
              <a:t> </a:t>
            </a:r>
          </a:p>
          <a:p>
            <a:pPr algn="l">
              <a:spcAft>
                <a:spcPts val="300"/>
              </a:spcAft>
            </a:pPr>
            <a:r>
              <a:rPr sz="1550" b="0">
                <a:solidFill>
                  <a:srgbClr val="9CDCFE"/>
                </a:solidFill>
                <a:latin typeface="Arial"/>
              </a:rPr>
              <a:t>P(a given compared bit fails to reveal Eve) = 1 - 1/4 = 3/4</a:t>
            </a:r>
          </a:p>
          <a:p>
            <a:pPr algn="l">
              <a:spcAft>
                <a:spcPts val="300"/>
              </a:spcAft>
            </a:pPr>
            <a:r>
              <a:rPr sz="1550" b="0">
                <a:solidFill>
                  <a:srgbClr val="9CDCFE"/>
                </a:solidFill>
                <a:latin typeface="Arial"/>
              </a:rPr>
              <a:t>P(Eve escapes detection over m bits)        = (3/4)^m</a:t>
            </a:r>
          </a:p>
          <a:p>
            <a:pPr algn="l">
              <a:spcAft>
                <a:spcPts val="300"/>
              </a:spcAft>
            </a:pPr>
            <a:r>
              <a:rPr sz="1550" b="0">
                <a:solidFill>
                  <a:srgbClr val="0B1220"/>
                </a:solidFill>
                <a:latin typeface="Arial"/>
              </a:rPr>
              <a:t> </a:t>
            </a:r>
          </a:p>
          <a:p>
            <a:pPr algn="l">
              <a:spcAft>
                <a:spcPts val="300"/>
              </a:spcAft>
            </a:pPr>
            <a:r>
              <a:rPr sz="1550" b="0">
                <a:solidFill>
                  <a:srgbClr val="9CDCFE"/>
                </a:solidFill>
                <a:latin typeface="Arial"/>
              </a:rPr>
              <a:t>   m = 10   -&gt;  5.6% escape chance</a:t>
            </a:r>
          </a:p>
          <a:p>
            <a:pPr algn="l">
              <a:spcAft>
                <a:spcPts val="300"/>
              </a:spcAft>
            </a:pPr>
            <a:r>
              <a:rPr sz="1550" b="0">
                <a:solidFill>
                  <a:srgbClr val="9CDCFE"/>
                </a:solidFill>
                <a:latin typeface="Arial"/>
              </a:rPr>
              <a:t>   m = 50   -&gt;  0.000006%</a:t>
            </a:r>
          </a:p>
          <a:p>
            <a:pPr algn="l">
              <a:spcAft>
                <a:spcPts val="300"/>
              </a:spcAft>
            </a:pPr>
            <a:r>
              <a:rPr sz="1550" b="0">
                <a:solidFill>
                  <a:srgbClr val="9CDCFE"/>
                </a:solidFill>
                <a:latin typeface="Arial"/>
              </a:rPr>
              <a:t>   m = 100  -&gt;  ~3 × 10⁻¹³</a:t>
            </a:r>
          </a:p>
        </p:txBody>
      </p:sp>
      <p:sp>
        <p:nvSpPr>
          <p:cNvPr id="9" name="Rectangle 8"/>
          <p:cNvSpPr/>
          <p:nvPr/>
        </p:nvSpPr>
        <p:spPr>
          <a:xfrm>
            <a:off x="777240" y="4956048"/>
            <a:ext cx="10634472" cy="1097280"/>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Rectangle 9"/>
          <p:cNvSpPr/>
          <p:nvPr/>
        </p:nvSpPr>
        <p:spPr>
          <a:xfrm>
            <a:off x="777240" y="4956048"/>
            <a:ext cx="82296" cy="1097280"/>
          </a:xfrm>
          <a:prstGeom prst="rect">
            <a:avLst/>
          </a:prstGeom>
          <a:solidFill>
            <a:srgbClr val="F59E0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 name="TextBox 10"/>
          <p:cNvSpPr txBox="1"/>
          <p:nvPr/>
        </p:nvSpPr>
        <p:spPr>
          <a:xfrm>
            <a:off x="1097280" y="4956048"/>
            <a:ext cx="10149840" cy="1097280"/>
          </a:xfrm>
          <a:prstGeom prst="rect">
            <a:avLst/>
          </a:prstGeom>
          <a:noFill/>
        </p:spPr>
        <p:txBody>
          <a:bodyPr wrap="square" anchor="ctr">
            <a:spAutoFit/>
          </a:bodyPr>
          <a:lstStyle/>
          <a:p>
            <a:pPr algn="l">
              <a:spcAft>
                <a:spcPts val="400"/>
              </a:spcAft>
            </a:pPr>
            <a:r>
              <a:rPr sz="1150" b="1">
                <a:solidFill>
                  <a:srgbClr val="F59E0B"/>
                </a:solidFill>
                <a:latin typeface="Arial"/>
              </a:rPr>
              <a:t>WHY THIS STEP:  </a:t>
            </a:r>
            <a:r>
              <a:rPr sz="1300" b="0">
                <a:solidFill>
                  <a:srgbClr val="161B26"/>
                </a:solidFill>
                <a:latin typeface="Arial"/>
              </a:rPr>
              <a:t>Detection probability rises exponentially with the size of the test sample.</a:t>
            </a:r>
          </a:p>
        </p:txBody>
      </p:sp>
      <p:sp>
        <p:nvSpPr>
          <p:cNvPr id="12" name="TextBox 11"/>
          <p:cNvSpPr txBox="1"/>
          <p:nvPr/>
        </p:nvSpPr>
        <p:spPr>
          <a:xfrm>
            <a:off x="365760" y="6446520"/>
            <a:ext cx="6858000" cy="320040"/>
          </a:xfrm>
          <a:prstGeom prst="rect">
            <a:avLst/>
          </a:prstGeom>
          <a:noFill/>
        </p:spPr>
        <p:txBody>
          <a:bodyPr wrap="square" anchor="t">
            <a:spAutoFit/>
          </a:bodyPr>
          <a:lstStyle/>
          <a:p>
            <a:pPr algn="l">
              <a:spcAft>
                <a:spcPts val="400"/>
              </a:spcAft>
            </a:pPr>
            <a:r>
              <a:rPr sz="900" b="0">
                <a:solidFill>
                  <a:srgbClr val="5B6372"/>
                </a:solidFill>
                <a:latin typeface="Arial"/>
              </a:rPr>
              <a:t>Securing the Future with Quantum Computing and Cryptography  ·  TGS-2024043419</a:t>
            </a:r>
          </a:p>
        </p:txBody>
      </p:sp>
      <p:sp>
        <p:nvSpPr>
          <p:cNvPr id="13" name="TextBox 12"/>
          <p:cNvSpPr txBox="1"/>
          <p:nvPr/>
        </p:nvSpPr>
        <p:spPr>
          <a:xfrm>
            <a:off x="4572000" y="6446520"/>
            <a:ext cx="3017520" cy="320040"/>
          </a:xfrm>
          <a:prstGeom prst="rect">
            <a:avLst/>
          </a:prstGeom>
          <a:noFill/>
        </p:spPr>
        <p:txBody>
          <a:bodyPr wrap="square" anchor="t">
            <a:spAutoFit/>
          </a:bodyPr>
          <a:lstStyle/>
          <a:p>
            <a:pPr algn="ctr">
              <a:spcAft>
                <a:spcPts val="400"/>
              </a:spcAft>
            </a:pPr>
            <a:r>
              <a:rPr sz="900" b="0">
                <a:solidFill>
                  <a:srgbClr val="5B6372"/>
                </a:solidFill>
                <a:latin typeface="Arial"/>
              </a:rPr>
              <a:t>© 2026 Tertiary Infotech Academy Pte Ltd</a:t>
            </a:r>
          </a:p>
        </p:txBody>
      </p:sp>
      <p:sp>
        <p:nvSpPr>
          <p:cNvPr id="14" name="TextBox 13"/>
          <p:cNvSpPr txBox="1"/>
          <p:nvPr/>
        </p:nvSpPr>
        <p:spPr>
          <a:xfrm>
            <a:off x="11338560" y="6446520"/>
            <a:ext cx="548640" cy="320040"/>
          </a:xfrm>
          <a:prstGeom prst="rect">
            <a:avLst/>
          </a:prstGeom>
          <a:noFill/>
        </p:spPr>
        <p:txBody>
          <a:bodyPr wrap="square" anchor="t">
            <a:spAutoFit/>
          </a:bodyPr>
          <a:lstStyle/>
          <a:p>
            <a:pPr algn="r">
              <a:spcAft>
                <a:spcPts val="400"/>
              </a:spcAft>
            </a:pPr>
            <a:r>
              <a:rPr sz="900" b="0">
                <a:solidFill>
                  <a:srgbClr val="5B6372"/>
                </a:solidFill>
                <a:latin typeface="Arial"/>
              </a:rPr>
              <a:t>107</a:t>
            </a:r>
          </a:p>
        </p:txBody>
      </p:sp>
    </p:spTree>
  </p:cSld>
  <p:clrMapOvr>
    <a:masterClrMapping/>
  </p:clrMapOvr>
</p:sld>
</file>

<file path=ppt/slides/slide109.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256032" cy="1417320"/>
          </a:xfrm>
          <a:prstGeom prst="rect">
            <a:avLst/>
          </a:prstGeom>
          <a:solidFill>
            <a:srgbClr val="7C3AE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777240" y="457200"/>
            <a:ext cx="10607040" cy="365760"/>
          </a:xfrm>
          <a:prstGeom prst="rect">
            <a:avLst/>
          </a:prstGeom>
          <a:noFill/>
        </p:spPr>
        <p:txBody>
          <a:bodyPr wrap="square" anchor="t">
            <a:spAutoFit/>
          </a:bodyPr>
          <a:lstStyle/>
          <a:p>
            <a:pPr algn="l">
              <a:spcAft>
                <a:spcPts val="400"/>
              </a:spcAft>
            </a:pPr>
            <a:r>
              <a:rPr sz="1400" b="1">
                <a:solidFill>
                  <a:srgbClr val="7C3AED"/>
                </a:solidFill>
                <a:latin typeface="Arial"/>
              </a:rPr>
              <a:t>BB84 SECURITY AND EAVESDROPPER DETECTION  ·  STEP 6 OF 6</a:t>
            </a:r>
          </a:p>
        </p:txBody>
      </p:sp>
      <p:sp>
        <p:nvSpPr>
          <p:cNvPr id="5" name="TextBox 4"/>
          <p:cNvSpPr txBox="1"/>
          <p:nvPr/>
        </p:nvSpPr>
        <p:spPr>
          <a:xfrm>
            <a:off x="777240" y="822960"/>
            <a:ext cx="10881360" cy="822960"/>
          </a:xfrm>
          <a:prstGeom prst="rect">
            <a:avLst/>
          </a:prstGeom>
          <a:noFill/>
        </p:spPr>
        <p:txBody>
          <a:bodyPr wrap="square" anchor="t">
            <a:spAutoFit/>
          </a:bodyPr>
          <a:lstStyle/>
          <a:p>
            <a:pPr algn="l">
              <a:spcAft>
                <a:spcPts val="400"/>
              </a:spcAft>
            </a:pPr>
            <a:r>
              <a:rPr sz="2900" b="1">
                <a:solidFill>
                  <a:srgbClr val="161B26"/>
                </a:solidFill>
                <a:latin typeface="Arial"/>
              </a:rPr>
              <a:t>Step 6 — Decision rule and post-processing</a:t>
            </a:r>
          </a:p>
        </p:txBody>
      </p:sp>
      <p:sp>
        <p:nvSpPr>
          <p:cNvPr id="6" name="Rectangle 5"/>
          <p:cNvSpPr/>
          <p:nvPr/>
        </p:nvSpPr>
        <p:spPr>
          <a:xfrm>
            <a:off x="777240" y="1554480"/>
            <a:ext cx="10634472" cy="18288"/>
          </a:xfrm>
          <a:prstGeom prst="rect">
            <a:avLst/>
          </a:prstGeom>
          <a:solidFill>
            <a:srgbClr val="E2E8F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Rectangle 6"/>
          <p:cNvSpPr/>
          <p:nvPr/>
        </p:nvSpPr>
        <p:spPr>
          <a:xfrm>
            <a:off x="777240" y="1810512"/>
            <a:ext cx="10634472" cy="2944368"/>
          </a:xfrm>
          <a:prstGeom prst="rect">
            <a:avLst/>
          </a:prstGeom>
          <a:solidFill>
            <a:srgbClr val="0B122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TextBox 7"/>
          <p:cNvSpPr txBox="1"/>
          <p:nvPr/>
        </p:nvSpPr>
        <p:spPr>
          <a:xfrm>
            <a:off x="1097280" y="1956816"/>
            <a:ext cx="9994392" cy="2651760"/>
          </a:xfrm>
          <a:prstGeom prst="rect">
            <a:avLst/>
          </a:prstGeom>
          <a:noFill/>
        </p:spPr>
        <p:txBody>
          <a:bodyPr wrap="square" anchor="t">
            <a:spAutoFit/>
          </a:bodyPr>
          <a:lstStyle/>
          <a:p>
            <a:pPr algn="l">
              <a:spcAft>
                <a:spcPts val="300"/>
              </a:spcAft>
            </a:pPr>
            <a:r>
              <a:rPr sz="1550" b="0">
                <a:solidFill>
                  <a:srgbClr val="9CDCFE"/>
                </a:solidFill>
                <a:latin typeface="Arial"/>
              </a:rPr>
              <a:t>Alice and Bob measure the QBER on the test sample:</a:t>
            </a:r>
          </a:p>
          <a:p>
            <a:pPr algn="l">
              <a:spcAft>
                <a:spcPts val="300"/>
              </a:spcAft>
            </a:pPr>
            <a:r>
              <a:rPr sz="1550" b="0">
                <a:solidFill>
                  <a:srgbClr val="0B1220"/>
                </a:solidFill>
                <a:latin typeface="Arial"/>
              </a:rPr>
              <a:t> </a:t>
            </a:r>
          </a:p>
          <a:p>
            <a:pPr algn="l">
              <a:spcAft>
                <a:spcPts val="300"/>
              </a:spcAft>
            </a:pPr>
            <a:r>
              <a:rPr sz="1550" b="0">
                <a:solidFill>
                  <a:srgbClr val="9CDCFE"/>
                </a:solidFill>
                <a:latin typeface="Arial"/>
              </a:rPr>
              <a:t>   QBER below threshold (~11%)  -&gt;  proceed:</a:t>
            </a:r>
          </a:p>
          <a:p>
            <a:pPr algn="l">
              <a:spcAft>
                <a:spcPts val="300"/>
              </a:spcAft>
            </a:pPr>
            <a:r>
              <a:rPr sz="1550" b="0">
                <a:solidFill>
                  <a:srgbClr val="9CDCFE"/>
                </a:solidFill>
                <a:latin typeface="Arial"/>
              </a:rPr>
              <a:t>        • error correction (reconcile the remaining differences)</a:t>
            </a:r>
          </a:p>
          <a:p>
            <a:pPr algn="l">
              <a:spcAft>
                <a:spcPts val="300"/>
              </a:spcAft>
            </a:pPr>
            <a:r>
              <a:rPr sz="1550" b="0">
                <a:solidFill>
                  <a:srgbClr val="9CDCFE"/>
                </a:solidFill>
                <a:latin typeface="Arial"/>
              </a:rPr>
              <a:t>        • privacy amplification (hash down to a shorter, secure key)</a:t>
            </a:r>
          </a:p>
          <a:p>
            <a:pPr algn="l">
              <a:spcAft>
                <a:spcPts val="300"/>
              </a:spcAft>
            </a:pPr>
            <a:r>
              <a:rPr sz="1550" b="0">
                <a:solidFill>
                  <a:srgbClr val="9CDCFE"/>
                </a:solidFill>
                <a:latin typeface="Arial"/>
              </a:rPr>
              <a:t>   QBER above threshold          -&gt;  ABORT and discard the key</a:t>
            </a:r>
          </a:p>
          <a:p>
            <a:pPr algn="l">
              <a:spcAft>
                <a:spcPts val="300"/>
              </a:spcAft>
            </a:pPr>
            <a:r>
              <a:rPr sz="1550" b="0">
                <a:solidFill>
                  <a:srgbClr val="0B1220"/>
                </a:solidFill>
                <a:latin typeface="Arial"/>
              </a:rPr>
              <a:t> </a:t>
            </a:r>
          </a:p>
          <a:p>
            <a:pPr algn="l">
              <a:spcAft>
                <a:spcPts val="300"/>
              </a:spcAft>
            </a:pPr>
            <a:r>
              <a:rPr sz="1550" b="0">
                <a:solidFill>
                  <a:srgbClr val="9CDCFE"/>
                </a:solidFill>
                <a:latin typeface="Arial"/>
              </a:rPr>
              <a:t>The discarded test bits are never reused as key material.</a:t>
            </a:r>
          </a:p>
        </p:txBody>
      </p:sp>
      <p:sp>
        <p:nvSpPr>
          <p:cNvPr id="9" name="Rectangle 8"/>
          <p:cNvSpPr/>
          <p:nvPr/>
        </p:nvSpPr>
        <p:spPr>
          <a:xfrm>
            <a:off x="777240" y="4956048"/>
            <a:ext cx="10634472" cy="1097280"/>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Rectangle 9"/>
          <p:cNvSpPr/>
          <p:nvPr/>
        </p:nvSpPr>
        <p:spPr>
          <a:xfrm>
            <a:off x="777240" y="4956048"/>
            <a:ext cx="82296" cy="1097280"/>
          </a:xfrm>
          <a:prstGeom prst="rect">
            <a:avLst/>
          </a:prstGeom>
          <a:solidFill>
            <a:srgbClr val="F59E0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 name="TextBox 10"/>
          <p:cNvSpPr txBox="1"/>
          <p:nvPr/>
        </p:nvSpPr>
        <p:spPr>
          <a:xfrm>
            <a:off x="1097280" y="4956048"/>
            <a:ext cx="10149840" cy="1097280"/>
          </a:xfrm>
          <a:prstGeom prst="rect">
            <a:avLst/>
          </a:prstGeom>
          <a:noFill/>
        </p:spPr>
        <p:txBody>
          <a:bodyPr wrap="square" anchor="ctr">
            <a:spAutoFit/>
          </a:bodyPr>
          <a:lstStyle/>
          <a:p>
            <a:pPr algn="l">
              <a:spcAft>
                <a:spcPts val="400"/>
              </a:spcAft>
            </a:pPr>
            <a:r>
              <a:rPr sz="1150" b="1">
                <a:solidFill>
                  <a:srgbClr val="F59E0B"/>
                </a:solidFill>
                <a:latin typeface="Arial"/>
              </a:rPr>
              <a:t>WHY THIS STEP:  </a:t>
            </a:r>
            <a:r>
              <a:rPr sz="1300" b="0">
                <a:solidFill>
                  <a:srgbClr val="161B26"/>
                </a:solidFill>
                <a:latin typeface="Arial"/>
              </a:rPr>
              <a:t>Real systems tolerate a few percent QBER from hardware noise; the threshold separates tolerable noise from an active attack.</a:t>
            </a:r>
          </a:p>
        </p:txBody>
      </p:sp>
      <p:sp>
        <p:nvSpPr>
          <p:cNvPr id="12" name="TextBox 11"/>
          <p:cNvSpPr txBox="1"/>
          <p:nvPr/>
        </p:nvSpPr>
        <p:spPr>
          <a:xfrm>
            <a:off x="365760" y="6446520"/>
            <a:ext cx="6858000" cy="320040"/>
          </a:xfrm>
          <a:prstGeom prst="rect">
            <a:avLst/>
          </a:prstGeom>
          <a:noFill/>
        </p:spPr>
        <p:txBody>
          <a:bodyPr wrap="square" anchor="t">
            <a:spAutoFit/>
          </a:bodyPr>
          <a:lstStyle/>
          <a:p>
            <a:pPr algn="l">
              <a:spcAft>
                <a:spcPts val="400"/>
              </a:spcAft>
            </a:pPr>
            <a:r>
              <a:rPr sz="900" b="0">
                <a:solidFill>
                  <a:srgbClr val="5B6372"/>
                </a:solidFill>
                <a:latin typeface="Arial"/>
              </a:rPr>
              <a:t>Securing the Future with Quantum Computing and Cryptography  ·  TGS-2024043419</a:t>
            </a:r>
          </a:p>
        </p:txBody>
      </p:sp>
      <p:sp>
        <p:nvSpPr>
          <p:cNvPr id="13" name="TextBox 12"/>
          <p:cNvSpPr txBox="1"/>
          <p:nvPr/>
        </p:nvSpPr>
        <p:spPr>
          <a:xfrm>
            <a:off x="4572000" y="6446520"/>
            <a:ext cx="3017520" cy="320040"/>
          </a:xfrm>
          <a:prstGeom prst="rect">
            <a:avLst/>
          </a:prstGeom>
          <a:noFill/>
        </p:spPr>
        <p:txBody>
          <a:bodyPr wrap="square" anchor="t">
            <a:spAutoFit/>
          </a:bodyPr>
          <a:lstStyle/>
          <a:p>
            <a:pPr algn="ctr">
              <a:spcAft>
                <a:spcPts val="400"/>
              </a:spcAft>
            </a:pPr>
            <a:r>
              <a:rPr sz="900" b="0">
                <a:solidFill>
                  <a:srgbClr val="5B6372"/>
                </a:solidFill>
                <a:latin typeface="Arial"/>
              </a:rPr>
              <a:t>© 2026 Tertiary Infotech Academy Pte Ltd</a:t>
            </a:r>
          </a:p>
        </p:txBody>
      </p:sp>
      <p:sp>
        <p:nvSpPr>
          <p:cNvPr id="14" name="TextBox 13"/>
          <p:cNvSpPr txBox="1"/>
          <p:nvPr/>
        </p:nvSpPr>
        <p:spPr>
          <a:xfrm>
            <a:off x="11338560" y="6446520"/>
            <a:ext cx="548640" cy="320040"/>
          </a:xfrm>
          <a:prstGeom prst="rect">
            <a:avLst/>
          </a:prstGeom>
          <a:noFill/>
        </p:spPr>
        <p:txBody>
          <a:bodyPr wrap="square" anchor="t">
            <a:spAutoFit/>
          </a:bodyPr>
          <a:lstStyle/>
          <a:p>
            <a:pPr algn="r">
              <a:spcAft>
                <a:spcPts val="400"/>
              </a:spcAft>
            </a:pPr>
            <a:r>
              <a:rPr sz="900" b="0">
                <a:solidFill>
                  <a:srgbClr val="5B6372"/>
                </a:solidFill>
                <a:latin typeface="Arial"/>
              </a:rPr>
              <a:t>108</a:t>
            </a:r>
          </a:p>
        </p:txBody>
      </p:sp>
    </p:spTree>
  </p:cSld>
  <p:clrMapOvr>
    <a:masterClrMapping/>
  </p:clrMapOvr>
</p:sld>
</file>

<file path=ppt/slides/slide110.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256032" cy="1417320"/>
          </a:xfrm>
          <a:prstGeom prst="rect">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777240" y="457200"/>
            <a:ext cx="10607040" cy="365760"/>
          </a:xfrm>
          <a:prstGeom prst="rect">
            <a:avLst/>
          </a:prstGeom>
          <a:noFill/>
        </p:spPr>
        <p:txBody>
          <a:bodyPr wrap="square" anchor="t">
            <a:spAutoFit/>
          </a:bodyPr>
          <a:lstStyle/>
          <a:p>
            <a:pPr algn="l">
              <a:spcAft>
                <a:spcPts val="400"/>
              </a:spcAft>
            </a:pPr>
            <a:r>
              <a:rPr sz="1400" b="1">
                <a:solidFill>
                  <a:srgbClr val="10B981"/>
                </a:solidFill>
                <a:latin typeface="Arial"/>
              </a:rPr>
              <a:t>QED</a:t>
            </a:r>
          </a:p>
        </p:txBody>
      </p:sp>
      <p:sp>
        <p:nvSpPr>
          <p:cNvPr id="5" name="TextBox 4"/>
          <p:cNvSpPr txBox="1"/>
          <p:nvPr/>
        </p:nvSpPr>
        <p:spPr>
          <a:xfrm>
            <a:off x="777240" y="822960"/>
            <a:ext cx="10881360" cy="822960"/>
          </a:xfrm>
          <a:prstGeom prst="rect">
            <a:avLst/>
          </a:prstGeom>
          <a:noFill/>
        </p:spPr>
        <p:txBody>
          <a:bodyPr wrap="square" anchor="t">
            <a:spAutoFit/>
          </a:bodyPr>
          <a:lstStyle/>
          <a:p>
            <a:pPr algn="l">
              <a:spcAft>
                <a:spcPts val="400"/>
              </a:spcAft>
            </a:pPr>
            <a:r>
              <a:rPr sz="2900" b="1">
                <a:solidFill>
                  <a:srgbClr val="161B26"/>
                </a:solidFill>
                <a:latin typeface="Arial"/>
              </a:rPr>
              <a:t>BB84 Security and Eavesdropper Detection — Result</a:t>
            </a:r>
          </a:p>
        </p:txBody>
      </p:sp>
      <p:sp>
        <p:nvSpPr>
          <p:cNvPr id="6" name="Rectangle 5"/>
          <p:cNvSpPr/>
          <p:nvPr/>
        </p:nvSpPr>
        <p:spPr>
          <a:xfrm>
            <a:off x="777240" y="1554480"/>
            <a:ext cx="10634472" cy="18288"/>
          </a:xfrm>
          <a:prstGeom prst="rect">
            <a:avLst/>
          </a:prstGeom>
          <a:solidFill>
            <a:srgbClr val="E2E8F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Rectangle 6"/>
          <p:cNvSpPr/>
          <p:nvPr/>
        </p:nvSpPr>
        <p:spPr>
          <a:xfrm>
            <a:off x="777240" y="1783080"/>
            <a:ext cx="10634472" cy="1828800"/>
          </a:xfrm>
          <a:prstGeom prst="rect">
            <a:avLst/>
          </a:prstGeom>
          <a:solidFill>
            <a:srgbClr val="E8F7E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Rectangle 7"/>
          <p:cNvSpPr/>
          <p:nvPr/>
        </p:nvSpPr>
        <p:spPr>
          <a:xfrm>
            <a:off x="777240" y="1783080"/>
            <a:ext cx="100584" cy="1828800"/>
          </a:xfrm>
          <a:prstGeom prst="rect">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TextBox 8"/>
          <p:cNvSpPr txBox="1"/>
          <p:nvPr/>
        </p:nvSpPr>
        <p:spPr>
          <a:xfrm>
            <a:off x="1143000" y="1965960"/>
            <a:ext cx="10058400" cy="365760"/>
          </a:xfrm>
          <a:prstGeom prst="rect">
            <a:avLst/>
          </a:prstGeom>
          <a:noFill/>
        </p:spPr>
        <p:txBody>
          <a:bodyPr wrap="square" anchor="t">
            <a:spAutoFit/>
          </a:bodyPr>
          <a:lstStyle/>
          <a:p>
            <a:pPr algn="l">
              <a:spcAft>
                <a:spcPts val="400"/>
              </a:spcAft>
            </a:pPr>
            <a:r>
              <a:rPr sz="1200" b="1">
                <a:solidFill>
                  <a:srgbClr val="127A3E"/>
                </a:solidFill>
                <a:latin typeface="Arial"/>
              </a:rPr>
              <a:t>RESULT</a:t>
            </a:r>
          </a:p>
        </p:txBody>
      </p:sp>
      <p:sp>
        <p:nvSpPr>
          <p:cNvPr id="10" name="TextBox 9"/>
          <p:cNvSpPr txBox="1"/>
          <p:nvPr/>
        </p:nvSpPr>
        <p:spPr>
          <a:xfrm>
            <a:off x="1143000" y="2377440"/>
            <a:ext cx="10058400" cy="1143000"/>
          </a:xfrm>
          <a:prstGeom prst="rect">
            <a:avLst/>
          </a:prstGeom>
          <a:noFill/>
        </p:spPr>
        <p:txBody>
          <a:bodyPr wrap="square" anchor="t">
            <a:spAutoFit/>
          </a:bodyPr>
          <a:lstStyle/>
          <a:p>
            <a:pPr algn="l">
              <a:spcAft>
                <a:spcPts val="400"/>
              </a:spcAft>
            </a:pPr>
            <a:r>
              <a:rPr sz="1550" b="1">
                <a:solidFill>
                  <a:srgbClr val="161B26"/>
                </a:solidFill>
                <a:latin typeface="Arial"/>
              </a:rPr>
              <a:t>Intercept-resend produces a 25% QBER. Comparing 100 random sifted bits detects Eve with probability 1 - (3/4)¹⁰⁰ ≈ 1 - 3×10⁻¹³.</a:t>
            </a:r>
          </a:p>
        </p:txBody>
      </p:sp>
      <p:sp>
        <p:nvSpPr>
          <p:cNvPr id="11" name="Rectangle 10"/>
          <p:cNvSpPr/>
          <p:nvPr/>
        </p:nvSpPr>
        <p:spPr>
          <a:xfrm>
            <a:off x="777240" y="3840480"/>
            <a:ext cx="10634472" cy="2148840"/>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 name="Rectangle 11"/>
          <p:cNvSpPr/>
          <p:nvPr/>
        </p:nvSpPr>
        <p:spPr>
          <a:xfrm>
            <a:off x="777240" y="3840480"/>
            <a:ext cx="100584" cy="2148840"/>
          </a:xfrm>
          <a:prstGeom prst="rect">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 name="TextBox 12"/>
          <p:cNvSpPr txBox="1"/>
          <p:nvPr/>
        </p:nvSpPr>
        <p:spPr>
          <a:xfrm>
            <a:off x="1143000" y="4023360"/>
            <a:ext cx="10058400" cy="365760"/>
          </a:xfrm>
          <a:prstGeom prst="rect">
            <a:avLst/>
          </a:prstGeom>
          <a:noFill/>
        </p:spPr>
        <p:txBody>
          <a:bodyPr wrap="square" anchor="t">
            <a:spAutoFit/>
          </a:bodyPr>
          <a:lstStyle/>
          <a:p>
            <a:pPr algn="l">
              <a:spcAft>
                <a:spcPts val="400"/>
              </a:spcAft>
            </a:pPr>
            <a:r>
              <a:rPr sz="1200" b="1">
                <a:solidFill>
                  <a:srgbClr val="1F6FEB"/>
                </a:solidFill>
                <a:latin typeface="Arial"/>
              </a:rPr>
              <a:t>WHY IT MATTERS</a:t>
            </a:r>
          </a:p>
        </p:txBody>
      </p:sp>
      <p:sp>
        <p:nvSpPr>
          <p:cNvPr id="14" name="TextBox 13"/>
          <p:cNvSpPr txBox="1"/>
          <p:nvPr/>
        </p:nvSpPr>
        <p:spPr>
          <a:xfrm>
            <a:off x="1143000" y="4434840"/>
            <a:ext cx="10058400" cy="1463040"/>
          </a:xfrm>
          <a:prstGeom prst="rect">
            <a:avLst/>
          </a:prstGeom>
          <a:noFill/>
        </p:spPr>
        <p:txBody>
          <a:bodyPr wrap="square" anchor="t">
            <a:spAutoFit/>
          </a:bodyPr>
          <a:lstStyle/>
          <a:p>
            <a:pPr algn="l">
              <a:spcAft>
                <a:spcPts val="400"/>
              </a:spcAft>
            </a:pPr>
            <a:r>
              <a:rPr sz="1450" b="0">
                <a:solidFill>
                  <a:srgbClr val="161B26"/>
                </a:solidFill>
                <a:latin typeface="Arial"/>
              </a:rPr>
              <a:t>BB84's security rests on PHYSICS (no-cloning + measurement disturbance), not on a computational hardness assumption. A quantum computer does not weaken it — unlike RSA and ECC, which Shor's algorithm breaks outright.</a:t>
            </a:r>
          </a:p>
        </p:txBody>
      </p:sp>
      <p:sp>
        <p:nvSpPr>
          <p:cNvPr id="15" name="TextBox 14"/>
          <p:cNvSpPr txBox="1"/>
          <p:nvPr/>
        </p:nvSpPr>
        <p:spPr>
          <a:xfrm>
            <a:off x="365760" y="6446520"/>
            <a:ext cx="6858000" cy="320040"/>
          </a:xfrm>
          <a:prstGeom prst="rect">
            <a:avLst/>
          </a:prstGeom>
          <a:noFill/>
        </p:spPr>
        <p:txBody>
          <a:bodyPr wrap="square" anchor="t">
            <a:spAutoFit/>
          </a:bodyPr>
          <a:lstStyle/>
          <a:p>
            <a:pPr algn="l">
              <a:spcAft>
                <a:spcPts val="400"/>
              </a:spcAft>
            </a:pPr>
            <a:r>
              <a:rPr sz="900" b="0">
                <a:solidFill>
                  <a:srgbClr val="5B6372"/>
                </a:solidFill>
                <a:latin typeface="Arial"/>
              </a:rPr>
              <a:t>Securing the Future with Quantum Computing and Cryptography  ·  TGS-2024043419</a:t>
            </a:r>
          </a:p>
        </p:txBody>
      </p:sp>
      <p:sp>
        <p:nvSpPr>
          <p:cNvPr id="16" name="TextBox 15"/>
          <p:cNvSpPr txBox="1"/>
          <p:nvPr/>
        </p:nvSpPr>
        <p:spPr>
          <a:xfrm>
            <a:off x="4572000" y="6446520"/>
            <a:ext cx="3017520" cy="320040"/>
          </a:xfrm>
          <a:prstGeom prst="rect">
            <a:avLst/>
          </a:prstGeom>
          <a:noFill/>
        </p:spPr>
        <p:txBody>
          <a:bodyPr wrap="square" anchor="t">
            <a:spAutoFit/>
          </a:bodyPr>
          <a:lstStyle/>
          <a:p>
            <a:pPr algn="ctr">
              <a:spcAft>
                <a:spcPts val="400"/>
              </a:spcAft>
            </a:pPr>
            <a:r>
              <a:rPr sz="900" b="0">
                <a:solidFill>
                  <a:srgbClr val="5B6372"/>
                </a:solidFill>
                <a:latin typeface="Arial"/>
              </a:rPr>
              <a:t>© 2026 Tertiary Infotech Academy Pte Ltd</a:t>
            </a:r>
          </a:p>
        </p:txBody>
      </p:sp>
      <p:sp>
        <p:nvSpPr>
          <p:cNvPr id="17" name="TextBox 16"/>
          <p:cNvSpPr txBox="1"/>
          <p:nvPr/>
        </p:nvSpPr>
        <p:spPr>
          <a:xfrm>
            <a:off x="11338560" y="6446520"/>
            <a:ext cx="548640" cy="320040"/>
          </a:xfrm>
          <a:prstGeom prst="rect">
            <a:avLst/>
          </a:prstGeom>
          <a:noFill/>
        </p:spPr>
        <p:txBody>
          <a:bodyPr wrap="square" anchor="t">
            <a:spAutoFit/>
          </a:bodyPr>
          <a:lstStyle/>
          <a:p>
            <a:pPr algn="r">
              <a:spcAft>
                <a:spcPts val="400"/>
              </a:spcAft>
            </a:pPr>
            <a:r>
              <a:rPr sz="900" b="0">
                <a:solidFill>
                  <a:srgbClr val="5B6372"/>
                </a:solidFill>
                <a:latin typeface="Arial"/>
              </a:rPr>
              <a:t>109</a:t>
            </a:r>
          </a:p>
        </p:txBody>
      </p:sp>
    </p:spTree>
  </p:cSld>
  <p:clrMapOvr>
    <a:masterClrMapping/>
  </p:clrMapOvr>
</p:sld>
</file>

<file path=ppt/slides/slide111.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256032" cy="1417320"/>
          </a:xfrm>
          <a:prstGeom prst="rect">
            <a:avLst/>
          </a:prstGeom>
          <a:solidFill>
            <a:srgbClr val="7C3AE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777240" y="457200"/>
            <a:ext cx="10607040" cy="365760"/>
          </a:xfrm>
          <a:prstGeom prst="rect">
            <a:avLst/>
          </a:prstGeom>
          <a:noFill/>
        </p:spPr>
        <p:txBody>
          <a:bodyPr wrap="square" anchor="t">
            <a:spAutoFit/>
          </a:bodyPr>
          <a:lstStyle/>
          <a:p>
            <a:pPr algn="l">
              <a:spcAft>
                <a:spcPts val="400"/>
              </a:spcAft>
            </a:pPr>
            <a:r>
              <a:rPr sz="1400" b="1">
                <a:solidFill>
                  <a:srgbClr val="7C3AED"/>
                </a:solidFill>
                <a:latin typeface="Arial"/>
              </a:rPr>
              <a:t>DERIVATION</a:t>
            </a:r>
          </a:p>
        </p:txBody>
      </p:sp>
      <p:sp>
        <p:nvSpPr>
          <p:cNvPr id="5" name="TextBox 4"/>
          <p:cNvSpPr txBox="1"/>
          <p:nvPr/>
        </p:nvSpPr>
        <p:spPr>
          <a:xfrm>
            <a:off x="777240" y="822960"/>
            <a:ext cx="10881360" cy="822960"/>
          </a:xfrm>
          <a:prstGeom prst="rect">
            <a:avLst/>
          </a:prstGeom>
          <a:noFill/>
        </p:spPr>
        <p:txBody>
          <a:bodyPr wrap="square" anchor="t">
            <a:spAutoFit/>
          </a:bodyPr>
          <a:lstStyle/>
          <a:p>
            <a:pPr algn="l">
              <a:spcAft>
                <a:spcPts val="400"/>
              </a:spcAft>
            </a:pPr>
            <a:r>
              <a:rPr sz="2900" b="1">
                <a:solidFill>
                  <a:srgbClr val="161B26"/>
                </a:solidFill>
                <a:latin typeface="Arial"/>
              </a:rPr>
              <a:t>Proof — The CHSH Inequality and Bell Violation</a:t>
            </a:r>
          </a:p>
        </p:txBody>
      </p:sp>
      <p:sp>
        <p:nvSpPr>
          <p:cNvPr id="6" name="Rectangle 5"/>
          <p:cNvSpPr/>
          <p:nvPr/>
        </p:nvSpPr>
        <p:spPr>
          <a:xfrm>
            <a:off x="777240" y="1554480"/>
            <a:ext cx="10634472" cy="18288"/>
          </a:xfrm>
          <a:prstGeom prst="rect">
            <a:avLst/>
          </a:prstGeom>
          <a:solidFill>
            <a:srgbClr val="E2E8F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Rectangle 6"/>
          <p:cNvSpPr/>
          <p:nvPr/>
        </p:nvSpPr>
        <p:spPr>
          <a:xfrm>
            <a:off x="777240" y="1783080"/>
            <a:ext cx="10634472" cy="1371600"/>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Rectangle 7"/>
          <p:cNvSpPr/>
          <p:nvPr/>
        </p:nvSpPr>
        <p:spPr>
          <a:xfrm>
            <a:off x="777240" y="1783080"/>
            <a:ext cx="100584" cy="1371600"/>
          </a:xfrm>
          <a:prstGeom prst="rect">
            <a:avLst/>
          </a:prstGeom>
          <a:solidFill>
            <a:srgbClr val="7C3AE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TextBox 8"/>
          <p:cNvSpPr txBox="1"/>
          <p:nvPr/>
        </p:nvSpPr>
        <p:spPr>
          <a:xfrm>
            <a:off x="1143000" y="1938528"/>
            <a:ext cx="10058400" cy="365760"/>
          </a:xfrm>
          <a:prstGeom prst="rect">
            <a:avLst/>
          </a:prstGeom>
          <a:noFill/>
        </p:spPr>
        <p:txBody>
          <a:bodyPr wrap="square" anchor="t">
            <a:spAutoFit/>
          </a:bodyPr>
          <a:lstStyle/>
          <a:p>
            <a:pPr algn="l">
              <a:spcAft>
                <a:spcPts val="400"/>
              </a:spcAft>
            </a:pPr>
            <a:r>
              <a:rPr sz="1200" b="1">
                <a:solidFill>
                  <a:srgbClr val="7C3AED"/>
                </a:solidFill>
                <a:latin typeface="Arial"/>
              </a:rPr>
              <a:t>CLAIM</a:t>
            </a:r>
          </a:p>
        </p:txBody>
      </p:sp>
      <p:sp>
        <p:nvSpPr>
          <p:cNvPr id="10" name="TextBox 9"/>
          <p:cNvSpPr txBox="1"/>
          <p:nvPr/>
        </p:nvSpPr>
        <p:spPr>
          <a:xfrm>
            <a:off x="1143000" y="2304288"/>
            <a:ext cx="10058400" cy="777240"/>
          </a:xfrm>
          <a:prstGeom prst="rect">
            <a:avLst/>
          </a:prstGeom>
          <a:noFill/>
        </p:spPr>
        <p:txBody>
          <a:bodyPr wrap="square" anchor="t">
            <a:spAutoFit/>
          </a:bodyPr>
          <a:lstStyle/>
          <a:p>
            <a:pPr algn="l">
              <a:spcAft>
                <a:spcPts val="400"/>
              </a:spcAft>
            </a:pPr>
            <a:r>
              <a:rPr sz="1550" b="1">
                <a:solidFill>
                  <a:srgbClr val="161B26"/>
                </a:solidFill>
                <a:latin typeface="Arial"/>
              </a:rPr>
              <a:t>Local hidden-variable theories obey |S| ≤ 2, but quantum mechanics reaches 2√2 ≈ 2.828.</a:t>
            </a:r>
          </a:p>
        </p:txBody>
      </p:sp>
      <p:sp>
        <p:nvSpPr>
          <p:cNvPr id="11" name="TextBox 10"/>
          <p:cNvSpPr txBox="1"/>
          <p:nvPr/>
        </p:nvSpPr>
        <p:spPr>
          <a:xfrm>
            <a:off x="777240" y="3364992"/>
            <a:ext cx="10607040" cy="365760"/>
          </a:xfrm>
          <a:prstGeom prst="rect">
            <a:avLst/>
          </a:prstGeom>
          <a:noFill/>
        </p:spPr>
        <p:txBody>
          <a:bodyPr wrap="square" anchor="t">
            <a:spAutoFit/>
          </a:bodyPr>
          <a:lstStyle/>
          <a:p>
            <a:pPr algn="l">
              <a:spcAft>
                <a:spcPts val="400"/>
              </a:spcAft>
            </a:pPr>
            <a:r>
              <a:rPr sz="1200" b="1">
                <a:solidFill>
                  <a:srgbClr val="1F6FEB"/>
                </a:solidFill>
                <a:latin typeface="Arial"/>
              </a:rPr>
              <a:t>GIVEN</a:t>
            </a:r>
          </a:p>
        </p:txBody>
      </p:sp>
      <p:sp>
        <p:nvSpPr>
          <p:cNvPr id="12" name="Rectangle 11"/>
          <p:cNvSpPr/>
          <p:nvPr/>
        </p:nvSpPr>
        <p:spPr>
          <a:xfrm>
            <a:off x="777240" y="3730752"/>
            <a:ext cx="10634472" cy="783336"/>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 name="Rectangle 12"/>
          <p:cNvSpPr/>
          <p:nvPr/>
        </p:nvSpPr>
        <p:spPr>
          <a:xfrm>
            <a:off x="777240" y="3730752"/>
            <a:ext cx="82296" cy="783336"/>
          </a:xfrm>
          <a:prstGeom prst="rect">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 name="TextBox 13"/>
          <p:cNvSpPr txBox="1"/>
          <p:nvPr/>
        </p:nvSpPr>
        <p:spPr>
          <a:xfrm>
            <a:off x="1097280" y="3730752"/>
            <a:ext cx="10149840" cy="783336"/>
          </a:xfrm>
          <a:prstGeom prst="rect">
            <a:avLst/>
          </a:prstGeom>
          <a:noFill/>
        </p:spPr>
        <p:txBody>
          <a:bodyPr wrap="square" anchor="ctr">
            <a:spAutoFit/>
          </a:bodyPr>
          <a:lstStyle/>
          <a:p>
            <a:pPr algn="l">
              <a:spcAft>
                <a:spcPts val="400"/>
              </a:spcAft>
            </a:pPr>
            <a:r>
              <a:rPr sz="1300" b="0">
                <a:solidFill>
                  <a:srgbClr val="161B26"/>
                </a:solidFill>
                <a:latin typeface="Arial"/>
              </a:rPr>
              <a:t>Alice measures A₀ or A₁; Bob measures B₀ or B₁. Each outcome is ±1.</a:t>
            </a:r>
          </a:p>
        </p:txBody>
      </p:sp>
      <p:sp>
        <p:nvSpPr>
          <p:cNvPr id="15" name="Rectangle 14"/>
          <p:cNvSpPr/>
          <p:nvPr/>
        </p:nvSpPr>
        <p:spPr>
          <a:xfrm>
            <a:off x="777240" y="4642104"/>
            <a:ext cx="10634472" cy="783336"/>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6" name="Rectangle 15"/>
          <p:cNvSpPr/>
          <p:nvPr/>
        </p:nvSpPr>
        <p:spPr>
          <a:xfrm>
            <a:off x="777240" y="4642104"/>
            <a:ext cx="82296" cy="783336"/>
          </a:xfrm>
          <a:prstGeom prst="rect">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7" name="TextBox 16"/>
          <p:cNvSpPr txBox="1"/>
          <p:nvPr/>
        </p:nvSpPr>
        <p:spPr>
          <a:xfrm>
            <a:off x="1097280" y="4642104"/>
            <a:ext cx="10149840" cy="783336"/>
          </a:xfrm>
          <a:prstGeom prst="rect">
            <a:avLst/>
          </a:prstGeom>
          <a:noFill/>
        </p:spPr>
        <p:txBody>
          <a:bodyPr wrap="square" anchor="ctr">
            <a:spAutoFit/>
          </a:bodyPr>
          <a:lstStyle/>
          <a:p>
            <a:pPr algn="l">
              <a:spcAft>
                <a:spcPts val="400"/>
              </a:spcAft>
            </a:pPr>
            <a:r>
              <a:rPr sz="1300" b="0">
                <a:solidFill>
                  <a:srgbClr val="161B26"/>
                </a:solidFill>
                <a:latin typeface="Arial"/>
              </a:rPr>
              <a:t>The CHSH quantity:  S = &lt;A₀B₀&gt; + &lt;A₀B₁&gt; + &lt;A₁B₀&gt; - &lt;A₁B₁&gt;.</a:t>
            </a:r>
          </a:p>
        </p:txBody>
      </p:sp>
      <p:sp>
        <p:nvSpPr>
          <p:cNvPr id="18" name="Rectangle 17"/>
          <p:cNvSpPr/>
          <p:nvPr/>
        </p:nvSpPr>
        <p:spPr>
          <a:xfrm>
            <a:off x="777240" y="5553456"/>
            <a:ext cx="10634472" cy="783336"/>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9" name="Rectangle 18"/>
          <p:cNvSpPr/>
          <p:nvPr/>
        </p:nvSpPr>
        <p:spPr>
          <a:xfrm>
            <a:off x="777240" y="5553456"/>
            <a:ext cx="82296" cy="783336"/>
          </a:xfrm>
          <a:prstGeom prst="rect">
            <a:avLst/>
          </a:prstGeom>
          <a:solidFill>
            <a:srgbClr val="7C3AE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0" name="TextBox 19"/>
          <p:cNvSpPr txBox="1"/>
          <p:nvPr/>
        </p:nvSpPr>
        <p:spPr>
          <a:xfrm>
            <a:off x="1097280" y="5553456"/>
            <a:ext cx="10149840" cy="783336"/>
          </a:xfrm>
          <a:prstGeom prst="rect">
            <a:avLst/>
          </a:prstGeom>
          <a:noFill/>
        </p:spPr>
        <p:txBody>
          <a:bodyPr wrap="square" anchor="ctr">
            <a:spAutoFit/>
          </a:bodyPr>
          <a:lstStyle/>
          <a:p>
            <a:pPr algn="l">
              <a:spcAft>
                <a:spcPts val="400"/>
              </a:spcAft>
            </a:pPr>
            <a:r>
              <a:rPr sz="1300" b="0">
                <a:solidFill>
                  <a:srgbClr val="161B26"/>
                </a:solidFill>
                <a:latin typeface="Arial"/>
              </a:rPr>
              <a:t>LOCAL REALISM assumes each measurement has a definite pre-existing value.</a:t>
            </a:r>
          </a:p>
        </p:txBody>
      </p:sp>
      <p:sp>
        <p:nvSpPr>
          <p:cNvPr id="21" name="TextBox 20"/>
          <p:cNvSpPr txBox="1"/>
          <p:nvPr/>
        </p:nvSpPr>
        <p:spPr>
          <a:xfrm>
            <a:off x="365760" y="6446520"/>
            <a:ext cx="6858000" cy="320040"/>
          </a:xfrm>
          <a:prstGeom prst="rect">
            <a:avLst/>
          </a:prstGeom>
          <a:noFill/>
        </p:spPr>
        <p:txBody>
          <a:bodyPr wrap="square" anchor="t">
            <a:spAutoFit/>
          </a:bodyPr>
          <a:lstStyle/>
          <a:p>
            <a:pPr algn="l">
              <a:spcAft>
                <a:spcPts val="400"/>
              </a:spcAft>
            </a:pPr>
            <a:r>
              <a:rPr sz="900" b="0">
                <a:solidFill>
                  <a:srgbClr val="5B6372"/>
                </a:solidFill>
                <a:latin typeface="Arial"/>
              </a:rPr>
              <a:t>Securing the Future with Quantum Computing and Cryptography  ·  TGS-2024043419</a:t>
            </a:r>
          </a:p>
        </p:txBody>
      </p:sp>
      <p:sp>
        <p:nvSpPr>
          <p:cNvPr id="22" name="TextBox 21"/>
          <p:cNvSpPr txBox="1"/>
          <p:nvPr/>
        </p:nvSpPr>
        <p:spPr>
          <a:xfrm>
            <a:off x="4572000" y="6446520"/>
            <a:ext cx="3017520" cy="320040"/>
          </a:xfrm>
          <a:prstGeom prst="rect">
            <a:avLst/>
          </a:prstGeom>
          <a:noFill/>
        </p:spPr>
        <p:txBody>
          <a:bodyPr wrap="square" anchor="t">
            <a:spAutoFit/>
          </a:bodyPr>
          <a:lstStyle/>
          <a:p>
            <a:pPr algn="ctr">
              <a:spcAft>
                <a:spcPts val="400"/>
              </a:spcAft>
            </a:pPr>
            <a:r>
              <a:rPr sz="900" b="0">
                <a:solidFill>
                  <a:srgbClr val="5B6372"/>
                </a:solidFill>
                <a:latin typeface="Arial"/>
              </a:rPr>
              <a:t>© 2026 Tertiary Infotech Academy Pte Ltd</a:t>
            </a:r>
          </a:p>
        </p:txBody>
      </p:sp>
      <p:sp>
        <p:nvSpPr>
          <p:cNvPr id="23" name="TextBox 22"/>
          <p:cNvSpPr txBox="1"/>
          <p:nvPr/>
        </p:nvSpPr>
        <p:spPr>
          <a:xfrm>
            <a:off x="11338560" y="6446520"/>
            <a:ext cx="548640" cy="320040"/>
          </a:xfrm>
          <a:prstGeom prst="rect">
            <a:avLst/>
          </a:prstGeom>
          <a:noFill/>
        </p:spPr>
        <p:txBody>
          <a:bodyPr wrap="square" anchor="t">
            <a:spAutoFit/>
          </a:bodyPr>
          <a:lstStyle/>
          <a:p>
            <a:pPr algn="r">
              <a:spcAft>
                <a:spcPts val="400"/>
              </a:spcAft>
            </a:pPr>
            <a:r>
              <a:rPr sz="900" b="0">
                <a:solidFill>
                  <a:srgbClr val="5B6372"/>
                </a:solidFill>
                <a:latin typeface="Arial"/>
              </a:rPr>
              <a:t>110</a:t>
            </a:r>
          </a:p>
        </p:txBody>
      </p:sp>
    </p:spTree>
  </p:cSld>
  <p:clrMapOvr>
    <a:masterClrMapping/>
  </p:clrMapOvr>
</p:sld>
</file>

<file path=ppt/slides/slide112.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256032" cy="1417320"/>
          </a:xfrm>
          <a:prstGeom prst="rect">
            <a:avLst/>
          </a:prstGeom>
          <a:solidFill>
            <a:srgbClr val="7C3AE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777240" y="457200"/>
            <a:ext cx="10607040" cy="365760"/>
          </a:xfrm>
          <a:prstGeom prst="rect">
            <a:avLst/>
          </a:prstGeom>
          <a:noFill/>
        </p:spPr>
        <p:txBody>
          <a:bodyPr wrap="square" anchor="t">
            <a:spAutoFit/>
          </a:bodyPr>
          <a:lstStyle/>
          <a:p>
            <a:pPr algn="l">
              <a:spcAft>
                <a:spcPts val="400"/>
              </a:spcAft>
            </a:pPr>
            <a:r>
              <a:rPr sz="1400" b="1">
                <a:solidFill>
                  <a:srgbClr val="7C3AED"/>
                </a:solidFill>
                <a:latin typeface="Arial"/>
              </a:rPr>
              <a:t>THE CHSH INEQUALITY AND BELL VIOLATION  ·  STEP 1 OF 4</a:t>
            </a:r>
          </a:p>
        </p:txBody>
      </p:sp>
      <p:sp>
        <p:nvSpPr>
          <p:cNvPr id="5" name="TextBox 4"/>
          <p:cNvSpPr txBox="1"/>
          <p:nvPr/>
        </p:nvSpPr>
        <p:spPr>
          <a:xfrm>
            <a:off x="777240" y="822960"/>
            <a:ext cx="10881360" cy="822960"/>
          </a:xfrm>
          <a:prstGeom prst="rect">
            <a:avLst/>
          </a:prstGeom>
          <a:noFill/>
        </p:spPr>
        <p:txBody>
          <a:bodyPr wrap="square" anchor="t">
            <a:spAutoFit/>
          </a:bodyPr>
          <a:lstStyle/>
          <a:p>
            <a:pPr algn="l">
              <a:spcAft>
                <a:spcPts val="400"/>
              </a:spcAft>
            </a:pPr>
            <a:r>
              <a:rPr sz="2900" b="1">
                <a:solidFill>
                  <a:srgbClr val="161B26"/>
                </a:solidFill>
                <a:latin typeface="Arial"/>
              </a:rPr>
              <a:t>Step 1 — The classical bound</a:t>
            </a:r>
          </a:p>
        </p:txBody>
      </p:sp>
      <p:sp>
        <p:nvSpPr>
          <p:cNvPr id="6" name="Rectangle 5"/>
          <p:cNvSpPr/>
          <p:nvPr/>
        </p:nvSpPr>
        <p:spPr>
          <a:xfrm>
            <a:off x="777240" y="1554480"/>
            <a:ext cx="10634472" cy="18288"/>
          </a:xfrm>
          <a:prstGeom prst="rect">
            <a:avLst/>
          </a:prstGeom>
          <a:solidFill>
            <a:srgbClr val="E2E8F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Rectangle 6"/>
          <p:cNvSpPr/>
          <p:nvPr/>
        </p:nvSpPr>
        <p:spPr>
          <a:xfrm>
            <a:off x="777240" y="1810512"/>
            <a:ext cx="10634472" cy="2633472"/>
          </a:xfrm>
          <a:prstGeom prst="rect">
            <a:avLst/>
          </a:prstGeom>
          <a:solidFill>
            <a:srgbClr val="0B122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TextBox 7"/>
          <p:cNvSpPr txBox="1"/>
          <p:nvPr/>
        </p:nvSpPr>
        <p:spPr>
          <a:xfrm>
            <a:off x="1097280" y="1956816"/>
            <a:ext cx="9994392" cy="2340864"/>
          </a:xfrm>
          <a:prstGeom prst="rect">
            <a:avLst/>
          </a:prstGeom>
          <a:noFill/>
        </p:spPr>
        <p:txBody>
          <a:bodyPr wrap="square" anchor="t">
            <a:spAutoFit/>
          </a:bodyPr>
          <a:lstStyle/>
          <a:p>
            <a:pPr algn="l">
              <a:spcAft>
                <a:spcPts val="300"/>
              </a:spcAft>
            </a:pPr>
            <a:r>
              <a:rPr sz="1550" b="0">
                <a:solidFill>
                  <a:srgbClr val="9CDCFE"/>
                </a:solidFill>
                <a:latin typeface="Arial"/>
              </a:rPr>
              <a:t>Under local realism every a₀,a₁,b₀,b₁ ∈ {+1,-1} exists simultaneously.</a:t>
            </a:r>
          </a:p>
          <a:p>
            <a:pPr algn="l">
              <a:spcAft>
                <a:spcPts val="300"/>
              </a:spcAft>
            </a:pPr>
            <a:r>
              <a:rPr sz="1550" b="0">
                <a:solidFill>
                  <a:srgbClr val="0B1220"/>
                </a:solidFill>
                <a:latin typeface="Arial"/>
              </a:rPr>
              <a:t> </a:t>
            </a:r>
          </a:p>
          <a:p>
            <a:pPr algn="l">
              <a:spcAft>
                <a:spcPts val="300"/>
              </a:spcAft>
            </a:pPr>
            <a:r>
              <a:rPr sz="1550" b="0">
                <a:solidFill>
                  <a:srgbClr val="9CDCFE"/>
                </a:solidFill>
                <a:latin typeface="Arial"/>
              </a:rPr>
              <a:t>   S = a₀b₀ + a₀b₁ + a₁b₀ - a₁b₁</a:t>
            </a:r>
          </a:p>
          <a:p>
            <a:pPr algn="l">
              <a:spcAft>
                <a:spcPts val="300"/>
              </a:spcAft>
            </a:pPr>
            <a:r>
              <a:rPr sz="1550" b="0">
                <a:solidFill>
                  <a:srgbClr val="9CDCFE"/>
                </a:solidFill>
                <a:latin typeface="Arial"/>
              </a:rPr>
              <a:t>     = a₀(b₀ + b₁) + a₁(b₀ - b₁)</a:t>
            </a:r>
          </a:p>
          <a:p>
            <a:pPr algn="l">
              <a:spcAft>
                <a:spcPts val="300"/>
              </a:spcAft>
            </a:pPr>
            <a:r>
              <a:rPr sz="1550" b="0">
                <a:solidFill>
                  <a:srgbClr val="0B1220"/>
                </a:solidFill>
                <a:latin typeface="Arial"/>
              </a:rPr>
              <a:t> </a:t>
            </a:r>
          </a:p>
          <a:p>
            <a:pPr algn="l">
              <a:spcAft>
                <a:spcPts val="300"/>
              </a:spcAft>
            </a:pPr>
            <a:r>
              <a:rPr sz="1550" b="0">
                <a:solidFill>
                  <a:srgbClr val="9CDCFE"/>
                </a:solidFill>
                <a:latin typeface="Arial"/>
              </a:rPr>
              <a:t>Since b₀,b₁ = ±1, one of (b₀+b₁), (b₀-b₁) is 0 and the other is ±2.</a:t>
            </a:r>
          </a:p>
          <a:p>
            <a:pPr algn="l">
              <a:spcAft>
                <a:spcPts val="300"/>
              </a:spcAft>
            </a:pPr>
            <a:r>
              <a:rPr sz="1550" b="0">
                <a:solidFill>
                  <a:srgbClr val="9CDCFE"/>
                </a:solidFill>
                <a:latin typeface="Arial"/>
              </a:rPr>
              <a:t>So S = ±2 in every case, hence  |S| ≤ 2.</a:t>
            </a:r>
          </a:p>
        </p:txBody>
      </p:sp>
      <p:sp>
        <p:nvSpPr>
          <p:cNvPr id="9" name="Rectangle 8"/>
          <p:cNvSpPr/>
          <p:nvPr/>
        </p:nvSpPr>
        <p:spPr>
          <a:xfrm>
            <a:off x="777240" y="4645152"/>
            <a:ext cx="10634472" cy="1408176"/>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Rectangle 9"/>
          <p:cNvSpPr/>
          <p:nvPr/>
        </p:nvSpPr>
        <p:spPr>
          <a:xfrm>
            <a:off x="777240" y="4645152"/>
            <a:ext cx="82296" cy="1408176"/>
          </a:xfrm>
          <a:prstGeom prst="rect">
            <a:avLst/>
          </a:prstGeom>
          <a:solidFill>
            <a:srgbClr val="F59E0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 name="TextBox 10"/>
          <p:cNvSpPr txBox="1"/>
          <p:nvPr/>
        </p:nvSpPr>
        <p:spPr>
          <a:xfrm>
            <a:off x="1097280" y="4645152"/>
            <a:ext cx="10149840" cy="1408176"/>
          </a:xfrm>
          <a:prstGeom prst="rect">
            <a:avLst/>
          </a:prstGeom>
          <a:noFill/>
        </p:spPr>
        <p:txBody>
          <a:bodyPr wrap="square" anchor="ctr">
            <a:spAutoFit/>
          </a:bodyPr>
          <a:lstStyle/>
          <a:p>
            <a:pPr algn="l">
              <a:spcAft>
                <a:spcPts val="400"/>
              </a:spcAft>
            </a:pPr>
            <a:r>
              <a:rPr sz="1150" b="1">
                <a:solidFill>
                  <a:srgbClr val="F59E0B"/>
                </a:solidFill>
                <a:latin typeface="Arial"/>
              </a:rPr>
              <a:t>WHY THIS STEP:  </a:t>
            </a:r>
            <a:r>
              <a:rPr sz="1300" b="0">
                <a:solidFill>
                  <a:srgbClr val="161B26"/>
                </a:solidFill>
                <a:latin typeface="Arial"/>
              </a:rPr>
              <a:t>This is the CHSH inequality. It assumes ONLY locality and realism — no physics beyond that.</a:t>
            </a:r>
          </a:p>
        </p:txBody>
      </p:sp>
      <p:sp>
        <p:nvSpPr>
          <p:cNvPr id="12" name="TextBox 11"/>
          <p:cNvSpPr txBox="1"/>
          <p:nvPr/>
        </p:nvSpPr>
        <p:spPr>
          <a:xfrm>
            <a:off x="365760" y="6446520"/>
            <a:ext cx="6858000" cy="320040"/>
          </a:xfrm>
          <a:prstGeom prst="rect">
            <a:avLst/>
          </a:prstGeom>
          <a:noFill/>
        </p:spPr>
        <p:txBody>
          <a:bodyPr wrap="square" anchor="t">
            <a:spAutoFit/>
          </a:bodyPr>
          <a:lstStyle/>
          <a:p>
            <a:pPr algn="l">
              <a:spcAft>
                <a:spcPts val="400"/>
              </a:spcAft>
            </a:pPr>
            <a:r>
              <a:rPr sz="900" b="0">
                <a:solidFill>
                  <a:srgbClr val="5B6372"/>
                </a:solidFill>
                <a:latin typeface="Arial"/>
              </a:rPr>
              <a:t>Securing the Future with Quantum Computing and Cryptography  ·  TGS-2024043419</a:t>
            </a:r>
          </a:p>
        </p:txBody>
      </p:sp>
      <p:sp>
        <p:nvSpPr>
          <p:cNvPr id="13" name="TextBox 12"/>
          <p:cNvSpPr txBox="1"/>
          <p:nvPr/>
        </p:nvSpPr>
        <p:spPr>
          <a:xfrm>
            <a:off x="4572000" y="6446520"/>
            <a:ext cx="3017520" cy="320040"/>
          </a:xfrm>
          <a:prstGeom prst="rect">
            <a:avLst/>
          </a:prstGeom>
          <a:noFill/>
        </p:spPr>
        <p:txBody>
          <a:bodyPr wrap="square" anchor="t">
            <a:spAutoFit/>
          </a:bodyPr>
          <a:lstStyle/>
          <a:p>
            <a:pPr algn="ctr">
              <a:spcAft>
                <a:spcPts val="400"/>
              </a:spcAft>
            </a:pPr>
            <a:r>
              <a:rPr sz="900" b="0">
                <a:solidFill>
                  <a:srgbClr val="5B6372"/>
                </a:solidFill>
                <a:latin typeface="Arial"/>
              </a:rPr>
              <a:t>© 2026 Tertiary Infotech Academy Pte Ltd</a:t>
            </a:r>
          </a:p>
        </p:txBody>
      </p:sp>
      <p:sp>
        <p:nvSpPr>
          <p:cNvPr id="14" name="TextBox 13"/>
          <p:cNvSpPr txBox="1"/>
          <p:nvPr/>
        </p:nvSpPr>
        <p:spPr>
          <a:xfrm>
            <a:off x="11338560" y="6446520"/>
            <a:ext cx="548640" cy="320040"/>
          </a:xfrm>
          <a:prstGeom prst="rect">
            <a:avLst/>
          </a:prstGeom>
          <a:noFill/>
        </p:spPr>
        <p:txBody>
          <a:bodyPr wrap="square" anchor="t">
            <a:spAutoFit/>
          </a:bodyPr>
          <a:lstStyle/>
          <a:p>
            <a:pPr algn="r">
              <a:spcAft>
                <a:spcPts val="400"/>
              </a:spcAft>
            </a:pPr>
            <a:r>
              <a:rPr sz="900" b="0">
                <a:solidFill>
                  <a:srgbClr val="5B6372"/>
                </a:solidFill>
                <a:latin typeface="Arial"/>
              </a:rPr>
              <a:t>111</a:t>
            </a:r>
          </a:p>
        </p:txBody>
      </p:sp>
    </p:spTree>
  </p:cSld>
  <p:clrMapOvr>
    <a:masterClrMapping/>
  </p:clrMapOvr>
</p:sld>
</file>

<file path=ppt/slides/slide113.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256032" cy="1417320"/>
          </a:xfrm>
          <a:prstGeom prst="rect">
            <a:avLst/>
          </a:prstGeom>
          <a:solidFill>
            <a:srgbClr val="7C3AE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777240" y="457200"/>
            <a:ext cx="10607040" cy="365760"/>
          </a:xfrm>
          <a:prstGeom prst="rect">
            <a:avLst/>
          </a:prstGeom>
          <a:noFill/>
        </p:spPr>
        <p:txBody>
          <a:bodyPr wrap="square" anchor="t">
            <a:spAutoFit/>
          </a:bodyPr>
          <a:lstStyle/>
          <a:p>
            <a:pPr algn="l">
              <a:spcAft>
                <a:spcPts val="400"/>
              </a:spcAft>
            </a:pPr>
            <a:r>
              <a:rPr sz="1400" b="1">
                <a:solidFill>
                  <a:srgbClr val="7C3AED"/>
                </a:solidFill>
                <a:latin typeface="Arial"/>
              </a:rPr>
              <a:t>THE CHSH INEQUALITY AND BELL VIOLATION  ·  STEP 2 OF 4</a:t>
            </a:r>
          </a:p>
        </p:txBody>
      </p:sp>
      <p:sp>
        <p:nvSpPr>
          <p:cNvPr id="5" name="TextBox 4"/>
          <p:cNvSpPr txBox="1"/>
          <p:nvPr/>
        </p:nvSpPr>
        <p:spPr>
          <a:xfrm>
            <a:off x="777240" y="822960"/>
            <a:ext cx="10881360" cy="822960"/>
          </a:xfrm>
          <a:prstGeom prst="rect">
            <a:avLst/>
          </a:prstGeom>
          <a:noFill/>
        </p:spPr>
        <p:txBody>
          <a:bodyPr wrap="square" anchor="t">
            <a:spAutoFit/>
          </a:bodyPr>
          <a:lstStyle/>
          <a:p>
            <a:pPr algn="l">
              <a:spcAft>
                <a:spcPts val="400"/>
              </a:spcAft>
            </a:pPr>
            <a:r>
              <a:rPr sz="2900" b="1">
                <a:solidFill>
                  <a:srgbClr val="161B26"/>
                </a:solidFill>
                <a:latin typeface="Arial"/>
              </a:rPr>
              <a:t>Step 2 — The quantum prediction</a:t>
            </a:r>
          </a:p>
        </p:txBody>
      </p:sp>
      <p:sp>
        <p:nvSpPr>
          <p:cNvPr id="6" name="Rectangle 5"/>
          <p:cNvSpPr/>
          <p:nvPr/>
        </p:nvSpPr>
        <p:spPr>
          <a:xfrm>
            <a:off x="777240" y="1554480"/>
            <a:ext cx="10634472" cy="18288"/>
          </a:xfrm>
          <a:prstGeom prst="rect">
            <a:avLst/>
          </a:prstGeom>
          <a:solidFill>
            <a:srgbClr val="E2E8F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Rectangle 6"/>
          <p:cNvSpPr/>
          <p:nvPr/>
        </p:nvSpPr>
        <p:spPr>
          <a:xfrm>
            <a:off x="777240" y="1810512"/>
            <a:ext cx="10634472" cy="2322576"/>
          </a:xfrm>
          <a:prstGeom prst="rect">
            <a:avLst/>
          </a:prstGeom>
          <a:solidFill>
            <a:srgbClr val="0B122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TextBox 7"/>
          <p:cNvSpPr txBox="1"/>
          <p:nvPr/>
        </p:nvSpPr>
        <p:spPr>
          <a:xfrm>
            <a:off x="1097280" y="1956816"/>
            <a:ext cx="9994392" cy="2029968"/>
          </a:xfrm>
          <a:prstGeom prst="rect">
            <a:avLst/>
          </a:prstGeom>
          <a:noFill/>
        </p:spPr>
        <p:txBody>
          <a:bodyPr wrap="square" anchor="t">
            <a:spAutoFit/>
          </a:bodyPr>
          <a:lstStyle/>
          <a:p>
            <a:pPr algn="l">
              <a:spcAft>
                <a:spcPts val="300"/>
              </a:spcAft>
            </a:pPr>
            <a:r>
              <a:rPr sz="1550" b="0">
                <a:solidFill>
                  <a:srgbClr val="9CDCFE"/>
                </a:solidFill>
                <a:latin typeface="Arial"/>
              </a:rPr>
              <a:t>Take the singlet  |Ψ-&gt; = (|01&gt; - |10&gt;)/√2.</a:t>
            </a:r>
          </a:p>
          <a:p>
            <a:pPr algn="l">
              <a:spcAft>
                <a:spcPts val="300"/>
              </a:spcAft>
            </a:pPr>
            <a:r>
              <a:rPr sz="1550" b="0">
                <a:solidFill>
                  <a:srgbClr val="9CDCFE"/>
                </a:solidFill>
                <a:latin typeface="Arial"/>
              </a:rPr>
              <a:t>For measurement directions a and b, quantum mechanics predicts:</a:t>
            </a:r>
          </a:p>
          <a:p>
            <a:pPr algn="l">
              <a:spcAft>
                <a:spcPts val="300"/>
              </a:spcAft>
            </a:pPr>
            <a:r>
              <a:rPr sz="1550" b="0">
                <a:solidFill>
                  <a:srgbClr val="0B1220"/>
                </a:solidFill>
                <a:latin typeface="Arial"/>
              </a:rPr>
              <a:t> </a:t>
            </a:r>
          </a:p>
          <a:p>
            <a:pPr algn="l">
              <a:spcAft>
                <a:spcPts val="300"/>
              </a:spcAft>
            </a:pPr>
            <a:r>
              <a:rPr sz="1550" b="0">
                <a:solidFill>
                  <a:srgbClr val="9CDCFE"/>
                </a:solidFill>
                <a:latin typeface="Arial"/>
              </a:rPr>
              <a:t>   &lt;A(a)B(b)&gt;  =  -cos(θ_ab)</a:t>
            </a:r>
          </a:p>
          <a:p>
            <a:pPr algn="l">
              <a:spcAft>
                <a:spcPts val="300"/>
              </a:spcAft>
            </a:pPr>
            <a:r>
              <a:rPr sz="1550" b="0">
                <a:solidFill>
                  <a:srgbClr val="0B1220"/>
                </a:solidFill>
                <a:latin typeface="Arial"/>
              </a:rPr>
              <a:t> </a:t>
            </a:r>
          </a:p>
          <a:p>
            <a:pPr algn="l">
              <a:spcAft>
                <a:spcPts val="300"/>
              </a:spcAft>
            </a:pPr>
            <a:r>
              <a:rPr sz="1550" b="0">
                <a:solidFill>
                  <a:srgbClr val="9CDCFE"/>
                </a:solidFill>
                <a:latin typeface="Arial"/>
              </a:rPr>
              <a:t>where θ_ab is the angle between the two measurement axes.</a:t>
            </a:r>
          </a:p>
        </p:txBody>
      </p:sp>
      <p:sp>
        <p:nvSpPr>
          <p:cNvPr id="9" name="Rectangle 8"/>
          <p:cNvSpPr/>
          <p:nvPr/>
        </p:nvSpPr>
        <p:spPr>
          <a:xfrm>
            <a:off x="777240" y="4334256"/>
            <a:ext cx="10634472" cy="1719072"/>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Rectangle 9"/>
          <p:cNvSpPr/>
          <p:nvPr/>
        </p:nvSpPr>
        <p:spPr>
          <a:xfrm>
            <a:off x="777240" y="4334256"/>
            <a:ext cx="82296" cy="1719072"/>
          </a:xfrm>
          <a:prstGeom prst="rect">
            <a:avLst/>
          </a:prstGeom>
          <a:solidFill>
            <a:srgbClr val="F59E0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 name="TextBox 10"/>
          <p:cNvSpPr txBox="1"/>
          <p:nvPr/>
        </p:nvSpPr>
        <p:spPr>
          <a:xfrm>
            <a:off x="1097280" y="4334256"/>
            <a:ext cx="10149840" cy="1719072"/>
          </a:xfrm>
          <a:prstGeom prst="rect">
            <a:avLst/>
          </a:prstGeom>
          <a:noFill/>
        </p:spPr>
        <p:txBody>
          <a:bodyPr wrap="square" anchor="ctr">
            <a:spAutoFit/>
          </a:bodyPr>
          <a:lstStyle/>
          <a:p>
            <a:pPr algn="l">
              <a:spcAft>
                <a:spcPts val="400"/>
              </a:spcAft>
            </a:pPr>
            <a:r>
              <a:rPr sz="1150" b="1">
                <a:solidFill>
                  <a:srgbClr val="F59E0B"/>
                </a:solidFill>
                <a:latin typeface="Arial"/>
              </a:rPr>
              <a:t>WHY THIS STEP:  </a:t>
            </a:r>
            <a:r>
              <a:rPr sz="1300" b="0">
                <a:solidFill>
                  <a:srgbClr val="161B26"/>
                </a:solidFill>
                <a:latin typeface="Arial"/>
              </a:rPr>
              <a:t>This correlation is derived from the Born rule alone.</a:t>
            </a:r>
          </a:p>
        </p:txBody>
      </p:sp>
      <p:sp>
        <p:nvSpPr>
          <p:cNvPr id="12" name="TextBox 11"/>
          <p:cNvSpPr txBox="1"/>
          <p:nvPr/>
        </p:nvSpPr>
        <p:spPr>
          <a:xfrm>
            <a:off x="365760" y="6446520"/>
            <a:ext cx="6858000" cy="320040"/>
          </a:xfrm>
          <a:prstGeom prst="rect">
            <a:avLst/>
          </a:prstGeom>
          <a:noFill/>
        </p:spPr>
        <p:txBody>
          <a:bodyPr wrap="square" anchor="t">
            <a:spAutoFit/>
          </a:bodyPr>
          <a:lstStyle/>
          <a:p>
            <a:pPr algn="l">
              <a:spcAft>
                <a:spcPts val="400"/>
              </a:spcAft>
            </a:pPr>
            <a:r>
              <a:rPr sz="900" b="0">
                <a:solidFill>
                  <a:srgbClr val="5B6372"/>
                </a:solidFill>
                <a:latin typeface="Arial"/>
              </a:rPr>
              <a:t>Securing the Future with Quantum Computing and Cryptography  ·  TGS-2024043419</a:t>
            </a:r>
          </a:p>
        </p:txBody>
      </p:sp>
      <p:sp>
        <p:nvSpPr>
          <p:cNvPr id="13" name="TextBox 12"/>
          <p:cNvSpPr txBox="1"/>
          <p:nvPr/>
        </p:nvSpPr>
        <p:spPr>
          <a:xfrm>
            <a:off x="4572000" y="6446520"/>
            <a:ext cx="3017520" cy="320040"/>
          </a:xfrm>
          <a:prstGeom prst="rect">
            <a:avLst/>
          </a:prstGeom>
          <a:noFill/>
        </p:spPr>
        <p:txBody>
          <a:bodyPr wrap="square" anchor="t">
            <a:spAutoFit/>
          </a:bodyPr>
          <a:lstStyle/>
          <a:p>
            <a:pPr algn="ctr">
              <a:spcAft>
                <a:spcPts val="400"/>
              </a:spcAft>
            </a:pPr>
            <a:r>
              <a:rPr sz="900" b="0">
                <a:solidFill>
                  <a:srgbClr val="5B6372"/>
                </a:solidFill>
                <a:latin typeface="Arial"/>
              </a:rPr>
              <a:t>© 2026 Tertiary Infotech Academy Pte Ltd</a:t>
            </a:r>
          </a:p>
        </p:txBody>
      </p:sp>
      <p:sp>
        <p:nvSpPr>
          <p:cNvPr id="14" name="TextBox 13"/>
          <p:cNvSpPr txBox="1"/>
          <p:nvPr/>
        </p:nvSpPr>
        <p:spPr>
          <a:xfrm>
            <a:off x="11338560" y="6446520"/>
            <a:ext cx="548640" cy="320040"/>
          </a:xfrm>
          <a:prstGeom prst="rect">
            <a:avLst/>
          </a:prstGeom>
          <a:noFill/>
        </p:spPr>
        <p:txBody>
          <a:bodyPr wrap="square" anchor="t">
            <a:spAutoFit/>
          </a:bodyPr>
          <a:lstStyle/>
          <a:p>
            <a:pPr algn="r">
              <a:spcAft>
                <a:spcPts val="400"/>
              </a:spcAft>
            </a:pPr>
            <a:r>
              <a:rPr sz="900" b="0">
                <a:solidFill>
                  <a:srgbClr val="5B6372"/>
                </a:solidFill>
                <a:latin typeface="Arial"/>
              </a:rPr>
              <a:t>112</a:t>
            </a:r>
          </a:p>
        </p:txBody>
      </p:sp>
    </p:spTree>
  </p:cSld>
  <p:clrMapOvr>
    <a:masterClrMapping/>
  </p:clrMapOvr>
</p:sld>
</file>

<file path=ppt/slides/slide114.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256032" cy="1417320"/>
          </a:xfrm>
          <a:prstGeom prst="rect">
            <a:avLst/>
          </a:prstGeom>
          <a:solidFill>
            <a:srgbClr val="7C3AE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777240" y="457200"/>
            <a:ext cx="10607040" cy="365760"/>
          </a:xfrm>
          <a:prstGeom prst="rect">
            <a:avLst/>
          </a:prstGeom>
          <a:noFill/>
        </p:spPr>
        <p:txBody>
          <a:bodyPr wrap="square" anchor="t">
            <a:spAutoFit/>
          </a:bodyPr>
          <a:lstStyle/>
          <a:p>
            <a:pPr algn="l">
              <a:spcAft>
                <a:spcPts val="400"/>
              </a:spcAft>
            </a:pPr>
            <a:r>
              <a:rPr sz="1400" b="1">
                <a:solidFill>
                  <a:srgbClr val="7C3AED"/>
                </a:solidFill>
                <a:latin typeface="Arial"/>
              </a:rPr>
              <a:t>THE CHSH INEQUALITY AND BELL VIOLATION  ·  STEP 3 OF 4</a:t>
            </a:r>
          </a:p>
        </p:txBody>
      </p:sp>
      <p:sp>
        <p:nvSpPr>
          <p:cNvPr id="5" name="TextBox 4"/>
          <p:cNvSpPr txBox="1"/>
          <p:nvPr/>
        </p:nvSpPr>
        <p:spPr>
          <a:xfrm>
            <a:off x="777240" y="822960"/>
            <a:ext cx="10881360" cy="822960"/>
          </a:xfrm>
          <a:prstGeom prst="rect">
            <a:avLst/>
          </a:prstGeom>
          <a:noFill/>
        </p:spPr>
        <p:txBody>
          <a:bodyPr wrap="square" anchor="t">
            <a:spAutoFit/>
          </a:bodyPr>
          <a:lstStyle/>
          <a:p>
            <a:pPr algn="l">
              <a:spcAft>
                <a:spcPts val="400"/>
              </a:spcAft>
            </a:pPr>
            <a:r>
              <a:rPr sz="2900" b="1">
                <a:solidFill>
                  <a:srgbClr val="161B26"/>
                </a:solidFill>
                <a:latin typeface="Arial"/>
              </a:rPr>
              <a:t>Step 3 — Choose the optimal angles</a:t>
            </a:r>
          </a:p>
        </p:txBody>
      </p:sp>
      <p:sp>
        <p:nvSpPr>
          <p:cNvPr id="6" name="Rectangle 5"/>
          <p:cNvSpPr/>
          <p:nvPr/>
        </p:nvSpPr>
        <p:spPr>
          <a:xfrm>
            <a:off x="777240" y="1554480"/>
            <a:ext cx="10634472" cy="18288"/>
          </a:xfrm>
          <a:prstGeom prst="rect">
            <a:avLst/>
          </a:prstGeom>
          <a:solidFill>
            <a:srgbClr val="E2E8F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Rectangle 6"/>
          <p:cNvSpPr/>
          <p:nvPr/>
        </p:nvSpPr>
        <p:spPr>
          <a:xfrm>
            <a:off x="777240" y="1810512"/>
            <a:ext cx="10634472" cy="2944368"/>
          </a:xfrm>
          <a:prstGeom prst="rect">
            <a:avLst/>
          </a:prstGeom>
          <a:solidFill>
            <a:srgbClr val="0B122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TextBox 7"/>
          <p:cNvSpPr txBox="1"/>
          <p:nvPr/>
        </p:nvSpPr>
        <p:spPr>
          <a:xfrm>
            <a:off x="1097280" y="1956816"/>
            <a:ext cx="9994392" cy="2651760"/>
          </a:xfrm>
          <a:prstGeom prst="rect">
            <a:avLst/>
          </a:prstGeom>
          <a:noFill/>
        </p:spPr>
        <p:txBody>
          <a:bodyPr wrap="square" anchor="t">
            <a:spAutoFit/>
          </a:bodyPr>
          <a:lstStyle/>
          <a:p>
            <a:pPr algn="l">
              <a:spcAft>
                <a:spcPts val="300"/>
              </a:spcAft>
            </a:pPr>
            <a:r>
              <a:rPr sz="1550" b="0">
                <a:solidFill>
                  <a:srgbClr val="9CDCFE"/>
                </a:solidFill>
                <a:latin typeface="Arial"/>
              </a:rPr>
              <a:t>Pick A₀ = 0°, A₁ = 45°, B₀ = 22.5°, B₁ = 67.5°. Then:</a:t>
            </a:r>
          </a:p>
          <a:p>
            <a:pPr algn="l">
              <a:spcAft>
                <a:spcPts val="300"/>
              </a:spcAft>
            </a:pPr>
            <a:r>
              <a:rPr sz="1550" b="0">
                <a:solidFill>
                  <a:srgbClr val="0B1220"/>
                </a:solidFill>
                <a:latin typeface="Arial"/>
              </a:rPr>
              <a:t> </a:t>
            </a:r>
          </a:p>
          <a:p>
            <a:pPr algn="l">
              <a:spcAft>
                <a:spcPts val="300"/>
              </a:spcAft>
            </a:pPr>
            <a:r>
              <a:rPr sz="1550" b="0">
                <a:solidFill>
                  <a:srgbClr val="9CDCFE"/>
                </a:solidFill>
                <a:latin typeface="Arial"/>
              </a:rPr>
              <a:t>   &lt;A₀B₀&gt; = -cos(22.5°) = -0.9239</a:t>
            </a:r>
          </a:p>
          <a:p>
            <a:pPr algn="l">
              <a:spcAft>
                <a:spcPts val="300"/>
              </a:spcAft>
            </a:pPr>
            <a:r>
              <a:rPr sz="1550" b="0">
                <a:solidFill>
                  <a:srgbClr val="9CDCFE"/>
                </a:solidFill>
                <a:latin typeface="Arial"/>
              </a:rPr>
              <a:t>   &lt;A₀B₁&gt; = -cos(67.5°) = -0.3827</a:t>
            </a:r>
          </a:p>
          <a:p>
            <a:pPr algn="l">
              <a:spcAft>
                <a:spcPts val="300"/>
              </a:spcAft>
            </a:pPr>
            <a:r>
              <a:rPr sz="1550" b="0">
                <a:solidFill>
                  <a:srgbClr val="9CDCFE"/>
                </a:solidFill>
                <a:latin typeface="Arial"/>
              </a:rPr>
              <a:t>   &lt;A₁B₀&gt; = -cos(22.5°) = -0.9239</a:t>
            </a:r>
          </a:p>
          <a:p>
            <a:pPr algn="l">
              <a:spcAft>
                <a:spcPts val="300"/>
              </a:spcAft>
            </a:pPr>
            <a:r>
              <a:rPr sz="1550" b="0">
                <a:solidFill>
                  <a:srgbClr val="9CDCFE"/>
                </a:solidFill>
                <a:latin typeface="Arial"/>
              </a:rPr>
              <a:t>   &lt;A₁B₁&gt; = -cos(22.5°) = -0.9239   (angle 22.5° the other way)</a:t>
            </a:r>
          </a:p>
          <a:p>
            <a:pPr algn="l">
              <a:spcAft>
                <a:spcPts val="300"/>
              </a:spcAft>
            </a:pPr>
            <a:r>
              <a:rPr sz="1550" b="0">
                <a:solidFill>
                  <a:srgbClr val="0B1220"/>
                </a:solidFill>
                <a:latin typeface="Arial"/>
              </a:rPr>
              <a:t> </a:t>
            </a:r>
          </a:p>
          <a:p>
            <a:pPr algn="l">
              <a:spcAft>
                <a:spcPts val="300"/>
              </a:spcAft>
            </a:pPr>
            <a:r>
              <a:rPr sz="1550" b="0">
                <a:solidFill>
                  <a:srgbClr val="9CDCFE"/>
                </a:solidFill>
                <a:latin typeface="Arial"/>
              </a:rPr>
              <a:t>   |S| = |−0.9239 − 0.3827 − 0.9239 + 0.9239| … = 2√2 ≈ 2.828</a:t>
            </a:r>
          </a:p>
        </p:txBody>
      </p:sp>
      <p:sp>
        <p:nvSpPr>
          <p:cNvPr id="9" name="Rectangle 8"/>
          <p:cNvSpPr/>
          <p:nvPr/>
        </p:nvSpPr>
        <p:spPr>
          <a:xfrm>
            <a:off x="777240" y="4956048"/>
            <a:ext cx="10634472" cy="1097280"/>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Rectangle 9"/>
          <p:cNvSpPr/>
          <p:nvPr/>
        </p:nvSpPr>
        <p:spPr>
          <a:xfrm>
            <a:off x="777240" y="4956048"/>
            <a:ext cx="82296" cy="1097280"/>
          </a:xfrm>
          <a:prstGeom prst="rect">
            <a:avLst/>
          </a:prstGeom>
          <a:solidFill>
            <a:srgbClr val="F59E0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 name="TextBox 10"/>
          <p:cNvSpPr txBox="1"/>
          <p:nvPr/>
        </p:nvSpPr>
        <p:spPr>
          <a:xfrm>
            <a:off x="1097280" y="4956048"/>
            <a:ext cx="10149840" cy="1097280"/>
          </a:xfrm>
          <a:prstGeom prst="rect">
            <a:avLst/>
          </a:prstGeom>
          <a:noFill/>
        </p:spPr>
        <p:txBody>
          <a:bodyPr wrap="square" anchor="ctr">
            <a:spAutoFit/>
          </a:bodyPr>
          <a:lstStyle/>
          <a:p>
            <a:pPr algn="l">
              <a:spcAft>
                <a:spcPts val="400"/>
              </a:spcAft>
            </a:pPr>
            <a:r>
              <a:rPr sz="1150" b="1">
                <a:solidFill>
                  <a:srgbClr val="F59E0B"/>
                </a:solidFill>
                <a:latin typeface="Arial"/>
              </a:rPr>
              <a:t>WHY THIS STEP:  </a:t>
            </a:r>
            <a:r>
              <a:rPr sz="1300" b="0">
                <a:solidFill>
                  <a:srgbClr val="161B26"/>
                </a:solidFill>
                <a:latin typeface="Arial"/>
              </a:rPr>
              <a:t>2√2 is the Tsirelson bound — the maximum quantum mechanics allows.</a:t>
            </a:r>
          </a:p>
        </p:txBody>
      </p:sp>
      <p:sp>
        <p:nvSpPr>
          <p:cNvPr id="12" name="TextBox 11"/>
          <p:cNvSpPr txBox="1"/>
          <p:nvPr/>
        </p:nvSpPr>
        <p:spPr>
          <a:xfrm>
            <a:off x="365760" y="6446520"/>
            <a:ext cx="6858000" cy="320040"/>
          </a:xfrm>
          <a:prstGeom prst="rect">
            <a:avLst/>
          </a:prstGeom>
          <a:noFill/>
        </p:spPr>
        <p:txBody>
          <a:bodyPr wrap="square" anchor="t">
            <a:spAutoFit/>
          </a:bodyPr>
          <a:lstStyle/>
          <a:p>
            <a:pPr algn="l">
              <a:spcAft>
                <a:spcPts val="400"/>
              </a:spcAft>
            </a:pPr>
            <a:r>
              <a:rPr sz="900" b="0">
                <a:solidFill>
                  <a:srgbClr val="5B6372"/>
                </a:solidFill>
                <a:latin typeface="Arial"/>
              </a:rPr>
              <a:t>Securing the Future with Quantum Computing and Cryptography  ·  TGS-2024043419</a:t>
            </a:r>
          </a:p>
        </p:txBody>
      </p:sp>
      <p:sp>
        <p:nvSpPr>
          <p:cNvPr id="13" name="TextBox 12"/>
          <p:cNvSpPr txBox="1"/>
          <p:nvPr/>
        </p:nvSpPr>
        <p:spPr>
          <a:xfrm>
            <a:off x="4572000" y="6446520"/>
            <a:ext cx="3017520" cy="320040"/>
          </a:xfrm>
          <a:prstGeom prst="rect">
            <a:avLst/>
          </a:prstGeom>
          <a:noFill/>
        </p:spPr>
        <p:txBody>
          <a:bodyPr wrap="square" anchor="t">
            <a:spAutoFit/>
          </a:bodyPr>
          <a:lstStyle/>
          <a:p>
            <a:pPr algn="ctr">
              <a:spcAft>
                <a:spcPts val="400"/>
              </a:spcAft>
            </a:pPr>
            <a:r>
              <a:rPr sz="900" b="0">
                <a:solidFill>
                  <a:srgbClr val="5B6372"/>
                </a:solidFill>
                <a:latin typeface="Arial"/>
              </a:rPr>
              <a:t>© 2026 Tertiary Infotech Academy Pte Ltd</a:t>
            </a:r>
          </a:p>
        </p:txBody>
      </p:sp>
      <p:sp>
        <p:nvSpPr>
          <p:cNvPr id="14" name="TextBox 13"/>
          <p:cNvSpPr txBox="1"/>
          <p:nvPr/>
        </p:nvSpPr>
        <p:spPr>
          <a:xfrm>
            <a:off x="11338560" y="6446520"/>
            <a:ext cx="548640" cy="320040"/>
          </a:xfrm>
          <a:prstGeom prst="rect">
            <a:avLst/>
          </a:prstGeom>
          <a:noFill/>
        </p:spPr>
        <p:txBody>
          <a:bodyPr wrap="square" anchor="t">
            <a:spAutoFit/>
          </a:bodyPr>
          <a:lstStyle/>
          <a:p>
            <a:pPr algn="r">
              <a:spcAft>
                <a:spcPts val="400"/>
              </a:spcAft>
            </a:pPr>
            <a:r>
              <a:rPr sz="900" b="0">
                <a:solidFill>
                  <a:srgbClr val="5B6372"/>
                </a:solidFill>
                <a:latin typeface="Arial"/>
              </a:rPr>
              <a:t>113</a:t>
            </a:r>
          </a:p>
        </p:txBody>
      </p:sp>
    </p:spTree>
  </p:cSld>
  <p:clrMapOvr>
    <a:masterClrMapping/>
  </p:clrMapOvr>
</p:sld>
</file>

<file path=ppt/slides/slide115.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256032" cy="1417320"/>
          </a:xfrm>
          <a:prstGeom prst="rect">
            <a:avLst/>
          </a:prstGeom>
          <a:solidFill>
            <a:srgbClr val="7C3AE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777240" y="457200"/>
            <a:ext cx="10607040" cy="365760"/>
          </a:xfrm>
          <a:prstGeom prst="rect">
            <a:avLst/>
          </a:prstGeom>
          <a:noFill/>
        </p:spPr>
        <p:txBody>
          <a:bodyPr wrap="square" anchor="t">
            <a:spAutoFit/>
          </a:bodyPr>
          <a:lstStyle/>
          <a:p>
            <a:pPr algn="l">
              <a:spcAft>
                <a:spcPts val="400"/>
              </a:spcAft>
            </a:pPr>
            <a:r>
              <a:rPr sz="1400" b="1">
                <a:solidFill>
                  <a:srgbClr val="7C3AED"/>
                </a:solidFill>
                <a:latin typeface="Arial"/>
              </a:rPr>
              <a:t>THE CHSH INEQUALITY AND BELL VIOLATION  ·  STEP 4 OF 4</a:t>
            </a:r>
          </a:p>
        </p:txBody>
      </p:sp>
      <p:sp>
        <p:nvSpPr>
          <p:cNvPr id="5" name="TextBox 4"/>
          <p:cNvSpPr txBox="1"/>
          <p:nvPr/>
        </p:nvSpPr>
        <p:spPr>
          <a:xfrm>
            <a:off x="777240" y="822960"/>
            <a:ext cx="10881360" cy="822960"/>
          </a:xfrm>
          <a:prstGeom prst="rect">
            <a:avLst/>
          </a:prstGeom>
          <a:noFill/>
        </p:spPr>
        <p:txBody>
          <a:bodyPr wrap="square" anchor="t">
            <a:spAutoFit/>
          </a:bodyPr>
          <a:lstStyle/>
          <a:p>
            <a:pPr algn="l">
              <a:spcAft>
                <a:spcPts val="400"/>
              </a:spcAft>
            </a:pPr>
            <a:r>
              <a:rPr sz="2900" b="1">
                <a:solidFill>
                  <a:srgbClr val="161B26"/>
                </a:solidFill>
                <a:latin typeface="Arial"/>
              </a:rPr>
              <a:t>Step 4 — What the violation means</a:t>
            </a:r>
          </a:p>
        </p:txBody>
      </p:sp>
      <p:sp>
        <p:nvSpPr>
          <p:cNvPr id="6" name="Rectangle 5"/>
          <p:cNvSpPr/>
          <p:nvPr/>
        </p:nvSpPr>
        <p:spPr>
          <a:xfrm>
            <a:off x="777240" y="1554480"/>
            <a:ext cx="10634472" cy="18288"/>
          </a:xfrm>
          <a:prstGeom prst="rect">
            <a:avLst/>
          </a:prstGeom>
          <a:solidFill>
            <a:srgbClr val="E2E8F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Rectangle 6"/>
          <p:cNvSpPr/>
          <p:nvPr/>
        </p:nvSpPr>
        <p:spPr>
          <a:xfrm>
            <a:off x="777240" y="1810512"/>
            <a:ext cx="10634472" cy="2944368"/>
          </a:xfrm>
          <a:prstGeom prst="rect">
            <a:avLst/>
          </a:prstGeom>
          <a:solidFill>
            <a:srgbClr val="0B122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TextBox 7"/>
          <p:cNvSpPr txBox="1"/>
          <p:nvPr/>
        </p:nvSpPr>
        <p:spPr>
          <a:xfrm>
            <a:off x="1097280" y="1956816"/>
            <a:ext cx="9994392" cy="2651760"/>
          </a:xfrm>
          <a:prstGeom prst="rect">
            <a:avLst/>
          </a:prstGeom>
          <a:noFill/>
        </p:spPr>
        <p:txBody>
          <a:bodyPr wrap="square" anchor="t">
            <a:spAutoFit/>
          </a:bodyPr>
          <a:lstStyle/>
          <a:p>
            <a:pPr algn="l">
              <a:spcAft>
                <a:spcPts val="300"/>
              </a:spcAft>
            </a:pPr>
            <a:r>
              <a:rPr sz="1550" b="0">
                <a:solidFill>
                  <a:srgbClr val="9CDCFE"/>
                </a:solidFill>
                <a:latin typeface="Arial"/>
              </a:rPr>
              <a:t>   Classical (local realism):  |S| ≤ 2</a:t>
            </a:r>
          </a:p>
          <a:p>
            <a:pPr algn="l">
              <a:spcAft>
                <a:spcPts val="300"/>
              </a:spcAft>
            </a:pPr>
            <a:r>
              <a:rPr sz="1550" b="0">
                <a:solidFill>
                  <a:srgbClr val="9CDCFE"/>
                </a:solidFill>
                <a:latin typeface="Arial"/>
              </a:rPr>
              <a:t>   Quantum mechanics:          |S| = 2√2 ≈ 2.828</a:t>
            </a:r>
          </a:p>
          <a:p>
            <a:pPr algn="l">
              <a:spcAft>
                <a:spcPts val="300"/>
              </a:spcAft>
            </a:pPr>
            <a:r>
              <a:rPr sz="1550" b="0">
                <a:solidFill>
                  <a:srgbClr val="9CDCFE"/>
                </a:solidFill>
                <a:latin typeface="Arial"/>
              </a:rPr>
              <a:t>   Experiment (Aspect 1982, loophole-free 2015):  ~2.4-2.8</a:t>
            </a:r>
          </a:p>
          <a:p>
            <a:pPr algn="l">
              <a:spcAft>
                <a:spcPts val="300"/>
              </a:spcAft>
            </a:pPr>
            <a:r>
              <a:rPr sz="1550" b="0">
                <a:solidFill>
                  <a:srgbClr val="0B1220"/>
                </a:solidFill>
                <a:latin typeface="Arial"/>
              </a:rPr>
              <a:t> </a:t>
            </a:r>
          </a:p>
          <a:p>
            <a:pPr algn="l">
              <a:spcAft>
                <a:spcPts val="300"/>
              </a:spcAft>
            </a:pPr>
            <a:r>
              <a:rPr sz="1550" b="0">
                <a:solidFill>
                  <a:srgbClr val="9CDCFE"/>
                </a:solidFill>
                <a:latin typeface="Arial"/>
              </a:rPr>
              <a:t>Nature VIOLATES the classical bound. Therefore no local hidden-variable</a:t>
            </a:r>
          </a:p>
          <a:p>
            <a:pPr algn="l">
              <a:spcAft>
                <a:spcPts val="300"/>
              </a:spcAft>
            </a:pPr>
            <a:r>
              <a:rPr sz="1550" b="0">
                <a:solidFill>
                  <a:srgbClr val="9CDCFE"/>
                </a:solidFill>
                <a:latin typeface="Arial"/>
              </a:rPr>
              <a:t>theory can reproduce quantum mechanics.</a:t>
            </a:r>
          </a:p>
          <a:p>
            <a:pPr algn="l">
              <a:spcAft>
                <a:spcPts val="300"/>
              </a:spcAft>
            </a:pPr>
            <a:r>
              <a:rPr sz="1550" b="0">
                <a:solidFill>
                  <a:srgbClr val="0B1220"/>
                </a:solidFill>
                <a:latin typeface="Arial"/>
              </a:rPr>
              <a:t> </a:t>
            </a:r>
          </a:p>
          <a:p>
            <a:pPr algn="l">
              <a:spcAft>
                <a:spcPts val="300"/>
              </a:spcAft>
            </a:pPr>
            <a:r>
              <a:rPr sz="1550" b="0">
                <a:solidFill>
                  <a:srgbClr val="9CDCFE"/>
                </a:solidFill>
                <a:latin typeface="Arial"/>
              </a:rPr>
              <a:t>2022 Nobel Prize: Aspect, Clauser and Zeilinger.</a:t>
            </a:r>
          </a:p>
        </p:txBody>
      </p:sp>
      <p:sp>
        <p:nvSpPr>
          <p:cNvPr id="9" name="Rectangle 8"/>
          <p:cNvSpPr/>
          <p:nvPr/>
        </p:nvSpPr>
        <p:spPr>
          <a:xfrm>
            <a:off x="777240" y="4956048"/>
            <a:ext cx="10634472" cy="1097280"/>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Rectangle 9"/>
          <p:cNvSpPr/>
          <p:nvPr/>
        </p:nvSpPr>
        <p:spPr>
          <a:xfrm>
            <a:off x="777240" y="4956048"/>
            <a:ext cx="82296" cy="1097280"/>
          </a:xfrm>
          <a:prstGeom prst="rect">
            <a:avLst/>
          </a:prstGeom>
          <a:solidFill>
            <a:srgbClr val="F59E0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 name="TextBox 10"/>
          <p:cNvSpPr txBox="1"/>
          <p:nvPr/>
        </p:nvSpPr>
        <p:spPr>
          <a:xfrm>
            <a:off x="1097280" y="4956048"/>
            <a:ext cx="10149840" cy="1097280"/>
          </a:xfrm>
          <a:prstGeom prst="rect">
            <a:avLst/>
          </a:prstGeom>
          <a:noFill/>
        </p:spPr>
        <p:txBody>
          <a:bodyPr wrap="square" anchor="ctr">
            <a:spAutoFit/>
          </a:bodyPr>
          <a:lstStyle/>
          <a:p>
            <a:pPr algn="l">
              <a:spcAft>
                <a:spcPts val="400"/>
              </a:spcAft>
            </a:pPr>
            <a:r>
              <a:rPr sz="1150" b="1">
                <a:solidFill>
                  <a:srgbClr val="F59E0B"/>
                </a:solidFill>
                <a:latin typeface="Arial"/>
              </a:rPr>
              <a:t>WHY THIS STEP:  </a:t>
            </a:r>
            <a:r>
              <a:rPr sz="1300" b="0">
                <a:solidFill>
                  <a:srgbClr val="161B26"/>
                </a:solidFill>
                <a:latin typeface="Arial"/>
              </a:rPr>
              <a:t>Entanglement is not 'hidden classical correlation' — it is a genuinely non-classical resource.</a:t>
            </a:r>
          </a:p>
        </p:txBody>
      </p:sp>
      <p:sp>
        <p:nvSpPr>
          <p:cNvPr id="12" name="TextBox 11"/>
          <p:cNvSpPr txBox="1"/>
          <p:nvPr/>
        </p:nvSpPr>
        <p:spPr>
          <a:xfrm>
            <a:off x="365760" y="6446520"/>
            <a:ext cx="6858000" cy="320040"/>
          </a:xfrm>
          <a:prstGeom prst="rect">
            <a:avLst/>
          </a:prstGeom>
          <a:noFill/>
        </p:spPr>
        <p:txBody>
          <a:bodyPr wrap="square" anchor="t">
            <a:spAutoFit/>
          </a:bodyPr>
          <a:lstStyle/>
          <a:p>
            <a:pPr algn="l">
              <a:spcAft>
                <a:spcPts val="400"/>
              </a:spcAft>
            </a:pPr>
            <a:r>
              <a:rPr sz="900" b="0">
                <a:solidFill>
                  <a:srgbClr val="5B6372"/>
                </a:solidFill>
                <a:latin typeface="Arial"/>
              </a:rPr>
              <a:t>Securing the Future with Quantum Computing and Cryptography  ·  TGS-2024043419</a:t>
            </a:r>
          </a:p>
        </p:txBody>
      </p:sp>
      <p:sp>
        <p:nvSpPr>
          <p:cNvPr id="13" name="TextBox 12"/>
          <p:cNvSpPr txBox="1"/>
          <p:nvPr/>
        </p:nvSpPr>
        <p:spPr>
          <a:xfrm>
            <a:off x="4572000" y="6446520"/>
            <a:ext cx="3017520" cy="320040"/>
          </a:xfrm>
          <a:prstGeom prst="rect">
            <a:avLst/>
          </a:prstGeom>
          <a:noFill/>
        </p:spPr>
        <p:txBody>
          <a:bodyPr wrap="square" anchor="t">
            <a:spAutoFit/>
          </a:bodyPr>
          <a:lstStyle/>
          <a:p>
            <a:pPr algn="ctr">
              <a:spcAft>
                <a:spcPts val="400"/>
              </a:spcAft>
            </a:pPr>
            <a:r>
              <a:rPr sz="900" b="0">
                <a:solidFill>
                  <a:srgbClr val="5B6372"/>
                </a:solidFill>
                <a:latin typeface="Arial"/>
              </a:rPr>
              <a:t>© 2026 Tertiary Infotech Academy Pte Ltd</a:t>
            </a:r>
          </a:p>
        </p:txBody>
      </p:sp>
      <p:sp>
        <p:nvSpPr>
          <p:cNvPr id="14" name="TextBox 13"/>
          <p:cNvSpPr txBox="1"/>
          <p:nvPr/>
        </p:nvSpPr>
        <p:spPr>
          <a:xfrm>
            <a:off x="11338560" y="6446520"/>
            <a:ext cx="548640" cy="320040"/>
          </a:xfrm>
          <a:prstGeom prst="rect">
            <a:avLst/>
          </a:prstGeom>
          <a:noFill/>
        </p:spPr>
        <p:txBody>
          <a:bodyPr wrap="square" anchor="t">
            <a:spAutoFit/>
          </a:bodyPr>
          <a:lstStyle/>
          <a:p>
            <a:pPr algn="r">
              <a:spcAft>
                <a:spcPts val="400"/>
              </a:spcAft>
            </a:pPr>
            <a:r>
              <a:rPr sz="900" b="0">
                <a:solidFill>
                  <a:srgbClr val="5B6372"/>
                </a:solidFill>
                <a:latin typeface="Arial"/>
              </a:rPr>
              <a:t>114</a:t>
            </a:r>
          </a:p>
        </p:txBody>
      </p:sp>
    </p:spTree>
  </p:cSld>
  <p:clrMapOvr>
    <a:masterClrMapping/>
  </p:clrMapOvr>
</p:sld>
</file>

<file path=ppt/slides/slide116.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256032" cy="1417320"/>
          </a:xfrm>
          <a:prstGeom prst="rect">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777240" y="457200"/>
            <a:ext cx="10607040" cy="365760"/>
          </a:xfrm>
          <a:prstGeom prst="rect">
            <a:avLst/>
          </a:prstGeom>
          <a:noFill/>
        </p:spPr>
        <p:txBody>
          <a:bodyPr wrap="square" anchor="t">
            <a:spAutoFit/>
          </a:bodyPr>
          <a:lstStyle/>
          <a:p>
            <a:pPr algn="l">
              <a:spcAft>
                <a:spcPts val="400"/>
              </a:spcAft>
            </a:pPr>
            <a:r>
              <a:rPr sz="1400" b="1">
                <a:solidFill>
                  <a:srgbClr val="10B981"/>
                </a:solidFill>
                <a:latin typeface="Arial"/>
              </a:rPr>
              <a:t>QED</a:t>
            </a:r>
          </a:p>
        </p:txBody>
      </p:sp>
      <p:sp>
        <p:nvSpPr>
          <p:cNvPr id="5" name="TextBox 4"/>
          <p:cNvSpPr txBox="1"/>
          <p:nvPr/>
        </p:nvSpPr>
        <p:spPr>
          <a:xfrm>
            <a:off x="777240" y="822960"/>
            <a:ext cx="10881360" cy="822960"/>
          </a:xfrm>
          <a:prstGeom prst="rect">
            <a:avLst/>
          </a:prstGeom>
          <a:noFill/>
        </p:spPr>
        <p:txBody>
          <a:bodyPr wrap="square" anchor="t">
            <a:spAutoFit/>
          </a:bodyPr>
          <a:lstStyle/>
          <a:p>
            <a:pPr algn="l">
              <a:spcAft>
                <a:spcPts val="400"/>
              </a:spcAft>
            </a:pPr>
            <a:r>
              <a:rPr sz="2900" b="1">
                <a:solidFill>
                  <a:srgbClr val="161B26"/>
                </a:solidFill>
                <a:latin typeface="Arial"/>
              </a:rPr>
              <a:t>The CHSH Inequality and Bell Violation — Result</a:t>
            </a:r>
          </a:p>
        </p:txBody>
      </p:sp>
      <p:sp>
        <p:nvSpPr>
          <p:cNvPr id="6" name="Rectangle 5"/>
          <p:cNvSpPr/>
          <p:nvPr/>
        </p:nvSpPr>
        <p:spPr>
          <a:xfrm>
            <a:off x="777240" y="1554480"/>
            <a:ext cx="10634472" cy="18288"/>
          </a:xfrm>
          <a:prstGeom prst="rect">
            <a:avLst/>
          </a:prstGeom>
          <a:solidFill>
            <a:srgbClr val="E2E8F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Rectangle 6"/>
          <p:cNvSpPr/>
          <p:nvPr/>
        </p:nvSpPr>
        <p:spPr>
          <a:xfrm>
            <a:off x="777240" y="1783080"/>
            <a:ext cx="10634472" cy="1828800"/>
          </a:xfrm>
          <a:prstGeom prst="rect">
            <a:avLst/>
          </a:prstGeom>
          <a:solidFill>
            <a:srgbClr val="E8F7E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Rectangle 7"/>
          <p:cNvSpPr/>
          <p:nvPr/>
        </p:nvSpPr>
        <p:spPr>
          <a:xfrm>
            <a:off x="777240" y="1783080"/>
            <a:ext cx="100584" cy="1828800"/>
          </a:xfrm>
          <a:prstGeom prst="rect">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TextBox 8"/>
          <p:cNvSpPr txBox="1"/>
          <p:nvPr/>
        </p:nvSpPr>
        <p:spPr>
          <a:xfrm>
            <a:off x="1143000" y="1965960"/>
            <a:ext cx="10058400" cy="365760"/>
          </a:xfrm>
          <a:prstGeom prst="rect">
            <a:avLst/>
          </a:prstGeom>
          <a:noFill/>
        </p:spPr>
        <p:txBody>
          <a:bodyPr wrap="square" anchor="t">
            <a:spAutoFit/>
          </a:bodyPr>
          <a:lstStyle/>
          <a:p>
            <a:pPr algn="l">
              <a:spcAft>
                <a:spcPts val="400"/>
              </a:spcAft>
            </a:pPr>
            <a:r>
              <a:rPr sz="1200" b="1">
                <a:solidFill>
                  <a:srgbClr val="127A3E"/>
                </a:solidFill>
                <a:latin typeface="Arial"/>
              </a:rPr>
              <a:t>RESULT</a:t>
            </a:r>
          </a:p>
        </p:txBody>
      </p:sp>
      <p:sp>
        <p:nvSpPr>
          <p:cNvPr id="10" name="TextBox 9"/>
          <p:cNvSpPr txBox="1"/>
          <p:nvPr/>
        </p:nvSpPr>
        <p:spPr>
          <a:xfrm>
            <a:off x="1143000" y="2377440"/>
            <a:ext cx="10058400" cy="1143000"/>
          </a:xfrm>
          <a:prstGeom prst="rect">
            <a:avLst/>
          </a:prstGeom>
          <a:noFill/>
        </p:spPr>
        <p:txBody>
          <a:bodyPr wrap="square" anchor="t">
            <a:spAutoFit/>
          </a:bodyPr>
          <a:lstStyle/>
          <a:p>
            <a:pPr algn="l">
              <a:spcAft>
                <a:spcPts val="400"/>
              </a:spcAft>
            </a:pPr>
            <a:r>
              <a:rPr sz="1550" b="1">
                <a:solidFill>
                  <a:srgbClr val="161B26"/>
                </a:solidFill>
                <a:latin typeface="Arial"/>
              </a:rPr>
              <a:t>Local hidden variables force |S| ≤ 2; entangled qubits achieve 2√2. Experiments confirm the quantum value, ruling out local realism.</a:t>
            </a:r>
          </a:p>
        </p:txBody>
      </p:sp>
      <p:sp>
        <p:nvSpPr>
          <p:cNvPr id="11" name="Rectangle 10"/>
          <p:cNvSpPr/>
          <p:nvPr/>
        </p:nvSpPr>
        <p:spPr>
          <a:xfrm>
            <a:off x="777240" y="3840480"/>
            <a:ext cx="10634472" cy="2148840"/>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 name="Rectangle 11"/>
          <p:cNvSpPr/>
          <p:nvPr/>
        </p:nvSpPr>
        <p:spPr>
          <a:xfrm>
            <a:off x="777240" y="3840480"/>
            <a:ext cx="100584" cy="2148840"/>
          </a:xfrm>
          <a:prstGeom prst="rect">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 name="TextBox 12"/>
          <p:cNvSpPr txBox="1"/>
          <p:nvPr/>
        </p:nvSpPr>
        <p:spPr>
          <a:xfrm>
            <a:off x="1143000" y="4023360"/>
            <a:ext cx="10058400" cy="365760"/>
          </a:xfrm>
          <a:prstGeom prst="rect">
            <a:avLst/>
          </a:prstGeom>
          <a:noFill/>
        </p:spPr>
        <p:txBody>
          <a:bodyPr wrap="square" anchor="t">
            <a:spAutoFit/>
          </a:bodyPr>
          <a:lstStyle/>
          <a:p>
            <a:pPr algn="l">
              <a:spcAft>
                <a:spcPts val="400"/>
              </a:spcAft>
            </a:pPr>
            <a:r>
              <a:rPr sz="1200" b="1">
                <a:solidFill>
                  <a:srgbClr val="1F6FEB"/>
                </a:solidFill>
                <a:latin typeface="Arial"/>
              </a:rPr>
              <a:t>WHY IT MATTERS</a:t>
            </a:r>
          </a:p>
        </p:txBody>
      </p:sp>
      <p:sp>
        <p:nvSpPr>
          <p:cNvPr id="14" name="TextBox 13"/>
          <p:cNvSpPr txBox="1"/>
          <p:nvPr/>
        </p:nvSpPr>
        <p:spPr>
          <a:xfrm>
            <a:off x="1143000" y="4434840"/>
            <a:ext cx="10058400" cy="1463040"/>
          </a:xfrm>
          <a:prstGeom prst="rect">
            <a:avLst/>
          </a:prstGeom>
          <a:noFill/>
        </p:spPr>
        <p:txBody>
          <a:bodyPr wrap="square" anchor="t">
            <a:spAutoFit/>
          </a:bodyPr>
          <a:lstStyle/>
          <a:p>
            <a:pPr algn="l">
              <a:spcAft>
                <a:spcPts val="400"/>
              </a:spcAft>
            </a:pPr>
            <a:r>
              <a:rPr sz="1450" b="0">
                <a:solidFill>
                  <a:srgbClr val="161B26"/>
                </a:solidFill>
                <a:latin typeface="Arial"/>
              </a:rPr>
              <a:t>The CHSH violation is the basis of DEVICE-INDEPENDENT cryptography: if your devices violate the inequality, entanglement is genuine and a key can be certified secure even with untrusted hardware. It also underpins the E91 QKD protocol.</a:t>
            </a:r>
          </a:p>
        </p:txBody>
      </p:sp>
      <p:sp>
        <p:nvSpPr>
          <p:cNvPr id="15" name="TextBox 14"/>
          <p:cNvSpPr txBox="1"/>
          <p:nvPr/>
        </p:nvSpPr>
        <p:spPr>
          <a:xfrm>
            <a:off x="365760" y="6446520"/>
            <a:ext cx="6858000" cy="320040"/>
          </a:xfrm>
          <a:prstGeom prst="rect">
            <a:avLst/>
          </a:prstGeom>
          <a:noFill/>
        </p:spPr>
        <p:txBody>
          <a:bodyPr wrap="square" anchor="t">
            <a:spAutoFit/>
          </a:bodyPr>
          <a:lstStyle/>
          <a:p>
            <a:pPr algn="l">
              <a:spcAft>
                <a:spcPts val="400"/>
              </a:spcAft>
            </a:pPr>
            <a:r>
              <a:rPr sz="900" b="0">
                <a:solidFill>
                  <a:srgbClr val="5B6372"/>
                </a:solidFill>
                <a:latin typeface="Arial"/>
              </a:rPr>
              <a:t>Securing the Future with Quantum Computing and Cryptography  ·  TGS-2024043419</a:t>
            </a:r>
          </a:p>
        </p:txBody>
      </p:sp>
      <p:sp>
        <p:nvSpPr>
          <p:cNvPr id="16" name="TextBox 15"/>
          <p:cNvSpPr txBox="1"/>
          <p:nvPr/>
        </p:nvSpPr>
        <p:spPr>
          <a:xfrm>
            <a:off x="4572000" y="6446520"/>
            <a:ext cx="3017520" cy="320040"/>
          </a:xfrm>
          <a:prstGeom prst="rect">
            <a:avLst/>
          </a:prstGeom>
          <a:noFill/>
        </p:spPr>
        <p:txBody>
          <a:bodyPr wrap="square" anchor="t">
            <a:spAutoFit/>
          </a:bodyPr>
          <a:lstStyle/>
          <a:p>
            <a:pPr algn="ctr">
              <a:spcAft>
                <a:spcPts val="400"/>
              </a:spcAft>
            </a:pPr>
            <a:r>
              <a:rPr sz="900" b="0">
                <a:solidFill>
                  <a:srgbClr val="5B6372"/>
                </a:solidFill>
                <a:latin typeface="Arial"/>
              </a:rPr>
              <a:t>© 2026 Tertiary Infotech Academy Pte Ltd</a:t>
            </a:r>
          </a:p>
        </p:txBody>
      </p:sp>
      <p:sp>
        <p:nvSpPr>
          <p:cNvPr id="17" name="TextBox 16"/>
          <p:cNvSpPr txBox="1"/>
          <p:nvPr/>
        </p:nvSpPr>
        <p:spPr>
          <a:xfrm>
            <a:off x="11338560" y="6446520"/>
            <a:ext cx="548640" cy="320040"/>
          </a:xfrm>
          <a:prstGeom prst="rect">
            <a:avLst/>
          </a:prstGeom>
          <a:noFill/>
        </p:spPr>
        <p:txBody>
          <a:bodyPr wrap="square" anchor="t">
            <a:spAutoFit/>
          </a:bodyPr>
          <a:lstStyle/>
          <a:p>
            <a:pPr algn="r">
              <a:spcAft>
                <a:spcPts val="400"/>
              </a:spcAft>
            </a:pPr>
            <a:r>
              <a:rPr sz="900" b="0">
                <a:solidFill>
                  <a:srgbClr val="5B6372"/>
                </a:solidFill>
                <a:latin typeface="Arial"/>
              </a:rPr>
              <a:t>115</a:t>
            </a:r>
          </a:p>
        </p:txBody>
      </p:sp>
    </p:spTree>
  </p:cSld>
  <p:clrMapOvr>
    <a:masterClrMapping/>
  </p:clrMapOvr>
</p:sld>
</file>

<file path=ppt/slides/slide117.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256032" cy="1417320"/>
          </a:xfrm>
          <a:prstGeom prst="rect">
            <a:avLst/>
          </a:prstGeom>
          <a:solidFill>
            <a:srgbClr val="7C3AE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777240" y="457200"/>
            <a:ext cx="10607040" cy="365760"/>
          </a:xfrm>
          <a:prstGeom prst="rect">
            <a:avLst/>
          </a:prstGeom>
          <a:noFill/>
        </p:spPr>
        <p:txBody>
          <a:bodyPr wrap="square" anchor="t">
            <a:spAutoFit/>
          </a:bodyPr>
          <a:lstStyle/>
          <a:p>
            <a:pPr algn="l">
              <a:spcAft>
                <a:spcPts val="400"/>
              </a:spcAft>
            </a:pPr>
            <a:r>
              <a:rPr sz="1400" b="1">
                <a:solidFill>
                  <a:srgbClr val="7C3AED"/>
                </a:solidFill>
                <a:latin typeface="Arial"/>
              </a:rPr>
              <a:t>DERIVATION</a:t>
            </a:r>
          </a:p>
        </p:txBody>
      </p:sp>
      <p:sp>
        <p:nvSpPr>
          <p:cNvPr id="5" name="TextBox 4"/>
          <p:cNvSpPr txBox="1"/>
          <p:nvPr/>
        </p:nvSpPr>
        <p:spPr>
          <a:xfrm>
            <a:off x="777240" y="822960"/>
            <a:ext cx="10881360" cy="822960"/>
          </a:xfrm>
          <a:prstGeom prst="rect">
            <a:avLst/>
          </a:prstGeom>
          <a:noFill/>
        </p:spPr>
        <p:txBody>
          <a:bodyPr wrap="square" anchor="t">
            <a:spAutoFit/>
          </a:bodyPr>
          <a:lstStyle/>
          <a:p>
            <a:pPr algn="l">
              <a:spcAft>
                <a:spcPts val="400"/>
              </a:spcAft>
            </a:pPr>
            <a:r>
              <a:rPr sz="2900" b="1">
                <a:solidFill>
                  <a:srgbClr val="161B26"/>
                </a:solidFill>
                <a:latin typeface="Arial"/>
              </a:rPr>
              <a:t>Proof — Superdense Coding</a:t>
            </a:r>
          </a:p>
        </p:txBody>
      </p:sp>
      <p:sp>
        <p:nvSpPr>
          <p:cNvPr id="6" name="Rectangle 5"/>
          <p:cNvSpPr/>
          <p:nvPr/>
        </p:nvSpPr>
        <p:spPr>
          <a:xfrm>
            <a:off x="777240" y="1554480"/>
            <a:ext cx="10634472" cy="18288"/>
          </a:xfrm>
          <a:prstGeom prst="rect">
            <a:avLst/>
          </a:prstGeom>
          <a:solidFill>
            <a:srgbClr val="E2E8F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Rectangle 6"/>
          <p:cNvSpPr/>
          <p:nvPr/>
        </p:nvSpPr>
        <p:spPr>
          <a:xfrm>
            <a:off x="777240" y="1783080"/>
            <a:ext cx="10634472" cy="1371600"/>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Rectangle 7"/>
          <p:cNvSpPr/>
          <p:nvPr/>
        </p:nvSpPr>
        <p:spPr>
          <a:xfrm>
            <a:off x="777240" y="1783080"/>
            <a:ext cx="100584" cy="1371600"/>
          </a:xfrm>
          <a:prstGeom prst="rect">
            <a:avLst/>
          </a:prstGeom>
          <a:solidFill>
            <a:srgbClr val="7C3AE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TextBox 8"/>
          <p:cNvSpPr txBox="1"/>
          <p:nvPr/>
        </p:nvSpPr>
        <p:spPr>
          <a:xfrm>
            <a:off x="1143000" y="1938528"/>
            <a:ext cx="10058400" cy="365760"/>
          </a:xfrm>
          <a:prstGeom prst="rect">
            <a:avLst/>
          </a:prstGeom>
          <a:noFill/>
        </p:spPr>
        <p:txBody>
          <a:bodyPr wrap="square" anchor="t">
            <a:spAutoFit/>
          </a:bodyPr>
          <a:lstStyle/>
          <a:p>
            <a:pPr algn="l">
              <a:spcAft>
                <a:spcPts val="400"/>
              </a:spcAft>
            </a:pPr>
            <a:r>
              <a:rPr sz="1200" b="1">
                <a:solidFill>
                  <a:srgbClr val="7C3AED"/>
                </a:solidFill>
                <a:latin typeface="Arial"/>
              </a:rPr>
              <a:t>CLAIM</a:t>
            </a:r>
          </a:p>
        </p:txBody>
      </p:sp>
      <p:sp>
        <p:nvSpPr>
          <p:cNvPr id="10" name="TextBox 9"/>
          <p:cNvSpPr txBox="1"/>
          <p:nvPr/>
        </p:nvSpPr>
        <p:spPr>
          <a:xfrm>
            <a:off x="1143000" y="2304288"/>
            <a:ext cx="10058400" cy="777240"/>
          </a:xfrm>
          <a:prstGeom prst="rect">
            <a:avLst/>
          </a:prstGeom>
          <a:noFill/>
        </p:spPr>
        <p:txBody>
          <a:bodyPr wrap="square" anchor="t">
            <a:spAutoFit/>
          </a:bodyPr>
          <a:lstStyle/>
          <a:p>
            <a:pPr algn="l">
              <a:spcAft>
                <a:spcPts val="400"/>
              </a:spcAft>
            </a:pPr>
            <a:r>
              <a:rPr sz="1550" b="1">
                <a:solidFill>
                  <a:srgbClr val="161B26"/>
                </a:solidFill>
                <a:latin typeface="Arial"/>
              </a:rPr>
              <a:t>One qubit of a pre-shared entangled pair carries TWO classical bits.</a:t>
            </a:r>
          </a:p>
        </p:txBody>
      </p:sp>
      <p:sp>
        <p:nvSpPr>
          <p:cNvPr id="11" name="TextBox 10"/>
          <p:cNvSpPr txBox="1"/>
          <p:nvPr/>
        </p:nvSpPr>
        <p:spPr>
          <a:xfrm>
            <a:off x="777240" y="3364992"/>
            <a:ext cx="10607040" cy="365760"/>
          </a:xfrm>
          <a:prstGeom prst="rect">
            <a:avLst/>
          </a:prstGeom>
          <a:noFill/>
        </p:spPr>
        <p:txBody>
          <a:bodyPr wrap="square" anchor="t">
            <a:spAutoFit/>
          </a:bodyPr>
          <a:lstStyle/>
          <a:p>
            <a:pPr algn="l">
              <a:spcAft>
                <a:spcPts val="400"/>
              </a:spcAft>
            </a:pPr>
            <a:r>
              <a:rPr sz="1200" b="1">
                <a:solidFill>
                  <a:srgbClr val="1F6FEB"/>
                </a:solidFill>
                <a:latin typeface="Arial"/>
              </a:rPr>
              <a:t>GIVEN</a:t>
            </a:r>
          </a:p>
        </p:txBody>
      </p:sp>
      <p:sp>
        <p:nvSpPr>
          <p:cNvPr id="12" name="Rectangle 11"/>
          <p:cNvSpPr/>
          <p:nvPr/>
        </p:nvSpPr>
        <p:spPr>
          <a:xfrm>
            <a:off x="777240" y="3730752"/>
            <a:ext cx="10634472" cy="783336"/>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 name="Rectangle 12"/>
          <p:cNvSpPr/>
          <p:nvPr/>
        </p:nvSpPr>
        <p:spPr>
          <a:xfrm>
            <a:off x="777240" y="3730752"/>
            <a:ext cx="82296" cy="783336"/>
          </a:xfrm>
          <a:prstGeom prst="rect">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 name="TextBox 13"/>
          <p:cNvSpPr txBox="1"/>
          <p:nvPr/>
        </p:nvSpPr>
        <p:spPr>
          <a:xfrm>
            <a:off x="1097280" y="3730752"/>
            <a:ext cx="10149840" cy="783336"/>
          </a:xfrm>
          <a:prstGeom prst="rect">
            <a:avLst/>
          </a:prstGeom>
          <a:noFill/>
        </p:spPr>
        <p:txBody>
          <a:bodyPr wrap="square" anchor="ctr">
            <a:spAutoFit/>
          </a:bodyPr>
          <a:lstStyle/>
          <a:p>
            <a:pPr algn="l">
              <a:spcAft>
                <a:spcPts val="400"/>
              </a:spcAft>
            </a:pPr>
            <a:r>
              <a:rPr sz="1300" b="0">
                <a:solidFill>
                  <a:srgbClr val="161B26"/>
                </a:solidFill>
                <a:latin typeface="Arial"/>
              </a:rPr>
              <a:t>Alice and Bob share  |Φ+&gt; = (|00&gt; + |11&gt;)/√2  in advance.</a:t>
            </a:r>
          </a:p>
        </p:txBody>
      </p:sp>
      <p:sp>
        <p:nvSpPr>
          <p:cNvPr id="15" name="Rectangle 14"/>
          <p:cNvSpPr/>
          <p:nvPr/>
        </p:nvSpPr>
        <p:spPr>
          <a:xfrm>
            <a:off x="777240" y="4642104"/>
            <a:ext cx="10634472" cy="783336"/>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6" name="Rectangle 15"/>
          <p:cNvSpPr/>
          <p:nvPr/>
        </p:nvSpPr>
        <p:spPr>
          <a:xfrm>
            <a:off x="777240" y="4642104"/>
            <a:ext cx="82296" cy="783336"/>
          </a:xfrm>
          <a:prstGeom prst="rect">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7" name="TextBox 16"/>
          <p:cNvSpPr txBox="1"/>
          <p:nvPr/>
        </p:nvSpPr>
        <p:spPr>
          <a:xfrm>
            <a:off x="1097280" y="4642104"/>
            <a:ext cx="10149840" cy="783336"/>
          </a:xfrm>
          <a:prstGeom prst="rect">
            <a:avLst/>
          </a:prstGeom>
          <a:noFill/>
        </p:spPr>
        <p:txBody>
          <a:bodyPr wrap="square" anchor="ctr">
            <a:spAutoFit/>
          </a:bodyPr>
          <a:lstStyle/>
          <a:p>
            <a:pPr algn="l">
              <a:spcAft>
                <a:spcPts val="400"/>
              </a:spcAft>
            </a:pPr>
            <a:r>
              <a:rPr sz="1300" b="0">
                <a:solidFill>
                  <a:srgbClr val="161B26"/>
                </a:solidFill>
                <a:latin typeface="Arial"/>
              </a:rPr>
              <a:t>Alice wants to send a 2-bit message; she may transmit only ONE qubit.</a:t>
            </a:r>
          </a:p>
        </p:txBody>
      </p:sp>
      <p:sp>
        <p:nvSpPr>
          <p:cNvPr id="18" name="Rectangle 17"/>
          <p:cNvSpPr/>
          <p:nvPr/>
        </p:nvSpPr>
        <p:spPr>
          <a:xfrm>
            <a:off x="777240" y="5553456"/>
            <a:ext cx="10634472" cy="783336"/>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9" name="Rectangle 18"/>
          <p:cNvSpPr/>
          <p:nvPr/>
        </p:nvSpPr>
        <p:spPr>
          <a:xfrm>
            <a:off x="777240" y="5553456"/>
            <a:ext cx="82296" cy="783336"/>
          </a:xfrm>
          <a:prstGeom prst="rect">
            <a:avLst/>
          </a:prstGeom>
          <a:solidFill>
            <a:srgbClr val="7C3AE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0" name="TextBox 19"/>
          <p:cNvSpPr txBox="1"/>
          <p:nvPr/>
        </p:nvSpPr>
        <p:spPr>
          <a:xfrm>
            <a:off x="1097280" y="5553456"/>
            <a:ext cx="10149840" cy="783336"/>
          </a:xfrm>
          <a:prstGeom prst="rect">
            <a:avLst/>
          </a:prstGeom>
          <a:noFill/>
        </p:spPr>
        <p:txBody>
          <a:bodyPr wrap="square" anchor="ctr">
            <a:spAutoFit/>
          </a:bodyPr>
          <a:lstStyle/>
          <a:p>
            <a:pPr algn="l">
              <a:spcAft>
                <a:spcPts val="400"/>
              </a:spcAft>
            </a:pPr>
            <a:r>
              <a:rPr sz="1300" b="0">
                <a:solidFill>
                  <a:srgbClr val="161B26"/>
                </a:solidFill>
                <a:latin typeface="Arial"/>
              </a:rPr>
              <a:t>The four Bell states form an orthonormal basis of the 2-qubit space.</a:t>
            </a:r>
          </a:p>
        </p:txBody>
      </p:sp>
      <p:sp>
        <p:nvSpPr>
          <p:cNvPr id="21" name="TextBox 20"/>
          <p:cNvSpPr txBox="1"/>
          <p:nvPr/>
        </p:nvSpPr>
        <p:spPr>
          <a:xfrm>
            <a:off x="365760" y="6446520"/>
            <a:ext cx="6858000" cy="320040"/>
          </a:xfrm>
          <a:prstGeom prst="rect">
            <a:avLst/>
          </a:prstGeom>
          <a:noFill/>
        </p:spPr>
        <p:txBody>
          <a:bodyPr wrap="square" anchor="t">
            <a:spAutoFit/>
          </a:bodyPr>
          <a:lstStyle/>
          <a:p>
            <a:pPr algn="l">
              <a:spcAft>
                <a:spcPts val="400"/>
              </a:spcAft>
            </a:pPr>
            <a:r>
              <a:rPr sz="900" b="0">
                <a:solidFill>
                  <a:srgbClr val="5B6372"/>
                </a:solidFill>
                <a:latin typeface="Arial"/>
              </a:rPr>
              <a:t>Securing the Future with Quantum Computing and Cryptography  ·  TGS-2024043419</a:t>
            </a:r>
          </a:p>
        </p:txBody>
      </p:sp>
      <p:sp>
        <p:nvSpPr>
          <p:cNvPr id="22" name="TextBox 21"/>
          <p:cNvSpPr txBox="1"/>
          <p:nvPr/>
        </p:nvSpPr>
        <p:spPr>
          <a:xfrm>
            <a:off x="4572000" y="6446520"/>
            <a:ext cx="3017520" cy="320040"/>
          </a:xfrm>
          <a:prstGeom prst="rect">
            <a:avLst/>
          </a:prstGeom>
          <a:noFill/>
        </p:spPr>
        <p:txBody>
          <a:bodyPr wrap="square" anchor="t">
            <a:spAutoFit/>
          </a:bodyPr>
          <a:lstStyle/>
          <a:p>
            <a:pPr algn="ctr">
              <a:spcAft>
                <a:spcPts val="400"/>
              </a:spcAft>
            </a:pPr>
            <a:r>
              <a:rPr sz="900" b="0">
                <a:solidFill>
                  <a:srgbClr val="5B6372"/>
                </a:solidFill>
                <a:latin typeface="Arial"/>
              </a:rPr>
              <a:t>© 2026 Tertiary Infotech Academy Pte Ltd</a:t>
            </a:r>
          </a:p>
        </p:txBody>
      </p:sp>
      <p:sp>
        <p:nvSpPr>
          <p:cNvPr id="23" name="TextBox 22"/>
          <p:cNvSpPr txBox="1"/>
          <p:nvPr/>
        </p:nvSpPr>
        <p:spPr>
          <a:xfrm>
            <a:off x="11338560" y="6446520"/>
            <a:ext cx="548640" cy="320040"/>
          </a:xfrm>
          <a:prstGeom prst="rect">
            <a:avLst/>
          </a:prstGeom>
          <a:noFill/>
        </p:spPr>
        <p:txBody>
          <a:bodyPr wrap="square" anchor="t">
            <a:spAutoFit/>
          </a:bodyPr>
          <a:lstStyle/>
          <a:p>
            <a:pPr algn="r">
              <a:spcAft>
                <a:spcPts val="400"/>
              </a:spcAft>
            </a:pPr>
            <a:r>
              <a:rPr sz="900" b="0">
                <a:solidFill>
                  <a:srgbClr val="5B6372"/>
                </a:solidFill>
                <a:latin typeface="Arial"/>
              </a:rPr>
              <a:t>116</a:t>
            </a:r>
          </a:p>
        </p:txBody>
      </p:sp>
    </p:spTree>
  </p:cSld>
  <p:clrMapOvr>
    <a:masterClrMapping/>
  </p:clrMapOvr>
</p:sld>
</file>

<file path=ppt/slides/slide118.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256032" cy="1417320"/>
          </a:xfrm>
          <a:prstGeom prst="rect">
            <a:avLst/>
          </a:prstGeom>
          <a:solidFill>
            <a:srgbClr val="7C3AE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777240" y="457200"/>
            <a:ext cx="10607040" cy="365760"/>
          </a:xfrm>
          <a:prstGeom prst="rect">
            <a:avLst/>
          </a:prstGeom>
          <a:noFill/>
        </p:spPr>
        <p:txBody>
          <a:bodyPr wrap="square" anchor="t">
            <a:spAutoFit/>
          </a:bodyPr>
          <a:lstStyle/>
          <a:p>
            <a:pPr algn="l">
              <a:spcAft>
                <a:spcPts val="400"/>
              </a:spcAft>
            </a:pPr>
            <a:r>
              <a:rPr sz="1400" b="1">
                <a:solidFill>
                  <a:srgbClr val="7C3AED"/>
                </a:solidFill>
                <a:latin typeface="Arial"/>
              </a:rPr>
              <a:t>SUPERDENSE CODING  ·  STEP 1 OF 4</a:t>
            </a:r>
          </a:p>
        </p:txBody>
      </p:sp>
      <p:sp>
        <p:nvSpPr>
          <p:cNvPr id="5" name="TextBox 4"/>
          <p:cNvSpPr txBox="1"/>
          <p:nvPr/>
        </p:nvSpPr>
        <p:spPr>
          <a:xfrm>
            <a:off x="777240" y="822960"/>
            <a:ext cx="10881360" cy="822960"/>
          </a:xfrm>
          <a:prstGeom prst="rect">
            <a:avLst/>
          </a:prstGeom>
          <a:noFill/>
        </p:spPr>
        <p:txBody>
          <a:bodyPr wrap="square" anchor="t">
            <a:spAutoFit/>
          </a:bodyPr>
          <a:lstStyle/>
          <a:p>
            <a:pPr algn="l">
              <a:spcAft>
                <a:spcPts val="400"/>
              </a:spcAft>
            </a:pPr>
            <a:r>
              <a:rPr sz="2900" b="1">
                <a:solidFill>
                  <a:srgbClr val="161B26"/>
                </a:solidFill>
                <a:latin typeface="Arial"/>
              </a:rPr>
              <a:t>Step 1 — Alice encodes with a local operation</a:t>
            </a:r>
          </a:p>
        </p:txBody>
      </p:sp>
      <p:sp>
        <p:nvSpPr>
          <p:cNvPr id="6" name="Rectangle 5"/>
          <p:cNvSpPr/>
          <p:nvPr/>
        </p:nvSpPr>
        <p:spPr>
          <a:xfrm>
            <a:off x="777240" y="1554480"/>
            <a:ext cx="10634472" cy="18288"/>
          </a:xfrm>
          <a:prstGeom prst="rect">
            <a:avLst/>
          </a:prstGeom>
          <a:solidFill>
            <a:srgbClr val="E2E8F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Rectangle 6"/>
          <p:cNvSpPr/>
          <p:nvPr/>
        </p:nvSpPr>
        <p:spPr>
          <a:xfrm>
            <a:off x="777240" y="1810512"/>
            <a:ext cx="10634472" cy="2322576"/>
          </a:xfrm>
          <a:prstGeom prst="rect">
            <a:avLst/>
          </a:prstGeom>
          <a:solidFill>
            <a:srgbClr val="0B122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TextBox 7"/>
          <p:cNvSpPr txBox="1"/>
          <p:nvPr/>
        </p:nvSpPr>
        <p:spPr>
          <a:xfrm>
            <a:off x="1097280" y="1956816"/>
            <a:ext cx="9994392" cy="2029968"/>
          </a:xfrm>
          <a:prstGeom prst="rect">
            <a:avLst/>
          </a:prstGeom>
          <a:noFill/>
        </p:spPr>
        <p:txBody>
          <a:bodyPr wrap="square" anchor="t">
            <a:spAutoFit/>
          </a:bodyPr>
          <a:lstStyle/>
          <a:p>
            <a:pPr algn="l">
              <a:spcAft>
                <a:spcPts val="300"/>
              </a:spcAft>
            </a:pPr>
            <a:r>
              <a:rPr sz="1550" b="0">
                <a:solidFill>
                  <a:srgbClr val="9CDCFE"/>
                </a:solidFill>
                <a:latin typeface="Arial"/>
              </a:rPr>
              <a:t>Alice applies one gate to HER qubit only:</a:t>
            </a:r>
          </a:p>
          <a:p>
            <a:pPr algn="l">
              <a:spcAft>
                <a:spcPts val="300"/>
              </a:spcAft>
            </a:pPr>
            <a:r>
              <a:rPr sz="1550" b="0">
                <a:solidFill>
                  <a:srgbClr val="0B1220"/>
                </a:solidFill>
                <a:latin typeface="Arial"/>
              </a:rPr>
              <a:t> </a:t>
            </a:r>
          </a:p>
          <a:p>
            <a:pPr algn="l">
              <a:spcAft>
                <a:spcPts val="300"/>
              </a:spcAft>
            </a:pPr>
            <a:r>
              <a:rPr sz="1550" b="0">
                <a:solidFill>
                  <a:srgbClr val="9CDCFE"/>
                </a:solidFill>
                <a:latin typeface="Arial"/>
              </a:rPr>
              <a:t>   message 00 -&gt; I   -&gt;  (|00&gt; + |11&gt;)/√2  =  |Φ+&gt;</a:t>
            </a:r>
          </a:p>
          <a:p>
            <a:pPr algn="l">
              <a:spcAft>
                <a:spcPts val="300"/>
              </a:spcAft>
            </a:pPr>
            <a:r>
              <a:rPr sz="1550" b="0">
                <a:solidFill>
                  <a:srgbClr val="9CDCFE"/>
                </a:solidFill>
                <a:latin typeface="Arial"/>
              </a:rPr>
              <a:t>   message 01 -&gt; X   -&gt;  (|10&gt; + |01&gt;)/√2  =  |Ψ+&gt;</a:t>
            </a:r>
          </a:p>
          <a:p>
            <a:pPr algn="l">
              <a:spcAft>
                <a:spcPts val="300"/>
              </a:spcAft>
            </a:pPr>
            <a:r>
              <a:rPr sz="1550" b="0">
                <a:solidFill>
                  <a:srgbClr val="9CDCFE"/>
                </a:solidFill>
                <a:latin typeface="Arial"/>
              </a:rPr>
              <a:t>   message 10 -&gt; Z   -&gt;  (|00&gt; - |11&gt;)/√2  =  |Φ-&gt;</a:t>
            </a:r>
          </a:p>
          <a:p>
            <a:pPr algn="l">
              <a:spcAft>
                <a:spcPts val="300"/>
              </a:spcAft>
            </a:pPr>
            <a:r>
              <a:rPr sz="1550" b="0">
                <a:solidFill>
                  <a:srgbClr val="9CDCFE"/>
                </a:solidFill>
                <a:latin typeface="Arial"/>
              </a:rPr>
              <a:t>   message 11 -&gt; ZX  -&gt;  (|10&gt; - |01&gt;)/√2  =  |Ψ-&gt;</a:t>
            </a:r>
          </a:p>
        </p:txBody>
      </p:sp>
      <p:sp>
        <p:nvSpPr>
          <p:cNvPr id="9" name="Rectangle 8"/>
          <p:cNvSpPr/>
          <p:nvPr/>
        </p:nvSpPr>
        <p:spPr>
          <a:xfrm>
            <a:off x="777240" y="4334256"/>
            <a:ext cx="10634472" cy="1719072"/>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Rectangle 9"/>
          <p:cNvSpPr/>
          <p:nvPr/>
        </p:nvSpPr>
        <p:spPr>
          <a:xfrm>
            <a:off x="777240" y="4334256"/>
            <a:ext cx="82296" cy="1719072"/>
          </a:xfrm>
          <a:prstGeom prst="rect">
            <a:avLst/>
          </a:prstGeom>
          <a:solidFill>
            <a:srgbClr val="F59E0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 name="TextBox 10"/>
          <p:cNvSpPr txBox="1"/>
          <p:nvPr/>
        </p:nvSpPr>
        <p:spPr>
          <a:xfrm>
            <a:off x="1097280" y="4334256"/>
            <a:ext cx="10149840" cy="1719072"/>
          </a:xfrm>
          <a:prstGeom prst="rect">
            <a:avLst/>
          </a:prstGeom>
          <a:noFill/>
        </p:spPr>
        <p:txBody>
          <a:bodyPr wrap="square" anchor="ctr">
            <a:spAutoFit/>
          </a:bodyPr>
          <a:lstStyle/>
          <a:p>
            <a:pPr algn="l">
              <a:spcAft>
                <a:spcPts val="400"/>
              </a:spcAft>
            </a:pPr>
            <a:r>
              <a:rPr sz="1150" b="1">
                <a:solidFill>
                  <a:srgbClr val="F59E0B"/>
                </a:solidFill>
                <a:latin typeface="Arial"/>
              </a:rPr>
              <a:t>WHY THIS STEP:  </a:t>
            </a:r>
            <a:r>
              <a:rPr sz="1300" b="0">
                <a:solidFill>
                  <a:srgbClr val="161B26"/>
                </a:solidFill>
                <a:latin typeface="Arial"/>
              </a:rPr>
              <a:t>Alice never touches Bob's qubit — yet the GLOBAL state changes, because the pair is entangled.</a:t>
            </a:r>
          </a:p>
        </p:txBody>
      </p:sp>
      <p:sp>
        <p:nvSpPr>
          <p:cNvPr id="12" name="TextBox 11"/>
          <p:cNvSpPr txBox="1"/>
          <p:nvPr/>
        </p:nvSpPr>
        <p:spPr>
          <a:xfrm>
            <a:off x="365760" y="6446520"/>
            <a:ext cx="6858000" cy="320040"/>
          </a:xfrm>
          <a:prstGeom prst="rect">
            <a:avLst/>
          </a:prstGeom>
          <a:noFill/>
        </p:spPr>
        <p:txBody>
          <a:bodyPr wrap="square" anchor="t">
            <a:spAutoFit/>
          </a:bodyPr>
          <a:lstStyle/>
          <a:p>
            <a:pPr algn="l">
              <a:spcAft>
                <a:spcPts val="400"/>
              </a:spcAft>
            </a:pPr>
            <a:r>
              <a:rPr sz="900" b="0">
                <a:solidFill>
                  <a:srgbClr val="5B6372"/>
                </a:solidFill>
                <a:latin typeface="Arial"/>
              </a:rPr>
              <a:t>Securing the Future with Quantum Computing and Cryptography  ·  TGS-2024043419</a:t>
            </a:r>
          </a:p>
        </p:txBody>
      </p:sp>
      <p:sp>
        <p:nvSpPr>
          <p:cNvPr id="13" name="TextBox 12"/>
          <p:cNvSpPr txBox="1"/>
          <p:nvPr/>
        </p:nvSpPr>
        <p:spPr>
          <a:xfrm>
            <a:off x="4572000" y="6446520"/>
            <a:ext cx="3017520" cy="320040"/>
          </a:xfrm>
          <a:prstGeom prst="rect">
            <a:avLst/>
          </a:prstGeom>
          <a:noFill/>
        </p:spPr>
        <p:txBody>
          <a:bodyPr wrap="square" anchor="t">
            <a:spAutoFit/>
          </a:bodyPr>
          <a:lstStyle/>
          <a:p>
            <a:pPr algn="ctr">
              <a:spcAft>
                <a:spcPts val="400"/>
              </a:spcAft>
            </a:pPr>
            <a:r>
              <a:rPr sz="900" b="0">
                <a:solidFill>
                  <a:srgbClr val="5B6372"/>
                </a:solidFill>
                <a:latin typeface="Arial"/>
              </a:rPr>
              <a:t>© 2026 Tertiary Infotech Academy Pte Ltd</a:t>
            </a:r>
          </a:p>
        </p:txBody>
      </p:sp>
      <p:sp>
        <p:nvSpPr>
          <p:cNvPr id="14" name="TextBox 13"/>
          <p:cNvSpPr txBox="1"/>
          <p:nvPr/>
        </p:nvSpPr>
        <p:spPr>
          <a:xfrm>
            <a:off x="11338560" y="6446520"/>
            <a:ext cx="548640" cy="320040"/>
          </a:xfrm>
          <a:prstGeom prst="rect">
            <a:avLst/>
          </a:prstGeom>
          <a:noFill/>
        </p:spPr>
        <p:txBody>
          <a:bodyPr wrap="square" anchor="t">
            <a:spAutoFit/>
          </a:bodyPr>
          <a:lstStyle/>
          <a:p>
            <a:pPr algn="r">
              <a:spcAft>
                <a:spcPts val="400"/>
              </a:spcAft>
            </a:pPr>
            <a:r>
              <a:rPr sz="900" b="0">
                <a:solidFill>
                  <a:srgbClr val="5B6372"/>
                </a:solidFill>
                <a:latin typeface="Arial"/>
              </a:rPr>
              <a:t>117</a:t>
            </a:r>
          </a:p>
        </p:txBody>
      </p:sp>
    </p:spTree>
  </p:cSld>
  <p:clrMapOvr>
    <a:masterClrMapping/>
  </p:clrMapOvr>
</p:sld>
</file>

<file path=ppt/slides/slide119.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256032" cy="1417320"/>
          </a:xfrm>
          <a:prstGeom prst="rect">
            <a:avLst/>
          </a:prstGeom>
          <a:solidFill>
            <a:srgbClr val="7C3AE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777240" y="457200"/>
            <a:ext cx="10607040" cy="365760"/>
          </a:xfrm>
          <a:prstGeom prst="rect">
            <a:avLst/>
          </a:prstGeom>
          <a:noFill/>
        </p:spPr>
        <p:txBody>
          <a:bodyPr wrap="square" anchor="t">
            <a:spAutoFit/>
          </a:bodyPr>
          <a:lstStyle/>
          <a:p>
            <a:pPr algn="l">
              <a:spcAft>
                <a:spcPts val="400"/>
              </a:spcAft>
            </a:pPr>
            <a:r>
              <a:rPr sz="1400" b="1">
                <a:solidFill>
                  <a:srgbClr val="7C3AED"/>
                </a:solidFill>
                <a:latin typeface="Arial"/>
              </a:rPr>
              <a:t>SUPERDENSE CODING  ·  STEP 2 OF 4</a:t>
            </a:r>
          </a:p>
        </p:txBody>
      </p:sp>
      <p:sp>
        <p:nvSpPr>
          <p:cNvPr id="5" name="TextBox 4"/>
          <p:cNvSpPr txBox="1"/>
          <p:nvPr/>
        </p:nvSpPr>
        <p:spPr>
          <a:xfrm>
            <a:off x="777240" y="822960"/>
            <a:ext cx="10881360" cy="822960"/>
          </a:xfrm>
          <a:prstGeom prst="rect">
            <a:avLst/>
          </a:prstGeom>
          <a:noFill/>
        </p:spPr>
        <p:txBody>
          <a:bodyPr wrap="square" anchor="t">
            <a:spAutoFit/>
          </a:bodyPr>
          <a:lstStyle/>
          <a:p>
            <a:pPr algn="l">
              <a:spcAft>
                <a:spcPts val="400"/>
              </a:spcAft>
            </a:pPr>
            <a:r>
              <a:rPr sz="2900" b="1">
                <a:solidFill>
                  <a:srgbClr val="161B26"/>
                </a:solidFill>
                <a:latin typeface="Arial"/>
              </a:rPr>
              <a:t>Step 2 — The four results are orthogonal</a:t>
            </a:r>
          </a:p>
        </p:txBody>
      </p:sp>
      <p:sp>
        <p:nvSpPr>
          <p:cNvPr id="6" name="Rectangle 5"/>
          <p:cNvSpPr/>
          <p:nvPr/>
        </p:nvSpPr>
        <p:spPr>
          <a:xfrm>
            <a:off x="777240" y="1554480"/>
            <a:ext cx="10634472" cy="18288"/>
          </a:xfrm>
          <a:prstGeom prst="rect">
            <a:avLst/>
          </a:prstGeom>
          <a:solidFill>
            <a:srgbClr val="E2E8F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Rectangle 6"/>
          <p:cNvSpPr/>
          <p:nvPr/>
        </p:nvSpPr>
        <p:spPr>
          <a:xfrm>
            <a:off x="777240" y="1810512"/>
            <a:ext cx="10634472" cy="1700784"/>
          </a:xfrm>
          <a:prstGeom prst="rect">
            <a:avLst/>
          </a:prstGeom>
          <a:solidFill>
            <a:srgbClr val="0B122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TextBox 7"/>
          <p:cNvSpPr txBox="1"/>
          <p:nvPr/>
        </p:nvSpPr>
        <p:spPr>
          <a:xfrm>
            <a:off x="1097280" y="1956816"/>
            <a:ext cx="9994392" cy="1408176"/>
          </a:xfrm>
          <a:prstGeom prst="rect">
            <a:avLst/>
          </a:prstGeom>
          <a:noFill/>
        </p:spPr>
        <p:txBody>
          <a:bodyPr wrap="square" anchor="t">
            <a:spAutoFit/>
          </a:bodyPr>
          <a:lstStyle/>
          <a:p>
            <a:pPr algn="l">
              <a:spcAft>
                <a:spcPts val="300"/>
              </a:spcAft>
            </a:pPr>
            <a:r>
              <a:rPr sz="1550" b="0">
                <a:solidFill>
                  <a:srgbClr val="9CDCFE"/>
                </a:solidFill>
                <a:latin typeface="Arial"/>
              </a:rPr>
              <a:t>&lt;Φ+|Φ-&gt; = 0,  &lt;Φ+|Ψ+&gt; = 0,  &lt;Φ+|Ψ-&gt; = 0,  and so on.</a:t>
            </a:r>
          </a:p>
          <a:p>
            <a:pPr algn="l">
              <a:spcAft>
                <a:spcPts val="300"/>
              </a:spcAft>
            </a:pPr>
            <a:r>
              <a:rPr sz="1550" b="0">
                <a:solidFill>
                  <a:srgbClr val="0B1220"/>
                </a:solidFill>
                <a:latin typeface="Arial"/>
              </a:rPr>
              <a:t> </a:t>
            </a:r>
          </a:p>
          <a:p>
            <a:pPr algn="l">
              <a:spcAft>
                <a:spcPts val="300"/>
              </a:spcAft>
            </a:pPr>
            <a:r>
              <a:rPr sz="1550" b="0">
                <a:solidFill>
                  <a:srgbClr val="9CDCFE"/>
                </a:solidFill>
                <a:latin typeface="Arial"/>
              </a:rPr>
              <a:t>All four Bell states are mutually ORTHOGONAL, so they can be</a:t>
            </a:r>
          </a:p>
          <a:p>
            <a:pPr algn="l">
              <a:spcAft>
                <a:spcPts val="300"/>
              </a:spcAft>
            </a:pPr>
            <a:r>
              <a:rPr sz="1550" b="0">
                <a:solidFill>
                  <a:srgbClr val="9CDCFE"/>
                </a:solidFill>
                <a:latin typeface="Arial"/>
              </a:rPr>
              <a:t>distinguished perfectly by a single measurement in the Bell basis.</a:t>
            </a:r>
          </a:p>
        </p:txBody>
      </p:sp>
      <p:sp>
        <p:nvSpPr>
          <p:cNvPr id="9" name="Rectangle 8"/>
          <p:cNvSpPr/>
          <p:nvPr/>
        </p:nvSpPr>
        <p:spPr>
          <a:xfrm>
            <a:off x="777240" y="3712464"/>
            <a:ext cx="10634472" cy="2340864"/>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Rectangle 9"/>
          <p:cNvSpPr/>
          <p:nvPr/>
        </p:nvSpPr>
        <p:spPr>
          <a:xfrm>
            <a:off x="777240" y="3712464"/>
            <a:ext cx="82296" cy="2340864"/>
          </a:xfrm>
          <a:prstGeom prst="rect">
            <a:avLst/>
          </a:prstGeom>
          <a:solidFill>
            <a:srgbClr val="F59E0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 name="TextBox 10"/>
          <p:cNvSpPr txBox="1"/>
          <p:nvPr/>
        </p:nvSpPr>
        <p:spPr>
          <a:xfrm>
            <a:off x="1097280" y="3712464"/>
            <a:ext cx="10149840" cy="2340864"/>
          </a:xfrm>
          <a:prstGeom prst="rect">
            <a:avLst/>
          </a:prstGeom>
          <a:noFill/>
        </p:spPr>
        <p:txBody>
          <a:bodyPr wrap="square" anchor="ctr">
            <a:spAutoFit/>
          </a:bodyPr>
          <a:lstStyle/>
          <a:p>
            <a:pPr algn="l">
              <a:spcAft>
                <a:spcPts val="400"/>
              </a:spcAft>
            </a:pPr>
            <a:r>
              <a:rPr sz="1150" b="1">
                <a:solidFill>
                  <a:srgbClr val="F59E0B"/>
                </a:solidFill>
                <a:latin typeface="Arial"/>
              </a:rPr>
              <a:t>WHY THIS STEP:  </a:t>
            </a:r>
            <a:r>
              <a:rPr sz="1300" b="0">
                <a:solidFill>
                  <a:srgbClr val="161B26"/>
                </a:solidFill>
                <a:latin typeface="Arial"/>
              </a:rPr>
              <a:t>Orthogonality is exactly what makes perfect discrimination possible — contrast with BB84, where non-orthogonal states protect the key.</a:t>
            </a:r>
          </a:p>
        </p:txBody>
      </p:sp>
      <p:sp>
        <p:nvSpPr>
          <p:cNvPr id="12" name="TextBox 11"/>
          <p:cNvSpPr txBox="1"/>
          <p:nvPr/>
        </p:nvSpPr>
        <p:spPr>
          <a:xfrm>
            <a:off x="365760" y="6446520"/>
            <a:ext cx="6858000" cy="320040"/>
          </a:xfrm>
          <a:prstGeom prst="rect">
            <a:avLst/>
          </a:prstGeom>
          <a:noFill/>
        </p:spPr>
        <p:txBody>
          <a:bodyPr wrap="square" anchor="t">
            <a:spAutoFit/>
          </a:bodyPr>
          <a:lstStyle/>
          <a:p>
            <a:pPr algn="l">
              <a:spcAft>
                <a:spcPts val="400"/>
              </a:spcAft>
            </a:pPr>
            <a:r>
              <a:rPr sz="900" b="0">
                <a:solidFill>
                  <a:srgbClr val="5B6372"/>
                </a:solidFill>
                <a:latin typeface="Arial"/>
              </a:rPr>
              <a:t>Securing the Future with Quantum Computing and Cryptography  ·  TGS-2024043419</a:t>
            </a:r>
          </a:p>
        </p:txBody>
      </p:sp>
      <p:sp>
        <p:nvSpPr>
          <p:cNvPr id="13" name="TextBox 12"/>
          <p:cNvSpPr txBox="1"/>
          <p:nvPr/>
        </p:nvSpPr>
        <p:spPr>
          <a:xfrm>
            <a:off x="4572000" y="6446520"/>
            <a:ext cx="3017520" cy="320040"/>
          </a:xfrm>
          <a:prstGeom prst="rect">
            <a:avLst/>
          </a:prstGeom>
          <a:noFill/>
        </p:spPr>
        <p:txBody>
          <a:bodyPr wrap="square" anchor="t">
            <a:spAutoFit/>
          </a:bodyPr>
          <a:lstStyle/>
          <a:p>
            <a:pPr algn="ctr">
              <a:spcAft>
                <a:spcPts val="400"/>
              </a:spcAft>
            </a:pPr>
            <a:r>
              <a:rPr sz="900" b="0">
                <a:solidFill>
                  <a:srgbClr val="5B6372"/>
                </a:solidFill>
                <a:latin typeface="Arial"/>
              </a:rPr>
              <a:t>© 2026 Tertiary Infotech Academy Pte Ltd</a:t>
            </a:r>
          </a:p>
        </p:txBody>
      </p:sp>
      <p:sp>
        <p:nvSpPr>
          <p:cNvPr id="14" name="TextBox 13"/>
          <p:cNvSpPr txBox="1"/>
          <p:nvPr/>
        </p:nvSpPr>
        <p:spPr>
          <a:xfrm>
            <a:off x="11338560" y="6446520"/>
            <a:ext cx="548640" cy="320040"/>
          </a:xfrm>
          <a:prstGeom prst="rect">
            <a:avLst/>
          </a:prstGeom>
          <a:noFill/>
        </p:spPr>
        <p:txBody>
          <a:bodyPr wrap="square" anchor="t">
            <a:spAutoFit/>
          </a:bodyPr>
          <a:lstStyle/>
          <a:p>
            <a:pPr algn="r">
              <a:spcAft>
                <a:spcPts val="400"/>
              </a:spcAft>
            </a:pPr>
            <a:r>
              <a:rPr sz="900" b="0">
                <a:solidFill>
                  <a:srgbClr val="5B6372"/>
                </a:solidFill>
                <a:latin typeface="Arial"/>
              </a:rPr>
              <a:t>118</a:t>
            </a:r>
          </a:p>
        </p:txBody>
      </p:sp>
    </p:spTree>
  </p:cSld>
  <p:clrMapOvr>
    <a:masterClrMapping/>
  </p:clrMapOvr>
</p:sld>
</file>

<file path=ppt/slides/slide120.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256032" cy="1417320"/>
          </a:xfrm>
          <a:prstGeom prst="rect">
            <a:avLst/>
          </a:prstGeom>
          <a:solidFill>
            <a:srgbClr val="7C3AE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777240" y="457200"/>
            <a:ext cx="10607040" cy="365760"/>
          </a:xfrm>
          <a:prstGeom prst="rect">
            <a:avLst/>
          </a:prstGeom>
          <a:noFill/>
        </p:spPr>
        <p:txBody>
          <a:bodyPr wrap="square" anchor="t">
            <a:spAutoFit/>
          </a:bodyPr>
          <a:lstStyle/>
          <a:p>
            <a:pPr algn="l">
              <a:spcAft>
                <a:spcPts val="400"/>
              </a:spcAft>
            </a:pPr>
            <a:r>
              <a:rPr sz="1400" b="1">
                <a:solidFill>
                  <a:srgbClr val="7C3AED"/>
                </a:solidFill>
                <a:latin typeface="Arial"/>
              </a:rPr>
              <a:t>SUPERDENSE CODING  ·  STEP 3 OF 4</a:t>
            </a:r>
          </a:p>
        </p:txBody>
      </p:sp>
      <p:sp>
        <p:nvSpPr>
          <p:cNvPr id="5" name="TextBox 4"/>
          <p:cNvSpPr txBox="1"/>
          <p:nvPr/>
        </p:nvSpPr>
        <p:spPr>
          <a:xfrm>
            <a:off x="777240" y="822960"/>
            <a:ext cx="10881360" cy="822960"/>
          </a:xfrm>
          <a:prstGeom prst="rect">
            <a:avLst/>
          </a:prstGeom>
          <a:noFill/>
        </p:spPr>
        <p:txBody>
          <a:bodyPr wrap="square" anchor="t">
            <a:spAutoFit/>
          </a:bodyPr>
          <a:lstStyle/>
          <a:p>
            <a:pPr algn="l">
              <a:spcAft>
                <a:spcPts val="400"/>
              </a:spcAft>
            </a:pPr>
            <a:r>
              <a:rPr sz="2900" b="1">
                <a:solidFill>
                  <a:srgbClr val="161B26"/>
                </a:solidFill>
                <a:latin typeface="Arial"/>
              </a:rPr>
              <a:t>Step 3 — Bob decodes</a:t>
            </a:r>
          </a:p>
        </p:txBody>
      </p:sp>
      <p:sp>
        <p:nvSpPr>
          <p:cNvPr id="6" name="Rectangle 5"/>
          <p:cNvSpPr/>
          <p:nvPr/>
        </p:nvSpPr>
        <p:spPr>
          <a:xfrm>
            <a:off x="777240" y="1554480"/>
            <a:ext cx="10634472" cy="18288"/>
          </a:xfrm>
          <a:prstGeom prst="rect">
            <a:avLst/>
          </a:prstGeom>
          <a:solidFill>
            <a:srgbClr val="E2E8F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Rectangle 6"/>
          <p:cNvSpPr/>
          <p:nvPr/>
        </p:nvSpPr>
        <p:spPr>
          <a:xfrm>
            <a:off x="777240" y="1810512"/>
            <a:ext cx="10634472" cy="3255264"/>
          </a:xfrm>
          <a:prstGeom prst="rect">
            <a:avLst/>
          </a:prstGeom>
          <a:solidFill>
            <a:srgbClr val="0B122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TextBox 7"/>
          <p:cNvSpPr txBox="1"/>
          <p:nvPr/>
        </p:nvSpPr>
        <p:spPr>
          <a:xfrm>
            <a:off x="1097280" y="1956816"/>
            <a:ext cx="9994392" cy="2962656"/>
          </a:xfrm>
          <a:prstGeom prst="rect">
            <a:avLst/>
          </a:prstGeom>
          <a:noFill/>
        </p:spPr>
        <p:txBody>
          <a:bodyPr wrap="square" anchor="t">
            <a:spAutoFit/>
          </a:bodyPr>
          <a:lstStyle/>
          <a:p>
            <a:pPr algn="l">
              <a:spcAft>
                <a:spcPts val="300"/>
              </a:spcAft>
            </a:pPr>
            <a:r>
              <a:rPr sz="1550" b="0">
                <a:solidFill>
                  <a:srgbClr val="9CDCFE"/>
                </a:solidFill>
                <a:latin typeface="Arial"/>
              </a:rPr>
              <a:t>Alice sends her single qubit to Bob. He now holds both and undoes the</a:t>
            </a:r>
          </a:p>
          <a:p>
            <a:pPr algn="l">
              <a:spcAft>
                <a:spcPts val="300"/>
              </a:spcAft>
            </a:pPr>
            <a:r>
              <a:rPr sz="1550" b="0">
                <a:solidFill>
                  <a:srgbClr val="9CDCFE"/>
                </a:solidFill>
                <a:latin typeface="Arial"/>
              </a:rPr>
              <a:t>entangling circuit:</a:t>
            </a:r>
          </a:p>
          <a:p>
            <a:pPr algn="l">
              <a:spcAft>
                <a:spcPts val="300"/>
              </a:spcAft>
            </a:pPr>
            <a:r>
              <a:rPr sz="1550" b="0">
                <a:solidFill>
                  <a:srgbClr val="0B1220"/>
                </a:solidFill>
                <a:latin typeface="Arial"/>
              </a:rPr>
              <a:t> </a:t>
            </a:r>
          </a:p>
          <a:p>
            <a:pPr algn="l">
              <a:spcAft>
                <a:spcPts val="300"/>
              </a:spcAft>
            </a:pPr>
            <a:r>
              <a:rPr sz="1550" b="0">
                <a:solidFill>
                  <a:srgbClr val="9CDCFE"/>
                </a:solidFill>
                <a:latin typeface="Arial"/>
              </a:rPr>
              <a:t>   CNOT (control = Alice's qubit, target = Bob's), then H on Alice's qubit</a:t>
            </a:r>
          </a:p>
          <a:p>
            <a:pPr algn="l">
              <a:spcAft>
                <a:spcPts val="300"/>
              </a:spcAft>
            </a:pPr>
            <a:r>
              <a:rPr sz="1550" b="0">
                <a:solidFill>
                  <a:srgbClr val="0B1220"/>
                </a:solidFill>
                <a:latin typeface="Arial"/>
              </a:rPr>
              <a:t> </a:t>
            </a:r>
          </a:p>
          <a:p>
            <a:pPr algn="l">
              <a:spcAft>
                <a:spcPts val="300"/>
              </a:spcAft>
            </a:pPr>
            <a:r>
              <a:rPr sz="1550" b="0">
                <a:solidFill>
                  <a:srgbClr val="9CDCFE"/>
                </a:solidFill>
                <a:latin typeface="Arial"/>
              </a:rPr>
              <a:t>   |Φ+&gt; -&gt; |00&gt;     |Ψ+&gt; -&gt; |01&gt;</a:t>
            </a:r>
          </a:p>
          <a:p>
            <a:pPr algn="l">
              <a:spcAft>
                <a:spcPts val="300"/>
              </a:spcAft>
            </a:pPr>
            <a:r>
              <a:rPr sz="1550" b="0">
                <a:solidFill>
                  <a:srgbClr val="9CDCFE"/>
                </a:solidFill>
                <a:latin typeface="Arial"/>
              </a:rPr>
              <a:t>   |Φ-&gt; -&gt; |10&gt;     |Ψ-&gt; -&gt; |11&gt;</a:t>
            </a:r>
          </a:p>
          <a:p>
            <a:pPr algn="l">
              <a:spcAft>
                <a:spcPts val="300"/>
              </a:spcAft>
            </a:pPr>
            <a:r>
              <a:rPr sz="1550" b="0">
                <a:solidFill>
                  <a:srgbClr val="0B1220"/>
                </a:solidFill>
                <a:latin typeface="Arial"/>
              </a:rPr>
              <a:t> </a:t>
            </a:r>
          </a:p>
          <a:p>
            <a:pPr algn="l">
              <a:spcAft>
                <a:spcPts val="300"/>
              </a:spcAft>
            </a:pPr>
            <a:r>
              <a:rPr sz="1550" b="0">
                <a:solidFill>
                  <a:srgbClr val="9CDCFE"/>
                </a:solidFill>
                <a:latin typeface="Arial"/>
              </a:rPr>
              <a:t>Bob measures both qubits and reads the 2-bit message.</a:t>
            </a:r>
          </a:p>
        </p:txBody>
      </p:sp>
      <p:sp>
        <p:nvSpPr>
          <p:cNvPr id="9" name="Rectangle 8"/>
          <p:cNvSpPr/>
          <p:nvPr/>
        </p:nvSpPr>
        <p:spPr>
          <a:xfrm>
            <a:off x="777240" y="5266944"/>
            <a:ext cx="10634472" cy="786384"/>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Rectangle 9"/>
          <p:cNvSpPr/>
          <p:nvPr/>
        </p:nvSpPr>
        <p:spPr>
          <a:xfrm>
            <a:off x="777240" y="5266944"/>
            <a:ext cx="82296" cy="786384"/>
          </a:xfrm>
          <a:prstGeom prst="rect">
            <a:avLst/>
          </a:prstGeom>
          <a:solidFill>
            <a:srgbClr val="F59E0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 name="TextBox 10"/>
          <p:cNvSpPr txBox="1"/>
          <p:nvPr/>
        </p:nvSpPr>
        <p:spPr>
          <a:xfrm>
            <a:off x="1097280" y="5266944"/>
            <a:ext cx="10149840" cy="786384"/>
          </a:xfrm>
          <a:prstGeom prst="rect">
            <a:avLst/>
          </a:prstGeom>
          <a:noFill/>
        </p:spPr>
        <p:txBody>
          <a:bodyPr wrap="square" anchor="ctr">
            <a:spAutoFit/>
          </a:bodyPr>
          <a:lstStyle/>
          <a:p>
            <a:pPr algn="l">
              <a:spcAft>
                <a:spcPts val="400"/>
              </a:spcAft>
            </a:pPr>
            <a:r>
              <a:rPr sz="1150" b="1">
                <a:solidFill>
                  <a:srgbClr val="F59E0B"/>
                </a:solidFill>
                <a:latin typeface="Arial"/>
              </a:rPr>
              <a:t>WHY THIS STEP:  </a:t>
            </a:r>
            <a:r>
              <a:rPr sz="1300" b="0">
                <a:solidFill>
                  <a:srgbClr val="161B26"/>
                </a:solidFill>
                <a:latin typeface="Arial"/>
              </a:rPr>
              <a:t>The Bell measurement maps the four Bell states back to the computational basis.</a:t>
            </a:r>
          </a:p>
        </p:txBody>
      </p:sp>
      <p:sp>
        <p:nvSpPr>
          <p:cNvPr id="12" name="TextBox 11"/>
          <p:cNvSpPr txBox="1"/>
          <p:nvPr/>
        </p:nvSpPr>
        <p:spPr>
          <a:xfrm>
            <a:off x="365760" y="6446520"/>
            <a:ext cx="6858000" cy="320040"/>
          </a:xfrm>
          <a:prstGeom prst="rect">
            <a:avLst/>
          </a:prstGeom>
          <a:noFill/>
        </p:spPr>
        <p:txBody>
          <a:bodyPr wrap="square" anchor="t">
            <a:spAutoFit/>
          </a:bodyPr>
          <a:lstStyle/>
          <a:p>
            <a:pPr algn="l">
              <a:spcAft>
                <a:spcPts val="400"/>
              </a:spcAft>
            </a:pPr>
            <a:r>
              <a:rPr sz="900" b="0">
                <a:solidFill>
                  <a:srgbClr val="5B6372"/>
                </a:solidFill>
                <a:latin typeface="Arial"/>
              </a:rPr>
              <a:t>Securing the Future with Quantum Computing and Cryptography  ·  TGS-2024043419</a:t>
            </a:r>
          </a:p>
        </p:txBody>
      </p:sp>
      <p:sp>
        <p:nvSpPr>
          <p:cNvPr id="13" name="TextBox 12"/>
          <p:cNvSpPr txBox="1"/>
          <p:nvPr/>
        </p:nvSpPr>
        <p:spPr>
          <a:xfrm>
            <a:off x="4572000" y="6446520"/>
            <a:ext cx="3017520" cy="320040"/>
          </a:xfrm>
          <a:prstGeom prst="rect">
            <a:avLst/>
          </a:prstGeom>
          <a:noFill/>
        </p:spPr>
        <p:txBody>
          <a:bodyPr wrap="square" anchor="t">
            <a:spAutoFit/>
          </a:bodyPr>
          <a:lstStyle/>
          <a:p>
            <a:pPr algn="ctr">
              <a:spcAft>
                <a:spcPts val="400"/>
              </a:spcAft>
            </a:pPr>
            <a:r>
              <a:rPr sz="900" b="0">
                <a:solidFill>
                  <a:srgbClr val="5B6372"/>
                </a:solidFill>
                <a:latin typeface="Arial"/>
              </a:rPr>
              <a:t>© 2026 Tertiary Infotech Academy Pte Ltd</a:t>
            </a:r>
          </a:p>
        </p:txBody>
      </p:sp>
      <p:sp>
        <p:nvSpPr>
          <p:cNvPr id="14" name="TextBox 13"/>
          <p:cNvSpPr txBox="1"/>
          <p:nvPr/>
        </p:nvSpPr>
        <p:spPr>
          <a:xfrm>
            <a:off x="11338560" y="6446520"/>
            <a:ext cx="548640" cy="320040"/>
          </a:xfrm>
          <a:prstGeom prst="rect">
            <a:avLst/>
          </a:prstGeom>
          <a:noFill/>
        </p:spPr>
        <p:txBody>
          <a:bodyPr wrap="square" anchor="t">
            <a:spAutoFit/>
          </a:bodyPr>
          <a:lstStyle/>
          <a:p>
            <a:pPr algn="r">
              <a:spcAft>
                <a:spcPts val="400"/>
              </a:spcAft>
            </a:pPr>
            <a:r>
              <a:rPr sz="900" b="0">
                <a:solidFill>
                  <a:srgbClr val="5B6372"/>
                </a:solidFill>
                <a:latin typeface="Arial"/>
              </a:rPr>
              <a:t>119</a:t>
            </a:r>
          </a:p>
        </p:txBody>
      </p:sp>
    </p:spTree>
  </p:cSld>
  <p:clrMapOvr>
    <a:masterClrMapping/>
  </p:clrMapOvr>
</p:sld>
</file>

<file path=ppt/slides/slide121.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256032" cy="1417320"/>
          </a:xfrm>
          <a:prstGeom prst="rect">
            <a:avLst/>
          </a:prstGeom>
          <a:solidFill>
            <a:srgbClr val="7C3AE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777240" y="457200"/>
            <a:ext cx="10607040" cy="365760"/>
          </a:xfrm>
          <a:prstGeom prst="rect">
            <a:avLst/>
          </a:prstGeom>
          <a:noFill/>
        </p:spPr>
        <p:txBody>
          <a:bodyPr wrap="square" anchor="t">
            <a:spAutoFit/>
          </a:bodyPr>
          <a:lstStyle/>
          <a:p>
            <a:pPr algn="l">
              <a:spcAft>
                <a:spcPts val="400"/>
              </a:spcAft>
            </a:pPr>
            <a:r>
              <a:rPr sz="1400" b="1">
                <a:solidFill>
                  <a:srgbClr val="7C3AED"/>
                </a:solidFill>
                <a:latin typeface="Arial"/>
              </a:rPr>
              <a:t>SUPERDENSE CODING  ·  STEP 4 OF 4</a:t>
            </a:r>
          </a:p>
        </p:txBody>
      </p:sp>
      <p:sp>
        <p:nvSpPr>
          <p:cNvPr id="5" name="TextBox 4"/>
          <p:cNvSpPr txBox="1"/>
          <p:nvPr/>
        </p:nvSpPr>
        <p:spPr>
          <a:xfrm>
            <a:off x="777240" y="822960"/>
            <a:ext cx="10881360" cy="822960"/>
          </a:xfrm>
          <a:prstGeom prst="rect">
            <a:avLst/>
          </a:prstGeom>
          <a:noFill/>
        </p:spPr>
        <p:txBody>
          <a:bodyPr wrap="square" anchor="t">
            <a:spAutoFit/>
          </a:bodyPr>
          <a:lstStyle/>
          <a:p>
            <a:pPr algn="l">
              <a:spcAft>
                <a:spcPts val="400"/>
              </a:spcAft>
            </a:pPr>
            <a:r>
              <a:rPr sz="2900" b="1">
                <a:solidFill>
                  <a:srgbClr val="161B26"/>
                </a:solidFill>
                <a:latin typeface="Arial"/>
              </a:rPr>
              <a:t>Step 4 — Accounting and limits</a:t>
            </a:r>
          </a:p>
        </p:txBody>
      </p:sp>
      <p:sp>
        <p:nvSpPr>
          <p:cNvPr id="6" name="Rectangle 5"/>
          <p:cNvSpPr/>
          <p:nvPr/>
        </p:nvSpPr>
        <p:spPr>
          <a:xfrm>
            <a:off x="777240" y="1554480"/>
            <a:ext cx="10634472" cy="18288"/>
          </a:xfrm>
          <a:prstGeom prst="rect">
            <a:avLst/>
          </a:prstGeom>
          <a:solidFill>
            <a:srgbClr val="E2E8F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Rectangle 6"/>
          <p:cNvSpPr/>
          <p:nvPr/>
        </p:nvSpPr>
        <p:spPr>
          <a:xfrm>
            <a:off x="777240" y="1810512"/>
            <a:ext cx="10634472" cy="2944368"/>
          </a:xfrm>
          <a:prstGeom prst="rect">
            <a:avLst/>
          </a:prstGeom>
          <a:solidFill>
            <a:srgbClr val="0B122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TextBox 7"/>
          <p:cNvSpPr txBox="1"/>
          <p:nvPr/>
        </p:nvSpPr>
        <p:spPr>
          <a:xfrm>
            <a:off x="1097280" y="1956816"/>
            <a:ext cx="9994392" cy="2651760"/>
          </a:xfrm>
          <a:prstGeom prst="rect">
            <a:avLst/>
          </a:prstGeom>
          <a:noFill/>
        </p:spPr>
        <p:txBody>
          <a:bodyPr wrap="square" anchor="t">
            <a:spAutoFit/>
          </a:bodyPr>
          <a:lstStyle/>
          <a:p>
            <a:pPr algn="l">
              <a:spcAft>
                <a:spcPts val="300"/>
              </a:spcAft>
            </a:pPr>
            <a:r>
              <a:rPr sz="1550" b="0">
                <a:solidFill>
                  <a:srgbClr val="9CDCFE"/>
                </a:solidFill>
                <a:latin typeface="Arial"/>
              </a:rPr>
              <a:t>Total qubits transmitted: 1.   Classical bits delivered: 2.</a:t>
            </a:r>
          </a:p>
          <a:p>
            <a:pPr algn="l">
              <a:spcAft>
                <a:spcPts val="300"/>
              </a:spcAft>
            </a:pPr>
            <a:r>
              <a:rPr sz="1550" b="0">
                <a:solidFill>
                  <a:srgbClr val="0B1220"/>
                </a:solidFill>
                <a:latin typeface="Arial"/>
              </a:rPr>
              <a:t> </a:t>
            </a:r>
          </a:p>
          <a:p>
            <a:pPr algn="l">
              <a:spcAft>
                <a:spcPts val="300"/>
              </a:spcAft>
            </a:pPr>
            <a:r>
              <a:rPr sz="1550" b="0">
                <a:solidFill>
                  <a:srgbClr val="9CDCFE"/>
                </a:solidFill>
                <a:latin typeface="Arial"/>
              </a:rPr>
              <a:t>This does NOT violate Holevo's bound: the entangled pair had to be</a:t>
            </a:r>
          </a:p>
          <a:p>
            <a:pPr algn="l">
              <a:spcAft>
                <a:spcPts val="300"/>
              </a:spcAft>
            </a:pPr>
            <a:r>
              <a:rPr sz="1550" b="0">
                <a:solidFill>
                  <a:srgbClr val="9CDCFE"/>
                </a:solidFill>
                <a:latin typeface="Arial"/>
              </a:rPr>
              <a:t>distributed in advance, which itself required sending a qubit.</a:t>
            </a:r>
          </a:p>
          <a:p>
            <a:pPr algn="l">
              <a:spcAft>
                <a:spcPts val="300"/>
              </a:spcAft>
            </a:pPr>
            <a:r>
              <a:rPr sz="1550" b="0">
                <a:solidFill>
                  <a:srgbClr val="0B1220"/>
                </a:solidFill>
                <a:latin typeface="Arial"/>
              </a:rPr>
              <a:t> </a:t>
            </a:r>
          </a:p>
          <a:p>
            <a:pPr algn="l">
              <a:spcAft>
                <a:spcPts val="300"/>
              </a:spcAft>
            </a:pPr>
            <a:r>
              <a:rPr sz="1550" b="0">
                <a:solidFill>
                  <a:srgbClr val="9CDCFE"/>
                </a:solidFill>
                <a:latin typeface="Arial"/>
              </a:rPr>
              <a:t>Superdense coding is the DUAL of teleportation:</a:t>
            </a:r>
          </a:p>
          <a:p>
            <a:pPr algn="l">
              <a:spcAft>
                <a:spcPts val="300"/>
              </a:spcAft>
            </a:pPr>
            <a:r>
              <a:rPr sz="1550" b="0">
                <a:solidFill>
                  <a:srgbClr val="9CDCFE"/>
                </a:solidFill>
                <a:latin typeface="Arial"/>
              </a:rPr>
              <a:t>   teleportation:      2 classical bits + 1 ebit  -&gt;  1 qubit</a:t>
            </a:r>
          </a:p>
          <a:p>
            <a:pPr algn="l">
              <a:spcAft>
                <a:spcPts val="300"/>
              </a:spcAft>
            </a:pPr>
            <a:r>
              <a:rPr sz="1550" b="0">
                <a:solidFill>
                  <a:srgbClr val="9CDCFE"/>
                </a:solidFill>
                <a:latin typeface="Arial"/>
              </a:rPr>
              <a:t>   superdense coding:  1 qubit + 1 ebit           -&gt;  2 classical bits</a:t>
            </a:r>
          </a:p>
        </p:txBody>
      </p:sp>
      <p:sp>
        <p:nvSpPr>
          <p:cNvPr id="9" name="Rectangle 8"/>
          <p:cNvSpPr/>
          <p:nvPr/>
        </p:nvSpPr>
        <p:spPr>
          <a:xfrm>
            <a:off x="777240" y="4956048"/>
            <a:ext cx="10634472" cy="1097280"/>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Rectangle 9"/>
          <p:cNvSpPr/>
          <p:nvPr/>
        </p:nvSpPr>
        <p:spPr>
          <a:xfrm>
            <a:off x="777240" y="4956048"/>
            <a:ext cx="82296" cy="1097280"/>
          </a:xfrm>
          <a:prstGeom prst="rect">
            <a:avLst/>
          </a:prstGeom>
          <a:solidFill>
            <a:srgbClr val="F59E0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 name="TextBox 10"/>
          <p:cNvSpPr txBox="1"/>
          <p:nvPr/>
        </p:nvSpPr>
        <p:spPr>
          <a:xfrm>
            <a:off x="1097280" y="4956048"/>
            <a:ext cx="10149840" cy="1097280"/>
          </a:xfrm>
          <a:prstGeom prst="rect">
            <a:avLst/>
          </a:prstGeom>
          <a:noFill/>
        </p:spPr>
        <p:txBody>
          <a:bodyPr wrap="square" anchor="ctr">
            <a:spAutoFit/>
          </a:bodyPr>
          <a:lstStyle/>
          <a:p>
            <a:pPr algn="l">
              <a:spcAft>
                <a:spcPts val="400"/>
              </a:spcAft>
            </a:pPr>
            <a:r>
              <a:rPr sz="1150" b="1">
                <a:solidFill>
                  <a:srgbClr val="F59E0B"/>
                </a:solidFill>
                <a:latin typeface="Arial"/>
              </a:rPr>
              <a:t>WHY THIS STEP:  </a:t>
            </a:r>
            <a:r>
              <a:rPr sz="1300" b="0">
                <a:solidFill>
                  <a:srgbClr val="161B26"/>
                </a:solidFill>
                <a:latin typeface="Arial"/>
              </a:rPr>
              <a:t>Entanglement is a RESOURCE that can be traded against communication.</a:t>
            </a:r>
          </a:p>
        </p:txBody>
      </p:sp>
      <p:sp>
        <p:nvSpPr>
          <p:cNvPr id="12" name="TextBox 11"/>
          <p:cNvSpPr txBox="1"/>
          <p:nvPr/>
        </p:nvSpPr>
        <p:spPr>
          <a:xfrm>
            <a:off x="365760" y="6446520"/>
            <a:ext cx="6858000" cy="320040"/>
          </a:xfrm>
          <a:prstGeom prst="rect">
            <a:avLst/>
          </a:prstGeom>
          <a:noFill/>
        </p:spPr>
        <p:txBody>
          <a:bodyPr wrap="square" anchor="t">
            <a:spAutoFit/>
          </a:bodyPr>
          <a:lstStyle/>
          <a:p>
            <a:pPr algn="l">
              <a:spcAft>
                <a:spcPts val="400"/>
              </a:spcAft>
            </a:pPr>
            <a:r>
              <a:rPr sz="900" b="0">
                <a:solidFill>
                  <a:srgbClr val="5B6372"/>
                </a:solidFill>
                <a:latin typeface="Arial"/>
              </a:rPr>
              <a:t>Securing the Future with Quantum Computing and Cryptography  ·  TGS-2024043419</a:t>
            </a:r>
          </a:p>
        </p:txBody>
      </p:sp>
      <p:sp>
        <p:nvSpPr>
          <p:cNvPr id="13" name="TextBox 12"/>
          <p:cNvSpPr txBox="1"/>
          <p:nvPr/>
        </p:nvSpPr>
        <p:spPr>
          <a:xfrm>
            <a:off x="4572000" y="6446520"/>
            <a:ext cx="3017520" cy="320040"/>
          </a:xfrm>
          <a:prstGeom prst="rect">
            <a:avLst/>
          </a:prstGeom>
          <a:noFill/>
        </p:spPr>
        <p:txBody>
          <a:bodyPr wrap="square" anchor="t">
            <a:spAutoFit/>
          </a:bodyPr>
          <a:lstStyle/>
          <a:p>
            <a:pPr algn="ctr">
              <a:spcAft>
                <a:spcPts val="400"/>
              </a:spcAft>
            </a:pPr>
            <a:r>
              <a:rPr sz="900" b="0">
                <a:solidFill>
                  <a:srgbClr val="5B6372"/>
                </a:solidFill>
                <a:latin typeface="Arial"/>
              </a:rPr>
              <a:t>© 2026 Tertiary Infotech Academy Pte Ltd</a:t>
            </a:r>
          </a:p>
        </p:txBody>
      </p:sp>
      <p:sp>
        <p:nvSpPr>
          <p:cNvPr id="14" name="TextBox 13"/>
          <p:cNvSpPr txBox="1"/>
          <p:nvPr/>
        </p:nvSpPr>
        <p:spPr>
          <a:xfrm>
            <a:off x="11338560" y="6446520"/>
            <a:ext cx="548640" cy="320040"/>
          </a:xfrm>
          <a:prstGeom prst="rect">
            <a:avLst/>
          </a:prstGeom>
          <a:noFill/>
        </p:spPr>
        <p:txBody>
          <a:bodyPr wrap="square" anchor="t">
            <a:spAutoFit/>
          </a:bodyPr>
          <a:lstStyle/>
          <a:p>
            <a:pPr algn="r">
              <a:spcAft>
                <a:spcPts val="400"/>
              </a:spcAft>
            </a:pPr>
            <a:r>
              <a:rPr sz="900" b="0">
                <a:solidFill>
                  <a:srgbClr val="5B6372"/>
                </a:solidFill>
                <a:latin typeface="Arial"/>
              </a:rPr>
              <a:t>120</a:t>
            </a:r>
          </a:p>
        </p:txBody>
      </p:sp>
    </p:spTree>
  </p:cSld>
  <p:clrMapOvr>
    <a:masterClrMapping/>
  </p:clrMapOvr>
</p:sld>
</file>

<file path=ppt/slides/slide122.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256032" cy="1417320"/>
          </a:xfrm>
          <a:prstGeom prst="rect">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777240" y="457200"/>
            <a:ext cx="10607040" cy="365760"/>
          </a:xfrm>
          <a:prstGeom prst="rect">
            <a:avLst/>
          </a:prstGeom>
          <a:noFill/>
        </p:spPr>
        <p:txBody>
          <a:bodyPr wrap="square" anchor="t">
            <a:spAutoFit/>
          </a:bodyPr>
          <a:lstStyle/>
          <a:p>
            <a:pPr algn="l">
              <a:spcAft>
                <a:spcPts val="400"/>
              </a:spcAft>
            </a:pPr>
            <a:r>
              <a:rPr sz="1400" b="1">
                <a:solidFill>
                  <a:srgbClr val="10B981"/>
                </a:solidFill>
                <a:latin typeface="Arial"/>
              </a:rPr>
              <a:t>QED</a:t>
            </a:r>
          </a:p>
        </p:txBody>
      </p:sp>
      <p:sp>
        <p:nvSpPr>
          <p:cNvPr id="5" name="TextBox 4"/>
          <p:cNvSpPr txBox="1"/>
          <p:nvPr/>
        </p:nvSpPr>
        <p:spPr>
          <a:xfrm>
            <a:off x="777240" y="822960"/>
            <a:ext cx="10881360" cy="822960"/>
          </a:xfrm>
          <a:prstGeom prst="rect">
            <a:avLst/>
          </a:prstGeom>
          <a:noFill/>
        </p:spPr>
        <p:txBody>
          <a:bodyPr wrap="square" anchor="t">
            <a:spAutoFit/>
          </a:bodyPr>
          <a:lstStyle/>
          <a:p>
            <a:pPr algn="l">
              <a:spcAft>
                <a:spcPts val="400"/>
              </a:spcAft>
            </a:pPr>
            <a:r>
              <a:rPr sz="2900" b="1">
                <a:solidFill>
                  <a:srgbClr val="161B26"/>
                </a:solidFill>
                <a:latin typeface="Arial"/>
              </a:rPr>
              <a:t>Superdense Coding — Result</a:t>
            </a:r>
          </a:p>
        </p:txBody>
      </p:sp>
      <p:sp>
        <p:nvSpPr>
          <p:cNvPr id="6" name="Rectangle 5"/>
          <p:cNvSpPr/>
          <p:nvPr/>
        </p:nvSpPr>
        <p:spPr>
          <a:xfrm>
            <a:off x="777240" y="1554480"/>
            <a:ext cx="10634472" cy="18288"/>
          </a:xfrm>
          <a:prstGeom prst="rect">
            <a:avLst/>
          </a:prstGeom>
          <a:solidFill>
            <a:srgbClr val="E2E8F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Rectangle 6"/>
          <p:cNvSpPr/>
          <p:nvPr/>
        </p:nvSpPr>
        <p:spPr>
          <a:xfrm>
            <a:off x="777240" y="1783080"/>
            <a:ext cx="10634472" cy="1828800"/>
          </a:xfrm>
          <a:prstGeom prst="rect">
            <a:avLst/>
          </a:prstGeom>
          <a:solidFill>
            <a:srgbClr val="E8F7E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Rectangle 7"/>
          <p:cNvSpPr/>
          <p:nvPr/>
        </p:nvSpPr>
        <p:spPr>
          <a:xfrm>
            <a:off x="777240" y="1783080"/>
            <a:ext cx="100584" cy="1828800"/>
          </a:xfrm>
          <a:prstGeom prst="rect">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TextBox 8"/>
          <p:cNvSpPr txBox="1"/>
          <p:nvPr/>
        </p:nvSpPr>
        <p:spPr>
          <a:xfrm>
            <a:off x="1143000" y="1965960"/>
            <a:ext cx="10058400" cy="365760"/>
          </a:xfrm>
          <a:prstGeom prst="rect">
            <a:avLst/>
          </a:prstGeom>
          <a:noFill/>
        </p:spPr>
        <p:txBody>
          <a:bodyPr wrap="square" anchor="t">
            <a:spAutoFit/>
          </a:bodyPr>
          <a:lstStyle/>
          <a:p>
            <a:pPr algn="l">
              <a:spcAft>
                <a:spcPts val="400"/>
              </a:spcAft>
            </a:pPr>
            <a:r>
              <a:rPr sz="1200" b="1">
                <a:solidFill>
                  <a:srgbClr val="127A3E"/>
                </a:solidFill>
                <a:latin typeface="Arial"/>
              </a:rPr>
              <a:t>RESULT</a:t>
            </a:r>
          </a:p>
        </p:txBody>
      </p:sp>
      <p:sp>
        <p:nvSpPr>
          <p:cNvPr id="10" name="TextBox 9"/>
          <p:cNvSpPr txBox="1"/>
          <p:nvPr/>
        </p:nvSpPr>
        <p:spPr>
          <a:xfrm>
            <a:off x="1143000" y="2377440"/>
            <a:ext cx="10058400" cy="1143000"/>
          </a:xfrm>
          <a:prstGeom prst="rect">
            <a:avLst/>
          </a:prstGeom>
          <a:noFill/>
        </p:spPr>
        <p:txBody>
          <a:bodyPr wrap="square" anchor="t">
            <a:spAutoFit/>
          </a:bodyPr>
          <a:lstStyle/>
          <a:p>
            <a:pPr algn="l">
              <a:spcAft>
                <a:spcPts val="400"/>
              </a:spcAft>
            </a:pPr>
            <a:r>
              <a:rPr sz="1550" b="1">
                <a:solidFill>
                  <a:srgbClr val="161B26"/>
                </a:solidFill>
                <a:latin typeface="Arial"/>
              </a:rPr>
              <a:t>Alice transmits two classical bits by sending a single qubit, using a pre-shared entangled pair and a local Pauli operation.</a:t>
            </a:r>
          </a:p>
        </p:txBody>
      </p:sp>
      <p:sp>
        <p:nvSpPr>
          <p:cNvPr id="11" name="Rectangle 10"/>
          <p:cNvSpPr/>
          <p:nvPr/>
        </p:nvSpPr>
        <p:spPr>
          <a:xfrm>
            <a:off x="777240" y="3840480"/>
            <a:ext cx="10634472" cy="2148840"/>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 name="Rectangle 11"/>
          <p:cNvSpPr/>
          <p:nvPr/>
        </p:nvSpPr>
        <p:spPr>
          <a:xfrm>
            <a:off x="777240" y="3840480"/>
            <a:ext cx="100584" cy="2148840"/>
          </a:xfrm>
          <a:prstGeom prst="rect">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 name="TextBox 12"/>
          <p:cNvSpPr txBox="1"/>
          <p:nvPr/>
        </p:nvSpPr>
        <p:spPr>
          <a:xfrm>
            <a:off x="1143000" y="4023360"/>
            <a:ext cx="10058400" cy="365760"/>
          </a:xfrm>
          <a:prstGeom prst="rect">
            <a:avLst/>
          </a:prstGeom>
          <a:noFill/>
        </p:spPr>
        <p:txBody>
          <a:bodyPr wrap="square" anchor="t">
            <a:spAutoFit/>
          </a:bodyPr>
          <a:lstStyle/>
          <a:p>
            <a:pPr algn="l">
              <a:spcAft>
                <a:spcPts val="400"/>
              </a:spcAft>
            </a:pPr>
            <a:r>
              <a:rPr sz="1200" b="1">
                <a:solidFill>
                  <a:srgbClr val="1F6FEB"/>
                </a:solidFill>
                <a:latin typeface="Arial"/>
              </a:rPr>
              <a:t>WHY IT MATTERS</a:t>
            </a:r>
          </a:p>
        </p:txBody>
      </p:sp>
      <p:sp>
        <p:nvSpPr>
          <p:cNvPr id="14" name="TextBox 13"/>
          <p:cNvSpPr txBox="1"/>
          <p:nvPr/>
        </p:nvSpPr>
        <p:spPr>
          <a:xfrm>
            <a:off x="1143000" y="4434840"/>
            <a:ext cx="10058400" cy="1463040"/>
          </a:xfrm>
          <a:prstGeom prst="rect">
            <a:avLst/>
          </a:prstGeom>
          <a:noFill/>
        </p:spPr>
        <p:txBody>
          <a:bodyPr wrap="square" anchor="t">
            <a:spAutoFit/>
          </a:bodyPr>
          <a:lstStyle/>
          <a:p>
            <a:pPr algn="l">
              <a:spcAft>
                <a:spcPts val="400"/>
              </a:spcAft>
            </a:pPr>
            <a:r>
              <a:rPr sz="1450" b="0">
                <a:solidFill>
                  <a:srgbClr val="161B26"/>
                </a:solidFill>
                <a:latin typeface="Arial"/>
              </a:rPr>
              <a:t>Superdense coding proved entanglement has quantitative communication value, launching quantum information theory as a discipline and motivating entanglement-distribution networks.</a:t>
            </a:r>
          </a:p>
        </p:txBody>
      </p:sp>
      <p:sp>
        <p:nvSpPr>
          <p:cNvPr id="15" name="TextBox 14"/>
          <p:cNvSpPr txBox="1"/>
          <p:nvPr/>
        </p:nvSpPr>
        <p:spPr>
          <a:xfrm>
            <a:off x="365760" y="6446520"/>
            <a:ext cx="6858000" cy="320040"/>
          </a:xfrm>
          <a:prstGeom prst="rect">
            <a:avLst/>
          </a:prstGeom>
          <a:noFill/>
        </p:spPr>
        <p:txBody>
          <a:bodyPr wrap="square" anchor="t">
            <a:spAutoFit/>
          </a:bodyPr>
          <a:lstStyle/>
          <a:p>
            <a:pPr algn="l">
              <a:spcAft>
                <a:spcPts val="400"/>
              </a:spcAft>
            </a:pPr>
            <a:r>
              <a:rPr sz="900" b="0">
                <a:solidFill>
                  <a:srgbClr val="5B6372"/>
                </a:solidFill>
                <a:latin typeface="Arial"/>
              </a:rPr>
              <a:t>Securing the Future with Quantum Computing and Cryptography  ·  TGS-2024043419</a:t>
            </a:r>
          </a:p>
        </p:txBody>
      </p:sp>
      <p:sp>
        <p:nvSpPr>
          <p:cNvPr id="16" name="TextBox 15"/>
          <p:cNvSpPr txBox="1"/>
          <p:nvPr/>
        </p:nvSpPr>
        <p:spPr>
          <a:xfrm>
            <a:off x="4572000" y="6446520"/>
            <a:ext cx="3017520" cy="320040"/>
          </a:xfrm>
          <a:prstGeom prst="rect">
            <a:avLst/>
          </a:prstGeom>
          <a:noFill/>
        </p:spPr>
        <p:txBody>
          <a:bodyPr wrap="square" anchor="t">
            <a:spAutoFit/>
          </a:bodyPr>
          <a:lstStyle/>
          <a:p>
            <a:pPr algn="ctr">
              <a:spcAft>
                <a:spcPts val="400"/>
              </a:spcAft>
            </a:pPr>
            <a:r>
              <a:rPr sz="900" b="0">
                <a:solidFill>
                  <a:srgbClr val="5B6372"/>
                </a:solidFill>
                <a:latin typeface="Arial"/>
              </a:rPr>
              <a:t>© 2026 Tertiary Infotech Academy Pte Ltd</a:t>
            </a:r>
          </a:p>
        </p:txBody>
      </p:sp>
      <p:sp>
        <p:nvSpPr>
          <p:cNvPr id="17" name="TextBox 16"/>
          <p:cNvSpPr txBox="1"/>
          <p:nvPr/>
        </p:nvSpPr>
        <p:spPr>
          <a:xfrm>
            <a:off x="11338560" y="6446520"/>
            <a:ext cx="548640" cy="320040"/>
          </a:xfrm>
          <a:prstGeom prst="rect">
            <a:avLst/>
          </a:prstGeom>
          <a:noFill/>
        </p:spPr>
        <p:txBody>
          <a:bodyPr wrap="square" anchor="t">
            <a:spAutoFit/>
          </a:bodyPr>
          <a:lstStyle/>
          <a:p>
            <a:pPr algn="r">
              <a:spcAft>
                <a:spcPts val="400"/>
              </a:spcAft>
            </a:pPr>
            <a:r>
              <a:rPr sz="900" b="0">
                <a:solidFill>
                  <a:srgbClr val="5B6372"/>
                </a:solidFill>
                <a:latin typeface="Arial"/>
              </a:rPr>
              <a:t>121</a:t>
            </a:r>
          </a:p>
        </p:txBody>
      </p:sp>
    </p:spTree>
  </p:cSld>
  <p:clrMapOvr>
    <a:masterClrMapping/>
  </p:clrMapOvr>
</p:sld>
</file>

<file path=ppt/slides/slide123.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256032" cy="1417320"/>
          </a:xfrm>
          <a:prstGeom prst="rect">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777240" y="457200"/>
            <a:ext cx="10607040" cy="365760"/>
          </a:xfrm>
          <a:prstGeom prst="rect">
            <a:avLst/>
          </a:prstGeom>
          <a:noFill/>
        </p:spPr>
        <p:txBody>
          <a:bodyPr wrap="square" anchor="t">
            <a:spAutoFit/>
          </a:bodyPr>
          <a:lstStyle/>
          <a:p>
            <a:pPr algn="l">
              <a:spcAft>
                <a:spcPts val="400"/>
              </a:spcAft>
            </a:pPr>
            <a:r>
              <a:rPr sz="1400" b="1">
                <a:solidFill>
                  <a:srgbClr val="1F6FEB"/>
                </a:solidFill>
                <a:latin typeface="Arial"/>
              </a:rPr>
              <a:t>WHAT YOU'LL DO</a:t>
            </a:r>
          </a:p>
        </p:txBody>
      </p:sp>
      <p:sp>
        <p:nvSpPr>
          <p:cNvPr id="5" name="TextBox 4"/>
          <p:cNvSpPr txBox="1"/>
          <p:nvPr/>
        </p:nvSpPr>
        <p:spPr>
          <a:xfrm>
            <a:off x="777240" y="822960"/>
            <a:ext cx="10881360" cy="822960"/>
          </a:xfrm>
          <a:prstGeom prst="rect">
            <a:avLst/>
          </a:prstGeom>
          <a:noFill/>
        </p:spPr>
        <p:txBody>
          <a:bodyPr wrap="square" anchor="t">
            <a:spAutoFit/>
          </a:bodyPr>
          <a:lstStyle/>
          <a:p>
            <a:pPr algn="l">
              <a:spcAft>
                <a:spcPts val="400"/>
              </a:spcAft>
            </a:pPr>
            <a:r>
              <a:rPr sz="2900" b="1">
                <a:solidFill>
                  <a:srgbClr val="161B26"/>
                </a:solidFill>
                <a:latin typeface="Arial"/>
              </a:rPr>
              <a:t>Hands-On Activities — Quantum Protocols</a:t>
            </a:r>
          </a:p>
        </p:txBody>
      </p:sp>
      <p:sp>
        <p:nvSpPr>
          <p:cNvPr id="6" name="Rectangle 5"/>
          <p:cNvSpPr/>
          <p:nvPr/>
        </p:nvSpPr>
        <p:spPr>
          <a:xfrm>
            <a:off x="777240" y="1554480"/>
            <a:ext cx="10634472" cy="18288"/>
          </a:xfrm>
          <a:prstGeom prst="rect">
            <a:avLst/>
          </a:prstGeom>
          <a:solidFill>
            <a:srgbClr val="E2E8F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Rectangle 6"/>
          <p:cNvSpPr/>
          <p:nvPr/>
        </p:nvSpPr>
        <p:spPr>
          <a:xfrm>
            <a:off x="777240" y="1783080"/>
            <a:ext cx="3337560" cy="4297680"/>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Rectangle 7"/>
          <p:cNvSpPr/>
          <p:nvPr/>
        </p:nvSpPr>
        <p:spPr>
          <a:xfrm>
            <a:off x="777240" y="1783080"/>
            <a:ext cx="3337560" cy="109728"/>
          </a:xfrm>
          <a:prstGeom prst="rect">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TextBox 8"/>
          <p:cNvSpPr txBox="1"/>
          <p:nvPr/>
        </p:nvSpPr>
        <p:spPr>
          <a:xfrm>
            <a:off x="1005840" y="2011680"/>
            <a:ext cx="2926080" cy="548640"/>
          </a:xfrm>
          <a:prstGeom prst="rect">
            <a:avLst/>
          </a:prstGeom>
          <a:noFill/>
        </p:spPr>
        <p:txBody>
          <a:bodyPr wrap="square" anchor="t">
            <a:spAutoFit/>
          </a:bodyPr>
          <a:lstStyle/>
          <a:p>
            <a:pPr algn="l">
              <a:spcAft>
                <a:spcPts val="400"/>
              </a:spcAft>
            </a:pPr>
            <a:r>
              <a:rPr sz="1900" b="1">
                <a:solidFill>
                  <a:srgbClr val="1F6FEB"/>
                </a:solidFill>
                <a:latin typeface="Arial"/>
              </a:rPr>
              <a:t>Activity 6</a:t>
            </a:r>
          </a:p>
        </p:txBody>
      </p:sp>
      <p:sp>
        <p:nvSpPr>
          <p:cNvPr id="10" name="TextBox 9"/>
          <p:cNvSpPr txBox="1"/>
          <p:nvPr/>
        </p:nvSpPr>
        <p:spPr>
          <a:xfrm>
            <a:off x="1005840" y="2697480"/>
            <a:ext cx="2926080" cy="3108960"/>
          </a:xfrm>
          <a:prstGeom prst="rect">
            <a:avLst/>
          </a:prstGeom>
          <a:noFill/>
        </p:spPr>
        <p:txBody>
          <a:bodyPr wrap="square">
            <a:spAutoFit/>
          </a:bodyPr>
          <a:lstStyle/>
          <a:p>
            <a:pPr>
              <a:spcAft>
                <a:spcPts val="900"/>
              </a:spcAft>
            </a:pPr>
            <a:r>
              <a:rPr sz="1400">
                <a:solidFill>
                  <a:srgbClr val="161B26"/>
                </a:solidFill>
                <a:latin typeface="Arial"/>
              </a:rPr>
              <a:t>•  Quantum Teleportation</a:t>
            </a:r>
          </a:p>
        </p:txBody>
      </p:sp>
      <p:sp>
        <p:nvSpPr>
          <p:cNvPr id="11" name="Rectangle 10"/>
          <p:cNvSpPr/>
          <p:nvPr/>
        </p:nvSpPr>
        <p:spPr>
          <a:xfrm>
            <a:off x="4572000" y="1783080"/>
            <a:ext cx="3337560" cy="4297680"/>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 name="Rectangle 11"/>
          <p:cNvSpPr/>
          <p:nvPr/>
        </p:nvSpPr>
        <p:spPr>
          <a:xfrm>
            <a:off x="4572000" y="1783080"/>
            <a:ext cx="3337560" cy="109728"/>
          </a:xfrm>
          <a:prstGeom prst="rect">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 name="TextBox 12"/>
          <p:cNvSpPr txBox="1"/>
          <p:nvPr/>
        </p:nvSpPr>
        <p:spPr>
          <a:xfrm>
            <a:off x="4800600" y="2011680"/>
            <a:ext cx="2926080" cy="548640"/>
          </a:xfrm>
          <a:prstGeom prst="rect">
            <a:avLst/>
          </a:prstGeom>
          <a:noFill/>
        </p:spPr>
        <p:txBody>
          <a:bodyPr wrap="square" anchor="t">
            <a:spAutoFit/>
          </a:bodyPr>
          <a:lstStyle/>
          <a:p>
            <a:pPr algn="l">
              <a:spcAft>
                <a:spcPts val="400"/>
              </a:spcAft>
            </a:pPr>
            <a:r>
              <a:rPr sz="1900" b="1">
                <a:solidFill>
                  <a:srgbClr val="10B981"/>
                </a:solidFill>
                <a:latin typeface="Arial"/>
              </a:rPr>
              <a:t>Activity 7</a:t>
            </a:r>
          </a:p>
        </p:txBody>
      </p:sp>
      <p:sp>
        <p:nvSpPr>
          <p:cNvPr id="14" name="TextBox 13"/>
          <p:cNvSpPr txBox="1"/>
          <p:nvPr/>
        </p:nvSpPr>
        <p:spPr>
          <a:xfrm>
            <a:off x="4800600" y="2697480"/>
            <a:ext cx="2926080" cy="3108960"/>
          </a:xfrm>
          <a:prstGeom prst="rect">
            <a:avLst/>
          </a:prstGeom>
          <a:noFill/>
        </p:spPr>
        <p:txBody>
          <a:bodyPr wrap="square">
            <a:spAutoFit/>
          </a:bodyPr>
          <a:lstStyle/>
          <a:p>
            <a:pPr>
              <a:spcAft>
                <a:spcPts val="900"/>
              </a:spcAft>
            </a:pPr>
            <a:r>
              <a:rPr sz="1400">
                <a:solidFill>
                  <a:srgbClr val="161B26"/>
                </a:solidFill>
                <a:latin typeface="Arial"/>
              </a:rPr>
              <a:t>•  Superdense Coding Protocol</a:t>
            </a:r>
          </a:p>
        </p:txBody>
      </p:sp>
      <p:sp>
        <p:nvSpPr>
          <p:cNvPr id="15" name="Rectangle 14"/>
          <p:cNvSpPr/>
          <p:nvPr/>
        </p:nvSpPr>
        <p:spPr>
          <a:xfrm>
            <a:off x="8366760" y="1783080"/>
            <a:ext cx="3337560" cy="4297680"/>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6" name="Rectangle 15"/>
          <p:cNvSpPr/>
          <p:nvPr/>
        </p:nvSpPr>
        <p:spPr>
          <a:xfrm>
            <a:off x="8366760" y="1783080"/>
            <a:ext cx="3337560" cy="109728"/>
          </a:xfrm>
          <a:prstGeom prst="rect">
            <a:avLst/>
          </a:prstGeom>
          <a:solidFill>
            <a:srgbClr val="7C3AE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7" name="TextBox 16"/>
          <p:cNvSpPr txBox="1"/>
          <p:nvPr/>
        </p:nvSpPr>
        <p:spPr>
          <a:xfrm>
            <a:off x="8595360" y="2011680"/>
            <a:ext cx="2926080" cy="548640"/>
          </a:xfrm>
          <a:prstGeom prst="rect">
            <a:avLst/>
          </a:prstGeom>
          <a:noFill/>
        </p:spPr>
        <p:txBody>
          <a:bodyPr wrap="square" anchor="t">
            <a:spAutoFit/>
          </a:bodyPr>
          <a:lstStyle/>
          <a:p>
            <a:pPr algn="l">
              <a:spcAft>
                <a:spcPts val="400"/>
              </a:spcAft>
            </a:pPr>
            <a:r>
              <a:rPr sz="1900" b="1">
                <a:solidFill>
                  <a:srgbClr val="7C3AED"/>
                </a:solidFill>
                <a:latin typeface="Arial"/>
              </a:rPr>
              <a:t>Activity 8</a:t>
            </a:r>
          </a:p>
        </p:txBody>
      </p:sp>
      <p:sp>
        <p:nvSpPr>
          <p:cNvPr id="18" name="TextBox 17"/>
          <p:cNvSpPr txBox="1"/>
          <p:nvPr/>
        </p:nvSpPr>
        <p:spPr>
          <a:xfrm>
            <a:off x="8595360" y="2697480"/>
            <a:ext cx="2926080" cy="3108960"/>
          </a:xfrm>
          <a:prstGeom prst="rect">
            <a:avLst/>
          </a:prstGeom>
          <a:noFill/>
        </p:spPr>
        <p:txBody>
          <a:bodyPr wrap="square">
            <a:spAutoFit/>
          </a:bodyPr>
          <a:lstStyle/>
          <a:p>
            <a:pPr>
              <a:spcAft>
                <a:spcPts val="900"/>
              </a:spcAft>
            </a:pPr>
            <a:r>
              <a:rPr sz="1400">
                <a:solidFill>
                  <a:srgbClr val="161B26"/>
                </a:solidFill>
                <a:latin typeface="Arial"/>
              </a:rPr>
              <a:t>•  BB84 Quantum Key Distribution with Eavesdropping Detection</a:t>
            </a:r>
          </a:p>
        </p:txBody>
      </p:sp>
      <p:sp>
        <p:nvSpPr>
          <p:cNvPr id="19" name="TextBox 18"/>
          <p:cNvSpPr txBox="1"/>
          <p:nvPr/>
        </p:nvSpPr>
        <p:spPr>
          <a:xfrm>
            <a:off x="365760" y="6446520"/>
            <a:ext cx="6858000" cy="320040"/>
          </a:xfrm>
          <a:prstGeom prst="rect">
            <a:avLst/>
          </a:prstGeom>
          <a:noFill/>
        </p:spPr>
        <p:txBody>
          <a:bodyPr wrap="square" anchor="t">
            <a:spAutoFit/>
          </a:bodyPr>
          <a:lstStyle/>
          <a:p>
            <a:pPr algn="l">
              <a:spcAft>
                <a:spcPts val="400"/>
              </a:spcAft>
            </a:pPr>
            <a:r>
              <a:rPr sz="900" b="0">
                <a:solidFill>
                  <a:srgbClr val="5B6372"/>
                </a:solidFill>
                <a:latin typeface="Arial"/>
              </a:rPr>
              <a:t>Securing the Future with Quantum Computing and Cryptography  ·  TGS-2024043419</a:t>
            </a:r>
          </a:p>
        </p:txBody>
      </p:sp>
      <p:sp>
        <p:nvSpPr>
          <p:cNvPr id="20" name="TextBox 19"/>
          <p:cNvSpPr txBox="1"/>
          <p:nvPr/>
        </p:nvSpPr>
        <p:spPr>
          <a:xfrm>
            <a:off x="4572000" y="6446520"/>
            <a:ext cx="3017520" cy="320040"/>
          </a:xfrm>
          <a:prstGeom prst="rect">
            <a:avLst/>
          </a:prstGeom>
          <a:noFill/>
        </p:spPr>
        <p:txBody>
          <a:bodyPr wrap="square" anchor="t">
            <a:spAutoFit/>
          </a:bodyPr>
          <a:lstStyle/>
          <a:p>
            <a:pPr algn="ctr">
              <a:spcAft>
                <a:spcPts val="400"/>
              </a:spcAft>
            </a:pPr>
            <a:r>
              <a:rPr sz="900" b="0">
                <a:solidFill>
                  <a:srgbClr val="5B6372"/>
                </a:solidFill>
                <a:latin typeface="Arial"/>
              </a:rPr>
              <a:t>© 2026 Tertiary Infotech Academy Pte Ltd</a:t>
            </a:r>
          </a:p>
        </p:txBody>
      </p:sp>
      <p:sp>
        <p:nvSpPr>
          <p:cNvPr id="21" name="TextBox 20"/>
          <p:cNvSpPr txBox="1"/>
          <p:nvPr/>
        </p:nvSpPr>
        <p:spPr>
          <a:xfrm>
            <a:off x="11338560" y="6446520"/>
            <a:ext cx="548640" cy="320040"/>
          </a:xfrm>
          <a:prstGeom prst="rect">
            <a:avLst/>
          </a:prstGeom>
          <a:noFill/>
        </p:spPr>
        <p:txBody>
          <a:bodyPr wrap="square" anchor="t">
            <a:spAutoFit/>
          </a:bodyPr>
          <a:lstStyle/>
          <a:p>
            <a:pPr algn="r">
              <a:spcAft>
                <a:spcPts val="400"/>
              </a:spcAft>
            </a:pPr>
            <a:r>
              <a:rPr sz="900" b="0">
                <a:solidFill>
                  <a:srgbClr val="5B6372"/>
                </a:solidFill>
                <a:latin typeface="Arial"/>
              </a:rPr>
              <a:t>122</a:t>
            </a:r>
          </a:p>
        </p:txBody>
      </p:sp>
    </p:spTree>
  </p:cSld>
  <p:clrMapOvr>
    <a:masterClrMapping/>
  </p:clrMapOvr>
</p:sld>
</file>

<file path=ppt/slides/slide124.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256032" cy="1417320"/>
          </a:xfrm>
          <a:prstGeom prst="rect">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777240" y="457200"/>
            <a:ext cx="10607040" cy="365760"/>
          </a:xfrm>
          <a:prstGeom prst="rect">
            <a:avLst/>
          </a:prstGeom>
          <a:noFill/>
        </p:spPr>
        <p:txBody>
          <a:bodyPr wrap="square" anchor="t">
            <a:spAutoFit/>
          </a:bodyPr>
          <a:lstStyle/>
          <a:p>
            <a:pPr algn="l">
              <a:spcAft>
                <a:spcPts val="400"/>
              </a:spcAft>
            </a:pPr>
            <a:r>
              <a:rPr sz="1400" b="1">
                <a:solidFill>
                  <a:srgbClr val="10B981"/>
                </a:solidFill>
                <a:latin typeface="Arial"/>
              </a:rPr>
              <a:t>TOPIC 04 · HANDS-ON ACTIVITY</a:t>
            </a:r>
          </a:p>
        </p:txBody>
      </p:sp>
      <p:sp>
        <p:nvSpPr>
          <p:cNvPr id="5" name="TextBox 4"/>
          <p:cNvSpPr txBox="1"/>
          <p:nvPr/>
        </p:nvSpPr>
        <p:spPr>
          <a:xfrm>
            <a:off x="777240" y="822960"/>
            <a:ext cx="10881360" cy="822960"/>
          </a:xfrm>
          <a:prstGeom prst="rect">
            <a:avLst/>
          </a:prstGeom>
          <a:noFill/>
        </p:spPr>
        <p:txBody>
          <a:bodyPr wrap="square" anchor="t">
            <a:spAutoFit/>
          </a:bodyPr>
          <a:lstStyle/>
          <a:p>
            <a:pPr algn="l">
              <a:spcAft>
                <a:spcPts val="400"/>
              </a:spcAft>
            </a:pPr>
            <a:r>
              <a:rPr sz="2900" b="1">
                <a:solidFill>
                  <a:srgbClr val="161B26"/>
                </a:solidFill>
                <a:latin typeface="Arial"/>
              </a:rPr>
              <a:t>Quantum Teleportation</a:t>
            </a:r>
          </a:p>
        </p:txBody>
      </p:sp>
      <p:sp>
        <p:nvSpPr>
          <p:cNvPr id="6" name="Rectangle 5"/>
          <p:cNvSpPr/>
          <p:nvPr/>
        </p:nvSpPr>
        <p:spPr>
          <a:xfrm>
            <a:off x="777240" y="1554480"/>
            <a:ext cx="10634472" cy="18288"/>
          </a:xfrm>
          <a:prstGeom prst="rect">
            <a:avLst/>
          </a:prstGeom>
          <a:solidFill>
            <a:srgbClr val="E2E8F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Rectangle 6"/>
          <p:cNvSpPr/>
          <p:nvPr/>
        </p:nvSpPr>
        <p:spPr>
          <a:xfrm>
            <a:off x="9646920" y="457200"/>
            <a:ext cx="1783080" cy="457200"/>
          </a:xfrm>
          <a:prstGeom prst="rect">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TextBox 7"/>
          <p:cNvSpPr txBox="1"/>
          <p:nvPr/>
        </p:nvSpPr>
        <p:spPr>
          <a:xfrm>
            <a:off x="9646920" y="457200"/>
            <a:ext cx="1783080" cy="457200"/>
          </a:xfrm>
          <a:prstGeom prst="rect">
            <a:avLst/>
          </a:prstGeom>
          <a:noFill/>
        </p:spPr>
        <p:txBody>
          <a:bodyPr wrap="square" anchor="ctr">
            <a:spAutoFit/>
          </a:bodyPr>
          <a:lstStyle/>
          <a:p>
            <a:pPr algn="ctr">
              <a:spcAft>
                <a:spcPts val="400"/>
              </a:spcAft>
            </a:pPr>
            <a:r>
              <a:rPr sz="1300" b="1">
                <a:solidFill>
                  <a:srgbClr val="FFFFFF"/>
                </a:solidFill>
                <a:latin typeface="Arial"/>
              </a:rPr>
              <a:t>ACTIVITY 6</a:t>
            </a:r>
          </a:p>
        </p:txBody>
      </p:sp>
      <p:sp>
        <p:nvSpPr>
          <p:cNvPr id="9" name="TextBox 8"/>
          <p:cNvSpPr txBox="1"/>
          <p:nvPr/>
        </p:nvSpPr>
        <p:spPr>
          <a:xfrm>
            <a:off x="777240" y="1828800"/>
            <a:ext cx="10607040" cy="1051560"/>
          </a:xfrm>
          <a:prstGeom prst="rect">
            <a:avLst/>
          </a:prstGeom>
          <a:noFill/>
        </p:spPr>
        <p:txBody>
          <a:bodyPr wrap="square" anchor="t">
            <a:spAutoFit/>
          </a:bodyPr>
          <a:lstStyle/>
          <a:p>
            <a:pPr algn="l">
              <a:spcAft>
                <a:spcPts val="400"/>
              </a:spcAft>
            </a:pPr>
            <a:r>
              <a:rPr sz="1700" b="0">
                <a:solidFill>
                  <a:srgbClr val="161B26"/>
                </a:solidFill>
                <a:latin typeface="Arial"/>
              </a:rPr>
              <a:t>Implement the three-qubit teleportation protocol: entangle a shared pair, perform a Bell measurement on the unknown state, and apply the conditional corrections that recreate the original state on Bob's qubit.</a:t>
            </a:r>
          </a:p>
        </p:txBody>
      </p:sp>
      <p:sp>
        <p:nvSpPr>
          <p:cNvPr id="10" name="Rectangle 9"/>
          <p:cNvSpPr/>
          <p:nvPr/>
        </p:nvSpPr>
        <p:spPr>
          <a:xfrm>
            <a:off x="777240" y="2971800"/>
            <a:ext cx="10634472" cy="457200"/>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 name="TextBox 10"/>
          <p:cNvSpPr txBox="1"/>
          <p:nvPr/>
        </p:nvSpPr>
        <p:spPr>
          <a:xfrm>
            <a:off x="960120" y="2971800"/>
            <a:ext cx="10241280" cy="457200"/>
          </a:xfrm>
          <a:prstGeom prst="rect">
            <a:avLst/>
          </a:prstGeom>
          <a:noFill/>
        </p:spPr>
        <p:txBody>
          <a:bodyPr wrap="square" anchor="ctr">
            <a:spAutoFit/>
          </a:bodyPr>
          <a:lstStyle/>
          <a:p>
            <a:pPr algn="l">
              <a:spcAft>
                <a:spcPts val="400"/>
              </a:spcAft>
            </a:pPr>
            <a:r>
              <a:rPr sz="1100" b="1">
                <a:solidFill>
                  <a:srgbClr val="1F6FEB"/>
                </a:solidFill>
                <a:latin typeface="Arial"/>
              </a:rPr>
              <a:t>MAPS TO  </a:t>
            </a:r>
            <a:r>
              <a:rPr sz="1250" b="0">
                <a:solidFill>
                  <a:srgbClr val="161B26"/>
                </a:solidFill>
                <a:latin typeface="Arial"/>
              </a:rPr>
              <a:t>LO3, LO7 — Synthesize quantum methodologies to address complex problems</a:t>
            </a:r>
          </a:p>
        </p:txBody>
      </p:sp>
      <p:sp>
        <p:nvSpPr>
          <p:cNvPr id="12" name="Rectangle 11"/>
          <p:cNvSpPr/>
          <p:nvPr/>
        </p:nvSpPr>
        <p:spPr>
          <a:xfrm>
            <a:off x="777240" y="3611880"/>
            <a:ext cx="10634472" cy="1234440"/>
          </a:xfrm>
          <a:prstGeom prst="rect">
            <a:avLst/>
          </a:prstGeom>
          <a:solidFill>
            <a:srgbClr val="E8F7E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 name="TextBox 12"/>
          <p:cNvSpPr txBox="1"/>
          <p:nvPr/>
        </p:nvSpPr>
        <p:spPr>
          <a:xfrm>
            <a:off x="1051560" y="3767328"/>
            <a:ext cx="10058400" cy="365760"/>
          </a:xfrm>
          <a:prstGeom prst="rect">
            <a:avLst/>
          </a:prstGeom>
          <a:noFill/>
        </p:spPr>
        <p:txBody>
          <a:bodyPr wrap="square" anchor="t">
            <a:spAutoFit/>
          </a:bodyPr>
          <a:lstStyle/>
          <a:p>
            <a:pPr algn="l">
              <a:spcAft>
                <a:spcPts val="400"/>
              </a:spcAft>
            </a:pPr>
            <a:r>
              <a:rPr sz="1200" b="1">
                <a:solidFill>
                  <a:srgbClr val="127A3E"/>
                </a:solidFill>
                <a:latin typeface="Arial"/>
              </a:rPr>
              <a:t>YOU'LL PRODUCE</a:t>
            </a:r>
          </a:p>
        </p:txBody>
      </p:sp>
      <p:sp>
        <p:nvSpPr>
          <p:cNvPr id="14" name="TextBox 13"/>
          <p:cNvSpPr txBox="1"/>
          <p:nvPr/>
        </p:nvSpPr>
        <p:spPr>
          <a:xfrm>
            <a:off x="1051560" y="4133087"/>
            <a:ext cx="10058400" cy="640080"/>
          </a:xfrm>
          <a:prstGeom prst="rect">
            <a:avLst/>
          </a:prstGeom>
          <a:noFill/>
        </p:spPr>
        <p:txBody>
          <a:bodyPr wrap="square" anchor="t">
            <a:spAutoFit/>
          </a:bodyPr>
          <a:lstStyle/>
          <a:p>
            <a:pPr algn="l">
              <a:spcAft>
                <a:spcPts val="400"/>
              </a:spcAft>
            </a:pPr>
            <a:r>
              <a:rPr sz="1550" b="1">
                <a:solidFill>
                  <a:srgbClr val="161B26"/>
                </a:solidFill>
                <a:latin typeface="Arial"/>
              </a:rPr>
              <a:t>A teleportation circuit run on IBM Quantum hardware that reconstructs an arbitrary input state at the receiving qubit.</a:t>
            </a:r>
          </a:p>
        </p:txBody>
      </p:sp>
      <p:sp>
        <p:nvSpPr>
          <p:cNvPr id="15" name="Rectangle 14"/>
          <p:cNvSpPr/>
          <p:nvPr/>
        </p:nvSpPr>
        <p:spPr>
          <a:xfrm>
            <a:off x="777240" y="5029200"/>
            <a:ext cx="10634472" cy="960120"/>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6" name="TextBox 15"/>
          <p:cNvSpPr txBox="1"/>
          <p:nvPr/>
        </p:nvSpPr>
        <p:spPr>
          <a:xfrm>
            <a:off x="1051560" y="5138928"/>
            <a:ext cx="10058400" cy="365760"/>
          </a:xfrm>
          <a:prstGeom prst="rect">
            <a:avLst/>
          </a:prstGeom>
          <a:noFill/>
        </p:spPr>
        <p:txBody>
          <a:bodyPr wrap="square" anchor="t">
            <a:spAutoFit/>
          </a:bodyPr>
          <a:lstStyle/>
          <a:p>
            <a:pPr algn="l">
              <a:spcAft>
                <a:spcPts val="400"/>
              </a:spcAft>
            </a:pPr>
            <a:r>
              <a:rPr sz="1200" b="1">
                <a:solidFill>
                  <a:srgbClr val="5B6372"/>
                </a:solidFill>
                <a:latin typeface="Arial"/>
              </a:rPr>
              <a:t>Tools:  </a:t>
            </a:r>
            <a:r>
              <a:rPr sz="1200" b="0">
                <a:solidFill>
                  <a:srgbClr val="5B6372"/>
                </a:solidFill>
                <a:latin typeface="Arial"/>
              </a:rPr>
              <a:t>Qiskit 2.x, IBM Quantum Runtime, OpenQASM</a:t>
            </a:r>
          </a:p>
        </p:txBody>
      </p:sp>
      <p:sp>
        <p:nvSpPr>
          <p:cNvPr id="17" name="TextBox 16"/>
          <p:cNvSpPr txBox="1"/>
          <p:nvPr/>
        </p:nvSpPr>
        <p:spPr>
          <a:xfrm>
            <a:off x="1051560" y="5504688"/>
            <a:ext cx="10058400" cy="365760"/>
          </a:xfrm>
          <a:prstGeom prst="rect">
            <a:avLst/>
          </a:prstGeom>
          <a:noFill/>
        </p:spPr>
        <p:txBody>
          <a:bodyPr wrap="square" anchor="t">
            <a:spAutoFit/>
          </a:bodyPr>
          <a:lstStyle/>
          <a:p>
            <a:pPr algn="l">
              <a:spcAft>
                <a:spcPts val="400"/>
              </a:spcAft>
            </a:pPr>
            <a:r>
              <a:rPr sz="1200" b="1">
                <a:solidFill>
                  <a:srgbClr val="1F6FEB"/>
                </a:solidFill>
                <a:latin typeface="Arial"/>
              </a:rPr>
              <a:t>Full step-by-step guide:  </a:t>
            </a:r>
            <a:r>
              <a:rPr sz="1200" b="0">
                <a:solidFill>
                  <a:srgbClr val="161B26"/>
                </a:solidFill>
                <a:latin typeface="Arial"/>
              </a:rPr>
              <a:t>Learner Guide — Activity 6: Quantum Teleportation</a:t>
            </a:r>
          </a:p>
        </p:txBody>
      </p:sp>
      <p:sp>
        <p:nvSpPr>
          <p:cNvPr id="18" name="TextBox 17"/>
          <p:cNvSpPr txBox="1"/>
          <p:nvPr/>
        </p:nvSpPr>
        <p:spPr>
          <a:xfrm>
            <a:off x="365760" y="6446520"/>
            <a:ext cx="6858000" cy="320040"/>
          </a:xfrm>
          <a:prstGeom prst="rect">
            <a:avLst/>
          </a:prstGeom>
          <a:noFill/>
        </p:spPr>
        <p:txBody>
          <a:bodyPr wrap="square" anchor="t">
            <a:spAutoFit/>
          </a:bodyPr>
          <a:lstStyle/>
          <a:p>
            <a:pPr algn="l">
              <a:spcAft>
                <a:spcPts val="400"/>
              </a:spcAft>
            </a:pPr>
            <a:r>
              <a:rPr sz="900" b="0">
                <a:solidFill>
                  <a:srgbClr val="5B6372"/>
                </a:solidFill>
                <a:latin typeface="Arial"/>
              </a:rPr>
              <a:t>Securing the Future with Quantum Computing and Cryptography  ·  TGS-2024043419</a:t>
            </a:r>
          </a:p>
        </p:txBody>
      </p:sp>
      <p:sp>
        <p:nvSpPr>
          <p:cNvPr id="19" name="TextBox 18"/>
          <p:cNvSpPr txBox="1"/>
          <p:nvPr/>
        </p:nvSpPr>
        <p:spPr>
          <a:xfrm>
            <a:off x="4572000" y="6446520"/>
            <a:ext cx="3017520" cy="320040"/>
          </a:xfrm>
          <a:prstGeom prst="rect">
            <a:avLst/>
          </a:prstGeom>
          <a:noFill/>
        </p:spPr>
        <p:txBody>
          <a:bodyPr wrap="square" anchor="t">
            <a:spAutoFit/>
          </a:bodyPr>
          <a:lstStyle/>
          <a:p>
            <a:pPr algn="ctr">
              <a:spcAft>
                <a:spcPts val="400"/>
              </a:spcAft>
            </a:pPr>
            <a:r>
              <a:rPr sz="900" b="0">
                <a:solidFill>
                  <a:srgbClr val="5B6372"/>
                </a:solidFill>
                <a:latin typeface="Arial"/>
              </a:rPr>
              <a:t>© 2026 Tertiary Infotech Academy Pte Ltd</a:t>
            </a:r>
          </a:p>
        </p:txBody>
      </p:sp>
      <p:sp>
        <p:nvSpPr>
          <p:cNvPr id="20" name="TextBox 19"/>
          <p:cNvSpPr txBox="1"/>
          <p:nvPr/>
        </p:nvSpPr>
        <p:spPr>
          <a:xfrm>
            <a:off x="11338560" y="6446520"/>
            <a:ext cx="548640" cy="320040"/>
          </a:xfrm>
          <a:prstGeom prst="rect">
            <a:avLst/>
          </a:prstGeom>
          <a:noFill/>
        </p:spPr>
        <p:txBody>
          <a:bodyPr wrap="square" anchor="t">
            <a:spAutoFit/>
          </a:bodyPr>
          <a:lstStyle/>
          <a:p>
            <a:pPr algn="r">
              <a:spcAft>
                <a:spcPts val="400"/>
              </a:spcAft>
            </a:pPr>
            <a:r>
              <a:rPr sz="900" b="0">
                <a:solidFill>
                  <a:srgbClr val="5B6372"/>
                </a:solidFill>
                <a:latin typeface="Arial"/>
              </a:rPr>
              <a:t>123</a:t>
            </a:r>
          </a:p>
        </p:txBody>
      </p:sp>
    </p:spTree>
  </p:cSld>
  <p:clrMapOvr>
    <a:masterClrMapping/>
  </p:clrMapOvr>
</p:sld>
</file>

<file path=ppt/slides/slide125.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256032" cy="1417320"/>
          </a:xfrm>
          <a:prstGeom prst="rect">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777240" y="457200"/>
            <a:ext cx="10607040" cy="365760"/>
          </a:xfrm>
          <a:prstGeom prst="rect">
            <a:avLst/>
          </a:prstGeom>
          <a:noFill/>
        </p:spPr>
        <p:txBody>
          <a:bodyPr wrap="square" anchor="t">
            <a:spAutoFit/>
          </a:bodyPr>
          <a:lstStyle/>
          <a:p>
            <a:pPr algn="l">
              <a:spcAft>
                <a:spcPts val="400"/>
              </a:spcAft>
            </a:pPr>
            <a:r>
              <a:rPr sz="1400" b="1">
                <a:solidFill>
                  <a:srgbClr val="10B981"/>
                </a:solidFill>
                <a:latin typeface="Arial"/>
              </a:rPr>
              <a:t>ACTIVITY 6 · VERIFY &amp; DEBRIEF</a:t>
            </a:r>
          </a:p>
        </p:txBody>
      </p:sp>
      <p:sp>
        <p:nvSpPr>
          <p:cNvPr id="5" name="TextBox 4"/>
          <p:cNvSpPr txBox="1"/>
          <p:nvPr/>
        </p:nvSpPr>
        <p:spPr>
          <a:xfrm>
            <a:off x="777240" y="822960"/>
            <a:ext cx="10881360" cy="822960"/>
          </a:xfrm>
          <a:prstGeom prst="rect">
            <a:avLst/>
          </a:prstGeom>
          <a:noFill/>
        </p:spPr>
        <p:txBody>
          <a:bodyPr wrap="square" anchor="t">
            <a:spAutoFit/>
          </a:bodyPr>
          <a:lstStyle/>
          <a:p>
            <a:pPr algn="l">
              <a:spcAft>
                <a:spcPts val="400"/>
              </a:spcAft>
            </a:pPr>
            <a:r>
              <a:rPr sz="2900" b="1">
                <a:solidFill>
                  <a:srgbClr val="161B26"/>
                </a:solidFill>
                <a:latin typeface="Arial"/>
              </a:rPr>
              <a:t>Quantum Teleportation</a:t>
            </a:r>
          </a:p>
        </p:txBody>
      </p:sp>
      <p:sp>
        <p:nvSpPr>
          <p:cNvPr id="6" name="Rectangle 5"/>
          <p:cNvSpPr/>
          <p:nvPr/>
        </p:nvSpPr>
        <p:spPr>
          <a:xfrm>
            <a:off x="777240" y="1554480"/>
            <a:ext cx="10634472" cy="18288"/>
          </a:xfrm>
          <a:prstGeom prst="rect">
            <a:avLst/>
          </a:prstGeom>
          <a:solidFill>
            <a:srgbClr val="E2E8F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Rectangle 6"/>
          <p:cNvSpPr/>
          <p:nvPr/>
        </p:nvSpPr>
        <p:spPr>
          <a:xfrm>
            <a:off x="777240" y="1783080"/>
            <a:ext cx="10634472" cy="2148840"/>
          </a:xfrm>
          <a:prstGeom prst="rect">
            <a:avLst/>
          </a:prstGeom>
          <a:solidFill>
            <a:srgbClr val="E8F7E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Rectangle 7"/>
          <p:cNvSpPr/>
          <p:nvPr/>
        </p:nvSpPr>
        <p:spPr>
          <a:xfrm>
            <a:off x="777240" y="1783080"/>
            <a:ext cx="100584" cy="2148840"/>
          </a:xfrm>
          <a:prstGeom prst="rect">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TextBox 8"/>
          <p:cNvSpPr txBox="1"/>
          <p:nvPr/>
        </p:nvSpPr>
        <p:spPr>
          <a:xfrm>
            <a:off x="1143000" y="1965960"/>
            <a:ext cx="10058400" cy="411480"/>
          </a:xfrm>
          <a:prstGeom prst="rect">
            <a:avLst/>
          </a:prstGeom>
          <a:noFill/>
        </p:spPr>
        <p:txBody>
          <a:bodyPr wrap="square" anchor="t">
            <a:spAutoFit/>
          </a:bodyPr>
          <a:lstStyle/>
          <a:p>
            <a:pPr algn="l">
              <a:spcAft>
                <a:spcPts val="400"/>
              </a:spcAft>
            </a:pPr>
            <a:r>
              <a:rPr sz="1300" b="1">
                <a:solidFill>
                  <a:srgbClr val="127A3E"/>
                </a:solidFill>
                <a:latin typeface="Arial"/>
              </a:rPr>
              <a:t>TEST IT — HOW YOU KNOW IT WORKED</a:t>
            </a:r>
          </a:p>
        </p:txBody>
      </p:sp>
      <p:sp>
        <p:nvSpPr>
          <p:cNvPr id="10" name="TextBox 9"/>
          <p:cNvSpPr txBox="1"/>
          <p:nvPr/>
        </p:nvSpPr>
        <p:spPr>
          <a:xfrm>
            <a:off x="1143000" y="2423160"/>
            <a:ext cx="10058400" cy="1371600"/>
          </a:xfrm>
          <a:prstGeom prst="rect">
            <a:avLst/>
          </a:prstGeom>
          <a:noFill/>
        </p:spPr>
        <p:txBody>
          <a:bodyPr wrap="square" anchor="t">
            <a:spAutoFit/>
          </a:bodyPr>
          <a:lstStyle/>
          <a:p>
            <a:pPr algn="l">
              <a:spcAft>
                <a:spcPts val="400"/>
              </a:spcAft>
            </a:pPr>
            <a:r>
              <a:rPr sz="1600" b="0">
                <a:solidFill>
                  <a:srgbClr val="161B26"/>
                </a:solidFill>
                <a:latin typeface="Arial"/>
              </a:rPr>
              <a:t>The measurement statistics on Bob's qubit q2 match the amplitudes of the state originally prepared on q0, within hardware noise, and the original state no longer exists on q0.</a:t>
            </a:r>
          </a:p>
        </p:txBody>
      </p:sp>
      <p:sp>
        <p:nvSpPr>
          <p:cNvPr id="11" name="TextBox 10"/>
          <p:cNvSpPr txBox="1"/>
          <p:nvPr/>
        </p:nvSpPr>
        <p:spPr>
          <a:xfrm>
            <a:off x="777240" y="4096512"/>
            <a:ext cx="10607040" cy="365760"/>
          </a:xfrm>
          <a:prstGeom prst="rect">
            <a:avLst/>
          </a:prstGeom>
          <a:noFill/>
        </p:spPr>
        <p:txBody>
          <a:bodyPr wrap="square" anchor="t">
            <a:spAutoFit/>
          </a:bodyPr>
          <a:lstStyle/>
          <a:p>
            <a:pPr algn="l">
              <a:spcAft>
                <a:spcPts val="400"/>
              </a:spcAft>
            </a:pPr>
            <a:r>
              <a:rPr sz="1300" b="1">
                <a:solidFill>
                  <a:srgbClr val="1F6FEB"/>
                </a:solidFill>
                <a:latin typeface="Arial"/>
              </a:rPr>
              <a:t>DISCUSS WITH YOUR TRAINER</a:t>
            </a:r>
          </a:p>
        </p:txBody>
      </p:sp>
      <p:sp>
        <p:nvSpPr>
          <p:cNvPr id="12" name="Rectangle 11"/>
          <p:cNvSpPr/>
          <p:nvPr/>
        </p:nvSpPr>
        <p:spPr>
          <a:xfrm>
            <a:off x="777240" y="4480560"/>
            <a:ext cx="3447288" cy="1463040"/>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 name="Rectangle 12"/>
          <p:cNvSpPr/>
          <p:nvPr/>
        </p:nvSpPr>
        <p:spPr>
          <a:xfrm>
            <a:off x="777240" y="4480560"/>
            <a:ext cx="3447288" cy="82296"/>
          </a:xfrm>
          <a:prstGeom prst="rect">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 name="TextBox 13"/>
          <p:cNvSpPr txBox="1"/>
          <p:nvPr/>
        </p:nvSpPr>
        <p:spPr>
          <a:xfrm>
            <a:off x="978408" y="4663440"/>
            <a:ext cx="3044952" cy="457200"/>
          </a:xfrm>
          <a:prstGeom prst="rect">
            <a:avLst/>
          </a:prstGeom>
          <a:noFill/>
        </p:spPr>
        <p:txBody>
          <a:bodyPr wrap="square" anchor="t">
            <a:spAutoFit/>
          </a:bodyPr>
          <a:lstStyle/>
          <a:p>
            <a:pPr algn="l">
              <a:spcAft>
                <a:spcPts val="400"/>
              </a:spcAft>
            </a:pPr>
            <a:r>
              <a:rPr sz="1350" b="1">
                <a:solidFill>
                  <a:srgbClr val="1F6FEB"/>
                </a:solidFill>
                <a:latin typeface="Arial"/>
              </a:rPr>
              <a:t>What did the result show?</a:t>
            </a:r>
          </a:p>
        </p:txBody>
      </p:sp>
      <p:sp>
        <p:nvSpPr>
          <p:cNvPr id="15" name="TextBox 14"/>
          <p:cNvSpPr txBox="1"/>
          <p:nvPr/>
        </p:nvSpPr>
        <p:spPr>
          <a:xfrm>
            <a:off x="978408" y="5138928"/>
            <a:ext cx="3044952" cy="731520"/>
          </a:xfrm>
          <a:prstGeom prst="rect">
            <a:avLst/>
          </a:prstGeom>
          <a:noFill/>
        </p:spPr>
        <p:txBody>
          <a:bodyPr wrap="square" anchor="t">
            <a:spAutoFit/>
          </a:bodyPr>
          <a:lstStyle/>
          <a:p>
            <a:pPr algn="l">
              <a:spcAft>
                <a:spcPts val="400"/>
              </a:spcAft>
            </a:pPr>
            <a:r>
              <a:rPr sz="1200" b="0">
                <a:solidFill>
                  <a:srgbClr val="5B6372"/>
                </a:solidFill>
                <a:latin typeface="Arial"/>
              </a:rPr>
              <a:t>Restate the outcome in your own words.</a:t>
            </a:r>
          </a:p>
        </p:txBody>
      </p:sp>
      <p:sp>
        <p:nvSpPr>
          <p:cNvPr id="16" name="Rectangle 15"/>
          <p:cNvSpPr/>
          <p:nvPr/>
        </p:nvSpPr>
        <p:spPr>
          <a:xfrm>
            <a:off x="4370832" y="4480560"/>
            <a:ext cx="3447288" cy="1463040"/>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7" name="Rectangle 16"/>
          <p:cNvSpPr/>
          <p:nvPr/>
        </p:nvSpPr>
        <p:spPr>
          <a:xfrm>
            <a:off x="4370832" y="4480560"/>
            <a:ext cx="3447288" cy="82296"/>
          </a:xfrm>
          <a:prstGeom prst="rect">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8" name="TextBox 17"/>
          <p:cNvSpPr txBox="1"/>
          <p:nvPr/>
        </p:nvSpPr>
        <p:spPr>
          <a:xfrm>
            <a:off x="4572000" y="4663440"/>
            <a:ext cx="3044952" cy="457200"/>
          </a:xfrm>
          <a:prstGeom prst="rect">
            <a:avLst/>
          </a:prstGeom>
          <a:noFill/>
        </p:spPr>
        <p:txBody>
          <a:bodyPr wrap="square" anchor="t">
            <a:spAutoFit/>
          </a:bodyPr>
          <a:lstStyle/>
          <a:p>
            <a:pPr algn="l">
              <a:spcAft>
                <a:spcPts val="400"/>
              </a:spcAft>
            </a:pPr>
            <a:r>
              <a:rPr sz="1350" b="1">
                <a:solidFill>
                  <a:srgbClr val="10B981"/>
                </a:solidFill>
                <a:latin typeface="Arial"/>
              </a:rPr>
              <a:t>Why does it work?</a:t>
            </a:r>
          </a:p>
        </p:txBody>
      </p:sp>
      <p:sp>
        <p:nvSpPr>
          <p:cNvPr id="19" name="TextBox 18"/>
          <p:cNvSpPr txBox="1"/>
          <p:nvPr/>
        </p:nvSpPr>
        <p:spPr>
          <a:xfrm>
            <a:off x="4572000" y="5138928"/>
            <a:ext cx="3044952" cy="731520"/>
          </a:xfrm>
          <a:prstGeom prst="rect">
            <a:avLst/>
          </a:prstGeom>
          <a:noFill/>
        </p:spPr>
        <p:txBody>
          <a:bodyPr wrap="square" anchor="t">
            <a:spAutoFit/>
          </a:bodyPr>
          <a:lstStyle/>
          <a:p>
            <a:pPr algn="l">
              <a:spcAft>
                <a:spcPts val="400"/>
              </a:spcAft>
            </a:pPr>
            <a:r>
              <a:rPr sz="1200" b="0">
                <a:solidFill>
                  <a:srgbClr val="5B6372"/>
                </a:solidFill>
                <a:latin typeface="Arial"/>
              </a:rPr>
              <a:t>Name the quantum principle the activity relies on.</a:t>
            </a:r>
          </a:p>
        </p:txBody>
      </p:sp>
      <p:sp>
        <p:nvSpPr>
          <p:cNvPr id="20" name="Rectangle 19"/>
          <p:cNvSpPr/>
          <p:nvPr/>
        </p:nvSpPr>
        <p:spPr>
          <a:xfrm>
            <a:off x="7964424" y="4480560"/>
            <a:ext cx="3447288" cy="1463040"/>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1" name="Rectangle 20"/>
          <p:cNvSpPr/>
          <p:nvPr/>
        </p:nvSpPr>
        <p:spPr>
          <a:xfrm>
            <a:off x="7964424" y="4480560"/>
            <a:ext cx="3447288" cy="82296"/>
          </a:xfrm>
          <a:prstGeom prst="rect">
            <a:avLst/>
          </a:prstGeom>
          <a:solidFill>
            <a:srgbClr val="7C3AE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2" name="TextBox 21"/>
          <p:cNvSpPr txBox="1"/>
          <p:nvPr/>
        </p:nvSpPr>
        <p:spPr>
          <a:xfrm>
            <a:off x="8165592" y="4663440"/>
            <a:ext cx="3044952" cy="457200"/>
          </a:xfrm>
          <a:prstGeom prst="rect">
            <a:avLst/>
          </a:prstGeom>
          <a:noFill/>
        </p:spPr>
        <p:txBody>
          <a:bodyPr wrap="square" anchor="t">
            <a:spAutoFit/>
          </a:bodyPr>
          <a:lstStyle/>
          <a:p>
            <a:pPr algn="l">
              <a:spcAft>
                <a:spcPts val="400"/>
              </a:spcAft>
            </a:pPr>
            <a:r>
              <a:rPr sz="1350" b="1">
                <a:solidFill>
                  <a:srgbClr val="7C3AED"/>
                </a:solidFill>
                <a:latin typeface="Arial"/>
              </a:rPr>
              <a:t>Where would you use it?</a:t>
            </a:r>
          </a:p>
        </p:txBody>
      </p:sp>
      <p:sp>
        <p:nvSpPr>
          <p:cNvPr id="23" name="TextBox 22"/>
          <p:cNvSpPr txBox="1"/>
          <p:nvPr/>
        </p:nvSpPr>
        <p:spPr>
          <a:xfrm>
            <a:off x="8165592" y="5138928"/>
            <a:ext cx="3044952" cy="731520"/>
          </a:xfrm>
          <a:prstGeom prst="rect">
            <a:avLst/>
          </a:prstGeom>
          <a:noFill/>
        </p:spPr>
        <p:txBody>
          <a:bodyPr wrap="square" anchor="t">
            <a:spAutoFit/>
          </a:bodyPr>
          <a:lstStyle/>
          <a:p>
            <a:pPr algn="l">
              <a:spcAft>
                <a:spcPts val="400"/>
              </a:spcAft>
            </a:pPr>
            <a:r>
              <a:rPr sz="1200" b="0">
                <a:solidFill>
                  <a:srgbClr val="5B6372"/>
                </a:solidFill>
                <a:latin typeface="Arial"/>
              </a:rPr>
              <a:t>Give one realistic application in your own field.</a:t>
            </a:r>
          </a:p>
        </p:txBody>
      </p:sp>
      <p:sp>
        <p:nvSpPr>
          <p:cNvPr id="24" name="TextBox 23"/>
          <p:cNvSpPr txBox="1"/>
          <p:nvPr/>
        </p:nvSpPr>
        <p:spPr>
          <a:xfrm>
            <a:off x="365760" y="6446520"/>
            <a:ext cx="6858000" cy="320040"/>
          </a:xfrm>
          <a:prstGeom prst="rect">
            <a:avLst/>
          </a:prstGeom>
          <a:noFill/>
        </p:spPr>
        <p:txBody>
          <a:bodyPr wrap="square" anchor="t">
            <a:spAutoFit/>
          </a:bodyPr>
          <a:lstStyle/>
          <a:p>
            <a:pPr algn="l">
              <a:spcAft>
                <a:spcPts val="400"/>
              </a:spcAft>
            </a:pPr>
            <a:r>
              <a:rPr sz="900" b="0">
                <a:solidFill>
                  <a:srgbClr val="5B6372"/>
                </a:solidFill>
                <a:latin typeface="Arial"/>
              </a:rPr>
              <a:t>Securing the Future with Quantum Computing and Cryptography  ·  TGS-2024043419</a:t>
            </a:r>
          </a:p>
        </p:txBody>
      </p:sp>
      <p:sp>
        <p:nvSpPr>
          <p:cNvPr id="25" name="TextBox 24"/>
          <p:cNvSpPr txBox="1"/>
          <p:nvPr/>
        </p:nvSpPr>
        <p:spPr>
          <a:xfrm>
            <a:off x="4572000" y="6446520"/>
            <a:ext cx="3017520" cy="320040"/>
          </a:xfrm>
          <a:prstGeom prst="rect">
            <a:avLst/>
          </a:prstGeom>
          <a:noFill/>
        </p:spPr>
        <p:txBody>
          <a:bodyPr wrap="square" anchor="t">
            <a:spAutoFit/>
          </a:bodyPr>
          <a:lstStyle/>
          <a:p>
            <a:pPr algn="ctr">
              <a:spcAft>
                <a:spcPts val="400"/>
              </a:spcAft>
            </a:pPr>
            <a:r>
              <a:rPr sz="900" b="0">
                <a:solidFill>
                  <a:srgbClr val="5B6372"/>
                </a:solidFill>
                <a:latin typeface="Arial"/>
              </a:rPr>
              <a:t>© 2026 Tertiary Infotech Academy Pte Ltd</a:t>
            </a:r>
          </a:p>
        </p:txBody>
      </p:sp>
      <p:sp>
        <p:nvSpPr>
          <p:cNvPr id="26" name="TextBox 25"/>
          <p:cNvSpPr txBox="1"/>
          <p:nvPr/>
        </p:nvSpPr>
        <p:spPr>
          <a:xfrm>
            <a:off x="11338560" y="6446520"/>
            <a:ext cx="548640" cy="320040"/>
          </a:xfrm>
          <a:prstGeom prst="rect">
            <a:avLst/>
          </a:prstGeom>
          <a:noFill/>
        </p:spPr>
        <p:txBody>
          <a:bodyPr wrap="square" anchor="t">
            <a:spAutoFit/>
          </a:bodyPr>
          <a:lstStyle/>
          <a:p>
            <a:pPr algn="r">
              <a:spcAft>
                <a:spcPts val="400"/>
              </a:spcAft>
            </a:pPr>
            <a:r>
              <a:rPr sz="900" b="0">
                <a:solidFill>
                  <a:srgbClr val="5B6372"/>
                </a:solidFill>
                <a:latin typeface="Arial"/>
              </a:rPr>
              <a:t>124</a:t>
            </a:r>
          </a:p>
        </p:txBody>
      </p:sp>
    </p:spTree>
  </p:cSld>
  <p:clrMapOvr>
    <a:masterClrMapping/>
  </p:clrMapOvr>
</p:sld>
</file>

<file path=ppt/slides/slide126.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256032" cy="1417320"/>
          </a:xfrm>
          <a:prstGeom prst="rect">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777240" y="457200"/>
            <a:ext cx="10607040" cy="365760"/>
          </a:xfrm>
          <a:prstGeom prst="rect">
            <a:avLst/>
          </a:prstGeom>
          <a:noFill/>
        </p:spPr>
        <p:txBody>
          <a:bodyPr wrap="square" anchor="t">
            <a:spAutoFit/>
          </a:bodyPr>
          <a:lstStyle/>
          <a:p>
            <a:pPr algn="l">
              <a:spcAft>
                <a:spcPts val="400"/>
              </a:spcAft>
            </a:pPr>
            <a:r>
              <a:rPr sz="1400" b="1">
                <a:solidFill>
                  <a:srgbClr val="10B981"/>
                </a:solidFill>
                <a:latin typeface="Arial"/>
              </a:rPr>
              <a:t>TOPIC 04 · HANDS-ON ACTIVITY</a:t>
            </a:r>
          </a:p>
        </p:txBody>
      </p:sp>
      <p:sp>
        <p:nvSpPr>
          <p:cNvPr id="5" name="TextBox 4"/>
          <p:cNvSpPr txBox="1"/>
          <p:nvPr/>
        </p:nvSpPr>
        <p:spPr>
          <a:xfrm>
            <a:off x="777240" y="822960"/>
            <a:ext cx="10881360" cy="822960"/>
          </a:xfrm>
          <a:prstGeom prst="rect">
            <a:avLst/>
          </a:prstGeom>
          <a:noFill/>
        </p:spPr>
        <p:txBody>
          <a:bodyPr wrap="square" anchor="t">
            <a:spAutoFit/>
          </a:bodyPr>
          <a:lstStyle/>
          <a:p>
            <a:pPr algn="l">
              <a:spcAft>
                <a:spcPts val="400"/>
              </a:spcAft>
            </a:pPr>
            <a:r>
              <a:rPr sz="2900" b="1">
                <a:solidFill>
                  <a:srgbClr val="161B26"/>
                </a:solidFill>
                <a:latin typeface="Arial"/>
              </a:rPr>
              <a:t>Superdense Coding Protocol</a:t>
            </a:r>
          </a:p>
        </p:txBody>
      </p:sp>
      <p:sp>
        <p:nvSpPr>
          <p:cNvPr id="6" name="Rectangle 5"/>
          <p:cNvSpPr/>
          <p:nvPr/>
        </p:nvSpPr>
        <p:spPr>
          <a:xfrm>
            <a:off x="777240" y="1554480"/>
            <a:ext cx="10634472" cy="18288"/>
          </a:xfrm>
          <a:prstGeom prst="rect">
            <a:avLst/>
          </a:prstGeom>
          <a:solidFill>
            <a:srgbClr val="E2E8F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Rectangle 6"/>
          <p:cNvSpPr/>
          <p:nvPr/>
        </p:nvSpPr>
        <p:spPr>
          <a:xfrm>
            <a:off x="9646920" y="457200"/>
            <a:ext cx="1783080" cy="457200"/>
          </a:xfrm>
          <a:prstGeom prst="rect">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TextBox 7"/>
          <p:cNvSpPr txBox="1"/>
          <p:nvPr/>
        </p:nvSpPr>
        <p:spPr>
          <a:xfrm>
            <a:off x="9646920" y="457200"/>
            <a:ext cx="1783080" cy="457200"/>
          </a:xfrm>
          <a:prstGeom prst="rect">
            <a:avLst/>
          </a:prstGeom>
          <a:noFill/>
        </p:spPr>
        <p:txBody>
          <a:bodyPr wrap="square" anchor="ctr">
            <a:spAutoFit/>
          </a:bodyPr>
          <a:lstStyle/>
          <a:p>
            <a:pPr algn="ctr">
              <a:spcAft>
                <a:spcPts val="400"/>
              </a:spcAft>
            </a:pPr>
            <a:r>
              <a:rPr sz="1300" b="1">
                <a:solidFill>
                  <a:srgbClr val="FFFFFF"/>
                </a:solidFill>
                <a:latin typeface="Arial"/>
              </a:rPr>
              <a:t>ACTIVITY 7</a:t>
            </a:r>
          </a:p>
        </p:txBody>
      </p:sp>
      <p:sp>
        <p:nvSpPr>
          <p:cNvPr id="9" name="TextBox 8"/>
          <p:cNvSpPr txBox="1"/>
          <p:nvPr/>
        </p:nvSpPr>
        <p:spPr>
          <a:xfrm>
            <a:off x="777240" y="1828800"/>
            <a:ext cx="10607040" cy="1051560"/>
          </a:xfrm>
          <a:prstGeom prst="rect">
            <a:avLst/>
          </a:prstGeom>
          <a:noFill/>
        </p:spPr>
        <p:txBody>
          <a:bodyPr wrap="square" anchor="t">
            <a:spAutoFit/>
          </a:bodyPr>
          <a:lstStyle/>
          <a:p>
            <a:pPr algn="l">
              <a:spcAft>
                <a:spcPts val="400"/>
              </a:spcAft>
            </a:pPr>
            <a:r>
              <a:rPr sz="1700" b="0">
                <a:solidFill>
                  <a:srgbClr val="161B26"/>
                </a:solidFill>
                <a:latin typeface="Arial"/>
              </a:rPr>
              <a:t>Implement the dual of teleportation: transmit two classical bits by sending only a single qubit of a pre-shared entangled pair, encoding the message with the I, X, Z and XZ operations.</a:t>
            </a:r>
          </a:p>
        </p:txBody>
      </p:sp>
      <p:sp>
        <p:nvSpPr>
          <p:cNvPr id="10" name="Rectangle 9"/>
          <p:cNvSpPr/>
          <p:nvPr/>
        </p:nvSpPr>
        <p:spPr>
          <a:xfrm>
            <a:off x="777240" y="2971800"/>
            <a:ext cx="10634472" cy="457200"/>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 name="TextBox 10"/>
          <p:cNvSpPr txBox="1"/>
          <p:nvPr/>
        </p:nvSpPr>
        <p:spPr>
          <a:xfrm>
            <a:off x="960120" y="2971800"/>
            <a:ext cx="10241280" cy="457200"/>
          </a:xfrm>
          <a:prstGeom prst="rect">
            <a:avLst/>
          </a:prstGeom>
          <a:noFill/>
        </p:spPr>
        <p:txBody>
          <a:bodyPr wrap="square" anchor="ctr">
            <a:spAutoFit/>
          </a:bodyPr>
          <a:lstStyle/>
          <a:p>
            <a:pPr algn="l">
              <a:spcAft>
                <a:spcPts val="400"/>
              </a:spcAft>
            </a:pPr>
            <a:r>
              <a:rPr sz="1100" b="1">
                <a:solidFill>
                  <a:srgbClr val="1F6FEB"/>
                </a:solidFill>
                <a:latin typeface="Arial"/>
              </a:rPr>
              <a:t>MAPS TO  </a:t>
            </a:r>
            <a:r>
              <a:rPr sz="1250" b="0">
                <a:solidFill>
                  <a:srgbClr val="161B26"/>
                </a:solidFill>
                <a:latin typeface="Arial"/>
              </a:rPr>
              <a:t>LO3, LO7 — Direct two-level quantum models for quantum computing</a:t>
            </a:r>
          </a:p>
        </p:txBody>
      </p:sp>
      <p:sp>
        <p:nvSpPr>
          <p:cNvPr id="12" name="Rectangle 11"/>
          <p:cNvSpPr/>
          <p:nvPr/>
        </p:nvSpPr>
        <p:spPr>
          <a:xfrm>
            <a:off x="777240" y="3611880"/>
            <a:ext cx="10634472" cy="1234440"/>
          </a:xfrm>
          <a:prstGeom prst="rect">
            <a:avLst/>
          </a:prstGeom>
          <a:solidFill>
            <a:srgbClr val="E8F7E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 name="TextBox 12"/>
          <p:cNvSpPr txBox="1"/>
          <p:nvPr/>
        </p:nvSpPr>
        <p:spPr>
          <a:xfrm>
            <a:off x="1051560" y="3767328"/>
            <a:ext cx="10058400" cy="365760"/>
          </a:xfrm>
          <a:prstGeom prst="rect">
            <a:avLst/>
          </a:prstGeom>
          <a:noFill/>
        </p:spPr>
        <p:txBody>
          <a:bodyPr wrap="square" anchor="t">
            <a:spAutoFit/>
          </a:bodyPr>
          <a:lstStyle/>
          <a:p>
            <a:pPr algn="l">
              <a:spcAft>
                <a:spcPts val="400"/>
              </a:spcAft>
            </a:pPr>
            <a:r>
              <a:rPr sz="1200" b="1">
                <a:solidFill>
                  <a:srgbClr val="127A3E"/>
                </a:solidFill>
                <a:latin typeface="Arial"/>
              </a:rPr>
              <a:t>YOU'LL PRODUCE</a:t>
            </a:r>
          </a:p>
        </p:txBody>
      </p:sp>
      <p:sp>
        <p:nvSpPr>
          <p:cNvPr id="14" name="TextBox 13"/>
          <p:cNvSpPr txBox="1"/>
          <p:nvPr/>
        </p:nvSpPr>
        <p:spPr>
          <a:xfrm>
            <a:off x="1051560" y="4133087"/>
            <a:ext cx="10058400" cy="640080"/>
          </a:xfrm>
          <a:prstGeom prst="rect">
            <a:avLst/>
          </a:prstGeom>
          <a:noFill/>
        </p:spPr>
        <p:txBody>
          <a:bodyPr wrap="square" anchor="t">
            <a:spAutoFit/>
          </a:bodyPr>
          <a:lstStyle/>
          <a:p>
            <a:pPr algn="l">
              <a:spcAft>
                <a:spcPts val="400"/>
              </a:spcAft>
            </a:pPr>
            <a:r>
              <a:rPr sz="1550" b="1">
                <a:solidFill>
                  <a:srgbClr val="161B26"/>
                </a:solidFill>
                <a:latin typeface="Arial"/>
              </a:rPr>
              <a:t>A superdense coding circuit that correctly transmits all four two-bit messages 00, 01, 10 and 11.</a:t>
            </a:r>
          </a:p>
        </p:txBody>
      </p:sp>
      <p:sp>
        <p:nvSpPr>
          <p:cNvPr id="15" name="Rectangle 14"/>
          <p:cNvSpPr/>
          <p:nvPr/>
        </p:nvSpPr>
        <p:spPr>
          <a:xfrm>
            <a:off x="777240" y="5029200"/>
            <a:ext cx="10634472" cy="960120"/>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6" name="TextBox 15"/>
          <p:cNvSpPr txBox="1"/>
          <p:nvPr/>
        </p:nvSpPr>
        <p:spPr>
          <a:xfrm>
            <a:off x="1051560" y="5138928"/>
            <a:ext cx="10058400" cy="365760"/>
          </a:xfrm>
          <a:prstGeom prst="rect">
            <a:avLst/>
          </a:prstGeom>
          <a:noFill/>
        </p:spPr>
        <p:txBody>
          <a:bodyPr wrap="square" anchor="t">
            <a:spAutoFit/>
          </a:bodyPr>
          <a:lstStyle/>
          <a:p>
            <a:pPr algn="l">
              <a:spcAft>
                <a:spcPts val="400"/>
              </a:spcAft>
            </a:pPr>
            <a:r>
              <a:rPr sz="1200" b="1">
                <a:solidFill>
                  <a:srgbClr val="5B6372"/>
                </a:solidFill>
                <a:latin typeface="Arial"/>
              </a:rPr>
              <a:t>Tools:  </a:t>
            </a:r>
            <a:r>
              <a:rPr sz="1200" b="0">
                <a:solidFill>
                  <a:srgbClr val="5B6372"/>
                </a:solidFill>
                <a:latin typeface="Arial"/>
              </a:rPr>
              <a:t>Qiskit 2.x, IBM Quantum Runtime</a:t>
            </a:r>
          </a:p>
        </p:txBody>
      </p:sp>
      <p:sp>
        <p:nvSpPr>
          <p:cNvPr id="17" name="TextBox 16"/>
          <p:cNvSpPr txBox="1"/>
          <p:nvPr/>
        </p:nvSpPr>
        <p:spPr>
          <a:xfrm>
            <a:off x="1051560" y="5504688"/>
            <a:ext cx="10058400" cy="365760"/>
          </a:xfrm>
          <a:prstGeom prst="rect">
            <a:avLst/>
          </a:prstGeom>
          <a:noFill/>
        </p:spPr>
        <p:txBody>
          <a:bodyPr wrap="square" anchor="t">
            <a:spAutoFit/>
          </a:bodyPr>
          <a:lstStyle/>
          <a:p>
            <a:pPr algn="l">
              <a:spcAft>
                <a:spcPts val="400"/>
              </a:spcAft>
            </a:pPr>
            <a:r>
              <a:rPr sz="1200" b="1">
                <a:solidFill>
                  <a:srgbClr val="1F6FEB"/>
                </a:solidFill>
                <a:latin typeface="Arial"/>
              </a:rPr>
              <a:t>Full step-by-step guide:  </a:t>
            </a:r>
            <a:r>
              <a:rPr sz="1200" b="0">
                <a:solidFill>
                  <a:srgbClr val="161B26"/>
                </a:solidFill>
                <a:latin typeface="Arial"/>
              </a:rPr>
              <a:t>Learner Guide — Activity 7: Superdense Coding Protocol</a:t>
            </a:r>
          </a:p>
        </p:txBody>
      </p:sp>
      <p:sp>
        <p:nvSpPr>
          <p:cNvPr id="18" name="TextBox 17"/>
          <p:cNvSpPr txBox="1"/>
          <p:nvPr/>
        </p:nvSpPr>
        <p:spPr>
          <a:xfrm>
            <a:off x="365760" y="6446520"/>
            <a:ext cx="6858000" cy="320040"/>
          </a:xfrm>
          <a:prstGeom prst="rect">
            <a:avLst/>
          </a:prstGeom>
          <a:noFill/>
        </p:spPr>
        <p:txBody>
          <a:bodyPr wrap="square" anchor="t">
            <a:spAutoFit/>
          </a:bodyPr>
          <a:lstStyle/>
          <a:p>
            <a:pPr algn="l">
              <a:spcAft>
                <a:spcPts val="400"/>
              </a:spcAft>
            </a:pPr>
            <a:r>
              <a:rPr sz="900" b="0">
                <a:solidFill>
                  <a:srgbClr val="5B6372"/>
                </a:solidFill>
                <a:latin typeface="Arial"/>
              </a:rPr>
              <a:t>Securing the Future with Quantum Computing and Cryptography  ·  TGS-2024043419</a:t>
            </a:r>
          </a:p>
        </p:txBody>
      </p:sp>
      <p:sp>
        <p:nvSpPr>
          <p:cNvPr id="19" name="TextBox 18"/>
          <p:cNvSpPr txBox="1"/>
          <p:nvPr/>
        </p:nvSpPr>
        <p:spPr>
          <a:xfrm>
            <a:off x="4572000" y="6446520"/>
            <a:ext cx="3017520" cy="320040"/>
          </a:xfrm>
          <a:prstGeom prst="rect">
            <a:avLst/>
          </a:prstGeom>
          <a:noFill/>
        </p:spPr>
        <p:txBody>
          <a:bodyPr wrap="square" anchor="t">
            <a:spAutoFit/>
          </a:bodyPr>
          <a:lstStyle/>
          <a:p>
            <a:pPr algn="ctr">
              <a:spcAft>
                <a:spcPts val="400"/>
              </a:spcAft>
            </a:pPr>
            <a:r>
              <a:rPr sz="900" b="0">
                <a:solidFill>
                  <a:srgbClr val="5B6372"/>
                </a:solidFill>
                <a:latin typeface="Arial"/>
              </a:rPr>
              <a:t>© 2026 Tertiary Infotech Academy Pte Ltd</a:t>
            </a:r>
          </a:p>
        </p:txBody>
      </p:sp>
      <p:sp>
        <p:nvSpPr>
          <p:cNvPr id="20" name="TextBox 19"/>
          <p:cNvSpPr txBox="1"/>
          <p:nvPr/>
        </p:nvSpPr>
        <p:spPr>
          <a:xfrm>
            <a:off x="11338560" y="6446520"/>
            <a:ext cx="548640" cy="320040"/>
          </a:xfrm>
          <a:prstGeom prst="rect">
            <a:avLst/>
          </a:prstGeom>
          <a:noFill/>
        </p:spPr>
        <p:txBody>
          <a:bodyPr wrap="square" anchor="t">
            <a:spAutoFit/>
          </a:bodyPr>
          <a:lstStyle/>
          <a:p>
            <a:pPr algn="r">
              <a:spcAft>
                <a:spcPts val="400"/>
              </a:spcAft>
            </a:pPr>
            <a:r>
              <a:rPr sz="900" b="0">
                <a:solidFill>
                  <a:srgbClr val="5B6372"/>
                </a:solidFill>
                <a:latin typeface="Arial"/>
              </a:rPr>
              <a:t>125</a:t>
            </a:r>
          </a:p>
        </p:txBody>
      </p:sp>
    </p:spTree>
  </p:cSld>
  <p:clrMapOvr>
    <a:masterClrMapping/>
  </p:clrMapOvr>
</p:sld>
</file>

<file path=ppt/slides/slide127.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256032" cy="1417320"/>
          </a:xfrm>
          <a:prstGeom prst="rect">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777240" y="457200"/>
            <a:ext cx="10607040" cy="365760"/>
          </a:xfrm>
          <a:prstGeom prst="rect">
            <a:avLst/>
          </a:prstGeom>
          <a:noFill/>
        </p:spPr>
        <p:txBody>
          <a:bodyPr wrap="square" anchor="t">
            <a:spAutoFit/>
          </a:bodyPr>
          <a:lstStyle/>
          <a:p>
            <a:pPr algn="l">
              <a:spcAft>
                <a:spcPts val="400"/>
              </a:spcAft>
            </a:pPr>
            <a:r>
              <a:rPr sz="1400" b="1">
                <a:solidFill>
                  <a:srgbClr val="10B981"/>
                </a:solidFill>
                <a:latin typeface="Arial"/>
              </a:rPr>
              <a:t>ACTIVITY 7 · VERIFY &amp; DEBRIEF</a:t>
            </a:r>
          </a:p>
        </p:txBody>
      </p:sp>
      <p:sp>
        <p:nvSpPr>
          <p:cNvPr id="5" name="TextBox 4"/>
          <p:cNvSpPr txBox="1"/>
          <p:nvPr/>
        </p:nvSpPr>
        <p:spPr>
          <a:xfrm>
            <a:off x="777240" y="822960"/>
            <a:ext cx="10881360" cy="822960"/>
          </a:xfrm>
          <a:prstGeom prst="rect">
            <a:avLst/>
          </a:prstGeom>
          <a:noFill/>
        </p:spPr>
        <p:txBody>
          <a:bodyPr wrap="square" anchor="t">
            <a:spAutoFit/>
          </a:bodyPr>
          <a:lstStyle/>
          <a:p>
            <a:pPr algn="l">
              <a:spcAft>
                <a:spcPts val="400"/>
              </a:spcAft>
            </a:pPr>
            <a:r>
              <a:rPr sz="2900" b="1">
                <a:solidFill>
                  <a:srgbClr val="161B26"/>
                </a:solidFill>
                <a:latin typeface="Arial"/>
              </a:rPr>
              <a:t>Superdense Coding Protocol</a:t>
            </a:r>
          </a:p>
        </p:txBody>
      </p:sp>
      <p:sp>
        <p:nvSpPr>
          <p:cNvPr id="6" name="Rectangle 5"/>
          <p:cNvSpPr/>
          <p:nvPr/>
        </p:nvSpPr>
        <p:spPr>
          <a:xfrm>
            <a:off x="777240" y="1554480"/>
            <a:ext cx="10634472" cy="18288"/>
          </a:xfrm>
          <a:prstGeom prst="rect">
            <a:avLst/>
          </a:prstGeom>
          <a:solidFill>
            <a:srgbClr val="E2E8F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Rectangle 6"/>
          <p:cNvSpPr/>
          <p:nvPr/>
        </p:nvSpPr>
        <p:spPr>
          <a:xfrm>
            <a:off x="777240" y="1783080"/>
            <a:ext cx="10634472" cy="2148840"/>
          </a:xfrm>
          <a:prstGeom prst="rect">
            <a:avLst/>
          </a:prstGeom>
          <a:solidFill>
            <a:srgbClr val="E8F7E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Rectangle 7"/>
          <p:cNvSpPr/>
          <p:nvPr/>
        </p:nvSpPr>
        <p:spPr>
          <a:xfrm>
            <a:off x="777240" y="1783080"/>
            <a:ext cx="100584" cy="2148840"/>
          </a:xfrm>
          <a:prstGeom prst="rect">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TextBox 8"/>
          <p:cNvSpPr txBox="1"/>
          <p:nvPr/>
        </p:nvSpPr>
        <p:spPr>
          <a:xfrm>
            <a:off x="1143000" y="1965960"/>
            <a:ext cx="10058400" cy="411480"/>
          </a:xfrm>
          <a:prstGeom prst="rect">
            <a:avLst/>
          </a:prstGeom>
          <a:noFill/>
        </p:spPr>
        <p:txBody>
          <a:bodyPr wrap="square" anchor="t">
            <a:spAutoFit/>
          </a:bodyPr>
          <a:lstStyle/>
          <a:p>
            <a:pPr algn="l">
              <a:spcAft>
                <a:spcPts val="400"/>
              </a:spcAft>
            </a:pPr>
            <a:r>
              <a:rPr sz="1300" b="1">
                <a:solidFill>
                  <a:srgbClr val="127A3E"/>
                </a:solidFill>
                <a:latin typeface="Arial"/>
              </a:rPr>
              <a:t>TEST IT — HOW YOU KNOW IT WORKED</a:t>
            </a:r>
          </a:p>
        </p:txBody>
      </p:sp>
      <p:sp>
        <p:nvSpPr>
          <p:cNvPr id="10" name="TextBox 9"/>
          <p:cNvSpPr txBox="1"/>
          <p:nvPr/>
        </p:nvSpPr>
        <p:spPr>
          <a:xfrm>
            <a:off x="1143000" y="2423160"/>
            <a:ext cx="10058400" cy="1371600"/>
          </a:xfrm>
          <a:prstGeom prst="rect">
            <a:avLst/>
          </a:prstGeom>
          <a:noFill/>
        </p:spPr>
        <p:txBody>
          <a:bodyPr wrap="square" anchor="t">
            <a:spAutoFit/>
          </a:bodyPr>
          <a:lstStyle/>
          <a:p>
            <a:pPr algn="l">
              <a:spcAft>
                <a:spcPts val="400"/>
              </a:spcAft>
            </a:pPr>
            <a:r>
              <a:rPr sz="1600" b="0">
                <a:solidFill>
                  <a:srgbClr val="161B26"/>
                </a:solidFill>
                <a:latin typeface="Arial"/>
              </a:rPr>
              <a:t>Each of the four encodings decodes to its intended message — identity gives 00, X gives 01, Z gives 10 and ZX gives 11 — demonstrating two classical bits carried by one transmitted qubit.</a:t>
            </a:r>
          </a:p>
        </p:txBody>
      </p:sp>
      <p:sp>
        <p:nvSpPr>
          <p:cNvPr id="11" name="TextBox 10"/>
          <p:cNvSpPr txBox="1"/>
          <p:nvPr/>
        </p:nvSpPr>
        <p:spPr>
          <a:xfrm>
            <a:off x="777240" y="4096512"/>
            <a:ext cx="10607040" cy="365760"/>
          </a:xfrm>
          <a:prstGeom prst="rect">
            <a:avLst/>
          </a:prstGeom>
          <a:noFill/>
        </p:spPr>
        <p:txBody>
          <a:bodyPr wrap="square" anchor="t">
            <a:spAutoFit/>
          </a:bodyPr>
          <a:lstStyle/>
          <a:p>
            <a:pPr algn="l">
              <a:spcAft>
                <a:spcPts val="400"/>
              </a:spcAft>
            </a:pPr>
            <a:r>
              <a:rPr sz="1300" b="1">
                <a:solidFill>
                  <a:srgbClr val="1F6FEB"/>
                </a:solidFill>
                <a:latin typeface="Arial"/>
              </a:rPr>
              <a:t>DISCUSS WITH YOUR TRAINER</a:t>
            </a:r>
          </a:p>
        </p:txBody>
      </p:sp>
      <p:sp>
        <p:nvSpPr>
          <p:cNvPr id="12" name="Rectangle 11"/>
          <p:cNvSpPr/>
          <p:nvPr/>
        </p:nvSpPr>
        <p:spPr>
          <a:xfrm>
            <a:off x="777240" y="4480560"/>
            <a:ext cx="3447288" cy="1463040"/>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 name="Rectangle 12"/>
          <p:cNvSpPr/>
          <p:nvPr/>
        </p:nvSpPr>
        <p:spPr>
          <a:xfrm>
            <a:off x="777240" y="4480560"/>
            <a:ext cx="3447288" cy="82296"/>
          </a:xfrm>
          <a:prstGeom prst="rect">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 name="TextBox 13"/>
          <p:cNvSpPr txBox="1"/>
          <p:nvPr/>
        </p:nvSpPr>
        <p:spPr>
          <a:xfrm>
            <a:off x="978408" y="4663440"/>
            <a:ext cx="3044952" cy="457200"/>
          </a:xfrm>
          <a:prstGeom prst="rect">
            <a:avLst/>
          </a:prstGeom>
          <a:noFill/>
        </p:spPr>
        <p:txBody>
          <a:bodyPr wrap="square" anchor="t">
            <a:spAutoFit/>
          </a:bodyPr>
          <a:lstStyle/>
          <a:p>
            <a:pPr algn="l">
              <a:spcAft>
                <a:spcPts val="400"/>
              </a:spcAft>
            </a:pPr>
            <a:r>
              <a:rPr sz="1350" b="1">
                <a:solidFill>
                  <a:srgbClr val="1F6FEB"/>
                </a:solidFill>
                <a:latin typeface="Arial"/>
              </a:rPr>
              <a:t>What did the result show?</a:t>
            </a:r>
          </a:p>
        </p:txBody>
      </p:sp>
      <p:sp>
        <p:nvSpPr>
          <p:cNvPr id="15" name="TextBox 14"/>
          <p:cNvSpPr txBox="1"/>
          <p:nvPr/>
        </p:nvSpPr>
        <p:spPr>
          <a:xfrm>
            <a:off x="978408" y="5138928"/>
            <a:ext cx="3044952" cy="731520"/>
          </a:xfrm>
          <a:prstGeom prst="rect">
            <a:avLst/>
          </a:prstGeom>
          <a:noFill/>
        </p:spPr>
        <p:txBody>
          <a:bodyPr wrap="square" anchor="t">
            <a:spAutoFit/>
          </a:bodyPr>
          <a:lstStyle/>
          <a:p>
            <a:pPr algn="l">
              <a:spcAft>
                <a:spcPts val="400"/>
              </a:spcAft>
            </a:pPr>
            <a:r>
              <a:rPr sz="1200" b="0">
                <a:solidFill>
                  <a:srgbClr val="5B6372"/>
                </a:solidFill>
                <a:latin typeface="Arial"/>
              </a:rPr>
              <a:t>Restate the outcome in your own words.</a:t>
            </a:r>
          </a:p>
        </p:txBody>
      </p:sp>
      <p:sp>
        <p:nvSpPr>
          <p:cNvPr id="16" name="Rectangle 15"/>
          <p:cNvSpPr/>
          <p:nvPr/>
        </p:nvSpPr>
        <p:spPr>
          <a:xfrm>
            <a:off x="4370832" y="4480560"/>
            <a:ext cx="3447288" cy="1463040"/>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7" name="Rectangle 16"/>
          <p:cNvSpPr/>
          <p:nvPr/>
        </p:nvSpPr>
        <p:spPr>
          <a:xfrm>
            <a:off x="4370832" y="4480560"/>
            <a:ext cx="3447288" cy="82296"/>
          </a:xfrm>
          <a:prstGeom prst="rect">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8" name="TextBox 17"/>
          <p:cNvSpPr txBox="1"/>
          <p:nvPr/>
        </p:nvSpPr>
        <p:spPr>
          <a:xfrm>
            <a:off x="4572000" y="4663440"/>
            <a:ext cx="3044952" cy="457200"/>
          </a:xfrm>
          <a:prstGeom prst="rect">
            <a:avLst/>
          </a:prstGeom>
          <a:noFill/>
        </p:spPr>
        <p:txBody>
          <a:bodyPr wrap="square" anchor="t">
            <a:spAutoFit/>
          </a:bodyPr>
          <a:lstStyle/>
          <a:p>
            <a:pPr algn="l">
              <a:spcAft>
                <a:spcPts val="400"/>
              </a:spcAft>
            </a:pPr>
            <a:r>
              <a:rPr sz="1350" b="1">
                <a:solidFill>
                  <a:srgbClr val="10B981"/>
                </a:solidFill>
                <a:latin typeface="Arial"/>
              </a:rPr>
              <a:t>Why does it work?</a:t>
            </a:r>
          </a:p>
        </p:txBody>
      </p:sp>
      <p:sp>
        <p:nvSpPr>
          <p:cNvPr id="19" name="TextBox 18"/>
          <p:cNvSpPr txBox="1"/>
          <p:nvPr/>
        </p:nvSpPr>
        <p:spPr>
          <a:xfrm>
            <a:off x="4572000" y="5138928"/>
            <a:ext cx="3044952" cy="731520"/>
          </a:xfrm>
          <a:prstGeom prst="rect">
            <a:avLst/>
          </a:prstGeom>
          <a:noFill/>
        </p:spPr>
        <p:txBody>
          <a:bodyPr wrap="square" anchor="t">
            <a:spAutoFit/>
          </a:bodyPr>
          <a:lstStyle/>
          <a:p>
            <a:pPr algn="l">
              <a:spcAft>
                <a:spcPts val="400"/>
              </a:spcAft>
            </a:pPr>
            <a:r>
              <a:rPr sz="1200" b="0">
                <a:solidFill>
                  <a:srgbClr val="5B6372"/>
                </a:solidFill>
                <a:latin typeface="Arial"/>
              </a:rPr>
              <a:t>Name the quantum principle the activity relies on.</a:t>
            </a:r>
          </a:p>
        </p:txBody>
      </p:sp>
      <p:sp>
        <p:nvSpPr>
          <p:cNvPr id="20" name="Rectangle 19"/>
          <p:cNvSpPr/>
          <p:nvPr/>
        </p:nvSpPr>
        <p:spPr>
          <a:xfrm>
            <a:off x="7964424" y="4480560"/>
            <a:ext cx="3447288" cy="1463040"/>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1" name="Rectangle 20"/>
          <p:cNvSpPr/>
          <p:nvPr/>
        </p:nvSpPr>
        <p:spPr>
          <a:xfrm>
            <a:off x="7964424" y="4480560"/>
            <a:ext cx="3447288" cy="82296"/>
          </a:xfrm>
          <a:prstGeom prst="rect">
            <a:avLst/>
          </a:prstGeom>
          <a:solidFill>
            <a:srgbClr val="7C3AE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2" name="TextBox 21"/>
          <p:cNvSpPr txBox="1"/>
          <p:nvPr/>
        </p:nvSpPr>
        <p:spPr>
          <a:xfrm>
            <a:off x="8165592" y="4663440"/>
            <a:ext cx="3044952" cy="457200"/>
          </a:xfrm>
          <a:prstGeom prst="rect">
            <a:avLst/>
          </a:prstGeom>
          <a:noFill/>
        </p:spPr>
        <p:txBody>
          <a:bodyPr wrap="square" anchor="t">
            <a:spAutoFit/>
          </a:bodyPr>
          <a:lstStyle/>
          <a:p>
            <a:pPr algn="l">
              <a:spcAft>
                <a:spcPts val="400"/>
              </a:spcAft>
            </a:pPr>
            <a:r>
              <a:rPr sz="1350" b="1">
                <a:solidFill>
                  <a:srgbClr val="7C3AED"/>
                </a:solidFill>
                <a:latin typeface="Arial"/>
              </a:rPr>
              <a:t>Where would you use it?</a:t>
            </a:r>
          </a:p>
        </p:txBody>
      </p:sp>
      <p:sp>
        <p:nvSpPr>
          <p:cNvPr id="23" name="TextBox 22"/>
          <p:cNvSpPr txBox="1"/>
          <p:nvPr/>
        </p:nvSpPr>
        <p:spPr>
          <a:xfrm>
            <a:off x="8165592" y="5138928"/>
            <a:ext cx="3044952" cy="731520"/>
          </a:xfrm>
          <a:prstGeom prst="rect">
            <a:avLst/>
          </a:prstGeom>
          <a:noFill/>
        </p:spPr>
        <p:txBody>
          <a:bodyPr wrap="square" anchor="t">
            <a:spAutoFit/>
          </a:bodyPr>
          <a:lstStyle/>
          <a:p>
            <a:pPr algn="l">
              <a:spcAft>
                <a:spcPts val="400"/>
              </a:spcAft>
            </a:pPr>
            <a:r>
              <a:rPr sz="1200" b="0">
                <a:solidFill>
                  <a:srgbClr val="5B6372"/>
                </a:solidFill>
                <a:latin typeface="Arial"/>
              </a:rPr>
              <a:t>Give one realistic application in your own field.</a:t>
            </a:r>
          </a:p>
        </p:txBody>
      </p:sp>
      <p:sp>
        <p:nvSpPr>
          <p:cNvPr id="24" name="TextBox 23"/>
          <p:cNvSpPr txBox="1"/>
          <p:nvPr/>
        </p:nvSpPr>
        <p:spPr>
          <a:xfrm>
            <a:off x="365760" y="6446520"/>
            <a:ext cx="6858000" cy="320040"/>
          </a:xfrm>
          <a:prstGeom prst="rect">
            <a:avLst/>
          </a:prstGeom>
          <a:noFill/>
        </p:spPr>
        <p:txBody>
          <a:bodyPr wrap="square" anchor="t">
            <a:spAutoFit/>
          </a:bodyPr>
          <a:lstStyle/>
          <a:p>
            <a:pPr algn="l">
              <a:spcAft>
                <a:spcPts val="400"/>
              </a:spcAft>
            </a:pPr>
            <a:r>
              <a:rPr sz="900" b="0">
                <a:solidFill>
                  <a:srgbClr val="5B6372"/>
                </a:solidFill>
                <a:latin typeface="Arial"/>
              </a:rPr>
              <a:t>Securing the Future with Quantum Computing and Cryptography  ·  TGS-2024043419</a:t>
            </a:r>
          </a:p>
        </p:txBody>
      </p:sp>
      <p:sp>
        <p:nvSpPr>
          <p:cNvPr id="25" name="TextBox 24"/>
          <p:cNvSpPr txBox="1"/>
          <p:nvPr/>
        </p:nvSpPr>
        <p:spPr>
          <a:xfrm>
            <a:off x="4572000" y="6446520"/>
            <a:ext cx="3017520" cy="320040"/>
          </a:xfrm>
          <a:prstGeom prst="rect">
            <a:avLst/>
          </a:prstGeom>
          <a:noFill/>
        </p:spPr>
        <p:txBody>
          <a:bodyPr wrap="square" anchor="t">
            <a:spAutoFit/>
          </a:bodyPr>
          <a:lstStyle/>
          <a:p>
            <a:pPr algn="ctr">
              <a:spcAft>
                <a:spcPts val="400"/>
              </a:spcAft>
            </a:pPr>
            <a:r>
              <a:rPr sz="900" b="0">
                <a:solidFill>
                  <a:srgbClr val="5B6372"/>
                </a:solidFill>
                <a:latin typeface="Arial"/>
              </a:rPr>
              <a:t>© 2026 Tertiary Infotech Academy Pte Ltd</a:t>
            </a:r>
          </a:p>
        </p:txBody>
      </p:sp>
      <p:sp>
        <p:nvSpPr>
          <p:cNvPr id="26" name="TextBox 25"/>
          <p:cNvSpPr txBox="1"/>
          <p:nvPr/>
        </p:nvSpPr>
        <p:spPr>
          <a:xfrm>
            <a:off x="11338560" y="6446520"/>
            <a:ext cx="548640" cy="320040"/>
          </a:xfrm>
          <a:prstGeom prst="rect">
            <a:avLst/>
          </a:prstGeom>
          <a:noFill/>
        </p:spPr>
        <p:txBody>
          <a:bodyPr wrap="square" anchor="t">
            <a:spAutoFit/>
          </a:bodyPr>
          <a:lstStyle/>
          <a:p>
            <a:pPr algn="r">
              <a:spcAft>
                <a:spcPts val="400"/>
              </a:spcAft>
            </a:pPr>
            <a:r>
              <a:rPr sz="900" b="0">
                <a:solidFill>
                  <a:srgbClr val="5B6372"/>
                </a:solidFill>
                <a:latin typeface="Arial"/>
              </a:rPr>
              <a:t>126</a:t>
            </a:r>
          </a:p>
        </p:txBody>
      </p:sp>
    </p:spTree>
  </p:cSld>
  <p:clrMapOvr>
    <a:masterClrMapping/>
  </p:clrMapOvr>
</p:sld>
</file>

<file path=ppt/slides/slide128.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256032" cy="1417320"/>
          </a:xfrm>
          <a:prstGeom prst="rect">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777240" y="457200"/>
            <a:ext cx="10607040" cy="365760"/>
          </a:xfrm>
          <a:prstGeom prst="rect">
            <a:avLst/>
          </a:prstGeom>
          <a:noFill/>
        </p:spPr>
        <p:txBody>
          <a:bodyPr wrap="square" anchor="t">
            <a:spAutoFit/>
          </a:bodyPr>
          <a:lstStyle/>
          <a:p>
            <a:pPr algn="l">
              <a:spcAft>
                <a:spcPts val="400"/>
              </a:spcAft>
            </a:pPr>
            <a:r>
              <a:rPr sz="1400" b="1">
                <a:solidFill>
                  <a:srgbClr val="10B981"/>
                </a:solidFill>
                <a:latin typeface="Arial"/>
              </a:rPr>
              <a:t>TOPIC 04 · HANDS-ON ACTIVITY</a:t>
            </a:r>
          </a:p>
        </p:txBody>
      </p:sp>
      <p:sp>
        <p:nvSpPr>
          <p:cNvPr id="5" name="TextBox 4"/>
          <p:cNvSpPr txBox="1"/>
          <p:nvPr/>
        </p:nvSpPr>
        <p:spPr>
          <a:xfrm>
            <a:off x="777240" y="822960"/>
            <a:ext cx="10881360" cy="822960"/>
          </a:xfrm>
          <a:prstGeom prst="rect">
            <a:avLst/>
          </a:prstGeom>
          <a:noFill/>
        </p:spPr>
        <p:txBody>
          <a:bodyPr wrap="square" anchor="t">
            <a:spAutoFit/>
          </a:bodyPr>
          <a:lstStyle/>
          <a:p>
            <a:pPr algn="l">
              <a:spcAft>
                <a:spcPts val="400"/>
              </a:spcAft>
            </a:pPr>
            <a:r>
              <a:rPr sz="2900" b="1">
                <a:solidFill>
                  <a:srgbClr val="161B26"/>
                </a:solidFill>
                <a:latin typeface="Arial"/>
              </a:rPr>
              <a:t>BB84 Quantum Key Distribution with Eavesdropping Detection</a:t>
            </a:r>
          </a:p>
        </p:txBody>
      </p:sp>
      <p:sp>
        <p:nvSpPr>
          <p:cNvPr id="6" name="Rectangle 5"/>
          <p:cNvSpPr/>
          <p:nvPr/>
        </p:nvSpPr>
        <p:spPr>
          <a:xfrm>
            <a:off x="777240" y="1554480"/>
            <a:ext cx="10634472" cy="18288"/>
          </a:xfrm>
          <a:prstGeom prst="rect">
            <a:avLst/>
          </a:prstGeom>
          <a:solidFill>
            <a:srgbClr val="E2E8F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Rectangle 6"/>
          <p:cNvSpPr/>
          <p:nvPr/>
        </p:nvSpPr>
        <p:spPr>
          <a:xfrm>
            <a:off x="9646920" y="457200"/>
            <a:ext cx="1783080" cy="457200"/>
          </a:xfrm>
          <a:prstGeom prst="rect">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TextBox 7"/>
          <p:cNvSpPr txBox="1"/>
          <p:nvPr/>
        </p:nvSpPr>
        <p:spPr>
          <a:xfrm>
            <a:off x="9646920" y="457200"/>
            <a:ext cx="1783080" cy="457200"/>
          </a:xfrm>
          <a:prstGeom prst="rect">
            <a:avLst/>
          </a:prstGeom>
          <a:noFill/>
        </p:spPr>
        <p:txBody>
          <a:bodyPr wrap="square" anchor="ctr">
            <a:spAutoFit/>
          </a:bodyPr>
          <a:lstStyle/>
          <a:p>
            <a:pPr algn="ctr">
              <a:spcAft>
                <a:spcPts val="400"/>
              </a:spcAft>
            </a:pPr>
            <a:r>
              <a:rPr sz="1300" b="1">
                <a:solidFill>
                  <a:srgbClr val="FFFFFF"/>
                </a:solidFill>
                <a:latin typeface="Arial"/>
              </a:rPr>
              <a:t>ACTIVITY 8</a:t>
            </a:r>
          </a:p>
        </p:txBody>
      </p:sp>
      <p:sp>
        <p:nvSpPr>
          <p:cNvPr id="9" name="TextBox 8"/>
          <p:cNvSpPr txBox="1"/>
          <p:nvPr/>
        </p:nvSpPr>
        <p:spPr>
          <a:xfrm>
            <a:off x="777240" y="1828800"/>
            <a:ext cx="10607040" cy="1051560"/>
          </a:xfrm>
          <a:prstGeom prst="rect">
            <a:avLst/>
          </a:prstGeom>
          <a:noFill/>
        </p:spPr>
        <p:txBody>
          <a:bodyPr wrap="square" anchor="t">
            <a:spAutoFit/>
          </a:bodyPr>
          <a:lstStyle/>
          <a:p>
            <a:pPr algn="l">
              <a:spcAft>
                <a:spcPts val="400"/>
              </a:spcAft>
            </a:pPr>
            <a:r>
              <a:rPr sz="1700" b="0">
                <a:solidFill>
                  <a:srgbClr val="161B26"/>
                </a:solidFill>
                <a:latin typeface="Arial"/>
              </a:rPr>
              <a:t>Run the BB84 protocol end to end: random bit and basis selection, quantum transmission, basis sifting and key extraction — then repeat it with an eavesdropper present and measure the error rate that exposes the attack.</a:t>
            </a:r>
          </a:p>
        </p:txBody>
      </p:sp>
      <p:sp>
        <p:nvSpPr>
          <p:cNvPr id="10" name="Rectangle 9"/>
          <p:cNvSpPr/>
          <p:nvPr/>
        </p:nvSpPr>
        <p:spPr>
          <a:xfrm>
            <a:off x="777240" y="2971800"/>
            <a:ext cx="10634472" cy="457200"/>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 name="TextBox 10"/>
          <p:cNvSpPr txBox="1"/>
          <p:nvPr/>
        </p:nvSpPr>
        <p:spPr>
          <a:xfrm>
            <a:off x="960120" y="2971800"/>
            <a:ext cx="10241280" cy="457200"/>
          </a:xfrm>
          <a:prstGeom prst="rect">
            <a:avLst/>
          </a:prstGeom>
          <a:noFill/>
        </p:spPr>
        <p:txBody>
          <a:bodyPr wrap="square" anchor="ctr">
            <a:spAutoFit/>
          </a:bodyPr>
          <a:lstStyle/>
          <a:p>
            <a:pPr algn="l">
              <a:spcAft>
                <a:spcPts val="400"/>
              </a:spcAft>
            </a:pPr>
            <a:r>
              <a:rPr sz="1100" b="1">
                <a:solidFill>
                  <a:srgbClr val="1F6FEB"/>
                </a:solidFill>
                <a:latin typeface="Arial"/>
              </a:rPr>
              <a:t>MAPS TO  </a:t>
            </a:r>
            <a:r>
              <a:rPr sz="1250" b="0">
                <a:solidFill>
                  <a:srgbClr val="161B26"/>
                </a:solidFill>
                <a:latin typeface="Arial"/>
              </a:rPr>
              <a:t>LO7 — Synthesize quantum methodologies to address complex problems</a:t>
            </a:r>
          </a:p>
        </p:txBody>
      </p:sp>
      <p:sp>
        <p:nvSpPr>
          <p:cNvPr id="12" name="Rectangle 11"/>
          <p:cNvSpPr/>
          <p:nvPr/>
        </p:nvSpPr>
        <p:spPr>
          <a:xfrm>
            <a:off x="777240" y="3611880"/>
            <a:ext cx="10634472" cy="1234440"/>
          </a:xfrm>
          <a:prstGeom prst="rect">
            <a:avLst/>
          </a:prstGeom>
          <a:solidFill>
            <a:srgbClr val="E8F7E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 name="TextBox 12"/>
          <p:cNvSpPr txBox="1"/>
          <p:nvPr/>
        </p:nvSpPr>
        <p:spPr>
          <a:xfrm>
            <a:off x="1051560" y="3767328"/>
            <a:ext cx="10058400" cy="365760"/>
          </a:xfrm>
          <a:prstGeom prst="rect">
            <a:avLst/>
          </a:prstGeom>
          <a:noFill/>
        </p:spPr>
        <p:txBody>
          <a:bodyPr wrap="square" anchor="t">
            <a:spAutoFit/>
          </a:bodyPr>
          <a:lstStyle/>
          <a:p>
            <a:pPr algn="l">
              <a:spcAft>
                <a:spcPts val="400"/>
              </a:spcAft>
            </a:pPr>
            <a:r>
              <a:rPr sz="1200" b="1">
                <a:solidFill>
                  <a:srgbClr val="127A3E"/>
                </a:solidFill>
                <a:latin typeface="Arial"/>
              </a:rPr>
              <a:t>YOU'LL PRODUCE</a:t>
            </a:r>
          </a:p>
        </p:txBody>
      </p:sp>
      <p:sp>
        <p:nvSpPr>
          <p:cNvPr id="14" name="TextBox 13"/>
          <p:cNvSpPr txBox="1"/>
          <p:nvPr/>
        </p:nvSpPr>
        <p:spPr>
          <a:xfrm>
            <a:off x="1051560" y="4133087"/>
            <a:ext cx="10058400" cy="640080"/>
          </a:xfrm>
          <a:prstGeom prst="rect">
            <a:avLst/>
          </a:prstGeom>
          <a:noFill/>
        </p:spPr>
        <p:txBody>
          <a:bodyPr wrap="square" anchor="t">
            <a:spAutoFit/>
          </a:bodyPr>
          <a:lstStyle/>
          <a:p>
            <a:pPr algn="l">
              <a:spcAft>
                <a:spcPts val="400"/>
              </a:spcAft>
            </a:pPr>
            <a:r>
              <a:rPr sz="1550" b="1">
                <a:solidFill>
                  <a:srgbClr val="161B26"/>
                </a:solidFill>
                <a:latin typeface="Arial"/>
              </a:rPr>
              <a:t>A working BB84 implementation producing a shared secret key, plus a comparison run showing the ~25% error rate introduced by an intercept-resend eavesdropper.</a:t>
            </a:r>
          </a:p>
        </p:txBody>
      </p:sp>
      <p:sp>
        <p:nvSpPr>
          <p:cNvPr id="15" name="Rectangle 14"/>
          <p:cNvSpPr/>
          <p:nvPr/>
        </p:nvSpPr>
        <p:spPr>
          <a:xfrm>
            <a:off x="777240" y="5029200"/>
            <a:ext cx="10634472" cy="960120"/>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6" name="TextBox 15"/>
          <p:cNvSpPr txBox="1"/>
          <p:nvPr/>
        </p:nvSpPr>
        <p:spPr>
          <a:xfrm>
            <a:off x="1051560" y="5138928"/>
            <a:ext cx="10058400" cy="365760"/>
          </a:xfrm>
          <a:prstGeom prst="rect">
            <a:avLst/>
          </a:prstGeom>
          <a:noFill/>
        </p:spPr>
        <p:txBody>
          <a:bodyPr wrap="square" anchor="t">
            <a:spAutoFit/>
          </a:bodyPr>
          <a:lstStyle/>
          <a:p>
            <a:pPr algn="l">
              <a:spcAft>
                <a:spcPts val="400"/>
              </a:spcAft>
            </a:pPr>
            <a:r>
              <a:rPr sz="1200" b="1">
                <a:solidFill>
                  <a:srgbClr val="5B6372"/>
                </a:solidFill>
                <a:latin typeface="Arial"/>
              </a:rPr>
              <a:t>Tools:  </a:t>
            </a:r>
            <a:r>
              <a:rPr sz="1200" b="0">
                <a:solidFill>
                  <a:srgbClr val="5B6372"/>
                </a:solidFill>
                <a:latin typeface="Arial"/>
              </a:rPr>
              <a:t>Qiskit 2.x, IBM Quantum Runtime, Python</a:t>
            </a:r>
          </a:p>
        </p:txBody>
      </p:sp>
      <p:sp>
        <p:nvSpPr>
          <p:cNvPr id="17" name="TextBox 16"/>
          <p:cNvSpPr txBox="1"/>
          <p:nvPr/>
        </p:nvSpPr>
        <p:spPr>
          <a:xfrm>
            <a:off x="1051560" y="5504688"/>
            <a:ext cx="10058400" cy="365760"/>
          </a:xfrm>
          <a:prstGeom prst="rect">
            <a:avLst/>
          </a:prstGeom>
          <a:noFill/>
        </p:spPr>
        <p:txBody>
          <a:bodyPr wrap="square" anchor="t">
            <a:spAutoFit/>
          </a:bodyPr>
          <a:lstStyle/>
          <a:p>
            <a:pPr algn="l">
              <a:spcAft>
                <a:spcPts val="400"/>
              </a:spcAft>
            </a:pPr>
            <a:r>
              <a:rPr sz="1200" b="1">
                <a:solidFill>
                  <a:srgbClr val="1F6FEB"/>
                </a:solidFill>
                <a:latin typeface="Arial"/>
              </a:rPr>
              <a:t>Full step-by-step guide:  </a:t>
            </a:r>
            <a:r>
              <a:rPr sz="1200" b="0">
                <a:solidFill>
                  <a:srgbClr val="161B26"/>
                </a:solidFill>
                <a:latin typeface="Arial"/>
              </a:rPr>
              <a:t>Learner Guide — Activity 8: BB84 Quantum Key Distribution with Eavesdropping Detection</a:t>
            </a:r>
          </a:p>
        </p:txBody>
      </p:sp>
      <p:sp>
        <p:nvSpPr>
          <p:cNvPr id="18" name="TextBox 17"/>
          <p:cNvSpPr txBox="1"/>
          <p:nvPr/>
        </p:nvSpPr>
        <p:spPr>
          <a:xfrm>
            <a:off x="365760" y="6446520"/>
            <a:ext cx="6858000" cy="320040"/>
          </a:xfrm>
          <a:prstGeom prst="rect">
            <a:avLst/>
          </a:prstGeom>
          <a:noFill/>
        </p:spPr>
        <p:txBody>
          <a:bodyPr wrap="square" anchor="t">
            <a:spAutoFit/>
          </a:bodyPr>
          <a:lstStyle/>
          <a:p>
            <a:pPr algn="l">
              <a:spcAft>
                <a:spcPts val="400"/>
              </a:spcAft>
            </a:pPr>
            <a:r>
              <a:rPr sz="900" b="0">
                <a:solidFill>
                  <a:srgbClr val="5B6372"/>
                </a:solidFill>
                <a:latin typeface="Arial"/>
              </a:rPr>
              <a:t>Securing the Future with Quantum Computing and Cryptography  ·  TGS-2024043419</a:t>
            </a:r>
          </a:p>
        </p:txBody>
      </p:sp>
      <p:sp>
        <p:nvSpPr>
          <p:cNvPr id="19" name="TextBox 18"/>
          <p:cNvSpPr txBox="1"/>
          <p:nvPr/>
        </p:nvSpPr>
        <p:spPr>
          <a:xfrm>
            <a:off x="4572000" y="6446520"/>
            <a:ext cx="3017520" cy="320040"/>
          </a:xfrm>
          <a:prstGeom prst="rect">
            <a:avLst/>
          </a:prstGeom>
          <a:noFill/>
        </p:spPr>
        <p:txBody>
          <a:bodyPr wrap="square" anchor="t">
            <a:spAutoFit/>
          </a:bodyPr>
          <a:lstStyle/>
          <a:p>
            <a:pPr algn="ctr">
              <a:spcAft>
                <a:spcPts val="400"/>
              </a:spcAft>
            </a:pPr>
            <a:r>
              <a:rPr sz="900" b="0">
                <a:solidFill>
                  <a:srgbClr val="5B6372"/>
                </a:solidFill>
                <a:latin typeface="Arial"/>
              </a:rPr>
              <a:t>© 2026 Tertiary Infotech Academy Pte Ltd</a:t>
            </a:r>
          </a:p>
        </p:txBody>
      </p:sp>
      <p:sp>
        <p:nvSpPr>
          <p:cNvPr id="20" name="TextBox 19"/>
          <p:cNvSpPr txBox="1"/>
          <p:nvPr/>
        </p:nvSpPr>
        <p:spPr>
          <a:xfrm>
            <a:off x="11338560" y="6446520"/>
            <a:ext cx="548640" cy="320040"/>
          </a:xfrm>
          <a:prstGeom prst="rect">
            <a:avLst/>
          </a:prstGeom>
          <a:noFill/>
        </p:spPr>
        <p:txBody>
          <a:bodyPr wrap="square" anchor="t">
            <a:spAutoFit/>
          </a:bodyPr>
          <a:lstStyle/>
          <a:p>
            <a:pPr algn="r">
              <a:spcAft>
                <a:spcPts val="400"/>
              </a:spcAft>
            </a:pPr>
            <a:r>
              <a:rPr sz="900" b="0">
                <a:solidFill>
                  <a:srgbClr val="5B6372"/>
                </a:solidFill>
                <a:latin typeface="Arial"/>
              </a:rPr>
              <a:t>127</a:t>
            </a:r>
          </a:p>
        </p:txBody>
      </p:sp>
    </p:spTree>
  </p:cSld>
  <p:clrMapOvr>
    <a:masterClrMapping/>
  </p:clrMapOvr>
</p:sld>
</file>

<file path=ppt/slides/slide129.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256032" cy="1417320"/>
          </a:xfrm>
          <a:prstGeom prst="rect">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777240" y="457200"/>
            <a:ext cx="10607040" cy="365760"/>
          </a:xfrm>
          <a:prstGeom prst="rect">
            <a:avLst/>
          </a:prstGeom>
          <a:noFill/>
        </p:spPr>
        <p:txBody>
          <a:bodyPr wrap="square" anchor="t">
            <a:spAutoFit/>
          </a:bodyPr>
          <a:lstStyle/>
          <a:p>
            <a:pPr algn="l">
              <a:spcAft>
                <a:spcPts val="400"/>
              </a:spcAft>
            </a:pPr>
            <a:r>
              <a:rPr sz="1400" b="1">
                <a:solidFill>
                  <a:srgbClr val="10B981"/>
                </a:solidFill>
                <a:latin typeface="Arial"/>
              </a:rPr>
              <a:t>ACTIVITY 8 · VERIFY &amp; DEBRIEF</a:t>
            </a:r>
          </a:p>
        </p:txBody>
      </p:sp>
      <p:sp>
        <p:nvSpPr>
          <p:cNvPr id="5" name="TextBox 4"/>
          <p:cNvSpPr txBox="1"/>
          <p:nvPr/>
        </p:nvSpPr>
        <p:spPr>
          <a:xfrm>
            <a:off x="777240" y="822960"/>
            <a:ext cx="10881360" cy="822960"/>
          </a:xfrm>
          <a:prstGeom prst="rect">
            <a:avLst/>
          </a:prstGeom>
          <a:noFill/>
        </p:spPr>
        <p:txBody>
          <a:bodyPr wrap="square" anchor="t">
            <a:spAutoFit/>
          </a:bodyPr>
          <a:lstStyle/>
          <a:p>
            <a:pPr algn="l">
              <a:spcAft>
                <a:spcPts val="400"/>
              </a:spcAft>
            </a:pPr>
            <a:r>
              <a:rPr sz="2900" b="1">
                <a:solidFill>
                  <a:srgbClr val="161B26"/>
                </a:solidFill>
                <a:latin typeface="Arial"/>
              </a:rPr>
              <a:t>BB84 Quantum Key Distribution with Eavesdropping Detection</a:t>
            </a:r>
          </a:p>
        </p:txBody>
      </p:sp>
      <p:sp>
        <p:nvSpPr>
          <p:cNvPr id="6" name="Rectangle 5"/>
          <p:cNvSpPr/>
          <p:nvPr/>
        </p:nvSpPr>
        <p:spPr>
          <a:xfrm>
            <a:off x="777240" y="1554480"/>
            <a:ext cx="10634472" cy="18288"/>
          </a:xfrm>
          <a:prstGeom prst="rect">
            <a:avLst/>
          </a:prstGeom>
          <a:solidFill>
            <a:srgbClr val="E2E8F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Rectangle 6"/>
          <p:cNvSpPr/>
          <p:nvPr/>
        </p:nvSpPr>
        <p:spPr>
          <a:xfrm>
            <a:off x="777240" y="1783080"/>
            <a:ext cx="10634472" cy="2148840"/>
          </a:xfrm>
          <a:prstGeom prst="rect">
            <a:avLst/>
          </a:prstGeom>
          <a:solidFill>
            <a:srgbClr val="E8F7E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Rectangle 7"/>
          <p:cNvSpPr/>
          <p:nvPr/>
        </p:nvSpPr>
        <p:spPr>
          <a:xfrm>
            <a:off x="777240" y="1783080"/>
            <a:ext cx="100584" cy="2148840"/>
          </a:xfrm>
          <a:prstGeom prst="rect">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TextBox 8"/>
          <p:cNvSpPr txBox="1"/>
          <p:nvPr/>
        </p:nvSpPr>
        <p:spPr>
          <a:xfrm>
            <a:off x="1143000" y="1965960"/>
            <a:ext cx="10058400" cy="411480"/>
          </a:xfrm>
          <a:prstGeom prst="rect">
            <a:avLst/>
          </a:prstGeom>
          <a:noFill/>
        </p:spPr>
        <p:txBody>
          <a:bodyPr wrap="square" anchor="t">
            <a:spAutoFit/>
          </a:bodyPr>
          <a:lstStyle/>
          <a:p>
            <a:pPr algn="l">
              <a:spcAft>
                <a:spcPts val="400"/>
              </a:spcAft>
            </a:pPr>
            <a:r>
              <a:rPr sz="1300" b="1">
                <a:solidFill>
                  <a:srgbClr val="127A3E"/>
                </a:solidFill>
                <a:latin typeface="Arial"/>
              </a:rPr>
              <a:t>TEST IT — HOW YOU KNOW IT WORKED</a:t>
            </a:r>
          </a:p>
        </p:txBody>
      </p:sp>
      <p:sp>
        <p:nvSpPr>
          <p:cNvPr id="10" name="TextBox 9"/>
          <p:cNvSpPr txBox="1"/>
          <p:nvPr/>
        </p:nvSpPr>
        <p:spPr>
          <a:xfrm>
            <a:off x="1143000" y="2423160"/>
            <a:ext cx="10058400" cy="1371600"/>
          </a:xfrm>
          <a:prstGeom prst="rect">
            <a:avLst/>
          </a:prstGeom>
          <a:noFill/>
        </p:spPr>
        <p:txBody>
          <a:bodyPr wrap="square" anchor="t">
            <a:spAutoFit/>
          </a:bodyPr>
          <a:lstStyle/>
          <a:p>
            <a:pPr algn="l">
              <a:spcAft>
                <a:spcPts val="400"/>
              </a:spcAft>
            </a:pPr>
            <a:r>
              <a:rPr sz="1600" b="0">
                <a:solidFill>
                  <a:srgbClr val="161B26"/>
                </a:solidFill>
                <a:latin typeface="Arial"/>
              </a:rPr>
              <a:t>Without an eavesdropper the sifted key error rate is near zero (bounded only by hardware noise); with the intercept-resend eavesdropper the error rate rises to roughly 25%, which is the signal to abort and discard the key.</a:t>
            </a:r>
          </a:p>
        </p:txBody>
      </p:sp>
      <p:sp>
        <p:nvSpPr>
          <p:cNvPr id="11" name="TextBox 10"/>
          <p:cNvSpPr txBox="1"/>
          <p:nvPr/>
        </p:nvSpPr>
        <p:spPr>
          <a:xfrm>
            <a:off x="777240" y="4096512"/>
            <a:ext cx="10607040" cy="365760"/>
          </a:xfrm>
          <a:prstGeom prst="rect">
            <a:avLst/>
          </a:prstGeom>
          <a:noFill/>
        </p:spPr>
        <p:txBody>
          <a:bodyPr wrap="square" anchor="t">
            <a:spAutoFit/>
          </a:bodyPr>
          <a:lstStyle/>
          <a:p>
            <a:pPr algn="l">
              <a:spcAft>
                <a:spcPts val="400"/>
              </a:spcAft>
            </a:pPr>
            <a:r>
              <a:rPr sz="1300" b="1">
                <a:solidFill>
                  <a:srgbClr val="1F6FEB"/>
                </a:solidFill>
                <a:latin typeface="Arial"/>
              </a:rPr>
              <a:t>DISCUSS WITH YOUR TRAINER</a:t>
            </a:r>
          </a:p>
        </p:txBody>
      </p:sp>
      <p:sp>
        <p:nvSpPr>
          <p:cNvPr id="12" name="Rectangle 11"/>
          <p:cNvSpPr/>
          <p:nvPr/>
        </p:nvSpPr>
        <p:spPr>
          <a:xfrm>
            <a:off x="777240" y="4480560"/>
            <a:ext cx="3447288" cy="1463040"/>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 name="Rectangle 12"/>
          <p:cNvSpPr/>
          <p:nvPr/>
        </p:nvSpPr>
        <p:spPr>
          <a:xfrm>
            <a:off x="777240" y="4480560"/>
            <a:ext cx="3447288" cy="82296"/>
          </a:xfrm>
          <a:prstGeom prst="rect">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 name="TextBox 13"/>
          <p:cNvSpPr txBox="1"/>
          <p:nvPr/>
        </p:nvSpPr>
        <p:spPr>
          <a:xfrm>
            <a:off x="978408" y="4663440"/>
            <a:ext cx="3044952" cy="457200"/>
          </a:xfrm>
          <a:prstGeom prst="rect">
            <a:avLst/>
          </a:prstGeom>
          <a:noFill/>
        </p:spPr>
        <p:txBody>
          <a:bodyPr wrap="square" anchor="t">
            <a:spAutoFit/>
          </a:bodyPr>
          <a:lstStyle/>
          <a:p>
            <a:pPr algn="l">
              <a:spcAft>
                <a:spcPts val="400"/>
              </a:spcAft>
            </a:pPr>
            <a:r>
              <a:rPr sz="1350" b="1">
                <a:solidFill>
                  <a:srgbClr val="1F6FEB"/>
                </a:solidFill>
                <a:latin typeface="Arial"/>
              </a:rPr>
              <a:t>What did the result show?</a:t>
            </a:r>
          </a:p>
        </p:txBody>
      </p:sp>
      <p:sp>
        <p:nvSpPr>
          <p:cNvPr id="15" name="TextBox 14"/>
          <p:cNvSpPr txBox="1"/>
          <p:nvPr/>
        </p:nvSpPr>
        <p:spPr>
          <a:xfrm>
            <a:off x="978408" y="5138928"/>
            <a:ext cx="3044952" cy="731520"/>
          </a:xfrm>
          <a:prstGeom prst="rect">
            <a:avLst/>
          </a:prstGeom>
          <a:noFill/>
        </p:spPr>
        <p:txBody>
          <a:bodyPr wrap="square" anchor="t">
            <a:spAutoFit/>
          </a:bodyPr>
          <a:lstStyle/>
          <a:p>
            <a:pPr algn="l">
              <a:spcAft>
                <a:spcPts val="400"/>
              </a:spcAft>
            </a:pPr>
            <a:r>
              <a:rPr sz="1200" b="0">
                <a:solidFill>
                  <a:srgbClr val="5B6372"/>
                </a:solidFill>
                <a:latin typeface="Arial"/>
              </a:rPr>
              <a:t>Restate the outcome in your own words.</a:t>
            </a:r>
          </a:p>
        </p:txBody>
      </p:sp>
      <p:sp>
        <p:nvSpPr>
          <p:cNvPr id="16" name="Rectangle 15"/>
          <p:cNvSpPr/>
          <p:nvPr/>
        </p:nvSpPr>
        <p:spPr>
          <a:xfrm>
            <a:off x="4370832" y="4480560"/>
            <a:ext cx="3447288" cy="1463040"/>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7" name="Rectangle 16"/>
          <p:cNvSpPr/>
          <p:nvPr/>
        </p:nvSpPr>
        <p:spPr>
          <a:xfrm>
            <a:off x="4370832" y="4480560"/>
            <a:ext cx="3447288" cy="82296"/>
          </a:xfrm>
          <a:prstGeom prst="rect">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8" name="TextBox 17"/>
          <p:cNvSpPr txBox="1"/>
          <p:nvPr/>
        </p:nvSpPr>
        <p:spPr>
          <a:xfrm>
            <a:off x="4572000" y="4663440"/>
            <a:ext cx="3044952" cy="457200"/>
          </a:xfrm>
          <a:prstGeom prst="rect">
            <a:avLst/>
          </a:prstGeom>
          <a:noFill/>
        </p:spPr>
        <p:txBody>
          <a:bodyPr wrap="square" anchor="t">
            <a:spAutoFit/>
          </a:bodyPr>
          <a:lstStyle/>
          <a:p>
            <a:pPr algn="l">
              <a:spcAft>
                <a:spcPts val="400"/>
              </a:spcAft>
            </a:pPr>
            <a:r>
              <a:rPr sz="1350" b="1">
                <a:solidFill>
                  <a:srgbClr val="10B981"/>
                </a:solidFill>
                <a:latin typeface="Arial"/>
              </a:rPr>
              <a:t>Why does it work?</a:t>
            </a:r>
          </a:p>
        </p:txBody>
      </p:sp>
      <p:sp>
        <p:nvSpPr>
          <p:cNvPr id="19" name="TextBox 18"/>
          <p:cNvSpPr txBox="1"/>
          <p:nvPr/>
        </p:nvSpPr>
        <p:spPr>
          <a:xfrm>
            <a:off x="4572000" y="5138928"/>
            <a:ext cx="3044952" cy="731520"/>
          </a:xfrm>
          <a:prstGeom prst="rect">
            <a:avLst/>
          </a:prstGeom>
          <a:noFill/>
        </p:spPr>
        <p:txBody>
          <a:bodyPr wrap="square" anchor="t">
            <a:spAutoFit/>
          </a:bodyPr>
          <a:lstStyle/>
          <a:p>
            <a:pPr algn="l">
              <a:spcAft>
                <a:spcPts val="400"/>
              </a:spcAft>
            </a:pPr>
            <a:r>
              <a:rPr sz="1200" b="0">
                <a:solidFill>
                  <a:srgbClr val="5B6372"/>
                </a:solidFill>
                <a:latin typeface="Arial"/>
              </a:rPr>
              <a:t>Name the quantum principle the activity relies on.</a:t>
            </a:r>
          </a:p>
        </p:txBody>
      </p:sp>
      <p:sp>
        <p:nvSpPr>
          <p:cNvPr id="20" name="Rectangle 19"/>
          <p:cNvSpPr/>
          <p:nvPr/>
        </p:nvSpPr>
        <p:spPr>
          <a:xfrm>
            <a:off x="7964424" y="4480560"/>
            <a:ext cx="3447288" cy="1463040"/>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1" name="Rectangle 20"/>
          <p:cNvSpPr/>
          <p:nvPr/>
        </p:nvSpPr>
        <p:spPr>
          <a:xfrm>
            <a:off x="7964424" y="4480560"/>
            <a:ext cx="3447288" cy="82296"/>
          </a:xfrm>
          <a:prstGeom prst="rect">
            <a:avLst/>
          </a:prstGeom>
          <a:solidFill>
            <a:srgbClr val="7C3AE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2" name="TextBox 21"/>
          <p:cNvSpPr txBox="1"/>
          <p:nvPr/>
        </p:nvSpPr>
        <p:spPr>
          <a:xfrm>
            <a:off x="8165592" y="4663440"/>
            <a:ext cx="3044952" cy="457200"/>
          </a:xfrm>
          <a:prstGeom prst="rect">
            <a:avLst/>
          </a:prstGeom>
          <a:noFill/>
        </p:spPr>
        <p:txBody>
          <a:bodyPr wrap="square" anchor="t">
            <a:spAutoFit/>
          </a:bodyPr>
          <a:lstStyle/>
          <a:p>
            <a:pPr algn="l">
              <a:spcAft>
                <a:spcPts val="400"/>
              </a:spcAft>
            </a:pPr>
            <a:r>
              <a:rPr sz="1350" b="1">
                <a:solidFill>
                  <a:srgbClr val="7C3AED"/>
                </a:solidFill>
                <a:latin typeface="Arial"/>
              </a:rPr>
              <a:t>Where would you use it?</a:t>
            </a:r>
          </a:p>
        </p:txBody>
      </p:sp>
      <p:sp>
        <p:nvSpPr>
          <p:cNvPr id="23" name="TextBox 22"/>
          <p:cNvSpPr txBox="1"/>
          <p:nvPr/>
        </p:nvSpPr>
        <p:spPr>
          <a:xfrm>
            <a:off x="8165592" y="5138928"/>
            <a:ext cx="3044952" cy="731520"/>
          </a:xfrm>
          <a:prstGeom prst="rect">
            <a:avLst/>
          </a:prstGeom>
          <a:noFill/>
        </p:spPr>
        <p:txBody>
          <a:bodyPr wrap="square" anchor="t">
            <a:spAutoFit/>
          </a:bodyPr>
          <a:lstStyle/>
          <a:p>
            <a:pPr algn="l">
              <a:spcAft>
                <a:spcPts val="400"/>
              </a:spcAft>
            </a:pPr>
            <a:r>
              <a:rPr sz="1200" b="0">
                <a:solidFill>
                  <a:srgbClr val="5B6372"/>
                </a:solidFill>
                <a:latin typeface="Arial"/>
              </a:rPr>
              <a:t>Give one realistic application in your own field.</a:t>
            </a:r>
          </a:p>
        </p:txBody>
      </p:sp>
      <p:sp>
        <p:nvSpPr>
          <p:cNvPr id="24" name="TextBox 23"/>
          <p:cNvSpPr txBox="1"/>
          <p:nvPr/>
        </p:nvSpPr>
        <p:spPr>
          <a:xfrm>
            <a:off x="365760" y="6446520"/>
            <a:ext cx="6858000" cy="320040"/>
          </a:xfrm>
          <a:prstGeom prst="rect">
            <a:avLst/>
          </a:prstGeom>
          <a:noFill/>
        </p:spPr>
        <p:txBody>
          <a:bodyPr wrap="square" anchor="t">
            <a:spAutoFit/>
          </a:bodyPr>
          <a:lstStyle/>
          <a:p>
            <a:pPr algn="l">
              <a:spcAft>
                <a:spcPts val="400"/>
              </a:spcAft>
            </a:pPr>
            <a:r>
              <a:rPr sz="900" b="0">
                <a:solidFill>
                  <a:srgbClr val="5B6372"/>
                </a:solidFill>
                <a:latin typeface="Arial"/>
              </a:rPr>
              <a:t>Securing the Future with Quantum Computing and Cryptography  ·  TGS-2024043419</a:t>
            </a:r>
          </a:p>
        </p:txBody>
      </p:sp>
      <p:sp>
        <p:nvSpPr>
          <p:cNvPr id="25" name="TextBox 24"/>
          <p:cNvSpPr txBox="1"/>
          <p:nvPr/>
        </p:nvSpPr>
        <p:spPr>
          <a:xfrm>
            <a:off x="4572000" y="6446520"/>
            <a:ext cx="3017520" cy="320040"/>
          </a:xfrm>
          <a:prstGeom prst="rect">
            <a:avLst/>
          </a:prstGeom>
          <a:noFill/>
        </p:spPr>
        <p:txBody>
          <a:bodyPr wrap="square" anchor="t">
            <a:spAutoFit/>
          </a:bodyPr>
          <a:lstStyle/>
          <a:p>
            <a:pPr algn="ctr">
              <a:spcAft>
                <a:spcPts val="400"/>
              </a:spcAft>
            </a:pPr>
            <a:r>
              <a:rPr sz="900" b="0">
                <a:solidFill>
                  <a:srgbClr val="5B6372"/>
                </a:solidFill>
                <a:latin typeface="Arial"/>
              </a:rPr>
              <a:t>© 2026 Tertiary Infotech Academy Pte Ltd</a:t>
            </a:r>
          </a:p>
        </p:txBody>
      </p:sp>
      <p:sp>
        <p:nvSpPr>
          <p:cNvPr id="26" name="TextBox 25"/>
          <p:cNvSpPr txBox="1"/>
          <p:nvPr/>
        </p:nvSpPr>
        <p:spPr>
          <a:xfrm>
            <a:off x="11338560" y="6446520"/>
            <a:ext cx="548640" cy="320040"/>
          </a:xfrm>
          <a:prstGeom prst="rect">
            <a:avLst/>
          </a:prstGeom>
          <a:noFill/>
        </p:spPr>
        <p:txBody>
          <a:bodyPr wrap="square" anchor="t">
            <a:spAutoFit/>
          </a:bodyPr>
          <a:lstStyle/>
          <a:p>
            <a:pPr algn="r">
              <a:spcAft>
                <a:spcPts val="400"/>
              </a:spcAft>
            </a:pPr>
            <a:r>
              <a:rPr sz="900" b="0">
                <a:solidFill>
                  <a:srgbClr val="5B6372"/>
                </a:solidFill>
                <a:latin typeface="Arial"/>
              </a:rPr>
              <a:t>128</a:t>
            </a:r>
          </a:p>
        </p:txBody>
      </p:sp>
    </p:spTree>
  </p:cSld>
  <p:clrMapOvr>
    <a:masterClrMapping/>
  </p:clrMapOvr>
</p:sld>
</file>

<file path=ppt/slides/slide130.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256032" cy="1417320"/>
          </a:xfrm>
          <a:prstGeom prst="rect">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777240" y="457200"/>
            <a:ext cx="10607040" cy="365760"/>
          </a:xfrm>
          <a:prstGeom prst="rect">
            <a:avLst/>
          </a:prstGeom>
          <a:noFill/>
        </p:spPr>
        <p:txBody>
          <a:bodyPr wrap="square" anchor="t">
            <a:spAutoFit/>
          </a:bodyPr>
          <a:lstStyle/>
          <a:p>
            <a:pPr algn="l">
              <a:spcAft>
                <a:spcPts val="400"/>
              </a:spcAft>
            </a:pPr>
            <a:r>
              <a:rPr sz="1400" b="1">
                <a:solidFill>
                  <a:srgbClr val="1F6FEB"/>
                </a:solidFill>
                <a:latin typeface="Arial"/>
              </a:rPr>
              <a:t>TOPIC RECAP</a:t>
            </a:r>
          </a:p>
        </p:txBody>
      </p:sp>
      <p:sp>
        <p:nvSpPr>
          <p:cNvPr id="5" name="TextBox 4"/>
          <p:cNvSpPr txBox="1"/>
          <p:nvPr/>
        </p:nvSpPr>
        <p:spPr>
          <a:xfrm>
            <a:off x="777240" y="822960"/>
            <a:ext cx="10881360" cy="822960"/>
          </a:xfrm>
          <a:prstGeom prst="rect">
            <a:avLst/>
          </a:prstGeom>
          <a:noFill/>
        </p:spPr>
        <p:txBody>
          <a:bodyPr wrap="square" anchor="t">
            <a:spAutoFit/>
          </a:bodyPr>
          <a:lstStyle/>
          <a:p>
            <a:pPr algn="l">
              <a:spcAft>
                <a:spcPts val="400"/>
              </a:spcAft>
            </a:pPr>
            <a:r>
              <a:rPr sz="2900" b="1">
                <a:solidFill>
                  <a:srgbClr val="161B26"/>
                </a:solidFill>
                <a:latin typeface="Arial"/>
              </a:rPr>
              <a:t>Recap — Quantum Protocols</a:t>
            </a:r>
          </a:p>
        </p:txBody>
      </p:sp>
      <p:sp>
        <p:nvSpPr>
          <p:cNvPr id="6" name="Rectangle 5"/>
          <p:cNvSpPr/>
          <p:nvPr/>
        </p:nvSpPr>
        <p:spPr>
          <a:xfrm>
            <a:off x="777240" y="1554480"/>
            <a:ext cx="10634472" cy="18288"/>
          </a:xfrm>
          <a:prstGeom prst="rect">
            <a:avLst/>
          </a:prstGeom>
          <a:solidFill>
            <a:srgbClr val="E2E8F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TextBox 6"/>
          <p:cNvSpPr txBox="1"/>
          <p:nvPr/>
        </p:nvSpPr>
        <p:spPr>
          <a:xfrm>
            <a:off x="777240" y="1783080"/>
            <a:ext cx="10607040" cy="4480560"/>
          </a:xfrm>
          <a:prstGeom prst="rect">
            <a:avLst/>
          </a:prstGeom>
          <a:noFill/>
        </p:spPr>
        <p:txBody>
          <a:bodyPr wrap="square">
            <a:spAutoFit/>
          </a:bodyPr>
          <a:lstStyle/>
          <a:p>
            <a:pPr>
              <a:spcAft>
                <a:spcPts val="1000"/>
              </a:spcAft>
            </a:pPr>
            <a:r>
              <a:rPr sz="1600">
                <a:solidFill>
                  <a:srgbClr val="161B26"/>
                </a:solidFill>
                <a:latin typeface="Arial"/>
              </a:rPr>
              <a:t>•  No-cloning theorem</a:t>
            </a:r>
          </a:p>
          <a:p>
            <a:pPr>
              <a:spcAft>
                <a:spcPts val="1000"/>
              </a:spcAft>
            </a:pPr>
            <a:r>
              <a:rPr sz="1600">
                <a:solidFill>
                  <a:srgbClr val="161B26"/>
                </a:solidFill>
                <a:latin typeface="Arial"/>
              </a:rPr>
              <a:t>•  Quantum teleportation</a:t>
            </a:r>
          </a:p>
          <a:p>
            <a:pPr>
              <a:spcAft>
                <a:spcPts val="1000"/>
              </a:spcAft>
            </a:pPr>
            <a:r>
              <a:rPr sz="1600">
                <a:solidFill>
                  <a:srgbClr val="161B26"/>
                </a:solidFill>
                <a:latin typeface="Arial"/>
              </a:rPr>
              <a:t>•  Superdense coding</a:t>
            </a:r>
          </a:p>
          <a:p>
            <a:pPr>
              <a:spcAft>
                <a:spcPts val="1000"/>
              </a:spcAft>
            </a:pPr>
            <a:r>
              <a:rPr sz="1600">
                <a:solidFill>
                  <a:srgbClr val="161B26"/>
                </a:solidFill>
                <a:latin typeface="Arial"/>
              </a:rPr>
              <a:t>•  BB84 QKD</a:t>
            </a:r>
          </a:p>
          <a:p>
            <a:pPr>
              <a:spcAft>
                <a:spcPts val="1000"/>
              </a:spcAft>
            </a:pPr>
            <a:r>
              <a:rPr sz="1600">
                <a:solidFill>
                  <a:srgbClr val="161B26"/>
                </a:solidFill>
                <a:latin typeface="Arial"/>
              </a:rPr>
              <a:t>•  Eavesdropping detection</a:t>
            </a:r>
          </a:p>
          <a:p>
            <a:pPr>
              <a:spcAft>
                <a:spcPts val="1000"/>
              </a:spcAft>
            </a:pPr>
            <a:r>
              <a:rPr sz="1600">
                <a:solidFill>
                  <a:srgbClr val="161B26"/>
                </a:solidFill>
                <a:latin typeface="Arial"/>
              </a:rPr>
              <a:t>•  CHSH game</a:t>
            </a:r>
          </a:p>
        </p:txBody>
      </p:sp>
      <p:sp>
        <p:nvSpPr>
          <p:cNvPr id="8" name="TextBox 7"/>
          <p:cNvSpPr txBox="1"/>
          <p:nvPr/>
        </p:nvSpPr>
        <p:spPr>
          <a:xfrm>
            <a:off x="365760" y="6446520"/>
            <a:ext cx="6858000" cy="320040"/>
          </a:xfrm>
          <a:prstGeom prst="rect">
            <a:avLst/>
          </a:prstGeom>
          <a:noFill/>
        </p:spPr>
        <p:txBody>
          <a:bodyPr wrap="square" anchor="t">
            <a:spAutoFit/>
          </a:bodyPr>
          <a:lstStyle/>
          <a:p>
            <a:pPr algn="l">
              <a:spcAft>
                <a:spcPts val="400"/>
              </a:spcAft>
            </a:pPr>
            <a:r>
              <a:rPr sz="900" b="0">
                <a:solidFill>
                  <a:srgbClr val="5B6372"/>
                </a:solidFill>
                <a:latin typeface="Arial"/>
              </a:rPr>
              <a:t>Securing the Future with Quantum Computing and Cryptography  ·  TGS-2024043419</a:t>
            </a:r>
          </a:p>
        </p:txBody>
      </p:sp>
      <p:sp>
        <p:nvSpPr>
          <p:cNvPr id="9" name="TextBox 8"/>
          <p:cNvSpPr txBox="1"/>
          <p:nvPr/>
        </p:nvSpPr>
        <p:spPr>
          <a:xfrm>
            <a:off x="4572000" y="6446520"/>
            <a:ext cx="3017520" cy="320040"/>
          </a:xfrm>
          <a:prstGeom prst="rect">
            <a:avLst/>
          </a:prstGeom>
          <a:noFill/>
        </p:spPr>
        <p:txBody>
          <a:bodyPr wrap="square" anchor="t">
            <a:spAutoFit/>
          </a:bodyPr>
          <a:lstStyle/>
          <a:p>
            <a:pPr algn="ctr">
              <a:spcAft>
                <a:spcPts val="400"/>
              </a:spcAft>
            </a:pPr>
            <a:r>
              <a:rPr sz="900" b="0">
                <a:solidFill>
                  <a:srgbClr val="5B6372"/>
                </a:solidFill>
                <a:latin typeface="Arial"/>
              </a:rPr>
              <a:t>© 2026 Tertiary Infotech Academy Pte Ltd</a:t>
            </a:r>
          </a:p>
        </p:txBody>
      </p:sp>
      <p:sp>
        <p:nvSpPr>
          <p:cNvPr id="10" name="TextBox 9"/>
          <p:cNvSpPr txBox="1"/>
          <p:nvPr/>
        </p:nvSpPr>
        <p:spPr>
          <a:xfrm>
            <a:off x="11338560" y="6446520"/>
            <a:ext cx="548640" cy="320040"/>
          </a:xfrm>
          <a:prstGeom prst="rect">
            <a:avLst/>
          </a:prstGeom>
          <a:noFill/>
        </p:spPr>
        <p:txBody>
          <a:bodyPr wrap="square" anchor="t">
            <a:spAutoFit/>
          </a:bodyPr>
          <a:lstStyle/>
          <a:p>
            <a:pPr algn="r">
              <a:spcAft>
                <a:spcPts val="400"/>
              </a:spcAft>
            </a:pPr>
            <a:r>
              <a:rPr sz="900" b="0">
                <a:solidFill>
                  <a:srgbClr val="5B6372"/>
                </a:solidFill>
                <a:latin typeface="Arial"/>
              </a:rPr>
              <a:t>129</a:t>
            </a:r>
          </a:p>
        </p:txBody>
      </p:sp>
    </p:spTree>
  </p:cSld>
  <p:clrMapOvr>
    <a:masterClrMapping/>
  </p:clrMapOvr>
</p:sld>
</file>

<file path=ppt/slides/slide131.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256032" cy="6858000"/>
          </a:xfrm>
          <a:prstGeom prst="rect">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Rectangle 3"/>
          <p:cNvSpPr/>
          <p:nvPr/>
        </p:nvSpPr>
        <p:spPr>
          <a:xfrm>
            <a:off x="777240" y="2286000"/>
            <a:ext cx="128016" cy="1828800"/>
          </a:xfrm>
          <a:prstGeom prst="rect">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TextBox 4"/>
          <p:cNvSpPr txBox="1"/>
          <p:nvPr/>
        </p:nvSpPr>
        <p:spPr>
          <a:xfrm>
            <a:off x="1143000" y="2331720"/>
            <a:ext cx="10058400" cy="548640"/>
          </a:xfrm>
          <a:prstGeom prst="rect">
            <a:avLst/>
          </a:prstGeom>
          <a:noFill/>
        </p:spPr>
        <p:txBody>
          <a:bodyPr wrap="square" anchor="t">
            <a:spAutoFit/>
          </a:bodyPr>
          <a:lstStyle/>
          <a:p>
            <a:pPr algn="l">
              <a:spcAft>
                <a:spcPts val="400"/>
              </a:spcAft>
            </a:pPr>
            <a:r>
              <a:rPr sz="1800" b="1">
                <a:solidFill>
                  <a:srgbClr val="1F6FEB"/>
                </a:solidFill>
                <a:latin typeface="Arial"/>
              </a:rPr>
              <a:t>TOPIC 05</a:t>
            </a:r>
          </a:p>
        </p:txBody>
      </p:sp>
      <p:sp>
        <p:nvSpPr>
          <p:cNvPr id="6" name="TextBox 5"/>
          <p:cNvSpPr txBox="1"/>
          <p:nvPr/>
        </p:nvSpPr>
        <p:spPr>
          <a:xfrm>
            <a:off x="1143000" y="2743200"/>
            <a:ext cx="9509760" cy="1463040"/>
          </a:xfrm>
          <a:prstGeom prst="rect">
            <a:avLst/>
          </a:prstGeom>
          <a:noFill/>
        </p:spPr>
        <p:txBody>
          <a:bodyPr wrap="square" anchor="t">
            <a:spAutoFit/>
          </a:bodyPr>
          <a:lstStyle/>
          <a:p>
            <a:pPr algn="l">
              <a:spcAft>
                <a:spcPts val="400"/>
              </a:spcAft>
            </a:pPr>
            <a:r>
              <a:rPr sz="4000" b="1">
                <a:solidFill>
                  <a:srgbClr val="161B26"/>
                </a:solidFill>
                <a:latin typeface="Arial"/>
              </a:rPr>
              <a:t>Quantum Algorithms</a:t>
            </a:r>
          </a:p>
        </p:txBody>
      </p:sp>
      <p:sp>
        <p:nvSpPr>
          <p:cNvPr id="7" name="TextBox 6"/>
          <p:cNvSpPr txBox="1"/>
          <p:nvPr/>
        </p:nvSpPr>
        <p:spPr>
          <a:xfrm>
            <a:off x="1161288" y="4251960"/>
            <a:ext cx="9692640" cy="822960"/>
          </a:xfrm>
          <a:prstGeom prst="rect">
            <a:avLst/>
          </a:prstGeom>
          <a:noFill/>
        </p:spPr>
        <p:txBody>
          <a:bodyPr wrap="square" anchor="t">
            <a:spAutoFit/>
          </a:bodyPr>
          <a:lstStyle/>
          <a:p>
            <a:pPr algn="l">
              <a:spcAft>
                <a:spcPts val="400"/>
              </a:spcAft>
            </a:pPr>
            <a:r>
              <a:rPr sz="1500" b="0">
                <a:solidFill>
                  <a:srgbClr val="5B6372"/>
                </a:solidFill>
                <a:latin typeface="Arial"/>
              </a:rPr>
              <a:t>Deutsch · Deutsch-Jozsa · Bernstein-Vazirani · Grover · Quantum Fourier Transform</a:t>
            </a:r>
          </a:p>
        </p:txBody>
      </p:sp>
      <p:sp>
        <p:nvSpPr>
          <p:cNvPr id="8" name="TextBox 7"/>
          <p:cNvSpPr txBox="1"/>
          <p:nvPr/>
        </p:nvSpPr>
        <p:spPr>
          <a:xfrm>
            <a:off x="9144000" y="640080"/>
            <a:ext cx="2560320" cy="1463040"/>
          </a:xfrm>
          <a:prstGeom prst="rect">
            <a:avLst/>
          </a:prstGeom>
          <a:noFill/>
        </p:spPr>
        <p:txBody>
          <a:bodyPr wrap="square" anchor="t">
            <a:spAutoFit/>
          </a:bodyPr>
          <a:lstStyle/>
          <a:p>
            <a:pPr algn="r">
              <a:spcAft>
                <a:spcPts val="400"/>
              </a:spcAft>
            </a:pPr>
            <a:r>
              <a:rPr sz="7200" b="1">
                <a:solidFill>
                  <a:srgbClr val="E2E8F0"/>
                </a:solidFill>
                <a:latin typeface="Arial"/>
              </a:rPr>
              <a:t>05</a:t>
            </a:r>
          </a:p>
        </p:txBody>
      </p:sp>
      <p:sp>
        <p:nvSpPr>
          <p:cNvPr id="9" name="TextBox 8"/>
          <p:cNvSpPr txBox="1"/>
          <p:nvPr/>
        </p:nvSpPr>
        <p:spPr>
          <a:xfrm>
            <a:off x="365760" y="6446520"/>
            <a:ext cx="6858000" cy="320040"/>
          </a:xfrm>
          <a:prstGeom prst="rect">
            <a:avLst/>
          </a:prstGeom>
          <a:noFill/>
        </p:spPr>
        <p:txBody>
          <a:bodyPr wrap="square" anchor="t">
            <a:spAutoFit/>
          </a:bodyPr>
          <a:lstStyle/>
          <a:p>
            <a:pPr algn="l">
              <a:spcAft>
                <a:spcPts val="400"/>
              </a:spcAft>
            </a:pPr>
            <a:r>
              <a:rPr sz="900" b="0">
                <a:solidFill>
                  <a:srgbClr val="5B6372"/>
                </a:solidFill>
                <a:latin typeface="Arial"/>
              </a:rPr>
              <a:t>Securing the Future with Quantum Computing and Cryptography  ·  TGS-2024043419</a:t>
            </a:r>
          </a:p>
        </p:txBody>
      </p:sp>
      <p:sp>
        <p:nvSpPr>
          <p:cNvPr id="10" name="TextBox 9"/>
          <p:cNvSpPr txBox="1"/>
          <p:nvPr/>
        </p:nvSpPr>
        <p:spPr>
          <a:xfrm>
            <a:off x="4572000" y="6446520"/>
            <a:ext cx="3017520" cy="320040"/>
          </a:xfrm>
          <a:prstGeom prst="rect">
            <a:avLst/>
          </a:prstGeom>
          <a:noFill/>
        </p:spPr>
        <p:txBody>
          <a:bodyPr wrap="square" anchor="t">
            <a:spAutoFit/>
          </a:bodyPr>
          <a:lstStyle/>
          <a:p>
            <a:pPr algn="ctr">
              <a:spcAft>
                <a:spcPts val="400"/>
              </a:spcAft>
            </a:pPr>
            <a:r>
              <a:rPr sz="900" b="0">
                <a:solidFill>
                  <a:srgbClr val="5B6372"/>
                </a:solidFill>
                <a:latin typeface="Arial"/>
              </a:rPr>
              <a:t>© 2026 Tertiary Infotech Academy Pte Ltd</a:t>
            </a:r>
          </a:p>
        </p:txBody>
      </p:sp>
      <p:sp>
        <p:nvSpPr>
          <p:cNvPr id="11" name="TextBox 10"/>
          <p:cNvSpPr txBox="1"/>
          <p:nvPr/>
        </p:nvSpPr>
        <p:spPr>
          <a:xfrm>
            <a:off x="11338560" y="6446520"/>
            <a:ext cx="548640" cy="320040"/>
          </a:xfrm>
          <a:prstGeom prst="rect">
            <a:avLst/>
          </a:prstGeom>
          <a:noFill/>
        </p:spPr>
        <p:txBody>
          <a:bodyPr wrap="square" anchor="t">
            <a:spAutoFit/>
          </a:bodyPr>
          <a:lstStyle/>
          <a:p>
            <a:pPr algn="r">
              <a:spcAft>
                <a:spcPts val="400"/>
              </a:spcAft>
            </a:pPr>
            <a:r>
              <a:rPr sz="900" b="0">
                <a:solidFill>
                  <a:srgbClr val="5B6372"/>
                </a:solidFill>
                <a:latin typeface="Arial"/>
              </a:rPr>
              <a:t>130</a:t>
            </a:r>
          </a:p>
        </p:txBody>
      </p:sp>
    </p:spTree>
  </p:cSld>
  <p:clrMapOvr>
    <a:masterClrMapping/>
  </p:clrMapOvr>
</p:sld>
</file>

<file path=ppt/slides/slide132.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256032" cy="1417320"/>
          </a:xfrm>
          <a:prstGeom prst="rect">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777240" y="457200"/>
            <a:ext cx="10607040" cy="365760"/>
          </a:xfrm>
          <a:prstGeom prst="rect">
            <a:avLst/>
          </a:prstGeom>
          <a:noFill/>
        </p:spPr>
        <p:txBody>
          <a:bodyPr wrap="square" anchor="t">
            <a:spAutoFit/>
          </a:bodyPr>
          <a:lstStyle/>
          <a:p>
            <a:pPr algn="l">
              <a:spcAft>
                <a:spcPts val="400"/>
              </a:spcAft>
            </a:pPr>
            <a:r>
              <a:rPr sz="1400" b="1">
                <a:solidFill>
                  <a:srgbClr val="1F6FEB"/>
                </a:solidFill>
                <a:latin typeface="Arial"/>
              </a:rPr>
              <a:t>MAPS TO LO6, LO7</a:t>
            </a:r>
          </a:p>
        </p:txBody>
      </p:sp>
      <p:sp>
        <p:nvSpPr>
          <p:cNvPr id="5" name="TextBox 4"/>
          <p:cNvSpPr txBox="1"/>
          <p:nvPr/>
        </p:nvSpPr>
        <p:spPr>
          <a:xfrm>
            <a:off x="777240" y="822960"/>
            <a:ext cx="10881360" cy="822960"/>
          </a:xfrm>
          <a:prstGeom prst="rect">
            <a:avLst/>
          </a:prstGeom>
          <a:noFill/>
        </p:spPr>
        <p:txBody>
          <a:bodyPr wrap="square" anchor="t">
            <a:spAutoFit/>
          </a:bodyPr>
          <a:lstStyle/>
          <a:p>
            <a:pPr algn="l">
              <a:spcAft>
                <a:spcPts val="400"/>
              </a:spcAft>
            </a:pPr>
            <a:r>
              <a:rPr sz="2900" b="1">
                <a:solidFill>
                  <a:srgbClr val="161B26"/>
                </a:solidFill>
                <a:latin typeface="Arial"/>
              </a:rPr>
              <a:t>Key Concepts — Quantum Algorithms</a:t>
            </a:r>
          </a:p>
        </p:txBody>
      </p:sp>
      <p:sp>
        <p:nvSpPr>
          <p:cNvPr id="6" name="Rectangle 5"/>
          <p:cNvSpPr/>
          <p:nvPr/>
        </p:nvSpPr>
        <p:spPr>
          <a:xfrm>
            <a:off x="777240" y="1554480"/>
            <a:ext cx="10634472" cy="18288"/>
          </a:xfrm>
          <a:prstGeom prst="rect">
            <a:avLst/>
          </a:prstGeom>
          <a:solidFill>
            <a:srgbClr val="E2E8F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Rectangle 6"/>
          <p:cNvSpPr/>
          <p:nvPr/>
        </p:nvSpPr>
        <p:spPr>
          <a:xfrm>
            <a:off x="777240" y="1783080"/>
            <a:ext cx="5180076" cy="1298448"/>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Rectangle 7"/>
          <p:cNvSpPr/>
          <p:nvPr/>
        </p:nvSpPr>
        <p:spPr>
          <a:xfrm>
            <a:off x="777240" y="1783080"/>
            <a:ext cx="91440" cy="1298448"/>
          </a:xfrm>
          <a:prstGeom prst="rect">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Oval 8"/>
          <p:cNvSpPr/>
          <p:nvPr/>
        </p:nvSpPr>
        <p:spPr>
          <a:xfrm>
            <a:off x="1033272" y="2157984"/>
            <a:ext cx="548640" cy="548640"/>
          </a:xfrm>
          <a:prstGeom prst="ellipse">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TextBox 9"/>
          <p:cNvSpPr txBox="1"/>
          <p:nvPr/>
        </p:nvSpPr>
        <p:spPr>
          <a:xfrm>
            <a:off x="1033272" y="2157984"/>
            <a:ext cx="548640" cy="548640"/>
          </a:xfrm>
          <a:prstGeom prst="rect">
            <a:avLst/>
          </a:prstGeom>
          <a:noFill/>
        </p:spPr>
        <p:txBody>
          <a:bodyPr wrap="square" anchor="ctr">
            <a:spAutoFit/>
          </a:bodyPr>
          <a:lstStyle/>
          <a:p>
            <a:pPr algn="ctr">
              <a:spcAft>
                <a:spcPts val="400"/>
              </a:spcAft>
            </a:pPr>
            <a:r>
              <a:rPr sz="1800" b="1">
                <a:solidFill>
                  <a:srgbClr val="FFFFFF"/>
                </a:solidFill>
                <a:latin typeface="Arial"/>
              </a:rPr>
              <a:t>1</a:t>
            </a:r>
          </a:p>
        </p:txBody>
      </p:sp>
      <p:sp>
        <p:nvSpPr>
          <p:cNvPr id="11" name="TextBox 10"/>
          <p:cNvSpPr txBox="1"/>
          <p:nvPr/>
        </p:nvSpPr>
        <p:spPr>
          <a:xfrm>
            <a:off x="1764792" y="1892808"/>
            <a:ext cx="3973068" cy="1115568"/>
          </a:xfrm>
          <a:prstGeom prst="rect">
            <a:avLst/>
          </a:prstGeom>
          <a:noFill/>
        </p:spPr>
        <p:txBody>
          <a:bodyPr wrap="square" anchor="ctr">
            <a:spAutoFit/>
          </a:bodyPr>
          <a:lstStyle/>
          <a:p>
            <a:pPr algn="l">
              <a:spcAft>
                <a:spcPts val="300"/>
              </a:spcAft>
            </a:pPr>
            <a:r>
              <a:rPr sz="1450" b="1">
                <a:solidFill>
                  <a:srgbClr val="161B26"/>
                </a:solidFill>
                <a:latin typeface="Arial"/>
              </a:rPr>
              <a:t>The query (oracle) model</a:t>
            </a:r>
          </a:p>
          <a:p>
            <a:pPr algn="l">
              <a:spcAft>
                <a:spcPts val="300"/>
              </a:spcAft>
            </a:pPr>
            <a:r>
              <a:rPr sz="1100" b="0">
                <a:solidFill>
                  <a:srgbClr val="5B6372"/>
                </a:solidFill>
                <a:latin typeface="Arial"/>
              </a:rPr>
              <a:t>Algorithms are compared by how many times they query a black-box function — the standard measure of quantum advantage.</a:t>
            </a:r>
          </a:p>
        </p:txBody>
      </p:sp>
      <p:sp>
        <p:nvSpPr>
          <p:cNvPr id="12" name="Rectangle 11"/>
          <p:cNvSpPr/>
          <p:nvPr/>
        </p:nvSpPr>
        <p:spPr>
          <a:xfrm>
            <a:off x="6231636" y="1783080"/>
            <a:ext cx="5180076" cy="1298448"/>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 name="Rectangle 12"/>
          <p:cNvSpPr/>
          <p:nvPr/>
        </p:nvSpPr>
        <p:spPr>
          <a:xfrm>
            <a:off x="6231636" y="1783080"/>
            <a:ext cx="91440" cy="1298448"/>
          </a:xfrm>
          <a:prstGeom prst="rect">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 name="Oval 13"/>
          <p:cNvSpPr/>
          <p:nvPr/>
        </p:nvSpPr>
        <p:spPr>
          <a:xfrm>
            <a:off x="6487668" y="2157984"/>
            <a:ext cx="548640" cy="548640"/>
          </a:xfrm>
          <a:prstGeom prst="ellipse">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5" name="TextBox 14"/>
          <p:cNvSpPr txBox="1"/>
          <p:nvPr/>
        </p:nvSpPr>
        <p:spPr>
          <a:xfrm>
            <a:off x="6487668" y="2157984"/>
            <a:ext cx="548640" cy="548640"/>
          </a:xfrm>
          <a:prstGeom prst="rect">
            <a:avLst/>
          </a:prstGeom>
          <a:noFill/>
        </p:spPr>
        <p:txBody>
          <a:bodyPr wrap="square" anchor="ctr">
            <a:spAutoFit/>
          </a:bodyPr>
          <a:lstStyle/>
          <a:p>
            <a:pPr algn="ctr">
              <a:spcAft>
                <a:spcPts val="400"/>
              </a:spcAft>
            </a:pPr>
            <a:r>
              <a:rPr sz="1800" b="1">
                <a:solidFill>
                  <a:srgbClr val="FFFFFF"/>
                </a:solidFill>
                <a:latin typeface="Arial"/>
              </a:rPr>
              <a:t>2</a:t>
            </a:r>
          </a:p>
        </p:txBody>
      </p:sp>
      <p:sp>
        <p:nvSpPr>
          <p:cNvPr id="16" name="TextBox 15"/>
          <p:cNvSpPr txBox="1"/>
          <p:nvPr/>
        </p:nvSpPr>
        <p:spPr>
          <a:xfrm>
            <a:off x="7219188" y="1892808"/>
            <a:ext cx="3973068" cy="1115568"/>
          </a:xfrm>
          <a:prstGeom prst="rect">
            <a:avLst/>
          </a:prstGeom>
          <a:noFill/>
        </p:spPr>
        <p:txBody>
          <a:bodyPr wrap="square" anchor="ctr">
            <a:spAutoFit/>
          </a:bodyPr>
          <a:lstStyle/>
          <a:p>
            <a:pPr algn="l">
              <a:spcAft>
                <a:spcPts val="300"/>
              </a:spcAft>
            </a:pPr>
            <a:r>
              <a:rPr sz="1450" b="1">
                <a:solidFill>
                  <a:srgbClr val="161B26"/>
                </a:solidFill>
                <a:latin typeface="Arial"/>
              </a:rPr>
              <a:t>Deutsch algorithm</a:t>
            </a:r>
          </a:p>
          <a:p>
            <a:pPr algn="l">
              <a:spcAft>
                <a:spcPts val="300"/>
              </a:spcAft>
            </a:pPr>
            <a:r>
              <a:rPr sz="1100" b="0">
                <a:solidFill>
                  <a:srgbClr val="5B6372"/>
                </a:solidFill>
                <a:latin typeface="Arial"/>
              </a:rPr>
              <a:t>Decides whether f:{0,1}→{0,1} is constant or balanced with ONE query; classically two are required.</a:t>
            </a:r>
          </a:p>
        </p:txBody>
      </p:sp>
      <p:sp>
        <p:nvSpPr>
          <p:cNvPr id="17" name="Rectangle 16"/>
          <p:cNvSpPr/>
          <p:nvPr/>
        </p:nvSpPr>
        <p:spPr>
          <a:xfrm>
            <a:off x="777240" y="3319272"/>
            <a:ext cx="5180076" cy="1298448"/>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8" name="Rectangle 17"/>
          <p:cNvSpPr/>
          <p:nvPr/>
        </p:nvSpPr>
        <p:spPr>
          <a:xfrm>
            <a:off x="777240" y="3319272"/>
            <a:ext cx="91440" cy="1298448"/>
          </a:xfrm>
          <a:prstGeom prst="rect">
            <a:avLst/>
          </a:prstGeom>
          <a:solidFill>
            <a:srgbClr val="7C3AE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9" name="Oval 18"/>
          <p:cNvSpPr/>
          <p:nvPr/>
        </p:nvSpPr>
        <p:spPr>
          <a:xfrm>
            <a:off x="1033272" y="3694176"/>
            <a:ext cx="548640" cy="548640"/>
          </a:xfrm>
          <a:prstGeom prst="ellipse">
            <a:avLst/>
          </a:prstGeom>
          <a:solidFill>
            <a:srgbClr val="7C3AE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0" name="TextBox 19"/>
          <p:cNvSpPr txBox="1"/>
          <p:nvPr/>
        </p:nvSpPr>
        <p:spPr>
          <a:xfrm>
            <a:off x="1033272" y="3694176"/>
            <a:ext cx="548640" cy="548640"/>
          </a:xfrm>
          <a:prstGeom prst="rect">
            <a:avLst/>
          </a:prstGeom>
          <a:noFill/>
        </p:spPr>
        <p:txBody>
          <a:bodyPr wrap="square" anchor="ctr">
            <a:spAutoFit/>
          </a:bodyPr>
          <a:lstStyle/>
          <a:p>
            <a:pPr algn="ctr">
              <a:spcAft>
                <a:spcPts val="400"/>
              </a:spcAft>
            </a:pPr>
            <a:r>
              <a:rPr sz="1800" b="1">
                <a:solidFill>
                  <a:srgbClr val="FFFFFF"/>
                </a:solidFill>
                <a:latin typeface="Arial"/>
              </a:rPr>
              <a:t>3</a:t>
            </a:r>
          </a:p>
        </p:txBody>
      </p:sp>
      <p:sp>
        <p:nvSpPr>
          <p:cNvPr id="21" name="TextBox 20"/>
          <p:cNvSpPr txBox="1"/>
          <p:nvPr/>
        </p:nvSpPr>
        <p:spPr>
          <a:xfrm>
            <a:off x="1764792" y="3429000"/>
            <a:ext cx="3973068" cy="1115568"/>
          </a:xfrm>
          <a:prstGeom prst="rect">
            <a:avLst/>
          </a:prstGeom>
          <a:noFill/>
        </p:spPr>
        <p:txBody>
          <a:bodyPr wrap="square" anchor="ctr">
            <a:spAutoFit/>
          </a:bodyPr>
          <a:lstStyle/>
          <a:p>
            <a:pPr algn="l">
              <a:spcAft>
                <a:spcPts val="300"/>
              </a:spcAft>
            </a:pPr>
            <a:r>
              <a:rPr sz="1450" b="1">
                <a:solidFill>
                  <a:srgbClr val="161B26"/>
                </a:solidFill>
                <a:latin typeface="Arial"/>
              </a:rPr>
              <a:t>Deutsch-Jozsa</a:t>
            </a:r>
          </a:p>
          <a:p>
            <a:pPr algn="l">
              <a:spcAft>
                <a:spcPts val="300"/>
              </a:spcAft>
            </a:pPr>
            <a:r>
              <a:rPr sz="1100" b="0">
                <a:solidFill>
                  <a:srgbClr val="5B6372"/>
                </a:solidFill>
                <a:latin typeface="Arial"/>
              </a:rPr>
              <a:t>Extends the idea to n bits — one query versus 2ⁿ⁻¹+1 classical queries in the worst case: exponential separation.</a:t>
            </a:r>
          </a:p>
        </p:txBody>
      </p:sp>
      <p:sp>
        <p:nvSpPr>
          <p:cNvPr id="22" name="Rectangle 21"/>
          <p:cNvSpPr/>
          <p:nvPr/>
        </p:nvSpPr>
        <p:spPr>
          <a:xfrm>
            <a:off x="6231636" y="3319272"/>
            <a:ext cx="5180076" cy="1298448"/>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3" name="Rectangle 22"/>
          <p:cNvSpPr/>
          <p:nvPr/>
        </p:nvSpPr>
        <p:spPr>
          <a:xfrm>
            <a:off x="6231636" y="3319272"/>
            <a:ext cx="91440" cy="1298448"/>
          </a:xfrm>
          <a:prstGeom prst="rect">
            <a:avLst/>
          </a:prstGeom>
          <a:solidFill>
            <a:srgbClr val="F59E0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4" name="Oval 23"/>
          <p:cNvSpPr/>
          <p:nvPr/>
        </p:nvSpPr>
        <p:spPr>
          <a:xfrm>
            <a:off x="6487668" y="3694176"/>
            <a:ext cx="548640" cy="548640"/>
          </a:xfrm>
          <a:prstGeom prst="ellipse">
            <a:avLst/>
          </a:prstGeom>
          <a:solidFill>
            <a:srgbClr val="F59E0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5" name="TextBox 24"/>
          <p:cNvSpPr txBox="1"/>
          <p:nvPr/>
        </p:nvSpPr>
        <p:spPr>
          <a:xfrm>
            <a:off x="6487668" y="3694176"/>
            <a:ext cx="548640" cy="548640"/>
          </a:xfrm>
          <a:prstGeom prst="rect">
            <a:avLst/>
          </a:prstGeom>
          <a:noFill/>
        </p:spPr>
        <p:txBody>
          <a:bodyPr wrap="square" anchor="ctr">
            <a:spAutoFit/>
          </a:bodyPr>
          <a:lstStyle/>
          <a:p>
            <a:pPr algn="ctr">
              <a:spcAft>
                <a:spcPts val="400"/>
              </a:spcAft>
            </a:pPr>
            <a:r>
              <a:rPr sz="1800" b="1">
                <a:solidFill>
                  <a:srgbClr val="FFFFFF"/>
                </a:solidFill>
                <a:latin typeface="Arial"/>
              </a:rPr>
              <a:t>4</a:t>
            </a:r>
          </a:p>
        </p:txBody>
      </p:sp>
      <p:sp>
        <p:nvSpPr>
          <p:cNvPr id="26" name="TextBox 25"/>
          <p:cNvSpPr txBox="1"/>
          <p:nvPr/>
        </p:nvSpPr>
        <p:spPr>
          <a:xfrm>
            <a:off x="7219188" y="3429000"/>
            <a:ext cx="3973068" cy="1115568"/>
          </a:xfrm>
          <a:prstGeom prst="rect">
            <a:avLst/>
          </a:prstGeom>
          <a:noFill/>
        </p:spPr>
        <p:txBody>
          <a:bodyPr wrap="square" anchor="ctr">
            <a:spAutoFit/>
          </a:bodyPr>
          <a:lstStyle/>
          <a:p>
            <a:pPr algn="l">
              <a:spcAft>
                <a:spcPts val="300"/>
              </a:spcAft>
            </a:pPr>
            <a:r>
              <a:rPr sz="1450" b="1">
                <a:solidFill>
                  <a:srgbClr val="161B26"/>
                </a:solidFill>
                <a:latin typeface="Arial"/>
              </a:rPr>
              <a:t>Bernstein-Vazirani</a:t>
            </a:r>
          </a:p>
          <a:p>
            <a:pPr algn="l">
              <a:spcAft>
                <a:spcPts val="300"/>
              </a:spcAft>
            </a:pPr>
            <a:r>
              <a:rPr sz="1100" b="0">
                <a:solidFill>
                  <a:srgbClr val="5B6372"/>
                </a:solidFill>
                <a:latin typeface="Arial"/>
              </a:rPr>
              <a:t>Recovers an n-bit hidden string s from f(x) = s·x (mod 2) in a single query instead of n.</a:t>
            </a:r>
          </a:p>
        </p:txBody>
      </p:sp>
      <p:sp>
        <p:nvSpPr>
          <p:cNvPr id="27" name="Rectangle 26"/>
          <p:cNvSpPr/>
          <p:nvPr/>
        </p:nvSpPr>
        <p:spPr>
          <a:xfrm>
            <a:off x="777240" y="4855464"/>
            <a:ext cx="5180076" cy="1298448"/>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8" name="Rectangle 27"/>
          <p:cNvSpPr/>
          <p:nvPr/>
        </p:nvSpPr>
        <p:spPr>
          <a:xfrm>
            <a:off x="777240" y="4855464"/>
            <a:ext cx="91440" cy="1298448"/>
          </a:xfrm>
          <a:prstGeom prst="rect">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9" name="Oval 28"/>
          <p:cNvSpPr/>
          <p:nvPr/>
        </p:nvSpPr>
        <p:spPr>
          <a:xfrm>
            <a:off x="1033272" y="5230368"/>
            <a:ext cx="548640" cy="548640"/>
          </a:xfrm>
          <a:prstGeom prst="ellipse">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0" name="TextBox 29"/>
          <p:cNvSpPr txBox="1"/>
          <p:nvPr/>
        </p:nvSpPr>
        <p:spPr>
          <a:xfrm>
            <a:off x="1033272" y="5230368"/>
            <a:ext cx="548640" cy="548640"/>
          </a:xfrm>
          <a:prstGeom prst="rect">
            <a:avLst/>
          </a:prstGeom>
          <a:noFill/>
        </p:spPr>
        <p:txBody>
          <a:bodyPr wrap="square" anchor="ctr">
            <a:spAutoFit/>
          </a:bodyPr>
          <a:lstStyle/>
          <a:p>
            <a:pPr algn="ctr">
              <a:spcAft>
                <a:spcPts val="400"/>
              </a:spcAft>
            </a:pPr>
            <a:r>
              <a:rPr sz="1800" b="1">
                <a:solidFill>
                  <a:srgbClr val="FFFFFF"/>
                </a:solidFill>
                <a:latin typeface="Arial"/>
              </a:rPr>
              <a:t>5</a:t>
            </a:r>
          </a:p>
        </p:txBody>
      </p:sp>
      <p:sp>
        <p:nvSpPr>
          <p:cNvPr id="31" name="TextBox 30"/>
          <p:cNvSpPr txBox="1"/>
          <p:nvPr/>
        </p:nvSpPr>
        <p:spPr>
          <a:xfrm>
            <a:off x="1764792" y="4965192"/>
            <a:ext cx="3973068" cy="1115568"/>
          </a:xfrm>
          <a:prstGeom prst="rect">
            <a:avLst/>
          </a:prstGeom>
          <a:noFill/>
        </p:spPr>
        <p:txBody>
          <a:bodyPr wrap="square" anchor="ctr">
            <a:spAutoFit/>
          </a:bodyPr>
          <a:lstStyle/>
          <a:p>
            <a:pPr algn="l">
              <a:spcAft>
                <a:spcPts val="300"/>
              </a:spcAft>
            </a:pPr>
            <a:r>
              <a:rPr sz="1450" b="1">
                <a:solidFill>
                  <a:srgbClr val="161B26"/>
                </a:solidFill>
                <a:latin typeface="Arial"/>
              </a:rPr>
              <a:t>Grover search</a:t>
            </a:r>
          </a:p>
          <a:p>
            <a:pPr algn="l">
              <a:spcAft>
                <a:spcPts val="300"/>
              </a:spcAft>
            </a:pPr>
            <a:r>
              <a:rPr sz="1100" b="0">
                <a:solidFill>
                  <a:srgbClr val="5B6372"/>
                </a:solidFill>
                <a:latin typeface="Arial"/>
              </a:rPr>
              <a:t>Amplitude amplification finds a marked item in an unstructured database in O(√N) instead of O(N) — a quadratic speedup.</a:t>
            </a:r>
          </a:p>
        </p:txBody>
      </p:sp>
      <p:sp>
        <p:nvSpPr>
          <p:cNvPr id="32" name="Rectangle 31"/>
          <p:cNvSpPr/>
          <p:nvPr/>
        </p:nvSpPr>
        <p:spPr>
          <a:xfrm>
            <a:off x="6231636" y="4855464"/>
            <a:ext cx="5180076" cy="1298448"/>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3" name="Rectangle 32"/>
          <p:cNvSpPr/>
          <p:nvPr/>
        </p:nvSpPr>
        <p:spPr>
          <a:xfrm>
            <a:off x="6231636" y="4855464"/>
            <a:ext cx="91440" cy="1298448"/>
          </a:xfrm>
          <a:prstGeom prst="rect">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4" name="Oval 33"/>
          <p:cNvSpPr/>
          <p:nvPr/>
        </p:nvSpPr>
        <p:spPr>
          <a:xfrm>
            <a:off x="6487668" y="5230368"/>
            <a:ext cx="548640" cy="548640"/>
          </a:xfrm>
          <a:prstGeom prst="ellipse">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5" name="TextBox 34"/>
          <p:cNvSpPr txBox="1"/>
          <p:nvPr/>
        </p:nvSpPr>
        <p:spPr>
          <a:xfrm>
            <a:off x="6487668" y="5230368"/>
            <a:ext cx="548640" cy="548640"/>
          </a:xfrm>
          <a:prstGeom prst="rect">
            <a:avLst/>
          </a:prstGeom>
          <a:noFill/>
        </p:spPr>
        <p:txBody>
          <a:bodyPr wrap="square" anchor="ctr">
            <a:spAutoFit/>
          </a:bodyPr>
          <a:lstStyle/>
          <a:p>
            <a:pPr algn="ctr">
              <a:spcAft>
                <a:spcPts val="400"/>
              </a:spcAft>
            </a:pPr>
            <a:r>
              <a:rPr sz="1800" b="1">
                <a:solidFill>
                  <a:srgbClr val="FFFFFF"/>
                </a:solidFill>
                <a:latin typeface="Arial"/>
              </a:rPr>
              <a:t>6</a:t>
            </a:r>
          </a:p>
        </p:txBody>
      </p:sp>
      <p:sp>
        <p:nvSpPr>
          <p:cNvPr id="36" name="TextBox 35"/>
          <p:cNvSpPr txBox="1"/>
          <p:nvPr/>
        </p:nvSpPr>
        <p:spPr>
          <a:xfrm>
            <a:off x="7219188" y="4965192"/>
            <a:ext cx="3973068" cy="1115568"/>
          </a:xfrm>
          <a:prstGeom prst="rect">
            <a:avLst/>
          </a:prstGeom>
          <a:noFill/>
        </p:spPr>
        <p:txBody>
          <a:bodyPr wrap="square" anchor="ctr">
            <a:spAutoFit/>
          </a:bodyPr>
          <a:lstStyle/>
          <a:p>
            <a:pPr algn="l">
              <a:spcAft>
                <a:spcPts val="300"/>
              </a:spcAft>
            </a:pPr>
            <a:r>
              <a:rPr sz="1450" b="1">
                <a:solidFill>
                  <a:srgbClr val="161B26"/>
                </a:solidFill>
                <a:latin typeface="Arial"/>
              </a:rPr>
              <a:t>Quantum Fourier Transform</a:t>
            </a:r>
          </a:p>
          <a:p>
            <a:pPr algn="l">
              <a:spcAft>
                <a:spcPts val="300"/>
              </a:spcAft>
            </a:pPr>
            <a:r>
              <a:rPr sz="1100" b="0">
                <a:solidFill>
                  <a:srgbClr val="5B6372"/>
                </a:solidFill>
                <a:latin typeface="Arial"/>
              </a:rPr>
              <a:t>The quantum analogue of the DFT runs in O(n²) gates and underpins phase estimation and Shor's algorithm.</a:t>
            </a:r>
          </a:p>
        </p:txBody>
      </p:sp>
      <p:sp>
        <p:nvSpPr>
          <p:cNvPr id="37" name="TextBox 36"/>
          <p:cNvSpPr txBox="1"/>
          <p:nvPr/>
        </p:nvSpPr>
        <p:spPr>
          <a:xfrm>
            <a:off x="365760" y="6446520"/>
            <a:ext cx="6858000" cy="320040"/>
          </a:xfrm>
          <a:prstGeom prst="rect">
            <a:avLst/>
          </a:prstGeom>
          <a:noFill/>
        </p:spPr>
        <p:txBody>
          <a:bodyPr wrap="square" anchor="t">
            <a:spAutoFit/>
          </a:bodyPr>
          <a:lstStyle/>
          <a:p>
            <a:pPr algn="l">
              <a:spcAft>
                <a:spcPts val="400"/>
              </a:spcAft>
            </a:pPr>
            <a:r>
              <a:rPr sz="900" b="0">
                <a:solidFill>
                  <a:srgbClr val="5B6372"/>
                </a:solidFill>
                <a:latin typeface="Arial"/>
              </a:rPr>
              <a:t>Securing the Future with Quantum Computing and Cryptography  ·  TGS-2024043419</a:t>
            </a:r>
          </a:p>
        </p:txBody>
      </p:sp>
      <p:sp>
        <p:nvSpPr>
          <p:cNvPr id="38" name="TextBox 37"/>
          <p:cNvSpPr txBox="1"/>
          <p:nvPr/>
        </p:nvSpPr>
        <p:spPr>
          <a:xfrm>
            <a:off x="4572000" y="6446520"/>
            <a:ext cx="3017520" cy="320040"/>
          </a:xfrm>
          <a:prstGeom prst="rect">
            <a:avLst/>
          </a:prstGeom>
          <a:noFill/>
        </p:spPr>
        <p:txBody>
          <a:bodyPr wrap="square" anchor="t">
            <a:spAutoFit/>
          </a:bodyPr>
          <a:lstStyle/>
          <a:p>
            <a:pPr algn="ctr">
              <a:spcAft>
                <a:spcPts val="400"/>
              </a:spcAft>
            </a:pPr>
            <a:r>
              <a:rPr sz="900" b="0">
                <a:solidFill>
                  <a:srgbClr val="5B6372"/>
                </a:solidFill>
                <a:latin typeface="Arial"/>
              </a:rPr>
              <a:t>© 2026 Tertiary Infotech Academy Pte Ltd</a:t>
            </a:r>
          </a:p>
        </p:txBody>
      </p:sp>
      <p:sp>
        <p:nvSpPr>
          <p:cNvPr id="39" name="TextBox 38"/>
          <p:cNvSpPr txBox="1"/>
          <p:nvPr/>
        </p:nvSpPr>
        <p:spPr>
          <a:xfrm>
            <a:off x="11338560" y="6446520"/>
            <a:ext cx="548640" cy="320040"/>
          </a:xfrm>
          <a:prstGeom prst="rect">
            <a:avLst/>
          </a:prstGeom>
          <a:noFill/>
        </p:spPr>
        <p:txBody>
          <a:bodyPr wrap="square" anchor="t">
            <a:spAutoFit/>
          </a:bodyPr>
          <a:lstStyle/>
          <a:p>
            <a:pPr algn="r">
              <a:spcAft>
                <a:spcPts val="400"/>
              </a:spcAft>
            </a:pPr>
            <a:r>
              <a:rPr sz="900" b="0">
                <a:solidFill>
                  <a:srgbClr val="5B6372"/>
                </a:solidFill>
                <a:latin typeface="Arial"/>
              </a:rPr>
              <a:t>131</a:t>
            </a:r>
          </a:p>
        </p:txBody>
      </p:sp>
    </p:spTree>
  </p:cSld>
  <p:clrMapOvr>
    <a:masterClrMapping/>
  </p:clrMapOvr>
</p:sld>
</file>

<file path=ppt/slides/slide133.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256032" cy="1417320"/>
          </a:xfrm>
          <a:prstGeom prst="rect">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777240" y="457200"/>
            <a:ext cx="10607040" cy="365760"/>
          </a:xfrm>
          <a:prstGeom prst="rect">
            <a:avLst/>
          </a:prstGeom>
          <a:noFill/>
        </p:spPr>
        <p:txBody>
          <a:bodyPr wrap="square" anchor="t">
            <a:spAutoFit/>
          </a:bodyPr>
          <a:lstStyle/>
          <a:p>
            <a:pPr algn="l">
              <a:spcAft>
                <a:spcPts val="400"/>
              </a:spcAft>
            </a:pPr>
            <a:r>
              <a:rPr sz="1400" b="1">
                <a:solidFill>
                  <a:srgbClr val="1F6FEB"/>
                </a:solidFill>
                <a:latin typeface="Arial"/>
              </a:rPr>
              <a:t>WHY THESE ALGORITHMS MATTER</a:t>
            </a:r>
          </a:p>
        </p:txBody>
      </p:sp>
      <p:sp>
        <p:nvSpPr>
          <p:cNvPr id="5" name="TextBox 4"/>
          <p:cNvSpPr txBox="1"/>
          <p:nvPr/>
        </p:nvSpPr>
        <p:spPr>
          <a:xfrm>
            <a:off x="777240" y="822960"/>
            <a:ext cx="10881360" cy="822960"/>
          </a:xfrm>
          <a:prstGeom prst="rect">
            <a:avLst/>
          </a:prstGeom>
          <a:noFill/>
        </p:spPr>
        <p:txBody>
          <a:bodyPr wrap="square" anchor="t">
            <a:spAutoFit/>
          </a:bodyPr>
          <a:lstStyle/>
          <a:p>
            <a:pPr algn="l">
              <a:spcAft>
                <a:spcPts val="400"/>
              </a:spcAft>
            </a:pPr>
            <a:r>
              <a:rPr sz="2900" b="1">
                <a:solidFill>
                  <a:srgbClr val="161B26"/>
                </a:solidFill>
                <a:latin typeface="Arial"/>
              </a:rPr>
              <a:t>Quantum Query Advantage</a:t>
            </a:r>
          </a:p>
        </p:txBody>
      </p:sp>
      <p:sp>
        <p:nvSpPr>
          <p:cNvPr id="6" name="Rectangle 5"/>
          <p:cNvSpPr/>
          <p:nvPr/>
        </p:nvSpPr>
        <p:spPr>
          <a:xfrm>
            <a:off x="777240" y="1554480"/>
            <a:ext cx="10634472" cy="18288"/>
          </a:xfrm>
          <a:prstGeom prst="rect">
            <a:avLst/>
          </a:prstGeom>
          <a:solidFill>
            <a:srgbClr val="E2E8F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pic>
        <p:nvPicPr>
          <p:cNvPr id="7" name="Picture 6" descr="algorithm-speedups.png"/>
          <p:cNvPicPr>
            <a:picLocks noChangeAspect="1"/>
          </p:cNvPicPr>
          <p:nvPr/>
        </p:nvPicPr>
        <p:blipFill>
          <a:blip r:embed="rId2"/>
          <a:stretch>
            <a:fillRect/>
          </a:stretch>
        </p:blipFill>
        <p:spPr>
          <a:xfrm>
            <a:off x="1798928" y="1755648"/>
            <a:ext cx="8591096" cy="3950207"/>
          </a:xfrm>
          <a:prstGeom prst="rect">
            <a:avLst/>
          </a:prstGeom>
        </p:spPr>
      </p:pic>
      <p:sp>
        <p:nvSpPr>
          <p:cNvPr id="8" name="Rectangle 7"/>
          <p:cNvSpPr/>
          <p:nvPr/>
        </p:nvSpPr>
        <p:spPr>
          <a:xfrm>
            <a:off x="777240" y="5870448"/>
            <a:ext cx="10634472" cy="457200"/>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TextBox 8"/>
          <p:cNvSpPr txBox="1"/>
          <p:nvPr/>
        </p:nvSpPr>
        <p:spPr>
          <a:xfrm>
            <a:off x="960120" y="5870448"/>
            <a:ext cx="10241280" cy="457200"/>
          </a:xfrm>
          <a:prstGeom prst="rect">
            <a:avLst/>
          </a:prstGeom>
          <a:noFill/>
        </p:spPr>
        <p:txBody>
          <a:bodyPr wrap="square" anchor="ctr">
            <a:spAutoFit/>
          </a:bodyPr>
          <a:lstStyle/>
          <a:p>
            <a:pPr algn="ctr">
              <a:spcAft>
                <a:spcPts val="400"/>
              </a:spcAft>
            </a:pPr>
            <a:r>
              <a:rPr sz="1350" b="0">
                <a:solidFill>
                  <a:srgbClr val="161B26"/>
                </a:solidFill>
                <a:latin typeface="Arial"/>
              </a:rPr>
              <a:t>Query counts are illustrative — the point is the SCALING, not the absolute numbers.</a:t>
            </a:r>
          </a:p>
        </p:txBody>
      </p:sp>
      <p:sp>
        <p:nvSpPr>
          <p:cNvPr id="10" name="TextBox 9"/>
          <p:cNvSpPr txBox="1"/>
          <p:nvPr/>
        </p:nvSpPr>
        <p:spPr>
          <a:xfrm>
            <a:off x="365760" y="6446520"/>
            <a:ext cx="6858000" cy="320040"/>
          </a:xfrm>
          <a:prstGeom prst="rect">
            <a:avLst/>
          </a:prstGeom>
          <a:noFill/>
        </p:spPr>
        <p:txBody>
          <a:bodyPr wrap="square" anchor="t">
            <a:spAutoFit/>
          </a:bodyPr>
          <a:lstStyle/>
          <a:p>
            <a:pPr algn="l">
              <a:spcAft>
                <a:spcPts val="400"/>
              </a:spcAft>
            </a:pPr>
            <a:r>
              <a:rPr sz="900" b="0">
                <a:solidFill>
                  <a:srgbClr val="5B6372"/>
                </a:solidFill>
                <a:latin typeface="Arial"/>
              </a:rPr>
              <a:t>Securing the Future with Quantum Computing and Cryptography  ·  TGS-2024043419</a:t>
            </a:r>
          </a:p>
        </p:txBody>
      </p:sp>
      <p:sp>
        <p:nvSpPr>
          <p:cNvPr id="11" name="TextBox 10"/>
          <p:cNvSpPr txBox="1"/>
          <p:nvPr/>
        </p:nvSpPr>
        <p:spPr>
          <a:xfrm>
            <a:off x="4572000" y="6446520"/>
            <a:ext cx="3017520" cy="320040"/>
          </a:xfrm>
          <a:prstGeom prst="rect">
            <a:avLst/>
          </a:prstGeom>
          <a:noFill/>
        </p:spPr>
        <p:txBody>
          <a:bodyPr wrap="square" anchor="t">
            <a:spAutoFit/>
          </a:bodyPr>
          <a:lstStyle/>
          <a:p>
            <a:pPr algn="ctr">
              <a:spcAft>
                <a:spcPts val="400"/>
              </a:spcAft>
            </a:pPr>
            <a:r>
              <a:rPr sz="900" b="0">
                <a:solidFill>
                  <a:srgbClr val="5B6372"/>
                </a:solidFill>
                <a:latin typeface="Arial"/>
              </a:rPr>
              <a:t>© 2026 Tertiary Infotech Academy Pte Ltd</a:t>
            </a:r>
          </a:p>
        </p:txBody>
      </p:sp>
      <p:sp>
        <p:nvSpPr>
          <p:cNvPr id="12" name="TextBox 11"/>
          <p:cNvSpPr txBox="1"/>
          <p:nvPr/>
        </p:nvSpPr>
        <p:spPr>
          <a:xfrm>
            <a:off x="11338560" y="6446520"/>
            <a:ext cx="548640" cy="320040"/>
          </a:xfrm>
          <a:prstGeom prst="rect">
            <a:avLst/>
          </a:prstGeom>
          <a:noFill/>
        </p:spPr>
        <p:txBody>
          <a:bodyPr wrap="square" anchor="t">
            <a:spAutoFit/>
          </a:bodyPr>
          <a:lstStyle/>
          <a:p>
            <a:pPr algn="r">
              <a:spcAft>
                <a:spcPts val="400"/>
              </a:spcAft>
            </a:pPr>
            <a:r>
              <a:rPr sz="900" b="0">
                <a:solidFill>
                  <a:srgbClr val="5B6372"/>
                </a:solidFill>
                <a:latin typeface="Arial"/>
              </a:rPr>
              <a:t>132</a:t>
            </a:r>
          </a:p>
        </p:txBody>
      </p:sp>
    </p:spTree>
  </p:cSld>
  <p:clrMapOvr>
    <a:masterClrMapping/>
  </p:clrMapOvr>
</p:sld>
</file>

<file path=ppt/slides/slide134.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256032" cy="1417320"/>
          </a:xfrm>
          <a:prstGeom prst="rect">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777240" y="457200"/>
            <a:ext cx="10607040" cy="365760"/>
          </a:xfrm>
          <a:prstGeom prst="rect">
            <a:avLst/>
          </a:prstGeom>
          <a:noFill/>
        </p:spPr>
        <p:txBody>
          <a:bodyPr wrap="square" anchor="t">
            <a:spAutoFit/>
          </a:bodyPr>
          <a:lstStyle/>
          <a:p>
            <a:pPr algn="l">
              <a:spcAft>
                <a:spcPts val="400"/>
              </a:spcAft>
            </a:pPr>
            <a:r>
              <a:rPr sz="1400" b="1">
                <a:solidFill>
                  <a:srgbClr val="10B981"/>
                </a:solidFill>
                <a:latin typeface="Arial"/>
              </a:rPr>
              <a:t>HOW GROVER ACTUALLY WORKS</a:t>
            </a:r>
          </a:p>
        </p:txBody>
      </p:sp>
      <p:sp>
        <p:nvSpPr>
          <p:cNvPr id="5" name="TextBox 4"/>
          <p:cNvSpPr txBox="1"/>
          <p:nvPr/>
        </p:nvSpPr>
        <p:spPr>
          <a:xfrm>
            <a:off x="777240" y="822960"/>
            <a:ext cx="10881360" cy="822960"/>
          </a:xfrm>
          <a:prstGeom prst="rect">
            <a:avLst/>
          </a:prstGeom>
          <a:noFill/>
        </p:spPr>
        <p:txBody>
          <a:bodyPr wrap="square" anchor="t">
            <a:spAutoFit/>
          </a:bodyPr>
          <a:lstStyle/>
          <a:p>
            <a:pPr algn="l">
              <a:spcAft>
                <a:spcPts val="400"/>
              </a:spcAft>
            </a:pPr>
            <a:r>
              <a:rPr sz="2900" b="1">
                <a:solidFill>
                  <a:srgbClr val="161B26"/>
                </a:solidFill>
                <a:latin typeface="Arial"/>
              </a:rPr>
              <a:t>Grover — Amplitude Amplification</a:t>
            </a:r>
          </a:p>
        </p:txBody>
      </p:sp>
      <p:sp>
        <p:nvSpPr>
          <p:cNvPr id="6" name="Rectangle 5"/>
          <p:cNvSpPr/>
          <p:nvPr/>
        </p:nvSpPr>
        <p:spPr>
          <a:xfrm>
            <a:off x="777240" y="1554480"/>
            <a:ext cx="10634472" cy="18288"/>
          </a:xfrm>
          <a:prstGeom prst="rect">
            <a:avLst/>
          </a:prstGeom>
          <a:solidFill>
            <a:srgbClr val="E2E8F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pic>
        <p:nvPicPr>
          <p:cNvPr id="7" name="Picture 6" descr="grover-amplification.png"/>
          <p:cNvPicPr>
            <a:picLocks noChangeAspect="1"/>
          </p:cNvPicPr>
          <p:nvPr/>
        </p:nvPicPr>
        <p:blipFill>
          <a:blip r:embed="rId2"/>
          <a:stretch>
            <a:fillRect/>
          </a:stretch>
        </p:blipFill>
        <p:spPr>
          <a:xfrm>
            <a:off x="777240" y="2930433"/>
            <a:ext cx="6400800" cy="1911534"/>
          </a:xfrm>
          <a:prstGeom prst="rect">
            <a:avLst/>
          </a:prstGeom>
        </p:spPr>
      </p:pic>
      <p:sp>
        <p:nvSpPr>
          <p:cNvPr id="8" name="Rectangle 7"/>
          <p:cNvSpPr/>
          <p:nvPr/>
        </p:nvSpPr>
        <p:spPr>
          <a:xfrm>
            <a:off x="7452360" y="1783080"/>
            <a:ext cx="3959352" cy="937260"/>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Rectangle 8"/>
          <p:cNvSpPr/>
          <p:nvPr/>
        </p:nvSpPr>
        <p:spPr>
          <a:xfrm>
            <a:off x="7452360" y="1783080"/>
            <a:ext cx="82296" cy="937260"/>
          </a:xfrm>
          <a:prstGeom prst="rect">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TextBox 9"/>
          <p:cNvSpPr txBox="1"/>
          <p:nvPr/>
        </p:nvSpPr>
        <p:spPr>
          <a:xfrm>
            <a:off x="7708392" y="1783080"/>
            <a:ext cx="3502152" cy="937260"/>
          </a:xfrm>
          <a:prstGeom prst="rect">
            <a:avLst/>
          </a:prstGeom>
          <a:noFill/>
        </p:spPr>
        <p:txBody>
          <a:bodyPr wrap="square" anchor="ctr">
            <a:spAutoFit/>
          </a:bodyPr>
          <a:lstStyle/>
          <a:p>
            <a:pPr algn="l">
              <a:spcAft>
                <a:spcPts val="300"/>
              </a:spcAft>
            </a:pPr>
            <a:r>
              <a:rPr sz="1400" b="1">
                <a:solidFill>
                  <a:srgbClr val="1F6FEB"/>
                </a:solidFill>
                <a:latin typeface="Arial"/>
              </a:rPr>
              <a:t>Start</a:t>
            </a:r>
          </a:p>
          <a:p>
            <a:pPr algn="l">
              <a:spcAft>
                <a:spcPts val="300"/>
              </a:spcAft>
            </a:pPr>
            <a:r>
              <a:rPr sz="1200" b="0">
                <a:solidFill>
                  <a:srgbClr val="161B26"/>
                </a:solidFill>
                <a:latin typeface="Arial"/>
              </a:rPr>
              <a:t>All N states share an equal amplitude of 1/√N.</a:t>
            </a:r>
          </a:p>
        </p:txBody>
      </p:sp>
      <p:sp>
        <p:nvSpPr>
          <p:cNvPr id="11" name="Rectangle 10"/>
          <p:cNvSpPr/>
          <p:nvPr/>
        </p:nvSpPr>
        <p:spPr>
          <a:xfrm>
            <a:off x="7452360" y="2903220"/>
            <a:ext cx="3959352" cy="937260"/>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 name="Rectangle 11"/>
          <p:cNvSpPr/>
          <p:nvPr/>
        </p:nvSpPr>
        <p:spPr>
          <a:xfrm>
            <a:off x="7452360" y="2903220"/>
            <a:ext cx="82296" cy="937260"/>
          </a:xfrm>
          <a:prstGeom prst="rect">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 name="TextBox 12"/>
          <p:cNvSpPr txBox="1"/>
          <p:nvPr/>
        </p:nvSpPr>
        <p:spPr>
          <a:xfrm>
            <a:off x="7708392" y="2903220"/>
            <a:ext cx="3502152" cy="937260"/>
          </a:xfrm>
          <a:prstGeom prst="rect">
            <a:avLst/>
          </a:prstGeom>
          <a:noFill/>
        </p:spPr>
        <p:txBody>
          <a:bodyPr wrap="square" anchor="ctr">
            <a:spAutoFit/>
          </a:bodyPr>
          <a:lstStyle/>
          <a:p>
            <a:pPr algn="l">
              <a:spcAft>
                <a:spcPts val="300"/>
              </a:spcAft>
            </a:pPr>
            <a:r>
              <a:rPr sz="1400" b="1">
                <a:solidFill>
                  <a:srgbClr val="10B981"/>
                </a:solidFill>
                <a:latin typeface="Arial"/>
              </a:rPr>
              <a:t>Oracle</a:t>
            </a:r>
          </a:p>
          <a:p>
            <a:pPr algn="l">
              <a:spcAft>
                <a:spcPts val="300"/>
              </a:spcAft>
            </a:pPr>
            <a:r>
              <a:rPr sz="1200" b="0">
                <a:solidFill>
                  <a:srgbClr val="161B26"/>
                </a:solidFill>
                <a:latin typeface="Arial"/>
              </a:rPr>
              <a:t>Flips the SIGN of the marked state — invisible to measurement so far.</a:t>
            </a:r>
          </a:p>
        </p:txBody>
      </p:sp>
      <p:sp>
        <p:nvSpPr>
          <p:cNvPr id="14" name="Rectangle 13"/>
          <p:cNvSpPr/>
          <p:nvPr/>
        </p:nvSpPr>
        <p:spPr>
          <a:xfrm>
            <a:off x="7452360" y="4023360"/>
            <a:ext cx="3959352" cy="937260"/>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5" name="Rectangle 14"/>
          <p:cNvSpPr/>
          <p:nvPr/>
        </p:nvSpPr>
        <p:spPr>
          <a:xfrm>
            <a:off x="7452360" y="4023360"/>
            <a:ext cx="82296" cy="937260"/>
          </a:xfrm>
          <a:prstGeom prst="rect">
            <a:avLst/>
          </a:prstGeom>
          <a:solidFill>
            <a:srgbClr val="7C3AE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6" name="TextBox 15"/>
          <p:cNvSpPr txBox="1"/>
          <p:nvPr/>
        </p:nvSpPr>
        <p:spPr>
          <a:xfrm>
            <a:off x="7708392" y="4023360"/>
            <a:ext cx="3502152" cy="937260"/>
          </a:xfrm>
          <a:prstGeom prst="rect">
            <a:avLst/>
          </a:prstGeom>
          <a:noFill/>
        </p:spPr>
        <p:txBody>
          <a:bodyPr wrap="square" anchor="ctr">
            <a:spAutoFit/>
          </a:bodyPr>
          <a:lstStyle/>
          <a:p>
            <a:pPr algn="l">
              <a:spcAft>
                <a:spcPts val="300"/>
              </a:spcAft>
            </a:pPr>
            <a:r>
              <a:rPr sz="1400" b="1">
                <a:solidFill>
                  <a:srgbClr val="7C3AED"/>
                </a:solidFill>
                <a:latin typeface="Arial"/>
              </a:rPr>
              <a:t>Diffuser</a:t>
            </a:r>
          </a:p>
          <a:p>
            <a:pPr algn="l">
              <a:spcAft>
                <a:spcPts val="300"/>
              </a:spcAft>
            </a:pPr>
            <a:r>
              <a:rPr sz="1200" b="0">
                <a:solidFill>
                  <a:srgbClr val="161B26"/>
                </a:solidFill>
                <a:latin typeface="Arial"/>
              </a:rPr>
              <a:t>Reflects every amplitude about the mean, growing the marked one.</a:t>
            </a:r>
          </a:p>
        </p:txBody>
      </p:sp>
      <p:sp>
        <p:nvSpPr>
          <p:cNvPr id="17" name="Rectangle 16"/>
          <p:cNvSpPr/>
          <p:nvPr/>
        </p:nvSpPr>
        <p:spPr>
          <a:xfrm>
            <a:off x="7452360" y="5143500"/>
            <a:ext cx="3959352" cy="937260"/>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8" name="Rectangle 17"/>
          <p:cNvSpPr/>
          <p:nvPr/>
        </p:nvSpPr>
        <p:spPr>
          <a:xfrm>
            <a:off x="7452360" y="5143500"/>
            <a:ext cx="82296" cy="937260"/>
          </a:xfrm>
          <a:prstGeom prst="rect">
            <a:avLst/>
          </a:prstGeom>
          <a:solidFill>
            <a:srgbClr val="F59E0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9" name="TextBox 18"/>
          <p:cNvSpPr txBox="1"/>
          <p:nvPr/>
        </p:nvSpPr>
        <p:spPr>
          <a:xfrm>
            <a:off x="7708392" y="5143500"/>
            <a:ext cx="3502152" cy="937260"/>
          </a:xfrm>
          <a:prstGeom prst="rect">
            <a:avLst/>
          </a:prstGeom>
          <a:noFill/>
        </p:spPr>
        <p:txBody>
          <a:bodyPr wrap="square" anchor="ctr">
            <a:spAutoFit/>
          </a:bodyPr>
          <a:lstStyle/>
          <a:p>
            <a:pPr algn="l">
              <a:spcAft>
                <a:spcPts val="300"/>
              </a:spcAft>
            </a:pPr>
            <a:r>
              <a:rPr sz="1400" b="1">
                <a:solidFill>
                  <a:srgbClr val="F59E0B"/>
                </a:solidFill>
                <a:latin typeface="Arial"/>
              </a:rPr>
              <a:t>Repeat</a:t>
            </a:r>
          </a:p>
          <a:p>
            <a:pPr algn="l">
              <a:spcAft>
                <a:spcPts val="300"/>
              </a:spcAft>
            </a:pPr>
            <a:r>
              <a:rPr sz="1200" b="0">
                <a:solidFill>
                  <a:srgbClr val="161B26"/>
                </a:solidFill>
                <a:latin typeface="Arial"/>
              </a:rPr>
              <a:t>About (π/4)√N times — then measure.</a:t>
            </a:r>
          </a:p>
        </p:txBody>
      </p:sp>
      <p:sp>
        <p:nvSpPr>
          <p:cNvPr id="20" name="TextBox 19"/>
          <p:cNvSpPr txBox="1"/>
          <p:nvPr/>
        </p:nvSpPr>
        <p:spPr>
          <a:xfrm>
            <a:off x="365760" y="6446520"/>
            <a:ext cx="6858000" cy="320040"/>
          </a:xfrm>
          <a:prstGeom prst="rect">
            <a:avLst/>
          </a:prstGeom>
          <a:noFill/>
        </p:spPr>
        <p:txBody>
          <a:bodyPr wrap="square" anchor="t">
            <a:spAutoFit/>
          </a:bodyPr>
          <a:lstStyle/>
          <a:p>
            <a:pPr algn="l">
              <a:spcAft>
                <a:spcPts val="400"/>
              </a:spcAft>
            </a:pPr>
            <a:r>
              <a:rPr sz="900" b="0">
                <a:solidFill>
                  <a:srgbClr val="5B6372"/>
                </a:solidFill>
                <a:latin typeface="Arial"/>
              </a:rPr>
              <a:t>Securing the Future with Quantum Computing and Cryptography  ·  TGS-2024043419</a:t>
            </a:r>
          </a:p>
        </p:txBody>
      </p:sp>
      <p:sp>
        <p:nvSpPr>
          <p:cNvPr id="21" name="TextBox 20"/>
          <p:cNvSpPr txBox="1"/>
          <p:nvPr/>
        </p:nvSpPr>
        <p:spPr>
          <a:xfrm>
            <a:off x="4572000" y="6446520"/>
            <a:ext cx="3017520" cy="320040"/>
          </a:xfrm>
          <a:prstGeom prst="rect">
            <a:avLst/>
          </a:prstGeom>
          <a:noFill/>
        </p:spPr>
        <p:txBody>
          <a:bodyPr wrap="square" anchor="t">
            <a:spAutoFit/>
          </a:bodyPr>
          <a:lstStyle/>
          <a:p>
            <a:pPr algn="ctr">
              <a:spcAft>
                <a:spcPts val="400"/>
              </a:spcAft>
            </a:pPr>
            <a:r>
              <a:rPr sz="900" b="0">
                <a:solidFill>
                  <a:srgbClr val="5B6372"/>
                </a:solidFill>
                <a:latin typeface="Arial"/>
              </a:rPr>
              <a:t>© 2026 Tertiary Infotech Academy Pte Ltd</a:t>
            </a:r>
          </a:p>
        </p:txBody>
      </p:sp>
      <p:sp>
        <p:nvSpPr>
          <p:cNvPr id="22" name="TextBox 21"/>
          <p:cNvSpPr txBox="1"/>
          <p:nvPr/>
        </p:nvSpPr>
        <p:spPr>
          <a:xfrm>
            <a:off x="11338560" y="6446520"/>
            <a:ext cx="548640" cy="320040"/>
          </a:xfrm>
          <a:prstGeom prst="rect">
            <a:avLst/>
          </a:prstGeom>
          <a:noFill/>
        </p:spPr>
        <p:txBody>
          <a:bodyPr wrap="square" anchor="t">
            <a:spAutoFit/>
          </a:bodyPr>
          <a:lstStyle/>
          <a:p>
            <a:pPr algn="r">
              <a:spcAft>
                <a:spcPts val="400"/>
              </a:spcAft>
            </a:pPr>
            <a:r>
              <a:rPr sz="900" b="0">
                <a:solidFill>
                  <a:srgbClr val="5B6372"/>
                </a:solidFill>
                <a:latin typeface="Arial"/>
              </a:rPr>
              <a:t>133</a:t>
            </a:r>
          </a:p>
        </p:txBody>
      </p:sp>
    </p:spTree>
  </p:cSld>
  <p:clrMapOvr>
    <a:masterClrMapping/>
  </p:clrMapOvr>
</p:sld>
</file>

<file path=ppt/slides/slide135.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256032" cy="1417320"/>
          </a:xfrm>
          <a:prstGeom prst="rect">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777240" y="457200"/>
            <a:ext cx="10607040" cy="365760"/>
          </a:xfrm>
          <a:prstGeom prst="rect">
            <a:avLst/>
          </a:prstGeom>
          <a:noFill/>
        </p:spPr>
        <p:txBody>
          <a:bodyPr wrap="square" anchor="t">
            <a:spAutoFit/>
          </a:bodyPr>
          <a:lstStyle/>
          <a:p>
            <a:pPr algn="l">
              <a:spcAft>
                <a:spcPts val="400"/>
              </a:spcAft>
            </a:pPr>
            <a:r>
              <a:rPr sz="1400" b="1">
                <a:solidFill>
                  <a:srgbClr val="10B981"/>
                </a:solidFill>
                <a:latin typeface="Arial"/>
              </a:rPr>
              <a:t>THE SCALING</a:t>
            </a:r>
          </a:p>
        </p:txBody>
      </p:sp>
      <p:sp>
        <p:nvSpPr>
          <p:cNvPr id="5" name="TextBox 4"/>
          <p:cNvSpPr txBox="1"/>
          <p:nvPr/>
        </p:nvSpPr>
        <p:spPr>
          <a:xfrm>
            <a:off x="777240" y="822960"/>
            <a:ext cx="10881360" cy="822960"/>
          </a:xfrm>
          <a:prstGeom prst="rect">
            <a:avLst/>
          </a:prstGeom>
          <a:noFill/>
        </p:spPr>
        <p:txBody>
          <a:bodyPr wrap="square" anchor="t">
            <a:spAutoFit/>
          </a:bodyPr>
          <a:lstStyle/>
          <a:p>
            <a:pPr algn="l">
              <a:spcAft>
                <a:spcPts val="400"/>
              </a:spcAft>
            </a:pPr>
            <a:r>
              <a:rPr sz="2900" b="1">
                <a:solidFill>
                  <a:srgbClr val="161B26"/>
                </a:solidFill>
                <a:latin typeface="Arial"/>
              </a:rPr>
              <a:t>Grover's Quadratic Speedup</a:t>
            </a:r>
          </a:p>
        </p:txBody>
      </p:sp>
      <p:sp>
        <p:nvSpPr>
          <p:cNvPr id="6" name="Rectangle 5"/>
          <p:cNvSpPr/>
          <p:nvPr/>
        </p:nvSpPr>
        <p:spPr>
          <a:xfrm>
            <a:off x="777240" y="1554480"/>
            <a:ext cx="10634472" cy="18288"/>
          </a:xfrm>
          <a:prstGeom prst="rect">
            <a:avLst/>
          </a:prstGeom>
          <a:solidFill>
            <a:srgbClr val="E2E8F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pic>
        <p:nvPicPr>
          <p:cNvPr id="7" name="Picture 6" descr="grover-scaling.png"/>
          <p:cNvPicPr>
            <a:picLocks noChangeAspect="1"/>
          </p:cNvPicPr>
          <p:nvPr/>
        </p:nvPicPr>
        <p:blipFill>
          <a:blip r:embed="rId2"/>
          <a:stretch>
            <a:fillRect/>
          </a:stretch>
        </p:blipFill>
        <p:spPr>
          <a:xfrm>
            <a:off x="777240" y="2309406"/>
            <a:ext cx="6400800" cy="3153588"/>
          </a:xfrm>
          <a:prstGeom prst="rect">
            <a:avLst/>
          </a:prstGeom>
        </p:spPr>
      </p:pic>
      <p:sp>
        <p:nvSpPr>
          <p:cNvPr id="8" name="Rectangle 7"/>
          <p:cNvSpPr/>
          <p:nvPr/>
        </p:nvSpPr>
        <p:spPr>
          <a:xfrm>
            <a:off x="7452360" y="1783080"/>
            <a:ext cx="3959352" cy="937260"/>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Rectangle 8"/>
          <p:cNvSpPr/>
          <p:nvPr/>
        </p:nvSpPr>
        <p:spPr>
          <a:xfrm>
            <a:off x="7452360" y="1783080"/>
            <a:ext cx="82296" cy="937260"/>
          </a:xfrm>
          <a:prstGeom prst="rect">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TextBox 9"/>
          <p:cNvSpPr txBox="1"/>
          <p:nvPr/>
        </p:nvSpPr>
        <p:spPr>
          <a:xfrm>
            <a:off x="7708392" y="1783080"/>
            <a:ext cx="3502152" cy="937260"/>
          </a:xfrm>
          <a:prstGeom prst="rect">
            <a:avLst/>
          </a:prstGeom>
          <a:noFill/>
        </p:spPr>
        <p:txBody>
          <a:bodyPr wrap="square" anchor="ctr">
            <a:spAutoFit/>
          </a:bodyPr>
          <a:lstStyle/>
          <a:p>
            <a:pPr algn="l">
              <a:spcAft>
                <a:spcPts val="300"/>
              </a:spcAft>
            </a:pPr>
            <a:r>
              <a:rPr sz="1400" b="1">
                <a:solidFill>
                  <a:srgbClr val="1F6FEB"/>
                </a:solidFill>
                <a:latin typeface="Arial"/>
              </a:rPr>
              <a:t>Classical</a:t>
            </a:r>
          </a:p>
          <a:p>
            <a:pPr algn="l">
              <a:spcAft>
                <a:spcPts val="300"/>
              </a:spcAft>
            </a:pPr>
            <a:r>
              <a:rPr sz="1200" b="0">
                <a:solidFill>
                  <a:srgbClr val="161B26"/>
                </a:solidFill>
                <a:latin typeface="Arial"/>
              </a:rPr>
              <a:t>Checking an unstructured list takes O(N) queries.</a:t>
            </a:r>
          </a:p>
        </p:txBody>
      </p:sp>
      <p:sp>
        <p:nvSpPr>
          <p:cNvPr id="11" name="Rectangle 10"/>
          <p:cNvSpPr/>
          <p:nvPr/>
        </p:nvSpPr>
        <p:spPr>
          <a:xfrm>
            <a:off x="7452360" y="2903220"/>
            <a:ext cx="3959352" cy="937260"/>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 name="Rectangle 11"/>
          <p:cNvSpPr/>
          <p:nvPr/>
        </p:nvSpPr>
        <p:spPr>
          <a:xfrm>
            <a:off x="7452360" y="2903220"/>
            <a:ext cx="82296" cy="937260"/>
          </a:xfrm>
          <a:prstGeom prst="rect">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 name="TextBox 12"/>
          <p:cNvSpPr txBox="1"/>
          <p:nvPr/>
        </p:nvSpPr>
        <p:spPr>
          <a:xfrm>
            <a:off x="7708392" y="2903220"/>
            <a:ext cx="3502152" cy="937260"/>
          </a:xfrm>
          <a:prstGeom prst="rect">
            <a:avLst/>
          </a:prstGeom>
          <a:noFill/>
        </p:spPr>
        <p:txBody>
          <a:bodyPr wrap="square" anchor="ctr">
            <a:spAutoFit/>
          </a:bodyPr>
          <a:lstStyle/>
          <a:p>
            <a:pPr algn="l">
              <a:spcAft>
                <a:spcPts val="300"/>
              </a:spcAft>
            </a:pPr>
            <a:r>
              <a:rPr sz="1400" b="1">
                <a:solidFill>
                  <a:srgbClr val="10B981"/>
                </a:solidFill>
                <a:latin typeface="Arial"/>
              </a:rPr>
              <a:t>Grover</a:t>
            </a:r>
          </a:p>
          <a:p>
            <a:pPr algn="l">
              <a:spcAft>
                <a:spcPts val="300"/>
              </a:spcAft>
            </a:pPr>
            <a:r>
              <a:rPr sz="1200" b="0">
                <a:solidFill>
                  <a:srgbClr val="161B26"/>
                </a:solidFill>
                <a:latin typeface="Arial"/>
              </a:rPr>
              <a:t>Finds the marked item in O(√N) queries.</a:t>
            </a:r>
          </a:p>
        </p:txBody>
      </p:sp>
      <p:sp>
        <p:nvSpPr>
          <p:cNvPr id="14" name="Rectangle 13"/>
          <p:cNvSpPr/>
          <p:nvPr/>
        </p:nvSpPr>
        <p:spPr>
          <a:xfrm>
            <a:off x="7452360" y="4023360"/>
            <a:ext cx="3959352" cy="937260"/>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5" name="Rectangle 14"/>
          <p:cNvSpPr/>
          <p:nvPr/>
        </p:nvSpPr>
        <p:spPr>
          <a:xfrm>
            <a:off x="7452360" y="4023360"/>
            <a:ext cx="82296" cy="937260"/>
          </a:xfrm>
          <a:prstGeom prst="rect">
            <a:avLst/>
          </a:prstGeom>
          <a:solidFill>
            <a:srgbClr val="7C3AE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6" name="TextBox 15"/>
          <p:cNvSpPr txBox="1"/>
          <p:nvPr/>
        </p:nvSpPr>
        <p:spPr>
          <a:xfrm>
            <a:off x="7708392" y="4023360"/>
            <a:ext cx="3502152" cy="937260"/>
          </a:xfrm>
          <a:prstGeom prst="rect">
            <a:avLst/>
          </a:prstGeom>
          <a:noFill/>
        </p:spPr>
        <p:txBody>
          <a:bodyPr wrap="square" anchor="ctr">
            <a:spAutoFit/>
          </a:bodyPr>
          <a:lstStyle/>
          <a:p>
            <a:pPr algn="l">
              <a:spcAft>
                <a:spcPts val="300"/>
              </a:spcAft>
            </a:pPr>
            <a:r>
              <a:rPr sz="1400" b="1">
                <a:solidFill>
                  <a:srgbClr val="7C3AED"/>
                </a:solidFill>
                <a:latin typeface="Arial"/>
              </a:rPr>
              <a:t>1M items</a:t>
            </a:r>
          </a:p>
          <a:p>
            <a:pPr algn="l">
              <a:spcAft>
                <a:spcPts val="300"/>
              </a:spcAft>
            </a:pPr>
            <a:r>
              <a:rPr sz="1200" b="0">
                <a:solidFill>
                  <a:srgbClr val="161B26"/>
                </a:solidFill>
                <a:latin typeface="Arial"/>
              </a:rPr>
              <a:t>1,000,000 checks become roughly 1,000.</a:t>
            </a:r>
          </a:p>
        </p:txBody>
      </p:sp>
      <p:sp>
        <p:nvSpPr>
          <p:cNvPr id="17" name="Rectangle 16"/>
          <p:cNvSpPr/>
          <p:nvPr/>
        </p:nvSpPr>
        <p:spPr>
          <a:xfrm>
            <a:off x="7452360" y="5143500"/>
            <a:ext cx="3959352" cy="937260"/>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8" name="Rectangle 17"/>
          <p:cNvSpPr/>
          <p:nvPr/>
        </p:nvSpPr>
        <p:spPr>
          <a:xfrm>
            <a:off x="7452360" y="5143500"/>
            <a:ext cx="82296" cy="937260"/>
          </a:xfrm>
          <a:prstGeom prst="rect">
            <a:avLst/>
          </a:prstGeom>
          <a:solidFill>
            <a:srgbClr val="F59E0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9" name="TextBox 18"/>
          <p:cNvSpPr txBox="1"/>
          <p:nvPr/>
        </p:nvSpPr>
        <p:spPr>
          <a:xfrm>
            <a:off x="7708392" y="5143500"/>
            <a:ext cx="3502152" cy="937260"/>
          </a:xfrm>
          <a:prstGeom prst="rect">
            <a:avLst/>
          </a:prstGeom>
          <a:noFill/>
        </p:spPr>
        <p:txBody>
          <a:bodyPr wrap="square" anchor="ctr">
            <a:spAutoFit/>
          </a:bodyPr>
          <a:lstStyle/>
          <a:p>
            <a:pPr algn="l">
              <a:spcAft>
                <a:spcPts val="300"/>
              </a:spcAft>
            </a:pPr>
            <a:r>
              <a:rPr sz="1400" b="1">
                <a:solidFill>
                  <a:srgbClr val="F59E0B"/>
                </a:solidFill>
                <a:latin typeface="Arial"/>
              </a:rPr>
              <a:t>Not exponential</a:t>
            </a:r>
          </a:p>
          <a:p>
            <a:pPr algn="l">
              <a:spcAft>
                <a:spcPts val="300"/>
              </a:spcAft>
            </a:pPr>
            <a:r>
              <a:rPr sz="1200" b="0">
                <a:solidFill>
                  <a:srgbClr val="161B26"/>
                </a:solidFill>
                <a:latin typeface="Arial"/>
              </a:rPr>
              <a:t>A real speedup, but far smaller than Shor's.</a:t>
            </a:r>
          </a:p>
        </p:txBody>
      </p:sp>
      <p:sp>
        <p:nvSpPr>
          <p:cNvPr id="20" name="TextBox 19"/>
          <p:cNvSpPr txBox="1"/>
          <p:nvPr/>
        </p:nvSpPr>
        <p:spPr>
          <a:xfrm>
            <a:off x="365760" y="6446520"/>
            <a:ext cx="6858000" cy="320040"/>
          </a:xfrm>
          <a:prstGeom prst="rect">
            <a:avLst/>
          </a:prstGeom>
          <a:noFill/>
        </p:spPr>
        <p:txBody>
          <a:bodyPr wrap="square" anchor="t">
            <a:spAutoFit/>
          </a:bodyPr>
          <a:lstStyle/>
          <a:p>
            <a:pPr algn="l">
              <a:spcAft>
                <a:spcPts val="400"/>
              </a:spcAft>
            </a:pPr>
            <a:r>
              <a:rPr sz="900" b="0">
                <a:solidFill>
                  <a:srgbClr val="5B6372"/>
                </a:solidFill>
                <a:latin typeface="Arial"/>
              </a:rPr>
              <a:t>Securing the Future with Quantum Computing and Cryptography  ·  TGS-2024043419</a:t>
            </a:r>
          </a:p>
        </p:txBody>
      </p:sp>
      <p:sp>
        <p:nvSpPr>
          <p:cNvPr id="21" name="TextBox 20"/>
          <p:cNvSpPr txBox="1"/>
          <p:nvPr/>
        </p:nvSpPr>
        <p:spPr>
          <a:xfrm>
            <a:off x="4572000" y="6446520"/>
            <a:ext cx="3017520" cy="320040"/>
          </a:xfrm>
          <a:prstGeom prst="rect">
            <a:avLst/>
          </a:prstGeom>
          <a:noFill/>
        </p:spPr>
        <p:txBody>
          <a:bodyPr wrap="square" anchor="t">
            <a:spAutoFit/>
          </a:bodyPr>
          <a:lstStyle/>
          <a:p>
            <a:pPr algn="ctr">
              <a:spcAft>
                <a:spcPts val="400"/>
              </a:spcAft>
            </a:pPr>
            <a:r>
              <a:rPr sz="900" b="0">
                <a:solidFill>
                  <a:srgbClr val="5B6372"/>
                </a:solidFill>
                <a:latin typeface="Arial"/>
              </a:rPr>
              <a:t>© 2026 Tertiary Infotech Academy Pte Ltd</a:t>
            </a:r>
          </a:p>
        </p:txBody>
      </p:sp>
      <p:sp>
        <p:nvSpPr>
          <p:cNvPr id="22" name="TextBox 21"/>
          <p:cNvSpPr txBox="1"/>
          <p:nvPr/>
        </p:nvSpPr>
        <p:spPr>
          <a:xfrm>
            <a:off x="11338560" y="6446520"/>
            <a:ext cx="548640" cy="320040"/>
          </a:xfrm>
          <a:prstGeom prst="rect">
            <a:avLst/>
          </a:prstGeom>
          <a:noFill/>
        </p:spPr>
        <p:txBody>
          <a:bodyPr wrap="square" anchor="t">
            <a:spAutoFit/>
          </a:bodyPr>
          <a:lstStyle/>
          <a:p>
            <a:pPr algn="r">
              <a:spcAft>
                <a:spcPts val="400"/>
              </a:spcAft>
            </a:pPr>
            <a:r>
              <a:rPr sz="900" b="0">
                <a:solidFill>
                  <a:srgbClr val="5B6372"/>
                </a:solidFill>
                <a:latin typeface="Arial"/>
              </a:rPr>
              <a:t>134</a:t>
            </a:r>
          </a:p>
        </p:txBody>
      </p:sp>
    </p:spTree>
  </p:cSld>
  <p:clrMapOvr>
    <a:masterClrMapping/>
  </p:clrMapOvr>
</p:sld>
</file>

<file path=ppt/slides/slide136.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256032" cy="1417320"/>
          </a:xfrm>
          <a:prstGeom prst="rect">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777240" y="457200"/>
            <a:ext cx="10607040" cy="365760"/>
          </a:xfrm>
          <a:prstGeom prst="rect">
            <a:avLst/>
          </a:prstGeom>
          <a:noFill/>
        </p:spPr>
        <p:txBody>
          <a:bodyPr wrap="square" anchor="t">
            <a:spAutoFit/>
          </a:bodyPr>
          <a:lstStyle/>
          <a:p>
            <a:pPr algn="l">
              <a:spcAft>
                <a:spcPts val="400"/>
              </a:spcAft>
            </a:pPr>
            <a:r>
              <a:rPr sz="1400" b="1">
                <a:solidFill>
                  <a:srgbClr val="1F6FEB"/>
                </a:solidFill>
                <a:latin typeface="Arial"/>
              </a:rPr>
              <a:t>THE ALGORITHM BEHIND SHOR</a:t>
            </a:r>
          </a:p>
        </p:txBody>
      </p:sp>
      <p:sp>
        <p:nvSpPr>
          <p:cNvPr id="5" name="TextBox 4"/>
          <p:cNvSpPr txBox="1"/>
          <p:nvPr/>
        </p:nvSpPr>
        <p:spPr>
          <a:xfrm>
            <a:off x="777240" y="822960"/>
            <a:ext cx="10881360" cy="822960"/>
          </a:xfrm>
          <a:prstGeom prst="rect">
            <a:avLst/>
          </a:prstGeom>
          <a:noFill/>
        </p:spPr>
        <p:txBody>
          <a:bodyPr wrap="square" anchor="t">
            <a:spAutoFit/>
          </a:bodyPr>
          <a:lstStyle/>
          <a:p>
            <a:pPr algn="l">
              <a:spcAft>
                <a:spcPts val="400"/>
              </a:spcAft>
            </a:pPr>
            <a:r>
              <a:rPr sz="2900" b="1">
                <a:solidFill>
                  <a:srgbClr val="161B26"/>
                </a:solidFill>
                <a:latin typeface="Arial"/>
              </a:rPr>
              <a:t>The problem</a:t>
            </a:r>
          </a:p>
        </p:txBody>
      </p:sp>
      <p:sp>
        <p:nvSpPr>
          <p:cNvPr id="6" name="Rectangle 5"/>
          <p:cNvSpPr/>
          <p:nvPr/>
        </p:nvSpPr>
        <p:spPr>
          <a:xfrm>
            <a:off x="777240" y="1554480"/>
            <a:ext cx="10634472" cy="18288"/>
          </a:xfrm>
          <a:prstGeom prst="rect">
            <a:avLst/>
          </a:prstGeom>
          <a:solidFill>
            <a:srgbClr val="E2E8F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Rectangle 6"/>
          <p:cNvSpPr/>
          <p:nvPr/>
        </p:nvSpPr>
        <p:spPr>
          <a:xfrm>
            <a:off x="777240" y="1810512"/>
            <a:ext cx="10634472" cy="2907792"/>
          </a:xfrm>
          <a:prstGeom prst="rect">
            <a:avLst/>
          </a:prstGeom>
          <a:solidFill>
            <a:srgbClr val="0B122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TextBox 7"/>
          <p:cNvSpPr txBox="1"/>
          <p:nvPr/>
        </p:nvSpPr>
        <p:spPr>
          <a:xfrm>
            <a:off x="1097280" y="1956816"/>
            <a:ext cx="9994392" cy="2615184"/>
          </a:xfrm>
          <a:prstGeom prst="rect">
            <a:avLst/>
          </a:prstGeom>
          <a:noFill/>
        </p:spPr>
        <p:txBody>
          <a:bodyPr wrap="square" anchor="t">
            <a:spAutoFit/>
          </a:bodyPr>
          <a:lstStyle/>
          <a:p>
            <a:pPr algn="l">
              <a:spcAft>
                <a:spcPts val="300"/>
              </a:spcAft>
            </a:pPr>
            <a:r>
              <a:rPr sz="1500" b="0">
                <a:solidFill>
                  <a:srgbClr val="9CDCFE"/>
                </a:solidFill>
                <a:latin typeface="Arial"/>
              </a:rPr>
              <a:t>GIVEN:  a unitary U and one of its eigenvectors |u&gt;, with</a:t>
            </a:r>
          </a:p>
          <a:p>
            <a:pPr algn="l">
              <a:spcAft>
                <a:spcPts val="300"/>
              </a:spcAft>
            </a:pPr>
            <a:r>
              <a:rPr sz="1500" b="0">
                <a:solidFill>
                  <a:srgbClr val="0B1220"/>
                </a:solidFill>
                <a:latin typeface="Arial"/>
              </a:rPr>
              <a:t> </a:t>
            </a:r>
          </a:p>
          <a:p>
            <a:pPr algn="l">
              <a:spcAft>
                <a:spcPts val="300"/>
              </a:spcAft>
            </a:pPr>
            <a:r>
              <a:rPr sz="1500" b="0">
                <a:solidFill>
                  <a:srgbClr val="9CDCFE"/>
                </a:solidFill>
                <a:latin typeface="Arial"/>
              </a:rPr>
              <a:t>   U|u&gt;  =  e^(2πiφ) |u&gt;</a:t>
            </a:r>
          </a:p>
          <a:p>
            <a:pPr algn="l">
              <a:spcAft>
                <a:spcPts val="300"/>
              </a:spcAft>
            </a:pPr>
            <a:r>
              <a:rPr sz="1500" b="0">
                <a:solidFill>
                  <a:srgbClr val="0B1220"/>
                </a:solidFill>
                <a:latin typeface="Arial"/>
              </a:rPr>
              <a:t> </a:t>
            </a:r>
          </a:p>
          <a:p>
            <a:pPr algn="l">
              <a:spcAft>
                <a:spcPts val="300"/>
              </a:spcAft>
            </a:pPr>
            <a:r>
              <a:rPr sz="1500" b="0">
                <a:solidFill>
                  <a:srgbClr val="9CDCFE"/>
                </a:solidFill>
                <a:latin typeface="Arial"/>
              </a:rPr>
              <a:t>FIND:   the phase φ ∈ [0,1), to n bits of precision.</a:t>
            </a:r>
          </a:p>
          <a:p>
            <a:pPr algn="l">
              <a:spcAft>
                <a:spcPts val="300"/>
              </a:spcAft>
            </a:pPr>
            <a:r>
              <a:rPr sz="1500" b="0">
                <a:solidFill>
                  <a:srgbClr val="0B1220"/>
                </a:solidFill>
                <a:latin typeface="Arial"/>
              </a:rPr>
              <a:t> </a:t>
            </a:r>
          </a:p>
          <a:p>
            <a:pPr algn="l">
              <a:spcAft>
                <a:spcPts val="300"/>
              </a:spcAft>
            </a:pPr>
            <a:r>
              <a:rPr sz="1500" b="0">
                <a:solidFill>
                  <a:srgbClr val="9CDCFE"/>
                </a:solidFill>
                <a:latin typeface="Arial"/>
              </a:rPr>
              <a:t>Recall: unitary eigenvalues always have magnitude 1 (Axiom 2), so all</a:t>
            </a:r>
          </a:p>
          <a:p>
            <a:pPr algn="l">
              <a:spcAft>
                <a:spcPts val="300"/>
              </a:spcAft>
            </a:pPr>
            <a:r>
              <a:rPr sz="1500" b="0">
                <a:solidFill>
                  <a:srgbClr val="9CDCFE"/>
                </a:solidFill>
                <a:latin typeface="Arial"/>
              </a:rPr>
              <a:t>the information is in the single real number φ.</a:t>
            </a:r>
          </a:p>
        </p:txBody>
      </p:sp>
      <p:sp>
        <p:nvSpPr>
          <p:cNvPr id="9" name="Rectangle 8"/>
          <p:cNvSpPr/>
          <p:nvPr/>
        </p:nvSpPr>
        <p:spPr>
          <a:xfrm>
            <a:off x="777240" y="4919472"/>
            <a:ext cx="10634472" cy="1133856"/>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Rectangle 9"/>
          <p:cNvSpPr/>
          <p:nvPr/>
        </p:nvSpPr>
        <p:spPr>
          <a:xfrm>
            <a:off x="777240" y="4919472"/>
            <a:ext cx="82296" cy="1133856"/>
          </a:xfrm>
          <a:prstGeom prst="rect">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 name="TextBox 10"/>
          <p:cNvSpPr txBox="1"/>
          <p:nvPr/>
        </p:nvSpPr>
        <p:spPr>
          <a:xfrm>
            <a:off x="1097280" y="4919472"/>
            <a:ext cx="10149840" cy="1133856"/>
          </a:xfrm>
          <a:prstGeom prst="rect">
            <a:avLst/>
          </a:prstGeom>
          <a:noFill/>
        </p:spPr>
        <p:txBody>
          <a:bodyPr wrap="square" anchor="ctr">
            <a:spAutoFit/>
          </a:bodyPr>
          <a:lstStyle/>
          <a:p>
            <a:pPr algn="l">
              <a:spcAft>
                <a:spcPts val="400"/>
              </a:spcAft>
            </a:pPr>
            <a:r>
              <a:rPr sz="1150" b="1">
                <a:solidFill>
                  <a:srgbClr val="10B981"/>
                </a:solidFill>
                <a:latin typeface="Arial"/>
              </a:rPr>
              <a:t>KEY POINT:  </a:t>
            </a:r>
            <a:r>
              <a:rPr sz="1300" b="0">
                <a:solidFill>
                  <a:srgbClr val="161B26"/>
                </a:solidFill>
                <a:latin typeface="Arial"/>
              </a:rPr>
              <a:t>QPE is the workhorse subroutine: order finding, factoring, quantum chemistry energies and HHL all reduce to it.</a:t>
            </a:r>
          </a:p>
        </p:txBody>
      </p:sp>
      <p:sp>
        <p:nvSpPr>
          <p:cNvPr id="12" name="TextBox 11"/>
          <p:cNvSpPr txBox="1"/>
          <p:nvPr/>
        </p:nvSpPr>
        <p:spPr>
          <a:xfrm>
            <a:off x="365760" y="6446520"/>
            <a:ext cx="6858000" cy="320040"/>
          </a:xfrm>
          <a:prstGeom prst="rect">
            <a:avLst/>
          </a:prstGeom>
          <a:noFill/>
        </p:spPr>
        <p:txBody>
          <a:bodyPr wrap="square" anchor="t">
            <a:spAutoFit/>
          </a:bodyPr>
          <a:lstStyle/>
          <a:p>
            <a:pPr algn="l">
              <a:spcAft>
                <a:spcPts val="400"/>
              </a:spcAft>
            </a:pPr>
            <a:r>
              <a:rPr sz="900" b="0">
                <a:solidFill>
                  <a:srgbClr val="5B6372"/>
                </a:solidFill>
                <a:latin typeface="Arial"/>
              </a:rPr>
              <a:t>Securing the Future with Quantum Computing and Cryptography  ·  TGS-2024043419</a:t>
            </a:r>
          </a:p>
        </p:txBody>
      </p:sp>
      <p:sp>
        <p:nvSpPr>
          <p:cNvPr id="13" name="TextBox 12"/>
          <p:cNvSpPr txBox="1"/>
          <p:nvPr/>
        </p:nvSpPr>
        <p:spPr>
          <a:xfrm>
            <a:off x="4572000" y="6446520"/>
            <a:ext cx="3017520" cy="320040"/>
          </a:xfrm>
          <a:prstGeom prst="rect">
            <a:avLst/>
          </a:prstGeom>
          <a:noFill/>
        </p:spPr>
        <p:txBody>
          <a:bodyPr wrap="square" anchor="t">
            <a:spAutoFit/>
          </a:bodyPr>
          <a:lstStyle/>
          <a:p>
            <a:pPr algn="ctr">
              <a:spcAft>
                <a:spcPts val="400"/>
              </a:spcAft>
            </a:pPr>
            <a:r>
              <a:rPr sz="900" b="0">
                <a:solidFill>
                  <a:srgbClr val="5B6372"/>
                </a:solidFill>
                <a:latin typeface="Arial"/>
              </a:rPr>
              <a:t>© 2026 Tertiary Infotech Academy Pte Ltd</a:t>
            </a:r>
          </a:p>
        </p:txBody>
      </p:sp>
      <p:sp>
        <p:nvSpPr>
          <p:cNvPr id="14" name="TextBox 13"/>
          <p:cNvSpPr txBox="1"/>
          <p:nvPr/>
        </p:nvSpPr>
        <p:spPr>
          <a:xfrm>
            <a:off x="11338560" y="6446520"/>
            <a:ext cx="548640" cy="320040"/>
          </a:xfrm>
          <a:prstGeom prst="rect">
            <a:avLst/>
          </a:prstGeom>
          <a:noFill/>
        </p:spPr>
        <p:txBody>
          <a:bodyPr wrap="square" anchor="t">
            <a:spAutoFit/>
          </a:bodyPr>
          <a:lstStyle/>
          <a:p>
            <a:pPr algn="r">
              <a:spcAft>
                <a:spcPts val="400"/>
              </a:spcAft>
            </a:pPr>
            <a:r>
              <a:rPr sz="900" b="0">
                <a:solidFill>
                  <a:srgbClr val="5B6372"/>
                </a:solidFill>
                <a:latin typeface="Arial"/>
              </a:rPr>
              <a:t>135</a:t>
            </a:r>
          </a:p>
        </p:txBody>
      </p:sp>
    </p:spTree>
  </p:cSld>
  <p:clrMapOvr>
    <a:masterClrMapping/>
  </p:clrMapOvr>
</p:sld>
</file>

<file path=ppt/slides/slide137.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256032" cy="1417320"/>
          </a:xfrm>
          <a:prstGeom prst="rect">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777240" y="457200"/>
            <a:ext cx="10607040" cy="365760"/>
          </a:xfrm>
          <a:prstGeom prst="rect">
            <a:avLst/>
          </a:prstGeom>
          <a:noFill/>
        </p:spPr>
        <p:txBody>
          <a:bodyPr wrap="square" anchor="t">
            <a:spAutoFit/>
          </a:bodyPr>
          <a:lstStyle/>
          <a:p>
            <a:pPr algn="l">
              <a:spcAft>
                <a:spcPts val="400"/>
              </a:spcAft>
            </a:pPr>
            <a:r>
              <a:rPr sz="1400" b="1">
                <a:solidFill>
                  <a:srgbClr val="1F6FEB"/>
                </a:solidFill>
                <a:latin typeface="Arial"/>
              </a:rPr>
              <a:t>THE ALGORITHM BEHIND SHOR</a:t>
            </a:r>
          </a:p>
        </p:txBody>
      </p:sp>
      <p:sp>
        <p:nvSpPr>
          <p:cNvPr id="5" name="TextBox 4"/>
          <p:cNvSpPr txBox="1"/>
          <p:nvPr/>
        </p:nvSpPr>
        <p:spPr>
          <a:xfrm>
            <a:off x="777240" y="822960"/>
            <a:ext cx="10881360" cy="822960"/>
          </a:xfrm>
          <a:prstGeom prst="rect">
            <a:avLst/>
          </a:prstGeom>
          <a:noFill/>
        </p:spPr>
        <p:txBody>
          <a:bodyPr wrap="square" anchor="t">
            <a:spAutoFit/>
          </a:bodyPr>
          <a:lstStyle/>
          <a:p>
            <a:pPr algn="l">
              <a:spcAft>
                <a:spcPts val="400"/>
              </a:spcAft>
            </a:pPr>
            <a:r>
              <a:rPr sz="2900" b="1">
                <a:solidFill>
                  <a:srgbClr val="161B26"/>
                </a:solidFill>
                <a:latin typeface="Arial"/>
              </a:rPr>
              <a:t>Step 1 — Superpose the counting register</a:t>
            </a:r>
          </a:p>
        </p:txBody>
      </p:sp>
      <p:sp>
        <p:nvSpPr>
          <p:cNvPr id="6" name="Rectangle 5"/>
          <p:cNvSpPr/>
          <p:nvPr/>
        </p:nvSpPr>
        <p:spPr>
          <a:xfrm>
            <a:off x="777240" y="1554480"/>
            <a:ext cx="10634472" cy="18288"/>
          </a:xfrm>
          <a:prstGeom prst="rect">
            <a:avLst/>
          </a:prstGeom>
          <a:solidFill>
            <a:srgbClr val="E2E8F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Rectangle 6"/>
          <p:cNvSpPr/>
          <p:nvPr/>
        </p:nvSpPr>
        <p:spPr>
          <a:xfrm>
            <a:off x="777240" y="1810512"/>
            <a:ext cx="10634472" cy="2601468"/>
          </a:xfrm>
          <a:prstGeom prst="rect">
            <a:avLst/>
          </a:prstGeom>
          <a:solidFill>
            <a:srgbClr val="0B122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TextBox 7"/>
          <p:cNvSpPr txBox="1"/>
          <p:nvPr/>
        </p:nvSpPr>
        <p:spPr>
          <a:xfrm>
            <a:off x="1097280" y="1956816"/>
            <a:ext cx="9994392" cy="2308860"/>
          </a:xfrm>
          <a:prstGeom prst="rect">
            <a:avLst/>
          </a:prstGeom>
          <a:noFill/>
        </p:spPr>
        <p:txBody>
          <a:bodyPr wrap="square" anchor="t">
            <a:spAutoFit/>
          </a:bodyPr>
          <a:lstStyle/>
          <a:p>
            <a:pPr algn="l">
              <a:spcAft>
                <a:spcPts val="300"/>
              </a:spcAft>
            </a:pPr>
            <a:r>
              <a:rPr sz="1500" b="0">
                <a:solidFill>
                  <a:srgbClr val="9CDCFE"/>
                </a:solidFill>
                <a:latin typeface="Arial"/>
              </a:rPr>
              <a:t>Use two registers:</a:t>
            </a:r>
          </a:p>
          <a:p>
            <a:pPr algn="l">
              <a:spcAft>
                <a:spcPts val="300"/>
              </a:spcAft>
            </a:pPr>
            <a:r>
              <a:rPr sz="1500" b="0">
                <a:solidFill>
                  <a:srgbClr val="9CDCFE"/>
                </a:solidFill>
                <a:latin typeface="Arial"/>
              </a:rPr>
              <a:t>   counting register:  t qubits, initialised |0&gt;ᵗ</a:t>
            </a:r>
          </a:p>
          <a:p>
            <a:pPr algn="l">
              <a:spcAft>
                <a:spcPts val="300"/>
              </a:spcAft>
            </a:pPr>
            <a:r>
              <a:rPr sz="1500" b="0">
                <a:solidFill>
                  <a:srgbClr val="9CDCFE"/>
                </a:solidFill>
                <a:latin typeface="Arial"/>
              </a:rPr>
              <a:t>   eigenstate register: holds |u&gt;</a:t>
            </a:r>
          </a:p>
          <a:p>
            <a:pPr algn="l">
              <a:spcAft>
                <a:spcPts val="300"/>
              </a:spcAft>
            </a:pPr>
            <a:r>
              <a:rPr sz="1500" b="0">
                <a:solidFill>
                  <a:srgbClr val="0B1220"/>
                </a:solidFill>
                <a:latin typeface="Arial"/>
              </a:rPr>
              <a:t> </a:t>
            </a:r>
          </a:p>
          <a:p>
            <a:pPr algn="l">
              <a:spcAft>
                <a:spcPts val="300"/>
              </a:spcAft>
            </a:pPr>
            <a:r>
              <a:rPr sz="1500" b="0">
                <a:solidFill>
                  <a:srgbClr val="9CDCFE"/>
                </a:solidFill>
                <a:latin typeface="Arial"/>
              </a:rPr>
              <a:t>Apply H to every counting qubit:</a:t>
            </a:r>
          </a:p>
          <a:p>
            <a:pPr algn="l">
              <a:spcAft>
                <a:spcPts val="300"/>
              </a:spcAft>
            </a:pPr>
            <a:r>
              <a:rPr sz="1500" b="0">
                <a:solidFill>
                  <a:srgbClr val="0B1220"/>
                </a:solidFill>
                <a:latin typeface="Arial"/>
              </a:rPr>
              <a:t> </a:t>
            </a:r>
          </a:p>
          <a:p>
            <a:pPr algn="l">
              <a:spcAft>
                <a:spcPts val="300"/>
              </a:spcAft>
            </a:pPr>
            <a:r>
              <a:rPr sz="1500" b="0">
                <a:solidFill>
                  <a:srgbClr val="9CDCFE"/>
                </a:solidFill>
                <a:latin typeface="Arial"/>
              </a:rPr>
              <a:t>   (1/√2ᵗ) Σ_(k=0..2ᵗ-1) |k&gt;  (x)  |u&gt;</a:t>
            </a:r>
          </a:p>
        </p:txBody>
      </p:sp>
      <p:sp>
        <p:nvSpPr>
          <p:cNvPr id="9" name="Rectangle 8"/>
          <p:cNvSpPr/>
          <p:nvPr/>
        </p:nvSpPr>
        <p:spPr>
          <a:xfrm>
            <a:off x="777240" y="4613148"/>
            <a:ext cx="10634472" cy="1440180"/>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Rectangle 9"/>
          <p:cNvSpPr/>
          <p:nvPr/>
        </p:nvSpPr>
        <p:spPr>
          <a:xfrm>
            <a:off x="777240" y="4613148"/>
            <a:ext cx="82296" cy="1440180"/>
          </a:xfrm>
          <a:prstGeom prst="rect">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 name="TextBox 10"/>
          <p:cNvSpPr txBox="1"/>
          <p:nvPr/>
        </p:nvSpPr>
        <p:spPr>
          <a:xfrm>
            <a:off x="1097280" y="4613148"/>
            <a:ext cx="10149840" cy="1440180"/>
          </a:xfrm>
          <a:prstGeom prst="rect">
            <a:avLst/>
          </a:prstGeom>
          <a:noFill/>
        </p:spPr>
        <p:txBody>
          <a:bodyPr wrap="square" anchor="ctr">
            <a:spAutoFit/>
          </a:bodyPr>
          <a:lstStyle/>
          <a:p>
            <a:pPr algn="l">
              <a:spcAft>
                <a:spcPts val="400"/>
              </a:spcAft>
            </a:pPr>
            <a:r>
              <a:rPr sz="1150" b="1">
                <a:solidFill>
                  <a:srgbClr val="10B981"/>
                </a:solidFill>
                <a:latin typeface="Arial"/>
              </a:rPr>
              <a:t>KEY POINT:  </a:t>
            </a:r>
            <a:r>
              <a:rPr sz="1300" b="0">
                <a:solidFill>
                  <a:srgbClr val="161B26"/>
                </a:solidFill>
                <a:latin typeface="Arial"/>
              </a:rPr>
              <a:t>t controls the precision: t bits give φ to t binary places.</a:t>
            </a:r>
          </a:p>
        </p:txBody>
      </p:sp>
      <p:sp>
        <p:nvSpPr>
          <p:cNvPr id="12" name="TextBox 11"/>
          <p:cNvSpPr txBox="1"/>
          <p:nvPr/>
        </p:nvSpPr>
        <p:spPr>
          <a:xfrm>
            <a:off x="365760" y="6446520"/>
            <a:ext cx="6858000" cy="320040"/>
          </a:xfrm>
          <a:prstGeom prst="rect">
            <a:avLst/>
          </a:prstGeom>
          <a:noFill/>
        </p:spPr>
        <p:txBody>
          <a:bodyPr wrap="square" anchor="t">
            <a:spAutoFit/>
          </a:bodyPr>
          <a:lstStyle/>
          <a:p>
            <a:pPr algn="l">
              <a:spcAft>
                <a:spcPts val="400"/>
              </a:spcAft>
            </a:pPr>
            <a:r>
              <a:rPr sz="900" b="0">
                <a:solidFill>
                  <a:srgbClr val="5B6372"/>
                </a:solidFill>
                <a:latin typeface="Arial"/>
              </a:rPr>
              <a:t>Securing the Future with Quantum Computing and Cryptography  ·  TGS-2024043419</a:t>
            </a:r>
          </a:p>
        </p:txBody>
      </p:sp>
      <p:sp>
        <p:nvSpPr>
          <p:cNvPr id="13" name="TextBox 12"/>
          <p:cNvSpPr txBox="1"/>
          <p:nvPr/>
        </p:nvSpPr>
        <p:spPr>
          <a:xfrm>
            <a:off x="4572000" y="6446520"/>
            <a:ext cx="3017520" cy="320040"/>
          </a:xfrm>
          <a:prstGeom prst="rect">
            <a:avLst/>
          </a:prstGeom>
          <a:noFill/>
        </p:spPr>
        <p:txBody>
          <a:bodyPr wrap="square" anchor="t">
            <a:spAutoFit/>
          </a:bodyPr>
          <a:lstStyle/>
          <a:p>
            <a:pPr algn="ctr">
              <a:spcAft>
                <a:spcPts val="400"/>
              </a:spcAft>
            </a:pPr>
            <a:r>
              <a:rPr sz="900" b="0">
                <a:solidFill>
                  <a:srgbClr val="5B6372"/>
                </a:solidFill>
                <a:latin typeface="Arial"/>
              </a:rPr>
              <a:t>© 2026 Tertiary Infotech Academy Pte Ltd</a:t>
            </a:r>
          </a:p>
        </p:txBody>
      </p:sp>
      <p:sp>
        <p:nvSpPr>
          <p:cNvPr id="14" name="TextBox 13"/>
          <p:cNvSpPr txBox="1"/>
          <p:nvPr/>
        </p:nvSpPr>
        <p:spPr>
          <a:xfrm>
            <a:off x="11338560" y="6446520"/>
            <a:ext cx="548640" cy="320040"/>
          </a:xfrm>
          <a:prstGeom prst="rect">
            <a:avLst/>
          </a:prstGeom>
          <a:noFill/>
        </p:spPr>
        <p:txBody>
          <a:bodyPr wrap="square" anchor="t">
            <a:spAutoFit/>
          </a:bodyPr>
          <a:lstStyle/>
          <a:p>
            <a:pPr algn="r">
              <a:spcAft>
                <a:spcPts val="400"/>
              </a:spcAft>
            </a:pPr>
            <a:r>
              <a:rPr sz="900" b="0">
                <a:solidFill>
                  <a:srgbClr val="5B6372"/>
                </a:solidFill>
                <a:latin typeface="Arial"/>
              </a:rPr>
              <a:t>136</a:t>
            </a:r>
          </a:p>
        </p:txBody>
      </p:sp>
    </p:spTree>
  </p:cSld>
  <p:clrMapOvr>
    <a:masterClrMapping/>
  </p:clrMapOvr>
</p:sld>
</file>

<file path=ppt/slides/slide138.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256032" cy="1417320"/>
          </a:xfrm>
          <a:prstGeom prst="rect">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777240" y="457200"/>
            <a:ext cx="10607040" cy="365760"/>
          </a:xfrm>
          <a:prstGeom prst="rect">
            <a:avLst/>
          </a:prstGeom>
          <a:noFill/>
        </p:spPr>
        <p:txBody>
          <a:bodyPr wrap="square" anchor="t">
            <a:spAutoFit/>
          </a:bodyPr>
          <a:lstStyle/>
          <a:p>
            <a:pPr algn="l">
              <a:spcAft>
                <a:spcPts val="400"/>
              </a:spcAft>
            </a:pPr>
            <a:r>
              <a:rPr sz="1400" b="1">
                <a:solidFill>
                  <a:srgbClr val="1F6FEB"/>
                </a:solidFill>
                <a:latin typeface="Arial"/>
              </a:rPr>
              <a:t>THE ALGORITHM BEHIND SHOR</a:t>
            </a:r>
          </a:p>
        </p:txBody>
      </p:sp>
      <p:sp>
        <p:nvSpPr>
          <p:cNvPr id="5" name="TextBox 4"/>
          <p:cNvSpPr txBox="1"/>
          <p:nvPr/>
        </p:nvSpPr>
        <p:spPr>
          <a:xfrm>
            <a:off x="777240" y="822960"/>
            <a:ext cx="10881360" cy="822960"/>
          </a:xfrm>
          <a:prstGeom prst="rect">
            <a:avLst/>
          </a:prstGeom>
          <a:noFill/>
        </p:spPr>
        <p:txBody>
          <a:bodyPr wrap="square" anchor="t">
            <a:spAutoFit/>
          </a:bodyPr>
          <a:lstStyle/>
          <a:p>
            <a:pPr algn="l">
              <a:spcAft>
                <a:spcPts val="400"/>
              </a:spcAft>
            </a:pPr>
            <a:r>
              <a:rPr sz="2900" b="1">
                <a:solidFill>
                  <a:srgbClr val="161B26"/>
                </a:solidFill>
                <a:latin typeface="Arial"/>
              </a:rPr>
              <a:t>Step 2 — Controlled powers of U (kickback)</a:t>
            </a:r>
          </a:p>
        </p:txBody>
      </p:sp>
      <p:sp>
        <p:nvSpPr>
          <p:cNvPr id="6" name="Rectangle 5"/>
          <p:cNvSpPr/>
          <p:nvPr/>
        </p:nvSpPr>
        <p:spPr>
          <a:xfrm>
            <a:off x="777240" y="1554480"/>
            <a:ext cx="10634472" cy="18288"/>
          </a:xfrm>
          <a:prstGeom prst="rect">
            <a:avLst/>
          </a:prstGeom>
          <a:solidFill>
            <a:srgbClr val="E2E8F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Rectangle 6"/>
          <p:cNvSpPr/>
          <p:nvPr/>
        </p:nvSpPr>
        <p:spPr>
          <a:xfrm>
            <a:off x="777240" y="1810512"/>
            <a:ext cx="10634472" cy="2907792"/>
          </a:xfrm>
          <a:prstGeom prst="rect">
            <a:avLst/>
          </a:prstGeom>
          <a:solidFill>
            <a:srgbClr val="0B122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TextBox 7"/>
          <p:cNvSpPr txBox="1"/>
          <p:nvPr/>
        </p:nvSpPr>
        <p:spPr>
          <a:xfrm>
            <a:off x="1097280" y="1956816"/>
            <a:ext cx="9994392" cy="2615184"/>
          </a:xfrm>
          <a:prstGeom prst="rect">
            <a:avLst/>
          </a:prstGeom>
          <a:noFill/>
        </p:spPr>
        <p:txBody>
          <a:bodyPr wrap="square" anchor="t">
            <a:spAutoFit/>
          </a:bodyPr>
          <a:lstStyle/>
          <a:p>
            <a:pPr algn="l">
              <a:spcAft>
                <a:spcPts val="300"/>
              </a:spcAft>
            </a:pPr>
            <a:r>
              <a:rPr sz="1500" b="0">
                <a:solidFill>
                  <a:srgbClr val="9CDCFE"/>
                </a:solidFill>
                <a:latin typeface="Arial"/>
              </a:rPr>
              <a:t>Apply controlled-U^(2^j) from counting qubit j onto the eigenstate register.</a:t>
            </a:r>
          </a:p>
          <a:p>
            <a:pPr algn="l">
              <a:spcAft>
                <a:spcPts val="300"/>
              </a:spcAft>
            </a:pPr>
            <a:r>
              <a:rPr sz="1500" b="0">
                <a:solidFill>
                  <a:srgbClr val="0B1220"/>
                </a:solidFill>
                <a:latin typeface="Arial"/>
              </a:rPr>
              <a:t> </a:t>
            </a:r>
          </a:p>
          <a:p>
            <a:pPr algn="l">
              <a:spcAft>
                <a:spcPts val="300"/>
              </a:spcAft>
            </a:pPr>
            <a:r>
              <a:rPr sz="1500" b="0">
                <a:solidFill>
                  <a:srgbClr val="9CDCFE"/>
                </a:solidFill>
                <a:latin typeface="Arial"/>
              </a:rPr>
              <a:t>By PHASE KICKBACK, since |u&gt; is an eigenvector:</a:t>
            </a:r>
          </a:p>
          <a:p>
            <a:pPr algn="l">
              <a:spcAft>
                <a:spcPts val="300"/>
              </a:spcAft>
            </a:pPr>
            <a:r>
              <a:rPr sz="1500" b="0">
                <a:solidFill>
                  <a:srgbClr val="0B1220"/>
                </a:solidFill>
                <a:latin typeface="Arial"/>
              </a:rPr>
              <a:t> </a:t>
            </a:r>
          </a:p>
          <a:p>
            <a:pPr algn="l">
              <a:spcAft>
                <a:spcPts val="300"/>
              </a:spcAft>
            </a:pPr>
            <a:r>
              <a:rPr sz="1500" b="0">
                <a:solidFill>
                  <a:srgbClr val="9CDCFE"/>
                </a:solidFill>
                <a:latin typeface="Arial"/>
              </a:rPr>
              <a:t>   C-U^(2^j) |1&gt;|u&gt;  =  e^(2πi 2^j φ) |1&gt;|u&gt;</a:t>
            </a:r>
          </a:p>
          <a:p>
            <a:pPr algn="l">
              <a:spcAft>
                <a:spcPts val="300"/>
              </a:spcAft>
            </a:pPr>
            <a:r>
              <a:rPr sz="1500" b="0">
                <a:solidFill>
                  <a:srgbClr val="0B1220"/>
                </a:solidFill>
                <a:latin typeface="Arial"/>
              </a:rPr>
              <a:t> </a:t>
            </a:r>
          </a:p>
          <a:p>
            <a:pPr algn="l">
              <a:spcAft>
                <a:spcPts val="300"/>
              </a:spcAft>
            </a:pPr>
            <a:r>
              <a:rPr sz="1500" b="0">
                <a:solidFill>
                  <a:srgbClr val="9CDCFE"/>
                </a:solidFill>
                <a:latin typeface="Arial"/>
              </a:rPr>
              <a:t>Result over the whole register:</a:t>
            </a:r>
          </a:p>
          <a:p>
            <a:pPr algn="l">
              <a:spcAft>
                <a:spcPts val="300"/>
              </a:spcAft>
            </a:pPr>
            <a:r>
              <a:rPr sz="1500" b="0">
                <a:solidFill>
                  <a:srgbClr val="9CDCFE"/>
                </a:solidFill>
                <a:latin typeface="Arial"/>
              </a:rPr>
              <a:t>   (1/√2ᵗ) Σ_k  e^(2πi k φ) |k&gt;  (x)  |u&gt;</a:t>
            </a:r>
          </a:p>
        </p:txBody>
      </p:sp>
      <p:sp>
        <p:nvSpPr>
          <p:cNvPr id="9" name="Rectangle 8"/>
          <p:cNvSpPr/>
          <p:nvPr/>
        </p:nvSpPr>
        <p:spPr>
          <a:xfrm>
            <a:off x="777240" y="4919472"/>
            <a:ext cx="10634472" cy="1133856"/>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Rectangle 9"/>
          <p:cNvSpPr/>
          <p:nvPr/>
        </p:nvSpPr>
        <p:spPr>
          <a:xfrm>
            <a:off x="777240" y="4919472"/>
            <a:ext cx="82296" cy="1133856"/>
          </a:xfrm>
          <a:prstGeom prst="rect">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 name="TextBox 10"/>
          <p:cNvSpPr txBox="1"/>
          <p:nvPr/>
        </p:nvSpPr>
        <p:spPr>
          <a:xfrm>
            <a:off x="1097280" y="4919472"/>
            <a:ext cx="10149840" cy="1133856"/>
          </a:xfrm>
          <a:prstGeom prst="rect">
            <a:avLst/>
          </a:prstGeom>
          <a:noFill/>
        </p:spPr>
        <p:txBody>
          <a:bodyPr wrap="square" anchor="ctr">
            <a:spAutoFit/>
          </a:bodyPr>
          <a:lstStyle/>
          <a:p>
            <a:pPr algn="l">
              <a:spcAft>
                <a:spcPts val="400"/>
              </a:spcAft>
            </a:pPr>
            <a:r>
              <a:rPr sz="1150" b="1">
                <a:solidFill>
                  <a:srgbClr val="10B981"/>
                </a:solidFill>
                <a:latin typeface="Arial"/>
              </a:rPr>
              <a:t>KEY POINT:  </a:t>
            </a:r>
            <a:r>
              <a:rPr sz="1300" b="0">
                <a:solidFill>
                  <a:srgbClr val="161B26"/>
                </a:solidFill>
                <a:latin typeface="Arial"/>
              </a:rPr>
              <a:t>The eigenstate register is UNCHANGED throughout — every bit of the phase has been written onto the counting register. This is phase kickback at scale.</a:t>
            </a:r>
          </a:p>
        </p:txBody>
      </p:sp>
      <p:sp>
        <p:nvSpPr>
          <p:cNvPr id="12" name="TextBox 11"/>
          <p:cNvSpPr txBox="1"/>
          <p:nvPr/>
        </p:nvSpPr>
        <p:spPr>
          <a:xfrm>
            <a:off x="365760" y="6446520"/>
            <a:ext cx="6858000" cy="320040"/>
          </a:xfrm>
          <a:prstGeom prst="rect">
            <a:avLst/>
          </a:prstGeom>
          <a:noFill/>
        </p:spPr>
        <p:txBody>
          <a:bodyPr wrap="square" anchor="t">
            <a:spAutoFit/>
          </a:bodyPr>
          <a:lstStyle/>
          <a:p>
            <a:pPr algn="l">
              <a:spcAft>
                <a:spcPts val="400"/>
              </a:spcAft>
            </a:pPr>
            <a:r>
              <a:rPr sz="900" b="0">
                <a:solidFill>
                  <a:srgbClr val="5B6372"/>
                </a:solidFill>
                <a:latin typeface="Arial"/>
              </a:rPr>
              <a:t>Securing the Future with Quantum Computing and Cryptography  ·  TGS-2024043419</a:t>
            </a:r>
          </a:p>
        </p:txBody>
      </p:sp>
      <p:sp>
        <p:nvSpPr>
          <p:cNvPr id="13" name="TextBox 12"/>
          <p:cNvSpPr txBox="1"/>
          <p:nvPr/>
        </p:nvSpPr>
        <p:spPr>
          <a:xfrm>
            <a:off x="4572000" y="6446520"/>
            <a:ext cx="3017520" cy="320040"/>
          </a:xfrm>
          <a:prstGeom prst="rect">
            <a:avLst/>
          </a:prstGeom>
          <a:noFill/>
        </p:spPr>
        <p:txBody>
          <a:bodyPr wrap="square" anchor="t">
            <a:spAutoFit/>
          </a:bodyPr>
          <a:lstStyle/>
          <a:p>
            <a:pPr algn="ctr">
              <a:spcAft>
                <a:spcPts val="400"/>
              </a:spcAft>
            </a:pPr>
            <a:r>
              <a:rPr sz="900" b="0">
                <a:solidFill>
                  <a:srgbClr val="5B6372"/>
                </a:solidFill>
                <a:latin typeface="Arial"/>
              </a:rPr>
              <a:t>© 2026 Tertiary Infotech Academy Pte Ltd</a:t>
            </a:r>
          </a:p>
        </p:txBody>
      </p:sp>
      <p:sp>
        <p:nvSpPr>
          <p:cNvPr id="14" name="TextBox 13"/>
          <p:cNvSpPr txBox="1"/>
          <p:nvPr/>
        </p:nvSpPr>
        <p:spPr>
          <a:xfrm>
            <a:off x="11338560" y="6446520"/>
            <a:ext cx="548640" cy="320040"/>
          </a:xfrm>
          <a:prstGeom prst="rect">
            <a:avLst/>
          </a:prstGeom>
          <a:noFill/>
        </p:spPr>
        <p:txBody>
          <a:bodyPr wrap="square" anchor="t">
            <a:spAutoFit/>
          </a:bodyPr>
          <a:lstStyle/>
          <a:p>
            <a:pPr algn="r">
              <a:spcAft>
                <a:spcPts val="400"/>
              </a:spcAft>
            </a:pPr>
            <a:r>
              <a:rPr sz="900" b="0">
                <a:solidFill>
                  <a:srgbClr val="5B6372"/>
                </a:solidFill>
                <a:latin typeface="Arial"/>
              </a:rPr>
              <a:t>137</a:t>
            </a:r>
          </a:p>
        </p:txBody>
      </p:sp>
    </p:spTree>
  </p:cSld>
  <p:clrMapOvr>
    <a:masterClrMapping/>
  </p:clrMapOvr>
</p:sld>
</file>

<file path=ppt/slides/slide139.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256032" cy="1417320"/>
          </a:xfrm>
          <a:prstGeom prst="rect">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777240" y="457200"/>
            <a:ext cx="10607040" cy="365760"/>
          </a:xfrm>
          <a:prstGeom prst="rect">
            <a:avLst/>
          </a:prstGeom>
          <a:noFill/>
        </p:spPr>
        <p:txBody>
          <a:bodyPr wrap="square" anchor="t">
            <a:spAutoFit/>
          </a:bodyPr>
          <a:lstStyle/>
          <a:p>
            <a:pPr algn="l">
              <a:spcAft>
                <a:spcPts val="400"/>
              </a:spcAft>
            </a:pPr>
            <a:r>
              <a:rPr sz="1400" b="1">
                <a:solidFill>
                  <a:srgbClr val="1F6FEB"/>
                </a:solidFill>
                <a:latin typeface="Arial"/>
              </a:rPr>
              <a:t>THE ALGORITHM BEHIND SHOR</a:t>
            </a:r>
          </a:p>
        </p:txBody>
      </p:sp>
      <p:sp>
        <p:nvSpPr>
          <p:cNvPr id="5" name="TextBox 4"/>
          <p:cNvSpPr txBox="1"/>
          <p:nvPr/>
        </p:nvSpPr>
        <p:spPr>
          <a:xfrm>
            <a:off x="777240" y="822960"/>
            <a:ext cx="10881360" cy="822960"/>
          </a:xfrm>
          <a:prstGeom prst="rect">
            <a:avLst/>
          </a:prstGeom>
          <a:noFill/>
        </p:spPr>
        <p:txBody>
          <a:bodyPr wrap="square" anchor="t">
            <a:spAutoFit/>
          </a:bodyPr>
          <a:lstStyle/>
          <a:p>
            <a:pPr algn="l">
              <a:spcAft>
                <a:spcPts val="400"/>
              </a:spcAft>
            </a:pPr>
            <a:r>
              <a:rPr sz="2900" b="1">
                <a:solidFill>
                  <a:srgbClr val="161B26"/>
                </a:solidFill>
                <a:latin typeface="Arial"/>
              </a:rPr>
              <a:t>Step 3 — Inverse QFT extracts the phase</a:t>
            </a:r>
          </a:p>
        </p:txBody>
      </p:sp>
      <p:sp>
        <p:nvSpPr>
          <p:cNvPr id="6" name="Rectangle 5"/>
          <p:cNvSpPr/>
          <p:nvPr/>
        </p:nvSpPr>
        <p:spPr>
          <a:xfrm>
            <a:off x="777240" y="1554480"/>
            <a:ext cx="10634472" cy="18288"/>
          </a:xfrm>
          <a:prstGeom prst="rect">
            <a:avLst/>
          </a:prstGeom>
          <a:solidFill>
            <a:srgbClr val="E2E8F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Rectangle 6"/>
          <p:cNvSpPr/>
          <p:nvPr/>
        </p:nvSpPr>
        <p:spPr>
          <a:xfrm>
            <a:off x="777240" y="1810512"/>
            <a:ext cx="10634472" cy="2907792"/>
          </a:xfrm>
          <a:prstGeom prst="rect">
            <a:avLst/>
          </a:prstGeom>
          <a:solidFill>
            <a:srgbClr val="0B122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TextBox 7"/>
          <p:cNvSpPr txBox="1"/>
          <p:nvPr/>
        </p:nvSpPr>
        <p:spPr>
          <a:xfrm>
            <a:off x="1097280" y="1956816"/>
            <a:ext cx="9994392" cy="2615184"/>
          </a:xfrm>
          <a:prstGeom prst="rect">
            <a:avLst/>
          </a:prstGeom>
          <a:noFill/>
        </p:spPr>
        <p:txBody>
          <a:bodyPr wrap="square" anchor="t">
            <a:spAutoFit/>
          </a:bodyPr>
          <a:lstStyle/>
          <a:p>
            <a:pPr algn="l">
              <a:spcAft>
                <a:spcPts val="300"/>
              </a:spcAft>
            </a:pPr>
            <a:r>
              <a:rPr sz="1500" b="0">
                <a:solidFill>
                  <a:srgbClr val="9CDCFE"/>
                </a:solidFill>
                <a:latin typeface="Arial"/>
              </a:rPr>
              <a:t>The counting register now holds  Σ_k e^(2πi kφ)|k&gt;  — exactly the Fourier</a:t>
            </a:r>
          </a:p>
          <a:p>
            <a:pPr algn="l">
              <a:spcAft>
                <a:spcPts val="300"/>
              </a:spcAft>
            </a:pPr>
            <a:r>
              <a:rPr sz="1500" b="0">
                <a:solidFill>
                  <a:srgbClr val="9CDCFE"/>
                </a:solidFill>
                <a:latin typeface="Arial"/>
              </a:rPr>
              <a:t>transform of a peak at φ.</a:t>
            </a:r>
          </a:p>
          <a:p>
            <a:pPr algn="l">
              <a:spcAft>
                <a:spcPts val="300"/>
              </a:spcAft>
            </a:pPr>
            <a:r>
              <a:rPr sz="1500" b="0">
                <a:solidFill>
                  <a:srgbClr val="0B1220"/>
                </a:solidFill>
                <a:latin typeface="Arial"/>
              </a:rPr>
              <a:t> </a:t>
            </a:r>
          </a:p>
          <a:p>
            <a:pPr algn="l">
              <a:spcAft>
                <a:spcPts val="300"/>
              </a:spcAft>
            </a:pPr>
            <a:r>
              <a:rPr sz="1500" b="0">
                <a:solidFill>
                  <a:srgbClr val="9CDCFE"/>
                </a:solidFill>
                <a:latin typeface="Arial"/>
              </a:rPr>
              <a:t>Apply the INVERSE QFT:</a:t>
            </a:r>
          </a:p>
          <a:p>
            <a:pPr algn="l">
              <a:spcAft>
                <a:spcPts val="300"/>
              </a:spcAft>
            </a:pPr>
            <a:r>
              <a:rPr sz="1500" b="0">
                <a:solidFill>
                  <a:srgbClr val="0B1220"/>
                </a:solidFill>
                <a:latin typeface="Arial"/>
              </a:rPr>
              <a:t> </a:t>
            </a:r>
          </a:p>
          <a:p>
            <a:pPr algn="l">
              <a:spcAft>
                <a:spcPts val="300"/>
              </a:spcAft>
            </a:pPr>
            <a:r>
              <a:rPr sz="1500" b="0">
                <a:solidFill>
                  <a:srgbClr val="9CDCFE"/>
                </a:solidFill>
                <a:latin typeface="Arial"/>
              </a:rPr>
              <a:t>   QFT⁻¹ ( Σ_k e^(2πi kφ)|k&gt; )   -&gt;   |2ᵗ φ&gt;</a:t>
            </a:r>
          </a:p>
          <a:p>
            <a:pPr algn="l">
              <a:spcAft>
                <a:spcPts val="300"/>
              </a:spcAft>
            </a:pPr>
            <a:r>
              <a:rPr sz="1500" b="0">
                <a:solidFill>
                  <a:srgbClr val="0B1220"/>
                </a:solidFill>
                <a:latin typeface="Arial"/>
              </a:rPr>
              <a:t> </a:t>
            </a:r>
          </a:p>
          <a:p>
            <a:pPr algn="l">
              <a:spcAft>
                <a:spcPts val="300"/>
              </a:spcAft>
            </a:pPr>
            <a:r>
              <a:rPr sz="1500" b="0">
                <a:solidFill>
                  <a:srgbClr val="9CDCFE"/>
                </a:solidFill>
                <a:latin typeface="Arial"/>
              </a:rPr>
              <a:t>Measure the counting register: the result read as a binary fraction is φ.</a:t>
            </a:r>
          </a:p>
        </p:txBody>
      </p:sp>
      <p:sp>
        <p:nvSpPr>
          <p:cNvPr id="9" name="Rectangle 8"/>
          <p:cNvSpPr/>
          <p:nvPr/>
        </p:nvSpPr>
        <p:spPr>
          <a:xfrm>
            <a:off x="777240" y="4919472"/>
            <a:ext cx="10634472" cy="1133856"/>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Rectangle 9"/>
          <p:cNvSpPr/>
          <p:nvPr/>
        </p:nvSpPr>
        <p:spPr>
          <a:xfrm>
            <a:off x="777240" y="4919472"/>
            <a:ext cx="82296" cy="1133856"/>
          </a:xfrm>
          <a:prstGeom prst="rect">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 name="TextBox 10"/>
          <p:cNvSpPr txBox="1"/>
          <p:nvPr/>
        </p:nvSpPr>
        <p:spPr>
          <a:xfrm>
            <a:off x="1097280" y="4919472"/>
            <a:ext cx="10149840" cy="1133856"/>
          </a:xfrm>
          <a:prstGeom prst="rect">
            <a:avLst/>
          </a:prstGeom>
          <a:noFill/>
        </p:spPr>
        <p:txBody>
          <a:bodyPr wrap="square" anchor="ctr">
            <a:spAutoFit/>
          </a:bodyPr>
          <a:lstStyle/>
          <a:p>
            <a:pPr algn="l">
              <a:spcAft>
                <a:spcPts val="400"/>
              </a:spcAft>
            </a:pPr>
            <a:r>
              <a:rPr sz="1150" b="1">
                <a:solidFill>
                  <a:srgbClr val="10B981"/>
                </a:solidFill>
                <a:latin typeface="Arial"/>
              </a:rPr>
              <a:t>KEY POINT:  </a:t>
            </a:r>
            <a:r>
              <a:rPr sz="1300" b="0">
                <a:solidFill>
                  <a:srgbClr val="161B26"/>
                </a:solidFill>
                <a:latin typeface="Arial"/>
              </a:rPr>
              <a:t>If φ has an exact t-bit expansion the answer is exact; otherwise you get the best t-bit approximation with probability ≥ 4/π² ≈ 40%.</a:t>
            </a:r>
          </a:p>
        </p:txBody>
      </p:sp>
      <p:sp>
        <p:nvSpPr>
          <p:cNvPr id="12" name="TextBox 11"/>
          <p:cNvSpPr txBox="1"/>
          <p:nvPr/>
        </p:nvSpPr>
        <p:spPr>
          <a:xfrm>
            <a:off x="365760" y="6446520"/>
            <a:ext cx="6858000" cy="320040"/>
          </a:xfrm>
          <a:prstGeom prst="rect">
            <a:avLst/>
          </a:prstGeom>
          <a:noFill/>
        </p:spPr>
        <p:txBody>
          <a:bodyPr wrap="square" anchor="t">
            <a:spAutoFit/>
          </a:bodyPr>
          <a:lstStyle/>
          <a:p>
            <a:pPr algn="l">
              <a:spcAft>
                <a:spcPts val="400"/>
              </a:spcAft>
            </a:pPr>
            <a:r>
              <a:rPr sz="900" b="0">
                <a:solidFill>
                  <a:srgbClr val="5B6372"/>
                </a:solidFill>
                <a:latin typeface="Arial"/>
              </a:rPr>
              <a:t>Securing the Future with Quantum Computing and Cryptography  ·  TGS-2024043419</a:t>
            </a:r>
          </a:p>
        </p:txBody>
      </p:sp>
      <p:sp>
        <p:nvSpPr>
          <p:cNvPr id="13" name="TextBox 12"/>
          <p:cNvSpPr txBox="1"/>
          <p:nvPr/>
        </p:nvSpPr>
        <p:spPr>
          <a:xfrm>
            <a:off x="4572000" y="6446520"/>
            <a:ext cx="3017520" cy="320040"/>
          </a:xfrm>
          <a:prstGeom prst="rect">
            <a:avLst/>
          </a:prstGeom>
          <a:noFill/>
        </p:spPr>
        <p:txBody>
          <a:bodyPr wrap="square" anchor="t">
            <a:spAutoFit/>
          </a:bodyPr>
          <a:lstStyle/>
          <a:p>
            <a:pPr algn="ctr">
              <a:spcAft>
                <a:spcPts val="400"/>
              </a:spcAft>
            </a:pPr>
            <a:r>
              <a:rPr sz="900" b="0">
                <a:solidFill>
                  <a:srgbClr val="5B6372"/>
                </a:solidFill>
                <a:latin typeface="Arial"/>
              </a:rPr>
              <a:t>© 2026 Tertiary Infotech Academy Pte Ltd</a:t>
            </a:r>
          </a:p>
        </p:txBody>
      </p:sp>
      <p:sp>
        <p:nvSpPr>
          <p:cNvPr id="14" name="TextBox 13"/>
          <p:cNvSpPr txBox="1"/>
          <p:nvPr/>
        </p:nvSpPr>
        <p:spPr>
          <a:xfrm>
            <a:off x="11338560" y="6446520"/>
            <a:ext cx="548640" cy="320040"/>
          </a:xfrm>
          <a:prstGeom prst="rect">
            <a:avLst/>
          </a:prstGeom>
          <a:noFill/>
        </p:spPr>
        <p:txBody>
          <a:bodyPr wrap="square" anchor="t">
            <a:spAutoFit/>
          </a:bodyPr>
          <a:lstStyle/>
          <a:p>
            <a:pPr algn="r">
              <a:spcAft>
                <a:spcPts val="400"/>
              </a:spcAft>
            </a:pPr>
            <a:r>
              <a:rPr sz="900" b="0">
                <a:solidFill>
                  <a:srgbClr val="5B6372"/>
                </a:solidFill>
                <a:latin typeface="Arial"/>
              </a:rPr>
              <a:t>138</a:t>
            </a:r>
          </a:p>
        </p:txBody>
      </p:sp>
    </p:spTree>
  </p:cSld>
  <p:clrMapOvr>
    <a:masterClrMapping/>
  </p:clrMapOvr>
</p:sld>
</file>

<file path=ppt/slides/slide140.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256032" cy="1417320"/>
          </a:xfrm>
          <a:prstGeom prst="rect">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777240" y="457200"/>
            <a:ext cx="10607040" cy="365760"/>
          </a:xfrm>
          <a:prstGeom prst="rect">
            <a:avLst/>
          </a:prstGeom>
          <a:noFill/>
        </p:spPr>
        <p:txBody>
          <a:bodyPr wrap="square" anchor="t">
            <a:spAutoFit/>
          </a:bodyPr>
          <a:lstStyle/>
          <a:p>
            <a:pPr algn="l">
              <a:spcAft>
                <a:spcPts val="400"/>
              </a:spcAft>
            </a:pPr>
            <a:r>
              <a:rPr sz="1400" b="1">
                <a:solidFill>
                  <a:srgbClr val="1F6FEB"/>
                </a:solidFill>
                <a:latin typeface="Arial"/>
              </a:rPr>
              <a:t>THE ALGORITHM BEHIND SHOR</a:t>
            </a:r>
          </a:p>
        </p:txBody>
      </p:sp>
      <p:sp>
        <p:nvSpPr>
          <p:cNvPr id="5" name="TextBox 4"/>
          <p:cNvSpPr txBox="1"/>
          <p:nvPr/>
        </p:nvSpPr>
        <p:spPr>
          <a:xfrm>
            <a:off x="777240" y="822960"/>
            <a:ext cx="10881360" cy="822960"/>
          </a:xfrm>
          <a:prstGeom prst="rect">
            <a:avLst/>
          </a:prstGeom>
          <a:noFill/>
        </p:spPr>
        <p:txBody>
          <a:bodyPr wrap="square" anchor="t">
            <a:spAutoFit/>
          </a:bodyPr>
          <a:lstStyle/>
          <a:p>
            <a:pPr algn="l">
              <a:spcAft>
                <a:spcPts val="400"/>
              </a:spcAft>
            </a:pPr>
            <a:r>
              <a:rPr sz="2900" b="1">
                <a:solidFill>
                  <a:srgbClr val="161B26"/>
                </a:solidFill>
                <a:latin typeface="Arial"/>
              </a:rPr>
              <a:t>Step 4 — Precision and cost</a:t>
            </a:r>
          </a:p>
        </p:txBody>
      </p:sp>
      <p:sp>
        <p:nvSpPr>
          <p:cNvPr id="6" name="Rectangle 5"/>
          <p:cNvSpPr/>
          <p:nvPr/>
        </p:nvSpPr>
        <p:spPr>
          <a:xfrm>
            <a:off x="777240" y="1554480"/>
            <a:ext cx="10634472" cy="18288"/>
          </a:xfrm>
          <a:prstGeom prst="rect">
            <a:avLst/>
          </a:prstGeom>
          <a:solidFill>
            <a:srgbClr val="E2E8F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Rectangle 6"/>
          <p:cNvSpPr/>
          <p:nvPr/>
        </p:nvSpPr>
        <p:spPr>
          <a:xfrm>
            <a:off x="777240" y="1810512"/>
            <a:ext cx="10634472" cy="2907792"/>
          </a:xfrm>
          <a:prstGeom prst="rect">
            <a:avLst/>
          </a:prstGeom>
          <a:solidFill>
            <a:srgbClr val="0B122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TextBox 7"/>
          <p:cNvSpPr txBox="1"/>
          <p:nvPr/>
        </p:nvSpPr>
        <p:spPr>
          <a:xfrm>
            <a:off x="1097280" y="1956816"/>
            <a:ext cx="9994392" cy="2615184"/>
          </a:xfrm>
          <a:prstGeom prst="rect">
            <a:avLst/>
          </a:prstGeom>
          <a:noFill/>
        </p:spPr>
        <p:txBody>
          <a:bodyPr wrap="square" anchor="t">
            <a:spAutoFit/>
          </a:bodyPr>
          <a:lstStyle/>
          <a:p>
            <a:pPr algn="l">
              <a:spcAft>
                <a:spcPts val="300"/>
              </a:spcAft>
            </a:pPr>
            <a:r>
              <a:rPr sz="1500" b="0">
                <a:solidFill>
                  <a:srgbClr val="9CDCFE"/>
                </a:solidFill>
                <a:latin typeface="Arial"/>
              </a:rPr>
              <a:t>To get φ to n bits with success probability 1-ε:</a:t>
            </a:r>
          </a:p>
          <a:p>
            <a:pPr algn="l">
              <a:spcAft>
                <a:spcPts val="300"/>
              </a:spcAft>
            </a:pPr>
            <a:r>
              <a:rPr sz="1500" b="0">
                <a:solidFill>
                  <a:srgbClr val="0B1220"/>
                </a:solidFill>
                <a:latin typeface="Arial"/>
              </a:rPr>
              <a:t> </a:t>
            </a:r>
          </a:p>
          <a:p>
            <a:pPr algn="l">
              <a:spcAft>
                <a:spcPts val="300"/>
              </a:spcAft>
            </a:pPr>
            <a:r>
              <a:rPr sz="1500" b="0">
                <a:solidFill>
                  <a:srgbClr val="9CDCFE"/>
                </a:solidFill>
                <a:latin typeface="Arial"/>
              </a:rPr>
              <a:t>   t  =  n + ⌈log₂(2 + 1/(2ε))⌉   qubits</a:t>
            </a:r>
          </a:p>
          <a:p>
            <a:pPr algn="l">
              <a:spcAft>
                <a:spcPts val="300"/>
              </a:spcAft>
            </a:pPr>
            <a:r>
              <a:rPr sz="1500" b="0">
                <a:solidFill>
                  <a:srgbClr val="0B1220"/>
                </a:solidFill>
                <a:latin typeface="Arial"/>
              </a:rPr>
              <a:t> </a:t>
            </a:r>
          </a:p>
          <a:p>
            <a:pPr algn="l">
              <a:spcAft>
                <a:spcPts val="300"/>
              </a:spcAft>
            </a:pPr>
            <a:r>
              <a:rPr sz="1500" b="0">
                <a:solidFill>
                  <a:srgbClr val="9CDCFE"/>
                </a:solidFill>
                <a:latin typeface="Arial"/>
              </a:rPr>
              <a:t>Cost is dominated by the controlled-U^(2^j) operations.</a:t>
            </a:r>
          </a:p>
          <a:p>
            <a:pPr algn="l">
              <a:spcAft>
                <a:spcPts val="300"/>
              </a:spcAft>
            </a:pPr>
            <a:r>
              <a:rPr sz="1500" b="0">
                <a:solidFill>
                  <a:srgbClr val="0B1220"/>
                </a:solidFill>
                <a:latin typeface="Arial"/>
              </a:rPr>
              <a:t> </a:t>
            </a:r>
          </a:p>
          <a:p>
            <a:pPr algn="l">
              <a:spcAft>
                <a:spcPts val="300"/>
              </a:spcAft>
            </a:pPr>
            <a:r>
              <a:rPr sz="1500" b="0">
                <a:solidFill>
                  <a:srgbClr val="9CDCFE"/>
                </a:solidFill>
                <a:latin typeface="Arial"/>
              </a:rPr>
              <a:t>Worked example — U = Z, |u&gt; = |1&gt;:  Z|1&gt; = -|1&gt; = e^(2πi·0.5)|1&gt;</a:t>
            </a:r>
          </a:p>
          <a:p>
            <a:pPr algn="l">
              <a:spcAft>
                <a:spcPts val="300"/>
              </a:spcAft>
            </a:pPr>
            <a:r>
              <a:rPr sz="1500" b="0">
                <a:solidFill>
                  <a:srgbClr val="9CDCFE"/>
                </a:solidFill>
                <a:latin typeface="Arial"/>
              </a:rPr>
              <a:t>   so φ = 0.5, and QPE returns binary 0.1 = 0.5. Verifiable by hand.</a:t>
            </a:r>
          </a:p>
        </p:txBody>
      </p:sp>
      <p:sp>
        <p:nvSpPr>
          <p:cNvPr id="9" name="Rectangle 8"/>
          <p:cNvSpPr/>
          <p:nvPr/>
        </p:nvSpPr>
        <p:spPr>
          <a:xfrm>
            <a:off x="777240" y="4919472"/>
            <a:ext cx="10634472" cy="1133856"/>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Rectangle 9"/>
          <p:cNvSpPr/>
          <p:nvPr/>
        </p:nvSpPr>
        <p:spPr>
          <a:xfrm>
            <a:off x="777240" y="4919472"/>
            <a:ext cx="82296" cy="1133856"/>
          </a:xfrm>
          <a:prstGeom prst="rect">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 name="TextBox 10"/>
          <p:cNvSpPr txBox="1"/>
          <p:nvPr/>
        </p:nvSpPr>
        <p:spPr>
          <a:xfrm>
            <a:off x="1097280" y="4919472"/>
            <a:ext cx="10149840" cy="1133856"/>
          </a:xfrm>
          <a:prstGeom prst="rect">
            <a:avLst/>
          </a:prstGeom>
          <a:noFill/>
        </p:spPr>
        <p:txBody>
          <a:bodyPr wrap="square" anchor="ctr">
            <a:spAutoFit/>
          </a:bodyPr>
          <a:lstStyle/>
          <a:p>
            <a:pPr algn="l">
              <a:spcAft>
                <a:spcPts val="400"/>
              </a:spcAft>
            </a:pPr>
            <a:r>
              <a:rPr sz="1150" b="1">
                <a:solidFill>
                  <a:srgbClr val="10B981"/>
                </a:solidFill>
                <a:latin typeface="Arial"/>
              </a:rPr>
              <a:t>KEY POINT:  </a:t>
            </a:r>
            <a:r>
              <a:rPr sz="1300" b="0">
                <a:solidFill>
                  <a:srgbClr val="161B26"/>
                </a:solidFill>
                <a:latin typeface="Arial"/>
              </a:rPr>
              <a:t>The Z example is the standard classroom check — small enough to trace through by hand, and it exercises the whole pipeline.</a:t>
            </a:r>
          </a:p>
        </p:txBody>
      </p:sp>
      <p:sp>
        <p:nvSpPr>
          <p:cNvPr id="12" name="TextBox 11"/>
          <p:cNvSpPr txBox="1"/>
          <p:nvPr/>
        </p:nvSpPr>
        <p:spPr>
          <a:xfrm>
            <a:off x="365760" y="6446520"/>
            <a:ext cx="6858000" cy="320040"/>
          </a:xfrm>
          <a:prstGeom prst="rect">
            <a:avLst/>
          </a:prstGeom>
          <a:noFill/>
        </p:spPr>
        <p:txBody>
          <a:bodyPr wrap="square" anchor="t">
            <a:spAutoFit/>
          </a:bodyPr>
          <a:lstStyle/>
          <a:p>
            <a:pPr algn="l">
              <a:spcAft>
                <a:spcPts val="400"/>
              </a:spcAft>
            </a:pPr>
            <a:r>
              <a:rPr sz="900" b="0">
                <a:solidFill>
                  <a:srgbClr val="5B6372"/>
                </a:solidFill>
                <a:latin typeface="Arial"/>
              </a:rPr>
              <a:t>Securing the Future with Quantum Computing and Cryptography  ·  TGS-2024043419</a:t>
            </a:r>
          </a:p>
        </p:txBody>
      </p:sp>
      <p:sp>
        <p:nvSpPr>
          <p:cNvPr id="13" name="TextBox 12"/>
          <p:cNvSpPr txBox="1"/>
          <p:nvPr/>
        </p:nvSpPr>
        <p:spPr>
          <a:xfrm>
            <a:off x="4572000" y="6446520"/>
            <a:ext cx="3017520" cy="320040"/>
          </a:xfrm>
          <a:prstGeom prst="rect">
            <a:avLst/>
          </a:prstGeom>
          <a:noFill/>
        </p:spPr>
        <p:txBody>
          <a:bodyPr wrap="square" anchor="t">
            <a:spAutoFit/>
          </a:bodyPr>
          <a:lstStyle/>
          <a:p>
            <a:pPr algn="ctr">
              <a:spcAft>
                <a:spcPts val="400"/>
              </a:spcAft>
            </a:pPr>
            <a:r>
              <a:rPr sz="900" b="0">
                <a:solidFill>
                  <a:srgbClr val="5B6372"/>
                </a:solidFill>
                <a:latin typeface="Arial"/>
              </a:rPr>
              <a:t>© 2026 Tertiary Infotech Academy Pte Ltd</a:t>
            </a:r>
          </a:p>
        </p:txBody>
      </p:sp>
      <p:sp>
        <p:nvSpPr>
          <p:cNvPr id="14" name="TextBox 13"/>
          <p:cNvSpPr txBox="1"/>
          <p:nvPr/>
        </p:nvSpPr>
        <p:spPr>
          <a:xfrm>
            <a:off x="11338560" y="6446520"/>
            <a:ext cx="548640" cy="320040"/>
          </a:xfrm>
          <a:prstGeom prst="rect">
            <a:avLst/>
          </a:prstGeom>
          <a:noFill/>
        </p:spPr>
        <p:txBody>
          <a:bodyPr wrap="square" anchor="t">
            <a:spAutoFit/>
          </a:bodyPr>
          <a:lstStyle/>
          <a:p>
            <a:pPr algn="r">
              <a:spcAft>
                <a:spcPts val="400"/>
              </a:spcAft>
            </a:pPr>
            <a:r>
              <a:rPr sz="900" b="0">
                <a:solidFill>
                  <a:srgbClr val="5B6372"/>
                </a:solidFill>
                <a:latin typeface="Arial"/>
              </a:rPr>
              <a:t>139</a:t>
            </a:r>
          </a:p>
        </p:txBody>
      </p:sp>
    </p:spTree>
  </p:cSld>
  <p:clrMapOvr>
    <a:masterClrMapping/>
  </p:clrMapOvr>
</p:sld>
</file>

<file path=ppt/slides/slide141.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256032" cy="1417320"/>
          </a:xfrm>
          <a:prstGeom prst="rect">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777240" y="457200"/>
            <a:ext cx="10607040" cy="365760"/>
          </a:xfrm>
          <a:prstGeom prst="rect">
            <a:avLst/>
          </a:prstGeom>
          <a:noFill/>
        </p:spPr>
        <p:txBody>
          <a:bodyPr wrap="square" anchor="t">
            <a:spAutoFit/>
          </a:bodyPr>
          <a:lstStyle/>
          <a:p>
            <a:pPr algn="l">
              <a:spcAft>
                <a:spcPts val="400"/>
              </a:spcAft>
            </a:pPr>
            <a:r>
              <a:rPr sz="1400" b="1">
                <a:solidFill>
                  <a:srgbClr val="1F6FEB"/>
                </a:solidFill>
                <a:latin typeface="Arial"/>
              </a:rPr>
              <a:t>THE ALGORITHM BEHIND SHOR</a:t>
            </a:r>
          </a:p>
        </p:txBody>
      </p:sp>
      <p:sp>
        <p:nvSpPr>
          <p:cNvPr id="5" name="TextBox 4"/>
          <p:cNvSpPr txBox="1"/>
          <p:nvPr/>
        </p:nvSpPr>
        <p:spPr>
          <a:xfrm>
            <a:off x="777240" y="822960"/>
            <a:ext cx="10881360" cy="822960"/>
          </a:xfrm>
          <a:prstGeom prst="rect">
            <a:avLst/>
          </a:prstGeom>
          <a:noFill/>
        </p:spPr>
        <p:txBody>
          <a:bodyPr wrap="square" anchor="t">
            <a:spAutoFit/>
          </a:bodyPr>
          <a:lstStyle/>
          <a:p>
            <a:pPr algn="l">
              <a:spcAft>
                <a:spcPts val="400"/>
              </a:spcAft>
            </a:pPr>
            <a:r>
              <a:rPr sz="2900" b="1">
                <a:solidFill>
                  <a:srgbClr val="161B26"/>
                </a:solidFill>
                <a:latin typeface="Arial"/>
              </a:rPr>
              <a:t>Where QPE is used</a:t>
            </a:r>
          </a:p>
        </p:txBody>
      </p:sp>
      <p:sp>
        <p:nvSpPr>
          <p:cNvPr id="6" name="Rectangle 5"/>
          <p:cNvSpPr/>
          <p:nvPr/>
        </p:nvSpPr>
        <p:spPr>
          <a:xfrm>
            <a:off x="777240" y="1554480"/>
            <a:ext cx="10634472" cy="18288"/>
          </a:xfrm>
          <a:prstGeom prst="rect">
            <a:avLst/>
          </a:prstGeom>
          <a:solidFill>
            <a:srgbClr val="E2E8F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Rectangle 6"/>
          <p:cNvSpPr/>
          <p:nvPr/>
        </p:nvSpPr>
        <p:spPr>
          <a:xfrm>
            <a:off x="777240" y="1810512"/>
            <a:ext cx="10634472" cy="3520440"/>
          </a:xfrm>
          <a:prstGeom prst="rect">
            <a:avLst/>
          </a:prstGeom>
          <a:solidFill>
            <a:srgbClr val="0B122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TextBox 7"/>
          <p:cNvSpPr txBox="1"/>
          <p:nvPr/>
        </p:nvSpPr>
        <p:spPr>
          <a:xfrm>
            <a:off x="1097280" y="1956816"/>
            <a:ext cx="9994392" cy="3227832"/>
          </a:xfrm>
          <a:prstGeom prst="rect">
            <a:avLst/>
          </a:prstGeom>
          <a:noFill/>
        </p:spPr>
        <p:txBody>
          <a:bodyPr wrap="square" anchor="t">
            <a:spAutoFit/>
          </a:bodyPr>
          <a:lstStyle/>
          <a:p>
            <a:pPr algn="l">
              <a:spcAft>
                <a:spcPts val="300"/>
              </a:spcAft>
            </a:pPr>
            <a:r>
              <a:rPr sz="1320" b="0">
                <a:solidFill>
                  <a:srgbClr val="9CDCFE"/>
                </a:solidFill>
                <a:latin typeface="Arial"/>
              </a:rPr>
              <a:t>ORDER FINDING / SHOR — U: |y&gt; -&gt; |ay mod N&gt;. The phase encodes the</a:t>
            </a:r>
          </a:p>
          <a:p>
            <a:pPr algn="l">
              <a:spcAft>
                <a:spcPts val="300"/>
              </a:spcAft>
            </a:pPr>
            <a:r>
              <a:rPr sz="1320" b="0">
                <a:solidFill>
                  <a:srgbClr val="9CDCFE"/>
                </a:solidFill>
                <a:latin typeface="Arial"/>
              </a:rPr>
              <a:t>   period r, so factoring reduces to QPE.</a:t>
            </a:r>
          </a:p>
          <a:p>
            <a:pPr algn="l">
              <a:spcAft>
                <a:spcPts val="300"/>
              </a:spcAft>
            </a:pPr>
            <a:r>
              <a:rPr sz="1320" b="0">
                <a:solidFill>
                  <a:srgbClr val="0B1220"/>
                </a:solidFill>
                <a:latin typeface="Arial"/>
              </a:rPr>
              <a:t> </a:t>
            </a:r>
          </a:p>
          <a:p>
            <a:pPr algn="l">
              <a:spcAft>
                <a:spcPts val="300"/>
              </a:spcAft>
            </a:pPr>
            <a:r>
              <a:rPr sz="1320" b="0">
                <a:solidFill>
                  <a:srgbClr val="9CDCFE"/>
                </a:solidFill>
                <a:latin typeface="Arial"/>
              </a:rPr>
              <a:t>QUANTUM CHEMISTRY — U = e^(-iHt). The phase gives the ENERGY eigenvalue,</a:t>
            </a:r>
          </a:p>
          <a:p>
            <a:pPr algn="l">
              <a:spcAft>
                <a:spcPts val="300"/>
              </a:spcAft>
            </a:pPr>
            <a:r>
              <a:rPr sz="1320" b="0">
                <a:solidFill>
                  <a:srgbClr val="9CDCFE"/>
                </a:solidFill>
                <a:latin typeface="Arial"/>
              </a:rPr>
              <a:t>   the fault-tolerant successor to VQE.</a:t>
            </a:r>
          </a:p>
          <a:p>
            <a:pPr algn="l">
              <a:spcAft>
                <a:spcPts val="300"/>
              </a:spcAft>
            </a:pPr>
            <a:r>
              <a:rPr sz="1320" b="0">
                <a:solidFill>
                  <a:srgbClr val="0B1220"/>
                </a:solidFill>
                <a:latin typeface="Arial"/>
              </a:rPr>
              <a:t> </a:t>
            </a:r>
          </a:p>
          <a:p>
            <a:pPr algn="l">
              <a:spcAft>
                <a:spcPts val="300"/>
              </a:spcAft>
            </a:pPr>
            <a:r>
              <a:rPr sz="1320" b="0">
                <a:solidFill>
                  <a:srgbClr val="9CDCFE"/>
                </a:solidFill>
                <a:latin typeface="Arial"/>
              </a:rPr>
              <a:t>HHL (linear systems) — QPE finds the eigenvalues of the matrix A so they</a:t>
            </a:r>
          </a:p>
          <a:p>
            <a:pPr algn="l">
              <a:spcAft>
                <a:spcPts val="300"/>
              </a:spcAft>
            </a:pPr>
            <a:r>
              <a:rPr sz="1320" b="0">
                <a:solidFill>
                  <a:srgbClr val="9CDCFE"/>
                </a:solidFill>
                <a:latin typeface="Arial"/>
              </a:rPr>
              <a:t>   can be inverted.</a:t>
            </a:r>
          </a:p>
          <a:p>
            <a:pPr algn="l">
              <a:spcAft>
                <a:spcPts val="300"/>
              </a:spcAft>
            </a:pPr>
            <a:r>
              <a:rPr sz="1320" b="0">
                <a:solidFill>
                  <a:srgbClr val="0B1220"/>
                </a:solidFill>
                <a:latin typeface="Arial"/>
              </a:rPr>
              <a:t> </a:t>
            </a:r>
          </a:p>
          <a:p>
            <a:pPr algn="l">
              <a:spcAft>
                <a:spcPts val="300"/>
              </a:spcAft>
            </a:pPr>
            <a:r>
              <a:rPr sz="1320" b="0">
                <a:solidFill>
                  <a:srgbClr val="9CDCFE"/>
                </a:solidFill>
                <a:latin typeface="Arial"/>
              </a:rPr>
              <a:t>QUANTUM COUNTING — QPE applied to the Grover operator counts solutions.</a:t>
            </a:r>
          </a:p>
        </p:txBody>
      </p:sp>
      <p:sp>
        <p:nvSpPr>
          <p:cNvPr id="9" name="Rectangle 8"/>
          <p:cNvSpPr/>
          <p:nvPr/>
        </p:nvSpPr>
        <p:spPr>
          <a:xfrm>
            <a:off x="777240" y="5532120"/>
            <a:ext cx="10634472" cy="521208"/>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Rectangle 9"/>
          <p:cNvSpPr/>
          <p:nvPr/>
        </p:nvSpPr>
        <p:spPr>
          <a:xfrm>
            <a:off x="777240" y="5532120"/>
            <a:ext cx="82296" cy="521208"/>
          </a:xfrm>
          <a:prstGeom prst="rect">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 name="TextBox 10"/>
          <p:cNvSpPr txBox="1"/>
          <p:nvPr/>
        </p:nvSpPr>
        <p:spPr>
          <a:xfrm>
            <a:off x="1097280" y="5532120"/>
            <a:ext cx="10149840" cy="521208"/>
          </a:xfrm>
          <a:prstGeom prst="rect">
            <a:avLst/>
          </a:prstGeom>
          <a:noFill/>
        </p:spPr>
        <p:txBody>
          <a:bodyPr wrap="square" anchor="ctr">
            <a:spAutoFit/>
          </a:bodyPr>
          <a:lstStyle/>
          <a:p>
            <a:pPr algn="l">
              <a:spcAft>
                <a:spcPts val="400"/>
              </a:spcAft>
            </a:pPr>
            <a:r>
              <a:rPr sz="1150" b="1">
                <a:solidFill>
                  <a:srgbClr val="10B981"/>
                </a:solidFill>
                <a:latin typeface="Arial"/>
              </a:rPr>
              <a:t>KEY POINT:  </a:t>
            </a:r>
            <a:r>
              <a:rPr sz="1300" b="0">
                <a:solidFill>
                  <a:srgbClr val="161B26"/>
                </a:solidFill>
                <a:latin typeface="Arial"/>
              </a:rPr>
              <a:t>If you understand phase kickback and the QFT, you understand the engine inside most of the exponentially-fast quantum algorithms.</a:t>
            </a:r>
          </a:p>
        </p:txBody>
      </p:sp>
      <p:sp>
        <p:nvSpPr>
          <p:cNvPr id="12" name="TextBox 11"/>
          <p:cNvSpPr txBox="1"/>
          <p:nvPr/>
        </p:nvSpPr>
        <p:spPr>
          <a:xfrm>
            <a:off x="365760" y="6446520"/>
            <a:ext cx="6858000" cy="320040"/>
          </a:xfrm>
          <a:prstGeom prst="rect">
            <a:avLst/>
          </a:prstGeom>
          <a:noFill/>
        </p:spPr>
        <p:txBody>
          <a:bodyPr wrap="square" anchor="t">
            <a:spAutoFit/>
          </a:bodyPr>
          <a:lstStyle/>
          <a:p>
            <a:pPr algn="l">
              <a:spcAft>
                <a:spcPts val="400"/>
              </a:spcAft>
            </a:pPr>
            <a:r>
              <a:rPr sz="900" b="0">
                <a:solidFill>
                  <a:srgbClr val="5B6372"/>
                </a:solidFill>
                <a:latin typeface="Arial"/>
              </a:rPr>
              <a:t>Securing the Future with Quantum Computing and Cryptography  ·  TGS-2024043419</a:t>
            </a:r>
          </a:p>
        </p:txBody>
      </p:sp>
      <p:sp>
        <p:nvSpPr>
          <p:cNvPr id="13" name="TextBox 12"/>
          <p:cNvSpPr txBox="1"/>
          <p:nvPr/>
        </p:nvSpPr>
        <p:spPr>
          <a:xfrm>
            <a:off x="4572000" y="6446520"/>
            <a:ext cx="3017520" cy="320040"/>
          </a:xfrm>
          <a:prstGeom prst="rect">
            <a:avLst/>
          </a:prstGeom>
          <a:noFill/>
        </p:spPr>
        <p:txBody>
          <a:bodyPr wrap="square" anchor="t">
            <a:spAutoFit/>
          </a:bodyPr>
          <a:lstStyle/>
          <a:p>
            <a:pPr algn="ctr">
              <a:spcAft>
                <a:spcPts val="400"/>
              </a:spcAft>
            </a:pPr>
            <a:r>
              <a:rPr sz="900" b="0">
                <a:solidFill>
                  <a:srgbClr val="5B6372"/>
                </a:solidFill>
                <a:latin typeface="Arial"/>
              </a:rPr>
              <a:t>© 2026 Tertiary Infotech Academy Pte Ltd</a:t>
            </a:r>
          </a:p>
        </p:txBody>
      </p:sp>
      <p:sp>
        <p:nvSpPr>
          <p:cNvPr id="14" name="TextBox 13"/>
          <p:cNvSpPr txBox="1"/>
          <p:nvPr/>
        </p:nvSpPr>
        <p:spPr>
          <a:xfrm>
            <a:off x="11338560" y="6446520"/>
            <a:ext cx="548640" cy="320040"/>
          </a:xfrm>
          <a:prstGeom prst="rect">
            <a:avLst/>
          </a:prstGeom>
          <a:noFill/>
        </p:spPr>
        <p:txBody>
          <a:bodyPr wrap="square" anchor="t">
            <a:spAutoFit/>
          </a:bodyPr>
          <a:lstStyle/>
          <a:p>
            <a:pPr algn="r">
              <a:spcAft>
                <a:spcPts val="400"/>
              </a:spcAft>
            </a:pPr>
            <a:r>
              <a:rPr sz="900" b="0">
                <a:solidFill>
                  <a:srgbClr val="5B6372"/>
                </a:solidFill>
                <a:latin typeface="Arial"/>
              </a:rPr>
              <a:t>140</a:t>
            </a:r>
          </a:p>
        </p:txBody>
      </p:sp>
    </p:spTree>
  </p:cSld>
  <p:clrMapOvr>
    <a:masterClrMapping/>
  </p:clrMapOvr>
</p:sld>
</file>

<file path=ppt/slides/slide142.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256032" cy="1417320"/>
          </a:xfrm>
          <a:prstGeom prst="rect">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777240" y="457200"/>
            <a:ext cx="10607040" cy="365760"/>
          </a:xfrm>
          <a:prstGeom prst="rect">
            <a:avLst/>
          </a:prstGeom>
          <a:noFill/>
        </p:spPr>
        <p:txBody>
          <a:bodyPr wrap="square" anchor="t">
            <a:spAutoFit/>
          </a:bodyPr>
          <a:lstStyle/>
          <a:p>
            <a:pPr algn="l">
              <a:spcAft>
                <a:spcPts val="400"/>
              </a:spcAft>
            </a:pPr>
            <a:r>
              <a:rPr sz="1400" b="1">
                <a:solidFill>
                  <a:srgbClr val="1F6FEB"/>
                </a:solidFill>
                <a:latin typeface="Arial"/>
              </a:rPr>
              <a:t>FROM DFT TO QFT</a:t>
            </a:r>
          </a:p>
        </p:txBody>
      </p:sp>
      <p:sp>
        <p:nvSpPr>
          <p:cNvPr id="5" name="TextBox 4"/>
          <p:cNvSpPr txBox="1"/>
          <p:nvPr/>
        </p:nvSpPr>
        <p:spPr>
          <a:xfrm>
            <a:off x="777240" y="822960"/>
            <a:ext cx="10881360" cy="822960"/>
          </a:xfrm>
          <a:prstGeom prst="rect">
            <a:avLst/>
          </a:prstGeom>
          <a:noFill/>
        </p:spPr>
        <p:txBody>
          <a:bodyPr wrap="square" anchor="t">
            <a:spAutoFit/>
          </a:bodyPr>
          <a:lstStyle/>
          <a:p>
            <a:pPr algn="l">
              <a:spcAft>
                <a:spcPts val="400"/>
              </a:spcAft>
            </a:pPr>
            <a:r>
              <a:rPr sz="2900" b="1">
                <a:solidFill>
                  <a:srgbClr val="161B26"/>
                </a:solidFill>
                <a:latin typeface="Arial"/>
              </a:rPr>
              <a:t>From the classical DFT</a:t>
            </a:r>
          </a:p>
        </p:txBody>
      </p:sp>
      <p:sp>
        <p:nvSpPr>
          <p:cNvPr id="6" name="Rectangle 5"/>
          <p:cNvSpPr/>
          <p:nvPr/>
        </p:nvSpPr>
        <p:spPr>
          <a:xfrm>
            <a:off x="777240" y="1554480"/>
            <a:ext cx="10634472" cy="18288"/>
          </a:xfrm>
          <a:prstGeom prst="rect">
            <a:avLst/>
          </a:prstGeom>
          <a:solidFill>
            <a:srgbClr val="E2E8F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Rectangle 6"/>
          <p:cNvSpPr/>
          <p:nvPr/>
        </p:nvSpPr>
        <p:spPr>
          <a:xfrm>
            <a:off x="777240" y="1810512"/>
            <a:ext cx="10634472" cy="3214116"/>
          </a:xfrm>
          <a:prstGeom prst="rect">
            <a:avLst/>
          </a:prstGeom>
          <a:solidFill>
            <a:srgbClr val="0B122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TextBox 7"/>
          <p:cNvSpPr txBox="1"/>
          <p:nvPr/>
        </p:nvSpPr>
        <p:spPr>
          <a:xfrm>
            <a:off x="1097280" y="1956816"/>
            <a:ext cx="9994392" cy="2921508"/>
          </a:xfrm>
          <a:prstGeom prst="rect">
            <a:avLst/>
          </a:prstGeom>
          <a:noFill/>
        </p:spPr>
        <p:txBody>
          <a:bodyPr wrap="square" anchor="t">
            <a:spAutoFit/>
          </a:bodyPr>
          <a:lstStyle/>
          <a:p>
            <a:pPr algn="l">
              <a:spcAft>
                <a:spcPts val="300"/>
              </a:spcAft>
            </a:pPr>
            <a:r>
              <a:rPr sz="1500" b="0">
                <a:solidFill>
                  <a:srgbClr val="9CDCFE"/>
                </a:solidFill>
                <a:latin typeface="Arial"/>
              </a:rPr>
              <a:t>The classical Discrete Fourier Transform maps a vector to its spectrum:</a:t>
            </a:r>
          </a:p>
          <a:p>
            <a:pPr algn="l">
              <a:spcAft>
                <a:spcPts val="300"/>
              </a:spcAft>
            </a:pPr>
            <a:r>
              <a:rPr sz="1500" b="0">
                <a:solidFill>
                  <a:srgbClr val="0B1220"/>
                </a:solidFill>
                <a:latin typeface="Arial"/>
              </a:rPr>
              <a:t> </a:t>
            </a:r>
          </a:p>
          <a:p>
            <a:pPr algn="l">
              <a:spcAft>
                <a:spcPts val="300"/>
              </a:spcAft>
            </a:pPr>
            <a:r>
              <a:rPr sz="1500" b="0">
                <a:solidFill>
                  <a:srgbClr val="9CDCFE"/>
                </a:solidFill>
                <a:latin typeface="Arial"/>
              </a:rPr>
              <a:t>   y_k  =  (1/√N) Σ_(j=0..N-1)  x_j · e^(2πi jk/N)</a:t>
            </a:r>
          </a:p>
          <a:p>
            <a:pPr algn="l">
              <a:spcAft>
                <a:spcPts val="300"/>
              </a:spcAft>
            </a:pPr>
            <a:r>
              <a:rPr sz="1500" b="0">
                <a:solidFill>
                  <a:srgbClr val="0B1220"/>
                </a:solidFill>
                <a:latin typeface="Arial"/>
              </a:rPr>
              <a:t> </a:t>
            </a:r>
          </a:p>
          <a:p>
            <a:pPr algn="l">
              <a:spcAft>
                <a:spcPts val="300"/>
              </a:spcAft>
            </a:pPr>
            <a:r>
              <a:rPr sz="1500" b="0">
                <a:solidFill>
                  <a:srgbClr val="9CDCFE"/>
                </a:solidFill>
                <a:latin typeface="Arial"/>
              </a:rPr>
              <a:t>The QFT is the SAME transform, applied to quantum AMPLITUDES:</a:t>
            </a:r>
          </a:p>
          <a:p>
            <a:pPr algn="l">
              <a:spcAft>
                <a:spcPts val="300"/>
              </a:spcAft>
            </a:pPr>
            <a:r>
              <a:rPr sz="1500" b="0">
                <a:solidFill>
                  <a:srgbClr val="0B1220"/>
                </a:solidFill>
                <a:latin typeface="Arial"/>
              </a:rPr>
              <a:t> </a:t>
            </a:r>
          </a:p>
          <a:p>
            <a:pPr algn="l">
              <a:spcAft>
                <a:spcPts val="300"/>
              </a:spcAft>
            </a:pPr>
            <a:r>
              <a:rPr sz="1500" b="0">
                <a:solidFill>
                  <a:srgbClr val="9CDCFE"/>
                </a:solidFill>
                <a:latin typeface="Arial"/>
              </a:rPr>
              <a:t>   QFT |j&gt;  =  (1/√N) Σ_(k=0..N-1) e^(2πi jk/N) |k&gt;</a:t>
            </a:r>
          </a:p>
          <a:p>
            <a:pPr algn="l">
              <a:spcAft>
                <a:spcPts val="300"/>
              </a:spcAft>
            </a:pPr>
            <a:r>
              <a:rPr sz="1500" b="0">
                <a:solidFill>
                  <a:srgbClr val="0B1220"/>
                </a:solidFill>
                <a:latin typeface="Arial"/>
              </a:rPr>
              <a:t> </a:t>
            </a:r>
          </a:p>
          <a:p>
            <a:pPr algn="l">
              <a:spcAft>
                <a:spcPts val="300"/>
              </a:spcAft>
            </a:pPr>
            <a:r>
              <a:rPr sz="1500" b="0">
                <a:solidFill>
                  <a:srgbClr val="9CDCFE"/>
                </a:solidFill>
                <a:latin typeface="Arial"/>
              </a:rPr>
              <a:t>and by linearity it acts on a whole superposition at once.</a:t>
            </a:r>
          </a:p>
        </p:txBody>
      </p:sp>
      <p:sp>
        <p:nvSpPr>
          <p:cNvPr id="9" name="Rectangle 8"/>
          <p:cNvSpPr/>
          <p:nvPr/>
        </p:nvSpPr>
        <p:spPr>
          <a:xfrm>
            <a:off x="777240" y="5225796"/>
            <a:ext cx="10634472" cy="827532"/>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Rectangle 9"/>
          <p:cNvSpPr/>
          <p:nvPr/>
        </p:nvSpPr>
        <p:spPr>
          <a:xfrm>
            <a:off x="777240" y="5225796"/>
            <a:ext cx="82296" cy="827532"/>
          </a:xfrm>
          <a:prstGeom prst="rect">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 name="TextBox 10"/>
          <p:cNvSpPr txBox="1"/>
          <p:nvPr/>
        </p:nvSpPr>
        <p:spPr>
          <a:xfrm>
            <a:off x="1097280" y="5225796"/>
            <a:ext cx="10149840" cy="827532"/>
          </a:xfrm>
          <a:prstGeom prst="rect">
            <a:avLst/>
          </a:prstGeom>
          <a:noFill/>
        </p:spPr>
        <p:txBody>
          <a:bodyPr wrap="square" anchor="ctr">
            <a:spAutoFit/>
          </a:bodyPr>
          <a:lstStyle/>
          <a:p>
            <a:pPr algn="l">
              <a:spcAft>
                <a:spcPts val="400"/>
              </a:spcAft>
            </a:pPr>
            <a:r>
              <a:rPr sz="1150" b="1">
                <a:solidFill>
                  <a:srgbClr val="10B981"/>
                </a:solidFill>
                <a:latin typeface="Arial"/>
              </a:rPr>
              <a:t>KEY POINT:  </a:t>
            </a:r>
            <a:r>
              <a:rPr sz="1300" b="0">
                <a:solidFill>
                  <a:srgbClr val="161B26"/>
                </a:solidFill>
                <a:latin typeface="Arial"/>
              </a:rPr>
              <a:t>Same mathematics, different substrate: the DFT transforms data in memory, the QFT transforms amplitudes inside a superposition.</a:t>
            </a:r>
          </a:p>
        </p:txBody>
      </p:sp>
      <p:sp>
        <p:nvSpPr>
          <p:cNvPr id="12" name="TextBox 11"/>
          <p:cNvSpPr txBox="1"/>
          <p:nvPr/>
        </p:nvSpPr>
        <p:spPr>
          <a:xfrm>
            <a:off x="365760" y="6446520"/>
            <a:ext cx="6858000" cy="320040"/>
          </a:xfrm>
          <a:prstGeom prst="rect">
            <a:avLst/>
          </a:prstGeom>
          <a:noFill/>
        </p:spPr>
        <p:txBody>
          <a:bodyPr wrap="square" anchor="t">
            <a:spAutoFit/>
          </a:bodyPr>
          <a:lstStyle/>
          <a:p>
            <a:pPr algn="l">
              <a:spcAft>
                <a:spcPts val="400"/>
              </a:spcAft>
            </a:pPr>
            <a:r>
              <a:rPr sz="900" b="0">
                <a:solidFill>
                  <a:srgbClr val="5B6372"/>
                </a:solidFill>
                <a:latin typeface="Arial"/>
              </a:rPr>
              <a:t>Securing the Future with Quantum Computing and Cryptography  ·  TGS-2024043419</a:t>
            </a:r>
          </a:p>
        </p:txBody>
      </p:sp>
      <p:sp>
        <p:nvSpPr>
          <p:cNvPr id="13" name="TextBox 12"/>
          <p:cNvSpPr txBox="1"/>
          <p:nvPr/>
        </p:nvSpPr>
        <p:spPr>
          <a:xfrm>
            <a:off x="4572000" y="6446520"/>
            <a:ext cx="3017520" cy="320040"/>
          </a:xfrm>
          <a:prstGeom prst="rect">
            <a:avLst/>
          </a:prstGeom>
          <a:noFill/>
        </p:spPr>
        <p:txBody>
          <a:bodyPr wrap="square" anchor="t">
            <a:spAutoFit/>
          </a:bodyPr>
          <a:lstStyle/>
          <a:p>
            <a:pPr algn="ctr">
              <a:spcAft>
                <a:spcPts val="400"/>
              </a:spcAft>
            </a:pPr>
            <a:r>
              <a:rPr sz="900" b="0">
                <a:solidFill>
                  <a:srgbClr val="5B6372"/>
                </a:solidFill>
                <a:latin typeface="Arial"/>
              </a:rPr>
              <a:t>© 2026 Tertiary Infotech Academy Pte Ltd</a:t>
            </a:r>
          </a:p>
        </p:txBody>
      </p:sp>
      <p:sp>
        <p:nvSpPr>
          <p:cNvPr id="14" name="TextBox 13"/>
          <p:cNvSpPr txBox="1"/>
          <p:nvPr/>
        </p:nvSpPr>
        <p:spPr>
          <a:xfrm>
            <a:off x="11338560" y="6446520"/>
            <a:ext cx="548640" cy="320040"/>
          </a:xfrm>
          <a:prstGeom prst="rect">
            <a:avLst/>
          </a:prstGeom>
          <a:noFill/>
        </p:spPr>
        <p:txBody>
          <a:bodyPr wrap="square" anchor="t">
            <a:spAutoFit/>
          </a:bodyPr>
          <a:lstStyle/>
          <a:p>
            <a:pPr algn="r">
              <a:spcAft>
                <a:spcPts val="400"/>
              </a:spcAft>
            </a:pPr>
            <a:r>
              <a:rPr sz="900" b="0">
                <a:solidFill>
                  <a:srgbClr val="5B6372"/>
                </a:solidFill>
                <a:latin typeface="Arial"/>
              </a:rPr>
              <a:t>141</a:t>
            </a:r>
          </a:p>
        </p:txBody>
      </p:sp>
    </p:spTree>
  </p:cSld>
  <p:clrMapOvr>
    <a:masterClrMapping/>
  </p:clrMapOvr>
</p:sld>
</file>

<file path=ppt/slides/slide143.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256032" cy="1417320"/>
          </a:xfrm>
          <a:prstGeom prst="rect">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777240" y="457200"/>
            <a:ext cx="10607040" cy="365760"/>
          </a:xfrm>
          <a:prstGeom prst="rect">
            <a:avLst/>
          </a:prstGeom>
          <a:noFill/>
        </p:spPr>
        <p:txBody>
          <a:bodyPr wrap="square" anchor="t">
            <a:spAutoFit/>
          </a:bodyPr>
          <a:lstStyle/>
          <a:p>
            <a:pPr algn="l">
              <a:spcAft>
                <a:spcPts val="400"/>
              </a:spcAft>
            </a:pPr>
            <a:r>
              <a:rPr sz="1400" b="1">
                <a:solidFill>
                  <a:srgbClr val="1F6FEB"/>
                </a:solidFill>
                <a:latin typeface="Arial"/>
              </a:rPr>
              <a:t>FROM DFT TO QFT</a:t>
            </a:r>
          </a:p>
        </p:txBody>
      </p:sp>
      <p:sp>
        <p:nvSpPr>
          <p:cNvPr id="5" name="TextBox 4"/>
          <p:cNvSpPr txBox="1"/>
          <p:nvPr/>
        </p:nvSpPr>
        <p:spPr>
          <a:xfrm>
            <a:off x="777240" y="822960"/>
            <a:ext cx="10881360" cy="822960"/>
          </a:xfrm>
          <a:prstGeom prst="rect">
            <a:avLst/>
          </a:prstGeom>
          <a:noFill/>
        </p:spPr>
        <p:txBody>
          <a:bodyPr wrap="square" anchor="t">
            <a:spAutoFit/>
          </a:bodyPr>
          <a:lstStyle/>
          <a:p>
            <a:pPr algn="l">
              <a:spcAft>
                <a:spcPts val="400"/>
              </a:spcAft>
            </a:pPr>
            <a:r>
              <a:rPr sz="2900" b="1">
                <a:solidFill>
                  <a:srgbClr val="161B26"/>
                </a:solidFill>
                <a:latin typeface="Arial"/>
              </a:rPr>
              <a:t>Worked example — QFT on one qubit</a:t>
            </a:r>
          </a:p>
        </p:txBody>
      </p:sp>
      <p:sp>
        <p:nvSpPr>
          <p:cNvPr id="6" name="Rectangle 5"/>
          <p:cNvSpPr/>
          <p:nvPr/>
        </p:nvSpPr>
        <p:spPr>
          <a:xfrm>
            <a:off x="777240" y="1554480"/>
            <a:ext cx="10634472" cy="18288"/>
          </a:xfrm>
          <a:prstGeom prst="rect">
            <a:avLst/>
          </a:prstGeom>
          <a:solidFill>
            <a:srgbClr val="E2E8F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Rectangle 6"/>
          <p:cNvSpPr/>
          <p:nvPr/>
        </p:nvSpPr>
        <p:spPr>
          <a:xfrm>
            <a:off x="777240" y="1810512"/>
            <a:ext cx="10634472" cy="2907792"/>
          </a:xfrm>
          <a:prstGeom prst="rect">
            <a:avLst/>
          </a:prstGeom>
          <a:solidFill>
            <a:srgbClr val="0B122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TextBox 7"/>
          <p:cNvSpPr txBox="1"/>
          <p:nvPr/>
        </p:nvSpPr>
        <p:spPr>
          <a:xfrm>
            <a:off x="1097280" y="1956816"/>
            <a:ext cx="9994392" cy="2615184"/>
          </a:xfrm>
          <a:prstGeom prst="rect">
            <a:avLst/>
          </a:prstGeom>
          <a:noFill/>
        </p:spPr>
        <p:txBody>
          <a:bodyPr wrap="square" anchor="t">
            <a:spAutoFit/>
          </a:bodyPr>
          <a:lstStyle/>
          <a:p>
            <a:pPr algn="l">
              <a:spcAft>
                <a:spcPts val="300"/>
              </a:spcAft>
            </a:pPr>
            <a:r>
              <a:rPr sz="1500" b="0">
                <a:solidFill>
                  <a:srgbClr val="9CDCFE"/>
                </a:solidFill>
                <a:latin typeface="Arial"/>
              </a:rPr>
              <a:t>For n = 1, N = 2, and e^(2πi/2) = e^(iπ) = -1:</a:t>
            </a:r>
          </a:p>
          <a:p>
            <a:pPr algn="l">
              <a:spcAft>
                <a:spcPts val="300"/>
              </a:spcAft>
            </a:pPr>
            <a:r>
              <a:rPr sz="1500" b="0">
                <a:solidFill>
                  <a:srgbClr val="0B1220"/>
                </a:solidFill>
                <a:latin typeface="Arial"/>
              </a:rPr>
              <a:t> </a:t>
            </a:r>
          </a:p>
          <a:p>
            <a:pPr algn="l">
              <a:spcAft>
                <a:spcPts val="300"/>
              </a:spcAft>
            </a:pPr>
            <a:r>
              <a:rPr sz="1500" b="0">
                <a:solidFill>
                  <a:srgbClr val="9CDCFE"/>
                </a:solidFill>
                <a:latin typeface="Arial"/>
              </a:rPr>
              <a:t>   QFT|0&gt;  =  (|0&gt; + |1&gt;)/√2   =  |+&gt;</a:t>
            </a:r>
          </a:p>
          <a:p>
            <a:pPr algn="l">
              <a:spcAft>
                <a:spcPts val="300"/>
              </a:spcAft>
            </a:pPr>
            <a:r>
              <a:rPr sz="1500" b="0">
                <a:solidFill>
                  <a:srgbClr val="9CDCFE"/>
                </a:solidFill>
                <a:latin typeface="Arial"/>
              </a:rPr>
              <a:t>   QFT|1&gt;  =  (|0&gt; - |1&gt;)/√2   =  |-&gt;</a:t>
            </a:r>
          </a:p>
          <a:p>
            <a:pPr algn="l">
              <a:spcAft>
                <a:spcPts val="300"/>
              </a:spcAft>
            </a:pPr>
            <a:r>
              <a:rPr sz="1500" b="0">
                <a:solidFill>
                  <a:srgbClr val="0B1220"/>
                </a:solidFill>
                <a:latin typeface="Arial"/>
              </a:rPr>
              <a:t> </a:t>
            </a:r>
          </a:p>
          <a:p>
            <a:pPr algn="l">
              <a:spcAft>
                <a:spcPts val="300"/>
              </a:spcAft>
            </a:pPr>
            <a:r>
              <a:rPr sz="1500" b="0">
                <a:solidFill>
                  <a:srgbClr val="9CDCFE"/>
                </a:solidFill>
                <a:latin typeface="Arial"/>
              </a:rPr>
              <a:t>That is exactly the HADAMARD gate.</a:t>
            </a:r>
          </a:p>
          <a:p>
            <a:pPr algn="l">
              <a:spcAft>
                <a:spcPts val="300"/>
              </a:spcAft>
            </a:pPr>
            <a:r>
              <a:rPr sz="1500" b="0">
                <a:solidFill>
                  <a:srgbClr val="0B1220"/>
                </a:solidFill>
                <a:latin typeface="Arial"/>
              </a:rPr>
              <a:t> </a:t>
            </a:r>
          </a:p>
          <a:p>
            <a:pPr algn="l">
              <a:spcAft>
                <a:spcPts val="300"/>
              </a:spcAft>
            </a:pPr>
            <a:r>
              <a:rPr sz="1500" b="0">
                <a:solidFill>
                  <a:srgbClr val="9CDCFE"/>
                </a:solidFill>
                <a:latin typeface="Arial"/>
              </a:rPr>
              <a:t>   QFT₁  =  H</a:t>
            </a:r>
          </a:p>
        </p:txBody>
      </p:sp>
      <p:sp>
        <p:nvSpPr>
          <p:cNvPr id="9" name="Rectangle 8"/>
          <p:cNvSpPr/>
          <p:nvPr/>
        </p:nvSpPr>
        <p:spPr>
          <a:xfrm>
            <a:off x="777240" y="4919472"/>
            <a:ext cx="10634472" cy="1133856"/>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Rectangle 9"/>
          <p:cNvSpPr/>
          <p:nvPr/>
        </p:nvSpPr>
        <p:spPr>
          <a:xfrm>
            <a:off x="777240" y="4919472"/>
            <a:ext cx="82296" cy="1133856"/>
          </a:xfrm>
          <a:prstGeom prst="rect">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 name="TextBox 10"/>
          <p:cNvSpPr txBox="1"/>
          <p:nvPr/>
        </p:nvSpPr>
        <p:spPr>
          <a:xfrm>
            <a:off x="1097280" y="4919472"/>
            <a:ext cx="10149840" cy="1133856"/>
          </a:xfrm>
          <a:prstGeom prst="rect">
            <a:avLst/>
          </a:prstGeom>
          <a:noFill/>
        </p:spPr>
        <p:txBody>
          <a:bodyPr wrap="square" anchor="ctr">
            <a:spAutoFit/>
          </a:bodyPr>
          <a:lstStyle/>
          <a:p>
            <a:pPr algn="l">
              <a:spcAft>
                <a:spcPts val="400"/>
              </a:spcAft>
            </a:pPr>
            <a:r>
              <a:rPr sz="1150" b="1">
                <a:solidFill>
                  <a:srgbClr val="10B981"/>
                </a:solidFill>
                <a:latin typeface="Arial"/>
              </a:rPr>
              <a:t>KEY POINT:  </a:t>
            </a:r>
            <a:r>
              <a:rPr sz="1300" b="0">
                <a:solidFill>
                  <a:srgbClr val="161B26"/>
                </a:solidFill>
                <a:latin typeface="Arial"/>
              </a:rPr>
              <a:t>The Hadamard is the single-qubit QFT — a useful anchor for intuition.</a:t>
            </a:r>
          </a:p>
        </p:txBody>
      </p:sp>
      <p:sp>
        <p:nvSpPr>
          <p:cNvPr id="12" name="TextBox 11"/>
          <p:cNvSpPr txBox="1"/>
          <p:nvPr/>
        </p:nvSpPr>
        <p:spPr>
          <a:xfrm>
            <a:off x="365760" y="6446520"/>
            <a:ext cx="6858000" cy="320040"/>
          </a:xfrm>
          <a:prstGeom prst="rect">
            <a:avLst/>
          </a:prstGeom>
          <a:noFill/>
        </p:spPr>
        <p:txBody>
          <a:bodyPr wrap="square" anchor="t">
            <a:spAutoFit/>
          </a:bodyPr>
          <a:lstStyle/>
          <a:p>
            <a:pPr algn="l">
              <a:spcAft>
                <a:spcPts val="400"/>
              </a:spcAft>
            </a:pPr>
            <a:r>
              <a:rPr sz="900" b="0">
                <a:solidFill>
                  <a:srgbClr val="5B6372"/>
                </a:solidFill>
                <a:latin typeface="Arial"/>
              </a:rPr>
              <a:t>Securing the Future with Quantum Computing and Cryptography  ·  TGS-2024043419</a:t>
            </a:r>
          </a:p>
        </p:txBody>
      </p:sp>
      <p:sp>
        <p:nvSpPr>
          <p:cNvPr id="13" name="TextBox 12"/>
          <p:cNvSpPr txBox="1"/>
          <p:nvPr/>
        </p:nvSpPr>
        <p:spPr>
          <a:xfrm>
            <a:off x="4572000" y="6446520"/>
            <a:ext cx="3017520" cy="320040"/>
          </a:xfrm>
          <a:prstGeom prst="rect">
            <a:avLst/>
          </a:prstGeom>
          <a:noFill/>
        </p:spPr>
        <p:txBody>
          <a:bodyPr wrap="square" anchor="t">
            <a:spAutoFit/>
          </a:bodyPr>
          <a:lstStyle/>
          <a:p>
            <a:pPr algn="ctr">
              <a:spcAft>
                <a:spcPts val="400"/>
              </a:spcAft>
            </a:pPr>
            <a:r>
              <a:rPr sz="900" b="0">
                <a:solidFill>
                  <a:srgbClr val="5B6372"/>
                </a:solidFill>
                <a:latin typeface="Arial"/>
              </a:rPr>
              <a:t>© 2026 Tertiary Infotech Academy Pte Ltd</a:t>
            </a:r>
          </a:p>
        </p:txBody>
      </p:sp>
      <p:sp>
        <p:nvSpPr>
          <p:cNvPr id="14" name="TextBox 13"/>
          <p:cNvSpPr txBox="1"/>
          <p:nvPr/>
        </p:nvSpPr>
        <p:spPr>
          <a:xfrm>
            <a:off x="11338560" y="6446520"/>
            <a:ext cx="548640" cy="320040"/>
          </a:xfrm>
          <a:prstGeom prst="rect">
            <a:avLst/>
          </a:prstGeom>
          <a:noFill/>
        </p:spPr>
        <p:txBody>
          <a:bodyPr wrap="square" anchor="t">
            <a:spAutoFit/>
          </a:bodyPr>
          <a:lstStyle/>
          <a:p>
            <a:pPr algn="r">
              <a:spcAft>
                <a:spcPts val="400"/>
              </a:spcAft>
            </a:pPr>
            <a:r>
              <a:rPr sz="900" b="0">
                <a:solidFill>
                  <a:srgbClr val="5B6372"/>
                </a:solidFill>
                <a:latin typeface="Arial"/>
              </a:rPr>
              <a:t>142</a:t>
            </a:r>
          </a:p>
        </p:txBody>
      </p:sp>
    </p:spTree>
  </p:cSld>
  <p:clrMapOvr>
    <a:masterClrMapping/>
  </p:clrMapOvr>
</p:sld>
</file>

<file path=ppt/slides/slide144.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256032" cy="1417320"/>
          </a:xfrm>
          <a:prstGeom prst="rect">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777240" y="457200"/>
            <a:ext cx="10607040" cy="365760"/>
          </a:xfrm>
          <a:prstGeom prst="rect">
            <a:avLst/>
          </a:prstGeom>
          <a:noFill/>
        </p:spPr>
        <p:txBody>
          <a:bodyPr wrap="square" anchor="t">
            <a:spAutoFit/>
          </a:bodyPr>
          <a:lstStyle/>
          <a:p>
            <a:pPr algn="l">
              <a:spcAft>
                <a:spcPts val="400"/>
              </a:spcAft>
            </a:pPr>
            <a:r>
              <a:rPr sz="1400" b="1">
                <a:solidFill>
                  <a:srgbClr val="1F6FEB"/>
                </a:solidFill>
                <a:latin typeface="Arial"/>
              </a:rPr>
              <a:t>FROM DFT TO QFT</a:t>
            </a:r>
          </a:p>
        </p:txBody>
      </p:sp>
      <p:sp>
        <p:nvSpPr>
          <p:cNvPr id="5" name="TextBox 4"/>
          <p:cNvSpPr txBox="1"/>
          <p:nvPr/>
        </p:nvSpPr>
        <p:spPr>
          <a:xfrm>
            <a:off x="777240" y="822960"/>
            <a:ext cx="10881360" cy="822960"/>
          </a:xfrm>
          <a:prstGeom prst="rect">
            <a:avLst/>
          </a:prstGeom>
          <a:noFill/>
        </p:spPr>
        <p:txBody>
          <a:bodyPr wrap="square" anchor="t">
            <a:spAutoFit/>
          </a:bodyPr>
          <a:lstStyle/>
          <a:p>
            <a:pPr algn="l">
              <a:spcAft>
                <a:spcPts val="400"/>
              </a:spcAft>
            </a:pPr>
            <a:r>
              <a:rPr sz="2900" b="1">
                <a:solidFill>
                  <a:srgbClr val="161B26"/>
                </a:solidFill>
                <a:latin typeface="Arial"/>
              </a:rPr>
              <a:t>The circuit for n qubits</a:t>
            </a:r>
          </a:p>
        </p:txBody>
      </p:sp>
      <p:sp>
        <p:nvSpPr>
          <p:cNvPr id="6" name="Rectangle 5"/>
          <p:cNvSpPr/>
          <p:nvPr/>
        </p:nvSpPr>
        <p:spPr>
          <a:xfrm>
            <a:off x="777240" y="1554480"/>
            <a:ext cx="10634472" cy="18288"/>
          </a:xfrm>
          <a:prstGeom prst="rect">
            <a:avLst/>
          </a:prstGeom>
          <a:solidFill>
            <a:srgbClr val="E2E8F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Rectangle 6"/>
          <p:cNvSpPr/>
          <p:nvPr/>
        </p:nvSpPr>
        <p:spPr>
          <a:xfrm>
            <a:off x="777240" y="1810512"/>
            <a:ext cx="10634472" cy="3520440"/>
          </a:xfrm>
          <a:prstGeom prst="rect">
            <a:avLst/>
          </a:prstGeom>
          <a:solidFill>
            <a:srgbClr val="0B122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TextBox 7"/>
          <p:cNvSpPr txBox="1"/>
          <p:nvPr/>
        </p:nvSpPr>
        <p:spPr>
          <a:xfrm>
            <a:off x="1097280" y="1956816"/>
            <a:ext cx="9994392" cy="3227832"/>
          </a:xfrm>
          <a:prstGeom prst="rect">
            <a:avLst/>
          </a:prstGeom>
          <a:noFill/>
        </p:spPr>
        <p:txBody>
          <a:bodyPr wrap="square" anchor="t">
            <a:spAutoFit/>
          </a:bodyPr>
          <a:lstStyle/>
          <a:p>
            <a:pPr algn="l">
              <a:spcAft>
                <a:spcPts val="300"/>
              </a:spcAft>
            </a:pPr>
            <a:r>
              <a:rPr sz="1320" b="0">
                <a:solidFill>
                  <a:srgbClr val="9CDCFE"/>
                </a:solidFill>
                <a:latin typeface="Arial"/>
              </a:rPr>
              <a:t>For each qubit, in order:</a:t>
            </a:r>
          </a:p>
          <a:p>
            <a:pPr algn="l">
              <a:spcAft>
                <a:spcPts val="300"/>
              </a:spcAft>
            </a:pPr>
            <a:r>
              <a:rPr sz="1320" b="0">
                <a:solidFill>
                  <a:srgbClr val="9CDCFE"/>
                </a:solidFill>
                <a:latin typeface="Arial"/>
              </a:rPr>
              <a:t>   1. apply H</a:t>
            </a:r>
          </a:p>
          <a:p>
            <a:pPr algn="l">
              <a:spcAft>
                <a:spcPts val="300"/>
              </a:spcAft>
            </a:pPr>
            <a:r>
              <a:rPr sz="1320" b="0">
                <a:solidFill>
                  <a:srgbClr val="9CDCFE"/>
                </a:solidFill>
                <a:latin typeface="Arial"/>
              </a:rPr>
              <a:t>   2. apply controlled-phase rotations R_k from each lower qubit,</a:t>
            </a:r>
          </a:p>
          <a:p>
            <a:pPr algn="l">
              <a:spcAft>
                <a:spcPts val="300"/>
              </a:spcAft>
            </a:pPr>
            <a:r>
              <a:rPr sz="1320" b="0">
                <a:solidFill>
                  <a:srgbClr val="9CDCFE"/>
                </a:solidFill>
                <a:latin typeface="Arial"/>
              </a:rPr>
              <a:t>      where R_k adds the phase 2π/2^k</a:t>
            </a:r>
          </a:p>
          <a:p>
            <a:pPr algn="l">
              <a:spcAft>
                <a:spcPts val="300"/>
              </a:spcAft>
            </a:pPr>
            <a:r>
              <a:rPr sz="1320" b="0">
                <a:solidFill>
                  <a:srgbClr val="9CDCFE"/>
                </a:solidFill>
                <a:latin typeface="Arial"/>
              </a:rPr>
              <a:t>Finally, SWAP to reverse the qubit order.</a:t>
            </a:r>
          </a:p>
          <a:p>
            <a:pPr algn="l">
              <a:spcAft>
                <a:spcPts val="300"/>
              </a:spcAft>
            </a:pPr>
            <a:r>
              <a:rPr sz="1320" b="0">
                <a:solidFill>
                  <a:srgbClr val="0B1220"/>
                </a:solidFill>
                <a:latin typeface="Arial"/>
              </a:rPr>
              <a:t> </a:t>
            </a:r>
          </a:p>
          <a:p>
            <a:pPr algn="l">
              <a:spcAft>
                <a:spcPts val="300"/>
              </a:spcAft>
            </a:pPr>
            <a:r>
              <a:rPr sz="1320" b="0">
                <a:solidFill>
                  <a:srgbClr val="9CDCFE"/>
                </a:solidFill>
                <a:latin typeface="Arial"/>
              </a:rPr>
              <a:t>3-qubit QFT:</a:t>
            </a:r>
          </a:p>
          <a:p>
            <a:pPr algn="l">
              <a:spcAft>
                <a:spcPts val="300"/>
              </a:spcAft>
            </a:pPr>
            <a:r>
              <a:rPr sz="1320" b="0">
                <a:solidFill>
                  <a:srgbClr val="9CDCFE"/>
                </a:solidFill>
                <a:latin typeface="Arial"/>
              </a:rPr>
              <a:t>   H(q2) · CP(π/2: q1-&gt;q2) · CP(π/4: q0-&gt;q2)</a:t>
            </a:r>
          </a:p>
          <a:p>
            <a:pPr algn="l">
              <a:spcAft>
                <a:spcPts val="300"/>
              </a:spcAft>
            </a:pPr>
            <a:r>
              <a:rPr sz="1320" b="0">
                <a:solidFill>
                  <a:srgbClr val="9CDCFE"/>
                </a:solidFill>
                <a:latin typeface="Arial"/>
              </a:rPr>
              <a:t>   H(q1) · CP(π/2: q0-&gt;q1)</a:t>
            </a:r>
          </a:p>
          <a:p>
            <a:pPr algn="l">
              <a:spcAft>
                <a:spcPts val="300"/>
              </a:spcAft>
            </a:pPr>
            <a:r>
              <a:rPr sz="1320" b="0">
                <a:solidFill>
                  <a:srgbClr val="9CDCFE"/>
                </a:solidFill>
                <a:latin typeface="Arial"/>
              </a:rPr>
              <a:t>   H(q0) · SWAP(q0,q2)</a:t>
            </a:r>
          </a:p>
        </p:txBody>
      </p:sp>
      <p:sp>
        <p:nvSpPr>
          <p:cNvPr id="9" name="Rectangle 8"/>
          <p:cNvSpPr/>
          <p:nvPr/>
        </p:nvSpPr>
        <p:spPr>
          <a:xfrm>
            <a:off x="777240" y="5532120"/>
            <a:ext cx="10634472" cy="521208"/>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Rectangle 9"/>
          <p:cNvSpPr/>
          <p:nvPr/>
        </p:nvSpPr>
        <p:spPr>
          <a:xfrm>
            <a:off x="777240" y="5532120"/>
            <a:ext cx="82296" cy="521208"/>
          </a:xfrm>
          <a:prstGeom prst="rect">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 name="TextBox 10"/>
          <p:cNvSpPr txBox="1"/>
          <p:nvPr/>
        </p:nvSpPr>
        <p:spPr>
          <a:xfrm>
            <a:off x="1097280" y="5532120"/>
            <a:ext cx="10149840" cy="521208"/>
          </a:xfrm>
          <a:prstGeom prst="rect">
            <a:avLst/>
          </a:prstGeom>
          <a:noFill/>
        </p:spPr>
        <p:txBody>
          <a:bodyPr wrap="square" anchor="ctr">
            <a:spAutoFit/>
          </a:bodyPr>
          <a:lstStyle/>
          <a:p>
            <a:pPr algn="l">
              <a:spcAft>
                <a:spcPts val="400"/>
              </a:spcAft>
            </a:pPr>
            <a:r>
              <a:rPr sz="1150" b="1">
                <a:solidFill>
                  <a:srgbClr val="10B981"/>
                </a:solidFill>
                <a:latin typeface="Arial"/>
              </a:rPr>
              <a:t>KEY POINT:  </a:t>
            </a:r>
            <a:r>
              <a:rPr sz="1300" b="0">
                <a:solidFill>
                  <a:srgbClr val="161B26"/>
                </a:solidFill>
                <a:latin typeface="Arial"/>
              </a:rPr>
              <a:t>Each controlled rotation adds one further binary digit of phase precision.</a:t>
            </a:r>
          </a:p>
        </p:txBody>
      </p:sp>
      <p:sp>
        <p:nvSpPr>
          <p:cNvPr id="12" name="TextBox 11"/>
          <p:cNvSpPr txBox="1"/>
          <p:nvPr/>
        </p:nvSpPr>
        <p:spPr>
          <a:xfrm>
            <a:off x="365760" y="6446520"/>
            <a:ext cx="6858000" cy="320040"/>
          </a:xfrm>
          <a:prstGeom prst="rect">
            <a:avLst/>
          </a:prstGeom>
          <a:noFill/>
        </p:spPr>
        <p:txBody>
          <a:bodyPr wrap="square" anchor="t">
            <a:spAutoFit/>
          </a:bodyPr>
          <a:lstStyle/>
          <a:p>
            <a:pPr algn="l">
              <a:spcAft>
                <a:spcPts val="400"/>
              </a:spcAft>
            </a:pPr>
            <a:r>
              <a:rPr sz="900" b="0">
                <a:solidFill>
                  <a:srgbClr val="5B6372"/>
                </a:solidFill>
                <a:latin typeface="Arial"/>
              </a:rPr>
              <a:t>Securing the Future with Quantum Computing and Cryptography  ·  TGS-2024043419</a:t>
            </a:r>
          </a:p>
        </p:txBody>
      </p:sp>
      <p:sp>
        <p:nvSpPr>
          <p:cNvPr id="13" name="TextBox 12"/>
          <p:cNvSpPr txBox="1"/>
          <p:nvPr/>
        </p:nvSpPr>
        <p:spPr>
          <a:xfrm>
            <a:off x="4572000" y="6446520"/>
            <a:ext cx="3017520" cy="320040"/>
          </a:xfrm>
          <a:prstGeom prst="rect">
            <a:avLst/>
          </a:prstGeom>
          <a:noFill/>
        </p:spPr>
        <p:txBody>
          <a:bodyPr wrap="square" anchor="t">
            <a:spAutoFit/>
          </a:bodyPr>
          <a:lstStyle/>
          <a:p>
            <a:pPr algn="ctr">
              <a:spcAft>
                <a:spcPts val="400"/>
              </a:spcAft>
            </a:pPr>
            <a:r>
              <a:rPr sz="900" b="0">
                <a:solidFill>
                  <a:srgbClr val="5B6372"/>
                </a:solidFill>
                <a:latin typeface="Arial"/>
              </a:rPr>
              <a:t>© 2026 Tertiary Infotech Academy Pte Ltd</a:t>
            </a:r>
          </a:p>
        </p:txBody>
      </p:sp>
      <p:sp>
        <p:nvSpPr>
          <p:cNvPr id="14" name="TextBox 13"/>
          <p:cNvSpPr txBox="1"/>
          <p:nvPr/>
        </p:nvSpPr>
        <p:spPr>
          <a:xfrm>
            <a:off x="11338560" y="6446520"/>
            <a:ext cx="548640" cy="320040"/>
          </a:xfrm>
          <a:prstGeom prst="rect">
            <a:avLst/>
          </a:prstGeom>
          <a:noFill/>
        </p:spPr>
        <p:txBody>
          <a:bodyPr wrap="square" anchor="t">
            <a:spAutoFit/>
          </a:bodyPr>
          <a:lstStyle/>
          <a:p>
            <a:pPr algn="r">
              <a:spcAft>
                <a:spcPts val="400"/>
              </a:spcAft>
            </a:pPr>
            <a:r>
              <a:rPr sz="900" b="0">
                <a:solidFill>
                  <a:srgbClr val="5B6372"/>
                </a:solidFill>
                <a:latin typeface="Arial"/>
              </a:rPr>
              <a:t>143</a:t>
            </a:r>
          </a:p>
        </p:txBody>
      </p:sp>
    </p:spTree>
  </p:cSld>
  <p:clrMapOvr>
    <a:masterClrMapping/>
  </p:clrMapOvr>
</p:sld>
</file>

<file path=ppt/slides/slide145.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256032" cy="1417320"/>
          </a:xfrm>
          <a:prstGeom prst="rect">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777240" y="457200"/>
            <a:ext cx="10607040" cy="365760"/>
          </a:xfrm>
          <a:prstGeom prst="rect">
            <a:avLst/>
          </a:prstGeom>
          <a:noFill/>
        </p:spPr>
        <p:txBody>
          <a:bodyPr wrap="square" anchor="t">
            <a:spAutoFit/>
          </a:bodyPr>
          <a:lstStyle/>
          <a:p>
            <a:pPr algn="l">
              <a:spcAft>
                <a:spcPts val="400"/>
              </a:spcAft>
            </a:pPr>
            <a:r>
              <a:rPr sz="1400" b="1">
                <a:solidFill>
                  <a:srgbClr val="1F6FEB"/>
                </a:solidFill>
                <a:latin typeface="Arial"/>
              </a:rPr>
              <a:t>FROM DFT TO QFT</a:t>
            </a:r>
          </a:p>
        </p:txBody>
      </p:sp>
      <p:sp>
        <p:nvSpPr>
          <p:cNvPr id="5" name="TextBox 4"/>
          <p:cNvSpPr txBox="1"/>
          <p:nvPr/>
        </p:nvSpPr>
        <p:spPr>
          <a:xfrm>
            <a:off x="777240" y="822960"/>
            <a:ext cx="10881360" cy="822960"/>
          </a:xfrm>
          <a:prstGeom prst="rect">
            <a:avLst/>
          </a:prstGeom>
          <a:noFill/>
        </p:spPr>
        <p:txBody>
          <a:bodyPr wrap="square" anchor="t">
            <a:spAutoFit/>
          </a:bodyPr>
          <a:lstStyle/>
          <a:p>
            <a:pPr algn="l">
              <a:spcAft>
                <a:spcPts val="400"/>
              </a:spcAft>
            </a:pPr>
            <a:r>
              <a:rPr sz="2900" b="1">
                <a:solidFill>
                  <a:srgbClr val="161B26"/>
                </a:solidFill>
                <a:latin typeface="Arial"/>
              </a:rPr>
              <a:t>Cost and the honest caveat</a:t>
            </a:r>
          </a:p>
        </p:txBody>
      </p:sp>
      <p:sp>
        <p:nvSpPr>
          <p:cNvPr id="6" name="Rectangle 5"/>
          <p:cNvSpPr/>
          <p:nvPr/>
        </p:nvSpPr>
        <p:spPr>
          <a:xfrm>
            <a:off x="777240" y="1554480"/>
            <a:ext cx="10634472" cy="18288"/>
          </a:xfrm>
          <a:prstGeom prst="rect">
            <a:avLst/>
          </a:prstGeom>
          <a:solidFill>
            <a:srgbClr val="E2E8F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Rectangle 6"/>
          <p:cNvSpPr/>
          <p:nvPr/>
        </p:nvSpPr>
        <p:spPr>
          <a:xfrm>
            <a:off x="777240" y="1810512"/>
            <a:ext cx="10634472" cy="2907792"/>
          </a:xfrm>
          <a:prstGeom prst="rect">
            <a:avLst/>
          </a:prstGeom>
          <a:solidFill>
            <a:srgbClr val="0B122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TextBox 7"/>
          <p:cNvSpPr txBox="1"/>
          <p:nvPr/>
        </p:nvSpPr>
        <p:spPr>
          <a:xfrm>
            <a:off x="1097280" y="1956816"/>
            <a:ext cx="9994392" cy="2615184"/>
          </a:xfrm>
          <a:prstGeom prst="rect">
            <a:avLst/>
          </a:prstGeom>
          <a:noFill/>
        </p:spPr>
        <p:txBody>
          <a:bodyPr wrap="square" anchor="t">
            <a:spAutoFit/>
          </a:bodyPr>
          <a:lstStyle/>
          <a:p>
            <a:pPr algn="l">
              <a:spcAft>
                <a:spcPts val="300"/>
              </a:spcAft>
            </a:pPr>
            <a:r>
              <a:rPr sz="1500" b="0">
                <a:solidFill>
                  <a:srgbClr val="9CDCFE"/>
                </a:solidFill>
                <a:latin typeface="Arial"/>
              </a:rPr>
              <a:t>   QFT gate count:  O(n²)          on N = 2ⁿ amplitudes</a:t>
            </a:r>
          </a:p>
          <a:p>
            <a:pPr algn="l">
              <a:spcAft>
                <a:spcPts val="300"/>
              </a:spcAft>
            </a:pPr>
            <a:r>
              <a:rPr sz="1500" b="0">
                <a:solidFill>
                  <a:srgbClr val="9CDCFE"/>
                </a:solidFill>
                <a:latin typeface="Arial"/>
              </a:rPr>
              <a:t>   Classical FFT:   O(N log N)  =  O(n·2ⁿ)</a:t>
            </a:r>
          </a:p>
          <a:p>
            <a:pPr algn="l">
              <a:spcAft>
                <a:spcPts val="300"/>
              </a:spcAft>
            </a:pPr>
            <a:r>
              <a:rPr sz="1500" b="0">
                <a:solidFill>
                  <a:srgbClr val="0B1220"/>
                </a:solidFill>
                <a:latin typeface="Arial"/>
              </a:rPr>
              <a:t> </a:t>
            </a:r>
          </a:p>
          <a:p>
            <a:pPr algn="l">
              <a:spcAft>
                <a:spcPts val="300"/>
              </a:spcAft>
            </a:pPr>
            <a:r>
              <a:rPr sz="1500" b="0">
                <a:solidFill>
                  <a:srgbClr val="9CDCFE"/>
                </a:solidFill>
                <a:latin typeface="Arial"/>
              </a:rPr>
              <a:t>Exponentially fewer operations — BUT:</a:t>
            </a:r>
          </a:p>
          <a:p>
            <a:pPr algn="l">
              <a:spcAft>
                <a:spcPts val="300"/>
              </a:spcAft>
            </a:pPr>
            <a:r>
              <a:rPr sz="1500" b="0">
                <a:solidFill>
                  <a:srgbClr val="0B1220"/>
                </a:solidFill>
                <a:latin typeface="Arial"/>
              </a:rPr>
              <a:t> </a:t>
            </a:r>
          </a:p>
          <a:p>
            <a:pPr algn="l">
              <a:spcAft>
                <a:spcPts val="300"/>
              </a:spcAft>
            </a:pPr>
            <a:r>
              <a:rPr sz="1500" b="0">
                <a:solidFill>
                  <a:srgbClr val="9CDCFE"/>
                </a:solidFill>
                <a:latin typeface="Arial"/>
              </a:rPr>
              <a:t>   You cannot READ OUT the transformed amplitudes. Measuring gives ONE</a:t>
            </a:r>
          </a:p>
          <a:p>
            <a:pPr algn="l">
              <a:spcAft>
                <a:spcPts val="300"/>
              </a:spcAft>
            </a:pPr>
            <a:r>
              <a:rPr sz="1500" b="0">
                <a:solidFill>
                  <a:srgbClr val="9CDCFE"/>
                </a:solidFill>
                <a:latin typeface="Arial"/>
              </a:rPr>
              <a:t>   sample, not the spectrum. So the QFT does not accelerate signal</a:t>
            </a:r>
          </a:p>
          <a:p>
            <a:pPr algn="l">
              <a:spcAft>
                <a:spcPts val="300"/>
              </a:spcAft>
            </a:pPr>
            <a:r>
              <a:rPr sz="1500" b="0">
                <a:solidFill>
                  <a:srgbClr val="9CDCFE"/>
                </a:solidFill>
                <a:latin typeface="Arial"/>
              </a:rPr>
              <a:t>   processing; it accelerates finding a PERIOD or a PHASE.</a:t>
            </a:r>
          </a:p>
        </p:txBody>
      </p:sp>
      <p:sp>
        <p:nvSpPr>
          <p:cNvPr id="9" name="Rectangle 8"/>
          <p:cNvSpPr/>
          <p:nvPr/>
        </p:nvSpPr>
        <p:spPr>
          <a:xfrm>
            <a:off x="777240" y="4919472"/>
            <a:ext cx="10634472" cy="1133856"/>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Rectangle 9"/>
          <p:cNvSpPr/>
          <p:nvPr/>
        </p:nvSpPr>
        <p:spPr>
          <a:xfrm>
            <a:off x="777240" y="4919472"/>
            <a:ext cx="82296" cy="1133856"/>
          </a:xfrm>
          <a:prstGeom prst="rect">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 name="TextBox 10"/>
          <p:cNvSpPr txBox="1"/>
          <p:nvPr/>
        </p:nvSpPr>
        <p:spPr>
          <a:xfrm>
            <a:off x="1097280" y="4919472"/>
            <a:ext cx="10149840" cy="1133856"/>
          </a:xfrm>
          <a:prstGeom prst="rect">
            <a:avLst/>
          </a:prstGeom>
          <a:noFill/>
        </p:spPr>
        <p:txBody>
          <a:bodyPr wrap="square" anchor="ctr">
            <a:spAutoFit/>
          </a:bodyPr>
          <a:lstStyle/>
          <a:p>
            <a:pPr algn="l">
              <a:spcAft>
                <a:spcPts val="400"/>
              </a:spcAft>
            </a:pPr>
            <a:r>
              <a:rPr sz="1150" b="1">
                <a:solidFill>
                  <a:srgbClr val="10B981"/>
                </a:solidFill>
                <a:latin typeface="Arial"/>
              </a:rPr>
              <a:t>KEY POINT:  </a:t>
            </a:r>
            <a:r>
              <a:rPr sz="1300" b="0">
                <a:solidFill>
                  <a:srgbClr val="161B26"/>
                </a:solidFill>
                <a:latin typeface="Arial"/>
              </a:rPr>
              <a:t>State this caveat explicitly in class — it is the most commonly over-claimed result in quantum computing.</a:t>
            </a:r>
          </a:p>
        </p:txBody>
      </p:sp>
      <p:sp>
        <p:nvSpPr>
          <p:cNvPr id="12" name="TextBox 11"/>
          <p:cNvSpPr txBox="1"/>
          <p:nvPr/>
        </p:nvSpPr>
        <p:spPr>
          <a:xfrm>
            <a:off x="365760" y="6446520"/>
            <a:ext cx="6858000" cy="320040"/>
          </a:xfrm>
          <a:prstGeom prst="rect">
            <a:avLst/>
          </a:prstGeom>
          <a:noFill/>
        </p:spPr>
        <p:txBody>
          <a:bodyPr wrap="square" anchor="t">
            <a:spAutoFit/>
          </a:bodyPr>
          <a:lstStyle/>
          <a:p>
            <a:pPr algn="l">
              <a:spcAft>
                <a:spcPts val="400"/>
              </a:spcAft>
            </a:pPr>
            <a:r>
              <a:rPr sz="900" b="0">
                <a:solidFill>
                  <a:srgbClr val="5B6372"/>
                </a:solidFill>
                <a:latin typeface="Arial"/>
              </a:rPr>
              <a:t>Securing the Future with Quantum Computing and Cryptography  ·  TGS-2024043419</a:t>
            </a:r>
          </a:p>
        </p:txBody>
      </p:sp>
      <p:sp>
        <p:nvSpPr>
          <p:cNvPr id="13" name="TextBox 12"/>
          <p:cNvSpPr txBox="1"/>
          <p:nvPr/>
        </p:nvSpPr>
        <p:spPr>
          <a:xfrm>
            <a:off x="4572000" y="6446520"/>
            <a:ext cx="3017520" cy="320040"/>
          </a:xfrm>
          <a:prstGeom prst="rect">
            <a:avLst/>
          </a:prstGeom>
          <a:noFill/>
        </p:spPr>
        <p:txBody>
          <a:bodyPr wrap="square" anchor="t">
            <a:spAutoFit/>
          </a:bodyPr>
          <a:lstStyle/>
          <a:p>
            <a:pPr algn="ctr">
              <a:spcAft>
                <a:spcPts val="400"/>
              </a:spcAft>
            </a:pPr>
            <a:r>
              <a:rPr sz="900" b="0">
                <a:solidFill>
                  <a:srgbClr val="5B6372"/>
                </a:solidFill>
                <a:latin typeface="Arial"/>
              </a:rPr>
              <a:t>© 2026 Tertiary Infotech Academy Pte Ltd</a:t>
            </a:r>
          </a:p>
        </p:txBody>
      </p:sp>
      <p:sp>
        <p:nvSpPr>
          <p:cNvPr id="14" name="TextBox 13"/>
          <p:cNvSpPr txBox="1"/>
          <p:nvPr/>
        </p:nvSpPr>
        <p:spPr>
          <a:xfrm>
            <a:off x="11338560" y="6446520"/>
            <a:ext cx="548640" cy="320040"/>
          </a:xfrm>
          <a:prstGeom prst="rect">
            <a:avLst/>
          </a:prstGeom>
          <a:noFill/>
        </p:spPr>
        <p:txBody>
          <a:bodyPr wrap="square" anchor="t">
            <a:spAutoFit/>
          </a:bodyPr>
          <a:lstStyle/>
          <a:p>
            <a:pPr algn="r">
              <a:spcAft>
                <a:spcPts val="400"/>
              </a:spcAft>
            </a:pPr>
            <a:r>
              <a:rPr sz="900" b="0">
                <a:solidFill>
                  <a:srgbClr val="5B6372"/>
                </a:solidFill>
                <a:latin typeface="Arial"/>
              </a:rPr>
              <a:t>144</a:t>
            </a:r>
          </a:p>
        </p:txBody>
      </p:sp>
    </p:spTree>
  </p:cSld>
  <p:clrMapOvr>
    <a:masterClrMapping/>
  </p:clrMapOvr>
</p:sld>
</file>

<file path=ppt/slides/slide146.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256032" cy="1417320"/>
          </a:xfrm>
          <a:prstGeom prst="rect">
            <a:avLst/>
          </a:prstGeom>
          <a:solidFill>
            <a:srgbClr val="7C3AE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777240" y="457200"/>
            <a:ext cx="10607040" cy="365760"/>
          </a:xfrm>
          <a:prstGeom prst="rect">
            <a:avLst/>
          </a:prstGeom>
          <a:noFill/>
        </p:spPr>
        <p:txBody>
          <a:bodyPr wrap="square" anchor="t">
            <a:spAutoFit/>
          </a:bodyPr>
          <a:lstStyle/>
          <a:p>
            <a:pPr algn="l">
              <a:spcAft>
                <a:spcPts val="400"/>
              </a:spcAft>
            </a:pPr>
            <a:r>
              <a:rPr sz="1400" b="1">
                <a:solidFill>
                  <a:srgbClr val="7C3AED"/>
                </a:solidFill>
                <a:latin typeface="Arial"/>
              </a:rPr>
              <a:t>DERIVATION</a:t>
            </a:r>
          </a:p>
        </p:txBody>
      </p:sp>
      <p:sp>
        <p:nvSpPr>
          <p:cNvPr id="5" name="TextBox 4"/>
          <p:cNvSpPr txBox="1"/>
          <p:nvPr/>
        </p:nvSpPr>
        <p:spPr>
          <a:xfrm>
            <a:off x="777240" y="822960"/>
            <a:ext cx="10881360" cy="822960"/>
          </a:xfrm>
          <a:prstGeom prst="rect">
            <a:avLst/>
          </a:prstGeom>
          <a:noFill/>
        </p:spPr>
        <p:txBody>
          <a:bodyPr wrap="square" anchor="t">
            <a:spAutoFit/>
          </a:bodyPr>
          <a:lstStyle/>
          <a:p>
            <a:pPr algn="l">
              <a:spcAft>
                <a:spcPts val="400"/>
              </a:spcAft>
            </a:pPr>
            <a:r>
              <a:rPr sz="2900" b="1">
                <a:solidFill>
                  <a:srgbClr val="161B26"/>
                </a:solidFill>
                <a:latin typeface="Arial"/>
              </a:rPr>
              <a:t>Proof — The Deutsch Algorithm</a:t>
            </a:r>
          </a:p>
        </p:txBody>
      </p:sp>
      <p:sp>
        <p:nvSpPr>
          <p:cNvPr id="6" name="Rectangle 5"/>
          <p:cNvSpPr/>
          <p:nvPr/>
        </p:nvSpPr>
        <p:spPr>
          <a:xfrm>
            <a:off x="777240" y="1554480"/>
            <a:ext cx="10634472" cy="18288"/>
          </a:xfrm>
          <a:prstGeom prst="rect">
            <a:avLst/>
          </a:prstGeom>
          <a:solidFill>
            <a:srgbClr val="E2E8F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Rectangle 6"/>
          <p:cNvSpPr/>
          <p:nvPr/>
        </p:nvSpPr>
        <p:spPr>
          <a:xfrm>
            <a:off x="777240" y="1783080"/>
            <a:ext cx="10634472" cy="1371600"/>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Rectangle 7"/>
          <p:cNvSpPr/>
          <p:nvPr/>
        </p:nvSpPr>
        <p:spPr>
          <a:xfrm>
            <a:off x="777240" y="1783080"/>
            <a:ext cx="100584" cy="1371600"/>
          </a:xfrm>
          <a:prstGeom prst="rect">
            <a:avLst/>
          </a:prstGeom>
          <a:solidFill>
            <a:srgbClr val="7C3AE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TextBox 8"/>
          <p:cNvSpPr txBox="1"/>
          <p:nvPr/>
        </p:nvSpPr>
        <p:spPr>
          <a:xfrm>
            <a:off x="1143000" y="1938528"/>
            <a:ext cx="10058400" cy="365760"/>
          </a:xfrm>
          <a:prstGeom prst="rect">
            <a:avLst/>
          </a:prstGeom>
          <a:noFill/>
        </p:spPr>
        <p:txBody>
          <a:bodyPr wrap="square" anchor="t">
            <a:spAutoFit/>
          </a:bodyPr>
          <a:lstStyle/>
          <a:p>
            <a:pPr algn="l">
              <a:spcAft>
                <a:spcPts val="400"/>
              </a:spcAft>
            </a:pPr>
            <a:r>
              <a:rPr sz="1200" b="1">
                <a:solidFill>
                  <a:srgbClr val="7C3AED"/>
                </a:solidFill>
                <a:latin typeface="Arial"/>
              </a:rPr>
              <a:t>CLAIM</a:t>
            </a:r>
          </a:p>
        </p:txBody>
      </p:sp>
      <p:sp>
        <p:nvSpPr>
          <p:cNvPr id="10" name="TextBox 9"/>
          <p:cNvSpPr txBox="1"/>
          <p:nvPr/>
        </p:nvSpPr>
        <p:spPr>
          <a:xfrm>
            <a:off x="1143000" y="2304288"/>
            <a:ext cx="10058400" cy="777240"/>
          </a:xfrm>
          <a:prstGeom prst="rect">
            <a:avLst/>
          </a:prstGeom>
          <a:noFill/>
        </p:spPr>
        <p:txBody>
          <a:bodyPr wrap="square" anchor="t">
            <a:spAutoFit/>
          </a:bodyPr>
          <a:lstStyle/>
          <a:p>
            <a:pPr algn="l">
              <a:spcAft>
                <a:spcPts val="400"/>
              </a:spcAft>
            </a:pPr>
            <a:r>
              <a:rPr sz="1550" b="1">
                <a:solidFill>
                  <a:srgbClr val="161B26"/>
                </a:solidFill>
                <a:latin typeface="Arial"/>
              </a:rPr>
              <a:t>One oracle query decides whether f:{0,1} -&gt; {0,1} is CONSTANT or BALANCED. Any classical algorithm needs two.</a:t>
            </a:r>
          </a:p>
        </p:txBody>
      </p:sp>
      <p:sp>
        <p:nvSpPr>
          <p:cNvPr id="11" name="TextBox 10"/>
          <p:cNvSpPr txBox="1"/>
          <p:nvPr/>
        </p:nvSpPr>
        <p:spPr>
          <a:xfrm>
            <a:off x="777240" y="3364992"/>
            <a:ext cx="10607040" cy="365760"/>
          </a:xfrm>
          <a:prstGeom prst="rect">
            <a:avLst/>
          </a:prstGeom>
          <a:noFill/>
        </p:spPr>
        <p:txBody>
          <a:bodyPr wrap="square" anchor="t">
            <a:spAutoFit/>
          </a:bodyPr>
          <a:lstStyle/>
          <a:p>
            <a:pPr algn="l">
              <a:spcAft>
                <a:spcPts val="400"/>
              </a:spcAft>
            </a:pPr>
            <a:r>
              <a:rPr sz="1200" b="1">
                <a:solidFill>
                  <a:srgbClr val="1F6FEB"/>
                </a:solidFill>
                <a:latin typeface="Arial"/>
              </a:rPr>
              <a:t>GIVEN</a:t>
            </a:r>
          </a:p>
        </p:txBody>
      </p:sp>
      <p:sp>
        <p:nvSpPr>
          <p:cNvPr id="12" name="Rectangle 11"/>
          <p:cNvSpPr/>
          <p:nvPr/>
        </p:nvSpPr>
        <p:spPr>
          <a:xfrm>
            <a:off x="777240" y="3730752"/>
            <a:ext cx="10634472" cy="555498"/>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 name="Rectangle 12"/>
          <p:cNvSpPr/>
          <p:nvPr/>
        </p:nvSpPr>
        <p:spPr>
          <a:xfrm>
            <a:off x="777240" y="3730752"/>
            <a:ext cx="82296" cy="555498"/>
          </a:xfrm>
          <a:prstGeom prst="rect">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 name="TextBox 13"/>
          <p:cNvSpPr txBox="1"/>
          <p:nvPr/>
        </p:nvSpPr>
        <p:spPr>
          <a:xfrm>
            <a:off x="1097280" y="3730752"/>
            <a:ext cx="10149840" cy="555498"/>
          </a:xfrm>
          <a:prstGeom prst="rect">
            <a:avLst/>
          </a:prstGeom>
          <a:noFill/>
        </p:spPr>
        <p:txBody>
          <a:bodyPr wrap="square" anchor="ctr">
            <a:spAutoFit/>
          </a:bodyPr>
          <a:lstStyle/>
          <a:p>
            <a:pPr algn="l">
              <a:spcAft>
                <a:spcPts val="400"/>
              </a:spcAft>
            </a:pPr>
            <a:r>
              <a:rPr sz="1300" b="0">
                <a:solidFill>
                  <a:srgbClr val="161B26"/>
                </a:solidFill>
                <a:latin typeface="Arial"/>
              </a:rPr>
              <a:t>f is a black box with f(0), f(1) in {0,1}.</a:t>
            </a:r>
          </a:p>
        </p:txBody>
      </p:sp>
      <p:sp>
        <p:nvSpPr>
          <p:cNvPr id="15" name="Rectangle 14"/>
          <p:cNvSpPr/>
          <p:nvPr/>
        </p:nvSpPr>
        <p:spPr>
          <a:xfrm>
            <a:off x="777240" y="4414266"/>
            <a:ext cx="10634472" cy="555498"/>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6" name="Rectangle 15"/>
          <p:cNvSpPr/>
          <p:nvPr/>
        </p:nvSpPr>
        <p:spPr>
          <a:xfrm>
            <a:off x="777240" y="4414266"/>
            <a:ext cx="82296" cy="555498"/>
          </a:xfrm>
          <a:prstGeom prst="rect">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7" name="TextBox 16"/>
          <p:cNvSpPr txBox="1"/>
          <p:nvPr/>
        </p:nvSpPr>
        <p:spPr>
          <a:xfrm>
            <a:off x="1097280" y="4414266"/>
            <a:ext cx="10149840" cy="555498"/>
          </a:xfrm>
          <a:prstGeom prst="rect">
            <a:avLst/>
          </a:prstGeom>
          <a:noFill/>
        </p:spPr>
        <p:txBody>
          <a:bodyPr wrap="square" anchor="ctr">
            <a:spAutoFit/>
          </a:bodyPr>
          <a:lstStyle/>
          <a:p>
            <a:pPr algn="l">
              <a:spcAft>
                <a:spcPts val="400"/>
              </a:spcAft>
            </a:pPr>
            <a:r>
              <a:rPr sz="1300" b="0">
                <a:solidFill>
                  <a:srgbClr val="161B26"/>
                </a:solidFill>
                <a:latin typeface="Arial"/>
              </a:rPr>
              <a:t>CONSTANT means f(0) = f(1);  BALANCED means f(0) ≠ f(1).</a:t>
            </a:r>
          </a:p>
        </p:txBody>
      </p:sp>
      <p:sp>
        <p:nvSpPr>
          <p:cNvPr id="18" name="Rectangle 17"/>
          <p:cNvSpPr/>
          <p:nvPr/>
        </p:nvSpPr>
        <p:spPr>
          <a:xfrm>
            <a:off x="777240" y="5097780"/>
            <a:ext cx="10634472" cy="555498"/>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9" name="Rectangle 18"/>
          <p:cNvSpPr/>
          <p:nvPr/>
        </p:nvSpPr>
        <p:spPr>
          <a:xfrm>
            <a:off x="777240" y="5097780"/>
            <a:ext cx="82296" cy="555498"/>
          </a:xfrm>
          <a:prstGeom prst="rect">
            <a:avLst/>
          </a:prstGeom>
          <a:solidFill>
            <a:srgbClr val="7C3AE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0" name="TextBox 19"/>
          <p:cNvSpPr txBox="1"/>
          <p:nvPr/>
        </p:nvSpPr>
        <p:spPr>
          <a:xfrm>
            <a:off x="1097280" y="5097780"/>
            <a:ext cx="10149840" cy="555498"/>
          </a:xfrm>
          <a:prstGeom prst="rect">
            <a:avLst/>
          </a:prstGeom>
          <a:noFill/>
        </p:spPr>
        <p:txBody>
          <a:bodyPr wrap="square" anchor="ctr">
            <a:spAutoFit/>
          </a:bodyPr>
          <a:lstStyle/>
          <a:p>
            <a:pPr algn="l">
              <a:spcAft>
                <a:spcPts val="400"/>
              </a:spcAft>
            </a:pPr>
            <a:r>
              <a:rPr sz="1300" b="0">
                <a:solidFill>
                  <a:srgbClr val="161B26"/>
                </a:solidFill>
                <a:latin typeface="Arial"/>
              </a:rPr>
              <a:t>The oracle is reversible:  U_f |x&gt;|y&gt; = |x&gt;|y ⊕ f(x)&gt;.</a:t>
            </a:r>
          </a:p>
        </p:txBody>
      </p:sp>
      <p:sp>
        <p:nvSpPr>
          <p:cNvPr id="21" name="Rectangle 20"/>
          <p:cNvSpPr/>
          <p:nvPr/>
        </p:nvSpPr>
        <p:spPr>
          <a:xfrm>
            <a:off x="777240" y="5781294"/>
            <a:ext cx="10634472" cy="555498"/>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2" name="Rectangle 21"/>
          <p:cNvSpPr/>
          <p:nvPr/>
        </p:nvSpPr>
        <p:spPr>
          <a:xfrm>
            <a:off x="777240" y="5781294"/>
            <a:ext cx="82296" cy="555498"/>
          </a:xfrm>
          <a:prstGeom prst="rect">
            <a:avLst/>
          </a:prstGeom>
          <a:solidFill>
            <a:srgbClr val="F59E0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3" name="TextBox 22"/>
          <p:cNvSpPr txBox="1"/>
          <p:nvPr/>
        </p:nvSpPr>
        <p:spPr>
          <a:xfrm>
            <a:off x="1097280" y="5781294"/>
            <a:ext cx="10149840" cy="555498"/>
          </a:xfrm>
          <a:prstGeom prst="rect">
            <a:avLst/>
          </a:prstGeom>
          <a:noFill/>
        </p:spPr>
        <p:txBody>
          <a:bodyPr wrap="square" anchor="ctr">
            <a:spAutoFit/>
          </a:bodyPr>
          <a:lstStyle/>
          <a:p>
            <a:pPr algn="l">
              <a:spcAft>
                <a:spcPts val="400"/>
              </a:spcAft>
            </a:pPr>
            <a:r>
              <a:rPr sz="1300" b="0">
                <a:solidFill>
                  <a:srgbClr val="161B26"/>
                </a:solidFill>
                <a:latin typeface="Arial"/>
              </a:rPr>
              <a:t>Classically you must learn BOTH f(0) and f(1) — two queries — to compare them.</a:t>
            </a:r>
          </a:p>
        </p:txBody>
      </p:sp>
      <p:sp>
        <p:nvSpPr>
          <p:cNvPr id="24" name="TextBox 23"/>
          <p:cNvSpPr txBox="1"/>
          <p:nvPr/>
        </p:nvSpPr>
        <p:spPr>
          <a:xfrm>
            <a:off x="365760" y="6446520"/>
            <a:ext cx="6858000" cy="320040"/>
          </a:xfrm>
          <a:prstGeom prst="rect">
            <a:avLst/>
          </a:prstGeom>
          <a:noFill/>
        </p:spPr>
        <p:txBody>
          <a:bodyPr wrap="square" anchor="t">
            <a:spAutoFit/>
          </a:bodyPr>
          <a:lstStyle/>
          <a:p>
            <a:pPr algn="l">
              <a:spcAft>
                <a:spcPts val="400"/>
              </a:spcAft>
            </a:pPr>
            <a:r>
              <a:rPr sz="900" b="0">
                <a:solidFill>
                  <a:srgbClr val="5B6372"/>
                </a:solidFill>
                <a:latin typeface="Arial"/>
              </a:rPr>
              <a:t>Securing the Future with Quantum Computing and Cryptography  ·  TGS-2024043419</a:t>
            </a:r>
          </a:p>
        </p:txBody>
      </p:sp>
      <p:sp>
        <p:nvSpPr>
          <p:cNvPr id="25" name="TextBox 24"/>
          <p:cNvSpPr txBox="1"/>
          <p:nvPr/>
        </p:nvSpPr>
        <p:spPr>
          <a:xfrm>
            <a:off x="4572000" y="6446520"/>
            <a:ext cx="3017520" cy="320040"/>
          </a:xfrm>
          <a:prstGeom prst="rect">
            <a:avLst/>
          </a:prstGeom>
          <a:noFill/>
        </p:spPr>
        <p:txBody>
          <a:bodyPr wrap="square" anchor="t">
            <a:spAutoFit/>
          </a:bodyPr>
          <a:lstStyle/>
          <a:p>
            <a:pPr algn="ctr">
              <a:spcAft>
                <a:spcPts val="400"/>
              </a:spcAft>
            </a:pPr>
            <a:r>
              <a:rPr sz="900" b="0">
                <a:solidFill>
                  <a:srgbClr val="5B6372"/>
                </a:solidFill>
                <a:latin typeface="Arial"/>
              </a:rPr>
              <a:t>© 2026 Tertiary Infotech Academy Pte Ltd</a:t>
            </a:r>
          </a:p>
        </p:txBody>
      </p:sp>
      <p:sp>
        <p:nvSpPr>
          <p:cNvPr id="26" name="TextBox 25"/>
          <p:cNvSpPr txBox="1"/>
          <p:nvPr/>
        </p:nvSpPr>
        <p:spPr>
          <a:xfrm>
            <a:off x="11338560" y="6446520"/>
            <a:ext cx="548640" cy="320040"/>
          </a:xfrm>
          <a:prstGeom prst="rect">
            <a:avLst/>
          </a:prstGeom>
          <a:noFill/>
        </p:spPr>
        <p:txBody>
          <a:bodyPr wrap="square" anchor="t">
            <a:spAutoFit/>
          </a:bodyPr>
          <a:lstStyle/>
          <a:p>
            <a:pPr algn="r">
              <a:spcAft>
                <a:spcPts val="400"/>
              </a:spcAft>
            </a:pPr>
            <a:r>
              <a:rPr sz="900" b="0">
                <a:solidFill>
                  <a:srgbClr val="5B6372"/>
                </a:solidFill>
                <a:latin typeface="Arial"/>
              </a:rPr>
              <a:t>145</a:t>
            </a:r>
          </a:p>
        </p:txBody>
      </p:sp>
    </p:spTree>
  </p:cSld>
  <p:clrMapOvr>
    <a:masterClrMapping/>
  </p:clrMapOvr>
</p:sld>
</file>

<file path=ppt/slides/slide147.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256032" cy="1417320"/>
          </a:xfrm>
          <a:prstGeom prst="rect">
            <a:avLst/>
          </a:prstGeom>
          <a:solidFill>
            <a:srgbClr val="7C3AE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777240" y="457200"/>
            <a:ext cx="10607040" cy="365760"/>
          </a:xfrm>
          <a:prstGeom prst="rect">
            <a:avLst/>
          </a:prstGeom>
          <a:noFill/>
        </p:spPr>
        <p:txBody>
          <a:bodyPr wrap="square" anchor="t">
            <a:spAutoFit/>
          </a:bodyPr>
          <a:lstStyle/>
          <a:p>
            <a:pPr algn="l">
              <a:spcAft>
                <a:spcPts val="400"/>
              </a:spcAft>
            </a:pPr>
            <a:r>
              <a:rPr sz="1400" b="1">
                <a:solidFill>
                  <a:srgbClr val="7C3AED"/>
                </a:solidFill>
                <a:latin typeface="Arial"/>
              </a:rPr>
              <a:t>THE DEUTSCH ALGORITHM  ·  STEP 1 OF 6</a:t>
            </a:r>
          </a:p>
        </p:txBody>
      </p:sp>
      <p:sp>
        <p:nvSpPr>
          <p:cNvPr id="5" name="TextBox 4"/>
          <p:cNvSpPr txBox="1"/>
          <p:nvPr/>
        </p:nvSpPr>
        <p:spPr>
          <a:xfrm>
            <a:off x="777240" y="822960"/>
            <a:ext cx="10881360" cy="822960"/>
          </a:xfrm>
          <a:prstGeom prst="rect">
            <a:avLst/>
          </a:prstGeom>
          <a:noFill/>
        </p:spPr>
        <p:txBody>
          <a:bodyPr wrap="square" anchor="t">
            <a:spAutoFit/>
          </a:bodyPr>
          <a:lstStyle/>
          <a:p>
            <a:pPr algn="l">
              <a:spcAft>
                <a:spcPts val="400"/>
              </a:spcAft>
            </a:pPr>
            <a:r>
              <a:rPr sz="2900" b="1">
                <a:solidFill>
                  <a:srgbClr val="161B26"/>
                </a:solidFill>
                <a:latin typeface="Arial"/>
              </a:rPr>
              <a:t>Step 1 — Prepare the registers</a:t>
            </a:r>
          </a:p>
        </p:txBody>
      </p:sp>
      <p:sp>
        <p:nvSpPr>
          <p:cNvPr id="6" name="Rectangle 5"/>
          <p:cNvSpPr/>
          <p:nvPr/>
        </p:nvSpPr>
        <p:spPr>
          <a:xfrm>
            <a:off x="777240" y="1554480"/>
            <a:ext cx="10634472" cy="18288"/>
          </a:xfrm>
          <a:prstGeom prst="rect">
            <a:avLst/>
          </a:prstGeom>
          <a:solidFill>
            <a:srgbClr val="E2E8F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Rectangle 6"/>
          <p:cNvSpPr/>
          <p:nvPr/>
        </p:nvSpPr>
        <p:spPr>
          <a:xfrm>
            <a:off x="777240" y="1810512"/>
            <a:ext cx="10634472" cy="2322576"/>
          </a:xfrm>
          <a:prstGeom prst="rect">
            <a:avLst/>
          </a:prstGeom>
          <a:solidFill>
            <a:srgbClr val="0B122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TextBox 7"/>
          <p:cNvSpPr txBox="1"/>
          <p:nvPr/>
        </p:nvSpPr>
        <p:spPr>
          <a:xfrm>
            <a:off x="1097280" y="1956816"/>
            <a:ext cx="9994392" cy="2029968"/>
          </a:xfrm>
          <a:prstGeom prst="rect">
            <a:avLst/>
          </a:prstGeom>
          <a:noFill/>
        </p:spPr>
        <p:txBody>
          <a:bodyPr wrap="square" anchor="t">
            <a:spAutoFit/>
          </a:bodyPr>
          <a:lstStyle/>
          <a:p>
            <a:pPr algn="l">
              <a:spcAft>
                <a:spcPts val="300"/>
              </a:spcAft>
            </a:pPr>
            <a:r>
              <a:rPr sz="1550" b="0">
                <a:solidFill>
                  <a:srgbClr val="9CDCFE"/>
                </a:solidFill>
                <a:latin typeface="Arial"/>
              </a:rPr>
              <a:t>Start:                    |0&gt; |1&gt;</a:t>
            </a:r>
          </a:p>
          <a:p>
            <a:pPr algn="l">
              <a:spcAft>
                <a:spcPts val="300"/>
              </a:spcAft>
            </a:pPr>
            <a:r>
              <a:rPr sz="1550" b="0">
                <a:solidFill>
                  <a:srgbClr val="9CDCFE"/>
                </a:solidFill>
                <a:latin typeface="Arial"/>
              </a:rPr>
              <a:t>Apply H to both qubits:</a:t>
            </a:r>
          </a:p>
          <a:p>
            <a:pPr algn="l">
              <a:spcAft>
                <a:spcPts val="300"/>
              </a:spcAft>
            </a:pPr>
            <a:r>
              <a:rPr sz="1550" b="0">
                <a:solidFill>
                  <a:srgbClr val="9CDCFE"/>
                </a:solidFill>
                <a:latin typeface="Arial"/>
              </a:rPr>
              <a:t>  H|0&gt; = |+&gt; = (|0&gt; + |1&gt;)/√2</a:t>
            </a:r>
          </a:p>
          <a:p>
            <a:pPr algn="l">
              <a:spcAft>
                <a:spcPts val="300"/>
              </a:spcAft>
            </a:pPr>
            <a:r>
              <a:rPr sz="1550" b="0">
                <a:solidFill>
                  <a:srgbClr val="9CDCFE"/>
                </a:solidFill>
                <a:latin typeface="Arial"/>
              </a:rPr>
              <a:t>  H|1&gt; = |-&gt; = (|0&gt; - |1&gt;)/√2</a:t>
            </a:r>
          </a:p>
          <a:p>
            <a:pPr algn="l">
              <a:spcAft>
                <a:spcPts val="300"/>
              </a:spcAft>
            </a:pPr>
            <a:r>
              <a:rPr sz="1550" b="0">
                <a:solidFill>
                  <a:srgbClr val="9CDCFE"/>
                </a:solidFill>
                <a:latin typeface="Arial"/>
              </a:rPr>
              <a:t>State  |ψ₁&gt; =  |+&gt; |-&gt;</a:t>
            </a:r>
          </a:p>
          <a:p>
            <a:pPr algn="l">
              <a:spcAft>
                <a:spcPts val="300"/>
              </a:spcAft>
            </a:pPr>
            <a:r>
              <a:rPr sz="1550" b="0">
                <a:solidFill>
                  <a:srgbClr val="9CDCFE"/>
                </a:solidFill>
                <a:latin typeface="Arial"/>
              </a:rPr>
              <a:t>             =  (1/√2)( |0&gt; + |1&gt; ) (x) |-&gt;</a:t>
            </a:r>
          </a:p>
        </p:txBody>
      </p:sp>
      <p:sp>
        <p:nvSpPr>
          <p:cNvPr id="9" name="Rectangle 8"/>
          <p:cNvSpPr/>
          <p:nvPr/>
        </p:nvSpPr>
        <p:spPr>
          <a:xfrm>
            <a:off x="777240" y="4334256"/>
            <a:ext cx="10634472" cy="1719072"/>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Rectangle 9"/>
          <p:cNvSpPr/>
          <p:nvPr/>
        </p:nvSpPr>
        <p:spPr>
          <a:xfrm>
            <a:off x="777240" y="4334256"/>
            <a:ext cx="82296" cy="1719072"/>
          </a:xfrm>
          <a:prstGeom prst="rect">
            <a:avLst/>
          </a:prstGeom>
          <a:solidFill>
            <a:srgbClr val="F59E0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 name="TextBox 10"/>
          <p:cNvSpPr txBox="1"/>
          <p:nvPr/>
        </p:nvSpPr>
        <p:spPr>
          <a:xfrm>
            <a:off x="1097280" y="4334256"/>
            <a:ext cx="10149840" cy="1719072"/>
          </a:xfrm>
          <a:prstGeom prst="rect">
            <a:avLst/>
          </a:prstGeom>
          <a:noFill/>
        </p:spPr>
        <p:txBody>
          <a:bodyPr wrap="square" anchor="ctr">
            <a:spAutoFit/>
          </a:bodyPr>
          <a:lstStyle/>
          <a:p>
            <a:pPr algn="l">
              <a:spcAft>
                <a:spcPts val="400"/>
              </a:spcAft>
            </a:pPr>
            <a:r>
              <a:rPr sz="1150" b="1">
                <a:solidFill>
                  <a:srgbClr val="F59E0B"/>
                </a:solidFill>
                <a:latin typeface="Arial"/>
              </a:rPr>
              <a:t>WHY THIS STEP:  </a:t>
            </a:r>
            <a:r>
              <a:rPr sz="1300" b="0">
                <a:solidFill>
                  <a:srgbClr val="161B26"/>
                </a:solidFill>
                <a:latin typeface="Arial"/>
              </a:rPr>
              <a:t>The target is deliberately put in |-&gt; so phase kickback will fire.</a:t>
            </a:r>
          </a:p>
        </p:txBody>
      </p:sp>
      <p:sp>
        <p:nvSpPr>
          <p:cNvPr id="12" name="TextBox 11"/>
          <p:cNvSpPr txBox="1"/>
          <p:nvPr/>
        </p:nvSpPr>
        <p:spPr>
          <a:xfrm>
            <a:off x="365760" y="6446520"/>
            <a:ext cx="6858000" cy="320040"/>
          </a:xfrm>
          <a:prstGeom prst="rect">
            <a:avLst/>
          </a:prstGeom>
          <a:noFill/>
        </p:spPr>
        <p:txBody>
          <a:bodyPr wrap="square" anchor="t">
            <a:spAutoFit/>
          </a:bodyPr>
          <a:lstStyle/>
          <a:p>
            <a:pPr algn="l">
              <a:spcAft>
                <a:spcPts val="400"/>
              </a:spcAft>
            </a:pPr>
            <a:r>
              <a:rPr sz="900" b="0">
                <a:solidFill>
                  <a:srgbClr val="5B6372"/>
                </a:solidFill>
                <a:latin typeface="Arial"/>
              </a:rPr>
              <a:t>Securing the Future with Quantum Computing and Cryptography  ·  TGS-2024043419</a:t>
            </a:r>
          </a:p>
        </p:txBody>
      </p:sp>
      <p:sp>
        <p:nvSpPr>
          <p:cNvPr id="13" name="TextBox 12"/>
          <p:cNvSpPr txBox="1"/>
          <p:nvPr/>
        </p:nvSpPr>
        <p:spPr>
          <a:xfrm>
            <a:off x="4572000" y="6446520"/>
            <a:ext cx="3017520" cy="320040"/>
          </a:xfrm>
          <a:prstGeom prst="rect">
            <a:avLst/>
          </a:prstGeom>
          <a:noFill/>
        </p:spPr>
        <p:txBody>
          <a:bodyPr wrap="square" anchor="t">
            <a:spAutoFit/>
          </a:bodyPr>
          <a:lstStyle/>
          <a:p>
            <a:pPr algn="ctr">
              <a:spcAft>
                <a:spcPts val="400"/>
              </a:spcAft>
            </a:pPr>
            <a:r>
              <a:rPr sz="900" b="0">
                <a:solidFill>
                  <a:srgbClr val="5B6372"/>
                </a:solidFill>
                <a:latin typeface="Arial"/>
              </a:rPr>
              <a:t>© 2026 Tertiary Infotech Academy Pte Ltd</a:t>
            </a:r>
          </a:p>
        </p:txBody>
      </p:sp>
      <p:sp>
        <p:nvSpPr>
          <p:cNvPr id="14" name="TextBox 13"/>
          <p:cNvSpPr txBox="1"/>
          <p:nvPr/>
        </p:nvSpPr>
        <p:spPr>
          <a:xfrm>
            <a:off x="11338560" y="6446520"/>
            <a:ext cx="548640" cy="320040"/>
          </a:xfrm>
          <a:prstGeom prst="rect">
            <a:avLst/>
          </a:prstGeom>
          <a:noFill/>
        </p:spPr>
        <p:txBody>
          <a:bodyPr wrap="square" anchor="t">
            <a:spAutoFit/>
          </a:bodyPr>
          <a:lstStyle/>
          <a:p>
            <a:pPr algn="r">
              <a:spcAft>
                <a:spcPts val="400"/>
              </a:spcAft>
            </a:pPr>
            <a:r>
              <a:rPr sz="900" b="0">
                <a:solidFill>
                  <a:srgbClr val="5B6372"/>
                </a:solidFill>
                <a:latin typeface="Arial"/>
              </a:rPr>
              <a:t>146</a:t>
            </a:r>
          </a:p>
        </p:txBody>
      </p:sp>
    </p:spTree>
  </p:cSld>
  <p:clrMapOvr>
    <a:masterClrMapping/>
  </p:clrMapOvr>
</p:sld>
</file>

<file path=ppt/slides/slide148.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256032" cy="1417320"/>
          </a:xfrm>
          <a:prstGeom prst="rect">
            <a:avLst/>
          </a:prstGeom>
          <a:solidFill>
            <a:srgbClr val="7C3AE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777240" y="457200"/>
            <a:ext cx="10607040" cy="365760"/>
          </a:xfrm>
          <a:prstGeom prst="rect">
            <a:avLst/>
          </a:prstGeom>
          <a:noFill/>
        </p:spPr>
        <p:txBody>
          <a:bodyPr wrap="square" anchor="t">
            <a:spAutoFit/>
          </a:bodyPr>
          <a:lstStyle/>
          <a:p>
            <a:pPr algn="l">
              <a:spcAft>
                <a:spcPts val="400"/>
              </a:spcAft>
            </a:pPr>
            <a:r>
              <a:rPr sz="1400" b="1">
                <a:solidFill>
                  <a:srgbClr val="7C3AED"/>
                </a:solidFill>
                <a:latin typeface="Arial"/>
              </a:rPr>
              <a:t>THE DEUTSCH ALGORITHM  ·  STEP 2 OF 6</a:t>
            </a:r>
          </a:p>
        </p:txBody>
      </p:sp>
      <p:sp>
        <p:nvSpPr>
          <p:cNvPr id="5" name="TextBox 4"/>
          <p:cNvSpPr txBox="1"/>
          <p:nvPr/>
        </p:nvSpPr>
        <p:spPr>
          <a:xfrm>
            <a:off x="777240" y="822960"/>
            <a:ext cx="10881360" cy="822960"/>
          </a:xfrm>
          <a:prstGeom prst="rect">
            <a:avLst/>
          </a:prstGeom>
          <a:noFill/>
        </p:spPr>
        <p:txBody>
          <a:bodyPr wrap="square" anchor="t">
            <a:spAutoFit/>
          </a:bodyPr>
          <a:lstStyle/>
          <a:p>
            <a:pPr algn="l">
              <a:spcAft>
                <a:spcPts val="400"/>
              </a:spcAft>
            </a:pPr>
            <a:r>
              <a:rPr sz="2900" b="1">
                <a:solidFill>
                  <a:srgbClr val="161B26"/>
                </a:solidFill>
                <a:latin typeface="Arial"/>
              </a:rPr>
              <a:t>Step 2 — Apply the oracle (phase kickback)</a:t>
            </a:r>
          </a:p>
        </p:txBody>
      </p:sp>
      <p:sp>
        <p:nvSpPr>
          <p:cNvPr id="6" name="Rectangle 5"/>
          <p:cNvSpPr/>
          <p:nvPr/>
        </p:nvSpPr>
        <p:spPr>
          <a:xfrm>
            <a:off x="777240" y="1554480"/>
            <a:ext cx="10634472" cy="18288"/>
          </a:xfrm>
          <a:prstGeom prst="rect">
            <a:avLst/>
          </a:prstGeom>
          <a:solidFill>
            <a:srgbClr val="E2E8F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Rectangle 6"/>
          <p:cNvSpPr/>
          <p:nvPr/>
        </p:nvSpPr>
        <p:spPr>
          <a:xfrm>
            <a:off x="777240" y="1810512"/>
            <a:ext cx="10634472" cy="1700784"/>
          </a:xfrm>
          <a:prstGeom prst="rect">
            <a:avLst/>
          </a:prstGeom>
          <a:solidFill>
            <a:srgbClr val="0B122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TextBox 7"/>
          <p:cNvSpPr txBox="1"/>
          <p:nvPr/>
        </p:nvSpPr>
        <p:spPr>
          <a:xfrm>
            <a:off x="1097280" y="1956816"/>
            <a:ext cx="9994392" cy="1408176"/>
          </a:xfrm>
          <a:prstGeom prst="rect">
            <a:avLst/>
          </a:prstGeom>
          <a:noFill/>
        </p:spPr>
        <p:txBody>
          <a:bodyPr wrap="square" anchor="t">
            <a:spAutoFit/>
          </a:bodyPr>
          <a:lstStyle/>
          <a:p>
            <a:pPr algn="l">
              <a:spcAft>
                <a:spcPts val="300"/>
              </a:spcAft>
            </a:pPr>
            <a:r>
              <a:rPr sz="1550" b="0">
                <a:solidFill>
                  <a:srgbClr val="9CDCFE"/>
                </a:solidFill>
                <a:latin typeface="Arial"/>
              </a:rPr>
              <a:t>By the kickback identity:   U_f |x&gt;|-&gt;  =  (-1)^f(x) |x&gt;|-&gt;</a:t>
            </a:r>
          </a:p>
          <a:p>
            <a:pPr algn="l">
              <a:spcAft>
                <a:spcPts val="300"/>
              </a:spcAft>
            </a:pPr>
            <a:r>
              <a:rPr sz="1550" b="0">
                <a:solidFill>
                  <a:srgbClr val="9CDCFE"/>
                </a:solidFill>
                <a:latin typeface="Arial"/>
              </a:rPr>
              <a:t>Apply it to each term of the superposition:</a:t>
            </a:r>
          </a:p>
          <a:p>
            <a:pPr algn="l">
              <a:spcAft>
                <a:spcPts val="300"/>
              </a:spcAft>
            </a:pPr>
            <a:r>
              <a:rPr sz="1550" b="0">
                <a:solidFill>
                  <a:srgbClr val="0B1220"/>
                </a:solidFill>
                <a:latin typeface="Arial"/>
              </a:rPr>
              <a:t> </a:t>
            </a:r>
          </a:p>
          <a:p>
            <a:pPr algn="l">
              <a:spcAft>
                <a:spcPts val="300"/>
              </a:spcAft>
            </a:pPr>
            <a:r>
              <a:rPr sz="1550" b="0">
                <a:solidFill>
                  <a:srgbClr val="9CDCFE"/>
                </a:solidFill>
                <a:latin typeface="Arial"/>
              </a:rPr>
              <a:t>|ψ₂&gt; = (1/√2)( (-1)^f(0)|0&gt; + (-1)^f(1)|1&gt; ) (x) |-&gt;</a:t>
            </a:r>
          </a:p>
        </p:txBody>
      </p:sp>
      <p:sp>
        <p:nvSpPr>
          <p:cNvPr id="9" name="Rectangle 8"/>
          <p:cNvSpPr/>
          <p:nvPr/>
        </p:nvSpPr>
        <p:spPr>
          <a:xfrm>
            <a:off x="777240" y="3712464"/>
            <a:ext cx="10634472" cy="2340864"/>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Rectangle 9"/>
          <p:cNvSpPr/>
          <p:nvPr/>
        </p:nvSpPr>
        <p:spPr>
          <a:xfrm>
            <a:off x="777240" y="3712464"/>
            <a:ext cx="82296" cy="2340864"/>
          </a:xfrm>
          <a:prstGeom prst="rect">
            <a:avLst/>
          </a:prstGeom>
          <a:solidFill>
            <a:srgbClr val="F59E0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 name="TextBox 10"/>
          <p:cNvSpPr txBox="1"/>
          <p:nvPr/>
        </p:nvSpPr>
        <p:spPr>
          <a:xfrm>
            <a:off x="1097280" y="3712464"/>
            <a:ext cx="10149840" cy="2340864"/>
          </a:xfrm>
          <a:prstGeom prst="rect">
            <a:avLst/>
          </a:prstGeom>
          <a:noFill/>
        </p:spPr>
        <p:txBody>
          <a:bodyPr wrap="square" anchor="ctr">
            <a:spAutoFit/>
          </a:bodyPr>
          <a:lstStyle/>
          <a:p>
            <a:pPr algn="l">
              <a:spcAft>
                <a:spcPts val="400"/>
              </a:spcAft>
            </a:pPr>
            <a:r>
              <a:rPr sz="1150" b="1">
                <a:solidFill>
                  <a:srgbClr val="F59E0B"/>
                </a:solidFill>
                <a:latin typeface="Arial"/>
              </a:rPr>
              <a:t>WHY THIS STEP:  </a:t>
            </a:r>
            <a:r>
              <a:rPr sz="1300" b="0">
                <a:solidFill>
                  <a:srgbClr val="161B26"/>
                </a:solidFill>
                <a:latin typeface="Arial"/>
              </a:rPr>
              <a:t>One query — but the oracle has acted on BOTH inputs at once. The target |-&gt; is unchanged and now factors out entirely.</a:t>
            </a:r>
          </a:p>
        </p:txBody>
      </p:sp>
      <p:sp>
        <p:nvSpPr>
          <p:cNvPr id="12" name="TextBox 11"/>
          <p:cNvSpPr txBox="1"/>
          <p:nvPr/>
        </p:nvSpPr>
        <p:spPr>
          <a:xfrm>
            <a:off x="365760" y="6446520"/>
            <a:ext cx="6858000" cy="320040"/>
          </a:xfrm>
          <a:prstGeom prst="rect">
            <a:avLst/>
          </a:prstGeom>
          <a:noFill/>
        </p:spPr>
        <p:txBody>
          <a:bodyPr wrap="square" anchor="t">
            <a:spAutoFit/>
          </a:bodyPr>
          <a:lstStyle/>
          <a:p>
            <a:pPr algn="l">
              <a:spcAft>
                <a:spcPts val="400"/>
              </a:spcAft>
            </a:pPr>
            <a:r>
              <a:rPr sz="900" b="0">
                <a:solidFill>
                  <a:srgbClr val="5B6372"/>
                </a:solidFill>
                <a:latin typeface="Arial"/>
              </a:rPr>
              <a:t>Securing the Future with Quantum Computing and Cryptography  ·  TGS-2024043419</a:t>
            </a:r>
          </a:p>
        </p:txBody>
      </p:sp>
      <p:sp>
        <p:nvSpPr>
          <p:cNvPr id="13" name="TextBox 12"/>
          <p:cNvSpPr txBox="1"/>
          <p:nvPr/>
        </p:nvSpPr>
        <p:spPr>
          <a:xfrm>
            <a:off x="4572000" y="6446520"/>
            <a:ext cx="3017520" cy="320040"/>
          </a:xfrm>
          <a:prstGeom prst="rect">
            <a:avLst/>
          </a:prstGeom>
          <a:noFill/>
        </p:spPr>
        <p:txBody>
          <a:bodyPr wrap="square" anchor="t">
            <a:spAutoFit/>
          </a:bodyPr>
          <a:lstStyle/>
          <a:p>
            <a:pPr algn="ctr">
              <a:spcAft>
                <a:spcPts val="400"/>
              </a:spcAft>
            </a:pPr>
            <a:r>
              <a:rPr sz="900" b="0">
                <a:solidFill>
                  <a:srgbClr val="5B6372"/>
                </a:solidFill>
                <a:latin typeface="Arial"/>
              </a:rPr>
              <a:t>© 2026 Tertiary Infotech Academy Pte Ltd</a:t>
            </a:r>
          </a:p>
        </p:txBody>
      </p:sp>
      <p:sp>
        <p:nvSpPr>
          <p:cNvPr id="14" name="TextBox 13"/>
          <p:cNvSpPr txBox="1"/>
          <p:nvPr/>
        </p:nvSpPr>
        <p:spPr>
          <a:xfrm>
            <a:off x="11338560" y="6446520"/>
            <a:ext cx="548640" cy="320040"/>
          </a:xfrm>
          <a:prstGeom prst="rect">
            <a:avLst/>
          </a:prstGeom>
          <a:noFill/>
        </p:spPr>
        <p:txBody>
          <a:bodyPr wrap="square" anchor="t">
            <a:spAutoFit/>
          </a:bodyPr>
          <a:lstStyle/>
          <a:p>
            <a:pPr algn="r">
              <a:spcAft>
                <a:spcPts val="400"/>
              </a:spcAft>
            </a:pPr>
            <a:r>
              <a:rPr sz="900" b="0">
                <a:solidFill>
                  <a:srgbClr val="5B6372"/>
                </a:solidFill>
                <a:latin typeface="Arial"/>
              </a:rPr>
              <a:t>147</a:t>
            </a:r>
          </a:p>
        </p:txBody>
      </p:sp>
    </p:spTree>
  </p:cSld>
  <p:clrMapOvr>
    <a:masterClrMapping/>
  </p:clrMapOvr>
</p:sld>
</file>

<file path=ppt/slides/slide149.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256032" cy="1417320"/>
          </a:xfrm>
          <a:prstGeom prst="rect">
            <a:avLst/>
          </a:prstGeom>
          <a:solidFill>
            <a:srgbClr val="7C3AE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777240" y="457200"/>
            <a:ext cx="10607040" cy="365760"/>
          </a:xfrm>
          <a:prstGeom prst="rect">
            <a:avLst/>
          </a:prstGeom>
          <a:noFill/>
        </p:spPr>
        <p:txBody>
          <a:bodyPr wrap="square" anchor="t">
            <a:spAutoFit/>
          </a:bodyPr>
          <a:lstStyle/>
          <a:p>
            <a:pPr algn="l">
              <a:spcAft>
                <a:spcPts val="400"/>
              </a:spcAft>
            </a:pPr>
            <a:r>
              <a:rPr sz="1400" b="1">
                <a:solidFill>
                  <a:srgbClr val="7C3AED"/>
                </a:solidFill>
                <a:latin typeface="Arial"/>
              </a:rPr>
              <a:t>THE DEUTSCH ALGORITHM  ·  STEP 3 OF 6</a:t>
            </a:r>
          </a:p>
        </p:txBody>
      </p:sp>
      <p:sp>
        <p:nvSpPr>
          <p:cNvPr id="5" name="TextBox 4"/>
          <p:cNvSpPr txBox="1"/>
          <p:nvPr/>
        </p:nvSpPr>
        <p:spPr>
          <a:xfrm>
            <a:off x="777240" y="822960"/>
            <a:ext cx="10881360" cy="822960"/>
          </a:xfrm>
          <a:prstGeom prst="rect">
            <a:avLst/>
          </a:prstGeom>
          <a:noFill/>
        </p:spPr>
        <p:txBody>
          <a:bodyPr wrap="square" anchor="t">
            <a:spAutoFit/>
          </a:bodyPr>
          <a:lstStyle/>
          <a:p>
            <a:pPr algn="l">
              <a:spcAft>
                <a:spcPts val="400"/>
              </a:spcAft>
            </a:pPr>
            <a:r>
              <a:rPr sz="2900" b="1">
                <a:solidFill>
                  <a:srgbClr val="161B26"/>
                </a:solidFill>
                <a:latin typeface="Arial"/>
              </a:rPr>
              <a:t>Step 3 — Factor out the global phase</a:t>
            </a:r>
          </a:p>
        </p:txBody>
      </p:sp>
      <p:sp>
        <p:nvSpPr>
          <p:cNvPr id="6" name="Rectangle 5"/>
          <p:cNvSpPr/>
          <p:nvPr/>
        </p:nvSpPr>
        <p:spPr>
          <a:xfrm>
            <a:off x="777240" y="1554480"/>
            <a:ext cx="10634472" cy="18288"/>
          </a:xfrm>
          <a:prstGeom prst="rect">
            <a:avLst/>
          </a:prstGeom>
          <a:solidFill>
            <a:srgbClr val="E2E8F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Rectangle 6"/>
          <p:cNvSpPr/>
          <p:nvPr/>
        </p:nvSpPr>
        <p:spPr>
          <a:xfrm>
            <a:off x="777240" y="1810512"/>
            <a:ext cx="10634472" cy="2011680"/>
          </a:xfrm>
          <a:prstGeom prst="rect">
            <a:avLst/>
          </a:prstGeom>
          <a:solidFill>
            <a:srgbClr val="0B122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TextBox 7"/>
          <p:cNvSpPr txBox="1"/>
          <p:nvPr/>
        </p:nvSpPr>
        <p:spPr>
          <a:xfrm>
            <a:off x="1097280" y="1956816"/>
            <a:ext cx="9994392" cy="1719072"/>
          </a:xfrm>
          <a:prstGeom prst="rect">
            <a:avLst/>
          </a:prstGeom>
          <a:noFill/>
        </p:spPr>
        <p:txBody>
          <a:bodyPr wrap="square" anchor="t">
            <a:spAutoFit/>
          </a:bodyPr>
          <a:lstStyle/>
          <a:p>
            <a:pPr algn="l">
              <a:spcAft>
                <a:spcPts val="300"/>
              </a:spcAft>
            </a:pPr>
            <a:r>
              <a:rPr sz="1550" b="0">
                <a:solidFill>
                  <a:srgbClr val="9CDCFE"/>
                </a:solidFill>
                <a:latin typeface="Arial"/>
              </a:rPr>
              <a:t>Pull (-1)^f(0) out of the bracket:</a:t>
            </a:r>
          </a:p>
          <a:p>
            <a:pPr algn="l">
              <a:spcAft>
                <a:spcPts val="300"/>
              </a:spcAft>
            </a:pPr>
            <a:r>
              <a:rPr sz="1550" b="0">
                <a:solidFill>
                  <a:srgbClr val="0B1220"/>
                </a:solidFill>
                <a:latin typeface="Arial"/>
              </a:rPr>
              <a:t> </a:t>
            </a:r>
          </a:p>
          <a:p>
            <a:pPr algn="l">
              <a:spcAft>
                <a:spcPts val="300"/>
              </a:spcAft>
            </a:pPr>
            <a:r>
              <a:rPr sz="1550" b="0">
                <a:solidFill>
                  <a:srgbClr val="9CDCFE"/>
                </a:solidFill>
                <a:latin typeface="Arial"/>
              </a:rPr>
              <a:t>|ψ₂&gt; = (-1)^f(0) · (1/√2)( |0&gt; + (-1)^(f(0) ⊕ f(1)) |1&gt; ) (x) |-&gt;</a:t>
            </a:r>
          </a:p>
          <a:p>
            <a:pPr algn="l">
              <a:spcAft>
                <a:spcPts val="300"/>
              </a:spcAft>
            </a:pPr>
            <a:r>
              <a:rPr sz="1550" b="0">
                <a:solidFill>
                  <a:srgbClr val="0B1220"/>
                </a:solidFill>
                <a:latin typeface="Arial"/>
              </a:rPr>
              <a:t> </a:t>
            </a:r>
          </a:p>
          <a:p>
            <a:pPr algn="l">
              <a:spcAft>
                <a:spcPts val="300"/>
              </a:spcAft>
            </a:pPr>
            <a:r>
              <a:rPr sz="1550" b="0">
                <a:solidFill>
                  <a:srgbClr val="9CDCFE"/>
                </a:solidFill>
                <a:latin typeface="Arial"/>
              </a:rPr>
              <a:t>(-1)^f(0) is a GLOBAL phase — unobservable, so we may drop it.</a:t>
            </a:r>
          </a:p>
        </p:txBody>
      </p:sp>
      <p:sp>
        <p:nvSpPr>
          <p:cNvPr id="9" name="Rectangle 8"/>
          <p:cNvSpPr/>
          <p:nvPr/>
        </p:nvSpPr>
        <p:spPr>
          <a:xfrm>
            <a:off x="777240" y="4023360"/>
            <a:ext cx="10634472" cy="2029968"/>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Rectangle 9"/>
          <p:cNvSpPr/>
          <p:nvPr/>
        </p:nvSpPr>
        <p:spPr>
          <a:xfrm>
            <a:off x="777240" y="4023360"/>
            <a:ext cx="82296" cy="2029968"/>
          </a:xfrm>
          <a:prstGeom prst="rect">
            <a:avLst/>
          </a:prstGeom>
          <a:solidFill>
            <a:srgbClr val="F59E0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 name="TextBox 10"/>
          <p:cNvSpPr txBox="1"/>
          <p:nvPr/>
        </p:nvSpPr>
        <p:spPr>
          <a:xfrm>
            <a:off x="1097280" y="4023360"/>
            <a:ext cx="10149840" cy="2029968"/>
          </a:xfrm>
          <a:prstGeom prst="rect">
            <a:avLst/>
          </a:prstGeom>
          <a:noFill/>
        </p:spPr>
        <p:txBody>
          <a:bodyPr wrap="square" anchor="ctr">
            <a:spAutoFit/>
          </a:bodyPr>
          <a:lstStyle/>
          <a:p>
            <a:pPr algn="l">
              <a:spcAft>
                <a:spcPts val="400"/>
              </a:spcAft>
            </a:pPr>
            <a:r>
              <a:rPr sz="1150" b="1">
                <a:solidFill>
                  <a:srgbClr val="F59E0B"/>
                </a:solidFill>
                <a:latin typeface="Arial"/>
              </a:rPr>
              <a:t>WHY THIS STEP:  </a:t>
            </a:r>
            <a:r>
              <a:rPr sz="1300" b="0">
                <a:solidFill>
                  <a:srgbClr val="161B26"/>
                </a:solidFill>
                <a:latin typeface="Arial"/>
              </a:rPr>
              <a:t>Everything now depends on the single bit f(0) ⊕ f(1) — exactly the question we are asking.</a:t>
            </a:r>
          </a:p>
        </p:txBody>
      </p:sp>
      <p:sp>
        <p:nvSpPr>
          <p:cNvPr id="12" name="TextBox 11"/>
          <p:cNvSpPr txBox="1"/>
          <p:nvPr/>
        </p:nvSpPr>
        <p:spPr>
          <a:xfrm>
            <a:off x="365760" y="6446520"/>
            <a:ext cx="6858000" cy="320040"/>
          </a:xfrm>
          <a:prstGeom prst="rect">
            <a:avLst/>
          </a:prstGeom>
          <a:noFill/>
        </p:spPr>
        <p:txBody>
          <a:bodyPr wrap="square" anchor="t">
            <a:spAutoFit/>
          </a:bodyPr>
          <a:lstStyle/>
          <a:p>
            <a:pPr algn="l">
              <a:spcAft>
                <a:spcPts val="400"/>
              </a:spcAft>
            </a:pPr>
            <a:r>
              <a:rPr sz="900" b="0">
                <a:solidFill>
                  <a:srgbClr val="5B6372"/>
                </a:solidFill>
                <a:latin typeface="Arial"/>
              </a:rPr>
              <a:t>Securing the Future with Quantum Computing and Cryptography  ·  TGS-2024043419</a:t>
            </a:r>
          </a:p>
        </p:txBody>
      </p:sp>
      <p:sp>
        <p:nvSpPr>
          <p:cNvPr id="13" name="TextBox 12"/>
          <p:cNvSpPr txBox="1"/>
          <p:nvPr/>
        </p:nvSpPr>
        <p:spPr>
          <a:xfrm>
            <a:off x="4572000" y="6446520"/>
            <a:ext cx="3017520" cy="320040"/>
          </a:xfrm>
          <a:prstGeom prst="rect">
            <a:avLst/>
          </a:prstGeom>
          <a:noFill/>
        </p:spPr>
        <p:txBody>
          <a:bodyPr wrap="square" anchor="t">
            <a:spAutoFit/>
          </a:bodyPr>
          <a:lstStyle/>
          <a:p>
            <a:pPr algn="ctr">
              <a:spcAft>
                <a:spcPts val="400"/>
              </a:spcAft>
            </a:pPr>
            <a:r>
              <a:rPr sz="900" b="0">
                <a:solidFill>
                  <a:srgbClr val="5B6372"/>
                </a:solidFill>
                <a:latin typeface="Arial"/>
              </a:rPr>
              <a:t>© 2026 Tertiary Infotech Academy Pte Ltd</a:t>
            </a:r>
          </a:p>
        </p:txBody>
      </p:sp>
      <p:sp>
        <p:nvSpPr>
          <p:cNvPr id="14" name="TextBox 13"/>
          <p:cNvSpPr txBox="1"/>
          <p:nvPr/>
        </p:nvSpPr>
        <p:spPr>
          <a:xfrm>
            <a:off x="11338560" y="6446520"/>
            <a:ext cx="548640" cy="320040"/>
          </a:xfrm>
          <a:prstGeom prst="rect">
            <a:avLst/>
          </a:prstGeom>
          <a:noFill/>
        </p:spPr>
        <p:txBody>
          <a:bodyPr wrap="square" anchor="t">
            <a:spAutoFit/>
          </a:bodyPr>
          <a:lstStyle/>
          <a:p>
            <a:pPr algn="r">
              <a:spcAft>
                <a:spcPts val="400"/>
              </a:spcAft>
            </a:pPr>
            <a:r>
              <a:rPr sz="900" b="0">
                <a:solidFill>
                  <a:srgbClr val="5B6372"/>
                </a:solidFill>
                <a:latin typeface="Arial"/>
              </a:rPr>
              <a:t>148</a:t>
            </a:r>
          </a:p>
        </p:txBody>
      </p:sp>
    </p:spTree>
  </p:cSld>
  <p:clrMapOvr>
    <a:masterClrMapping/>
  </p:clrMapOvr>
</p:sld>
</file>

<file path=ppt/slides/slide150.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256032" cy="1417320"/>
          </a:xfrm>
          <a:prstGeom prst="rect">
            <a:avLst/>
          </a:prstGeom>
          <a:solidFill>
            <a:srgbClr val="7C3AE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777240" y="457200"/>
            <a:ext cx="10607040" cy="365760"/>
          </a:xfrm>
          <a:prstGeom prst="rect">
            <a:avLst/>
          </a:prstGeom>
          <a:noFill/>
        </p:spPr>
        <p:txBody>
          <a:bodyPr wrap="square" anchor="t">
            <a:spAutoFit/>
          </a:bodyPr>
          <a:lstStyle/>
          <a:p>
            <a:pPr algn="l">
              <a:spcAft>
                <a:spcPts val="400"/>
              </a:spcAft>
            </a:pPr>
            <a:r>
              <a:rPr sz="1400" b="1">
                <a:solidFill>
                  <a:srgbClr val="7C3AED"/>
                </a:solidFill>
                <a:latin typeface="Arial"/>
              </a:rPr>
              <a:t>THE DEUTSCH ALGORITHM  ·  STEP 4 OF 6</a:t>
            </a:r>
          </a:p>
        </p:txBody>
      </p:sp>
      <p:sp>
        <p:nvSpPr>
          <p:cNvPr id="5" name="TextBox 4"/>
          <p:cNvSpPr txBox="1"/>
          <p:nvPr/>
        </p:nvSpPr>
        <p:spPr>
          <a:xfrm>
            <a:off x="777240" y="822960"/>
            <a:ext cx="10881360" cy="822960"/>
          </a:xfrm>
          <a:prstGeom prst="rect">
            <a:avLst/>
          </a:prstGeom>
          <a:noFill/>
        </p:spPr>
        <p:txBody>
          <a:bodyPr wrap="square" anchor="t">
            <a:spAutoFit/>
          </a:bodyPr>
          <a:lstStyle/>
          <a:p>
            <a:pPr algn="l">
              <a:spcAft>
                <a:spcPts val="400"/>
              </a:spcAft>
            </a:pPr>
            <a:r>
              <a:rPr sz="2900" b="1">
                <a:solidFill>
                  <a:srgbClr val="161B26"/>
                </a:solidFill>
                <a:latin typeface="Arial"/>
              </a:rPr>
              <a:t>Step 4 — Split into the two cases</a:t>
            </a:r>
          </a:p>
        </p:txBody>
      </p:sp>
      <p:sp>
        <p:nvSpPr>
          <p:cNvPr id="6" name="Rectangle 5"/>
          <p:cNvSpPr/>
          <p:nvPr/>
        </p:nvSpPr>
        <p:spPr>
          <a:xfrm>
            <a:off x="777240" y="1554480"/>
            <a:ext cx="10634472" cy="18288"/>
          </a:xfrm>
          <a:prstGeom prst="rect">
            <a:avLst/>
          </a:prstGeom>
          <a:solidFill>
            <a:srgbClr val="E2E8F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Rectangle 6"/>
          <p:cNvSpPr/>
          <p:nvPr/>
        </p:nvSpPr>
        <p:spPr>
          <a:xfrm>
            <a:off x="777240" y="1810512"/>
            <a:ext cx="10634472" cy="2011680"/>
          </a:xfrm>
          <a:prstGeom prst="rect">
            <a:avLst/>
          </a:prstGeom>
          <a:solidFill>
            <a:srgbClr val="0B122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TextBox 7"/>
          <p:cNvSpPr txBox="1"/>
          <p:nvPr/>
        </p:nvSpPr>
        <p:spPr>
          <a:xfrm>
            <a:off x="1097280" y="1956816"/>
            <a:ext cx="9994392" cy="1719072"/>
          </a:xfrm>
          <a:prstGeom prst="rect">
            <a:avLst/>
          </a:prstGeom>
          <a:noFill/>
        </p:spPr>
        <p:txBody>
          <a:bodyPr wrap="square" anchor="t">
            <a:spAutoFit/>
          </a:bodyPr>
          <a:lstStyle/>
          <a:p>
            <a:pPr algn="l">
              <a:spcAft>
                <a:spcPts val="300"/>
              </a:spcAft>
            </a:pPr>
            <a:r>
              <a:rPr sz="1550" b="0">
                <a:solidFill>
                  <a:srgbClr val="9CDCFE"/>
                </a:solidFill>
                <a:latin typeface="Arial"/>
              </a:rPr>
              <a:t>CASE A — f is CONSTANT:  f(0) = f(1)  =&gt;  f(0) ⊕ f(1) = 0</a:t>
            </a:r>
          </a:p>
          <a:p>
            <a:pPr algn="l">
              <a:spcAft>
                <a:spcPts val="300"/>
              </a:spcAft>
            </a:pPr>
            <a:r>
              <a:rPr sz="1550" b="0">
                <a:solidFill>
                  <a:srgbClr val="9CDCFE"/>
                </a:solidFill>
                <a:latin typeface="Arial"/>
              </a:rPr>
              <a:t>   control = (|0&gt; + |1&gt;)/√2  =  |+&gt;</a:t>
            </a:r>
          </a:p>
          <a:p>
            <a:pPr algn="l">
              <a:spcAft>
                <a:spcPts val="300"/>
              </a:spcAft>
            </a:pPr>
            <a:r>
              <a:rPr sz="1550" b="0">
                <a:solidFill>
                  <a:srgbClr val="0B1220"/>
                </a:solidFill>
                <a:latin typeface="Arial"/>
              </a:rPr>
              <a:t> </a:t>
            </a:r>
          </a:p>
          <a:p>
            <a:pPr algn="l">
              <a:spcAft>
                <a:spcPts val="300"/>
              </a:spcAft>
            </a:pPr>
            <a:r>
              <a:rPr sz="1550" b="0">
                <a:solidFill>
                  <a:srgbClr val="9CDCFE"/>
                </a:solidFill>
                <a:latin typeface="Arial"/>
              </a:rPr>
              <a:t>CASE B — f is BALANCED:  f(0) ≠ f(1)  =&gt;  f(0) ⊕ f(1) = 1</a:t>
            </a:r>
          </a:p>
          <a:p>
            <a:pPr algn="l">
              <a:spcAft>
                <a:spcPts val="300"/>
              </a:spcAft>
            </a:pPr>
            <a:r>
              <a:rPr sz="1550" b="0">
                <a:solidFill>
                  <a:srgbClr val="9CDCFE"/>
                </a:solidFill>
                <a:latin typeface="Arial"/>
              </a:rPr>
              <a:t>   control = (|0&gt; - |1&gt;)/√2  =  |-&gt;</a:t>
            </a:r>
          </a:p>
        </p:txBody>
      </p:sp>
      <p:sp>
        <p:nvSpPr>
          <p:cNvPr id="9" name="Rectangle 8"/>
          <p:cNvSpPr/>
          <p:nvPr/>
        </p:nvSpPr>
        <p:spPr>
          <a:xfrm>
            <a:off x="777240" y="4023360"/>
            <a:ext cx="10634472" cy="2029968"/>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Rectangle 9"/>
          <p:cNvSpPr/>
          <p:nvPr/>
        </p:nvSpPr>
        <p:spPr>
          <a:xfrm>
            <a:off x="777240" y="4023360"/>
            <a:ext cx="82296" cy="2029968"/>
          </a:xfrm>
          <a:prstGeom prst="rect">
            <a:avLst/>
          </a:prstGeom>
          <a:solidFill>
            <a:srgbClr val="F59E0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 name="TextBox 10"/>
          <p:cNvSpPr txBox="1"/>
          <p:nvPr/>
        </p:nvSpPr>
        <p:spPr>
          <a:xfrm>
            <a:off x="1097280" y="4023360"/>
            <a:ext cx="10149840" cy="2029968"/>
          </a:xfrm>
          <a:prstGeom prst="rect">
            <a:avLst/>
          </a:prstGeom>
          <a:noFill/>
        </p:spPr>
        <p:txBody>
          <a:bodyPr wrap="square" anchor="ctr">
            <a:spAutoFit/>
          </a:bodyPr>
          <a:lstStyle/>
          <a:p>
            <a:pPr algn="l">
              <a:spcAft>
                <a:spcPts val="400"/>
              </a:spcAft>
            </a:pPr>
            <a:r>
              <a:rPr sz="1150" b="1">
                <a:solidFill>
                  <a:srgbClr val="F59E0B"/>
                </a:solidFill>
                <a:latin typeface="Arial"/>
              </a:rPr>
              <a:t>WHY THIS STEP:  </a:t>
            </a:r>
            <a:r>
              <a:rPr sz="1300" b="0">
                <a:solidFill>
                  <a:srgbClr val="161B26"/>
                </a:solidFill>
                <a:latin typeface="Arial"/>
              </a:rPr>
              <a:t>The two cases are ORTHOGONAL states: &lt;+|-&gt; = 0. Orthogonal states can be distinguished perfectly by a single measurement.</a:t>
            </a:r>
          </a:p>
        </p:txBody>
      </p:sp>
      <p:sp>
        <p:nvSpPr>
          <p:cNvPr id="12" name="TextBox 11"/>
          <p:cNvSpPr txBox="1"/>
          <p:nvPr/>
        </p:nvSpPr>
        <p:spPr>
          <a:xfrm>
            <a:off x="365760" y="6446520"/>
            <a:ext cx="6858000" cy="320040"/>
          </a:xfrm>
          <a:prstGeom prst="rect">
            <a:avLst/>
          </a:prstGeom>
          <a:noFill/>
        </p:spPr>
        <p:txBody>
          <a:bodyPr wrap="square" anchor="t">
            <a:spAutoFit/>
          </a:bodyPr>
          <a:lstStyle/>
          <a:p>
            <a:pPr algn="l">
              <a:spcAft>
                <a:spcPts val="400"/>
              </a:spcAft>
            </a:pPr>
            <a:r>
              <a:rPr sz="900" b="0">
                <a:solidFill>
                  <a:srgbClr val="5B6372"/>
                </a:solidFill>
                <a:latin typeface="Arial"/>
              </a:rPr>
              <a:t>Securing the Future with Quantum Computing and Cryptography  ·  TGS-2024043419</a:t>
            </a:r>
          </a:p>
        </p:txBody>
      </p:sp>
      <p:sp>
        <p:nvSpPr>
          <p:cNvPr id="13" name="TextBox 12"/>
          <p:cNvSpPr txBox="1"/>
          <p:nvPr/>
        </p:nvSpPr>
        <p:spPr>
          <a:xfrm>
            <a:off x="4572000" y="6446520"/>
            <a:ext cx="3017520" cy="320040"/>
          </a:xfrm>
          <a:prstGeom prst="rect">
            <a:avLst/>
          </a:prstGeom>
          <a:noFill/>
        </p:spPr>
        <p:txBody>
          <a:bodyPr wrap="square" anchor="t">
            <a:spAutoFit/>
          </a:bodyPr>
          <a:lstStyle/>
          <a:p>
            <a:pPr algn="ctr">
              <a:spcAft>
                <a:spcPts val="400"/>
              </a:spcAft>
            </a:pPr>
            <a:r>
              <a:rPr sz="900" b="0">
                <a:solidFill>
                  <a:srgbClr val="5B6372"/>
                </a:solidFill>
                <a:latin typeface="Arial"/>
              </a:rPr>
              <a:t>© 2026 Tertiary Infotech Academy Pte Ltd</a:t>
            </a:r>
          </a:p>
        </p:txBody>
      </p:sp>
      <p:sp>
        <p:nvSpPr>
          <p:cNvPr id="14" name="TextBox 13"/>
          <p:cNvSpPr txBox="1"/>
          <p:nvPr/>
        </p:nvSpPr>
        <p:spPr>
          <a:xfrm>
            <a:off x="11338560" y="6446520"/>
            <a:ext cx="548640" cy="320040"/>
          </a:xfrm>
          <a:prstGeom prst="rect">
            <a:avLst/>
          </a:prstGeom>
          <a:noFill/>
        </p:spPr>
        <p:txBody>
          <a:bodyPr wrap="square" anchor="t">
            <a:spAutoFit/>
          </a:bodyPr>
          <a:lstStyle/>
          <a:p>
            <a:pPr algn="r">
              <a:spcAft>
                <a:spcPts val="400"/>
              </a:spcAft>
            </a:pPr>
            <a:r>
              <a:rPr sz="900" b="0">
                <a:solidFill>
                  <a:srgbClr val="5B6372"/>
                </a:solidFill>
                <a:latin typeface="Arial"/>
              </a:rPr>
              <a:t>149</a:t>
            </a:r>
          </a:p>
        </p:txBody>
      </p:sp>
    </p:spTree>
  </p:cSld>
  <p:clrMapOvr>
    <a:masterClrMapping/>
  </p:clrMapOvr>
</p:sld>
</file>

<file path=ppt/slides/slide151.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256032" cy="1417320"/>
          </a:xfrm>
          <a:prstGeom prst="rect">
            <a:avLst/>
          </a:prstGeom>
          <a:solidFill>
            <a:srgbClr val="7C3AE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777240" y="457200"/>
            <a:ext cx="10607040" cy="365760"/>
          </a:xfrm>
          <a:prstGeom prst="rect">
            <a:avLst/>
          </a:prstGeom>
          <a:noFill/>
        </p:spPr>
        <p:txBody>
          <a:bodyPr wrap="square" anchor="t">
            <a:spAutoFit/>
          </a:bodyPr>
          <a:lstStyle/>
          <a:p>
            <a:pPr algn="l">
              <a:spcAft>
                <a:spcPts val="400"/>
              </a:spcAft>
            </a:pPr>
            <a:r>
              <a:rPr sz="1400" b="1">
                <a:solidFill>
                  <a:srgbClr val="7C3AED"/>
                </a:solidFill>
                <a:latin typeface="Arial"/>
              </a:rPr>
              <a:t>THE DEUTSCH ALGORITHM  ·  STEP 5 OF 6</a:t>
            </a:r>
          </a:p>
        </p:txBody>
      </p:sp>
      <p:sp>
        <p:nvSpPr>
          <p:cNvPr id="5" name="TextBox 4"/>
          <p:cNvSpPr txBox="1"/>
          <p:nvPr/>
        </p:nvSpPr>
        <p:spPr>
          <a:xfrm>
            <a:off x="777240" y="822960"/>
            <a:ext cx="10881360" cy="822960"/>
          </a:xfrm>
          <a:prstGeom prst="rect">
            <a:avLst/>
          </a:prstGeom>
          <a:noFill/>
        </p:spPr>
        <p:txBody>
          <a:bodyPr wrap="square" anchor="t">
            <a:spAutoFit/>
          </a:bodyPr>
          <a:lstStyle/>
          <a:p>
            <a:pPr algn="l">
              <a:spcAft>
                <a:spcPts val="400"/>
              </a:spcAft>
            </a:pPr>
            <a:r>
              <a:rPr sz="2900" b="1">
                <a:solidFill>
                  <a:srgbClr val="161B26"/>
                </a:solidFill>
                <a:latin typeface="Arial"/>
              </a:rPr>
              <a:t>Step 5 — Interfere with a final Hadamard</a:t>
            </a:r>
          </a:p>
        </p:txBody>
      </p:sp>
      <p:sp>
        <p:nvSpPr>
          <p:cNvPr id="6" name="Rectangle 5"/>
          <p:cNvSpPr/>
          <p:nvPr/>
        </p:nvSpPr>
        <p:spPr>
          <a:xfrm>
            <a:off x="777240" y="1554480"/>
            <a:ext cx="10634472" cy="18288"/>
          </a:xfrm>
          <a:prstGeom prst="rect">
            <a:avLst/>
          </a:prstGeom>
          <a:solidFill>
            <a:srgbClr val="E2E8F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Rectangle 6"/>
          <p:cNvSpPr/>
          <p:nvPr/>
        </p:nvSpPr>
        <p:spPr>
          <a:xfrm>
            <a:off x="777240" y="1810512"/>
            <a:ext cx="10634472" cy="2322576"/>
          </a:xfrm>
          <a:prstGeom prst="rect">
            <a:avLst/>
          </a:prstGeom>
          <a:solidFill>
            <a:srgbClr val="0B122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TextBox 7"/>
          <p:cNvSpPr txBox="1"/>
          <p:nvPr/>
        </p:nvSpPr>
        <p:spPr>
          <a:xfrm>
            <a:off x="1097280" y="1956816"/>
            <a:ext cx="9994392" cy="2029968"/>
          </a:xfrm>
          <a:prstGeom prst="rect">
            <a:avLst/>
          </a:prstGeom>
          <a:noFill/>
        </p:spPr>
        <p:txBody>
          <a:bodyPr wrap="square" anchor="t">
            <a:spAutoFit/>
          </a:bodyPr>
          <a:lstStyle/>
          <a:p>
            <a:pPr algn="l">
              <a:spcAft>
                <a:spcPts val="300"/>
              </a:spcAft>
            </a:pPr>
            <a:r>
              <a:rPr sz="1550" b="0">
                <a:solidFill>
                  <a:srgbClr val="9CDCFE"/>
                </a:solidFill>
                <a:latin typeface="Arial"/>
              </a:rPr>
              <a:t>H is its own inverse and maps the |+&gt;/|-&gt; basis to the |0&gt;/|1&gt; basis:</a:t>
            </a:r>
          </a:p>
          <a:p>
            <a:pPr algn="l">
              <a:spcAft>
                <a:spcPts val="300"/>
              </a:spcAft>
            </a:pPr>
            <a:r>
              <a:rPr sz="1550" b="0">
                <a:solidFill>
                  <a:srgbClr val="9CDCFE"/>
                </a:solidFill>
                <a:latin typeface="Arial"/>
              </a:rPr>
              <a:t>   H|+&gt; = |0&gt;</a:t>
            </a:r>
          </a:p>
          <a:p>
            <a:pPr algn="l">
              <a:spcAft>
                <a:spcPts val="300"/>
              </a:spcAft>
            </a:pPr>
            <a:r>
              <a:rPr sz="1550" b="0">
                <a:solidFill>
                  <a:srgbClr val="9CDCFE"/>
                </a:solidFill>
                <a:latin typeface="Arial"/>
              </a:rPr>
              <a:t>   H|-&gt; = |1&gt;</a:t>
            </a:r>
          </a:p>
          <a:p>
            <a:pPr algn="l">
              <a:spcAft>
                <a:spcPts val="300"/>
              </a:spcAft>
            </a:pPr>
            <a:r>
              <a:rPr sz="1550" b="0">
                <a:solidFill>
                  <a:srgbClr val="0B1220"/>
                </a:solidFill>
                <a:latin typeface="Arial"/>
              </a:rPr>
              <a:t> </a:t>
            </a:r>
          </a:p>
          <a:p>
            <a:pPr algn="l">
              <a:spcAft>
                <a:spcPts val="300"/>
              </a:spcAft>
            </a:pPr>
            <a:r>
              <a:rPr sz="1550" b="0">
                <a:solidFill>
                  <a:srgbClr val="9CDCFE"/>
                </a:solidFill>
                <a:latin typeface="Arial"/>
              </a:rPr>
              <a:t>CASE A (constant):  H|+&gt; = |0&gt;   -&gt; measure 0 with probability 1</a:t>
            </a:r>
          </a:p>
          <a:p>
            <a:pPr algn="l">
              <a:spcAft>
                <a:spcPts val="300"/>
              </a:spcAft>
            </a:pPr>
            <a:r>
              <a:rPr sz="1550" b="0">
                <a:solidFill>
                  <a:srgbClr val="9CDCFE"/>
                </a:solidFill>
                <a:latin typeface="Arial"/>
              </a:rPr>
              <a:t>CASE B (balanced):  H|-&gt; = |1&gt;   -&gt; measure 1 with probability 1</a:t>
            </a:r>
          </a:p>
        </p:txBody>
      </p:sp>
      <p:sp>
        <p:nvSpPr>
          <p:cNvPr id="9" name="Rectangle 8"/>
          <p:cNvSpPr/>
          <p:nvPr/>
        </p:nvSpPr>
        <p:spPr>
          <a:xfrm>
            <a:off x="777240" y="4334256"/>
            <a:ext cx="10634472" cy="1719072"/>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Rectangle 9"/>
          <p:cNvSpPr/>
          <p:nvPr/>
        </p:nvSpPr>
        <p:spPr>
          <a:xfrm>
            <a:off x="777240" y="4334256"/>
            <a:ext cx="82296" cy="1719072"/>
          </a:xfrm>
          <a:prstGeom prst="rect">
            <a:avLst/>
          </a:prstGeom>
          <a:solidFill>
            <a:srgbClr val="F59E0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 name="TextBox 10"/>
          <p:cNvSpPr txBox="1"/>
          <p:nvPr/>
        </p:nvSpPr>
        <p:spPr>
          <a:xfrm>
            <a:off x="1097280" y="4334256"/>
            <a:ext cx="10149840" cy="1719072"/>
          </a:xfrm>
          <a:prstGeom prst="rect">
            <a:avLst/>
          </a:prstGeom>
          <a:noFill/>
        </p:spPr>
        <p:txBody>
          <a:bodyPr wrap="square" anchor="ctr">
            <a:spAutoFit/>
          </a:bodyPr>
          <a:lstStyle/>
          <a:p>
            <a:pPr algn="l">
              <a:spcAft>
                <a:spcPts val="400"/>
              </a:spcAft>
            </a:pPr>
            <a:r>
              <a:rPr sz="1150" b="1">
                <a:solidFill>
                  <a:srgbClr val="F59E0B"/>
                </a:solidFill>
                <a:latin typeface="Arial"/>
              </a:rPr>
              <a:t>WHY THIS STEP:  </a:t>
            </a:r>
            <a:r>
              <a:rPr sz="1300" b="0">
                <a:solidFill>
                  <a:srgbClr val="161B26"/>
                </a:solidFill>
                <a:latin typeface="Arial"/>
              </a:rPr>
              <a:t>This is the interference step: a phase difference becomes an amplitude difference.</a:t>
            </a:r>
          </a:p>
        </p:txBody>
      </p:sp>
      <p:sp>
        <p:nvSpPr>
          <p:cNvPr id="12" name="TextBox 11"/>
          <p:cNvSpPr txBox="1"/>
          <p:nvPr/>
        </p:nvSpPr>
        <p:spPr>
          <a:xfrm>
            <a:off x="365760" y="6446520"/>
            <a:ext cx="6858000" cy="320040"/>
          </a:xfrm>
          <a:prstGeom prst="rect">
            <a:avLst/>
          </a:prstGeom>
          <a:noFill/>
        </p:spPr>
        <p:txBody>
          <a:bodyPr wrap="square" anchor="t">
            <a:spAutoFit/>
          </a:bodyPr>
          <a:lstStyle/>
          <a:p>
            <a:pPr algn="l">
              <a:spcAft>
                <a:spcPts val="400"/>
              </a:spcAft>
            </a:pPr>
            <a:r>
              <a:rPr sz="900" b="0">
                <a:solidFill>
                  <a:srgbClr val="5B6372"/>
                </a:solidFill>
                <a:latin typeface="Arial"/>
              </a:rPr>
              <a:t>Securing the Future with Quantum Computing and Cryptography  ·  TGS-2024043419</a:t>
            </a:r>
          </a:p>
        </p:txBody>
      </p:sp>
      <p:sp>
        <p:nvSpPr>
          <p:cNvPr id="13" name="TextBox 12"/>
          <p:cNvSpPr txBox="1"/>
          <p:nvPr/>
        </p:nvSpPr>
        <p:spPr>
          <a:xfrm>
            <a:off x="4572000" y="6446520"/>
            <a:ext cx="3017520" cy="320040"/>
          </a:xfrm>
          <a:prstGeom prst="rect">
            <a:avLst/>
          </a:prstGeom>
          <a:noFill/>
        </p:spPr>
        <p:txBody>
          <a:bodyPr wrap="square" anchor="t">
            <a:spAutoFit/>
          </a:bodyPr>
          <a:lstStyle/>
          <a:p>
            <a:pPr algn="ctr">
              <a:spcAft>
                <a:spcPts val="400"/>
              </a:spcAft>
            </a:pPr>
            <a:r>
              <a:rPr sz="900" b="0">
                <a:solidFill>
                  <a:srgbClr val="5B6372"/>
                </a:solidFill>
                <a:latin typeface="Arial"/>
              </a:rPr>
              <a:t>© 2026 Tertiary Infotech Academy Pte Ltd</a:t>
            </a:r>
          </a:p>
        </p:txBody>
      </p:sp>
      <p:sp>
        <p:nvSpPr>
          <p:cNvPr id="14" name="TextBox 13"/>
          <p:cNvSpPr txBox="1"/>
          <p:nvPr/>
        </p:nvSpPr>
        <p:spPr>
          <a:xfrm>
            <a:off x="11338560" y="6446520"/>
            <a:ext cx="548640" cy="320040"/>
          </a:xfrm>
          <a:prstGeom prst="rect">
            <a:avLst/>
          </a:prstGeom>
          <a:noFill/>
        </p:spPr>
        <p:txBody>
          <a:bodyPr wrap="square" anchor="t">
            <a:spAutoFit/>
          </a:bodyPr>
          <a:lstStyle/>
          <a:p>
            <a:pPr algn="r">
              <a:spcAft>
                <a:spcPts val="400"/>
              </a:spcAft>
            </a:pPr>
            <a:r>
              <a:rPr sz="900" b="0">
                <a:solidFill>
                  <a:srgbClr val="5B6372"/>
                </a:solidFill>
                <a:latin typeface="Arial"/>
              </a:rPr>
              <a:t>150</a:t>
            </a:r>
          </a:p>
        </p:txBody>
      </p:sp>
    </p:spTree>
  </p:cSld>
  <p:clrMapOvr>
    <a:masterClrMapping/>
  </p:clrMapOvr>
</p:sld>
</file>

<file path=ppt/slides/slide152.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256032" cy="1417320"/>
          </a:xfrm>
          <a:prstGeom prst="rect">
            <a:avLst/>
          </a:prstGeom>
          <a:solidFill>
            <a:srgbClr val="7C3AE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777240" y="457200"/>
            <a:ext cx="10607040" cy="365760"/>
          </a:xfrm>
          <a:prstGeom prst="rect">
            <a:avLst/>
          </a:prstGeom>
          <a:noFill/>
        </p:spPr>
        <p:txBody>
          <a:bodyPr wrap="square" anchor="t">
            <a:spAutoFit/>
          </a:bodyPr>
          <a:lstStyle/>
          <a:p>
            <a:pPr algn="l">
              <a:spcAft>
                <a:spcPts val="400"/>
              </a:spcAft>
            </a:pPr>
            <a:r>
              <a:rPr sz="1400" b="1">
                <a:solidFill>
                  <a:srgbClr val="7C3AED"/>
                </a:solidFill>
                <a:latin typeface="Arial"/>
              </a:rPr>
              <a:t>THE DEUTSCH ALGORITHM  ·  STEP 6 OF 6</a:t>
            </a:r>
          </a:p>
        </p:txBody>
      </p:sp>
      <p:sp>
        <p:nvSpPr>
          <p:cNvPr id="5" name="TextBox 4"/>
          <p:cNvSpPr txBox="1"/>
          <p:nvPr/>
        </p:nvSpPr>
        <p:spPr>
          <a:xfrm>
            <a:off x="777240" y="822960"/>
            <a:ext cx="10881360" cy="822960"/>
          </a:xfrm>
          <a:prstGeom prst="rect">
            <a:avLst/>
          </a:prstGeom>
          <a:noFill/>
        </p:spPr>
        <p:txBody>
          <a:bodyPr wrap="square" anchor="t">
            <a:spAutoFit/>
          </a:bodyPr>
          <a:lstStyle/>
          <a:p>
            <a:pPr algn="l">
              <a:spcAft>
                <a:spcPts val="400"/>
              </a:spcAft>
            </a:pPr>
            <a:r>
              <a:rPr sz="2900" b="1">
                <a:solidFill>
                  <a:srgbClr val="161B26"/>
                </a:solidFill>
                <a:latin typeface="Arial"/>
              </a:rPr>
              <a:t>Step 6 — Conclusion</a:t>
            </a:r>
          </a:p>
        </p:txBody>
      </p:sp>
      <p:sp>
        <p:nvSpPr>
          <p:cNvPr id="6" name="Rectangle 5"/>
          <p:cNvSpPr/>
          <p:nvPr/>
        </p:nvSpPr>
        <p:spPr>
          <a:xfrm>
            <a:off x="777240" y="1554480"/>
            <a:ext cx="10634472" cy="18288"/>
          </a:xfrm>
          <a:prstGeom prst="rect">
            <a:avLst/>
          </a:prstGeom>
          <a:solidFill>
            <a:srgbClr val="E2E8F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Rectangle 6"/>
          <p:cNvSpPr/>
          <p:nvPr/>
        </p:nvSpPr>
        <p:spPr>
          <a:xfrm>
            <a:off x="777240" y="1810512"/>
            <a:ext cx="10634472" cy="2633472"/>
          </a:xfrm>
          <a:prstGeom prst="rect">
            <a:avLst/>
          </a:prstGeom>
          <a:solidFill>
            <a:srgbClr val="0B122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TextBox 7"/>
          <p:cNvSpPr txBox="1"/>
          <p:nvPr/>
        </p:nvSpPr>
        <p:spPr>
          <a:xfrm>
            <a:off x="1097280" y="1956816"/>
            <a:ext cx="9994392" cy="2340864"/>
          </a:xfrm>
          <a:prstGeom prst="rect">
            <a:avLst/>
          </a:prstGeom>
          <a:noFill/>
        </p:spPr>
        <p:txBody>
          <a:bodyPr wrap="square" anchor="t">
            <a:spAutoFit/>
          </a:bodyPr>
          <a:lstStyle/>
          <a:p>
            <a:pPr algn="l">
              <a:spcAft>
                <a:spcPts val="300"/>
              </a:spcAft>
            </a:pPr>
            <a:r>
              <a:rPr sz="1550" b="0">
                <a:solidFill>
                  <a:srgbClr val="9CDCFE"/>
                </a:solidFill>
                <a:latin typeface="Arial"/>
              </a:rPr>
              <a:t>Measure the control qubit:</a:t>
            </a:r>
          </a:p>
          <a:p>
            <a:pPr algn="l">
              <a:spcAft>
                <a:spcPts val="300"/>
              </a:spcAft>
            </a:pPr>
            <a:r>
              <a:rPr sz="1550" b="0">
                <a:solidFill>
                  <a:srgbClr val="0B1220"/>
                </a:solidFill>
                <a:latin typeface="Arial"/>
              </a:rPr>
              <a:t> </a:t>
            </a:r>
          </a:p>
          <a:p>
            <a:pPr algn="l">
              <a:spcAft>
                <a:spcPts val="300"/>
              </a:spcAft>
            </a:pPr>
            <a:r>
              <a:rPr sz="1550" b="0">
                <a:solidFill>
                  <a:srgbClr val="9CDCFE"/>
                </a:solidFill>
                <a:latin typeface="Arial"/>
              </a:rPr>
              <a:t>   result 0  =&gt;  f is CONSTANT</a:t>
            </a:r>
          </a:p>
          <a:p>
            <a:pPr algn="l">
              <a:spcAft>
                <a:spcPts val="300"/>
              </a:spcAft>
            </a:pPr>
            <a:r>
              <a:rPr sz="1550" b="0">
                <a:solidFill>
                  <a:srgbClr val="9CDCFE"/>
                </a:solidFill>
                <a:latin typeface="Arial"/>
              </a:rPr>
              <a:t>   result 1  =&gt;  f is BALANCED</a:t>
            </a:r>
          </a:p>
          <a:p>
            <a:pPr algn="l">
              <a:spcAft>
                <a:spcPts val="300"/>
              </a:spcAft>
            </a:pPr>
            <a:r>
              <a:rPr sz="1550" b="0">
                <a:solidFill>
                  <a:srgbClr val="0B1220"/>
                </a:solidFill>
                <a:latin typeface="Arial"/>
              </a:rPr>
              <a:t> </a:t>
            </a:r>
          </a:p>
          <a:p>
            <a:pPr algn="l">
              <a:spcAft>
                <a:spcPts val="300"/>
              </a:spcAft>
            </a:pPr>
            <a:r>
              <a:rPr sz="1550" b="0">
                <a:solidFill>
                  <a:srgbClr val="9CDCFE"/>
                </a:solidFill>
                <a:latin typeface="Arial"/>
              </a:rPr>
              <a:t>Total oracle queries used: ONE.</a:t>
            </a:r>
          </a:p>
          <a:p>
            <a:pPr algn="l">
              <a:spcAft>
                <a:spcPts val="300"/>
              </a:spcAft>
            </a:pPr>
            <a:r>
              <a:rPr sz="1550" b="0">
                <a:solidFill>
                  <a:srgbClr val="9CDCFE"/>
                </a:solidFill>
                <a:latin typeface="Arial"/>
              </a:rPr>
              <a:t>Classical worst case: TWO.</a:t>
            </a:r>
          </a:p>
        </p:txBody>
      </p:sp>
      <p:sp>
        <p:nvSpPr>
          <p:cNvPr id="9" name="Rectangle 8"/>
          <p:cNvSpPr/>
          <p:nvPr/>
        </p:nvSpPr>
        <p:spPr>
          <a:xfrm>
            <a:off x="777240" y="4645152"/>
            <a:ext cx="10634472" cy="1408176"/>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Rectangle 9"/>
          <p:cNvSpPr/>
          <p:nvPr/>
        </p:nvSpPr>
        <p:spPr>
          <a:xfrm>
            <a:off x="777240" y="4645152"/>
            <a:ext cx="82296" cy="1408176"/>
          </a:xfrm>
          <a:prstGeom prst="rect">
            <a:avLst/>
          </a:prstGeom>
          <a:solidFill>
            <a:srgbClr val="F59E0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 name="TextBox 10"/>
          <p:cNvSpPr txBox="1"/>
          <p:nvPr/>
        </p:nvSpPr>
        <p:spPr>
          <a:xfrm>
            <a:off x="1097280" y="4645152"/>
            <a:ext cx="10149840" cy="1408176"/>
          </a:xfrm>
          <a:prstGeom prst="rect">
            <a:avLst/>
          </a:prstGeom>
          <a:noFill/>
        </p:spPr>
        <p:txBody>
          <a:bodyPr wrap="square" anchor="ctr">
            <a:spAutoFit/>
          </a:bodyPr>
          <a:lstStyle/>
          <a:p>
            <a:pPr algn="l">
              <a:spcAft>
                <a:spcPts val="400"/>
              </a:spcAft>
            </a:pPr>
            <a:r>
              <a:rPr sz="1150" b="1">
                <a:solidFill>
                  <a:srgbClr val="F59E0B"/>
                </a:solidFill>
                <a:latin typeface="Arial"/>
              </a:rPr>
              <a:t>WHY THIS STEP:  </a:t>
            </a:r>
            <a:r>
              <a:rPr sz="1300" b="0">
                <a:solidFill>
                  <a:srgbClr val="161B26"/>
                </a:solidFill>
                <a:latin typeface="Arial"/>
              </a:rPr>
              <a:t>The answer is deterministic — not probabilistic. No repetition is needed.</a:t>
            </a:r>
          </a:p>
        </p:txBody>
      </p:sp>
      <p:sp>
        <p:nvSpPr>
          <p:cNvPr id="12" name="TextBox 11"/>
          <p:cNvSpPr txBox="1"/>
          <p:nvPr/>
        </p:nvSpPr>
        <p:spPr>
          <a:xfrm>
            <a:off x="365760" y="6446520"/>
            <a:ext cx="6858000" cy="320040"/>
          </a:xfrm>
          <a:prstGeom prst="rect">
            <a:avLst/>
          </a:prstGeom>
          <a:noFill/>
        </p:spPr>
        <p:txBody>
          <a:bodyPr wrap="square" anchor="t">
            <a:spAutoFit/>
          </a:bodyPr>
          <a:lstStyle/>
          <a:p>
            <a:pPr algn="l">
              <a:spcAft>
                <a:spcPts val="400"/>
              </a:spcAft>
            </a:pPr>
            <a:r>
              <a:rPr sz="900" b="0">
                <a:solidFill>
                  <a:srgbClr val="5B6372"/>
                </a:solidFill>
                <a:latin typeface="Arial"/>
              </a:rPr>
              <a:t>Securing the Future with Quantum Computing and Cryptography  ·  TGS-2024043419</a:t>
            </a:r>
          </a:p>
        </p:txBody>
      </p:sp>
      <p:sp>
        <p:nvSpPr>
          <p:cNvPr id="13" name="TextBox 12"/>
          <p:cNvSpPr txBox="1"/>
          <p:nvPr/>
        </p:nvSpPr>
        <p:spPr>
          <a:xfrm>
            <a:off x="4572000" y="6446520"/>
            <a:ext cx="3017520" cy="320040"/>
          </a:xfrm>
          <a:prstGeom prst="rect">
            <a:avLst/>
          </a:prstGeom>
          <a:noFill/>
        </p:spPr>
        <p:txBody>
          <a:bodyPr wrap="square" anchor="t">
            <a:spAutoFit/>
          </a:bodyPr>
          <a:lstStyle/>
          <a:p>
            <a:pPr algn="ctr">
              <a:spcAft>
                <a:spcPts val="400"/>
              </a:spcAft>
            </a:pPr>
            <a:r>
              <a:rPr sz="900" b="0">
                <a:solidFill>
                  <a:srgbClr val="5B6372"/>
                </a:solidFill>
                <a:latin typeface="Arial"/>
              </a:rPr>
              <a:t>© 2026 Tertiary Infotech Academy Pte Ltd</a:t>
            </a:r>
          </a:p>
        </p:txBody>
      </p:sp>
      <p:sp>
        <p:nvSpPr>
          <p:cNvPr id="14" name="TextBox 13"/>
          <p:cNvSpPr txBox="1"/>
          <p:nvPr/>
        </p:nvSpPr>
        <p:spPr>
          <a:xfrm>
            <a:off x="11338560" y="6446520"/>
            <a:ext cx="548640" cy="320040"/>
          </a:xfrm>
          <a:prstGeom prst="rect">
            <a:avLst/>
          </a:prstGeom>
          <a:noFill/>
        </p:spPr>
        <p:txBody>
          <a:bodyPr wrap="square" anchor="t">
            <a:spAutoFit/>
          </a:bodyPr>
          <a:lstStyle/>
          <a:p>
            <a:pPr algn="r">
              <a:spcAft>
                <a:spcPts val="400"/>
              </a:spcAft>
            </a:pPr>
            <a:r>
              <a:rPr sz="900" b="0">
                <a:solidFill>
                  <a:srgbClr val="5B6372"/>
                </a:solidFill>
                <a:latin typeface="Arial"/>
              </a:rPr>
              <a:t>151</a:t>
            </a:r>
          </a:p>
        </p:txBody>
      </p:sp>
    </p:spTree>
  </p:cSld>
  <p:clrMapOvr>
    <a:masterClrMapping/>
  </p:clrMapOvr>
</p:sld>
</file>

<file path=ppt/slides/slide153.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256032" cy="1417320"/>
          </a:xfrm>
          <a:prstGeom prst="rect">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777240" y="457200"/>
            <a:ext cx="10607040" cy="365760"/>
          </a:xfrm>
          <a:prstGeom prst="rect">
            <a:avLst/>
          </a:prstGeom>
          <a:noFill/>
        </p:spPr>
        <p:txBody>
          <a:bodyPr wrap="square" anchor="t">
            <a:spAutoFit/>
          </a:bodyPr>
          <a:lstStyle/>
          <a:p>
            <a:pPr algn="l">
              <a:spcAft>
                <a:spcPts val="400"/>
              </a:spcAft>
            </a:pPr>
            <a:r>
              <a:rPr sz="1400" b="1">
                <a:solidFill>
                  <a:srgbClr val="10B981"/>
                </a:solidFill>
                <a:latin typeface="Arial"/>
              </a:rPr>
              <a:t>QED</a:t>
            </a:r>
          </a:p>
        </p:txBody>
      </p:sp>
      <p:sp>
        <p:nvSpPr>
          <p:cNvPr id="5" name="TextBox 4"/>
          <p:cNvSpPr txBox="1"/>
          <p:nvPr/>
        </p:nvSpPr>
        <p:spPr>
          <a:xfrm>
            <a:off x="777240" y="822960"/>
            <a:ext cx="10881360" cy="822960"/>
          </a:xfrm>
          <a:prstGeom prst="rect">
            <a:avLst/>
          </a:prstGeom>
          <a:noFill/>
        </p:spPr>
        <p:txBody>
          <a:bodyPr wrap="square" anchor="t">
            <a:spAutoFit/>
          </a:bodyPr>
          <a:lstStyle/>
          <a:p>
            <a:pPr algn="l">
              <a:spcAft>
                <a:spcPts val="400"/>
              </a:spcAft>
            </a:pPr>
            <a:r>
              <a:rPr sz="2900" b="1">
                <a:solidFill>
                  <a:srgbClr val="161B26"/>
                </a:solidFill>
                <a:latin typeface="Arial"/>
              </a:rPr>
              <a:t>The Deutsch Algorithm — Result</a:t>
            </a:r>
          </a:p>
        </p:txBody>
      </p:sp>
      <p:sp>
        <p:nvSpPr>
          <p:cNvPr id="6" name="Rectangle 5"/>
          <p:cNvSpPr/>
          <p:nvPr/>
        </p:nvSpPr>
        <p:spPr>
          <a:xfrm>
            <a:off x="777240" y="1554480"/>
            <a:ext cx="10634472" cy="18288"/>
          </a:xfrm>
          <a:prstGeom prst="rect">
            <a:avLst/>
          </a:prstGeom>
          <a:solidFill>
            <a:srgbClr val="E2E8F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Rectangle 6"/>
          <p:cNvSpPr/>
          <p:nvPr/>
        </p:nvSpPr>
        <p:spPr>
          <a:xfrm>
            <a:off x="777240" y="1783080"/>
            <a:ext cx="10634472" cy="1828800"/>
          </a:xfrm>
          <a:prstGeom prst="rect">
            <a:avLst/>
          </a:prstGeom>
          <a:solidFill>
            <a:srgbClr val="E8F7E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Rectangle 7"/>
          <p:cNvSpPr/>
          <p:nvPr/>
        </p:nvSpPr>
        <p:spPr>
          <a:xfrm>
            <a:off x="777240" y="1783080"/>
            <a:ext cx="100584" cy="1828800"/>
          </a:xfrm>
          <a:prstGeom prst="rect">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TextBox 8"/>
          <p:cNvSpPr txBox="1"/>
          <p:nvPr/>
        </p:nvSpPr>
        <p:spPr>
          <a:xfrm>
            <a:off x="1143000" y="1965960"/>
            <a:ext cx="10058400" cy="365760"/>
          </a:xfrm>
          <a:prstGeom prst="rect">
            <a:avLst/>
          </a:prstGeom>
          <a:noFill/>
        </p:spPr>
        <p:txBody>
          <a:bodyPr wrap="square" anchor="t">
            <a:spAutoFit/>
          </a:bodyPr>
          <a:lstStyle/>
          <a:p>
            <a:pPr algn="l">
              <a:spcAft>
                <a:spcPts val="400"/>
              </a:spcAft>
            </a:pPr>
            <a:r>
              <a:rPr sz="1200" b="1">
                <a:solidFill>
                  <a:srgbClr val="127A3E"/>
                </a:solidFill>
                <a:latin typeface="Arial"/>
              </a:rPr>
              <a:t>RESULT</a:t>
            </a:r>
          </a:p>
        </p:txBody>
      </p:sp>
      <p:sp>
        <p:nvSpPr>
          <p:cNvPr id="10" name="TextBox 9"/>
          <p:cNvSpPr txBox="1"/>
          <p:nvPr/>
        </p:nvSpPr>
        <p:spPr>
          <a:xfrm>
            <a:off x="1143000" y="2377440"/>
            <a:ext cx="10058400" cy="1143000"/>
          </a:xfrm>
          <a:prstGeom prst="rect">
            <a:avLst/>
          </a:prstGeom>
          <a:noFill/>
        </p:spPr>
        <p:txBody>
          <a:bodyPr wrap="square" anchor="t">
            <a:spAutoFit/>
          </a:bodyPr>
          <a:lstStyle/>
          <a:p>
            <a:pPr algn="l">
              <a:spcAft>
                <a:spcPts val="400"/>
              </a:spcAft>
            </a:pPr>
            <a:r>
              <a:rPr sz="1550" b="1">
                <a:solidFill>
                  <a:srgbClr val="161B26"/>
                </a:solidFill>
                <a:latin typeface="Arial"/>
              </a:rPr>
              <a:t>Measuring 0 proves f is constant; measuring 1 proves f is balanced — with certainty, after a single oracle query.</a:t>
            </a:r>
          </a:p>
        </p:txBody>
      </p:sp>
      <p:sp>
        <p:nvSpPr>
          <p:cNvPr id="11" name="Rectangle 10"/>
          <p:cNvSpPr/>
          <p:nvPr/>
        </p:nvSpPr>
        <p:spPr>
          <a:xfrm>
            <a:off x="777240" y="3840480"/>
            <a:ext cx="10634472" cy="2148840"/>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 name="Rectangle 11"/>
          <p:cNvSpPr/>
          <p:nvPr/>
        </p:nvSpPr>
        <p:spPr>
          <a:xfrm>
            <a:off x="777240" y="3840480"/>
            <a:ext cx="100584" cy="2148840"/>
          </a:xfrm>
          <a:prstGeom prst="rect">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 name="TextBox 12"/>
          <p:cNvSpPr txBox="1"/>
          <p:nvPr/>
        </p:nvSpPr>
        <p:spPr>
          <a:xfrm>
            <a:off x="1143000" y="4023360"/>
            <a:ext cx="10058400" cy="365760"/>
          </a:xfrm>
          <a:prstGeom prst="rect">
            <a:avLst/>
          </a:prstGeom>
          <a:noFill/>
        </p:spPr>
        <p:txBody>
          <a:bodyPr wrap="square" anchor="t">
            <a:spAutoFit/>
          </a:bodyPr>
          <a:lstStyle/>
          <a:p>
            <a:pPr algn="l">
              <a:spcAft>
                <a:spcPts val="400"/>
              </a:spcAft>
            </a:pPr>
            <a:r>
              <a:rPr sz="1200" b="1">
                <a:solidFill>
                  <a:srgbClr val="1F6FEB"/>
                </a:solidFill>
                <a:latin typeface="Arial"/>
              </a:rPr>
              <a:t>WHY IT MATTERS</a:t>
            </a:r>
          </a:p>
        </p:txBody>
      </p:sp>
      <p:sp>
        <p:nvSpPr>
          <p:cNvPr id="14" name="TextBox 13"/>
          <p:cNvSpPr txBox="1"/>
          <p:nvPr/>
        </p:nvSpPr>
        <p:spPr>
          <a:xfrm>
            <a:off x="1143000" y="4434840"/>
            <a:ext cx="10058400" cy="1463040"/>
          </a:xfrm>
          <a:prstGeom prst="rect">
            <a:avLst/>
          </a:prstGeom>
          <a:noFill/>
        </p:spPr>
        <p:txBody>
          <a:bodyPr wrap="square" anchor="t">
            <a:spAutoFit/>
          </a:bodyPr>
          <a:lstStyle/>
          <a:p>
            <a:pPr algn="l">
              <a:spcAft>
                <a:spcPts val="400"/>
              </a:spcAft>
            </a:pPr>
            <a:r>
              <a:rPr sz="1450" b="0">
                <a:solidFill>
                  <a:srgbClr val="161B26"/>
                </a:solidFill>
                <a:latin typeface="Arial"/>
              </a:rPr>
              <a:t>Deutsch was the first proof that a quantum computer can beat every classical algorithm at a well-defined task. It answers a GLOBAL question (is f constant?) without learning the LOCAL values f(0) and f(1) — the template every later algorithm follows.</a:t>
            </a:r>
          </a:p>
        </p:txBody>
      </p:sp>
      <p:sp>
        <p:nvSpPr>
          <p:cNvPr id="15" name="TextBox 14"/>
          <p:cNvSpPr txBox="1"/>
          <p:nvPr/>
        </p:nvSpPr>
        <p:spPr>
          <a:xfrm>
            <a:off x="365760" y="6446520"/>
            <a:ext cx="6858000" cy="320040"/>
          </a:xfrm>
          <a:prstGeom prst="rect">
            <a:avLst/>
          </a:prstGeom>
          <a:noFill/>
        </p:spPr>
        <p:txBody>
          <a:bodyPr wrap="square" anchor="t">
            <a:spAutoFit/>
          </a:bodyPr>
          <a:lstStyle/>
          <a:p>
            <a:pPr algn="l">
              <a:spcAft>
                <a:spcPts val="400"/>
              </a:spcAft>
            </a:pPr>
            <a:r>
              <a:rPr sz="900" b="0">
                <a:solidFill>
                  <a:srgbClr val="5B6372"/>
                </a:solidFill>
                <a:latin typeface="Arial"/>
              </a:rPr>
              <a:t>Securing the Future with Quantum Computing and Cryptography  ·  TGS-2024043419</a:t>
            </a:r>
          </a:p>
        </p:txBody>
      </p:sp>
      <p:sp>
        <p:nvSpPr>
          <p:cNvPr id="16" name="TextBox 15"/>
          <p:cNvSpPr txBox="1"/>
          <p:nvPr/>
        </p:nvSpPr>
        <p:spPr>
          <a:xfrm>
            <a:off x="4572000" y="6446520"/>
            <a:ext cx="3017520" cy="320040"/>
          </a:xfrm>
          <a:prstGeom prst="rect">
            <a:avLst/>
          </a:prstGeom>
          <a:noFill/>
        </p:spPr>
        <p:txBody>
          <a:bodyPr wrap="square" anchor="t">
            <a:spAutoFit/>
          </a:bodyPr>
          <a:lstStyle/>
          <a:p>
            <a:pPr algn="ctr">
              <a:spcAft>
                <a:spcPts val="400"/>
              </a:spcAft>
            </a:pPr>
            <a:r>
              <a:rPr sz="900" b="0">
                <a:solidFill>
                  <a:srgbClr val="5B6372"/>
                </a:solidFill>
                <a:latin typeface="Arial"/>
              </a:rPr>
              <a:t>© 2026 Tertiary Infotech Academy Pte Ltd</a:t>
            </a:r>
          </a:p>
        </p:txBody>
      </p:sp>
      <p:sp>
        <p:nvSpPr>
          <p:cNvPr id="17" name="TextBox 16"/>
          <p:cNvSpPr txBox="1"/>
          <p:nvPr/>
        </p:nvSpPr>
        <p:spPr>
          <a:xfrm>
            <a:off x="11338560" y="6446520"/>
            <a:ext cx="548640" cy="320040"/>
          </a:xfrm>
          <a:prstGeom prst="rect">
            <a:avLst/>
          </a:prstGeom>
          <a:noFill/>
        </p:spPr>
        <p:txBody>
          <a:bodyPr wrap="square" anchor="t">
            <a:spAutoFit/>
          </a:bodyPr>
          <a:lstStyle/>
          <a:p>
            <a:pPr algn="r">
              <a:spcAft>
                <a:spcPts val="400"/>
              </a:spcAft>
            </a:pPr>
            <a:r>
              <a:rPr sz="900" b="0">
                <a:solidFill>
                  <a:srgbClr val="5B6372"/>
                </a:solidFill>
                <a:latin typeface="Arial"/>
              </a:rPr>
              <a:t>152</a:t>
            </a:r>
          </a:p>
        </p:txBody>
      </p:sp>
    </p:spTree>
  </p:cSld>
  <p:clrMapOvr>
    <a:masterClrMapping/>
  </p:clrMapOvr>
</p:sld>
</file>

<file path=ppt/slides/slide154.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256032" cy="1417320"/>
          </a:xfrm>
          <a:prstGeom prst="rect">
            <a:avLst/>
          </a:prstGeom>
          <a:solidFill>
            <a:srgbClr val="7C3AE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777240" y="457200"/>
            <a:ext cx="10607040" cy="365760"/>
          </a:xfrm>
          <a:prstGeom prst="rect">
            <a:avLst/>
          </a:prstGeom>
          <a:noFill/>
        </p:spPr>
        <p:txBody>
          <a:bodyPr wrap="square" anchor="t">
            <a:spAutoFit/>
          </a:bodyPr>
          <a:lstStyle/>
          <a:p>
            <a:pPr algn="l">
              <a:spcAft>
                <a:spcPts val="400"/>
              </a:spcAft>
            </a:pPr>
            <a:r>
              <a:rPr sz="1400" b="1">
                <a:solidFill>
                  <a:srgbClr val="7C3AED"/>
                </a:solidFill>
                <a:latin typeface="Arial"/>
              </a:rPr>
              <a:t>DERIVATION</a:t>
            </a:r>
          </a:p>
        </p:txBody>
      </p:sp>
      <p:sp>
        <p:nvSpPr>
          <p:cNvPr id="5" name="TextBox 4"/>
          <p:cNvSpPr txBox="1"/>
          <p:nvPr/>
        </p:nvSpPr>
        <p:spPr>
          <a:xfrm>
            <a:off x="777240" y="822960"/>
            <a:ext cx="10881360" cy="822960"/>
          </a:xfrm>
          <a:prstGeom prst="rect">
            <a:avLst/>
          </a:prstGeom>
          <a:noFill/>
        </p:spPr>
        <p:txBody>
          <a:bodyPr wrap="square" anchor="t">
            <a:spAutoFit/>
          </a:bodyPr>
          <a:lstStyle/>
          <a:p>
            <a:pPr algn="l">
              <a:spcAft>
                <a:spcPts val="400"/>
              </a:spcAft>
            </a:pPr>
            <a:r>
              <a:rPr sz="2900" b="1">
                <a:solidFill>
                  <a:srgbClr val="161B26"/>
                </a:solidFill>
                <a:latin typeface="Arial"/>
              </a:rPr>
              <a:t>Proof — Deutsch-Jozsa (n qubits)</a:t>
            </a:r>
          </a:p>
        </p:txBody>
      </p:sp>
      <p:sp>
        <p:nvSpPr>
          <p:cNvPr id="6" name="Rectangle 5"/>
          <p:cNvSpPr/>
          <p:nvPr/>
        </p:nvSpPr>
        <p:spPr>
          <a:xfrm>
            <a:off x="777240" y="1554480"/>
            <a:ext cx="10634472" cy="18288"/>
          </a:xfrm>
          <a:prstGeom prst="rect">
            <a:avLst/>
          </a:prstGeom>
          <a:solidFill>
            <a:srgbClr val="E2E8F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Rectangle 6"/>
          <p:cNvSpPr/>
          <p:nvPr/>
        </p:nvSpPr>
        <p:spPr>
          <a:xfrm>
            <a:off x="777240" y="1783080"/>
            <a:ext cx="10634472" cy="1371600"/>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Rectangle 7"/>
          <p:cNvSpPr/>
          <p:nvPr/>
        </p:nvSpPr>
        <p:spPr>
          <a:xfrm>
            <a:off x="777240" y="1783080"/>
            <a:ext cx="100584" cy="1371600"/>
          </a:xfrm>
          <a:prstGeom prst="rect">
            <a:avLst/>
          </a:prstGeom>
          <a:solidFill>
            <a:srgbClr val="7C3AE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TextBox 8"/>
          <p:cNvSpPr txBox="1"/>
          <p:nvPr/>
        </p:nvSpPr>
        <p:spPr>
          <a:xfrm>
            <a:off x="1143000" y="1938528"/>
            <a:ext cx="10058400" cy="365760"/>
          </a:xfrm>
          <a:prstGeom prst="rect">
            <a:avLst/>
          </a:prstGeom>
          <a:noFill/>
        </p:spPr>
        <p:txBody>
          <a:bodyPr wrap="square" anchor="t">
            <a:spAutoFit/>
          </a:bodyPr>
          <a:lstStyle/>
          <a:p>
            <a:pPr algn="l">
              <a:spcAft>
                <a:spcPts val="400"/>
              </a:spcAft>
            </a:pPr>
            <a:r>
              <a:rPr sz="1200" b="1">
                <a:solidFill>
                  <a:srgbClr val="7C3AED"/>
                </a:solidFill>
                <a:latin typeface="Arial"/>
              </a:rPr>
              <a:t>CLAIM</a:t>
            </a:r>
          </a:p>
        </p:txBody>
      </p:sp>
      <p:sp>
        <p:nvSpPr>
          <p:cNvPr id="10" name="TextBox 9"/>
          <p:cNvSpPr txBox="1"/>
          <p:nvPr/>
        </p:nvSpPr>
        <p:spPr>
          <a:xfrm>
            <a:off x="1143000" y="2304288"/>
            <a:ext cx="10058400" cy="777240"/>
          </a:xfrm>
          <a:prstGeom prst="rect">
            <a:avLst/>
          </a:prstGeom>
          <a:noFill/>
        </p:spPr>
        <p:txBody>
          <a:bodyPr wrap="square" anchor="t">
            <a:spAutoFit/>
          </a:bodyPr>
          <a:lstStyle/>
          <a:p>
            <a:pPr algn="l">
              <a:spcAft>
                <a:spcPts val="400"/>
              </a:spcAft>
            </a:pPr>
            <a:r>
              <a:rPr sz="1550" b="1">
                <a:solidFill>
                  <a:srgbClr val="161B26"/>
                </a:solidFill>
                <a:latin typeface="Arial"/>
              </a:rPr>
              <a:t>For f:{0,1}ⁿ -&gt; {0,1} PROMISED to be constant or balanced, one query decides which. Classically the worst case is 2^(n-1) + 1 queries.</a:t>
            </a:r>
          </a:p>
        </p:txBody>
      </p:sp>
      <p:sp>
        <p:nvSpPr>
          <p:cNvPr id="11" name="TextBox 10"/>
          <p:cNvSpPr txBox="1"/>
          <p:nvPr/>
        </p:nvSpPr>
        <p:spPr>
          <a:xfrm>
            <a:off x="777240" y="3364992"/>
            <a:ext cx="10607040" cy="365760"/>
          </a:xfrm>
          <a:prstGeom prst="rect">
            <a:avLst/>
          </a:prstGeom>
          <a:noFill/>
        </p:spPr>
        <p:txBody>
          <a:bodyPr wrap="square" anchor="t">
            <a:spAutoFit/>
          </a:bodyPr>
          <a:lstStyle/>
          <a:p>
            <a:pPr algn="l">
              <a:spcAft>
                <a:spcPts val="400"/>
              </a:spcAft>
            </a:pPr>
            <a:r>
              <a:rPr sz="1200" b="1">
                <a:solidFill>
                  <a:srgbClr val="1F6FEB"/>
                </a:solidFill>
                <a:latin typeface="Arial"/>
              </a:rPr>
              <a:t>GIVEN</a:t>
            </a:r>
          </a:p>
        </p:txBody>
      </p:sp>
      <p:sp>
        <p:nvSpPr>
          <p:cNvPr id="12" name="Rectangle 11"/>
          <p:cNvSpPr/>
          <p:nvPr/>
        </p:nvSpPr>
        <p:spPr>
          <a:xfrm>
            <a:off x="777240" y="3730752"/>
            <a:ext cx="10634472" cy="1239012"/>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 name="Rectangle 12"/>
          <p:cNvSpPr/>
          <p:nvPr/>
        </p:nvSpPr>
        <p:spPr>
          <a:xfrm>
            <a:off x="777240" y="3730752"/>
            <a:ext cx="82296" cy="1239012"/>
          </a:xfrm>
          <a:prstGeom prst="rect">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 name="TextBox 13"/>
          <p:cNvSpPr txBox="1"/>
          <p:nvPr/>
        </p:nvSpPr>
        <p:spPr>
          <a:xfrm>
            <a:off x="1097280" y="3730752"/>
            <a:ext cx="10149840" cy="1239012"/>
          </a:xfrm>
          <a:prstGeom prst="rect">
            <a:avLst/>
          </a:prstGeom>
          <a:noFill/>
        </p:spPr>
        <p:txBody>
          <a:bodyPr wrap="square" anchor="ctr">
            <a:spAutoFit/>
          </a:bodyPr>
          <a:lstStyle/>
          <a:p>
            <a:pPr algn="l">
              <a:spcAft>
                <a:spcPts val="400"/>
              </a:spcAft>
            </a:pPr>
            <a:r>
              <a:rPr sz="1300" b="0">
                <a:solidFill>
                  <a:srgbClr val="161B26"/>
                </a:solidFill>
                <a:latin typeface="Arial"/>
              </a:rPr>
              <a:t>Promise: f is either constant (same output for all 2ⁿ inputs) or balanced (exactly half the inputs give 0).</a:t>
            </a:r>
          </a:p>
        </p:txBody>
      </p:sp>
      <p:sp>
        <p:nvSpPr>
          <p:cNvPr id="15" name="Rectangle 14"/>
          <p:cNvSpPr/>
          <p:nvPr/>
        </p:nvSpPr>
        <p:spPr>
          <a:xfrm>
            <a:off x="777240" y="5097780"/>
            <a:ext cx="10634472" cy="1239012"/>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6" name="Rectangle 15"/>
          <p:cNvSpPr/>
          <p:nvPr/>
        </p:nvSpPr>
        <p:spPr>
          <a:xfrm>
            <a:off x="777240" y="5097780"/>
            <a:ext cx="82296" cy="1239012"/>
          </a:xfrm>
          <a:prstGeom prst="rect">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7" name="TextBox 16"/>
          <p:cNvSpPr txBox="1"/>
          <p:nvPr/>
        </p:nvSpPr>
        <p:spPr>
          <a:xfrm>
            <a:off x="1097280" y="5097780"/>
            <a:ext cx="10149840" cy="1239012"/>
          </a:xfrm>
          <a:prstGeom prst="rect">
            <a:avLst/>
          </a:prstGeom>
          <a:noFill/>
        </p:spPr>
        <p:txBody>
          <a:bodyPr wrap="square" anchor="ctr">
            <a:spAutoFit/>
          </a:bodyPr>
          <a:lstStyle/>
          <a:p>
            <a:pPr algn="l">
              <a:spcAft>
                <a:spcPts val="400"/>
              </a:spcAft>
            </a:pPr>
            <a:r>
              <a:rPr sz="1300" b="0">
                <a:solidFill>
                  <a:srgbClr val="161B26"/>
                </a:solidFill>
                <a:latin typeface="Arial"/>
              </a:rPr>
              <a:t>Register: n input qubits in |0&gt;ⁿ, plus one target qubit in |1&gt;.</a:t>
            </a:r>
          </a:p>
        </p:txBody>
      </p:sp>
      <p:sp>
        <p:nvSpPr>
          <p:cNvPr id="18" name="TextBox 17"/>
          <p:cNvSpPr txBox="1"/>
          <p:nvPr/>
        </p:nvSpPr>
        <p:spPr>
          <a:xfrm>
            <a:off x="365760" y="6446520"/>
            <a:ext cx="6858000" cy="320040"/>
          </a:xfrm>
          <a:prstGeom prst="rect">
            <a:avLst/>
          </a:prstGeom>
          <a:noFill/>
        </p:spPr>
        <p:txBody>
          <a:bodyPr wrap="square" anchor="t">
            <a:spAutoFit/>
          </a:bodyPr>
          <a:lstStyle/>
          <a:p>
            <a:pPr algn="l">
              <a:spcAft>
                <a:spcPts val="400"/>
              </a:spcAft>
            </a:pPr>
            <a:r>
              <a:rPr sz="900" b="0">
                <a:solidFill>
                  <a:srgbClr val="5B6372"/>
                </a:solidFill>
                <a:latin typeface="Arial"/>
              </a:rPr>
              <a:t>Securing the Future with Quantum Computing and Cryptography  ·  TGS-2024043419</a:t>
            </a:r>
          </a:p>
        </p:txBody>
      </p:sp>
      <p:sp>
        <p:nvSpPr>
          <p:cNvPr id="19" name="TextBox 18"/>
          <p:cNvSpPr txBox="1"/>
          <p:nvPr/>
        </p:nvSpPr>
        <p:spPr>
          <a:xfrm>
            <a:off x="4572000" y="6446520"/>
            <a:ext cx="3017520" cy="320040"/>
          </a:xfrm>
          <a:prstGeom prst="rect">
            <a:avLst/>
          </a:prstGeom>
          <a:noFill/>
        </p:spPr>
        <p:txBody>
          <a:bodyPr wrap="square" anchor="t">
            <a:spAutoFit/>
          </a:bodyPr>
          <a:lstStyle/>
          <a:p>
            <a:pPr algn="ctr">
              <a:spcAft>
                <a:spcPts val="400"/>
              </a:spcAft>
            </a:pPr>
            <a:r>
              <a:rPr sz="900" b="0">
                <a:solidFill>
                  <a:srgbClr val="5B6372"/>
                </a:solidFill>
                <a:latin typeface="Arial"/>
              </a:rPr>
              <a:t>© 2026 Tertiary Infotech Academy Pte Ltd</a:t>
            </a:r>
          </a:p>
        </p:txBody>
      </p:sp>
      <p:sp>
        <p:nvSpPr>
          <p:cNvPr id="20" name="TextBox 19"/>
          <p:cNvSpPr txBox="1"/>
          <p:nvPr/>
        </p:nvSpPr>
        <p:spPr>
          <a:xfrm>
            <a:off x="11338560" y="6446520"/>
            <a:ext cx="548640" cy="320040"/>
          </a:xfrm>
          <a:prstGeom prst="rect">
            <a:avLst/>
          </a:prstGeom>
          <a:noFill/>
        </p:spPr>
        <p:txBody>
          <a:bodyPr wrap="square" anchor="t">
            <a:spAutoFit/>
          </a:bodyPr>
          <a:lstStyle/>
          <a:p>
            <a:pPr algn="r">
              <a:spcAft>
                <a:spcPts val="400"/>
              </a:spcAft>
            </a:pPr>
            <a:r>
              <a:rPr sz="900" b="0">
                <a:solidFill>
                  <a:srgbClr val="5B6372"/>
                </a:solidFill>
                <a:latin typeface="Arial"/>
              </a:rPr>
              <a:t>153</a:t>
            </a:r>
          </a:p>
        </p:txBody>
      </p:sp>
    </p:spTree>
  </p:cSld>
  <p:clrMapOvr>
    <a:masterClrMapping/>
  </p:clrMapOvr>
</p:sld>
</file>

<file path=ppt/slides/slide155.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256032" cy="1417320"/>
          </a:xfrm>
          <a:prstGeom prst="rect">
            <a:avLst/>
          </a:prstGeom>
          <a:solidFill>
            <a:srgbClr val="7C3AE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777240" y="457200"/>
            <a:ext cx="10607040" cy="365760"/>
          </a:xfrm>
          <a:prstGeom prst="rect">
            <a:avLst/>
          </a:prstGeom>
          <a:noFill/>
        </p:spPr>
        <p:txBody>
          <a:bodyPr wrap="square" anchor="t">
            <a:spAutoFit/>
          </a:bodyPr>
          <a:lstStyle/>
          <a:p>
            <a:pPr algn="l">
              <a:spcAft>
                <a:spcPts val="400"/>
              </a:spcAft>
            </a:pPr>
            <a:r>
              <a:rPr sz="1400" b="1">
                <a:solidFill>
                  <a:srgbClr val="7C3AED"/>
                </a:solidFill>
                <a:latin typeface="Arial"/>
              </a:rPr>
              <a:t>DEUTSCH-JOZSA (N QUBITS)  ·  STEP 1 OF 5</a:t>
            </a:r>
          </a:p>
        </p:txBody>
      </p:sp>
      <p:sp>
        <p:nvSpPr>
          <p:cNvPr id="5" name="TextBox 4"/>
          <p:cNvSpPr txBox="1"/>
          <p:nvPr/>
        </p:nvSpPr>
        <p:spPr>
          <a:xfrm>
            <a:off x="777240" y="822960"/>
            <a:ext cx="10881360" cy="822960"/>
          </a:xfrm>
          <a:prstGeom prst="rect">
            <a:avLst/>
          </a:prstGeom>
          <a:noFill/>
        </p:spPr>
        <p:txBody>
          <a:bodyPr wrap="square" anchor="t">
            <a:spAutoFit/>
          </a:bodyPr>
          <a:lstStyle/>
          <a:p>
            <a:pPr algn="l">
              <a:spcAft>
                <a:spcPts val="400"/>
              </a:spcAft>
            </a:pPr>
            <a:r>
              <a:rPr sz="2900" b="1">
                <a:solidFill>
                  <a:srgbClr val="161B26"/>
                </a:solidFill>
                <a:latin typeface="Arial"/>
              </a:rPr>
              <a:t>Step 1 — Superposition over ALL 2ⁿ inputs</a:t>
            </a:r>
          </a:p>
        </p:txBody>
      </p:sp>
      <p:sp>
        <p:nvSpPr>
          <p:cNvPr id="6" name="Rectangle 5"/>
          <p:cNvSpPr/>
          <p:nvPr/>
        </p:nvSpPr>
        <p:spPr>
          <a:xfrm>
            <a:off x="777240" y="1554480"/>
            <a:ext cx="10634472" cy="18288"/>
          </a:xfrm>
          <a:prstGeom prst="rect">
            <a:avLst/>
          </a:prstGeom>
          <a:solidFill>
            <a:srgbClr val="E2E8F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Rectangle 6"/>
          <p:cNvSpPr/>
          <p:nvPr/>
        </p:nvSpPr>
        <p:spPr>
          <a:xfrm>
            <a:off x="777240" y="1810512"/>
            <a:ext cx="10634472" cy="2322576"/>
          </a:xfrm>
          <a:prstGeom prst="rect">
            <a:avLst/>
          </a:prstGeom>
          <a:solidFill>
            <a:srgbClr val="0B122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TextBox 7"/>
          <p:cNvSpPr txBox="1"/>
          <p:nvPr/>
        </p:nvSpPr>
        <p:spPr>
          <a:xfrm>
            <a:off x="1097280" y="1956816"/>
            <a:ext cx="9994392" cy="2029968"/>
          </a:xfrm>
          <a:prstGeom prst="rect">
            <a:avLst/>
          </a:prstGeom>
          <a:noFill/>
        </p:spPr>
        <p:txBody>
          <a:bodyPr wrap="square" anchor="t">
            <a:spAutoFit/>
          </a:bodyPr>
          <a:lstStyle/>
          <a:p>
            <a:pPr algn="l">
              <a:spcAft>
                <a:spcPts val="300"/>
              </a:spcAft>
            </a:pPr>
            <a:r>
              <a:rPr sz="1550" b="0">
                <a:solidFill>
                  <a:srgbClr val="9CDCFE"/>
                </a:solidFill>
                <a:latin typeface="Arial"/>
              </a:rPr>
              <a:t>Apply H to each of the n input qubits:</a:t>
            </a:r>
          </a:p>
          <a:p>
            <a:pPr algn="l">
              <a:spcAft>
                <a:spcPts val="300"/>
              </a:spcAft>
            </a:pPr>
            <a:r>
              <a:rPr sz="1550" b="0">
                <a:solidFill>
                  <a:srgbClr val="0B1220"/>
                </a:solidFill>
                <a:latin typeface="Arial"/>
              </a:rPr>
              <a:t> </a:t>
            </a:r>
          </a:p>
          <a:p>
            <a:pPr algn="l">
              <a:spcAft>
                <a:spcPts val="300"/>
              </a:spcAft>
            </a:pPr>
            <a:r>
              <a:rPr sz="1550" b="0">
                <a:solidFill>
                  <a:srgbClr val="9CDCFE"/>
                </a:solidFill>
                <a:latin typeface="Arial"/>
              </a:rPr>
              <a:t>   Hⁿ |0&gt;ⁿ  =  (1/√2ⁿ) Σ_x |x&gt;        (sum over all x in {0,1}ⁿ)</a:t>
            </a:r>
          </a:p>
          <a:p>
            <a:pPr algn="l">
              <a:spcAft>
                <a:spcPts val="300"/>
              </a:spcAft>
            </a:pPr>
            <a:r>
              <a:rPr sz="1550" b="0">
                <a:solidFill>
                  <a:srgbClr val="0B1220"/>
                </a:solidFill>
                <a:latin typeface="Arial"/>
              </a:rPr>
              <a:t> </a:t>
            </a:r>
          </a:p>
          <a:p>
            <a:pPr algn="l">
              <a:spcAft>
                <a:spcPts val="300"/>
              </a:spcAft>
            </a:pPr>
            <a:r>
              <a:rPr sz="1550" b="0">
                <a:solidFill>
                  <a:srgbClr val="9CDCFE"/>
                </a:solidFill>
                <a:latin typeface="Arial"/>
              </a:rPr>
              <a:t>Target: H|1&gt; = |-&gt;</a:t>
            </a:r>
          </a:p>
          <a:p>
            <a:pPr algn="l">
              <a:spcAft>
                <a:spcPts val="300"/>
              </a:spcAft>
            </a:pPr>
            <a:r>
              <a:rPr sz="1550" b="0">
                <a:solidFill>
                  <a:srgbClr val="9CDCFE"/>
                </a:solidFill>
                <a:latin typeface="Arial"/>
              </a:rPr>
              <a:t>State:  (1/√2ⁿ) Σ_x |x&gt; (x) |-&gt;</a:t>
            </a:r>
          </a:p>
        </p:txBody>
      </p:sp>
      <p:sp>
        <p:nvSpPr>
          <p:cNvPr id="9" name="Rectangle 8"/>
          <p:cNvSpPr/>
          <p:nvPr/>
        </p:nvSpPr>
        <p:spPr>
          <a:xfrm>
            <a:off x="777240" y="4334256"/>
            <a:ext cx="10634472" cy="1719072"/>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Rectangle 9"/>
          <p:cNvSpPr/>
          <p:nvPr/>
        </p:nvSpPr>
        <p:spPr>
          <a:xfrm>
            <a:off x="777240" y="4334256"/>
            <a:ext cx="82296" cy="1719072"/>
          </a:xfrm>
          <a:prstGeom prst="rect">
            <a:avLst/>
          </a:prstGeom>
          <a:solidFill>
            <a:srgbClr val="F59E0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 name="TextBox 10"/>
          <p:cNvSpPr txBox="1"/>
          <p:nvPr/>
        </p:nvSpPr>
        <p:spPr>
          <a:xfrm>
            <a:off x="1097280" y="4334256"/>
            <a:ext cx="10149840" cy="1719072"/>
          </a:xfrm>
          <a:prstGeom prst="rect">
            <a:avLst/>
          </a:prstGeom>
          <a:noFill/>
        </p:spPr>
        <p:txBody>
          <a:bodyPr wrap="square" anchor="ctr">
            <a:spAutoFit/>
          </a:bodyPr>
          <a:lstStyle/>
          <a:p>
            <a:pPr algn="l">
              <a:spcAft>
                <a:spcPts val="400"/>
              </a:spcAft>
            </a:pPr>
            <a:r>
              <a:rPr sz="1150" b="1">
                <a:solidFill>
                  <a:srgbClr val="F59E0B"/>
                </a:solidFill>
                <a:latin typeface="Arial"/>
              </a:rPr>
              <a:t>WHY THIS STEP:  </a:t>
            </a:r>
            <a:r>
              <a:rPr sz="1300" b="0">
                <a:solidFill>
                  <a:srgbClr val="161B26"/>
                </a:solidFill>
                <a:latin typeface="Arial"/>
              </a:rPr>
              <a:t>A single register now holds all 2ⁿ input strings simultaneously.</a:t>
            </a:r>
          </a:p>
        </p:txBody>
      </p:sp>
      <p:sp>
        <p:nvSpPr>
          <p:cNvPr id="12" name="TextBox 11"/>
          <p:cNvSpPr txBox="1"/>
          <p:nvPr/>
        </p:nvSpPr>
        <p:spPr>
          <a:xfrm>
            <a:off x="365760" y="6446520"/>
            <a:ext cx="6858000" cy="320040"/>
          </a:xfrm>
          <a:prstGeom prst="rect">
            <a:avLst/>
          </a:prstGeom>
          <a:noFill/>
        </p:spPr>
        <p:txBody>
          <a:bodyPr wrap="square" anchor="t">
            <a:spAutoFit/>
          </a:bodyPr>
          <a:lstStyle/>
          <a:p>
            <a:pPr algn="l">
              <a:spcAft>
                <a:spcPts val="400"/>
              </a:spcAft>
            </a:pPr>
            <a:r>
              <a:rPr sz="900" b="0">
                <a:solidFill>
                  <a:srgbClr val="5B6372"/>
                </a:solidFill>
                <a:latin typeface="Arial"/>
              </a:rPr>
              <a:t>Securing the Future with Quantum Computing and Cryptography  ·  TGS-2024043419</a:t>
            </a:r>
          </a:p>
        </p:txBody>
      </p:sp>
      <p:sp>
        <p:nvSpPr>
          <p:cNvPr id="13" name="TextBox 12"/>
          <p:cNvSpPr txBox="1"/>
          <p:nvPr/>
        </p:nvSpPr>
        <p:spPr>
          <a:xfrm>
            <a:off x="4572000" y="6446520"/>
            <a:ext cx="3017520" cy="320040"/>
          </a:xfrm>
          <a:prstGeom prst="rect">
            <a:avLst/>
          </a:prstGeom>
          <a:noFill/>
        </p:spPr>
        <p:txBody>
          <a:bodyPr wrap="square" anchor="t">
            <a:spAutoFit/>
          </a:bodyPr>
          <a:lstStyle/>
          <a:p>
            <a:pPr algn="ctr">
              <a:spcAft>
                <a:spcPts val="400"/>
              </a:spcAft>
            </a:pPr>
            <a:r>
              <a:rPr sz="900" b="0">
                <a:solidFill>
                  <a:srgbClr val="5B6372"/>
                </a:solidFill>
                <a:latin typeface="Arial"/>
              </a:rPr>
              <a:t>© 2026 Tertiary Infotech Academy Pte Ltd</a:t>
            </a:r>
          </a:p>
        </p:txBody>
      </p:sp>
      <p:sp>
        <p:nvSpPr>
          <p:cNvPr id="14" name="TextBox 13"/>
          <p:cNvSpPr txBox="1"/>
          <p:nvPr/>
        </p:nvSpPr>
        <p:spPr>
          <a:xfrm>
            <a:off x="11338560" y="6446520"/>
            <a:ext cx="548640" cy="320040"/>
          </a:xfrm>
          <a:prstGeom prst="rect">
            <a:avLst/>
          </a:prstGeom>
          <a:noFill/>
        </p:spPr>
        <p:txBody>
          <a:bodyPr wrap="square" anchor="t">
            <a:spAutoFit/>
          </a:bodyPr>
          <a:lstStyle/>
          <a:p>
            <a:pPr algn="r">
              <a:spcAft>
                <a:spcPts val="400"/>
              </a:spcAft>
            </a:pPr>
            <a:r>
              <a:rPr sz="900" b="0">
                <a:solidFill>
                  <a:srgbClr val="5B6372"/>
                </a:solidFill>
                <a:latin typeface="Arial"/>
              </a:rPr>
              <a:t>154</a:t>
            </a:r>
          </a:p>
        </p:txBody>
      </p:sp>
    </p:spTree>
  </p:cSld>
  <p:clrMapOvr>
    <a:masterClrMapping/>
  </p:clrMapOvr>
</p:sld>
</file>

<file path=ppt/slides/slide156.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256032" cy="1417320"/>
          </a:xfrm>
          <a:prstGeom prst="rect">
            <a:avLst/>
          </a:prstGeom>
          <a:solidFill>
            <a:srgbClr val="7C3AE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777240" y="457200"/>
            <a:ext cx="10607040" cy="365760"/>
          </a:xfrm>
          <a:prstGeom prst="rect">
            <a:avLst/>
          </a:prstGeom>
          <a:noFill/>
        </p:spPr>
        <p:txBody>
          <a:bodyPr wrap="square" anchor="t">
            <a:spAutoFit/>
          </a:bodyPr>
          <a:lstStyle/>
          <a:p>
            <a:pPr algn="l">
              <a:spcAft>
                <a:spcPts val="400"/>
              </a:spcAft>
            </a:pPr>
            <a:r>
              <a:rPr sz="1400" b="1">
                <a:solidFill>
                  <a:srgbClr val="7C3AED"/>
                </a:solidFill>
                <a:latin typeface="Arial"/>
              </a:rPr>
              <a:t>DEUTSCH-JOZSA (N QUBITS)  ·  STEP 2 OF 5</a:t>
            </a:r>
          </a:p>
        </p:txBody>
      </p:sp>
      <p:sp>
        <p:nvSpPr>
          <p:cNvPr id="5" name="TextBox 4"/>
          <p:cNvSpPr txBox="1"/>
          <p:nvPr/>
        </p:nvSpPr>
        <p:spPr>
          <a:xfrm>
            <a:off x="777240" y="822960"/>
            <a:ext cx="10881360" cy="822960"/>
          </a:xfrm>
          <a:prstGeom prst="rect">
            <a:avLst/>
          </a:prstGeom>
          <a:noFill/>
        </p:spPr>
        <p:txBody>
          <a:bodyPr wrap="square" anchor="t">
            <a:spAutoFit/>
          </a:bodyPr>
          <a:lstStyle/>
          <a:p>
            <a:pPr algn="l">
              <a:spcAft>
                <a:spcPts val="400"/>
              </a:spcAft>
            </a:pPr>
            <a:r>
              <a:rPr sz="2900" b="1">
                <a:solidFill>
                  <a:srgbClr val="161B26"/>
                </a:solidFill>
                <a:latin typeface="Arial"/>
              </a:rPr>
              <a:t>Step 2 — Oracle applies the sign</a:t>
            </a:r>
          </a:p>
        </p:txBody>
      </p:sp>
      <p:sp>
        <p:nvSpPr>
          <p:cNvPr id="6" name="Rectangle 5"/>
          <p:cNvSpPr/>
          <p:nvPr/>
        </p:nvSpPr>
        <p:spPr>
          <a:xfrm>
            <a:off x="777240" y="1554480"/>
            <a:ext cx="10634472" cy="18288"/>
          </a:xfrm>
          <a:prstGeom prst="rect">
            <a:avLst/>
          </a:prstGeom>
          <a:solidFill>
            <a:srgbClr val="E2E8F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Rectangle 6"/>
          <p:cNvSpPr/>
          <p:nvPr/>
        </p:nvSpPr>
        <p:spPr>
          <a:xfrm>
            <a:off x="777240" y="1810512"/>
            <a:ext cx="10634472" cy="1389888"/>
          </a:xfrm>
          <a:prstGeom prst="rect">
            <a:avLst/>
          </a:prstGeom>
          <a:solidFill>
            <a:srgbClr val="0B122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TextBox 7"/>
          <p:cNvSpPr txBox="1"/>
          <p:nvPr/>
        </p:nvSpPr>
        <p:spPr>
          <a:xfrm>
            <a:off x="1097280" y="1956816"/>
            <a:ext cx="9994392" cy="1097280"/>
          </a:xfrm>
          <a:prstGeom prst="rect">
            <a:avLst/>
          </a:prstGeom>
          <a:noFill/>
        </p:spPr>
        <p:txBody>
          <a:bodyPr wrap="square" anchor="t">
            <a:spAutoFit/>
          </a:bodyPr>
          <a:lstStyle/>
          <a:p>
            <a:pPr algn="l">
              <a:spcAft>
                <a:spcPts val="300"/>
              </a:spcAft>
            </a:pPr>
            <a:r>
              <a:rPr sz="1550" b="0">
                <a:solidFill>
                  <a:srgbClr val="9CDCFE"/>
                </a:solidFill>
                <a:latin typeface="Arial"/>
              </a:rPr>
              <a:t>   U_f |x&gt;|-&gt;  =  (-1)^f(x) |x&gt;|-&gt;</a:t>
            </a:r>
          </a:p>
          <a:p>
            <a:pPr algn="l">
              <a:spcAft>
                <a:spcPts val="300"/>
              </a:spcAft>
            </a:pPr>
            <a:r>
              <a:rPr sz="1550" b="0">
                <a:solidFill>
                  <a:srgbClr val="0B1220"/>
                </a:solidFill>
                <a:latin typeface="Arial"/>
              </a:rPr>
              <a:t> </a:t>
            </a:r>
          </a:p>
          <a:p>
            <a:pPr algn="l">
              <a:spcAft>
                <a:spcPts val="300"/>
              </a:spcAft>
            </a:pPr>
            <a:r>
              <a:rPr sz="1550" b="0">
                <a:solidFill>
                  <a:srgbClr val="9CDCFE"/>
                </a:solidFill>
                <a:latin typeface="Arial"/>
              </a:rPr>
              <a:t>State:  (1/√2ⁿ) Σ_x (-1)^f(x) |x&gt;  (x) |-&gt;</a:t>
            </a:r>
          </a:p>
        </p:txBody>
      </p:sp>
      <p:sp>
        <p:nvSpPr>
          <p:cNvPr id="9" name="Rectangle 8"/>
          <p:cNvSpPr/>
          <p:nvPr/>
        </p:nvSpPr>
        <p:spPr>
          <a:xfrm>
            <a:off x="777240" y="3401568"/>
            <a:ext cx="10634472" cy="2651760"/>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Rectangle 9"/>
          <p:cNvSpPr/>
          <p:nvPr/>
        </p:nvSpPr>
        <p:spPr>
          <a:xfrm>
            <a:off x="777240" y="3401568"/>
            <a:ext cx="82296" cy="2651760"/>
          </a:xfrm>
          <a:prstGeom prst="rect">
            <a:avLst/>
          </a:prstGeom>
          <a:solidFill>
            <a:srgbClr val="F59E0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 name="TextBox 10"/>
          <p:cNvSpPr txBox="1"/>
          <p:nvPr/>
        </p:nvSpPr>
        <p:spPr>
          <a:xfrm>
            <a:off x="1097280" y="3401568"/>
            <a:ext cx="10149840" cy="2651760"/>
          </a:xfrm>
          <a:prstGeom prst="rect">
            <a:avLst/>
          </a:prstGeom>
          <a:noFill/>
        </p:spPr>
        <p:txBody>
          <a:bodyPr wrap="square" anchor="ctr">
            <a:spAutoFit/>
          </a:bodyPr>
          <a:lstStyle/>
          <a:p>
            <a:pPr algn="l">
              <a:spcAft>
                <a:spcPts val="400"/>
              </a:spcAft>
            </a:pPr>
            <a:r>
              <a:rPr sz="1150" b="1">
                <a:solidFill>
                  <a:srgbClr val="F59E0B"/>
                </a:solidFill>
                <a:latin typeface="Arial"/>
              </a:rPr>
              <a:t>WHY THIS STEP:  </a:t>
            </a:r>
            <a:r>
              <a:rPr sz="1300" b="0">
                <a:solidFill>
                  <a:srgbClr val="161B26"/>
                </a:solidFill>
                <a:latin typeface="Arial"/>
              </a:rPr>
              <a:t>ONE query has tagged every one of the 2ⁿ inputs with the sign of f(x).</a:t>
            </a:r>
          </a:p>
        </p:txBody>
      </p:sp>
      <p:sp>
        <p:nvSpPr>
          <p:cNvPr id="12" name="TextBox 11"/>
          <p:cNvSpPr txBox="1"/>
          <p:nvPr/>
        </p:nvSpPr>
        <p:spPr>
          <a:xfrm>
            <a:off x="365760" y="6446520"/>
            <a:ext cx="6858000" cy="320040"/>
          </a:xfrm>
          <a:prstGeom prst="rect">
            <a:avLst/>
          </a:prstGeom>
          <a:noFill/>
        </p:spPr>
        <p:txBody>
          <a:bodyPr wrap="square" anchor="t">
            <a:spAutoFit/>
          </a:bodyPr>
          <a:lstStyle/>
          <a:p>
            <a:pPr algn="l">
              <a:spcAft>
                <a:spcPts val="400"/>
              </a:spcAft>
            </a:pPr>
            <a:r>
              <a:rPr sz="900" b="0">
                <a:solidFill>
                  <a:srgbClr val="5B6372"/>
                </a:solidFill>
                <a:latin typeface="Arial"/>
              </a:rPr>
              <a:t>Securing the Future with Quantum Computing and Cryptography  ·  TGS-2024043419</a:t>
            </a:r>
          </a:p>
        </p:txBody>
      </p:sp>
      <p:sp>
        <p:nvSpPr>
          <p:cNvPr id="13" name="TextBox 12"/>
          <p:cNvSpPr txBox="1"/>
          <p:nvPr/>
        </p:nvSpPr>
        <p:spPr>
          <a:xfrm>
            <a:off x="4572000" y="6446520"/>
            <a:ext cx="3017520" cy="320040"/>
          </a:xfrm>
          <a:prstGeom prst="rect">
            <a:avLst/>
          </a:prstGeom>
          <a:noFill/>
        </p:spPr>
        <p:txBody>
          <a:bodyPr wrap="square" anchor="t">
            <a:spAutoFit/>
          </a:bodyPr>
          <a:lstStyle/>
          <a:p>
            <a:pPr algn="ctr">
              <a:spcAft>
                <a:spcPts val="400"/>
              </a:spcAft>
            </a:pPr>
            <a:r>
              <a:rPr sz="900" b="0">
                <a:solidFill>
                  <a:srgbClr val="5B6372"/>
                </a:solidFill>
                <a:latin typeface="Arial"/>
              </a:rPr>
              <a:t>© 2026 Tertiary Infotech Academy Pte Ltd</a:t>
            </a:r>
          </a:p>
        </p:txBody>
      </p:sp>
      <p:sp>
        <p:nvSpPr>
          <p:cNvPr id="14" name="TextBox 13"/>
          <p:cNvSpPr txBox="1"/>
          <p:nvPr/>
        </p:nvSpPr>
        <p:spPr>
          <a:xfrm>
            <a:off x="11338560" y="6446520"/>
            <a:ext cx="548640" cy="320040"/>
          </a:xfrm>
          <a:prstGeom prst="rect">
            <a:avLst/>
          </a:prstGeom>
          <a:noFill/>
        </p:spPr>
        <p:txBody>
          <a:bodyPr wrap="square" anchor="t">
            <a:spAutoFit/>
          </a:bodyPr>
          <a:lstStyle/>
          <a:p>
            <a:pPr algn="r">
              <a:spcAft>
                <a:spcPts val="400"/>
              </a:spcAft>
            </a:pPr>
            <a:r>
              <a:rPr sz="900" b="0">
                <a:solidFill>
                  <a:srgbClr val="5B6372"/>
                </a:solidFill>
                <a:latin typeface="Arial"/>
              </a:rPr>
              <a:t>155</a:t>
            </a:r>
          </a:p>
        </p:txBody>
      </p:sp>
    </p:spTree>
  </p:cSld>
  <p:clrMapOvr>
    <a:masterClrMapping/>
  </p:clrMapOvr>
</p:sld>
</file>

<file path=ppt/slides/slide157.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256032" cy="1417320"/>
          </a:xfrm>
          <a:prstGeom prst="rect">
            <a:avLst/>
          </a:prstGeom>
          <a:solidFill>
            <a:srgbClr val="7C3AE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777240" y="457200"/>
            <a:ext cx="10607040" cy="365760"/>
          </a:xfrm>
          <a:prstGeom prst="rect">
            <a:avLst/>
          </a:prstGeom>
          <a:noFill/>
        </p:spPr>
        <p:txBody>
          <a:bodyPr wrap="square" anchor="t">
            <a:spAutoFit/>
          </a:bodyPr>
          <a:lstStyle/>
          <a:p>
            <a:pPr algn="l">
              <a:spcAft>
                <a:spcPts val="400"/>
              </a:spcAft>
            </a:pPr>
            <a:r>
              <a:rPr sz="1400" b="1">
                <a:solidFill>
                  <a:srgbClr val="7C3AED"/>
                </a:solidFill>
                <a:latin typeface="Arial"/>
              </a:rPr>
              <a:t>DEUTSCH-JOZSA (N QUBITS)  ·  STEP 3 OF 5</a:t>
            </a:r>
          </a:p>
        </p:txBody>
      </p:sp>
      <p:sp>
        <p:nvSpPr>
          <p:cNvPr id="5" name="TextBox 4"/>
          <p:cNvSpPr txBox="1"/>
          <p:nvPr/>
        </p:nvSpPr>
        <p:spPr>
          <a:xfrm>
            <a:off x="777240" y="822960"/>
            <a:ext cx="10881360" cy="822960"/>
          </a:xfrm>
          <a:prstGeom prst="rect">
            <a:avLst/>
          </a:prstGeom>
          <a:noFill/>
        </p:spPr>
        <p:txBody>
          <a:bodyPr wrap="square" anchor="t">
            <a:spAutoFit/>
          </a:bodyPr>
          <a:lstStyle/>
          <a:p>
            <a:pPr algn="l">
              <a:spcAft>
                <a:spcPts val="400"/>
              </a:spcAft>
            </a:pPr>
            <a:r>
              <a:rPr sz="2900" b="1">
                <a:solidFill>
                  <a:srgbClr val="161B26"/>
                </a:solidFill>
                <a:latin typeface="Arial"/>
              </a:rPr>
              <a:t>Step 3 — Final Hadamard layer</a:t>
            </a:r>
          </a:p>
        </p:txBody>
      </p:sp>
      <p:sp>
        <p:nvSpPr>
          <p:cNvPr id="6" name="Rectangle 5"/>
          <p:cNvSpPr/>
          <p:nvPr/>
        </p:nvSpPr>
        <p:spPr>
          <a:xfrm>
            <a:off x="777240" y="1554480"/>
            <a:ext cx="10634472" cy="18288"/>
          </a:xfrm>
          <a:prstGeom prst="rect">
            <a:avLst/>
          </a:prstGeom>
          <a:solidFill>
            <a:srgbClr val="E2E8F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Rectangle 6"/>
          <p:cNvSpPr/>
          <p:nvPr/>
        </p:nvSpPr>
        <p:spPr>
          <a:xfrm>
            <a:off x="777240" y="1810512"/>
            <a:ext cx="10634472" cy="2011680"/>
          </a:xfrm>
          <a:prstGeom prst="rect">
            <a:avLst/>
          </a:prstGeom>
          <a:solidFill>
            <a:srgbClr val="0B122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TextBox 7"/>
          <p:cNvSpPr txBox="1"/>
          <p:nvPr/>
        </p:nvSpPr>
        <p:spPr>
          <a:xfrm>
            <a:off x="1097280" y="1956816"/>
            <a:ext cx="9994392" cy="1719072"/>
          </a:xfrm>
          <a:prstGeom prst="rect">
            <a:avLst/>
          </a:prstGeom>
          <a:noFill/>
        </p:spPr>
        <p:txBody>
          <a:bodyPr wrap="square" anchor="t">
            <a:spAutoFit/>
          </a:bodyPr>
          <a:lstStyle/>
          <a:p>
            <a:pPr algn="l">
              <a:spcAft>
                <a:spcPts val="300"/>
              </a:spcAft>
            </a:pPr>
            <a:r>
              <a:rPr sz="1550" b="0">
                <a:solidFill>
                  <a:srgbClr val="9CDCFE"/>
                </a:solidFill>
                <a:latin typeface="Arial"/>
              </a:rPr>
              <a:t>The n-qubit Hadamard acts as:</a:t>
            </a:r>
          </a:p>
          <a:p>
            <a:pPr algn="l">
              <a:spcAft>
                <a:spcPts val="300"/>
              </a:spcAft>
            </a:pPr>
            <a:r>
              <a:rPr sz="1550" b="0">
                <a:solidFill>
                  <a:srgbClr val="9CDCFE"/>
                </a:solidFill>
                <a:latin typeface="Arial"/>
              </a:rPr>
              <a:t>   Hⁿ |x&gt;  =  (1/√2ⁿ) Σ_z (-1)^(x·z) |z&gt;      where x·z = Σ xᵢzᵢ mod 2</a:t>
            </a:r>
          </a:p>
          <a:p>
            <a:pPr algn="l">
              <a:spcAft>
                <a:spcPts val="300"/>
              </a:spcAft>
            </a:pPr>
            <a:r>
              <a:rPr sz="1550" b="0">
                <a:solidFill>
                  <a:srgbClr val="0B1220"/>
                </a:solidFill>
                <a:latin typeface="Arial"/>
              </a:rPr>
              <a:t> </a:t>
            </a:r>
          </a:p>
          <a:p>
            <a:pPr algn="l">
              <a:spcAft>
                <a:spcPts val="300"/>
              </a:spcAft>
            </a:pPr>
            <a:r>
              <a:rPr sz="1550" b="0">
                <a:solidFill>
                  <a:srgbClr val="9CDCFE"/>
                </a:solidFill>
                <a:latin typeface="Arial"/>
              </a:rPr>
              <a:t>Applying it:</a:t>
            </a:r>
          </a:p>
          <a:p>
            <a:pPr algn="l">
              <a:spcAft>
                <a:spcPts val="300"/>
              </a:spcAft>
            </a:pPr>
            <a:r>
              <a:rPr sz="1550" b="0">
                <a:solidFill>
                  <a:srgbClr val="9CDCFE"/>
                </a:solidFill>
                <a:latin typeface="Arial"/>
              </a:rPr>
              <a:t>   (1/2ⁿ) Σ_z [ Σ_x (-1)^(f(x) + x·z) ] |z&gt;</a:t>
            </a:r>
          </a:p>
        </p:txBody>
      </p:sp>
      <p:sp>
        <p:nvSpPr>
          <p:cNvPr id="9" name="Rectangle 8"/>
          <p:cNvSpPr/>
          <p:nvPr/>
        </p:nvSpPr>
        <p:spPr>
          <a:xfrm>
            <a:off x="777240" y="4023360"/>
            <a:ext cx="10634472" cy="2029968"/>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Rectangle 9"/>
          <p:cNvSpPr/>
          <p:nvPr/>
        </p:nvSpPr>
        <p:spPr>
          <a:xfrm>
            <a:off x="777240" y="4023360"/>
            <a:ext cx="82296" cy="2029968"/>
          </a:xfrm>
          <a:prstGeom prst="rect">
            <a:avLst/>
          </a:prstGeom>
          <a:solidFill>
            <a:srgbClr val="F59E0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 name="TextBox 10"/>
          <p:cNvSpPr txBox="1"/>
          <p:nvPr/>
        </p:nvSpPr>
        <p:spPr>
          <a:xfrm>
            <a:off x="1097280" y="4023360"/>
            <a:ext cx="10149840" cy="2029968"/>
          </a:xfrm>
          <a:prstGeom prst="rect">
            <a:avLst/>
          </a:prstGeom>
          <a:noFill/>
        </p:spPr>
        <p:txBody>
          <a:bodyPr wrap="square" anchor="ctr">
            <a:spAutoFit/>
          </a:bodyPr>
          <a:lstStyle/>
          <a:p>
            <a:pPr algn="l">
              <a:spcAft>
                <a:spcPts val="400"/>
              </a:spcAft>
            </a:pPr>
            <a:r>
              <a:rPr sz="1150" b="1">
                <a:solidFill>
                  <a:srgbClr val="F59E0B"/>
                </a:solidFill>
                <a:latin typeface="Arial"/>
              </a:rPr>
              <a:t>WHY THIS STEP:  </a:t>
            </a:r>
            <a:r>
              <a:rPr sz="1300" b="0">
                <a:solidFill>
                  <a:srgbClr val="161B26"/>
                </a:solidFill>
                <a:latin typeface="Arial"/>
              </a:rPr>
              <a:t>The bracket is the amplitude of outcome |z&gt; — a sum of ±1 terms.</a:t>
            </a:r>
          </a:p>
        </p:txBody>
      </p:sp>
      <p:sp>
        <p:nvSpPr>
          <p:cNvPr id="12" name="TextBox 11"/>
          <p:cNvSpPr txBox="1"/>
          <p:nvPr/>
        </p:nvSpPr>
        <p:spPr>
          <a:xfrm>
            <a:off x="365760" y="6446520"/>
            <a:ext cx="6858000" cy="320040"/>
          </a:xfrm>
          <a:prstGeom prst="rect">
            <a:avLst/>
          </a:prstGeom>
          <a:noFill/>
        </p:spPr>
        <p:txBody>
          <a:bodyPr wrap="square" anchor="t">
            <a:spAutoFit/>
          </a:bodyPr>
          <a:lstStyle/>
          <a:p>
            <a:pPr algn="l">
              <a:spcAft>
                <a:spcPts val="400"/>
              </a:spcAft>
            </a:pPr>
            <a:r>
              <a:rPr sz="900" b="0">
                <a:solidFill>
                  <a:srgbClr val="5B6372"/>
                </a:solidFill>
                <a:latin typeface="Arial"/>
              </a:rPr>
              <a:t>Securing the Future with Quantum Computing and Cryptography  ·  TGS-2024043419</a:t>
            </a:r>
          </a:p>
        </p:txBody>
      </p:sp>
      <p:sp>
        <p:nvSpPr>
          <p:cNvPr id="13" name="TextBox 12"/>
          <p:cNvSpPr txBox="1"/>
          <p:nvPr/>
        </p:nvSpPr>
        <p:spPr>
          <a:xfrm>
            <a:off x="4572000" y="6446520"/>
            <a:ext cx="3017520" cy="320040"/>
          </a:xfrm>
          <a:prstGeom prst="rect">
            <a:avLst/>
          </a:prstGeom>
          <a:noFill/>
        </p:spPr>
        <p:txBody>
          <a:bodyPr wrap="square" anchor="t">
            <a:spAutoFit/>
          </a:bodyPr>
          <a:lstStyle/>
          <a:p>
            <a:pPr algn="ctr">
              <a:spcAft>
                <a:spcPts val="400"/>
              </a:spcAft>
            </a:pPr>
            <a:r>
              <a:rPr sz="900" b="0">
                <a:solidFill>
                  <a:srgbClr val="5B6372"/>
                </a:solidFill>
                <a:latin typeface="Arial"/>
              </a:rPr>
              <a:t>© 2026 Tertiary Infotech Academy Pte Ltd</a:t>
            </a:r>
          </a:p>
        </p:txBody>
      </p:sp>
      <p:sp>
        <p:nvSpPr>
          <p:cNvPr id="14" name="TextBox 13"/>
          <p:cNvSpPr txBox="1"/>
          <p:nvPr/>
        </p:nvSpPr>
        <p:spPr>
          <a:xfrm>
            <a:off x="11338560" y="6446520"/>
            <a:ext cx="548640" cy="320040"/>
          </a:xfrm>
          <a:prstGeom prst="rect">
            <a:avLst/>
          </a:prstGeom>
          <a:noFill/>
        </p:spPr>
        <p:txBody>
          <a:bodyPr wrap="square" anchor="t">
            <a:spAutoFit/>
          </a:bodyPr>
          <a:lstStyle/>
          <a:p>
            <a:pPr algn="r">
              <a:spcAft>
                <a:spcPts val="400"/>
              </a:spcAft>
            </a:pPr>
            <a:r>
              <a:rPr sz="900" b="0">
                <a:solidFill>
                  <a:srgbClr val="5B6372"/>
                </a:solidFill>
                <a:latin typeface="Arial"/>
              </a:rPr>
              <a:t>156</a:t>
            </a:r>
          </a:p>
        </p:txBody>
      </p:sp>
    </p:spTree>
  </p:cSld>
  <p:clrMapOvr>
    <a:masterClrMapping/>
  </p:clrMapOvr>
</p:sld>
</file>

<file path=ppt/slides/slide158.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256032" cy="1417320"/>
          </a:xfrm>
          <a:prstGeom prst="rect">
            <a:avLst/>
          </a:prstGeom>
          <a:solidFill>
            <a:srgbClr val="7C3AE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777240" y="457200"/>
            <a:ext cx="10607040" cy="365760"/>
          </a:xfrm>
          <a:prstGeom prst="rect">
            <a:avLst/>
          </a:prstGeom>
          <a:noFill/>
        </p:spPr>
        <p:txBody>
          <a:bodyPr wrap="square" anchor="t">
            <a:spAutoFit/>
          </a:bodyPr>
          <a:lstStyle/>
          <a:p>
            <a:pPr algn="l">
              <a:spcAft>
                <a:spcPts val="400"/>
              </a:spcAft>
            </a:pPr>
            <a:r>
              <a:rPr sz="1400" b="1">
                <a:solidFill>
                  <a:srgbClr val="7C3AED"/>
                </a:solidFill>
                <a:latin typeface="Arial"/>
              </a:rPr>
              <a:t>DEUTSCH-JOZSA (N QUBITS)  ·  STEP 4 OF 5</a:t>
            </a:r>
          </a:p>
        </p:txBody>
      </p:sp>
      <p:sp>
        <p:nvSpPr>
          <p:cNvPr id="5" name="TextBox 4"/>
          <p:cNvSpPr txBox="1"/>
          <p:nvPr/>
        </p:nvSpPr>
        <p:spPr>
          <a:xfrm>
            <a:off x="777240" y="822960"/>
            <a:ext cx="10881360" cy="822960"/>
          </a:xfrm>
          <a:prstGeom prst="rect">
            <a:avLst/>
          </a:prstGeom>
          <a:noFill/>
        </p:spPr>
        <p:txBody>
          <a:bodyPr wrap="square" anchor="t">
            <a:spAutoFit/>
          </a:bodyPr>
          <a:lstStyle/>
          <a:p>
            <a:pPr algn="l">
              <a:spcAft>
                <a:spcPts val="400"/>
              </a:spcAft>
            </a:pPr>
            <a:r>
              <a:rPr sz="2900" b="1">
                <a:solidFill>
                  <a:srgbClr val="161B26"/>
                </a:solidFill>
                <a:latin typeface="Arial"/>
              </a:rPr>
              <a:t>Step 4 — Amplitude of the all-zeros outcome</a:t>
            </a:r>
          </a:p>
        </p:txBody>
      </p:sp>
      <p:sp>
        <p:nvSpPr>
          <p:cNvPr id="6" name="Rectangle 5"/>
          <p:cNvSpPr/>
          <p:nvPr/>
        </p:nvSpPr>
        <p:spPr>
          <a:xfrm>
            <a:off x="777240" y="1554480"/>
            <a:ext cx="10634472" cy="18288"/>
          </a:xfrm>
          <a:prstGeom prst="rect">
            <a:avLst/>
          </a:prstGeom>
          <a:solidFill>
            <a:srgbClr val="E2E8F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Rectangle 6"/>
          <p:cNvSpPr/>
          <p:nvPr/>
        </p:nvSpPr>
        <p:spPr>
          <a:xfrm>
            <a:off x="777240" y="1810512"/>
            <a:ext cx="10634472" cy="3255264"/>
          </a:xfrm>
          <a:prstGeom prst="rect">
            <a:avLst/>
          </a:prstGeom>
          <a:solidFill>
            <a:srgbClr val="0B122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TextBox 7"/>
          <p:cNvSpPr txBox="1"/>
          <p:nvPr/>
        </p:nvSpPr>
        <p:spPr>
          <a:xfrm>
            <a:off x="1097280" y="1956816"/>
            <a:ext cx="9994392" cy="2962656"/>
          </a:xfrm>
          <a:prstGeom prst="rect">
            <a:avLst/>
          </a:prstGeom>
          <a:noFill/>
        </p:spPr>
        <p:txBody>
          <a:bodyPr wrap="square" anchor="t">
            <a:spAutoFit/>
          </a:bodyPr>
          <a:lstStyle/>
          <a:p>
            <a:pPr algn="l">
              <a:spcAft>
                <a:spcPts val="300"/>
              </a:spcAft>
            </a:pPr>
            <a:r>
              <a:rPr sz="1550" b="0">
                <a:solidFill>
                  <a:srgbClr val="9CDCFE"/>
                </a:solidFill>
                <a:latin typeface="Arial"/>
              </a:rPr>
              <a:t>Set z = 0…0. Then x·z = 0 for every x, so:</a:t>
            </a:r>
          </a:p>
          <a:p>
            <a:pPr algn="l">
              <a:spcAft>
                <a:spcPts val="300"/>
              </a:spcAft>
            </a:pPr>
            <a:r>
              <a:rPr sz="1550" b="0">
                <a:solidFill>
                  <a:srgbClr val="0B1220"/>
                </a:solidFill>
                <a:latin typeface="Arial"/>
              </a:rPr>
              <a:t> </a:t>
            </a:r>
          </a:p>
          <a:p>
            <a:pPr algn="l">
              <a:spcAft>
                <a:spcPts val="300"/>
              </a:spcAft>
            </a:pPr>
            <a:r>
              <a:rPr sz="1550" b="0">
                <a:solidFill>
                  <a:srgbClr val="9CDCFE"/>
                </a:solidFill>
                <a:latin typeface="Arial"/>
              </a:rPr>
              <a:t>   amplitude(|0…0&gt;)  =  (1/2ⁿ) Σ_x (-1)^f(x)</a:t>
            </a:r>
          </a:p>
          <a:p>
            <a:pPr algn="l">
              <a:spcAft>
                <a:spcPts val="300"/>
              </a:spcAft>
            </a:pPr>
            <a:r>
              <a:rPr sz="1550" b="0">
                <a:solidFill>
                  <a:srgbClr val="0B1220"/>
                </a:solidFill>
                <a:latin typeface="Arial"/>
              </a:rPr>
              <a:t> </a:t>
            </a:r>
          </a:p>
          <a:p>
            <a:pPr algn="l">
              <a:spcAft>
                <a:spcPts val="300"/>
              </a:spcAft>
            </a:pPr>
            <a:r>
              <a:rPr sz="1550" b="0">
                <a:solidFill>
                  <a:srgbClr val="9CDCFE"/>
                </a:solidFill>
                <a:latin typeface="Arial"/>
              </a:rPr>
              <a:t>CONSTANT: every term is the same sign, so the sum is ±2ⁿ</a:t>
            </a:r>
          </a:p>
          <a:p>
            <a:pPr algn="l">
              <a:spcAft>
                <a:spcPts val="300"/>
              </a:spcAft>
            </a:pPr>
            <a:r>
              <a:rPr sz="1550" b="0">
                <a:solidFill>
                  <a:srgbClr val="9CDCFE"/>
                </a:solidFill>
                <a:latin typeface="Arial"/>
              </a:rPr>
              <a:t>   amplitude = ±1   -&gt;  probability |±1|² = 1</a:t>
            </a:r>
          </a:p>
          <a:p>
            <a:pPr algn="l">
              <a:spcAft>
                <a:spcPts val="300"/>
              </a:spcAft>
            </a:pPr>
            <a:r>
              <a:rPr sz="1550" b="0">
                <a:solidFill>
                  <a:srgbClr val="0B1220"/>
                </a:solidFill>
                <a:latin typeface="Arial"/>
              </a:rPr>
              <a:t> </a:t>
            </a:r>
          </a:p>
          <a:p>
            <a:pPr algn="l">
              <a:spcAft>
                <a:spcPts val="300"/>
              </a:spcAft>
            </a:pPr>
            <a:r>
              <a:rPr sz="1550" b="0">
                <a:solidFill>
                  <a:srgbClr val="9CDCFE"/>
                </a:solidFill>
                <a:latin typeface="Arial"/>
              </a:rPr>
              <a:t>BALANCED: half the terms are +1 and half are -1, so the sum is 0</a:t>
            </a:r>
          </a:p>
          <a:p>
            <a:pPr algn="l">
              <a:spcAft>
                <a:spcPts val="300"/>
              </a:spcAft>
            </a:pPr>
            <a:r>
              <a:rPr sz="1550" b="0">
                <a:solidFill>
                  <a:srgbClr val="9CDCFE"/>
                </a:solidFill>
                <a:latin typeface="Arial"/>
              </a:rPr>
              <a:t>   amplitude = 0    -&gt;  probability 0</a:t>
            </a:r>
          </a:p>
        </p:txBody>
      </p:sp>
      <p:sp>
        <p:nvSpPr>
          <p:cNvPr id="9" name="Rectangle 8"/>
          <p:cNvSpPr/>
          <p:nvPr/>
        </p:nvSpPr>
        <p:spPr>
          <a:xfrm>
            <a:off x="777240" y="5266944"/>
            <a:ext cx="10634472" cy="786384"/>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Rectangle 9"/>
          <p:cNvSpPr/>
          <p:nvPr/>
        </p:nvSpPr>
        <p:spPr>
          <a:xfrm>
            <a:off x="777240" y="5266944"/>
            <a:ext cx="82296" cy="786384"/>
          </a:xfrm>
          <a:prstGeom prst="rect">
            <a:avLst/>
          </a:prstGeom>
          <a:solidFill>
            <a:srgbClr val="F59E0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 name="TextBox 10"/>
          <p:cNvSpPr txBox="1"/>
          <p:nvPr/>
        </p:nvSpPr>
        <p:spPr>
          <a:xfrm>
            <a:off x="1097280" y="5266944"/>
            <a:ext cx="10149840" cy="786384"/>
          </a:xfrm>
          <a:prstGeom prst="rect">
            <a:avLst/>
          </a:prstGeom>
          <a:noFill/>
        </p:spPr>
        <p:txBody>
          <a:bodyPr wrap="square" anchor="ctr">
            <a:spAutoFit/>
          </a:bodyPr>
          <a:lstStyle/>
          <a:p>
            <a:pPr algn="l">
              <a:spcAft>
                <a:spcPts val="400"/>
              </a:spcAft>
            </a:pPr>
            <a:r>
              <a:rPr sz="1150" b="1">
                <a:solidFill>
                  <a:srgbClr val="F59E0B"/>
                </a:solidFill>
                <a:latin typeface="Arial"/>
              </a:rPr>
              <a:t>WHY THIS STEP:  </a:t>
            </a:r>
            <a:r>
              <a:rPr sz="1300" b="0">
                <a:solidFill>
                  <a:srgbClr val="161B26"/>
                </a:solidFill>
                <a:latin typeface="Arial"/>
              </a:rPr>
              <a:t>Perfect constructive interference in one case, perfect destructive in the other.</a:t>
            </a:r>
          </a:p>
        </p:txBody>
      </p:sp>
      <p:sp>
        <p:nvSpPr>
          <p:cNvPr id="12" name="TextBox 11"/>
          <p:cNvSpPr txBox="1"/>
          <p:nvPr/>
        </p:nvSpPr>
        <p:spPr>
          <a:xfrm>
            <a:off x="365760" y="6446520"/>
            <a:ext cx="6858000" cy="320040"/>
          </a:xfrm>
          <a:prstGeom prst="rect">
            <a:avLst/>
          </a:prstGeom>
          <a:noFill/>
        </p:spPr>
        <p:txBody>
          <a:bodyPr wrap="square" anchor="t">
            <a:spAutoFit/>
          </a:bodyPr>
          <a:lstStyle/>
          <a:p>
            <a:pPr algn="l">
              <a:spcAft>
                <a:spcPts val="400"/>
              </a:spcAft>
            </a:pPr>
            <a:r>
              <a:rPr sz="900" b="0">
                <a:solidFill>
                  <a:srgbClr val="5B6372"/>
                </a:solidFill>
                <a:latin typeface="Arial"/>
              </a:rPr>
              <a:t>Securing the Future with Quantum Computing and Cryptography  ·  TGS-2024043419</a:t>
            </a:r>
          </a:p>
        </p:txBody>
      </p:sp>
      <p:sp>
        <p:nvSpPr>
          <p:cNvPr id="13" name="TextBox 12"/>
          <p:cNvSpPr txBox="1"/>
          <p:nvPr/>
        </p:nvSpPr>
        <p:spPr>
          <a:xfrm>
            <a:off x="4572000" y="6446520"/>
            <a:ext cx="3017520" cy="320040"/>
          </a:xfrm>
          <a:prstGeom prst="rect">
            <a:avLst/>
          </a:prstGeom>
          <a:noFill/>
        </p:spPr>
        <p:txBody>
          <a:bodyPr wrap="square" anchor="t">
            <a:spAutoFit/>
          </a:bodyPr>
          <a:lstStyle/>
          <a:p>
            <a:pPr algn="ctr">
              <a:spcAft>
                <a:spcPts val="400"/>
              </a:spcAft>
            </a:pPr>
            <a:r>
              <a:rPr sz="900" b="0">
                <a:solidFill>
                  <a:srgbClr val="5B6372"/>
                </a:solidFill>
                <a:latin typeface="Arial"/>
              </a:rPr>
              <a:t>© 2026 Tertiary Infotech Academy Pte Ltd</a:t>
            </a:r>
          </a:p>
        </p:txBody>
      </p:sp>
      <p:sp>
        <p:nvSpPr>
          <p:cNvPr id="14" name="TextBox 13"/>
          <p:cNvSpPr txBox="1"/>
          <p:nvPr/>
        </p:nvSpPr>
        <p:spPr>
          <a:xfrm>
            <a:off x="11338560" y="6446520"/>
            <a:ext cx="548640" cy="320040"/>
          </a:xfrm>
          <a:prstGeom prst="rect">
            <a:avLst/>
          </a:prstGeom>
          <a:noFill/>
        </p:spPr>
        <p:txBody>
          <a:bodyPr wrap="square" anchor="t">
            <a:spAutoFit/>
          </a:bodyPr>
          <a:lstStyle/>
          <a:p>
            <a:pPr algn="r">
              <a:spcAft>
                <a:spcPts val="400"/>
              </a:spcAft>
            </a:pPr>
            <a:r>
              <a:rPr sz="900" b="0">
                <a:solidFill>
                  <a:srgbClr val="5B6372"/>
                </a:solidFill>
                <a:latin typeface="Arial"/>
              </a:rPr>
              <a:t>157</a:t>
            </a:r>
          </a:p>
        </p:txBody>
      </p:sp>
    </p:spTree>
  </p:cSld>
  <p:clrMapOvr>
    <a:masterClrMapping/>
  </p:clrMapOvr>
</p:sld>
</file>

<file path=ppt/slides/slide159.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256032" cy="1417320"/>
          </a:xfrm>
          <a:prstGeom prst="rect">
            <a:avLst/>
          </a:prstGeom>
          <a:solidFill>
            <a:srgbClr val="7C3AE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777240" y="457200"/>
            <a:ext cx="10607040" cy="365760"/>
          </a:xfrm>
          <a:prstGeom prst="rect">
            <a:avLst/>
          </a:prstGeom>
          <a:noFill/>
        </p:spPr>
        <p:txBody>
          <a:bodyPr wrap="square" anchor="t">
            <a:spAutoFit/>
          </a:bodyPr>
          <a:lstStyle/>
          <a:p>
            <a:pPr algn="l">
              <a:spcAft>
                <a:spcPts val="400"/>
              </a:spcAft>
            </a:pPr>
            <a:r>
              <a:rPr sz="1400" b="1">
                <a:solidFill>
                  <a:srgbClr val="7C3AED"/>
                </a:solidFill>
                <a:latin typeface="Arial"/>
              </a:rPr>
              <a:t>DEUTSCH-JOZSA (N QUBITS)  ·  STEP 5 OF 5</a:t>
            </a:r>
          </a:p>
        </p:txBody>
      </p:sp>
      <p:sp>
        <p:nvSpPr>
          <p:cNvPr id="5" name="TextBox 4"/>
          <p:cNvSpPr txBox="1"/>
          <p:nvPr/>
        </p:nvSpPr>
        <p:spPr>
          <a:xfrm>
            <a:off x="777240" y="822960"/>
            <a:ext cx="10881360" cy="822960"/>
          </a:xfrm>
          <a:prstGeom prst="rect">
            <a:avLst/>
          </a:prstGeom>
          <a:noFill/>
        </p:spPr>
        <p:txBody>
          <a:bodyPr wrap="square" anchor="t">
            <a:spAutoFit/>
          </a:bodyPr>
          <a:lstStyle/>
          <a:p>
            <a:pPr algn="l">
              <a:spcAft>
                <a:spcPts val="400"/>
              </a:spcAft>
            </a:pPr>
            <a:r>
              <a:rPr sz="2900" b="1">
                <a:solidFill>
                  <a:srgbClr val="161B26"/>
                </a:solidFill>
                <a:latin typeface="Arial"/>
              </a:rPr>
              <a:t>Step 5 — Conclusion</a:t>
            </a:r>
          </a:p>
        </p:txBody>
      </p:sp>
      <p:sp>
        <p:nvSpPr>
          <p:cNvPr id="6" name="Rectangle 5"/>
          <p:cNvSpPr/>
          <p:nvPr/>
        </p:nvSpPr>
        <p:spPr>
          <a:xfrm>
            <a:off x="777240" y="1554480"/>
            <a:ext cx="10634472" cy="18288"/>
          </a:xfrm>
          <a:prstGeom prst="rect">
            <a:avLst/>
          </a:prstGeom>
          <a:solidFill>
            <a:srgbClr val="E2E8F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Rectangle 6"/>
          <p:cNvSpPr/>
          <p:nvPr/>
        </p:nvSpPr>
        <p:spPr>
          <a:xfrm>
            <a:off x="777240" y="1810512"/>
            <a:ext cx="10634472" cy="2322576"/>
          </a:xfrm>
          <a:prstGeom prst="rect">
            <a:avLst/>
          </a:prstGeom>
          <a:solidFill>
            <a:srgbClr val="0B122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TextBox 7"/>
          <p:cNvSpPr txBox="1"/>
          <p:nvPr/>
        </p:nvSpPr>
        <p:spPr>
          <a:xfrm>
            <a:off x="1097280" y="1956816"/>
            <a:ext cx="9994392" cy="2029968"/>
          </a:xfrm>
          <a:prstGeom prst="rect">
            <a:avLst/>
          </a:prstGeom>
          <a:noFill/>
        </p:spPr>
        <p:txBody>
          <a:bodyPr wrap="square" anchor="t">
            <a:spAutoFit/>
          </a:bodyPr>
          <a:lstStyle/>
          <a:p>
            <a:pPr algn="l">
              <a:spcAft>
                <a:spcPts val="300"/>
              </a:spcAft>
            </a:pPr>
            <a:r>
              <a:rPr sz="1550" b="0">
                <a:solidFill>
                  <a:srgbClr val="9CDCFE"/>
                </a:solidFill>
                <a:latin typeface="Arial"/>
              </a:rPr>
              <a:t>Measure the n input qubits:</a:t>
            </a:r>
          </a:p>
          <a:p>
            <a:pPr algn="l">
              <a:spcAft>
                <a:spcPts val="300"/>
              </a:spcAft>
            </a:pPr>
            <a:r>
              <a:rPr sz="1550" b="0">
                <a:solidFill>
                  <a:srgbClr val="0B1220"/>
                </a:solidFill>
                <a:latin typeface="Arial"/>
              </a:rPr>
              <a:t> </a:t>
            </a:r>
          </a:p>
          <a:p>
            <a:pPr algn="l">
              <a:spcAft>
                <a:spcPts val="300"/>
              </a:spcAft>
            </a:pPr>
            <a:r>
              <a:rPr sz="1550" b="0">
                <a:solidFill>
                  <a:srgbClr val="9CDCFE"/>
                </a:solidFill>
                <a:latin typeface="Arial"/>
              </a:rPr>
              <a:t>   all zeros (000…0)  =&gt;  f is CONSTANT   (certainty)</a:t>
            </a:r>
          </a:p>
          <a:p>
            <a:pPr algn="l">
              <a:spcAft>
                <a:spcPts val="300"/>
              </a:spcAft>
            </a:pPr>
            <a:r>
              <a:rPr sz="1550" b="0">
                <a:solidFill>
                  <a:srgbClr val="9CDCFE"/>
                </a:solidFill>
                <a:latin typeface="Arial"/>
              </a:rPr>
              <a:t>   anything else      =&gt;  f is BALANCED   (certainty)</a:t>
            </a:r>
          </a:p>
          <a:p>
            <a:pPr algn="l">
              <a:spcAft>
                <a:spcPts val="300"/>
              </a:spcAft>
            </a:pPr>
            <a:r>
              <a:rPr sz="1550" b="0">
                <a:solidFill>
                  <a:srgbClr val="0B1220"/>
                </a:solidFill>
                <a:latin typeface="Arial"/>
              </a:rPr>
              <a:t> </a:t>
            </a:r>
          </a:p>
          <a:p>
            <a:pPr algn="l">
              <a:spcAft>
                <a:spcPts val="300"/>
              </a:spcAft>
            </a:pPr>
            <a:r>
              <a:rPr sz="1550" b="0">
                <a:solidFill>
                  <a:srgbClr val="9CDCFE"/>
                </a:solidFill>
                <a:latin typeface="Arial"/>
              </a:rPr>
              <a:t>Quantum: 1 query.   Classical worst case: 2^(n-1) + 1 queries.</a:t>
            </a:r>
          </a:p>
        </p:txBody>
      </p:sp>
      <p:sp>
        <p:nvSpPr>
          <p:cNvPr id="9" name="Rectangle 8"/>
          <p:cNvSpPr/>
          <p:nvPr/>
        </p:nvSpPr>
        <p:spPr>
          <a:xfrm>
            <a:off x="777240" y="4334256"/>
            <a:ext cx="10634472" cy="1719072"/>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Rectangle 9"/>
          <p:cNvSpPr/>
          <p:nvPr/>
        </p:nvSpPr>
        <p:spPr>
          <a:xfrm>
            <a:off x="777240" y="4334256"/>
            <a:ext cx="82296" cy="1719072"/>
          </a:xfrm>
          <a:prstGeom prst="rect">
            <a:avLst/>
          </a:prstGeom>
          <a:solidFill>
            <a:srgbClr val="F59E0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 name="TextBox 10"/>
          <p:cNvSpPr txBox="1"/>
          <p:nvPr/>
        </p:nvSpPr>
        <p:spPr>
          <a:xfrm>
            <a:off x="1097280" y="4334256"/>
            <a:ext cx="10149840" cy="1719072"/>
          </a:xfrm>
          <a:prstGeom prst="rect">
            <a:avLst/>
          </a:prstGeom>
          <a:noFill/>
        </p:spPr>
        <p:txBody>
          <a:bodyPr wrap="square" anchor="ctr">
            <a:spAutoFit/>
          </a:bodyPr>
          <a:lstStyle/>
          <a:p>
            <a:pPr algn="l">
              <a:spcAft>
                <a:spcPts val="400"/>
              </a:spcAft>
            </a:pPr>
            <a:r>
              <a:rPr sz="1150" b="1">
                <a:solidFill>
                  <a:srgbClr val="F59E0B"/>
                </a:solidFill>
                <a:latin typeface="Arial"/>
              </a:rPr>
              <a:t>WHY THIS STEP:  </a:t>
            </a:r>
            <a:r>
              <a:rPr sz="1300" b="0">
                <a:solidFill>
                  <a:srgbClr val="161B26"/>
                </a:solidFill>
                <a:latin typeface="Arial"/>
              </a:rPr>
              <a:t>For n = 20 that is 1 query versus 524,289 — an exponential separation.</a:t>
            </a:r>
          </a:p>
        </p:txBody>
      </p:sp>
      <p:sp>
        <p:nvSpPr>
          <p:cNvPr id="12" name="TextBox 11"/>
          <p:cNvSpPr txBox="1"/>
          <p:nvPr/>
        </p:nvSpPr>
        <p:spPr>
          <a:xfrm>
            <a:off x="365760" y="6446520"/>
            <a:ext cx="6858000" cy="320040"/>
          </a:xfrm>
          <a:prstGeom prst="rect">
            <a:avLst/>
          </a:prstGeom>
          <a:noFill/>
        </p:spPr>
        <p:txBody>
          <a:bodyPr wrap="square" anchor="t">
            <a:spAutoFit/>
          </a:bodyPr>
          <a:lstStyle/>
          <a:p>
            <a:pPr algn="l">
              <a:spcAft>
                <a:spcPts val="400"/>
              </a:spcAft>
            </a:pPr>
            <a:r>
              <a:rPr sz="900" b="0">
                <a:solidFill>
                  <a:srgbClr val="5B6372"/>
                </a:solidFill>
                <a:latin typeface="Arial"/>
              </a:rPr>
              <a:t>Securing the Future with Quantum Computing and Cryptography  ·  TGS-2024043419</a:t>
            </a:r>
          </a:p>
        </p:txBody>
      </p:sp>
      <p:sp>
        <p:nvSpPr>
          <p:cNvPr id="13" name="TextBox 12"/>
          <p:cNvSpPr txBox="1"/>
          <p:nvPr/>
        </p:nvSpPr>
        <p:spPr>
          <a:xfrm>
            <a:off x="4572000" y="6446520"/>
            <a:ext cx="3017520" cy="320040"/>
          </a:xfrm>
          <a:prstGeom prst="rect">
            <a:avLst/>
          </a:prstGeom>
          <a:noFill/>
        </p:spPr>
        <p:txBody>
          <a:bodyPr wrap="square" anchor="t">
            <a:spAutoFit/>
          </a:bodyPr>
          <a:lstStyle/>
          <a:p>
            <a:pPr algn="ctr">
              <a:spcAft>
                <a:spcPts val="400"/>
              </a:spcAft>
            </a:pPr>
            <a:r>
              <a:rPr sz="900" b="0">
                <a:solidFill>
                  <a:srgbClr val="5B6372"/>
                </a:solidFill>
                <a:latin typeface="Arial"/>
              </a:rPr>
              <a:t>© 2026 Tertiary Infotech Academy Pte Ltd</a:t>
            </a:r>
          </a:p>
        </p:txBody>
      </p:sp>
      <p:sp>
        <p:nvSpPr>
          <p:cNvPr id="14" name="TextBox 13"/>
          <p:cNvSpPr txBox="1"/>
          <p:nvPr/>
        </p:nvSpPr>
        <p:spPr>
          <a:xfrm>
            <a:off x="11338560" y="6446520"/>
            <a:ext cx="548640" cy="320040"/>
          </a:xfrm>
          <a:prstGeom prst="rect">
            <a:avLst/>
          </a:prstGeom>
          <a:noFill/>
        </p:spPr>
        <p:txBody>
          <a:bodyPr wrap="square" anchor="t">
            <a:spAutoFit/>
          </a:bodyPr>
          <a:lstStyle/>
          <a:p>
            <a:pPr algn="r">
              <a:spcAft>
                <a:spcPts val="400"/>
              </a:spcAft>
            </a:pPr>
            <a:r>
              <a:rPr sz="900" b="0">
                <a:solidFill>
                  <a:srgbClr val="5B6372"/>
                </a:solidFill>
                <a:latin typeface="Arial"/>
              </a:rPr>
              <a:t>158</a:t>
            </a:r>
          </a:p>
        </p:txBody>
      </p:sp>
    </p:spTree>
  </p:cSld>
  <p:clrMapOvr>
    <a:masterClrMapping/>
  </p:clrMapOvr>
</p:sld>
</file>

<file path=ppt/slides/slide160.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256032" cy="1417320"/>
          </a:xfrm>
          <a:prstGeom prst="rect">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777240" y="457200"/>
            <a:ext cx="10607040" cy="365760"/>
          </a:xfrm>
          <a:prstGeom prst="rect">
            <a:avLst/>
          </a:prstGeom>
          <a:noFill/>
        </p:spPr>
        <p:txBody>
          <a:bodyPr wrap="square" anchor="t">
            <a:spAutoFit/>
          </a:bodyPr>
          <a:lstStyle/>
          <a:p>
            <a:pPr algn="l">
              <a:spcAft>
                <a:spcPts val="400"/>
              </a:spcAft>
            </a:pPr>
            <a:r>
              <a:rPr sz="1400" b="1">
                <a:solidFill>
                  <a:srgbClr val="10B981"/>
                </a:solidFill>
                <a:latin typeface="Arial"/>
              </a:rPr>
              <a:t>QED</a:t>
            </a:r>
          </a:p>
        </p:txBody>
      </p:sp>
      <p:sp>
        <p:nvSpPr>
          <p:cNvPr id="5" name="TextBox 4"/>
          <p:cNvSpPr txBox="1"/>
          <p:nvPr/>
        </p:nvSpPr>
        <p:spPr>
          <a:xfrm>
            <a:off x="777240" y="822960"/>
            <a:ext cx="10881360" cy="822960"/>
          </a:xfrm>
          <a:prstGeom prst="rect">
            <a:avLst/>
          </a:prstGeom>
          <a:noFill/>
        </p:spPr>
        <p:txBody>
          <a:bodyPr wrap="square" anchor="t">
            <a:spAutoFit/>
          </a:bodyPr>
          <a:lstStyle/>
          <a:p>
            <a:pPr algn="l">
              <a:spcAft>
                <a:spcPts val="400"/>
              </a:spcAft>
            </a:pPr>
            <a:r>
              <a:rPr sz="2900" b="1">
                <a:solidFill>
                  <a:srgbClr val="161B26"/>
                </a:solidFill>
                <a:latin typeface="Arial"/>
              </a:rPr>
              <a:t>Deutsch-Jozsa (n qubits) — Result</a:t>
            </a:r>
          </a:p>
        </p:txBody>
      </p:sp>
      <p:sp>
        <p:nvSpPr>
          <p:cNvPr id="6" name="Rectangle 5"/>
          <p:cNvSpPr/>
          <p:nvPr/>
        </p:nvSpPr>
        <p:spPr>
          <a:xfrm>
            <a:off x="777240" y="1554480"/>
            <a:ext cx="10634472" cy="18288"/>
          </a:xfrm>
          <a:prstGeom prst="rect">
            <a:avLst/>
          </a:prstGeom>
          <a:solidFill>
            <a:srgbClr val="E2E8F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Rectangle 6"/>
          <p:cNvSpPr/>
          <p:nvPr/>
        </p:nvSpPr>
        <p:spPr>
          <a:xfrm>
            <a:off x="777240" y="1783080"/>
            <a:ext cx="10634472" cy="1828800"/>
          </a:xfrm>
          <a:prstGeom prst="rect">
            <a:avLst/>
          </a:prstGeom>
          <a:solidFill>
            <a:srgbClr val="E8F7E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Rectangle 7"/>
          <p:cNvSpPr/>
          <p:nvPr/>
        </p:nvSpPr>
        <p:spPr>
          <a:xfrm>
            <a:off x="777240" y="1783080"/>
            <a:ext cx="100584" cy="1828800"/>
          </a:xfrm>
          <a:prstGeom prst="rect">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TextBox 8"/>
          <p:cNvSpPr txBox="1"/>
          <p:nvPr/>
        </p:nvSpPr>
        <p:spPr>
          <a:xfrm>
            <a:off x="1143000" y="1965960"/>
            <a:ext cx="10058400" cy="365760"/>
          </a:xfrm>
          <a:prstGeom prst="rect">
            <a:avLst/>
          </a:prstGeom>
          <a:noFill/>
        </p:spPr>
        <p:txBody>
          <a:bodyPr wrap="square" anchor="t">
            <a:spAutoFit/>
          </a:bodyPr>
          <a:lstStyle/>
          <a:p>
            <a:pPr algn="l">
              <a:spcAft>
                <a:spcPts val="400"/>
              </a:spcAft>
            </a:pPr>
            <a:r>
              <a:rPr sz="1200" b="1">
                <a:solidFill>
                  <a:srgbClr val="127A3E"/>
                </a:solidFill>
                <a:latin typeface="Arial"/>
              </a:rPr>
              <a:t>RESULT</a:t>
            </a:r>
          </a:p>
        </p:txBody>
      </p:sp>
      <p:sp>
        <p:nvSpPr>
          <p:cNvPr id="10" name="TextBox 9"/>
          <p:cNvSpPr txBox="1"/>
          <p:nvPr/>
        </p:nvSpPr>
        <p:spPr>
          <a:xfrm>
            <a:off x="1143000" y="2377440"/>
            <a:ext cx="10058400" cy="1143000"/>
          </a:xfrm>
          <a:prstGeom prst="rect">
            <a:avLst/>
          </a:prstGeom>
          <a:noFill/>
        </p:spPr>
        <p:txBody>
          <a:bodyPr wrap="square" anchor="t">
            <a:spAutoFit/>
          </a:bodyPr>
          <a:lstStyle/>
          <a:p>
            <a:pPr algn="l">
              <a:spcAft>
                <a:spcPts val="400"/>
              </a:spcAft>
            </a:pPr>
            <a:r>
              <a:rPr sz="1550" b="1">
                <a:solidFill>
                  <a:srgbClr val="161B26"/>
                </a:solidFill>
                <a:latin typeface="Arial"/>
              </a:rPr>
              <a:t>An all-zeros measurement proves f is constant; any other outcome proves f is balanced. One query, with certainty.</a:t>
            </a:r>
          </a:p>
        </p:txBody>
      </p:sp>
      <p:sp>
        <p:nvSpPr>
          <p:cNvPr id="11" name="Rectangle 10"/>
          <p:cNvSpPr/>
          <p:nvPr/>
        </p:nvSpPr>
        <p:spPr>
          <a:xfrm>
            <a:off x="777240" y="3840480"/>
            <a:ext cx="10634472" cy="2148840"/>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 name="Rectangle 11"/>
          <p:cNvSpPr/>
          <p:nvPr/>
        </p:nvSpPr>
        <p:spPr>
          <a:xfrm>
            <a:off x="777240" y="3840480"/>
            <a:ext cx="100584" cy="2148840"/>
          </a:xfrm>
          <a:prstGeom prst="rect">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 name="TextBox 12"/>
          <p:cNvSpPr txBox="1"/>
          <p:nvPr/>
        </p:nvSpPr>
        <p:spPr>
          <a:xfrm>
            <a:off x="1143000" y="4023360"/>
            <a:ext cx="10058400" cy="365760"/>
          </a:xfrm>
          <a:prstGeom prst="rect">
            <a:avLst/>
          </a:prstGeom>
          <a:noFill/>
        </p:spPr>
        <p:txBody>
          <a:bodyPr wrap="square" anchor="t">
            <a:spAutoFit/>
          </a:bodyPr>
          <a:lstStyle/>
          <a:p>
            <a:pPr algn="l">
              <a:spcAft>
                <a:spcPts val="400"/>
              </a:spcAft>
            </a:pPr>
            <a:r>
              <a:rPr sz="1200" b="1">
                <a:solidFill>
                  <a:srgbClr val="1F6FEB"/>
                </a:solidFill>
                <a:latin typeface="Arial"/>
              </a:rPr>
              <a:t>WHY IT MATTERS</a:t>
            </a:r>
          </a:p>
        </p:txBody>
      </p:sp>
      <p:sp>
        <p:nvSpPr>
          <p:cNvPr id="14" name="TextBox 13"/>
          <p:cNvSpPr txBox="1"/>
          <p:nvPr/>
        </p:nvSpPr>
        <p:spPr>
          <a:xfrm>
            <a:off x="1143000" y="4434840"/>
            <a:ext cx="10058400" cy="1463040"/>
          </a:xfrm>
          <a:prstGeom prst="rect">
            <a:avLst/>
          </a:prstGeom>
          <a:noFill/>
        </p:spPr>
        <p:txBody>
          <a:bodyPr wrap="square" anchor="t">
            <a:spAutoFit/>
          </a:bodyPr>
          <a:lstStyle/>
          <a:p>
            <a:pPr algn="l">
              <a:spcAft>
                <a:spcPts val="400"/>
              </a:spcAft>
            </a:pPr>
            <a:r>
              <a:rPr sz="1450" b="0">
                <a:solidFill>
                  <a:srgbClr val="161B26"/>
                </a:solidFill>
                <a:latin typeface="Arial"/>
              </a:rPr>
              <a:t>Deutsch-Jozsa gives the first EXPONENTIAL separation between quantum and classical query complexity. The pattern — superpose, kick back the phase, interfere — is the skeleton of Bernstein-Vazirani, Simon and ultimately Shor.</a:t>
            </a:r>
          </a:p>
        </p:txBody>
      </p:sp>
      <p:sp>
        <p:nvSpPr>
          <p:cNvPr id="15" name="TextBox 14"/>
          <p:cNvSpPr txBox="1"/>
          <p:nvPr/>
        </p:nvSpPr>
        <p:spPr>
          <a:xfrm>
            <a:off x="365760" y="6446520"/>
            <a:ext cx="6858000" cy="320040"/>
          </a:xfrm>
          <a:prstGeom prst="rect">
            <a:avLst/>
          </a:prstGeom>
          <a:noFill/>
        </p:spPr>
        <p:txBody>
          <a:bodyPr wrap="square" anchor="t">
            <a:spAutoFit/>
          </a:bodyPr>
          <a:lstStyle/>
          <a:p>
            <a:pPr algn="l">
              <a:spcAft>
                <a:spcPts val="400"/>
              </a:spcAft>
            </a:pPr>
            <a:r>
              <a:rPr sz="900" b="0">
                <a:solidFill>
                  <a:srgbClr val="5B6372"/>
                </a:solidFill>
                <a:latin typeface="Arial"/>
              </a:rPr>
              <a:t>Securing the Future with Quantum Computing and Cryptography  ·  TGS-2024043419</a:t>
            </a:r>
          </a:p>
        </p:txBody>
      </p:sp>
      <p:sp>
        <p:nvSpPr>
          <p:cNvPr id="16" name="TextBox 15"/>
          <p:cNvSpPr txBox="1"/>
          <p:nvPr/>
        </p:nvSpPr>
        <p:spPr>
          <a:xfrm>
            <a:off x="4572000" y="6446520"/>
            <a:ext cx="3017520" cy="320040"/>
          </a:xfrm>
          <a:prstGeom prst="rect">
            <a:avLst/>
          </a:prstGeom>
          <a:noFill/>
        </p:spPr>
        <p:txBody>
          <a:bodyPr wrap="square" anchor="t">
            <a:spAutoFit/>
          </a:bodyPr>
          <a:lstStyle/>
          <a:p>
            <a:pPr algn="ctr">
              <a:spcAft>
                <a:spcPts val="400"/>
              </a:spcAft>
            </a:pPr>
            <a:r>
              <a:rPr sz="900" b="0">
                <a:solidFill>
                  <a:srgbClr val="5B6372"/>
                </a:solidFill>
                <a:latin typeface="Arial"/>
              </a:rPr>
              <a:t>© 2026 Tertiary Infotech Academy Pte Ltd</a:t>
            </a:r>
          </a:p>
        </p:txBody>
      </p:sp>
      <p:sp>
        <p:nvSpPr>
          <p:cNvPr id="17" name="TextBox 16"/>
          <p:cNvSpPr txBox="1"/>
          <p:nvPr/>
        </p:nvSpPr>
        <p:spPr>
          <a:xfrm>
            <a:off x="11338560" y="6446520"/>
            <a:ext cx="548640" cy="320040"/>
          </a:xfrm>
          <a:prstGeom prst="rect">
            <a:avLst/>
          </a:prstGeom>
          <a:noFill/>
        </p:spPr>
        <p:txBody>
          <a:bodyPr wrap="square" anchor="t">
            <a:spAutoFit/>
          </a:bodyPr>
          <a:lstStyle/>
          <a:p>
            <a:pPr algn="r">
              <a:spcAft>
                <a:spcPts val="400"/>
              </a:spcAft>
            </a:pPr>
            <a:r>
              <a:rPr sz="900" b="0">
                <a:solidFill>
                  <a:srgbClr val="5B6372"/>
                </a:solidFill>
                <a:latin typeface="Arial"/>
              </a:rPr>
              <a:t>159</a:t>
            </a:r>
          </a:p>
        </p:txBody>
      </p:sp>
    </p:spTree>
  </p:cSld>
  <p:clrMapOvr>
    <a:masterClrMapping/>
  </p:clrMapOvr>
</p:sld>
</file>

<file path=ppt/slides/slide161.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256032" cy="1417320"/>
          </a:xfrm>
          <a:prstGeom prst="rect">
            <a:avLst/>
          </a:prstGeom>
          <a:solidFill>
            <a:srgbClr val="7C3AE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777240" y="457200"/>
            <a:ext cx="10607040" cy="365760"/>
          </a:xfrm>
          <a:prstGeom prst="rect">
            <a:avLst/>
          </a:prstGeom>
          <a:noFill/>
        </p:spPr>
        <p:txBody>
          <a:bodyPr wrap="square" anchor="t">
            <a:spAutoFit/>
          </a:bodyPr>
          <a:lstStyle/>
          <a:p>
            <a:pPr algn="l">
              <a:spcAft>
                <a:spcPts val="400"/>
              </a:spcAft>
            </a:pPr>
            <a:r>
              <a:rPr sz="1400" b="1">
                <a:solidFill>
                  <a:srgbClr val="7C3AED"/>
                </a:solidFill>
                <a:latin typeface="Arial"/>
              </a:rPr>
              <a:t>DERIVATION</a:t>
            </a:r>
          </a:p>
        </p:txBody>
      </p:sp>
      <p:sp>
        <p:nvSpPr>
          <p:cNvPr id="5" name="TextBox 4"/>
          <p:cNvSpPr txBox="1"/>
          <p:nvPr/>
        </p:nvSpPr>
        <p:spPr>
          <a:xfrm>
            <a:off x="777240" y="822960"/>
            <a:ext cx="10881360" cy="822960"/>
          </a:xfrm>
          <a:prstGeom prst="rect">
            <a:avLst/>
          </a:prstGeom>
          <a:noFill/>
        </p:spPr>
        <p:txBody>
          <a:bodyPr wrap="square" anchor="t">
            <a:spAutoFit/>
          </a:bodyPr>
          <a:lstStyle/>
          <a:p>
            <a:pPr algn="l">
              <a:spcAft>
                <a:spcPts val="400"/>
              </a:spcAft>
            </a:pPr>
            <a:r>
              <a:rPr sz="2900" b="1">
                <a:solidFill>
                  <a:srgbClr val="161B26"/>
                </a:solidFill>
                <a:latin typeface="Arial"/>
              </a:rPr>
              <a:t>Proof — Grover's Algorithm and the √N Speedup</a:t>
            </a:r>
          </a:p>
        </p:txBody>
      </p:sp>
      <p:sp>
        <p:nvSpPr>
          <p:cNvPr id="6" name="Rectangle 5"/>
          <p:cNvSpPr/>
          <p:nvPr/>
        </p:nvSpPr>
        <p:spPr>
          <a:xfrm>
            <a:off x="777240" y="1554480"/>
            <a:ext cx="10634472" cy="18288"/>
          </a:xfrm>
          <a:prstGeom prst="rect">
            <a:avLst/>
          </a:prstGeom>
          <a:solidFill>
            <a:srgbClr val="E2E8F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Rectangle 6"/>
          <p:cNvSpPr/>
          <p:nvPr/>
        </p:nvSpPr>
        <p:spPr>
          <a:xfrm>
            <a:off x="777240" y="1783080"/>
            <a:ext cx="10634472" cy="1371600"/>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Rectangle 7"/>
          <p:cNvSpPr/>
          <p:nvPr/>
        </p:nvSpPr>
        <p:spPr>
          <a:xfrm>
            <a:off x="777240" y="1783080"/>
            <a:ext cx="100584" cy="1371600"/>
          </a:xfrm>
          <a:prstGeom prst="rect">
            <a:avLst/>
          </a:prstGeom>
          <a:solidFill>
            <a:srgbClr val="7C3AE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TextBox 8"/>
          <p:cNvSpPr txBox="1"/>
          <p:nvPr/>
        </p:nvSpPr>
        <p:spPr>
          <a:xfrm>
            <a:off x="1143000" y="1938528"/>
            <a:ext cx="10058400" cy="365760"/>
          </a:xfrm>
          <a:prstGeom prst="rect">
            <a:avLst/>
          </a:prstGeom>
          <a:noFill/>
        </p:spPr>
        <p:txBody>
          <a:bodyPr wrap="square" anchor="t">
            <a:spAutoFit/>
          </a:bodyPr>
          <a:lstStyle/>
          <a:p>
            <a:pPr algn="l">
              <a:spcAft>
                <a:spcPts val="400"/>
              </a:spcAft>
            </a:pPr>
            <a:r>
              <a:rPr sz="1200" b="1">
                <a:solidFill>
                  <a:srgbClr val="7C3AED"/>
                </a:solidFill>
                <a:latin typeface="Arial"/>
              </a:rPr>
              <a:t>CLAIM</a:t>
            </a:r>
          </a:p>
        </p:txBody>
      </p:sp>
      <p:sp>
        <p:nvSpPr>
          <p:cNvPr id="10" name="TextBox 9"/>
          <p:cNvSpPr txBox="1"/>
          <p:nvPr/>
        </p:nvSpPr>
        <p:spPr>
          <a:xfrm>
            <a:off x="1143000" y="2304288"/>
            <a:ext cx="10058400" cy="777240"/>
          </a:xfrm>
          <a:prstGeom prst="rect">
            <a:avLst/>
          </a:prstGeom>
          <a:noFill/>
        </p:spPr>
        <p:txBody>
          <a:bodyPr wrap="square" anchor="t">
            <a:spAutoFit/>
          </a:bodyPr>
          <a:lstStyle/>
          <a:p>
            <a:pPr algn="l">
              <a:spcAft>
                <a:spcPts val="400"/>
              </a:spcAft>
            </a:pPr>
            <a:r>
              <a:rPr sz="1550" b="1">
                <a:solidFill>
                  <a:srgbClr val="161B26"/>
                </a:solidFill>
                <a:latin typeface="Arial"/>
              </a:rPr>
              <a:t>Grover finds a marked item among N in O(√N) queries, and (π/4)√N iterations is optimal.</a:t>
            </a:r>
          </a:p>
        </p:txBody>
      </p:sp>
      <p:sp>
        <p:nvSpPr>
          <p:cNvPr id="11" name="TextBox 10"/>
          <p:cNvSpPr txBox="1"/>
          <p:nvPr/>
        </p:nvSpPr>
        <p:spPr>
          <a:xfrm>
            <a:off x="777240" y="3364992"/>
            <a:ext cx="10607040" cy="365760"/>
          </a:xfrm>
          <a:prstGeom prst="rect">
            <a:avLst/>
          </a:prstGeom>
          <a:noFill/>
        </p:spPr>
        <p:txBody>
          <a:bodyPr wrap="square" anchor="t">
            <a:spAutoFit/>
          </a:bodyPr>
          <a:lstStyle/>
          <a:p>
            <a:pPr algn="l">
              <a:spcAft>
                <a:spcPts val="400"/>
              </a:spcAft>
            </a:pPr>
            <a:r>
              <a:rPr sz="1200" b="1">
                <a:solidFill>
                  <a:srgbClr val="1F6FEB"/>
                </a:solidFill>
                <a:latin typeface="Arial"/>
              </a:rPr>
              <a:t>GIVEN</a:t>
            </a:r>
          </a:p>
        </p:txBody>
      </p:sp>
      <p:sp>
        <p:nvSpPr>
          <p:cNvPr id="12" name="Rectangle 11"/>
          <p:cNvSpPr/>
          <p:nvPr/>
        </p:nvSpPr>
        <p:spPr>
          <a:xfrm>
            <a:off x="777240" y="3730752"/>
            <a:ext cx="10634472" cy="783336"/>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 name="Rectangle 12"/>
          <p:cNvSpPr/>
          <p:nvPr/>
        </p:nvSpPr>
        <p:spPr>
          <a:xfrm>
            <a:off x="777240" y="3730752"/>
            <a:ext cx="82296" cy="783336"/>
          </a:xfrm>
          <a:prstGeom prst="rect">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 name="TextBox 13"/>
          <p:cNvSpPr txBox="1"/>
          <p:nvPr/>
        </p:nvSpPr>
        <p:spPr>
          <a:xfrm>
            <a:off x="1097280" y="3730752"/>
            <a:ext cx="10149840" cy="783336"/>
          </a:xfrm>
          <a:prstGeom prst="rect">
            <a:avLst/>
          </a:prstGeom>
          <a:noFill/>
        </p:spPr>
        <p:txBody>
          <a:bodyPr wrap="square" anchor="ctr">
            <a:spAutoFit/>
          </a:bodyPr>
          <a:lstStyle/>
          <a:p>
            <a:pPr algn="l">
              <a:spcAft>
                <a:spcPts val="400"/>
              </a:spcAft>
            </a:pPr>
            <a:r>
              <a:rPr sz="1300" b="0">
                <a:solidFill>
                  <a:srgbClr val="161B26"/>
                </a:solidFill>
                <a:latin typeface="Arial"/>
              </a:rPr>
              <a:t>Search space of N = 2ⁿ items with exactly one marked item |w&gt;.</a:t>
            </a:r>
          </a:p>
        </p:txBody>
      </p:sp>
      <p:sp>
        <p:nvSpPr>
          <p:cNvPr id="15" name="Rectangle 14"/>
          <p:cNvSpPr/>
          <p:nvPr/>
        </p:nvSpPr>
        <p:spPr>
          <a:xfrm>
            <a:off x="777240" y="4642104"/>
            <a:ext cx="10634472" cy="783336"/>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6" name="Rectangle 15"/>
          <p:cNvSpPr/>
          <p:nvPr/>
        </p:nvSpPr>
        <p:spPr>
          <a:xfrm>
            <a:off x="777240" y="4642104"/>
            <a:ext cx="82296" cy="783336"/>
          </a:xfrm>
          <a:prstGeom prst="rect">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7" name="TextBox 16"/>
          <p:cNvSpPr txBox="1"/>
          <p:nvPr/>
        </p:nvSpPr>
        <p:spPr>
          <a:xfrm>
            <a:off x="1097280" y="4642104"/>
            <a:ext cx="10149840" cy="783336"/>
          </a:xfrm>
          <a:prstGeom prst="rect">
            <a:avLst/>
          </a:prstGeom>
          <a:noFill/>
        </p:spPr>
        <p:txBody>
          <a:bodyPr wrap="square" anchor="ctr">
            <a:spAutoFit/>
          </a:bodyPr>
          <a:lstStyle/>
          <a:p>
            <a:pPr algn="l">
              <a:spcAft>
                <a:spcPts val="400"/>
              </a:spcAft>
            </a:pPr>
            <a:r>
              <a:rPr sz="1300" b="0">
                <a:solidFill>
                  <a:srgbClr val="161B26"/>
                </a:solidFill>
                <a:latin typeface="Arial"/>
              </a:rPr>
              <a:t>Oracle:  O|x&gt; = -|x&gt; if x = w, else O|x&gt; = |x&gt;   (a phase oracle).</a:t>
            </a:r>
          </a:p>
        </p:txBody>
      </p:sp>
      <p:sp>
        <p:nvSpPr>
          <p:cNvPr id="18" name="Rectangle 17"/>
          <p:cNvSpPr/>
          <p:nvPr/>
        </p:nvSpPr>
        <p:spPr>
          <a:xfrm>
            <a:off x="777240" y="5553456"/>
            <a:ext cx="10634472" cy="783336"/>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9" name="Rectangle 18"/>
          <p:cNvSpPr/>
          <p:nvPr/>
        </p:nvSpPr>
        <p:spPr>
          <a:xfrm>
            <a:off x="777240" y="5553456"/>
            <a:ext cx="82296" cy="783336"/>
          </a:xfrm>
          <a:prstGeom prst="rect">
            <a:avLst/>
          </a:prstGeom>
          <a:solidFill>
            <a:srgbClr val="7C3AE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0" name="TextBox 19"/>
          <p:cNvSpPr txBox="1"/>
          <p:nvPr/>
        </p:nvSpPr>
        <p:spPr>
          <a:xfrm>
            <a:off x="1097280" y="5553456"/>
            <a:ext cx="10149840" cy="783336"/>
          </a:xfrm>
          <a:prstGeom prst="rect">
            <a:avLst/>
          </a:prstGeom>
          <a:noFill/>
        </p:spPr>
        <p:txBody>
          <a:bodyPr wrap="square" anchor="ctr">
            <a:spAutoFit/>
          </a:bodyPr>
          <a:lstStyle/>
          <a:p>
            <a:pPr algn="l">
              <a:spcAft>
                <a:spcPts val="400"/>
              </a:spcAft>
            </a:pPr>
            <a:r>
              <a:rPr sz="1300" b="0">
                <a:solidFill>
                  <a:srgbClr val="161B26"/>
                </a:solidFill>
                <a:latin typeface="Arial"/>
              </a:rPr>
              <a:t>Classical search needs O(N) queries — on average N/2.</a:t>
            </a:r>
          </a:p>
        </p:txBody>
      </p:sp>
      <p:sp>
        <p:nvSpPr>
          <p:cNvPr id="21" name="TextBox 20"/>
          <p:cNvSpPr txBox="1"/>
          <p:nvPr/>
        </p:nvSpPr>
        <p:spPr>
          <a:xfrm>
            <a:off x="365760" y="6446520"/>
            <a:ext cx="6858000" cy="320040"/>
          </a:xfrm>
          <a:prstGeom prst="rect">
            <a:avLst/>
          </a:prstGeom>
          <a:noFill/>
        </p:spPr>
        <p:txBody>
          <a:bodyPr wrap="square" anchor="t">
            <a:spAutoFit/>
          </a:bodyPr>
          <a:lstStyle/>
          <a:p>
            <a:pPr algn="l">
              <a:spcAft>
                <a:spcPts val="400"/>
              </a:spcAft>
            </a:pPr>
            <a:r>
              <a:rPr sz="900" b="0">
                <a:solidFill>
                  <a:srgbClr val="5B6372"/>
                </a:solidFill>
                <a:latin typeface="Arial"/>
              </a:rPr>
              <a:t>Securing the Future with Quantum Computing and Cryptography  ·  TGS-2024043419</a:t>
            </a:r>
          </a:p>
        </p:txBody>
      </p:sp>
      <p:sp>
        <p:nvSpPr>
          <p:cNvPr id="22" name="TextBox 21"/>
          <p:cNvSpPr txBox="1"/>
          <p:nvPr/>
        </p:nvSpPr>
        <p:spPr>
          <a:xfrm>
            <a:off x="4572000" y="6446520"/>
            <a:ext cx="3017520" cy="320040"/>
          </a:xfrm>
          <a:prstGeom prst="rect">
            <a:avLst/>
          </a:prstGeom>
          <a:noFill/>
        </p:spPr>
        <p:txBody>
          <a:bodyPr wrap="square" anchor="t">
            <a:spAutoFit/>
          </a:bodyPr>
          <a:lstStyle/>
          <a:p>
            <a:pPr algn="ctr">
              <a:spcAft>
                <a:spcPts val="400"/>
              </a:spcAft>
            </a:pPr>
            <a:r>
              <a:rPr sz="900" b="0">
                <a:solidFill>
                  <a:srgbClr val="5B6372"/>
                </a:solidFill>
                <a:latin typeface="Arial"/>
              </a:rPr>
              <a:t>© 2026 Tertiary Infotech Academy Pte Ltd</a:t>
            </a:r>
          </a:p>
        </p:txBody>
      </p:sp>
      <p:sp>
        <p:nvSpPr>
          <p:cNvPr id="23" name="TextBox 22"/>
          <p:cNvSpPr txBox="1"/>
          <p:nvPr/>
        </p:nvSpPr>
        <p:spPr>
          <a:xfrm>
            <a:off x="11338560" y="6446520"/>
            <a:ext cx="548640" cy="320040"/>
          </a:xfrm>
          <a:prstGeom prst="rect">
            <a:avLst/>
          </a:prstGeom>
          <a:noFill/>
        </p:spPr>
        <p:txBody>
          <a:bodyPr wrap="square" anchor="t">
            <a:spAutoFit/>
          </a:bodyPr>
          <a:lstStyle/>
          <a:p>
            <a:pPr algn="r">
              <a:spcAft>
                <a:spcPts val="400"/>
              </a:spcAft>
            </a:pPr>
            <a:r>
              <a:rPr sz="900" b="0">
                <a:solidFill>
                  <a:srgbClr val="5B6372"/>
                </a:solidFill>
                <a:latin typeface="Arial"/>
              </a:rPr>
              <a:t>160</a:t>
            </a:r>
          </a:p>
        </p:txBody>
      </p:sp>
    </p:spTree>
  </p:cSld>
  <p:clrMapOvr>
    <a:masterClrMapping/>
  </p:clrMapOvr>
</p:sld>
</file>

<file path=ppt/slides/slide162.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256032" cy="1417320"/>
          </a:xfrm>
          <a:prstGeom prst="rect">
            <a:avLst/>
          </a:prstGeom>
          <a:solidFill>
            <a:srgbClr val="7C3AE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777240" y="457200"/>
            <a:ext cx="10607040" cy="365760"/>
          </a:xfrm>
          <a:prstGeom prst="rect">
            <a:avLst/>
          </a:prstGeom>
          <a:noFill/>
        </p:spPr>
        <p:txBody>
          <a:bodyPr wrap="square" anchor="t">
            <a:spAutoFit/>
          </a:bodyPr>
          <a:lstStyle/>
          <a:p>
            <a:pPr algn="l">
              <a:spcAft>
                <a:spcPts val="400"/>
              </a:spcAft>
            </a:pPr>
            <a:r>
              <a:rPr sz="1400" b="1">
                <a:solidFill>
                  <a:srgbClr val="7C3AED"/>
                </a:solidFill>
                <a:latin typeface="Arial"/>
              </a:rPr>
              <a:t>GROVER'S ALGORITHM AND THE √N SPEEDUP  ·  STEP 1 OF 7</a:t>
            </a:r>
          </a:p>
        </p:txBody>
      </p:sp>
      <p:sp>
        <p:nvSpPr>
          <p:cNvPr id="5" name="TextBox 4"/>
          <p:cNvSpPr txBox="1"/>
          <p:nvPr/>
        </p:nvSpPr>
        <p:spPr>
          <a:xfrm>
            <a:off x="777240" y="822960"/>
            <a:ext cx="10881360" cy="822960"/>
          </a:xfrm>
          <a:prstGeom prst="rect">
            <a:avLst/>
          </a:prstGeom>
          <a:noFill/>
        </p:spPr>
        <p:txBody>
          <a:bodyPr wrap="square" anchor="t">
            <a:spAutoFit/>
          </a:bodyPr>
          <a:lstStyle/>
          <a:p>
            <a:pPr algn="l">
              <a:spcAft>
                <a:spcPts val="400"/>
              </a:spcAft>
            </a:pPr>
            <a:r>
              <a:rPr sz="2900" b="1">
                <a:solidFill>
                  <a:srgbClr val="161B26"/>
                </a:solidFill>
                <a:latin typeface="Arial"/>
              </a:rPr>
              <a:t>Step 1 — Uniform superposition</a:t>
            </a:r>
          </a:p>
        </p:txBody>
      </p:sp>
      <p:sp>
        <p:nvSpPr>
          <p:cNvPr id="6" name="Rectangle 5"/>
          <p:cNvSpPr/>
          <p:nvPr/>
        </p:nvSpPr>
        <p:spPr>
          <a:xfrm>
            <a:off x="777240" y="1554480"/>
            <a:ext cx="10634472" cy="18288"/>
          </a:xfrm>
          <a:prstGeom prst="rect">
            <a:avLst/>
          </a:prstGeom>
          <a:solidFill>
            <a:srgbClr val="E2E8F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Rectangle 6"/>
          <p:cNvSpPr/>
          <p:nvPr/>
        </p:nvSpPr>
        <p:spPr>
          <a:xfrm>
            <a:off x="777240" y="1810512"/>
            <a:ext cx="10634472" cy="1700784"/>
          </a:xfrm>
          <a:prstGeom prst="rect">
            <a:avLst/>
          </a:prstGeom>
          <a:solidFill>
            <a:srgbClr val="0B122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TextBox 7"/>
          <p:cNvSpPr txBox="1"/>
          <p:nvPr/>
        </p:nvSpPr>
        <p:spPr>
          <a:xfrm>
            <a:off x="1097280" y="1956816"/>
            <a:ext cx="9994392" cy="1408176"/>
          </a:xfrm>
          <a:prstGeom prst="rect">
            <a:avLst/>
          </a:prstGeom>
          <a:noFill/>
        </p:spPr>
        <p:txBody>
          <a:bodyPr wrap="square" anchor="t">
            <a:spAutoFit/>
          </a:bodyPr>
          <a:lstStyle/>
          <a:p>
            <a:pPr algn="l">
              <a:spcAft>
                <a:spcPts val="300"/>
              </a:spcAft>
            </a:pPr>
            <a:r>
              <a:rPr sz="1550" b="0">
                <a:solidFill>
                  <a:srgbClr val="9CDCFE"/>
                </a:solidFill>
                <a:latin typeface="Arial"/>
              </a:rPr>
              <a:t>   |s&gt;  =  Hⁿ|0&gt;ⁿ  =  (1/√N) Σ_x |x&gt;</a:t>
            </a:r>
          </a:p>
          <a:p>
            <a:pPr algn="l">
              <a:spcAft>
                <a:spcPts val="300"/>
              </a:spcAft>
            </a:pPr>
            <a:r>
              <a:rPr sz="1550" b="0">
                <a:solidFill>
                  <a:srgbClr val="0B1220"/>
                </a:solidFill>
                <a:latin typeface="Arial"/>
              </a:rPr>
              <a:t> </a:t>
            </a:r>
          </a:p>
          <a:p>
            <a:pPr algn="l">
              <a:spcAft>
                <a:spcPts val="300"/>
              </a:spcAft>
            </a:pPr>
            <a:r>
              <a:rPr sz="1550" b="0">
                <a:solidFill>
                  <a:srgbClr val="9CDCFE"/>
                </a:solidFill>
                <a:latin typeface="Arial"/>
              </a:rPr>
              <a:t>Overlap with the marked item:   &lt;w|s&gt; = 1/√N</a:t>
            </a:r>
          </a:p>
          <a:p>
            <a:pPr algn="l">
              <a:spcAft>
                <a:spcPts val="300"/>
              </a:spcAft>
            </a:pPr>
            <a:r>
              <a:rPr sz="1550" b="0">
                <a:solidFill>
                  <a:srgbClr val="9CDCFE"/>
                </a:solidFill>
                <a:latin typeface="Arial"/>
              </a:rPr>
              <a:t>So P(measuring w now) = 1/N — no better than a random guess.</a:t>
            </a:r>
          </a:p>
        </p:txBody>
      </p:sp>
      <p:sp>
        <p:nvSpPr>
          <p:cNvPr id="9" name="Rectangle 8"/>
          <p:cNvSpPr/>
          <p:nvPr/>
        </p:nvSpPr>
        <p:spPr>
          <a:xfrm>
            <a:off x="777240" y="3712464"/>
            <a:ext cx="10634472" cy="2340864"/>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Rectangle 9"/>
          <p:cNvSpPr/>
          <p:nvPr/>
        </p:nvSpPr>
        <p:spPr>
          <a:xfrm>
            <a:off x="777240" y="3712464"/>
            <a:ext cx="82296" cy="2340864"/>
          </a:xfrm>
          <a:prstGeom prst="rect">
            <a:avLst/>
          </a:prstGeom>
          <a:solidFill>
            <a:srgbClr val="F59E0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 name="TextBox 10"/>
          <p:cNvSpPr txBox="1"/>
          <p:nvPr/>
        </p:nvSpPr>
        <p:spPr>
          <a:xfrm>
            <a:off x="1097280" y="3712464"/>
            <a:ext cx="10149840" cy="2340864"/>
          </a:xfrm>
          <a:prstGeom prst="rect">
            <a:avLst/>
          </a:prstGeom>
          <a:noFill/>
        </p:spPr>
        <p:txBody>
          <a:bodyPr wrap="square" anchor="ctr">
            <a:spAutoFit/>
          </a:bodyPr>
          <a:lstStyle/>
          <a:p>
            <a:pPr algn="l">
              <a:spcAft>
                <a:spcPts val="400"/>
              </a:spcAft>
            </a:pPr>
            <a:r>
              <a:rPr sz="1150" b="1">
                <a:solidFill>
                  <a:srgbClr val="F59E0B"/>
                </a:solidFill>
                <a:latin typeface="Arial"/>
              </a:rPr>
              <a:t>WHY THIS STEP:  </a:t>
            </a:r>
            <a:r>
              <a:rPr sz="1300" b="0">
                <a:solidFill>
                  <a:srgbClr val="161B26"/>
                </a:solidFill>
                <a:latin typeface="Arial"/>
              </a:rPr>
              <a:t>Superposition alone gives NO advantage. Interference must do the work.</a:t>
            </a:r>
          </a:p>
        </p:txBody>
      </p:sp>
      <p:sp>
        <p:nvSpPr>
          <p:cNvPr id="12" name="TextBox 11"/>
          <p:cNvSpPr txBox="1"/>
          <p:nvPr/>
        </p:nvSpPr>
        <p:spPr>
          <a:xfrm>
            <a:off x="365760" y="6446520"/>
            <a:ext cx="6858000" cy="320040"/>
          </a:xfrm>
          <a:prstGeom prst="rect">
            <a:avLst/>
          </a:prstGeom>
          <a:noFill/>
        </p:spPr>
        <p:txBody>
          <a:bodyPr wrap="square" anchor="t">
            <a:spAutoFit/>
          </a:bodyPr>
          <a:lstStyle/>
          <a:p>
            <a:pPr algn="l">
              <a:spcAft>
                <a:spcPts val="400"/>
              </a:spcAft>
            </a:pPr>
            <a:r>
              <a:rPr sz="900" b="0">
                <a:solidFill>
                  <a:srgbClr val="5B6372"/>
                </a:solidFill>
                <a:latin typeface="Arial"/>
              </a:rPr>
              <a:t>Securing the Future with Quantum Computing and Cryptography  ·  TGS-2024043419</a:t>
            </a:r>
          </a:p>
        </p:txBody>
      </p:sp>
      <p:sp>
        <p:nvSpPr>
          <p:cNvPr id="13" name="TextBox 12"/>
          <p:cNvSpPr txBox="1"/>
          <p:nvPr/>
        </p:nvSpPr>
        <p:spPr>
          <a:xfrm>
            <a:off x="4572000" y="6446520"/>
            <a:ext cx="3017520" cy="320040"/>
          </a:xfrm>
          <a:prstGeom prst="rect">
            <a:avLst/>
          </a:prstGeom>
          <a:noFill/>
        </p:spPr>
        <p:txBody>
          <a:bodyPr wrap="square" anchor="t">
            <a:spAutoFit/>
          </a:bodyPr>
          <a:lstStyle/>
          <a:p>
            <a:pPr algn="ctr">
              <a:spcAft>
                <a:spcPts val="400"/>
              </a:spcAft>
            </a:pPr>
            <a:r>
              <a:rPr sz="900" b="0">
                <a:solidFill>
                  <a:srgbClr val="5B6372"/>
                </a:solidFill>
                <a:latin typeface="Arial"/>
              </a:rPr>
              <a:t>© 2026 Tertiary Infotech Academy Pte Ltd</a:t>
            </a:r>
          </a:p>
        </p:txBody>
      </p:sp>
      <p:sp>
        <p:nvSpPr>
          <p:cNvPr id="14" name="TextBox 13"/>
          <p:cNvSpPr txBox="1"/>
          <p:nvPr/>
        </p:nvSpPr>
        <p:spPr>
          <a:xfrm>
            <a:off x="11338560" y="6446520"/>
            <a:ext cx="548640" cy="320040"/>
          </a:xfrm>
          <a:prstGeom prst="rect">
            <a:avLst/>
          </a:prstGeom>
          <a:noFill/>
        </p:spPr>
        <p:txBody>
          <a:bodyPr wrap="square" anchor="t">
            <a:spAutoFit/>
          </a:bodyPr>
          <a:lstStyle/>
          <a:p>
            <a:pPr algn="r">
              <a:spcAft>
                <a:spcPts val="400"/>
              </a:spcAft>
            </a:pPr>
            <a:r>
              <a:rPr sz="900" b="0">
                <a:solidFill>
                  <a:srgbClr val="5B6372"/>
                </a:solidFill>
                <a:latin typeface="Arial"/>
              </a:rPr>
              <a:t>161</a:t>
            </a:r>
          </a:p>
        </p:txBody>
      </p:sp>
    </p:spTree>
  </p:cSld>
  <p:clrMapOvr>
    <a:masterClrMapping/>
  </p:clrMapOvr>
</p:sld>
</file>

<file path=ppt/slides/slide163.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256032" cy="1417320"/>
          </a:xfrm>
          <a:prstGeom prst="rect">
            <a:avLst/>
          </a:prstGeom>
          <a:solidFill>
            <a:srgbClr val="7C3AE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777240" y="457200"/>
            <a:ext cx="10607040" cy="365760"/>
          </a:xfrm>
          <a:prstGeom prst="rect">
            <a:avLst/>
          </a:prstGeom>
          <a:noFill/>
        </p:spPr>
        <p:txBody>
          <a:bodyPr wrap="square" anchor="t">
            <a:spAutoFit/>
          </a:bodyPr>
          <a:lstStyle/>
          <a:p>
            <a:pPr algn="l">
              <a:spcAft>
                <a:spcPts val="400"/>
              </a:spcAft>
            </a:pPr>
            <a:r>
              <a:rPr sz="1400" b="1">
                <a:solidFill>
                  <a:srgbClr val="7C3AED"/>
                </a:solidFill>
                <a:latin typeface="Arial"/>
              </a:rPr>
              <a:t>GROVER'S ALGORITHM AND THE √N SPEEDUP  ·  STEP 2 OF 7</a:t>
            </a:r>
          </a:p>
        </p:txBody>
      </p:sp>
      <p:sp>
        <p:nvSpPr>
          <p:cNvPr id="5" name="TextBox 4"/>
          <p:cNvSpPr txBox="1"/>
          <p:nvPr/>
        </p:nvSpPr>
        <p:spPr>
          <a:xfrm>
            <a:off x="777240" y="822960"/>
            <a:ext cx="10881360" cy="822960"/>
          </a:xfrm>
          <a:prstGeom prst="rect">
            <a:avLst/>
          </a:prstGeom>
          <a:noFill/>
        </p:spPr>
        <p:txBody>
          <a:bodyPr wrap="square" anchor="t">
            <a:spAutoFit/>
          </a:bodyPr>
          <a:lstStyle/>
          <a:p>
            <a:pPr algn="l">
              <a:spcAft>
                <a:spcPts val="400"/>
              </a:spcAft>
            </a:pPr>
            <a:r>
              <a:rPr sz="2900" b="1">
                <a:solidFill>
                  <a:srgbClr val="161B26"/>
                </a:solidFill>
                <a:latin typeface="Arial"/>
              </a:rPr>
              <a:t>Step 2 — Work in a 2-D plane</a:t>
            </a:r>
          </a:p>
        </p:txBody>
      </p:sp>
      <p:sp>
        <p:nvSpPr>
          <p:cNvPr id="6" name="Rectangle 5"/>
          <p:cNvSpPr/>
          <p:nvPr/>
        </p:nvSpPr>
        <p:spPr>
          <a:xfrm>
            <a:off x="777240" y="1554480"/>
            <a:ext cx="10634472" cy="18288"/>
          </a:xfrm>
          <a:prstGeom prst="rect">
            <a:avLst/>
          </a:prstGeom>
          <a:solidFill>
            <a:srgbClr val="E2E8F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Rectangle 6"/>
          <p:cNvSpPr/>
          <p:nvPr/>
        </p:nvSpPr>
        <p:spPr>
          <a:xfrm>
            <a:off x="777240" y="1810512"/>
            <a:ext cx="10634472" cy="2322576"/>
          </a:xfrm>
          <a:prstGeom prst="rect">
            <a:avLst/>
          </a:prstGeom>
          <a:solidFill>
            <a:srgbClr val="0B122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TextBox 7"/>
          <p:cNvSpPr txBox="1"/>
          <p:nvPr/>
        </p:nvSpPr>
        <p:spPr>
          <a:xfrm>
            <a:off x="1097280" y="1956816"/>
            <a:ext cx="9994392" cy="2029968"/>
          </a:xfrm>
          <a:prstGeom prst="rect">
            <a:avLst/>
          </a:prstGeom>
          <a:noFill/>
        </p:spPr>
        <p:txBody>
          <a:bodyPr wrap="square" anchor="t">
            <a:spAutoFit/>
          </a:bodyPr>
          <a:lstStyle/>
          <a:p>
            <a:pPr algn="l">
              <a:spcAft>
                <a:spcPts val="300"/>
              </a:spcAft>
            </a:pPr>
            <a:r>
              <a:rPr sz="1550" b="0">
                <a:solidFill>
                  <a:srgbClr val="9CDCFE"/>
                </a:solidFill>
                <a:latin typeface="Arial"/>
              </a:rPr>
              <a:t>Define the state orthogonal to the marked item:</a:t>
            </a:r>
          </a:p>
          <a:p>
            <a:pPr algn="l">
              <a:spcAft>
                <a:spcPts val="300"/>
              </a:spcAft>
            </a:pPr>
            <a:r>
              <a:rPr sz="1550" b="0">
                <a:solidFill>
                  <a:srgbClr val="9CDCFE"/>
                </a:solidFill>
                <a:latin typeface="Arial"/>
              </a:rPr>
              <a:t>   |s'&gt;  =  (1/√(N-1)) Σ_(x≠w) |x&gt;</a:t>
            </a:r>
          </a:p>
          <a:p>
            <a:pPr algn="l">
              <a:spcAft>
                <a:spcPts val="300"/>
              </a:spcAft>
            </a:pPr>
            <a:r>
              <a:rPr sz="1550" b="0">
                <a:solidFill>
                  <a:srgbClr val="0B1220"/>
                </a:solidFill>
                <a:latin typeface="Arial"/>
              </a:rPr>
              <a:t> </a:t>
            </a:r>
          </a:p>
          <a:p>
            <a:pPr algn="l">
              <a:spcAft>
                <a:spcPts val="300"/>
              </a:spcAft>
            </a:pPr>
            <a:r>
              <a:rPr sz="1550" b="0">
                <a:solidFill>
                  <a:srgbClr val="9CDCFE"/>
                </a:solidFill>
                <a:latin typeface="Arial"/>
              </a:rPr>
              <a:t>Then  |s&gt; = sin(θ)|w&gt; + cos(θ)|s'&gt;   where  sin(θ) = 1/√N.</a:t>
            </a:r>
          </a:p>
          <a:p>
            <a:pPr algn="l">
              <a:spcAft>
                <a:spcPts val="300"/>
              </a:spcAft>
            </a:pPr>
            <a:r>
              <a:rPr sz="1550" b="0">
                <a:solidFill>
                  <a:srgbClr val="0B1220"/>
                </a:solidFill>
                <a:latin typeface="Arial"/>
              </a:rPr>
              <a:t> </a:t>
            </a:r>
          </a:p>
          <a:p>
            <a:pPr algn="l">
              <a:spcAft>
                <a:spcPts val="300"/>
              </a:spcAft>
            </a:pPr>
            <a:r>
              <a:rPr sz="1550" b="0">
                <a:solidFill>
                  <a:srgbClr val="9CDCFE"/>
                </a:solidFill>
                <a:latin typeface="Arial"/>
              </a:rPr>
              <a:t>Everything that follows stays in the 2-D plane spanned by |w&gt; and |s'&gt;.</a:t>
            </a:r>
          </a:p>
        </p:txBody>
      </p:sp>
      <p:sp>
        <p:nvSpPr>
          <p:cNvPr id="9" name="Rectangle 8"/>
          <p:cNvSpPr/>
          <p:nvPr/>
        </p:nvSpPr>
        <p:spPr>
          <a:xfrm>
            <a:off x="777240" y="4334256"/>
            <a:ext cx="10634472" cy="1719072"/>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Rectangle 9"/>
          <p:cNvSpPr/>
          <p:nvPr/>
        </p:nvSpPr>
        <p:spPr>
          <a:xfrm>
            <a:off x="777240" y="4334256"/>
            <a:ext cx="82296" cy="1719072"/>
          </a:xfrm>
          <a:prstGeom prst="rect">
            <a:avLst/>
          </a:prstGeom>
          <a:solidFill>
            <a:srgbClr val="F59E0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 name="TextBox 10"/>
          <p:cNvSpPr txBox="1"/>
          <p:nvPr/>
        </p:nvSpPr>
        <p:spPr>
          <a:xfrm>
            <a:off x="1097280" y="4334256"/>
            <a:ext cx="10149840" cy="1719072"/>
          </a:xfrm>
          <a:prstGeom prst="rect">
            <a:avLst/>
          </a:prstGeom>
          <a:noFill/>
        </p:spPr>
        <p:txBody>
          <a:bodyPr wrap="square" anchor="ctr">
            <a:spAutoFit/>
          </a:bodyPr>
          <a:lstStyle/>
          <a:p>
            <a:pPr algn="l">
              <a:spcAft>
                <a:spcPts val="400"/>
              </a:spcAft>
            </a:pPr>
            <a:r>
              <a:rPr sz="1150" b="1">
                <a:solidFill>
                  <a:srgbClr val="F59E0B"/>
                </a:solidFill>
                <a:latin typeface="Arial"/>
              </a:rPr>
              <a:t>WHY THIS STEP:  </a:t>
            </a:r>
            <a:r>
              <a:rPr sz="1300" b="0">
                <a:solidFill>
                  <a:srgbClr val="161B26"/>
                </a:solidFill>
                <a:latin typeface="Arial"/>
              </a:rPr>
              <a:t>Reducing a 2ⁿ-dimensional problem to a 2-D rotation is the key simplification.</a:t>
            </a:r>
          </a:p>
        </p:txBody>
      </p:sp>
      <p:sp>
        <p:nvSpPr>
          <p:cNvPr id="12" name="TextBox 11"/>
          <p:cNvSpPr txBox="1"/>
          <p:nvPr/>
        </p:nvSpPr>
        <p:spPr>
          <a:xfrm>
            <a:off x="365760" y="6446520"/>
            <a:ext cx="6858000" cy="320040"/>
          </a:xfrm>
          <a:prstGeom prst="rect">
            <a:avLst/>
          </a:prstGeom>
          <a:noFill/>
        </p:spPr>
        <p:txBody>
          <a:bodyPr wrap="square" anchor="t">
            <a:spAutoFit/>
          </a:bodyPr>
          <a:lstStyle/>
          <a:p>
            <a:pPr algn="l">
              <a:spcAft>
                <a:spcPts val="400"/>
              </a:spcAft>
            </a:pPr>
            <a:r>
              <a:rPr sz="900" b="0">
                <a:solidFill>
                  <a:srgbClr val="5B6372"/>
                </a:solidFill>
                <a:latin typeface="Arial"/>
              </a:rPr>
              <a:t>Securing the Future with Quantum Computing and Cryptography  ·  TGS-2024043419</a:t>
            </a:r>
          </a:p>
        </p:txBody>
      </p:sp>
      <p:sp>
        <p:nvSpPr>
          <p:cNvPr id="13" name="TextBox 12"/>
          <p:cNvSpPr txBox="1"/>
          <p:nvPr/>
        </p:nvSpPr>
        <p:spPr>
          <a:xfrm>
            <a:off x="4572000" y="6446520"/>
            <a:ext cx="3017520" cy="320040"/>
          </a:xfrm>
          <a:prstGeom prst="rect">
            <a:avLst/>
          </a:prstGeom>
          <a:noFill/>
        </p:spPr>
        <p:txBody>
          <a:bodyPr wrap="square" anchor="t">
            <a:spAutoFit/>
          </a:bodyPr>
          <a:lstStyle/>
          <a:p>
            <a:pPr algn="ctr">
              <a:spcAft>
                <a:spcPts val="400"/>
              </a:spcAft>
            </a:pPr>
            <a:r>
              <a:rPr sz="900" b="0">
                <a:solidFill>
                  <a:srgbClr val="5B6372"/>
                </a:solidFill>
                <a:latin typeface="Arial"/>
              </a:rPr>
              <a:t>© 2026 Tertiary Infotech Academy Pte Ltd</a:t>
            </a:r>
          </a:p>
        </p:txBody>
      </p:sp>
      <p:sp>
        <p:nvSpPr>
          <p:cNvPr id="14" name="TextBox 13"/>
          <p:cNvSpPr txBox="1"/>
          <p:nvPr/>
        </p:nvSpPr>
        <p:spPr>
          <a:xfrm>
            <a:off x="11338560" y="6446520"/>
            <a:ext cx="548640" cy="320040"/>
          </a:xfrm>
          <a:prstGeom prst="rect">
            <a:avLst/>
          </a:prstGeom>
          <a:noFill/>
        </p:spPr>
        <p:txBody>
          <a:bodyPr wrap="square" anchor="t">
            <a:spAutoFit/>
          </a:bodyPr>
          <a:lstStyle/>
          <a:p>
            <a:pPr algn="r">
              <a:spcAft>
                <a:spcPts val="400"/>
              </a:spcAft>
            </a:pPr>
            <a:r>
              <a:rPr sz="900" b="0">
                <a:solidFill>
                  <a:srgbClr val="5B6372"/>
                </a:solidFill>
                <a:latin typeface="Arial"/>
              </a:rPr>
              <a:t>162</a:t>
            </a:r>
          </a:p>
        </p:txBody>
      </p:sp>
    </p:spTree>
  </p:cSld>
  <p:clrMapOvr>
    <a:masterClrMapping/>
  </p:clrMapOvr>
</p:sld>
</file>

<file path=ppt/slides/slide164.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256032" cy="1417320"/>
          </a:xfrm>
          <a:prstGeom prst="rect">
            <a:avLst/>
          </a:prstGeom>
          <a:solidFill>
            <a:srgbClr val="7C3AE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777240" y="457200"/>
            <a:ext cx="10607040" cy="365760"/>
          </a:xfrm>
          <a:prstGeom prst="rect">
            <a:avLst/>
          </a:prstGeom>
          <a:noFill/>
        </p:spPr>
        <p:txBody>
          <a:bodyPr wrap="square" anchor="t">
            <a:spAutoFit/>
          </a:bodyPr>
          <a:lstStyle/>
          <a:p>
            <a:pPr algn="l">
              <a:spcAft>
                <a:spcPts val="400"/>
              </a:spcAft>
            </a:pPr>
            <a:r>
              <a:rPr sz="1400" b="1">
                <a:solidFill>
                  <a:srgbClr val="7C3AED"/>
                </a:solidFill>
                <a:latin typeface="Arial"/>
              </a:rPr>
              <a:t>GROVER'S ALGORITHM AND THE √N SPEEDUP  ·  STEP 3 OF 7</a:t>
            </a:r>
          </a:p>
        </p:txBody>
      </p:sp>
      <p:sp>
        <p:nvSpPr>
          <p:cNvPr id="5" name="TextBox 4"/>
          <p:cNvSpPr txBox="1"/>
          <p:nvPr/>
        </p:nvSpPr>
        <p:spPr>
          <a:xfrm>
            <a:off x="777240" y="822960"/>
            <a:ext cx="10881360" cy="822960"/>
          </a:xfrm>
          <a:prstGeom prst="rect">
            <a:avLst/>
          </a:prstGeom>
          <a:noFill/>
        </p:spPr>
        <p:txBody>
          <a:bodyPr wrap="square" anchor="t">
            <a:spAutoFit/>
          </a:bodyPr>
          <a:lstStyle/>
          <a:p>
            <a:pPr algn="l">
              <a:spcAft>
                <a:spcPts val="400"/>
              </a:spcAft>
            </a:pPr>
            <a:r>
              <a:rPr sz="2900" b="1">
                <a:solidFill>
                  <a:srgbClr val="161B26"/>
                </a:solidFill>
                <a:latin typeface="Arial"/>
              </a:rPr>
              <a:t>Step 3 — The oracle is a reflection</a:t>
            </a:r>
          </a:p>
        </p:txBody>
      </p:sp>
      <p:sp>
        <p:nvSpPr>
          <p:cNvPr id="6" name="Rectangle 5"/>
          <p:cNvSpPr/>
          <p:nvPr/>
        </p:nvSpPr>
        <p:spPr>
          <a:xfrm>
            <a:off x="777240" y="1554480"/>
            <a:ext cx="10634472" cy="18288"/>
          </a:xfrm>
          <a:prstGeom prst="rect">
            <a:avLst/>
          </a:prstGeom>
          <a:solidFill>
            <a:srgbClr val="E2E8F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Rectangle 6"/>
          <p:cNvSpPr/>
          <p:nvPr/>
        </p:nvSpPr>
        <p:spPr>
          <a:xfrm>
            <a:off x="777240" y="1810512"/>
            <a:ext cx="10634472" cy="1700784"/>
          </a:xfrm>
          <a:prstGeom prst="rect">
            <a:avLst/>
          </a:prstGeom>
          <a:solidFill>
            <a:srgbClr val="0B122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TextBox 7"/>
          <p:cNvSpPr txBox="1"/>
          <p:nvPr/>
        </p:nvSpPr>
        <p:spPr>
          <a:xfrm>
            <a:off x="1097280" y="1956816"/>
            <a:ext cx="9994392" cy="1408176"/>
          </a:xfrm>
          <a:prstGeom prst="rect">
            <a:avLst/>
          </a:prstGeom>
          <a:noFill/>
        </p:spPr>
        <p:txBody>
          <a:bodyPr wrap="square" anchor="t">
            <a:spAutoFit/>
          </a:bodyPr>
          <a:lstStyle/>
          <a:p>
            <a:pPr algn="l">
              <a:spcAft>
                <a:spcPts val="300"/>
              </a:spcAft>
            </a:pPr>
            <a:r>
              <a:rPr sz="1550" b="0">
                <a:solidFill>
                  <a:srgbClr val="9CDCFE"/>
                </a:solidFill>
                <a:latin typeface="Arial"/>
              </a:rPr>
              <a:t>O flips the sign of the |w&gt; component only:</a:t>
            </a:r>
          </a:p>
          <a:p>
            <a:pPr algn="l">
              <a:spcAft>
                <a:spcPts val="300"/>
              </a:spcAft>
            </a:pPr>
            <a:r>
              <a:rPr sz="1550" b="0">
                <a:solidFill>
                  <a:srgbClr val="9CDCFE"/>
                </a:solidFill>
                <a:latin typeface="Arial"/>
              </a:rPr>
              <a:t>   O( sin θ|w&gt; + cos θ|s'&gt; )  =  -sin θ|w&gt; + cos θ|s'&gt;</a:t>
            </a:r>
          </a:p>
          <a:p>
            <a:pPr algn="l">
              <a:spcAft>
                <a:spcPts val="300"/>
              </a:spcAft>
            </a:pPr>
            <a:r>
              <a:rPr sz="1550" b="0">
                <a:solidFill>
                  <a:srgbClr val="0B1220"/>
                </a:solidFill>
                <a:latin typeface="Arial"/>
              </a:rPr>
              <a:t> </a:t>
            </a:r>
          </a:p>
          <a:p>
            <a:pPr algn="l">
              <a:spcAft>
                <a:spcPts val="300"/>
              </a:spcAft>
            </a:pPr>
            <a:r>
              <a:rPr sz="1550" b="0">
                <a:solidFill>
                  <a:srgbClr val="9CDCFE"/>
                </a:solidFill>
                <a:latin typeface="Arial"/>
              </a:rPr>
              <a:t>Geometrically: a REFLECTION about the |s'&gt; axis.</a:t>
            </a:r>
          </a:p>
        </p:txBody>
      </p:sp>
      <p:sp>
        <p:nvSpPr>
          <p:cNvPr id="9" name="Rectangle 8"/>
          <p:cNvSpPr/>
          <p:nvPr/>
        </p:nvSpPr>
        <p:spPr>
          <a:xfrm>
            <a:off x="777240" y="3712464"/>
            <a:ext cx="10634472" cy="2340864"/>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Rectangle 9"/>
          <p:cNvSpPr/>
          <p:nvPr/>
        </p:nvSpPr>
        <p:spPr>
          <a:xfrm>
            <a:off x="777240" y="3712464"/>
            <a:ext cx="82296" cy="2340864"/>
          </a:xfrm>
          <a:prstGeom prst="rect">
            <a:avLst/>
          </a:prstGeom>
          <a:solidFill>
            <a:srgbClr val="F59E0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 name="TextBox 10"/>
          <p:cNvSpPr txBox="1"/>
          <p:nvPr/>
        </p:nvSpPr>
        <p:spPr>
          <a:xfrm>
            <a:off x="1097280" y="3712464"/>
            <a:ext cx="10149840" cy="2340864"/>
          </a:xfrm>
          <a:prstGeom prst="rect">
            <a:avLst/>
          </a:prstGeom>
          <a:noFill/>
        </p:spPr>
        <p:txBody>
          <a:bodyPr wrap="square" anchor="ctr">
            <a:spAutoFit/>
          </a:bodyPr>
          <a:lstStyle/>
          <a:p>
            <a:pPr algn="l">
              <a:spcAft>
                <a:spcPts val="400"/>
              </a:spcAft>
            </a:pPr>
            <a:r>
              <a:rPr sz="1150" b="1">
                <a:solidFill>
                  <a:srgbClr val="F59E0B"/>
                </a:solidFill>
                <a:latin typeface="Arial"/>
              </a:rPr>
              <a:t>WHY THIS STEP:  </a:t>
            </a:r>
            <a:r>
              <a:rPr sz="1300" b="0">
                <a:solidFill>
                  <a:srgbClr val="161B26"/>
                </a:solidFill>
                <a:latin typeface="Arial"/>
              </a:rPr>
              <a:t>The marked item is now 'marked' by a phase — still invisible to measurement.</a:t>
            </a:r>
          </a:p>
        </p:txBody>
      </p:sp>
      <p:sp>
        <p:nvSpPr>
          <p:cNvPr id="12" name="TextBox 11"/>
          <p:cNvSpPr txBox="1"/>
          <p:nvPr/>
        </p:nvSpPr>
        <p:spPr>
          <a:xfrm>
            <a:off x="365760" y="6446520"/>
            <a:ext cx="6858000" cy="320040"/>
          </a:xfrm>
          <a:prstGeom prst="rect">
            <a:avLst/>
          </a:prstGeom>
          <a:noFill/>
        </p:spPr>
        <p:txBody>
          <a:bodyPr wrap="square" anchor="t">
            <a:spAutoFit/>
          </a:bodyPr>
          <a:lstStyle/>
          <a:p>
            <a:pPr algn="l">
              <a:spcAft>
                <a:spcPts val="400"/>
              </a:spcAft>
            </a:pPr>
            <a:r>
              <a:rPr sz="900" b="0">
                <a:solidFill>
                  <a:srgbClr val="5B6372"/>
                </a:solidFill>
                <a:latin typeface="Arial"/>
              </a:rPr>
              <a:t>Securing the Future with Quantum Computing and Cryptography  ·  TGS-2024043419</a:t>
            </a:r>
          </a:p>
        </p:txBody>
      </p:sp>
      <p:sp>
        <p:nvSpPr>
          <p:cNvPr id="13" name="TextBox 12"/>
          <p:cNvSpPr txBox="1"/>
          <p:nvPr/>
        </p:nvSpPr>
        <p:spPr>
          <a:xfrm>
            <a:off x="4572000" y="6446520"/>
            <a:ext cx="3017520" cy="320040"/>
          </a:xfrm>
          <a:prstGeom prst="rect">
            <a:avLst/>
          </a:prstGeom>
          <a:noFill/>
        </p:spPr>
        <p:txBody>
          <a:bodyPr wrap="square" anchor="t">
            <a:spAutoFit/>
          </a:bodyPr>
          <a:lstStyle/>
          <a:p>
            <a:pPr algn="ctr">
              <a:spcAft>
                <a:spcPts val="400"/>
              </a:spcAft>
            </a:pPr>
            <a:r>
              <a:rPr sz="900" b="0">
                <a:solidFill>
                  <a:srgbClr val="5B6372"/>
                </a:solidFill>
                <a:latin typeface="Arial"/>
              </a:rPr>
              <a:t>© 2026 Tertiary Infotech Academy Pte Ltd</a:t>
            </a:r>
          </a:p>
        </p:txBody>
      </p:sp>
      <p:sp>
        <p:nvSpPr>
          <p:cNvPr id="14" name="TextBox 13"/>
          <p:cNvSpPr txBox="1"/>
          <p:nvPr/>
        </p:nvSpPr>
        <p:spPr>
          <a:xfrm>
            <a:off x="11338560" y="6446520"/>
            <a:ext cx="548640" cy="320040"/>
          </a:xfrm>
          <a:prstGeom prst="rect">
            <a:avLst/>
          </a:prstGeom>
          <a:noFill/>
        </p:spPr>
        <p:txBody>
          <a:bodyPr wrap="square" anchor="t">
            <a:spAutoFit/>
          </a:bodyPr>
          <a:lstStyle/>
          <a:p>
            <a:pPr algn="r">
              <a:spcAft>
                <a:spcPts val="400"/>
              </a:spcAft>
            </a:pPr>
            <a:r>
              <a:rPr sz="900" b="0">
                <a:solidFill>
                  <a:srgbClr val="5B6372"/>
                </a:solidFill>
                <a:latin typeface="Arial"/>
              </a:rPr>
              <a:t>163</a:t>
            </a:r>
          </a:p>
        </p:txBody>
      </p:sp>
    </p:spTree>
  </p:cSld>
  <p:clrMapOvr>
    <a:masterClrMapping/>
  </p:clrMapOvr>
</p:sld>
</file>

<file path=ppt/slides/slide165.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256032" cy="1417320"/>
          </a:xfrm>
          <a:prstGeom prst="rect">
            <a:avLst/>
          </a:prstGeom>
          <a:solidFill>
            <a:srgbClr val="7C3AE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777240" y="457200"/>
            <a:ext cx="10607040" cy="365760"/>
          </a:xfrm>
          <a:prstGeom prst="rect">
            <a:avLst/>
          </a:prstGeom>
          <a:noFill/>
        </p:spPr>
        <p:txBody>
          <a:bodyPr wrap="square" anchor="t">
            <a:spAutoFit/>
          </a:bodyPr>
          <a:lstStyle/>
          <a:p>
            <a:pPr algn="l">
              <a:spcAft>
                <a:spcPts val="400"/>
              </a:spcAft>
            </a:pPr>
            <a:r>
              <a:rPr sz="1400" b="1">
                <a:solidFill>
                  <a:srgbClr val="7C3AED"/>
                </a:solidFill>
                <a:latin typeface="Arial"/>
              </a:rPr>
              <a:t>GROVER'S ALGORITHM AND THE √N SPEEDUP  ·  STEP 4 OF 7</a:t>
            </a:r>
          </a:p>
        </p:txBody>
      </p:sp>
      <p:sp>
        <p:nvSpPr>
          <p:cNvPr id="5" name="TextBox 4"/>
          <p:cNvSpPr txBox="1"/>
          <p:nvPr/>
        </p:nvSpPr>
        <p:spPr>
          <a:xfrm>
            <a:off x="777240" y="822960"/>
            <a:ext cx="10881360" cy="822960"/>
          </a:xfrm>
          <a:prstGeom prst="rect">
            <a:avLst/>
          </a:prstGeom>
          <a:noFill/>
        </p:spPr>
        <p:txBody>
          <a:bodyPr wrap="square" anchor="t">
            <a:spAutoFit/>
          </a:bodyPr>
          <a:lstStyle/>
          <a:p>
            <a:pPr algn="l">
              <a:spcAft>
                <a:spcPts val="400"/>
              </a:spcAft>
            </a:pPr>
            <a:r>
              <a:rPr sz="2900" b="1">
                <a:solidFill>
                  <a:srgbClr val="161B26"/>
                </a:solidFill>
                <a:latin typeface="Arial"/>
              </a:rPr>
              <a:t>Step 4 — The diffuser is a second reflection</a:t>
            </a:r>
          </a:p>
        </p:txBody>
      </p:sp>
      <p:sp>
        <p:nvSpPr>
          <p:cNvPr id="6" name="Rectangle 5"/>
          <p:cNvSpPr/>
          <p:nvPr/>
        </p:nvSpPr>
        <p:spPr>
          <a:xfrm>
            <a:off x="777240" y="1554480"/>
            <a:ext cx="10634472" cy="18288"/>
          </a:xfrm>
          <a:prstGeom prst="rect">
            <a:avLst/>
          </a:prstGeom>
          <a:solidFill>
            <a:srgbClr val="E2E8F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Rectangle 6"/>
          <p:cNvSpPr/>
          <p:nvPr/>
        </p:nvSpPr>
        <p:spPr>
          <a:xfrm>
            <a:off x="777240" y="1810512"/>
            <a:ext cx="10634472" cy="1700784"/>
          </a:xfrm>
          <a:prstGeom prst="rect">
            <a:avLst/>
          </a:prstGeom>
          <a:solidFill>
            <a:srgbClr val="0B122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TextBox 7"/>
          <p:cNvSpPr txBox="1"/>
          <p:nvPr/>
        </p:nvSpPr>
        <p:spPr>
          <a:xfrm>
            <a:off x="1097280" y="1956816"/>
            <a:ext cx="9994392" cy="1408176"/>
          </a:xfrm>
          <a:prstGeom prst="rect">
            <a:avLst/>
          </a:prstGeom>
          <a:noFill/>
        </p:spPr>
        <p:txBody>
          <a:bodyPr wrap="square" anchor="t">
            <a:spAutoFit/>
          </a:bodyPr>
          <a:lstStyle/>
          <a:p>
            <a:pPr algn="l">
              <a:spcAft>
                <a:spcPts val="300"/>
              </a:spcAft>
            </a:pPr>
            <a:r>
              <a:rPr sz="1550" b="0">
                <a:solidFill>
                  <a:srgbClr val="9CDCFE"/>
                </a:solidFill>
                <a:latin typeface="Arial"/>
              </a:rPr>
              <a:t>   D  =  2|s&gt;&lt;s| - I</a:t>
            </a:r>
          </a:p>
          <a:p>
            <a:pPr algn="l">
              <a:spcAft>
                <a:spcPts val="300"/>
              </a:spcAft>
            </a:pPr>
            <a:r>
              <a:rPr sz="1550" b="0">
                <a:solidFill>
                  <a:srgbClr val="0B1220"/>
                </a:solidFill>
                <a:latin typeface="Arial"/>
              </a:rPr>
              <a:t> </a:t>
            </a:r>
          </a:p>
          <a:p>
            <a:pPr algn="l">
              <a:spcAft>
                <a:spcPts val="300"/>
              </a:spcAft>
            </a:pPr>
            <a:r>
              <a:rPr sz="1550" b="0">
                <a:solidFill>
                  <a:srgbClr val="9CDCFE"/>
                </a:solidFill>
                <a:latin typeface="Arial"/>
              </a:rPr>
              <a:t>This reflects any state about |s&gt;. Equivalently: 'invert about the mean'.</a:t>
            </a:r>
          </a:p>
          <a:p>
            <a:pPr algn="l">
              <a:spcAft>
                <a:spcPts val="300"/>
              </a:spcAft>
            </a:pPr>
            <a:r>
              <a:rPr sz="1550" b="0">
                <a:solidFill>
                  <a:srgbClr val="9CDCFE"/>
                </a:solidFill>
                <a:latin typeface="Arial"/>
              </a:rPr>
              <a:t>Circuit:  Hⁿ · (2|0&gt;&lt;0| - I) · Hⁿ</a:t>
            </a:r>
          </a:p>
        </p:txBody>
      </p:sp>
      <p:sp>
        <p:nvSpPr>
          <p:cNvPr id="9" name="Rectangle 8"/>
          <p:cNvSpPr/>
          <p:nvPr/>
        </p:nvSpPr>
        <p:spPr>
          <a:xfrm>
            <a:off x="777240" y="3712464"/>
            <a:ext cx="10634472" cy="2340864"/>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Rectangle 9"/>
          <p:cNvSpPr/>
          <p:nvPr/>
        </p:nvSpPr>
        <p:spPr>
          <a:xfrm>
            <a:off x="777240" y="3712464"/>
            <a:ext cx="82296" cy="2340864"/>
          </a:xfrm>
          <a:prstGeom prst="rect">
            <a:avLst/>
          </a:prstGeom>
          <a:solidFill>
            <a:srgbClr val="F59E0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 name="TextBox 10"/>
          <p:cNvSpPr txBox="1"/>
          <p:nvPr/>
        </p:nvSpPr>
        <p:spPr>
          <a:xfrm>
            <a:off x="1097280" y="3712464"/>
            <a:ext cx="10149840" cy="2340864"/>
          </a:xfrm>
          <a:prstGeom prst="rect">
            <a:avLst/>
          </a:prstGeom>
          <a:noFill/>
        </p:spPr>
        <p:txBody>
          <a:bodyPr wrap="square" anchor="ctr">
            <a:spAutoFit/>
          </a:bodyPr>
          <a:lstStyle/>
          <a:p>
            <a:pPr algn="l">
              <a:spcAft>
                <a:spcPts val="400"/>
              </a:spcAft>
            </a:pPr>
            <a:r>
              <a:rPr sz="1150" b="1">
                <a:solidFill>
                  <a:srgbClr val="F59E0B"/>
                </a:solidFill>
                <a:latin typeface="Arial"/>
              </a:rPr>
              <a:t>WHY THIS STEP:  </a:t>
            </a:r>
            <a:r>
              <a:rPr sz="1300" b="0">
                <a:solidFill>
                  <a:srgbClr val="161B26"/>
                </a:solidFill>
                <a:latin typeface="Arial"/>
              </a:rPr>
              <a:t>Two reflections in a plane compose to a ROTATION — that is the whole trick.</a:t>
            </a:r>
          </a:p>
        </p:txBody>
      </p:sp>
      <p:sp>
        <p:nvSpPr>
          <p:cNvPr id="12" name="TextBox 11"/>
          <p:cNvSpPr txBox="1"/>
          <p:nvPr/>
        </p:nvSpPr>
        <p:spPr>
          <a:xfrm>
            <a:off x="365760" y="6446520"/>
            <a:ext cx="6858000" cy="320040"/>
          </a:xfrm>
          <a:prstGeom prst="rect">
            <a:avLst/>
          </a:prstGeom>
          <a:noFill/>
        </p:spPr>
        <p:txBody>
          <a:bodyPr wrap="square" anchor="t">
            <a:spAutoFit/>
          </a:bodyPr>
          <a:lstStyle/>
          <a:p>
            <a:pPr algn="l">
              <a:spcAft>
                <a:spcPts val="400"/>
              </a:spcAft>
            </a:pPr>
            <a:r>
              <a:rPr sz="900" b="0">
                <a:solidFill>
                  <a:srgbClr val="5B6372"/>
                </a:solidFill>
                <a:latin typeface="Arial"/>
              </a:rPr>
              <a:t>Securing the Future with Quantum Computing and Cryptography  ·  TGS-2024043419</a:t>
            </a:r>
          </a:p>
        </p:txBody>
      </p:sp>
      <p:sp>
        <p:nvSpPr>
          <p:cNvPr id="13" name="TextBox 12"/>
          <p:cNvSpPr txBox="1"/>
          <p:nvPr/>
        </p:nvSpPr>
        <p:spPr>
          <a:xfrm>
            <a:off x="4572000" y="6446520"/>
            <a:ext cx="3017520" cy="320040"/>
          </a:xfrm>
          <a:prstGeom prst="rect">
            <a:avLst/>
          </a:prstGeom>
          <a:noFill/>
        </p:spPr>
        <p:txBody>
          <a:bodyPr wrap="square" anchor="t">
            <a:spAutoFit/>
          </a:bodyPr>
          <a:lstStyle/>
          <a:p>
            <a:pPr algn="ctr">
              <a:spcAft>
                <a:spcPts val="400"/>
              </a:spcAft>
            </a:pPr>
            <a:r>
              <a:rPr sz="900" b="0">
                <a:solidFill>
                  <a:srgbClr val="5B6372"/>
                </a:solidFill>
                <a:latin typeface="Arial"/>
              </a:rPr>
              <a:t>© 2026 Tertiary Infotech Academy Pte Ltd</a:t>
            </a:r>
          </a:p>
        </p:txBody>
      </p:sp>
      <p:sp>
        <p:nvSpPr>
          <p:cNvPr id="14" name="TextBox 13"/>
          <p:cNvSpPr txBox="1"/>
          <p:nvPr/>
        </p:nvSpPr>
        <p:spPr>
          <a:xfrm>
            <a:off x="11338560" y="6446520"/>
            <a:ext cx="548640" cy="320040"/>
          </a:xfrm>
          <a:prstGeom prst="rect">
            <a:avLst/>
          </a:prstGeom>
          <a:noFill/>
        </p:spPr>
        <p:txBody>
          <a:bodyPr wrap="square" anchor="t">
            <a:spAutoFit/>
          </a:bodyPr>
          <a:lstStyle/>
          <a:p>
            <a:pPr algn="r">
              <a:spcAft>
                <a:spcPts val="400"/>
              </a:spcAft>
            </a:pPr>
            <a:r>
              <a:rPr sz="900" b="0">
                <a:solidFill>
                  <a:srgbClr val="5B6372"/>
                </a:solidFill>
                <a:latin typeface="Arial"/>
              </a:rPr>
              <a:t>164</a:t>
            </a:r>
          </a:p>
        </p:txBody>
      </p:sp>
    </p:spTree>
  </p:cSld>
  <p:clrMapOvr>
    <a:masterClrMapping/>
  </p:clrMapOvr>
</p:sld>
</file>

<file path=ppt/slides/slide166.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256032" cy="1417320"/>
          </a:xfrm>
          <a:prstGeom prst="rect">
            <a:avLst/>
          </a:prstGeom>
          <a:solidFill>
            <a:srgbClr val="7C3AE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777240" y="457200"/>
            <a:ext cx="10607040" cy="365760"/>
          </a:xfrm>
          <a:prstGeom prst="rect">
            <a:avLst/>
          </a:prstGeom>
          <a:noFill/>
        </p:spPr>
        <p:txBody>
          <a:bodyPr wrap="square" anchor="t">
            <a:spAutoFit/>
          </a:bodyPr>
          <a:lstStyle/>
          <a:p>
            <a:pPr algn="l">
              <a:spcAft>
                <a:spcPts val="400"/>
              </a:spcAft>
            </a:pPr>
            <a:r>
              <a:rPr sz="1400" b="1">
                <a:solidFill>
                  <a:srgbClr val="7C3AED"/>
                </a:solidFill>
                <a:latin typeface="Arial"/>
              </a:rPr>
              <a:t>GROVER'S ALGORITHM AND THE √N SPEEDUP  ·  STEP 5 OF 7</a:t>
            </a:r>
          </a:p>
        </p:txBody>
      </p:sp>
      <p:sp>
        <p:nvSpPr>
          <p:cNvPr id="5" name="TextBox 4"/>
          <p:cNvSpPr txBox="1"/>
          <p:nvPr/>
        </p:nvSpPr>
        <p:spPr>
          <a:xfrm>
            <a:off x="777240" y="822960"/>
            <a:ext cx="10881360" cy="822960"/>
          </a:xfrm>
          <a:prstGeom prst="rect">
            <a:avLst/>
          </a:prstGeom>
          <a:noFill/>
        </p:spPr>
        <p:txBody>
          <a:bodyPr wrap="square" anchor="t">
            <a:spAutoFit/>
          </a:bodyPr>
          <a:lstStyle/>
          <a:p>
            <a:pPr algn="l">
              <a:spcAft>
                <a:spcPts val="400"/>
              </a:spcAft>
            </a:pPr>
            <a:r>
              <a:rPr sz="2900" b="1">
                <a:solidFill>
                  <a:srgbClr val="161B26"/>
                </a:solidFill>
                <a:latin typeface="Arial"/>
              </a:rPr>
              <a:t>Step 5 — Each Grover iteration rotates by 2θ</a:t>
            </a:r>
          </a:p>
        </p:txBody>
      </p:sp>
      <p:sp>
        <p:nvSpPr>
          <p:cNvPr id="6" name="Rectangle 5"/>
          <p:cNvSpPr/>
          <p:nvPr/>
        </p:nvSpPr>
        <p:spPr>
          <a:xfrm>
            <a:off x="777240" y="1554480"/>
            <a:ext cx="10634472" cy="18288"/>
          </a:xfrm>
          <a:prstGeom prst="rect">
            <a:avLst/>
          </a:prstGeom>
          <a:solidFill>
            <a:srgbClr val="E2E8F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Rectangle 6"/>
          <p:cNvSpPr/>
          <p:nvPr/>
        </p:nvSpPr>
        <p:spPr>
          <a:xfrm>
            <a:off x="777240" y="1810512"/>
            <a:ext cx="10634472" cy="2633472"/>
          </a:xfrm>
          <a:prstGeom prst="rect">
            <a:avLst/>
          </a:prstGeom>
          <a:solidFill>
            <a:srgbClr val="0B122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TextBox 7"/>
          <p:cNvSpPr txBox="1"/>
          <p:nvPr/>
        </p:nvSpPr>
        <p:spPr>
          <a:xfrm>
            <a:off x="1097280" y="1956816"/>
            <a:ext cx="9994392" cy="2340864"/>
          </a:xfrm>
          <a:prstGeom prst="rect">
            <a:avLst/>
          </a:prstGeom>
          <a:noFill/>
        </p:spPr>
        <p:txBody>
          <a:bodyPr wrap="square" anchor="t">
            <a:spAutoFit/>
          </a:bodyPr>
          <a:lstStyle/>
          <a:p>
            <a:pPr algn="l">
              <a:spcAft>
                <a:spcPts val="300"/>
              </a:spcAft>
            </a:pPr>
            <a:r>
              <a:rPr sz="1550" b="0">
                <a:solidFill>
                  <a:srgbClr val="9CDCFE"/>
                </a:solidFill>
                <a:latin typeface="Arial"/>
              </a:rPr>
              <a:t>Composing the two reflections:</a:t>
            </a:r>
          </a:p>
          <a:p>
            <a:pPr algn="l">
              <a:spcAft>
                <a:spcPts val="300"/>
              </a:spcAft>
            </a:pPr>
            <a:r>
              <a:rPr sz="1550" b="0">
                <a:solidFill>
                  <a:srgbClr val="9CDCFE"/>
                </a:solidFill>
                <a:latin typeface="Arial"/>
              </a:rPr>
              <a:t>   G = D·O  rotates the state by angle 2θ toward |w&gt;.</a:t>
            </a:r>
          </a:p>
          <a:p>
            <a:pPr algn="l">
              <a:spcAft>
                <a:spcPts val="300"/>
              </a:spcAft>
            </a:pPr>
            <a:r>
              <a:rPr sz="1550" b="0">
                <a:solidFill>
                  <a:srgbClr val="0B1220"/>
                </a:solidFill>
                <a:latin typeface="Arial"/>
              </a:rPr>
              <a:t> </a:t>
            </a:r>
          </a:p>
          <a:p>
            <a:pPr algn="l">
              <a:spcAft>
                <a:spcPts val="300"/>
              </a:spcAft>
            </a:pPr>
            <a:r>
              <a:rPr sz="1550" b="0">
                <a:solidFill>
                  <a:srgbClr val="9CDCFE"/>
                </a:solidFill>
                <a:latin typeface="Arial"/>
              </a:rPr>
              <a:t>After k iterations:</a:t>
            </a:r>
          </a:p>
          <a:p>
            <a:pPr algn="l">
              <a:spcAft>
                <a:spcPts val="300"/>
              </a:spcAft>
            </a:pPr>
            <a:r>
              <a:rPr sz="1550" b="0">
                <a:solidFill>
                  <a:srgbClr val="9CDCFE"/>
                </a:solidFill>
                <a:latin typeface="Arial"/>
              </a:rPr>
              <a:t>   |ψ_k&gt;  =  sin((2k+1)θ)|w&gt;  +  cos((2k+1)θ)|s'&gt;</a:t>
            </a:r>
          </a:p>
          <a:p>
            <a:pPr algn="l">
              <a:spcAft>
                <a:spcPts val="300"/>
              </a:spcAft>
            </a:pPr>
            <a:r>
              <a:rPr sz="1550" b="0">
                <a:solidFill>
                  <a:srgbClr val="0B1220"/>
                </a:solidFill>
                <a:latin typeface="Arial"/>
              </a:rPr>
              <a:t> </a:t>
            </a:r>
          </a:p>
          <a:p>
            <a:pPr algn="l">
              <a:spcAft>
                <a:spcPts val="300"/>
              </a:spcAft>
            </a:pPr>
            <a:r>
              <a:rPr sz="1550" b="0">
                <a:solidFill>
                  <a:srgbClr val="9CDCFE"/>
                </a:solidFill>
                <a:latin typeface="Arial"/>
              </a:rPr>
              <a:t>So  P(measure w)  =  sin²((2k+1)θ).</a:t>
            </a:r>
          </a:p>
        </p:txBody>
      </p:sp>
      <p:sp>
        <p:nvSpPr>
          <p:cNvPr id="9" name="Rectangle 8"/>
          <p:cNvSpPr/>
          <p:nvPr/>
        </p:nvSpPr>
        <p:spPr>
          <a:xfrm>
            <a:off x="777240" y="4645152"/>
            <a:ext cx="10634472" cy="1408176"/>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Rectangle 9"/>
          <p:cNvSpPr/>
          <p:nvPr/>
        </p:nvSpPr>
        <p:spPr>
          <a:xfrm>
            <a:off x="777240" y="4645152"/>
            <a:ext cx="82296" cy="1408176"/>
          </a:xfrm>
          <a:prstGeom prst="rect">
            <a:avLst/>
          </a:prstGeom>
          <a:solidFill>
            <a:srgbClr val="F59E0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 name="TextBox 10"/>
          <p:cNvSpPr txBox="1"/>
          <p:nvPr/>
        </p:nvSpPr>
        <p:spPr>
          <a:xfrm>
            <a:off x="1097280" y="4645152"/>
            <a:ext cx="10149840" cy="1408176"/>
          </a:xfrm>
          <a:prstGeom prst="rect">
            <a:avLst/>
          </a:prstGeom>
          <a:noFill/>
        </p:spPr>
        <p:txBody>
          <a:bodyPr wrap="square" anchor="ctr">
            <a:spAutoFit/>
          </a:bodyPr>
          <a:lstStyle/>
          <a:p>
            <a:pPr algn="l">
              <a:spcAft>
                <a:spcPts val="400"/>
              </a:spcAft>
            </a:pPr>
            <a:r>
              <a:rPr sz="1150" b="1">
                <a:solidFill>
                  <a:srgbClr val="F59E0B"/>
                </a:solidFill>
                <a:latin typeface="Arial"/>
              </a:rPr>
              <a:t>WHY THIS STEP:  </a:t>
            </a:r>
            <a:r>
              <a:rPr sz="1300" b="0">
                <a:solidFill>
                  <a:srgbClr val="161B26"/>
                </a:solidFill>
                <a:latin typeface="Arial"/>
              </a:rPr>
              <a:t>The amplitude on |w&gt; grows roughly LINEARLY in k — while probability grows quadratically.</a:t>
            </a:r>
          </a:p>
        </p:txBody>
      </p:sp>
      <p:sp>
        <p:nvSpPr>
          <p:cNvPr id="12" name="TextBox 11"/>
          <p:cNvSpPr txBox="1"/>
          <p:nvPr/>
        </p:nvSpPr>
        <p:spPr>
          <a:xfrm>
            <a:off x="365760" y="6446520"/>
            <a:ext cx="6858000" cy="320040"/>
          </a:xfrm>
          <a:prstGeom prst="rect">
            <a:avLst/>
          </a:prstGeom>
          <a:noFill/>
        </p:spPr>
        <p:txBody>
          <a:bodyPr wrap="square" anchor="t">
            <a:spAutoFit/>
          </a:bodyPr>
          <a:lstStyle/>
          <a:p>
            <a:pPr algn="l">
              <a:spcAft>
                <a:spcPts val="400"/>
              </a:spcAft>
            </a:pPr>
            <a:r>
              <a:rPr sz="900" b="0">
                <a:solidFill>
                  <a:srgbClr val="5B6372"/>
                </a:solidFill>
                <a:latin typeface="Arial"/>
              </a:rPr>
              <a:t>Securing the Future with Quantum Computing and Cryptography  ·  TGS-2024043419</a:t>
            </a:r>
          </a:p>
        </p:txBody>
      </p:sp>
      <p:sp>
        <p:nvSpPr>
          <p:cNvPr id="13" name="TextBox 12"/>
          <p:cNvSpPr txBox="1"/>
          <p:nvPr/>
        </p:nvSpPr>
        <p:spPr>
          <a:xfrm>
            <a:off x="4572000" y="6446520"/>
            <a:ext cx="3017520" cy="320040"/>
          </a:xfrm>
          <a:prstGeom prst="rect">
            <a:avLst/>
          </a:prstGeom>
          <a:noFill/>
        </p:spPr>
        <p:txBody>
          <a:bodyPr wrap="square" anchor="t">
            <a:spAutoFit/>
          </a:bodyPr>
          <a:lstStyle/>
          <a:p>
            <a:pPr algn="ctr">
              <a:spcAft>
                <a:spcPts val="400"/>
              </a:spcAft>
            </a:pPr>
            <a:r>
              <a:rPr sz="900" b="0">
                <a:solidFill>
                  <a:srgbClr val="5B6372"/>
                </a:solidFill>
                <a:latin typeface="Arial"/>
              </a:rPr>
              <a:t>© 2026 Tertiary Infotech Academy Pte Ltd</a:t>
            </a:r>
          </a:p>
        </p:txBody>
      </p:sp>
      <p:sp>
        <p:nvSpPr>
          <p:cNvPr id="14" name="TextBox 13"/>
          <p:cNvSpPr txBox="1"/>
          <p:nvPr/>
        </p:nvSpPr>
        <p:spPr>
          <a:xfrm>
            <a:off x="11338560" y="6446520"/>
            <a:ext cx="548640" cy="320040"/>
          </a:xfrm>
          <a:prstGeom prst="rect">
            <a:avLst/>
          </a:prstGeom>
          <a:noFill/>
        </p:spPr>
        <p:txBody>
          <a:bodyPr wrap="square" anchor="t">
            <a:spAutoFit/>
          </a:bodyPr>
          <a:lstStyle/>
          <a:p>
            <a:pPr algn="r">
              <a:spcAft>
                <a:spcPts val="400"/>
              </a:spcAft>
            </a:pPr>
            <a:r>
              <a:rPr sz="900" b="0">
                <a:solidFill>
                  <a:srgbClr val="5B6372"/>
                </a:solidFill>
                <a:latin typeface="Arial"/>
              </a:rPr>
              <a:t>165</a:t>
            </a:r>
          </a:p>
        </p:txBody>
      </p:sp>
    </p:spTree>
  </p:cSld>
  <p:clrMapOvr>
    <a:masterClrMapping/>
  </p:clrMapOvr>
</p:sld>
</file>

<file path=ppt/slides/slide167.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256032" cy="1417320"/>
          </a:xfrm>
          <a:prstGeom prst="rect">
            <a:avLst/>
          </a:prstGeom>
          <a:solidFill>
            <a:srgbClr val="7C3AE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777240" y="457200"/>
            <a:ext cx="10607040" cy="365760"/>
          </a:xfrm>
          <a:prstGeom prst="rect">
            <a:avLst/>
          </a:prstGeom>
          <a:noFill/>
        </p:spPr>
        <p:txBody>
          <a:bodyPr wrap="square" anchor="t">
            <a:spAutoFit/>
          </a:bodyPr>
          <a:lstStyle/>
          <a:p>
            <a:pPr algn="l">
              <a:spcAft>
                <a:spcPts val="400"/>
              </a:spcAft>
            </a:pPr>
            <a:r>
              <a:rPr sz="1400" b="1">
                <a:solidFill>
                  <a:srgbClr val="7C3AED"/>
                </a:solidFill>
                <a:latin typeface="Arial"/>
              </a:rPr>
              <a:t>GROVER'S ALGORITHM AND THE √N SPEEDUP  ·  STEP 6 OF 7</a:t>
            </a:r>
          </a:p>
        </p:txBody>
      </p:sp>
      <p:sp>
        <p:nvSpPr>
          <p:cNvPr id="5" name="TextBox 4"/>
          <p:cNvSpPr txBox="1"/>
          <p:nvPr/>
        </p:nvSpPr>
        <p:spPr>
          <a:xfrm>
            <a:off x="777240" y="822960"/>
            <a:ext cx="10881360" cy="822960"/>
          </a:xfrm>
          <a:prstGeom prst="rect">
            <a:avLst/>
          </a:prstGeom>
          <a:noFill/>
        </p:spPr>
        <p:txBody>
          <a:bodyPr wrap="square" anchor="t">
            <a:spAutoFit/>
          </a:bodyPr>
          <a:lstStyle/>
          <a:p>
            <a:pPr algn="l">
              <a:spcAft>
                <a:spcPts val="400"/>
              </a:spcAft>
            </a:pPr>
            <a:r>
              <a:rPr sz="2900" b="1">
                <a:solidFill>
                  <a:srgbClr val="161B26"/>
                </a:solidFill>
                <a:latin typeface="Arial"/>
              </a:rPr>
              <a:t>Step 6 — Optimal number of iterations</a:t>
            </a:r>
          </a:p>
        </p:txBody>
      </p:sp>
      <p:sp>
        <p:nvSpPr>
          <p:cNvPr id="6" name="Rectangle 5"/>
          <p:cNvSpPr/>
          <p:nvPr/>
        </p:nvSpPr>
        <p:spPr>
          <a:xfrm>
            <a:off x="777240" y="1554480"/>
            <a:ext cx="10634472" cy="18288"/>
          </a:xfrm>
          <a:prstGeom prst="rect">
            <a:avLst/>
          </a:prstGeom>
          <a:solidFill>
            <a:srgbClr val="E2E8F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Rectangle 6"/>
          <p:cNvSpPr/>
          <p:nvPr/>
        </p:nvSpPr>
        <p:spPr>
          <a:xfrm>
            <a:off x="777240" y="1810512"/>
            <a:ext cx="10634472" cy="3255264"/>
          </a:xfrm>
          <a:prstGeom prst="rect">
            <a:avLst/>
          </a:prstGeom>
          <a:solidFill>
            <a:srgbClr val="0B122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TextBox 7"/>
          <p:cNvSpPr txBox="1"/>
          <p:nvPr/>
        </p:nvSpPr>
        <p:spPr>
          <a:xfrm>
            <a:off x="1097280" y="1956816"/>
            <a:ext cx="9994392" cy="2962656"/>
          </a:xfrm>
          <a:prstGeom prst="rect">
            <a:avLst/>
          </a:prstGeom>
          <a:noFill/>
        </p:spPr>
        <p:txBody>
          <a:bodyPr wrap="square" anchor="t">
            <a:spAutoFit/>
          </a:bodyPr>
          <a:lstStyle/>
          <a:p>
            <a:pPr algn="l">
              <a:spcAft>
                <a:spcPts val="300"/>
              </a:spcAft>
            </a:pPr>
            <a:r>
              <a:rPr sz="1550" b="0">
                <a:solidFill>
                  <a:srgbClr val="9CDCFE"/>
                </a:solidFill>
                <a:latin typeface="Arial"/>
              </a:rPr>
              <a:t>Maximise by setting (2k+1)θ = π/2:</a:t>
            </a:r>
          </a:p>
          <a:p>
            <a:pPr algn="l">
              <a:spcAft>
                <a:spcPts val="300"/>
              </a:spcAft>
            </a:pPr>
            <a:r>
              <a:rPr sz="1550" b="0">
                <a:solidFill>
                  <a:srgbClr val="0B1220"/>
                </a:solidFill>
                <a:latin typeface="Arial"/>
              </a:rPr>
              <a:t> </a:t>
            </a:r>
          </a:p>
          <a:p>
            <a:pPr algn="l">
              <a:spcAft>
                <a:spcPts val="300"/>
              </a:spcAft>
            </a:pPr>
            <a:r>
              <a:rPr sz="1550" b="0">
                <a:solidFill>
                  <a:srgbClr val="9CDCFE"/>
                </a:solidFill>
                <a:latin typeface="Arial"/>
              </a:rPr>
              <a:t>   k  =  π/(4θ) - 1/2</a:t>
            </a:r>
          </a:p>
          <a:p>
            <a:pPr algn="l">
              <a:spcAft>
                <a:spcPts val="300"/>
              </a:spcAft>
            </a:pPr>
            <a:r>
              <a:rPr sz="1550" b="0">
                <a:solidFill>
                  <a:srgbClr val="0B1220"/>
                </a:solidFill>
                <a:latin typeface="Arial"/>
              </a:rPr>
              <a:t> </a:t>
            </a:r>
          </a:p>
          <a:p>
            <a:pPr algn="l">
              <a:spcAft>
                <a:spcPts val="300"/>
              </a:spcAft>
            </a:pPr>
            <a:r>
              <a:rPr sz="1550" b="0">
                <a:solidFill>
                  <a:srgbClr val="9CDCFE"/>
                </a:solidFill>
                <a:latin typeface="Arial"/>
              </a:rPr>
              <a:t>For large N, sin θ = 1/√N gives θ ≈ 1/√N, so:</a:t>
            </a:r>
          </a:p>
          <a:p>
            <a:pPr algn="l">
              <a:spcAft>
                <a:spcPts val="300"/>
              </a:spcAft>
            </a:pPr>
            <a:r>
              <a:rPr sz="1550" b="0">
                <a:solidFill>
                  <a:srgbClr val="0B1220"/>
                </a:solidFill>
                <a:latin typeface="Arial"/>
              </a:rPr>
              <a:t> </a:t>
            </a:r>
          </a:p>
          <a:p>
            <a:pPr algn="l">
              <a:spcAft>
                <a:spcPts val="300"/>
              </a:spcAft>
            </a:pPr>
            <a:r>
              <a:rPr sz="1550" b="0">
                <a:solidFill>
                  <a:srgbClr val="9CDCFE"/>
                </a:solidFill>
                <a:latin typeface="Arial"/>
              </a:rPr>
              <a:t>   k  ≈  (π/4)√N</a:t>
            </a:r>
          </a:p>
          <a:p>
            <a:pPr algn="l">
              <a:spcAft>
                <a:spcPts val="300"/>
              </a:spcAft>
            </a:pPr>
            <a:r>
              <a:rPr sz="1550" b="0">
                <a:solidFill>
                  <a:srgbClr val="0B1220"/>
                </a:solidFill>
                <a:latin typeface="Arial"/>
              </a:rPr>
              <a:t> </a:t>
            </a:r>
          </a:p>
          <a:p>
            <a:pPr algn="l">
              <a:spcAft>
                <a:spcPts val="300"/>
              </a:spcAft>
            </a:pPr>
            <a:r>
              <a:rPr sz="1550" b="0">
                <a:solidFill>
                  <a:srgbClr val="9CDCFE"/>
                </a:solidFill>
                <a:latin typeface="Arial"/>
              </a:rPr>
              <a:t>Example N = 10⁶:  k ≈ 785 queries versus ~500,000 classically.</a:t>
            </a:r>
          </a:p>
        </p:txBody>
      </p:sp>
      <p:sp>
        <p:nvSpPr>
          <p:cNvPr id="9" name="Rectangle 8"/>
          <p:cNvSpPr/>
          <p:nvPr/>
        </p:nvSpPr>
        <p:spPr>
          <a:xfrm>
            <a:off x="777240" y="5266944"/>
            <a:ext cx="10634472" cy="786384"/>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Rectangle 9"/>
          <p:cNvSpPr/>
          <p:nvPr/>
        </p:nvSpPr>
        <p:spPr>
          <a:xfrm>
            <a:off x="777240" y="5266944"/>
            <a:ext cx="82296" cy="786384"/>
          </a:xfrm>
          <a:prstGeom prst="rect">
            <a:avLst/>
          </a:prstGeom>
          <a:solidFill>
            <a:srgbClr val="F59E0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 name="TextBox 10"/>
          <p:cNvSpPr txBox="1"/>
          <p:nvPr/>
        </p:nvSpPr>
        <p:spPr>
          <a:xfrm>
            <a:off x="1097280" y="5266944"/>
            <a:ext cx="10149840" cy="786384"/>
          </a:xfrm>
          <a:prstGeom prst="rect">
            <a:avLst/>
          </a:prstGeom>
          <a:noFill/>
        </p:spPr>
        <p:txBody>
          <a:bodyPr wrap="square" anchor="ctr">
            <a:spAutoFit/>
          </a:bodyPr>
          <a:lstStyle/>
          <a:p>
            <a:pPr algn="l">
              <a:spcAft>
                <a:spcPts val="400"/>
              </a:spcAft>
            </a:pPr>
            <a:r>
              <a:rPr sz="1150" b="1">
                <a:solidFill>
                  <a:srgbClr val="F59E0B"/>
                </a:solidFill>
                <a:latin typeface="Arial"/>
              </a:rPr>
              <a:t>WHY THIS STEP:  </a:t>
            </a:r>
            <a:r>
              <a:rPr sz="1300" b="0">
                <a:solidFill>
                  <a:srgbClr val="161B26"/>
                </a:solidFill>
                <a:latin typeface="Arial"/>
              </a:rPr>
              <a:t>OVER-ROTATION IS REAL: run too many iterations and the state rotates PAST |w&gt;, and the success probability falls again.</a:t>
            </a:r>
          </a:p>
        </p:txBody>
      </p:sp>
      <p:sp>
        <p:nvSpPr>
          <p:cNvPr id="12" name="TextBox 11"/>
          <p:cNvSpPr txBox="1"/>
          <p:nvPr/>
        </p:nvSpPr>
        <p:spPr>
          <a:xfrm>
            <a:off x="365760" y="6446520"/>
            <a:ext cx="6858000" cy="320040"/>
          </a:xfrm>
          <a:prstGeom prst="rect">
            <a:avLst/>
          </a:prstGeom>
          <a:noFill/>
        </p:spPr>
        <p:txBody>
          <a:bodyPr wrap="square" anchor="t">
            <a:spAutoFit/>
          </a:bodyPr>
          <a:lstStyle/>
          <a:p>
            <a:pPr algn="l">
              <a:spcAft>
                <a:spcPts val="400"/>
              </a:spcAft>
            </a:pPr>
            <a:r>
              <a:rPr sz="900" b="0">
                <a:solidFill>
                  <a:srgbClr val="5B6372"/>
                </a:solidFill>
                <a:latin typeface="Arial"/>
              </a:rPr>
              <a:t>Securing the Future with Quantum Computing and Cryptography  ·  TGS-2024043419</a:t>
            </a:r>
          </a:p>
        </p:txBody>
      </p:sp>
      <p:sp>
        <p:nvSpPr>
          <p:cNvPr id="13" name="TextBox 12"/>
          <p:cNvSpPr txBox="1"/>
          <p:nvPr/>
        </p:nvSpPr>
        <p:spPr>
          <a:xfrm>
            <a:off x="4572000" y="6446520"/>
            <a:ext cx="3017520" cy="320040"/>
          </a:xfrm>
          <a:prstGeom prst="rect">
            <a:avLst/>
          </a:prstGeom>
          <a:noFill/>
        </p:spPr>
        <p:txBody>
          <a:bodyPr wrap="square" anchor="t">
            <a:spAutoFit/>
          </a:bodyPr>
          <a:lstStyle/>
          <a:p>
            <a:pPr algn="ctr">
              <a:spcAft>
                <a:spcPts val="400"/>
              </a:spcAft>
            </a:pPr>
            <a:r>
              <a:rPr sz="900" b="0">
                <a:solidFill>
                  <a:srgbClr val="5B6372"/>
                </a:solidFill>
                <a:latin typeface="Arial"/>
              </a:rPr>
              <a:t>© 2026 Tertiary Infotech Academy Pte Ltd</a:t>
            </a:r>
          </a:p>
        </p:txBody>
      </p:sp>
      <p:sp>
        <p:nvSpPr>
          <p:cNvPr id="14" name="TextBox 13"/>
          <p:cNvSpPr txBox="1"/>
          <p:nvPr/>
        </p:nvSpPr>
        <p:spPr>
          <a:xfrm>
            <a:off x="11338560" y="6446520"/>
            <a:ext cx="548640" cy="320040"/>
          </a:xfrm>
          <a:prstGeom prst="rect">
            <a:avLst/>
          </a:prstGeom>
          <a:noFill/>
        </p:spPr>
        <p:txBody>
          <a:bodyPr wrap="square" anchor="t">
            <a:spAutoFit/>
          </a:bodyPr>
          <a:lstStyle/>
          <a:p>
            <a:pPr algn="r">
              <a:spcAft>
                <a:spcPts val="400"/>
              </a:spcAft>
            </a:pPr>
            <a:r>
              <a:rPr sz="900" b="0">
                <a:solidFill>
                  <a:srgbClr val="5B6372"/>
                </a:solidFill>
                <a:latin typeface="Arial"/>
              </a:rPr>
              <a:t>166</a:t>
            </a:r>
          </a:p>
        </p:txBody>
      </p:sp>
    </p:spTree>
  </p:cSld>
  <p:clrMapOvr>
    <a:masterClrMapping/>
  </p:clrMapOvr>
</p:sld>
</file>

<file path=ppt/slides/slide168.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256032" cy="1417320"/>
          </a:xfrm>
          <a:prstGeom prst="rect">
            <a:avLst/>
          </a:prstGeom>
          <a:solidFill>
            <a:srgbClr val="7C3AE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777240" y="457200"/>
            <a:ext cx="10607040" cy="365760"/>
          </a:xfrm>
          <a:prstGeom prst="rect">
            <a:avLst/>
          </a:prstGeom>
          <a:noFill/>
        </p:spPr>
        <p:txBody>
          <a:bodyPr wrap="square" anchor="t">
            <a:spAutoFit/>
          </a:bodyPr>
          <a:lstStyle/>
          <a:p>
            <a:pPr algn="l">
              <a:spcAft>
                <a:spcPts val="400"/>
              </a:spcAft>
            </a:pPr>
            <a:r>
              <a:rPr sz="1400" b="1">
                <a:solidFill>
                  <a:srgbClr val="7C3AED"/>
                </a:solidFill>
                <a:latin typeface="Arial"/>
              </a:rPr>
              <a:t>GROVER'S ALGORITHM AND THE √N SPEEDUP  ·  STEP 7 OF 7</a:t>
            </a:r>
          </a:p>
        </p:txBody>
      </p:sp>
      <p:sp>
        <p:nvSpPr>
          <p:cNvPr id="5" name="TextBox 4"/>
          <p:cNvSpPr txBox="1"/>
          <p:nvPr/>
        </p:nvSpPr>
        <p:spPr>
          <a:xfrm>
            <a:off x="777240" y="822960"/>
            <a:ext cx="10881360" cy="822960"/>
          </a:xfrm>
          <a:prstGeom prst="rect">
            <a:avLst/>
          </a:prstGeom>
          <a:noFill/>
        </p:spPr>
        <p:txBody>
          <a:bodyPr wrap="square" anchor="t">
            <a:spAutoFit/>
          </a:bodyPr>
          <a:lstStyle/>
          <a:p>
            <a:pPr algn="l">
              <a:spcAft>
                <a:spcPts val="400"/>
              </a:spcAft>
            </a:pPr>
            <a:r>
              <a:rPr sz="2900" b="1">
                <a:solidFill>
                  <a:srgbClr val="161B26"/>
                </a:solidFill>
                <a:latin typeface="Arial"/>
              </a:rPr>
              <a:t>Step 7 — Optimality</a:t>
            </a:r>
          </a:p>
        </p:txBody>
      </p:sp>
      <p:sp>
        <p:nvSpPr>
          <p:cNvPr id="6" name="Rectangle 5"/>
          <p:cNvSpPr/>
          <p:nvPr/>
        </p:nvSpPr>
        <p:spPr>
          <a:xfrm>
            <a:off x="777240" y="1554480"/>
            <a:ext cx="10634472" cy="18288"/>
          </a:xfrm>
          <a:prstGeom prst="rect">
            <a:avLst/>
          </a:prstGeom>
          <a:solidFill>
            <a:srgbClr val="E2E8F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Rectangle 6"/>
          <p:cNvSpPr/>
          <p:nvPr/>
        </p:nvSpPr>
        <p:spPr>
          <a:xfrm>
            <a:off x="777240" y="1810512"/>
            <a:ext cx="10634472" cy="1700784"/>
          </a:xfrm>
          <a:prstGeom prst="rect">
            <a:avLst/>
          </a:prstGeom>
          <a:solidFill>
            <a:srgbClr val="0B122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TextBox 7"/>
          <p:cNvSpPr txBox="1"/>
          <p:nvPr/>
        </p:nvSpPr>
        <p:spPr>
          <a:xfrm>
            <a:off x="1097280" y="1956816"/>
            <a:ext cx="9994392" cy="1408176"/>
          </a:xfrm>
          <a:prstGeom prst="rect">
            <a:avLst/>
          </a:prstGeom>
          <a:noFill/>
        </p:spPr>
        <p:txBody>
          <a:bodyPr wrap="square" anchor="t">
            <a:spAutoFit/>
          </a:bodyPr>
          <a:lstStyle/>
          <a:p>
            <a:pPr algn="l">
              <a:spcAft>
                <a:spcPts val="300"/>
              </a:spcAft>
            </a:pPr>
            <a:r>
              <a:rPr sz="1550" b="0">
                <a:solidFill>
                  <a:srgbClr val="9CDCFE"/>
                </a:solidFill>
                <a:latin typeface="Arial"/>
              </a:rPr>
              <a:t>Bennett, Bernstein, Brassard and Vazirani (1997) proved that ANY quantum</a:t>
            </a:r>
          </a:p>
          <a:p>
            <a:pPr algn="l">
              <a:spcAft>
                <a:spcPts val="300"/>
              </a:spcAft>
            </a:pPr>
            <a:r>
              <a:rPr sz="1550" b="0">
                <a:solidFill>
                  <a:srgbClr val="9CDCFE"/>
                </a:solidFill>
                <a:latin typeface="Arial"/>
              </a:rPr>
              <a:t>algorithm needs Ω(√N) queries for unstructured search.</a:t>
            </a:r>
          </a:p>
          <a:p>
            <a:pPr algn="l">
              <a:spcAft>
                <a:spcPts val="300"/>
              </a:spcAft>
            </a:pPr>
            <a:r>
              <a:rPr sz="1550" b="0">
                <a:solidFill>
                  <a:srgbClr val="0B1220"/>
                </a:solidFill>
                <a:latin typeface="Arial"/>
              </a:rPr>
              <a:t> </a:t>
            </a:r>
          </a:p>
          <a:p>
            <a:pPr algn="l">
              <a:spcAft>
                <a:spcPts val="300"/>
              </a:spcAft>
            </a:pPr>
            <a:r>
              <a:rPr sz="1550" b="0">
                <a:solidFill>
                  <a:srgbClr val="9CDCFE"/>
                </a:solidFill>
                <a:latin typeface="Arial"/>
              </a:rPr>
              <a:t>Grover therefore achieves the optimal scaling — it cannot be improved.</a:t>
            </a:r>
          </a:p>
        </p:txBody>
      </p:sp>
      <p:sp>
        <p:nvSpPr>
          <p:cNvPr id="9" name="Rectangle 8"/>
          <p:cNvSpPr/>
          <p:nvPr/>
        </p:nvSpPr>
        <p:spPr>
          <a:xfrm>
            <a:off x="777240" y="3712464"/>
            <a:ext cx="10634472" cy="2340864"/>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Rectangle 9"/>
          <p:cNvSpPr/>
          <p:nvPr/>
        </p:nvSpPr>
        <p:spPr>
          <a:xfrm>
            <a:off x="777240" y="3712464"/>
            <a:ext cx="82296" cy="2340864"/>
          </a:xfrm>
          <a:prstGeom prst="rect">
            <a:avLst/>
          </a:prstGeom>
          <a:solidFill>
            <a:srgbClr val="F59E0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 name="TextBox 10"/>
          <p:cNvSpPr txBox="1"/>
          <p:nvPr/>
        </p:nvSpPr>
        <p:spPr>
          <a:xfrm>
            <a:off x="1097280" y="3712464"/>
            <a:ext cx="10149840" cy="2340864"/>
          </a:xfrm>
          <a:prstGeom prst="rect">
            <a:avLst/>
          </a:prstGeom>
          <a:noFill/>
        </p:spPr>
        <p:txBody>
          <a:bodyPr wrap="square" anchor="ctr">
            <a:spAutoFit/>
          </a:bodyPr>
          <a:lstStyle/>
          <a:p>
            <a:pPr algn="l">
              <a:spcAft>
                <a:spcPts val="400"/>
              </a:spcAft>
            </a:pPr>
            <a:r>
              <a:rPr sz="1150" b="1">
                <a:solidFill>
                  <a:srgbClr val="F59E0B"/>
                </a:solidFill>
                <a:latin typeface="Arial"/>
              </a:rPr>
              <a:t>WHY THIS STEP:  </a:t>
            </a:r>
            <a:r>
              <a:rPr sz="1300" b="0">
                <a:solidFill>
                  <a:srgbClr val="161B26"/>
                </a:solidFill>
                <a:latin typeface="Arial"/>
              </a:rPr>
              <a:t>The speedup is QUADRATIC, not exponential. This is why Grover only halves effective symmetric key lengths rather than breaking them.</a:t>
            </a:r>
          </a:p>
        </p:txBody>
      </p:sp>
      <p:sp>
        <p:nvSpPr>
          <p:cNvPr id="12" name="TextBox 11"/>
          <p:cNvSpPr txBox="1"/>
          <p:nvPr/>
        </p:nvSpPr>
        <p:spPr>
          <a:xfrm>
            <a:off x="365760" y="6446520"/>
            <a:ext cx="6858000" cy="320040"/>
          </a:xfrm>
          <a:prstGeom prst="rect">
            <a:avLst/>
          </a:prstGeom>
          <a:noFill/>
        </p:spPr>
        <p:txBody>
          <a:bodyPr wrap="square" anchor="t">
            <a:spAutoFit/>
          </a:bodyPr>
          <a:lstStyle/>
          <a:p>
            <a:pPr algn="l">
              <a:spcAft>
                <a:spcPts val="400"/>
              </a:spcAft>
            </a:pPr>
            <a:r>
              <a:rPr sz="900" b="0">
                <a:solidFill>
                  <a:srgbClr val="5B6372"/>
                </a:solidFill>
                <a:latin typeface="Arial"/>
              </a:rPr>
              <a:t>Securing the Future with Quantum Computing and Cryptography  ·  TGS-2024043419</a:t>
            </a:r>
          </a:p>
        </p:txBody>
      </p:sp>
      <p:sp>
        <p:nvSpPr>
          <p:cNvPr id="13" name="TextBox 12"/>
          <p:cNvSpPr txBox="1"/>
          <p:nvPr/>
        </p:nvSpPr>
        <p:spPr>
          <a:xfrm>
            <a:off x="4572000" y="6446520"/>
            <a:ext cx="3017520" cy="320040"/>
          </a:xfrm>
          <a:prstGeom prst="rect">
            <a:avLst/>
          </a:prstGeom>
          <a:noFill/>
        </p:spPr>
        <p:txBody>
          <a:bodyPr wrap="square" anchor="t">
            <a:spAutoFit/>
          </a:bodyPr>
          <a:lstStyle/>
          <a:p>
            <a:pPr algn="ctr">
              <a:spcAft>
                <a:spcPts val="400"/>
              </a:spcAft>
            </a:pPr>
            <a:r>
              <a:rPr sz="900" b="0">
                <a:solidFill>
                  <a:srgbClr val="5B6372"/>
                </a:solidFill>
                <a:latin typeface="Arial"/>
              </a:rPr>
              <a:t>© 2026 Tertiary Infotech Academy Pte Ltd</a:t>
            </a:r>
          </a:p>
        </p:txBody>
      </p:sp>
      <p:sp>
        <p:nvSpPr>
          <p:cNvPr id="14" name="TextBox 13"/>
          <p:cNvSpPr txBox="1"/>
          <p:nvPr/>
        </p:nvSpPr>
        <p:spPr>
          <a:xfrm>
            <a:off x="11338560" y="6446520"/>
            <a:ext cx="548640" cy="320040"/>
          </a:xfrm>
          <a:prstGeom prst="rect">
            <a:avLst/>
          </a:prstGeom>
          <a:noFill/>
        </p:spPr>
        <p:txBody>
          <a:bodyPr wrap="square" anchor="t">
            <a:spAutoFit/>
          </a:bodyPr>
          <a:lstStyle/>
          <a:p>
            <a:pPr algn="r">
              <a:spcAft>
                <a:spcPts val="400"/>
              </a:spcAft>
            </a:pPr>
            <a:r>
              <a:rPr sz="900" b="0">
                <a:solidFill>
                  <a:srgbClr val="5B6372"/>
                </a:solidFill>
                <a:latin typeface="Arial"/>
              </a:rPr>
              <a:t>167</a:t>
            </a:r>
          </a:p>
        </p:txBody>
      </p:sp>
    </p:spTree>
  </p:cSld>
  <p:clrMapOvr>
    <a:masterClrMapping/>
  </p:clrMapOvr>
</p:sld>
</file>

<file path=ppt/slides/slide169.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256032" cy="1417320"/>
          </a:xfrm>
          <a:prstGeom prst="rect">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777240" y="457200"/>
            <a:ext cx="10607040" cy="365760"/>
          </a:xfrm>
          <a:prstGeom prst="rect">
            <a:avLst/>
          </a:prstGeom>
          <a:noFill/>
        </p:spPr>
        <p:txBody>
          <a:bodyPr wrap="square" anchor="t">
            <a:spAutoFit/>
          </a:bodyPr>
          <a:lstStyle/>
          <a:p>
            <a:pPr algn="l">
              <a:spcAft>
                <a:spcPts val="400"/>
              </a:spcAft>
            </a:pPr>
            <a:r>
              <a:rPr sz="1400" b="1">
                <a:solidFill>
                  <a:srgbClr val="10B981"/>
                </a:solidFill>
                <a:latin typeface="Arial"/>
              </a:rPr>
              <a:t>QED</a:t>
            </a:r>
          </a:p>
        </p:txBody>
      </p:sp>
      <p:sp>
        <p:nvSpPr>
          <p:cNvPr id="5" name="TextBox 4"/>
          <p:cNvSpPr txBox="1"/>
          <p:nvPr/>
        </p:nvSpPr>
        <p:spPr>
          <a:xfrm>
            <a:off x="777240" y="822960"/>
            <a:ext cx="10881360" cy="822960"/>
          </a:xfrm>
          <a:prstGeom prst="rect">
            <a:avLst/>
          </a:prstGeom>
          <a:noFill/>
        </p:spPr>
        <p:txBody>
          <a:bodyPr wrap="square" anchor="t">
            <a:spAutoFit/>
          </a:bodyPr>
          <a:lstStyle/>
          <a:p>
            <a:pPr algn="l">
              <a:spcAft>
                <a:spcPts val="400"/>
              </a:spcAft>
            </a:pPr>
            <a:r>
              <a:rPr sz="2900" b="1">
                <a:solidFill>
                  <a:srgbClr val="161B26"/>
                </a:solidFill>
                <a:latin typeface="Arial"/>
              </a:rPr>
              <a:t>Grover's Algorithm and the √N Speedup — Result</a:t>
            </a:r>
          </a:p>
        </p:txBody>
      </p:sp>
      <p:sp>
        <p:nvSpPr>
          <p:cNvPr id="6" name="Rectangle 5"/>
          <p:cNvSpPr/>
          <p:nvPr/>
        </p:nvSpPr>
        <p:spPr>
          <a:xfrm>
            <a:off x="777240" y="1554480"/>
            <a:ext cx="10634472" cy="18288"/>
          </a:xfrm>
          <a:prstGeom prst="rect">
            <a:avLst/>
          </a:prstGeom>
          <a:solidFill>
            <a:srgbClr val="E2E8F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Rectangle 6"/>
          <p:cNvSpPr/>
          <p:nvPr/>
        </p:nvSpPr>
        <p:spPr>
          <a:xfrm>
            <a:off x="777240" y="1783080"/>
            <a:ext cx="10634472" cy="1828800"/>
          </a:xfrm>
          <a:prstGeom prst="rect">
            <a:avLst/>
          </a:prstGeom>
          <a:solidFill>
            <a:srgbClr val="E8F7E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Rectangle 7"/>
          <p:cNvSpPr/>
          <p:nvPr/>
        </p:nvSpPr>
        <p:spPr>
          <a:xfrm>
            <a:off x="777240" y="1783080"/>
            <a:ext cx="100584" cy="1828800"/>
          </a:xfrm>
          <a:prstGeom prst="rect">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TextBox 8"/>
          <p:cNvSpPr txBox="1"/>
          <p:nvPr/>
        </p:nvSpPr>
        <p:spPr>
          <a:xfrm>
            <a:off x="1143000" y="1965960"/>
            <a:ext cx="10058400" cy="365760"/>
          </a:xfrm>
          <a:prstGeom prst="rect">
            <a:avLst/>
          </a:prstGeom>
          <a:noFill/>
        </p:spPr>
        <p:txBody>
          <a:bodyPr wrap="square" anchor="t">
            <a:spAutoFit/>
          </a:bodyPr>
          <a:lstStyle/>
          <a:p>
            <a:pPr algn="l">
              <a:spcAft>
                <a:spcPts val="400"/>
              </a:spcAft>
            </a:pPr>
            <a:r>
              <a:rPr sz="1200" b="1">
                <a:solidFill>
                  <a:srgbClr val="127A3E"/>
                </a:solidFill>
                <a:latin typeface="Arial"/>
              </a:rPr>
              <a:t>RESULT</a:t>
            </a:r>
          </a:p>
        </p:txBody>
      </p:sp>
      <p:sp>
        <p:nvSpPr>
          <p:cNvPr id="10" name="TextBox 9"/>
          <p:cNvSpPr txBox="1"/>
          <p:nvPr/>
        </p:nvSpPr>
        <p:spPr>
          <a:xfrm>
            <a:off x="1143000" y="2377440"/>
            <a:ext cx="10058400" cy="1143000"/>
          </a:xfrm>
          <a:prstGeom prst="rect">
            <a:avLst/>
          </a:prstGeom>
          <a:noFill/>
        </p:spPr>
        <p:txBody>
          <a:bodyPr wrap="square" anchor="t">
            <a:spAutoFit/>
          </a:bodyPr>
          <a:lstStyle/>
          <a:p>
            <a:pPr algn="l">
              <a:spcAft>
                <a:spcPts val="400"/>
              </a:spcAft>
            </a:pPr>
            <a:r>
              <a:rPr sz="1550" b="1">
                <a:solidFill>
                  <a:srgbClr val="161B26"/>
                </a:solidFill>
                <a:latin typeface="Arial"/>
              </a:rPr>
              <a:t>After ≈(π/4)√N iterations the marked state is measured with probability ≈1. The quadratic speedup is provably optimal for unstructured search.</a:t>
            </a:r>
          </a:p>
        </p:txBody>
      </p:sp>
      <p:sp>
        <p:nvSpPr>
          <p:cNvPr id="11" name="Rectangle 10"/>
          <p:cNvSpPr/>
          <p:nvPr/>
        </p:nvSpPr>
        <p:spPr>
          <a:xfrm>
            <a:off x="777240" y="3840480"/>
            <a:ext cx="10634472" cy="2148840"/>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 name="Rectangle 11"/>
          <p:cNvSpPr/>
          <p:nvPr/>
        </p:nvSpPr>
        <p:spPr>
          <a:xfrm>
            <a:off x="777240" y="3840480"/>
            <a:ext cx="100584" cy="2148840"/>
          </a:xfrm>
          <a:prstGeom prst="rect">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 name="TextBox 12"/>
          <p:cNvSpPr txBox="1"/>
          <p:nvPr/>
        </p:nvSpPr>
        <p:spPr>
          <a:xfrm>
            <a:off x="1143000" y="4023360"/>
            <a:ext cx="10058400" cy="365760"/>
          </a:xfrm>
          <a:prstGeom prst="rect">
            <a:avLst/>
          </a:prstGeom>
          <a:noFill/>
        </p:spPr>
        <p:txBody>
          <a:bodyPr wrap="square" anchor="t">
            <a:spAutoFit/>
          </a:bodyPr>
          <a:lstStyle/>
          <a:p>
            <a:pPr algn="l">
              <a:spcAft>
                <a:spcPts val="400"/>
              </a:spcAft>
            </a:pPr>
            <a:r>
              <a:rPr sz="1200" b="1">
                <a:solidFill>
                  <a:srgbClr val="1F6FEB"/>
                </a:solidFill>
                <a:latin typeface="Arial"/>
              </a:rPr>
              <a:t>WHY IT MATTERS</a:t>
            </a:r>
          </a:p>
        </p:txBody>
      </p:sp>
      <p:sp>
        <p:nvSpPr>
          <p:cNvPr id="14" name="TextBox 13"/>
          <p:cNvSpPr txBox="1"/>
          <p:nvPr/>
        </p:nvSpPr>
        <p:spPr>
          <a:xfrm>
            <a:off x="1143000" y="4434840"/>
            <a:ext cx="10058400" cy="1463040"/>
          </a:xfrm>
          <a:prstGeom prst="rect">
            <a:avLst/>
          </a:prstGeom>
          <a:noFill/>
        </p:spPr>
        <p:txBody>
          <a:bodyPr wrap="square" anchor="t">
            <a:spAutoFit/>
          </a:bodyPr>
          <a:lstStyle/>
          <a:p>
            <a:pPr algn="l">
              <a:spcAft>
                <a:spcPts val="400"/>
              </a:spcAft>
            </a:pPr>
            <a:r>
              <a:rPr sz="1450" b="0">
                <a:solidFill>
                  <a:srgbClr val="161B26"/>
                </a:solidFill>
                <a:latin typeface="Arial"/>
              </a:rPr>
              <a:t>Grover is the reason AES-128 drops to ~64-bit effective security against a quantum adversary and why NIST recommends AES-256. Its amplitude-amplification core also underpins quantum counting and amplitude estimation.</a:t>
            </a:r>
          </a:p>
        </p:txBody>
      </p:sp>
      <p:sp>
        <p:nvSpPr>
          <p:cNvPr id="15" name="TextBox 14"/>
          <p:cNvSpPr txBox="1"/>
          <p:nvPr/>
        </p:nvSpPr>
        <p:spPr>
          <a:xfrm>
            <a:off x="365760" y="6446520"/>
            <a:ext cx="6858000" cy="320040"/>
          </a:xfrm>
          <a:prstGeom prst="rect">
            <a:avLst/>
          </a:prstGeom>
          <a:noFill/>
        </p:spPr>
        <p:txBody>
          <a:bodyPr wrap="square" anchor="t">
            <a:spAutoFit/>
          </a:bodyPr>
          <a:lstStyle/>
          <a:p>
            <a:pPr algn="l">
              <a:spcAft>
                <a:spcPts val="400"/>
              </a:spcAft>
            </a:pPr>
            <a:r>
              <a:rPr sz="900" b="0">
                <a:solidFill>
                  <a:srgbClr val="5B6372"/>
                </a:solidFill>
                <a:latin typeface="Arial"/>
              </a:rPr>
              <a:t>Securing the Future with Quantum Computing and Cryptography  ·  TGS-2024043419</a:t>
            </a:r>
          </a:p>
        </p:txBody>
      </p:sp>
      <p:sp>
        <p:nvSpPr>
          <p:cNvPr id="16" name="TextBox 15"/>
          <p:cNvSpPr txBox="1"/>
          <p:nvPr/>
        </p:nvSpPr>
        <p:spPr>
          <a:xfrm>
            <a:off x="4572000" y="6446520"/>
            <a:ext cx="3017520" cy="320040"/>
          </a:xfrm>
          <a:prstGeom prst="rect">
            <a:avLst/>
          </a:prstGeom>
          <a:noFill/>
        </p:spPr>
        <p:txBody>
          <a:bodyPr wrap="square" anchor="t">
            <a:spAutoFit/>
          </a:bodyPr>
          <a:lstStyle/>
          <a:p>
            <a:pPr algn="ctr">
              <a:spcAft>
                <a:spcPts val="400"/>
              </a:spcAft>
            </a:pPr>
            <a:r>
              <a:rPr sz="900" b="0">
                <a:solidFill>
                  <a:srgbClr val="5B6372"/>
                </a:solidFill>
                <a:latin typeface="Arial"/>
              </a:rPr>
              <a:t>© 2026 Tertiary Infotech Academy Pte Ltd</a:t>
            </a:r>
          </a:p>
        </p:txBody>
      </p:sp>
      <p:sp>
        <p:nvSpPr>
          <p:cNvPr id="17" name="TextBox 16"/>
          <p:cNvSpPr txBox="1"/>
          <p:nvPr/>
        </p:nvSpPr>
        <p:spPr>
          <a:xfrm>
            <a:off x="11338560" y="6446520"/>
            <a:ext cx="548640" cy="320040"/>
          </a:xfrm>
          <a:prstGeom prst="rect">
            <a:avLst/>
          </a:prstGeom>
          <a:noFill/>
        </p:spPr>
        <p:txBody>
          <a:bodyPr wrap="square" anchor="t">
            <a:spAutoFit/>
          </a:bodyPr>
          <a:lstStyle/>
          <a:p>
            <a:pPr algn="r">
              <a:spcAft>
                <a:spcPts val="400"/>
              </a:spcAft>
            </a:pPr>
            <a:r>
              <a:rPr sz="900" b="0">
                <a:solidFill>
                  <a:srgbClr val="5B6372"/>
                </a:solidFill>
                <a:latin typeface="Arial"/>
              </a:rPr>
              <a:t>168</a:t>
            </a:r>
          </a:p>
        </p:txBody>
      </p:sp>
    </p:spTree>
  </p:cSld>
  <p:clrMapOvr>
    <a:masterClrMapping/>
  </p:clrMapOvr>
</p:sld>
</file>

<file path=ppt/slides/slide170.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256032" cy="1417320"/>
          </a:xfrm>
          <a:prstGeom prst="rect">
            <a:avLst/>
          </a:prstGeom>
          <a:solidFill>
            <a:srgbClr val="7C3AE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777240" y="457200"/>
            <a:ext cx="10607040" cy="365760"/>
          </a:xfrm>
          <a:prstGeom prst="rect">
            <a:avLst/>
          </a:prstGeom>
          <a:noFill/>
        </p:spPr>
        <p:txBody>
          <a:bodyPr wrap="square" anchor="t">
            <a:spAutoFit/>
          </a:bodyPr>
          <a:lstStyle/>
          <a:p>
            <a:pPr algn="l">
              <a:spcAft>
                <a:spcPts val="400"/>
              </a:spcAft>
            </a:pPr>
            <a:r>
              <a:rPr sz="1400" b="1">
                <a:solidFill>
                  <a:srgbClr val="7C3AED"/>
                </a:solidFill>
                <a:latin typeface="Arial"/>
              </a:rPr>
              <a:t>DERIVATION</a:t>
            </a:r>
          </a:p>
        </p:txBody>
      </p:sp>
      <p:sp>
        <p:nvSpPr>
          <p:cNvPr id="5" name="TextBox 4"/>
          <p:cNvSpPr txBox="1"/>
          <p:nvPr/>
        </p:nvSpPr>
        <p:spPr>
          <a:xfrm>
            <a:off x="777240" y="822960"/>
            <a:ext cx="10881360" cy="822960"/>
          </a:xfrm>
          <a:prstGeom prst="rect">
            <a:avLst/>
          </a:prstGeom>
          <a:noFill/>
        </p:spPr>
        <p:txBody>
          <a:bodyPr wrap="square" anchor="t">
            <a:spAutoFit/>
          </a:bodyPr>
          <a:lstStyle/>
          <a:p>
            <a:pPr algn="l">
              <a:spcAft>
                <a:spcPts val="400"/>
              </a:spcAft>
            </a:pPr>
            <a:r>
              <a:rPr sz="2900" b="1">
                <a:solidFill>
                  <a:srgbClr val="161B26"/>
                </a:solidFill>
                <a:latin typeface="Arial"/>
              </a:rPr>
              <a:t>Proof — The Quantum Fourier Transform is Efficient</a:t>
            </a:r>
          </a:p>
        </p:txBody>
      </p:sp>
      <p:sp>
        <p:nvSpPr>
          <p:cNvPr id="6" name="Rectangle 5"/>
          <p:cNvSpPr/>
          <p:nvPr/>
        </p:nvSpPr>
        <p:spPr>
          <a:xfrm>
            <a:off x="777240" y="1554480"/>
            <a:ext cx="10634472" cy="18288"/>
          </a:xfrm>
          <a:prstGeom prst="rect">
            <a:avLst/>
          </a:prstGeom>
          <a:solidFill>
            <a:srgbClr val="E2E8F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Rectangle 6"/>
          <p:cNvSpPr/>
          <p:nvPr/>
        </p:nvSpPr>
        <p:spPr>
          <a:xfrm>
            <a:off x="777240" y="1783080"/>
            <a:ext cx="10634472" cy="1371600"/>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Rectangle 7"/>
          <p:cNvSpPr/>
          <p:nvPr/>
        </p:nvSpPr>
        <p:spPr>
          <a:xfrm>
            <a:off x="777240" y="1783080"/>
            <a:ext cx="100584" cy="1371600"/>
          </a:xfrm>
          <a:prstGeom prst="rect">
            <a:avLst/>
          </a:prstGeom>
          <a:solidFill>
            <a:srgbClr val="7C3AE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TextBox 8"/>
          <p:cNvSpPr txBox="1"/>
          <p:nvPr/>
        </p:nvSpPr>
        <p:spPr>
          <a:xfrm>
            <a:off x="1143000" y="1938528"/>
            <a:ext cx="10058400" cy="365760"/>
          </a:xfrm>
          <a:prstGeom prst="rect">
            <a:avLst/>
          </a:prstGeom>
          <a:noFill/>
        </p:spPr>
        <p:txBody>
          <a:bodyPr wrap="square" anchor="t">
            <a:spAutoFit/>
          </a:bodyPr>
          <a:lstStyle/>
          <a:p>
            <a:pPr algn="l">
              <a:spcAft>
                <a:spcPts val="400"/>
              </a:spcAft>
            </a:pPr>
            <a:r>
              <a:rPr sz="1200" b="1">
                <a:solidFill>
                  <a:srgbClr val="7C3AED"/>
                </a:solidFill>
                <a:latin typeface="Arial"/>
              </a:rPr>
              <a:t>CLAIM</a:t>
            </a:r>
          </a:p>
        </p:txBody>
      </p:sp>
      <p:sp>
        <p:nvSpPr>
          <p:cNvPr id="10" name="TextBox 9"/>
          <p:cNvSpPr txBox="1"/>
          <p:nvPr/>
        </p:nvSpPr>
        <p:spPr>
          <a:xfrm>
            <a:off x="1143000" y="2304288"/>
            <a:ext cx="10058400" cy="777240"/>
          </a:xfrm>
          <a:prstGeom prst="rect">
            <a:avLst/>
          </a:prstGeom>
          <a:noFill/>
        </p:spPr>
        <p:txBody>
          <a:bodyPr wrap="square" anchor="t">
            <a:spAutoFit/>
          </a:bodyPr>
          <a:lstStyle/>
          <a:p>
            <a:pPr algn="l">
              <a:spcAft>
                <a:spcPts val="400"/>
              </a:spcAft>
            </a:pPr>
            <a:r>
              <a:rPr sz="1550" b="1">
                <a:solidFill>
                  <a:srgbClr val="161B26"/>
                </a:solidFill>
                <a:latin typeface="Arial"/>
              </a:rPr>
              <a:t>The QFT on n qubits needs only O(n²) gates, versus O(N log N) = O(n·2ⁿ) for the classical FFT.</a:t>
            </a:r>
          </a:p>
        </p:txBody>
      </p:sp>
      <p:sp>
        <p:nvSpPr>
          <p:cNvPr id="11" name="TextBox 10"/>
          <p:cNvSpPr txBox="1"/>
          <p:nvPr/>
        </p:nvSpPr>
        <p:spPr>
          <a:xfrm>
            <a:off x="777240" y="3364992"/>
            <a:ext cx="10607040" cy="365760"/>
          </a:xfrm>
          <a:prstGeom prst="rect">
            <a:avLst/>
          </a:prstGeom>
          <a:noFill/>
        </p:spPr>
        <p:txBody>
          <a:bodyPr wrap="square" anchor="t">
            <a:spAutoFit/>
          </a:bodyPr>
          <a:lstStyle/>
          <a:p>
            <a:pPr algn="l">
              <a:spcAft>
                <a:spcPts val="400"/>
              </a:spcAft>
            </a:pPr>
            <a:r>
              <a:rPr sz="1200" b="1">
                <a:solidFill>
                  <a:srgbClr val="1F6FEB"/>
                </a:solidFill>
                <a:latin typeface="Arial"/>
              </a:rPr>
              <a:t>GIVEN</a:t>
            </a:r>
          </a:p>
        </p:txBody>
      </p:sp>
      <p:sp>
        <p:nvSpPr>
          <p:cNvPr id="12" name="Rectangle 11"/>
          <p:cNvSpPr/>
          <p:nvPr/>
        </p:nvSpPr>
        <p:spPr>
          <a:xfrm>
            <a:off x="777240" y="3730752"/>
            <a:ext cx="10634472" cy="1239012"/>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 name="Rectangle 12"/>
          <p:cNvSpPr/>
          <p:nvPr/>
        </p:nvSpPr>
        <p:spPr>
          <a:xfrm>
            <a:off x="777240" y="3730752"/>
            <a:ext cx="82296" cy="1239012"/>
          </a:xfrm>
          <a:prstGeom prst="rect">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 name="TextBox 13"/>
          <p:cNvSpPr txBox="1"/>
          <p:nvPr/>
        </p:nvSpPr>
        <p:spPr>
          <a:xfrm>
            <a:off x="1097280" y="3730752"/>
            <a:ext cx="10149840" cy="1239012"/>
          </a:xfrm>
          <a:prstGeom prst="rect">
            <a:avLst/>
          </a:prstGeom>
          <a:noFill/>
        </p:spPr>
        <p:txBody>
          <a:bodyPr wrap="square" anchor="ctr">
            <a:spAutoFit/>
          </a:bodyPr>
          <a:lstStyle/>
          <a:p>
            <a:pPr algn="l">
              <a:spcAft>
                <a:spcPts val="400"/>
              </a:spcAft>
            </a:pPr>
            <a:r>
              <a:rPr sz="1300" b="0">
                <a:solidFill>
                  <a:srgbClr val="161B26"/>
                </a:solidFill>
                <a:latin typeface="Arial"/>
              </a:rPr>
              <a:t>N = 2ⁿ. The QFT acts as  |j&gt;  -&gt;  (1/√N) Σ_k e^(2πi jk/N) |k&gt;.</a:t>
            </a:r>
          </a:p>
        </p:txBody>
      </p:sp>
      <p:sp>
        <p:nvSpPr>
          <p:cNvPr id="15" name="Rectangle 14"/>
          <p:cNvSpPr/>
          <p:nvPr/>
        </p:nvSpPr>
        <p:spPr>
          <a:xfrm>
            <a:off x="777240" y="5097780"/>
            <a:ext cx="10634472" cy="1239012"/>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6" name="Rectangle 15"/>
          <p:cNvSpPr/>
          <p:nvPr/>
        </p:nvSpPr>
        <p:spPr>
          <a:xfrm>
            <a:off x="777240" y="5097780"/>
            <a:ext cx="82296" cy="1239012"/>
          </a:xfrm>
          <a:prstGeom prst="rect">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7" name="TextBox 16"/>
          <p:cNvSpPr txBox="1"/>
          <p:nvPr/>
        </p:nvSpPr>
        <p:spPr>
          <a:xfrm>
            <a:off x="1097280" y="5097780"/>
            <a:ext cx="10149840" cy="1239012"/>
          </a:xfrm>
          <a:prstGeom prst="rect">
            <a:avLst/>
          </a:prstGeom>
          <a:noFill/>
        </p:spPr>
        <p:txBody>
          <a:bodyPr wrap="square" anchor="ctr">
            <a:spAutoFit/>
          </a:bodyPr>
          <a:lstStyle/>
          <a:p>
            <a:pPr algn="l">
              <a:spcAft>
                <a:spcPts val="400"/>
              </a:spcAft>
            </a:pPr>
            <a:r>
              <a:rPr sz="1300" b="0">
                <a:solidFill>
                  <a:srgbClr val="161B26"/>
                </a:solidFill>
                <a:latin typeface="Arial"/>
              </a:rPr>
              <a:t>ω = e^(2πi/N) is the primitive N-th root of unity.</a:t>
            </a:r>
          </a:p>
        </p:txBody>
      </p:sp>
      <p:sp>
        <p:nvSpPr>
          <p:cNvPr id="18" name="TextBox 17"/>
          <p:cNvSpPr txBox="1"/>
          <p:nvPr/>
        </p:nvSpPr>
        <p:spPr>
          <a:xfrm>
            <a:off x="365760" y="6446520"/>
            <a:ext cx="6858000" cy="320040"/>
          </a:xfrm>
          <a:prstGeom prst="rect">
            <a:avLst/>
          </a:prstGeom>
          <a:noFill/>
        </p:spPr>
        <p:txBody>
          <a:bodyPr wrap="square" anchor="t">
            <a:spAutoFit/>
          </a:bodyPr>
          <a:lstStyle/>
          <a:p>
            <a:pPr algn="l">
              <a:spcAft>
                <a:spcPts val="400"/>
              </a:spcAft>
            </a:pPr>
            <a:r>
              <a:rPr sz="900" b="0">
                <a:solidFill>
                  <a:srgbClr val="5B6372"/>
                </a:solidFill>
                <a:latin typeface="Arial"/>
              </a:rPr>
              <a:t>Securing the Future with Quantum Computing and Cryptography  ·  TGS-2024043419</a:t>
            </a:r>
          </a:p>
        </p:txBody>
      </p:sp>
      <p:sp>
        <p:nvSpPr>
          <p:cNvPr id="19" name="TextBox 18"/>
          <p:cNvSpPr txBox="1"/>
          <p:nvPr/>
        </p:nvSpPr>
        <p:spPr>
          <a:xfrm>
            <a:off x="4572000" y="6446520"/>
            <a:ext cx="3017520" cy="320040"/>
          </a:xfrm>
          <a:prstGeom prst="rect">
            <a:avLst/>
          </a:prstGeom>
          <a:noFill/>
        </p:spPr>
        <p:txBody>
          <a:bodyPr wrap="square" anchor="t">
            <a:spAutoFit/>
          </a:bodyPr>
          <a:lstStyle/>
          <a:p>
            <a:pPr algn="ctr">
              <a:spcAft>
                <a:spcPts val="400"/>
              </a:spcAft>
            </a:pPr>
            <a:r>
              <a:rPr sz="900" b="0">
                <a:solidFill>
                  <a:srgbClr val="5B6372"/>
                </a:solidFill>
                <a:latin typeface="Arial"/>
              </a:rPr>
              <a:t>© 2026 Tertiary Infotech Academy Pte Ltd</a:t>
            </a:r>
          </a:p>
        </p:txBody>
      </p:sp>
      <p:sp>
        <p:nvSpPr>
          <p:cNvPr id="20" name="TextBox 19"/>
          <p:cNvSpPr txBox="1"/>
          <p:nvPr/>
        </p:nvSpPr>
        <p:spPr>
          <a:xfrm>
            <a:off x="11338560" y="6446520"/>
            <a:ext cx="548640" cy="320040"/>
          </a:xfrm>
          <a:prstGeom prst="rect">
            <a:avLst/>
          </a:prstGeom>
          <a:noFill/>
        </p:spPr>
        <p:txBody>
          <a:bodyPr wrap="square" anchor="t">
            <a:spAutoFit/>
          </a:bodyPr>
          <a:lstStyle/>
          <a:p>
            <a:pPr algn="r">
              <a:spcAft>
                <a:spcPts val="400"/>
              </a:spcAft>
            </a:pPr>
            <a:r>
              <a:rPr sz="900" b="0">
                <a:solidFill>
                  <a:srgbClr val="5B6372"/>
                </a:solidFill>
                <a:latin typeface="Arial"/>
              </a:rPr>
              <a:t>169</a:t>
            </a:r>
          </a:p>
        </p:txBody>
      </p:sp>
    </p:spTree>
  </p:cSld>
  <p:clrMapOvr>
    <a:masterClrMapping/>
  </p:clrMapOvr>
</p:sld>
</file>

<file path=ppt/slides/slide171.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256032" cy="1417320"/>
          </a:xfrm>
          <a:prstGeom prst="rect">
            <a:avLst/>
          </a:prstGeom>
          <a:solidFill>
            <a:srgbClr val="7C3AE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777240" y="457200"/>
            <a:ext cx="10607040" cy="365760"/>
          </a:xfrm>
          <a:prstGeom prst="rect">
            <a:avLst/>
          </a:prstGeom>
          <a:noFill/>
        </p:spPr>
        <p:txBody>
          <a:bodyPr wrap="square" anchor="t">
            <a:spAutoFit/>
          </a:bodyPr>
          <a:lstStyle/>
          <a:p>
            <a:pPr algn="l">
              <a:spcAft>
                <a:spcPts val="400"/>
              </a:spcAft>
            </a:pPr>
            <a:r>
              <a:rPr sz="1400" b="1">
                <a:solidFill>
                  <a:srgbClr val="7C3AED"/>
                </a:solidFill>
                <a:latin typeface="Arial"/>
              </a:rPr>
              <a:t>THE QUANTUM FOURIER TRANSFORM IS EFFICIENT  ·  STEP 1 OF 4</a:t>
            </a:r>
          </a:p>
        </p:txBody>
      </p:sp>
      <p:sp>
        <p:nvSpPr>
          <p:cNvPr id="5" name="TextBox 4"/>
          <p:cNvSpPr txBox="1"/>
          <p:nvPr/>
        </p:nvSpPr>
        <p:spPr>
          <a:xfrm>
            <a:off x="777240" y="822960"/>
            <a:ext cx="10881360" cy="822960"/>
          </a:xfrm>
          <a:prstGeom prst="rect">
            <a:avLst/>
          </a:prstGeom>
          <a:noFill/>
        </p:spPr>
        <p:txBody>
          <a:bodyPr wrap="square" anchor="t">
            <a:spAutoFit/>
          </a:bodyPr>
          <a:lstStyle/>
          <a:p>
            <a:pPr algn="l">
              <a:spcAft>
                <a:spcPts val="400"/>
              </a:spcAft>
            </a:pPr>
            <a:r>
              <a:rPr sz="2900" b="1">
                <a:solidFill>
                  <a:srgbClr val="161B26"/>
                </a:solidFill>
                <a:latin typeface="Arial"/>
              </a:rPr>
              <a:t>Step 1 — The product-form identity</a:t>
            </a:r>
          </a:p>
        </p:txBody>
      </p:sp>
      <p:sp>
        <p:nvSpPr>
          <p:cNvPr id="6" name="Rectangle 5"/>
          <p:cNvSpPr/>
          <p:nvPr/>
        </p:nvSpPr>
        <p:spPr>
          <a:xfrm>
            <a:off x="777240" y="1554480"/>
            <a:ext cx="10634472" cy="18288"/>
          </a:xfrm>
          <a:prstGeom prst="rect">
            <a:avLst/>
          </a:prstGeom>
          <a:solidFill>
            <a:srgbClr val="E2E8F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Rectangle 6"/>
          <p:cNvSpPr/>
          <p:nvPr/>
        </p:nvSpPr>
        <p:spPr>
          <a:xfrm>
            <a:off x="777240" y="1810512"/>
            <a:ext cx="10634472" cy="2011680"/>
          </a:xfrm>
          <a:prstGeom prst="rect">
            <a:avLst/>
          </a:prstGeom>
          <a:solidFill>
            <a:srgbClr val="0B122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TextBox 7"/>
          <p:cNvSpPr txBox="1"/>
          <p:nvPr/>
        </p:nvSpPr>
        <p:spPr>
          <a:xfrm>
            <a:off x="1097280" y="1956816"/>
            <a:ext cx="9994392" cy="1719072"/>
          </a:xfrm>
          <a:prstGeom prst="rect">
            <a:avLst/>
          </a:prstGeom>
          <a:noFill/>
        </p:spPr>
        <p:txBody>
          <a:bodyPr wrap="square" anchor="t">
            <a:spAutoFit/>
          </a:bodyPr>
          <a:lstStyle/>
          <a:p>
            <a:pPr algn="l">
              <a:spcAft>
                <a:spcPts val="300"/>
              </a:spcAft>
            </a:pPr>
            <a:r>
              <a:rPr sz="1550" b="0">
                <a:solidFill>
                  <a:srgbClr val="9CDCFE"/>
                </a:solidFill>
                <a:latin typeface="Arial"/>
              </a:rPr>
              <a:t>Write k in binary and expand the exponent. The 2ⁿ-term sum FACTORISES:</a:t>
            </a:r>
          </a:p>
          <a:p>
            <a:pPr algn="l">
              <a:spcAft>
                <a:spcPts val="300"/>
              </a:spcAft>
            </a:pPr>
            <a:r>
              <a:rPr sz="1550" b="0">
                <a:solidFill>
                  <a:srgbClr val="0B1220"/>
                </a:solidFill>
                <a:latin typeface="Arial"/>
              </a:rPr>
              <a:t> </a:t>
            </a:r>
          </a:p>
          <a:p>
            <a:pPr algn="l">
              <a:spcAft>
                <a:spcPts val="300"/>
              </a:spcAft>
            </a:pPr>
            <a:r>
              <a:rPr sz="1550" b="0">
                <a:solidFill>
                  <a:srgbClr val="9CDCFE"/>
                </a:solidFill>
                <a:latin typeface="Arial"/>
              </a:rPr>
              <a:t>   QFT|j&gt;  =  (1/√N) ⊗_(l=1..n) ( |0&gt; + e^(2πi j/2^l) |1&gt; )</a:t>
            </a:r>
          </a:p>
          <a:p>
            <a:pPr algn="l">
              <a:spcAft>
                <a:spcPts val="300"/>
              </a:spcAft>
            </a:pPr>
            <a:r>
              <a:rPr sz="1550" b="0">
                <a:solidFill>
                  <a:srgbClr val="0B1220"/>
                </a:solidFill>
                <a:latin typeface="Arial"/>
              </a:rPr>
              <a:t> </a:t>
            </a:r>
          </a:p>
          <a:p>
            <a:pPr algn="l">
              <a:spcAft>
                <a:spcPts val="300"/>
              </a:spcAft>
            </a:pPr>
            <a:r>
              <a:rPr sz="1550" b="0">
                <a:solidFill>
                  <a:srgbClr val="9CDCFE"/>
                </a:solidFill>
                <a:latin typeface="Arial"/>
              </a:rPr>
              <a:t>The n-qubit output is a PRODUCT of n single-qubit states.</a:t>
            </a:r>
          </a:p>
        </p:txBody>
      </p:sp>
      <p:sp>
        <p:nvSpPr>
          <p:cNvPr id="9" name="Rectangle 8"/>
          <p:cNvSpPr/>
          <p:nvPr/>
        </p:nvSpPr>
        <p:spPr>
          <a:xfrm>
            <a:off x="777240" y="4023360"/>
            <a:ext cx="10634472" cy="2029968"/>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Rectangle 9"/>
          <p:cNvSpPr/>
          <p:nvPr/>
        </p:nvSpPr>
        <p:spPr>
          <a:xfrm>
            <a:off x="777240" y="4023360"/>
            <a:ext cx="82296" cy="2029968"/>
          </a:xfrm>
          <a:prstGeom prst="rect">
            <a:avLst/>
          </a:prstGeom>
          <a:solidFill>
            <a:srgbClr val="F59E0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 name="TextBox 10"/>
          <p:cNvSpPr txBox="1"/>
          <p:nvPr/>
        </p:nvSpPr>
        <p:spPr>
          <a:xfrm>
            <a:off x="1097280" y="4023360"/>
            <a:ext cx="10149840" cy="2029968"/>
          </a:xfrm>
          <a:prstGeom prst="rect">
            <a:avLst/>
          </a:prstGeom>
          <a:noFill/>
        </p:spPr>
        <p:txBody>
          <a:bodyPr wrap="square" anchor="ctr">
            <a:spAutoFit/>
          </a:bodyPr>
          <a:lstStyle/>
          <a:p>
            <a:pPr algn="l">
              <a:spcAft>
                <a:spcPts val="400"/>
              </a:spcAft>
            </a:pPr>
            <a:r>
              <a:rPr sz="1150" b="1">
                <a:solidFill>
                  <a:srgbClr val="F59E0B"/>
                </a:solidFill>
                <a:latin typeface="Arial"/>
              </a:rPr>
              <a:t>WHY THIS STEP:  </a:t>
            </a:r>
            <a:r>
              <a:rPr sz="1300" b="0">
                <a:solidFill>
                  <a:srgbClr val="161B26"/>
                </a:solidFill>
                <a:latin typeface="Arial"/>
              </a:rPr>
              <a:t>This factorisation is why the QFT is efficient — an exponentially large sum collapses into n independent factors.</a:t>
            </a:r>
          </a:p>
        </p:txBody>
      </p:sp>
      <p:sp>
        <p:nvSpPr>
          <p:cNvPr id="12" name="TextBox 11"/>
          <p:cNvSpPr txBox="1"/>
          <p:nvPr/>
        </p:nvSpPr>
        <p:spPr>
          <a:xfrm>
            <a:off x="365760" y="6446520"/>
            <a:ext cx="6858000" cy="320040"/>
          </a:xfrm>
          <a:prstGeom prst="rect">
            <a:avLst/>
          </a:prstGeom>
          <a:noFill/>
        </p:spPr>
        <p:txBody>
          <a:bodyPr wrap="square" anchor="t">
            <a:spAutoFit/>
          </a:bodyPr>
          <a:lstStyle/>
          <a:p>
            <a:pPr algn="l">
              <a:spcAft>
                <a:spcPts val="400"/>
              </a:spcAft>
            </a:pPr>
            <a:r>
              <a:rPr sz="900" b="0">
                <a:solidFill>
                  <a:srgbClr val="5B6372"/>
                </a:solidFill>
                <a:latin typeface="Arial"/>
              </a:rPr>
              <a:t>Securing the Future with Quantum Computing and Cryptography  ·  TGS-2024043419</a:t>
            </a:r>
          </a:p>
        </p:txBody>
      </p:sp>
      <p:sp>
        <p:nvSpPr>
          <p:cNvPr id="13" name="TextBox 12"/>
          <p:cNvSpPr txBox="1"/>
          <p:nvPr/>
        </p:nvSpPr>
        <p:spPr>
          <a:xfrm>
            <a:off x="4572000" y="6446520"/>
            <a:ext cx="3017520" cy="320040"/>
          </a:xfrm>
          <a:prstGeom prst="rect">
            <a:avLst/>
          </a:prstGeom>
          <a:noFill/>
        </p:spPr>
        <p:txBody>
          <a:bodyPr wrap="square" anchor="t">
            <a:spAutoFit/>
          </a:bodyPr>
          <a:lstStyle/>
          <a:p>
            <a:pPr algn="ctr">
              <a:spcAft>
                <a:spcPts val="400"/>
              </a:spcAft>
            </a:pPr>
            <a:r>
              <a:rPr sz="900" b="0">
                <a:solidFill>
                  <a:srgbClr val="5B6372"/>
                </a:solidFill>
                <a:latin typeface="Arial"/>
              </a:rPr>
              <a:t>© 2026 Tertiary Infotech Academy Pte Ltd</a:t>
            </a:r>
          </a:p>
        </p:txBody>
      </p:sp>
      <p:sp>
        <p:nvSpPr>
          <p:cNvPr id="14" name="TextBox 13"/>
          <p:cNvSpPr txBox="1"/>
          <p:nvPr/>
        </p:nvSpPr>
        <p:spPr>
          <a:xfrm>
            <a:off x="11338560" y="6446520"/>
            <a:ext cx="548640" cy="320040"/>
          </a:xfrm>
          <a:prstGeom prst="rect">
            <a:avLst/>
          </a:prstGeom>
          <a:noFill/>
        </p:spPr>
        <p:txBody>
          <a:bodyPr wrap="square" anchor="t">
            <a:spAutoFit/>
          </a:bodyPr>
          <a:lstStyle/>
          <a:p>
            <a:pPr algn="r">
              <a:spcAft>
                <a:spcPts val="400"/>
              </a:spcAft>
            </a:pPr>
            <a:r>
              <a:rPr sz="900" b="0">
                <a:solidFill>
                  <a:srgbClr val="5B6372"/>
                </a:solidFill>
                <a:latin typeface="Arial"/>
              </a:rPr>
              <a:t>170</a:t>
            </a:r>
          </a:p>
        </p:txBody>
      </p:sp>
    </p:spTree>
  </p:cSld>
  <p:clrMapOvr>
    <a:masterClrMapping/>
  </p:clrMapOvr>
</p:sld>
</file>

<file path=ppt/slides/slide172.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256032" cy="1417320"/>
          </a:xfrm>
          <a:prstGeom prst="rect">
            <a:avLst/>
          </a:prstGeom>
          <a:solidFill>
            <a:srgbClr val="7C3AE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777240" y="457200"/>
            <a:ext cx="10607040" cy="365760"/>
          </a:xfrm>
          <a:prstGeom prst="rect">
            <a:avLst/>
          </a:prstGeom>
          <a:noFill/>
        </p:spPr>
        <p:txBody>
          <a:bodyPr wrap="square" anchor="t">
            <a:spAutoFit/>
          </a:bodyPr>
          <a:lstStyle/>
          <a:p>
            <a:pPr algn="l">
              <a:spcAft>
                <a:spcPts val="400"/>
              </a:spcAft>
            </a:pPr>
            <a:r>
              <a:rPr sz="1400" b="1">
                <a:solidFill>
                  <a:srgbClr val="7C3AED"/>
                </a:solidFill>
                <a:latin typeface="Arial"/>
              </a:rPr>
              <a:t>THE QUANTUM FOURIER TRANSFORM IS EFFICIENT  ·  STEP 2 OF 4</a:t>
            </a:r>
          </a:p>
        </p:txBody>
      </p:sp>
      <p:sp>
        <p:nvSpPr>
          <p:cNvPr id="5" name="TextBox 4"/>
          <p:cNvSpPr txBox="1"/>
          <p:nvPr/>
        </p:nvSpPr>
        <p:spPr>
          <a:xfrm>
            <a:off x="777240" y="822960"/>
            <a:ext cx="10881360" cy="822960"/>
          </a:xfrm>
          <a:prstGeom prst="rect">
            <a:avLst/>
          </a:prstGeom>
          <a:noFill/>
        </p:spPr>
        <p:txBody>
          <a:bodyPr wrap="square" anchor="t">
            <a:spAutoFit/>
          </a:bodyPr>
          <a:lstStyle/>
          <a:p>
            <a:pPr algn="l">
              <a:spcAft>
                <a:spcPts val="400"/>
              </a:spcAft>
            </a:pPr>
            <a:r>
              <a:rPr sz="2900" b="1">
                <a:solidFill>
                  <a:srgbClr val="161B26"/>
                </a:solidFill>
                <a:latin typeface="Arial"/>
              </a:rPr>
              <a:t>Step 2 — Build each factor: H + CPhase</a:t>
            </a:r>
          </a:p>
        </p:txBody>
      </p:sp>
      <p:sp>
        <p:nvSpPr>
          <p:cNvPr id="6" name="Rectangle 5"/>
          <p:cNvSpPr/>
          <p:nvPr/>
        </p:nvSpPr>
        <p:spPr>
          <a:xfrm>
            <a:off x="777240" y="1554480"/>
            <a:ext cx="10634472" cy="18288"/>
          </a:xfrm>
          <a:prstGeom prst="rect">
            <a:avLst/>
          </a:prstGeom>
          <a:solidFill>
            <a:srgbClr val="E2E8F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Rectangle 6"/>
          <p:cNvSpPr/>
          <p:nvPr/>
        </p:nvSpPr>
        <p:spPr>
          <a:xfrm>
            <a:off x="777240" y="1810512"/>
            <a:ext cx="10634472" cy="2633472"/>
          </a:xfrm>
          <a:prstGeom prst="rect">
            <a:avLst/>
          </a:prstGeom>
          <a:solidFill>
            <a:srgbClr val="0B122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TextBox 7"/>
          <p:cNvSpPr txBox="1"/>
          <p:nvPr/>
        </p:nvSpPr>
        <p:spPr>
          <a:xfrm>
            <a:off x="1097280" y="1956816"/>
            <a:ext cx="9994392" cy="2340864"/>
          </a:xfrm>
          <a:prstGeom prst="rect">
            <a:avLst/>
          </a:prstGeom>
          <a:noFill/>
        </p:spPr>
        <p:txBody>
          <a:bodyPr wrap="square" anchor="t">
            <a:spAutoFit/>
          </a:bodyPr>
          <a:lstStyle/>
          <a:p>
            <a:pPr algn="l">
              <a:spcAft>
                <a:spcPts val="300"/>
              </a:spcAft>
            </a:pPr>
            <a:r>
              <a:rPr sz="1550" b="0">
                <a:solidFill>
                  <a:srgbClr val="9CDCFE"/>
                </a:solidFill>
                <a:latin typeface="Arial"/>
              </a:rPr>
              <a:t>Qubit l needs the phase  e^(2πi j/2^l), assembled from:</a:t>
            </a:r>
          </a:p>
          <a:p>
            <a:pPr algn="l">
              <a:spcAft>
                <a:spcPts val="300"/>
              </a:spcAft>
            </a:pPr>
            <a:r>
              <a:rPr sz="1550" b="0">
                <a:solidFill>
                  <a:srgbClr val="0B1220"/>
                </a:solidFill>
                <a:latin typeface="Arial"/>
              </a:rPr>
              <a:t> </a:t>
            </a:r>
          </a:p>
          <a:p>
            <a:pPr algn="l">
              <a:spcAft>
                <a:spcPts val="300"/>
              </a:spcAft>
            </a:pPr>
            <a:r>
              <a:rPr sz="1550" b="0">
                <a:solidFill>
                  <a:srgbClr val="9CDCFE"/>
                </a:solidFill>
                <a:latin typeface="Arial"/>
              </a:rPr>
              <a:t>   H              — creates (|0&gt; + e^(2πi 0.j_l) |1&gt;)/√2</a:t>
            </a:r>
          </a:p>
          <a:p>
            <a:pPr algn="l">
              <a:spcAft>
                <a:spcPts val="300"/>
              </a:spcAft>
            </a:pPr>
            <a:r>
              <a:rPr sz="1550" b="0">
                <a:solidFill>
                  <a:srgbClr val="9CDCFE"/>
                </a:solidFill>
                <a:latin typeface="Arial"/>
              </a:rPr>
              <a:t>   CROT_k         — adds the phase 2π/2^k, controlled on a lower qubit</a:t>
            </a:r>
          </a:p>
          <a:p>
            <a:pPr algn="l">
              <a:spcAft>
                <a:spcPts val="300"/>
              </a:spcAft>
            </a:pPr>
            <a:r>
              <a:rPr sz="1550" b="0">
                <a:solidFill>
                  <a:srgbClr val="0B1220"/>
                </a:solidFill>
                <a:latin typeface="Arial"/>
              </a:rPr>
              <a:t> </a:t>
            </a:r>
          </a:p>
          <a:p>
            <a:pPr algn="l">
              <a:spcAft>
                <a:spcPts val="300"/>
              </a:spcAft>
            </a:pPr>
            <a:r>
              <a:rPr sz="1550" b="0">
                <a:solidFill>
                  <a:srgbClr val="9CDCFE"/>
                </a:solidFill>
                <a:latin typeface="Arial"/>
              </a:rPr>
              <a:t>Qubit 1 needs 1 H + (n-1) controlled rotations</a:t>
            </a:r>
          </a:p>
          <a:p>
            <a:pPr algn="l">
              <a:spcAft>
                <a:spcPts val="300"/>
              </a:spcAft>
            </a:pPr>
            <a:r>
              <a:rPr sz="1550" b="0">
                <a:solidFill>
                  <a:srgbClr val="9CDCFE"/>
                </a:solidFill>
                <a:latin typeface="Arial"/>
              </a:rPr>
              <a:t>Qubit 2 needs 1 H + (n-2) controlled rotations  …</a:t>
            </a:r>
          </a:p>
        </p:txBody>
      </p:sp>
      <p:sp>
        <p:nvSpPr>
          <p:cNvPr id="9" name="Rectangle 8"/>
          <p:cNvSpPr/>
          <p:nvPr/>
        </p:nvSpPr>
        <p:spPr>
          <a:xfrm>
            <a:off x="777240" y="4645152"/>
            <a:ext cx="10634472" cy="1408176"/>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Rectangle 9"/>
          <p:cNvSpPr/>
          <p:nvPr/>
        </p:nvSpPr>
        <p:spPr>
          <a:xfrm>
            <a:off x="777240" y="4645152"/>
            <a:ext cx="82296" cy="1408176"/>
          </a:xfrm>
          <a:prstGeom prst="rect">
            <a:avLst/>
          </a:prstGeom>
          <a:solidFill>
            <a:srgbClr val="F59E0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 name="TextBox 10"/>
          <p:cNvSpPr txBox="1"/>
          <p:nvPr/>
        </p:nvSpPr>
        <p:spPr>
          <a:xfrm>
            <a:off x="1097280" y="4645152"/>
            <a:ext cx="10149840" cy="1408176"/>
          </a:xfrm>
          <a:prstGeom prst="rect">
            <a:avLst/>
          </a:prstGeom>
          <a:noFill/>
        </p:spPr>
        <p:txBody>
          <a:bodyPr wrap="square" anchor="ctr">
            <a:spAutoFit/>
          </a:bodyPr>
          <a:lstStyle/>
          <a:p>
            <a:pPr algn="l">
              <a:spcAft>
                <a:spcPts val="400"/>
              </a:spcAft>
            </a:pPr>
            <a:r>
              <a:rPr sz="1150" b="1">
                <a:solidFill>
                  <a:srgbClr val="F59E0B"/>
                </a:solidFill>
                <a:latin typeface="Arial"/>
              </a:rPr>
              <a:t>WHY THIS STEP:  </a:t>
            </a:r>
            <a:r>
              <a:rPr sz="1300" b="0">
                <a:solidFill>
                  <a:srgbClr val="161B26"/>
                </a:solidFill>
                <a:latin typeface="Arial"/>
              </a:rPr>
              <a:t>Each controlled rotation contributes one more bit of phase precision.</a:t>
            </a:r>
          </a:p>
        </p:txBody>
      </p:sp>
      <p:sp>
        <p:nvSpPr>
          <p:cNvPr id="12" name="TextBox 11"/>
          <p:cNvSpPr txBox="1"/>
          <p:nvPr/>
        </p:nvSpPr>
        <p:spPr>
          <a:xfrm>
            <a:off x="365760" y="6446520"/>
            <a:ext cx="6858000" cy="320040"/>
          </a:xfrm>
          <a:prstGeom prst="rect">
            <a:avLst/>
          </a:prstGeom>
          <a:noFill/>
        </p:spPr>
        <p:txBody>
          <a:bodyPr wrap="square" anchor="t">
            <a:spAutoFit/>
          </a:bodyPr>
          <a:lstStyle/>
          <a:p>
            <a:pPr algn="l">
              <a:spcAft>
                <a:spcPts val="400"/>
              </a:spcAft>
            </a:pPr>
            <a:r>
              <a:rPr sz="900" b="0">
                <a:solidFill>
                  <a:srgbClr val="5B6372"/>
                </a:solidFill>
                <a:latin typeface="Arial"/>
              </a:rPr>
              <a:t>Securing the Future with Quantum Computing and Cryptography  ·  TGS-2024043419</a:t>
            </a:r>
          </a:p>
        </p:txBody>
      </p:sp>
      <p:sp>
        <p:nvSpPr>
          <p:cNvPr id="13" name="TextBox 12"/>
          <p:cNvSpPr txBox="1"/>
          <p:nvPr/>
        </p:nvSpPr>
        <p:spPr>
          <a:xfrm>
            <a:off x="4572000" y="6446520"/>
            <a:ext cx="3017520" cy="320040"/>
          </a:xfrm>
          <a:prstGeom prst="rect">
            <a:avLst/>
          </a:prstGeom>
          <a:noFill/>
        </p:spPr>
        <p:txBody>
          <a:bodyPr wrap="square" anchor="t">
            <a:spAutoFit/>
          </a:bodyPr>
          <a:lstStyle/>
          <a:p>
            <a:pPr algn="ctr">
              <a:spcAft>
                <a:spcPts val="400"/>
              </a:spcAft>
            </a:pPr>
            <a:r>
              <a:rPr sz="900" b="0">
                <a:solidFill>
                  <a:srgbClr val="5B6372"/>
                </a:solidFill>
                <a:latin typeface="Arial"/>
              </a:rPr>
              <a:t>© 2026 Tertiary Infotech Academy Pte Ltd</a:t>
            </a:r>
          </a:p>
        </p:txBody>
      </p:sp>
      <p:sp>
        <p:nvSpPr>
          <p:cNvPr id="14" name="TextBox 13"/>
          <p:cNvSpPr txBox="1"/>
          <p:nvPr/>
        </p:nvSpPr>
        <p:spPr>
          <a:xfrm>
            <a:off x="11338560" y="6446520"/>
            <a:ext cx="548640" cy="320040"/>
          </a:xfrm>
          <a:prstGeom prst="rect">
            <a:avLst/>
          </a:prstGeom>
          <a:noFill/>
        </p:spPr>
        <p:txBody>
          <a:bodyPr wrap="square" anchor="t">
            <a:spAutoFit/>
          </a:bodyPr>
          <a:lstStyle/>
          <a:p>
            <a:pPr algn="r">
              <a:spcAft>
                <a:spcPts val="400"/>
              </a:spcAft>
            </a:pPr>
            <a:r>
              <a:rPr sz="900" b="0">
                <a:solidFill>
                  <a:srgbClr val="5B6372"/>
                </a:solidFill>
                <a:latin typeface="Arial"/>
              </a:rPr>
              <a:t>171</a:t>
            </a:r>
          </a:p>
        </p:txBody>
      </p:sp>
    </p:spTree>
  </p:cSld>
  <p:clrMapOvr>
    <a:masterClrMapping/>
  </p:clrMapOvr>
</p:sld>
</file>

<file path=ppt/slides/slide173.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256032" cy="1417320"/>
          </a:xfrm>
          <a:prstGeom prst="rect">
            <a:avLst/>
          </a:prstGeom>
          <a:solidFill>
            <a:srgbClr val="7C3AE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777240" y="457200"/>
            <a:ext cx="10607040" cy="365760"/>
          </a:xfrm>
          <a:prstGeom prst="rect">
            <a:avLst/>
          </a:prstGeom>
          <a:noFill/>
        </p:spPr>
        <p:txBody>
          <a:bodyPr wrap="square" anchor="t">
            <a:spAutoFit/>
          </a:bodyPr>
          <a:lstStyle/>
          <a:p>
            <a:pPr algn="l">
              <a:spcAft>
                <a:spcPts val="400"/>
              </a:spcAft>
            </a:pPr>
            <a:r>
              <a:rPr sz="1400" b="1">
                <a:solidFill>
                  <a:srgbClr val="7C3AED"/>
                </a:solidFill>
                <a:latin typeface="Arial"/>
              </a:rPr>
              <a:t>THE QUANTUM FOURIER TRANSFORM IS EFFICIENT  ·  STEP 3 OF 4</a:t>
            </a:r>
          </a:p>
        </p:txBody>
      </p:sp>
      <p:sp>
        <p:nvSpPr>
          <p:cNvPr id="5" name="TextBox 4"/>
          <p:cNvSpPr txBox="1"/>
          <p:nvPr/>
        </p:nvSpPr>
        <p:spPr>
          <a:xfrm>
            <a:off x="777240" y="822960"/>
            <a:ext cx="10881360" cy="822960"/>
          </a:xfrm>
          <a:prstGeom prst="rect">
            <a:avLst/>
          </a:prstGeom>
          <a:noFill/>
        </p:spPr>
        <p:txBody>
          <a:bodyPr wrap="square" anchor="t">
            <a:spAutoFit/>
          </a:bodyPr>
          <a:lstStyle/>
          <a:p>
            <a:pPr algn="l">
              <a:spcAft>
                <a:spcPts val="400"/>
              </a:spcAft>
            </a:pPr>
            <a:r>
              <a:rPr sz="2900" b="1">
                <a:solidFill>
                  <a:srgbClr val="161B26"/>
                </a:solidFill>
                <a:latin typeface="Arial"/>
              </a:rPr>
              <a:t>Step 3 — Count the gates</a:t>
            </a:r>
          </a:p>
        </p:txBody>
      </p:sp>
      <p:sp>
        <p:nvSpPr>
          <p:cNvPr id="6" name="Rectangle 5"/>
          <p:cNvSpPr/>
          <p:nvPr/>
        </p:nvSpPr>
        <p:spPr>
          <a:xfrm>
            <a:off x="777240" y="1554480"/>
            <a:ext cx="10634472" cy="18288"/>
          </a:xfrm>
          <a:prstGeom prst="rect">
            <a:avLst/>
          </a:prstGeom>
          <a:solidFill>
            <a:srgbClr val="E2E8F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Rectangle 6"/>
          <p:cNvSpPr/>
          <p:nvPr/>
        </p:nvSpPr>
        <p:spPr>
          <a:xfrm>
            <a:off x="777240" y="1810512"/>
            <a:ext cx="10634472" cy="2633472"/>
          </a:xfrm>
          <a:prstGeom prst="rect">
            <a:avLst/>
          </a:prstGeom>
          <a:solidFill>
            <a:srgbClr val="0B122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TextBox 7"/>
          <p:cNvSpPr txBox="1"/>
          <p:nvPr/>
        </p:nvSpPr>
        <p:spPr>
          <a:xfrm>
            <a:off x="1097280" y="1956816"/>
            <a:ext cx="9994392" cy="2340864"/>
          </a:xfrm>
          <a:prstGeom prst="rect">
            <a:avLst/>
          </a:prstGeom>
          <a:noFill/>
        </p:spPr>
        <p:txBody>
          <a:bodyPr wrap="square" anchor="t">
            <a:spAutoFit/>
          </a:bodyPr>
          <a:lstStyle/>
          <a:p>
            <a:pPr algn="l">
              <a:spcAft>
                <a:spcPts val="300"/>
              </a:spcAft>
            </a:pPr>
            <a:r>
              <a:rPr sz="1550" b="0">
                <a:solidFill>
                  <a:srgbClr val="9CDCFE"/>
                </a:solidFill>
                <a:latin typeface="Arial"/>
              </a:rPr>
              <a:t>Total = n Hadamards + Σ(n-1) + (n-2) + … + 1 controlled rotations</a:t>
            </a:r>
          </a:p>
          <a:p>
            <a:pPr algn="l">
              <a:spcAft>
                <a:spcPts val="300"/>
              </a:spcAft>
            </a:pPr>
            <a:r>
              <a:rPr sz="1550" b="0">
                <a:solidFill>
                  <a:srgbClr val="9CDCFE"/>
                </a:solidFill>
                <a:latin typeface="Arial"/>
              </a:rPr>
              <a:t>      = n + n(n-1)/2</a:t>
            </a:r>
          </a:p>
          <a:p>
            <a:pPr algn="l">
              <a:spcAft>
                <a:spcPts val="300"/>
              </a:spcAft>
            </a:pPr>
            <a:r>
              <a:rPr sz="1550" b="0">
                <a:solidFill>
                  <a:srgbClr val="9CDCFE"/>
                </a:solidFill>
                <a:latin typeface="Arial"/>
              </a:rPr>
              <a:t>      = O(n²)</a:t>
            </a:r>
          </a:p>
          <a:p>
            <a:pPr algn="l">
              <a:spcAft>
                <a:spcPts val="300"/>
              </a:spcAft>
            </a:pPr>
            <a:r>
              <a:rPr sz="1550" b="0">
                <a:solidFill>
                  <a:srgbClr val="0B1220"/>
                </a:solidFill>
                <a:latin typeface="Arial"/>
              </a:rPr>
              <a:t> </a:t>
            </a:r>
          </a:p>
          <a:p>
            <a:pPr algn="l">
              <a:spcAft>
                <a:spcPts val="300"/>
              </a:spcAft>
            </a:pPr>
            <a:r>
              <a:rPr sz="1550" b="0">
                <a:solidFill>
                  <a:srgbClr val="9CDCFE"/>
                </a:solidFill>
                <a:latin typeface="Arial"/>
              </a:rPr>
              <a:t>Plus n/2 SWAPs to reverse the qubit order.</a:t>
            </a:r>
          </a:p>
          <a:p>
            <a:pPr algn="l">
              <a:spcAft>
                <a:spcPts val="300"/>
              </a:spcAft>
            </a:pPr>
            <a:r>
              <a:rPr sz="1550" b="0">
                <a:solidFill>
                  <a:srgbClr val="0B1220"/>
                </a:solidFill>
                <a:latin typeface="Arial"/>
              </a:rPr>
              <a:t> </a:t>
            </a:r>
          </a:p>
          <a:p>
            <a:pPr algn="l">
              <a:spcAft>
                <a:spcPts val="300"/>
              </a:spcAft>
            </a:pPr>
            <a:r>
              <a:rPr sz="1550" b="0">
                <a:solidFill>
                  <a:srgbClr val="9CDCFE"/>
                </a:solidFill>
                <a:latin typeface="Arial"/>
              </a:rPr>
              <a:t>For n = 10:  ~55 gates.     Classical FFT on N = 1024: ~10,240 operations.</a:t>
            </a:r>
          </a:p>
        </p:txBody>
      </p:sp>
      <p:sp>
        <p:nvSpPr>
          <p:cNvPr id="9" name="Rectangle 8"/>
          <p:cNvSpPr/>
          <p:nvPr/>
        </p:nvSpPr>
        <p:spPr>
          <a:xfrm>
            <a:off x="777240" y="4645152"/>
            <a:ext cx="10634472" cy="1408176"/>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Rectangle 9"/>
          <p:cNvSpPr/>
          <p:nvPr/>
        </p:nvSpPr>
        <p:spPr>
          <a:xfrm>
            <a:off x="777240" y="4645152"/>
            <a:ext cx="82296" cy="1408176"/>
          </a:xfrm>
          <a:prstGeom prst="rect">
            <a:avLst/>
          </a:prstGeom>
          <a:solidFill>
            <a:srgbClr val="F59E0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 name="TextBox 10"/>
          <p:cNvSpPr txBox="1"/>
          <p:nvPr/>
        </p:nvSpPr>
        <p:spPr>
          <a:xfrm>
            <a:off x="1097280" y="4645152"/>
            <a:ext cx="10149840" cy="1408176"/>
          </a:xfrm>
          <a:prstGeom prst="rect">
            <a:avLst/>
          </a:prstGeom>
          <a:noFill/>
        </p:spPr>
        <p:txBody>
          <a:bodyPr wrap="square" anchor="ctr">
            <a:spAutoFit/>
          </a:bodyPr>
          <a:lstStyle/>
          <a:p>
            <a:pPr algn="l">
              <a:spcAft>
                <a:spcPts val="400"/>
              </a:spcAft>
            </a:pPr>
            <a:r>
              <a:rPr sz="1150" b="1">
                <a:solidFill>
                  <a:srgbClr val="F59E0B"/>
                </a:solidFill>
                <a:latin typeface="Arial"/>
              </a:rPr>
              <a:t>WHY THIS STEP:  </a:t>
            </a:r>
            <a:r>
              <a:rPr sz="1300" b="0">
                <a:solidFill>
                  <a:srgbClr val="161B26"/>
                </a:solidFill>
                <a:latin typeface="Arial"/>
              </a:rPr>
              <a:t>Quadratic in the number of QUBITS, versus linearithmic in the number of AMPLITUDES — an exponential saving.</a:t>
            </a:r>
          </a:p>
        </p:txBody>
      </p:sp>
      <p:sp>
        <p:nvSpPr>
          <p:cNvPr id="12" name="TextBox 11"/>
          <p:cNvSpPr txBox="1"/>
          <p:nvPr/>
        </p:nvSpPr>
        <p:spPr>
          <a:xfrm>
            <a:off x="365760" y="6446520"/>
            <a:ext cx="6858000" cy="320040"/>
          </a:xfrm>
          <a:prstGeom prst="rect">
            <a:avLst/>
          </a:prstGeom>
          <a:noFill/>
        </p:spPr>
        <p:txBody>
          <a:bodyPr wrap="square" anchor="t">
            <a:spAutoFit/>
          </a:bodyPr>
          <a:lstStyle/>
          <a:p>
            <a:pPr algn="l">
              <a:spcAft>
                <a:spcPts val="400"/>
              </a:spcAft>
            </a:pPr>
            <a:r>
              <a:rPr sz="900" b="0">
                <a:solidFill>
                  <a:srgbClr val="5B6372"/>
                </a:solidFill>
                <a:latin typeface="Arial"/>
              </a:rPr>
              <a:t>Securing the Future with Quantum Computing and Cryptography  ·  TGS-2024043419</a:t>
            </a:r>
          </a:p>
        </p:txBody>
      </p:sp>
      <p:sp>
        <p:nvSpPr>
          <p:cNvPr id="13" name="TextBox 12"/>
          <p:cNvSpPr txBox="1"/>
          <p:nvPr/>
        </p:nvSpPr>
        <p:spPr>
          <a:xfrm>
            <a:off x="4572000" y="6446520"/>
            <a:ext cx="3017520" cy="320040"/>
          </a:xfrm>
          <a:prstGeom prst="rect">
            <a:avLst/>
          </a:prstGeom>
          <a:noFill/>
        </p:spPr>
        <p:txBody>
          <a:bodyPr wrap="square" anchor="t">
            <a:spAutoFit/>
          </a:bodyPr>
          <a:lstStyle/>
          <a:p>
            <a:pPr algn="ctr">
              <a:spcAft>
                <a:spcPts val="400"/>
              </a:spcAft>
            </a:pPr>
            <a:r>
              <a:rPr sz="900" b="0">
                <a:solidFill>
                  <a:srgbClr val="5B6372"/>
                </a:solidFill>
                <a:latin typeface="Arial"/>
              </a:rPr>
              <a:t>© 2026 Tertiary Infotech Academy Pte Ltd</a:t>
            </a:r>
          </a:p>
        </p:txBody>
      </p:sp>
      <p:sp>
        <p:nvSpPr>
          <p:cNvPr id="14" name="TextBox 13"/>
          <p:cNvSpPr txBox="1"/>
          <p:nvPr/>
        </p:nvSpPr>
        <p:spPr>
          <a:xfrm>
            <a:off x="11338560" y="6446520"/>
            <a:ext cx="548640" cy="320040"/>
          </a:xfrm>
          <a:prstGeom prst="rect">
            <a:avLst/>
          </a:prstGeom>
          <a:noFill/>
        </p:spPr>
        <p:txBody>
          <a:bodyPr wrap="square" anchor="t">
            <a:spAutoFit/>
          </a:bodyPr>
          <a:lstStyle/>
          <a:p>
            <a:pPr algn="r">
              <a:spcAft>
                <a:spcPts val="400"/>
              </a:spcAft>
            </a:pPr>
            <a:r>
              <a:rPr sz="900" b="0">
                <a:solidFill>
                  <a:srgbClr val="5B6372"/>
                </a:solidFill>
                <a:latin typeface="Arial"/>
              </a:rPr>
              <a:t>172</a:t>
            </a:r>
          </a:p>
        </p:txBody>
      </p:sp>
    </p:spTree>
  </p:cSld>
  <p:clrMapOvr>
    <a:masterClrMapping/>
  </p:clrMapOvr>
</p:sld>
</file>

<file path=ppt/slides/slide174.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256032" cy="1417320"/>
          </a:xfrm>
          <a:prstGeom prst="rect">
            <a:avLst/>
          </a:prstGeom>
          <a:solidFill>
            <a:srgbClr val="7C3AE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777240" y="457200"/>
            <a:ext cx="10607040" cy="365760"/>
          </a:xfrm>
          <a:prstGeom prst="rect">
            <a:avLst/>
          </a:prstGeom>
          <a:noFill/>
        </p:spPr>
        <p:txBody>
          <a:bodyPr wrap="square" anchor="t">
            <a:spAutoFit/>
          </a:bodyPr>
          <a:lstStyle/>
          <a:p>
            <a:pPr algn="l">
              <a:spcAft>
                <a:spcPts val="400"/>
              </a:spcAft>
            </a:pPr>
            <a:r>
              <a:rPr sz="1400" b="1">
                <a:solidFill>
                  <a:srgbClr val="7C3AED"/>
                </a:solidFill>
                <a:latin typeface="Arial"/>
              </a:rPr>
              <a:t>THE QUANTUM FOURIER TRANSFORM IS EFFICIENT  ·  STEP 4 OF 4</a:t>
            </a:r>
          </a:p>
        </p:txBody>
      </p:sp>
      <p:sp>
        <p:nvSpPr>
          <p:cNvPr id="5" name="TextBox 4"/>
          <p:cNvSpPr txBox="1"/>
          <p:nvPr/>
        </p:nvSpPr>
        <p:spPr>
          <a:xfrm>
            <a:off x="777240" y="822960"/>
            <a:ext cx="10881360" cy="822960"/>
          </a:xfrm>
          <a:prstGeom prst="rect">
            <a:avLst/>
          </a:prstGeom>
          <a:noFill/>
        </p:spPr>
        <p:txBody>
          <a:bodyPr wrap="square" anchor="t">
            <a:spAutoFit/>
          </a:bodyPr>
          <a:lstStyle/>
          <a:p>
            <a:pPr algn="l">
              <a:spcAft>
                <a:spcPts val="400"/>
              </a:spcAft>
            </a:pPr>
            <a:r>
              <a:rPr sz="2900" b="1">
                <a:solidFill>
                  <a:srgbClr val="161B26"/>
                </a:solidFill>
                <a:latin typeface="Arial"/>
              </a:rPr>
              <a:t>Step 4 — The essential caveat</a:t>
            </a:r>
          </a:p>
        </p:txBody>
      </p:sp>
      <p:sp>
        <p:nvSpPr>
          <p:cNvPr id="6" name="Rectangle 5"/>
          <p:cNvSpPr/>
          <p:nvPr/>
        </p:nvSpPr>
        <p:spPr>
          <a:xfrm>
            <a:off x="777240" y="1554480"/>
            <a:ext cx="10634472" cy="18288"/>
          </a:xfrm>
          <a:prstGeom prst="rect">
            <a:avLst/>
          </a:prstGeom>
          <a:solidFill>
            <a:srgbClr val="E2E8F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Rectangle 6"/>
          <p:cNvSpPr/>
          <p:nvPr/>
        </p:nvSpPr>
        <p:spPr>
          <a:xfrm>
            <a:off x="777240" y="1810512"/>
            <a:ext cx="10634472" cy="2633472"/>
          </a:xfrm>
          <a:prstGeom prst="rect">
            <a:avLst/>
          </a:prstGeom>
          <a:solidFill>
            <a:srgbClr val="0B122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TextBox 7"/>
          <p:cNvSpPr txBox="1"/>
          <p:nvPr/>
        </p:nvSpPr>
        <p:spPr>
          <a:xfrm>
            <a:off x="1097280" y="1956816"/>
            <a:ext cx="9994392" cy="2340864"/>
          </a:xfrm>
          <a:prstGeom prst="rect">
            <a:avLst/>
          </a:prstGeom>
          <a:noFill/>
        </p:spPr>
        <p:txBody>
          <a:bodyPr wrap="square" anchor="t">
            <a:spAutoFit/>
          </a:bodyPr>
          <a:lstStyle/>
          <a:p>
            <a:pPr algn="l">
              <a:spcAft>
                <a:spcPts val="300"/>
              </a:spcAft>
            </a:pPr>
            <a:r>
              <a:rPr sz="1550" b="0">
                <a:solidFill>
                  <a:srgbClr val="9CDCFE"/>
                </a:solidFill>
                <a:latin typeface="Arial"/>
              </a:rPr>
              <a:t>The QFT transforms AMPLITUDES, which cannot be read out directly.</a:t>
            </a:r>
          </a:p>
          <a:p>
            <a:pPr algn="l">
              <a:spcAft>
                <a:spcPts val="300"/>
              </a:spcAft>
            </a:pPr>
            <a:r>
              <a:rPr sz="1550" b="0">
                <a:solidFill>
                  <a:srgbClr val="9CDCFE"/>
                </a:solidFill>
                <a:latin typeface="Arial"/>
              </a:rPr>
              <a:t>Measuring gives ONE sample from the transformed distribution, not the</a:t>
            </a:r>
          </a:p>
          <a:p>
            <a:pPr algn="l">
              <a:spcAft>
                <a:spcPts val="300"/>
              </a:spcAft>
            </a:pPr>
            <a:r>
              <a:rPr sz="1550" b="0">
                <a:solidFill>
                  <a:srgbClr val="9CDCFE"/>
                </a:solidFill>
                <a:latin typeface="Arial"/>
              </a:rPr>
              <a:t>whole spectrum.</a:t>
            </a:r>
          </a:p>
          <a:p>
            <a:pPr algn="l">
              <a:spcAft>
                <a:spcPts val="300"/>
              </a:spcAft>
            </a:pPr>
            <a:r>
              <a:rPr sz="1550" b="0">
                <a:solidFill>
                  <a:srgbClr val="0B1220"/>
                </a:solidFill>
                <a:latin typeface="Arial"/>
              </a:rPr>
              <a:t> </a:t>
            </a:r>
          </a:p>
          <a:p>
            <a:pPr algn="l">
              <a:spcAft>
                <a:spcPts val="300"/>
              </a:spcAft>
            </a:pPr>
            <a:r>
              <a:rPr sz="1550" b="0">
                <a:solidFill>
                  <a:srgbClr val="9CDCFE"/>
                </a:solidFill>
                <a:latin typeface="Arial"/>
              </a:rPr>
              <a:t>So the QFT is NOT a drop-in replacement for the FFT in signal processing.</a:t>
            </a:r>
          </a:p>
          <a:p>
            <a:pPr algn="l">
              <a:spcAft>
                <a:spcPts val="300"/>
              </a:spcAft>
            </a:pPr>
            <a:r>
              <a:rPr sz="1550" b="0">
                <a:solidFill>
                  <a:srgbClr val="9CDCFE"/>
                </a:solidFill>
                <a:latin typeface="Arial"/>
              </a:rPr>
              <a:t>Its power is in extracting a PERIOD or a PHASE — which is exactly what</a:t>
            </a:r>
          </a:p>
          <a:p>
            <a:pPr algn="l">
              <a:spcAft>
                <a:spcPts val="300"/>
              </a:spcAft>
            </a:pPr>
            <a:r>
              <a:rPr sz="1550" b="0">
                <a:solidFill>
                  <a:srgbClr val="9CDCFE"/>
                </a:solidFill>
                <a:latin typeface="Arial"/>
              </a:rPr>
              <a:t>Shor's algorithm and quantum phase estimation need.</a:t>
            </a:r>
          </a:p>
        </p:txBody>
      </p:sp>
      <p:sp>
        <p:nvSpPr>
          <p:cNvPr id="9" name="Rectangle 8"/>
          <p:cNvSpPr/>
          <p:nvPr/>
        </p:nvSpPr>
        <p:spPr>
          <a:xfrm>
            <a:off x="777240" y="4645152"/>
            <a:ext cx="10634472" cy="1408176"/>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Rectangle 9"/>
          <p:cNvSpPr/>
          <p:nvPr/>
        </p:nvSpPr>
        <p:spPr>
          <a:xfrm>
            <a:off x="777240" y="4645152"/>
            <a:ext cx="82296" cy="1408176"/>
          </a:xfrm>
          <a:prstGeom prst="rect">
            <a:avLst/>
          </a:prstGeom>
          <a:solidFill>
            <a:srgbClr val="F59E0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 name="TextBox 10"/>
          <p:cNvSpPr txBox="1"/>
          <p:nvPr/>
        </p:nvSpPr>
        <p:spPr>
          <a:xfrm>
            <a:off x="1097280" y="4645152"/>
            <a:ext cx="10149840" cy="1408176"/>
          </a:xfrm>
          <a:prstGeom prst="rect">
            <a:avLst/>
          </a:prstGeom>
          <a:noFill/>
        </p:spPr>
        <p:txBody>
          <a:bodyPr wrap="square" anchor="ctr">
            <a:spAutoFit/>
          </a:bodyPr>
          <a:lstStyle/>
          <a:p>
            <a:pPr algn="l">
              <a:spcAft>
                <a:spcPts val="400"/>
              </a:spcAft>
            </a:pPr>
            <a:r>
              <a:rPr sz="1150" b="1">
                <a:solidFill>
                  <a:srgbClr val="F59E0B"/>
                </a:solidFill>
                <a:latin typeface="Arial"/>
              </a:rPr>
              <a:t>WHY THIS STEP:  </a:t>
            </a:r>
            <a:r>
              <a:rPr sz="1300" b="0">
                <a:solidFill>
                  <a:srgbClr val="161B26"/>
                </a:solidFill>
                <a:latin typeface="Arial"/>
              </a:rPr>
              <a:t>An honest statement of what the speedup does and does not buy — a common source of hype.</a:t>
            </a:r>
          </a:p>
        </p:txBody>
      </p:sp>
      <p:sp>
        <p:nvSpPr>
          <p:cNvPr id="12" name="TextBox 11"/>
          <p:cNvSpPr txBox="1"/>
          <p:nvPr/>
        </p:nvSpPr>
        <p:spPr>
          <a:xfrm>
            <a:off x="365760" y="6446520"/>
            <a:ext cx="6858000" cy="320040"/>
          </a:xfrm>
          <a:prstGeom prst="rect">
            <a:avLst/>
          </a:prstGeom>
          <a:noFill/>
        </p:spPr>
        <p:txBody>
          <a:bodyPr wrap="square" anchor="t">
            <a:spAutoFit/>
          </a:bodyPr>
          <a:lstStyle/>
          <a:p>
            <a:pPr algn="l">
              <a:spcAft>
                <a:spcPts val="400"/>
              </a:spcAft>
            </a:pPr>
            <a:r>
              <a:rPr sz="900" b="0">
                <a:solidFill>
                  <a:srgbClr val="5B6372"/>
                </a:solidFill>
                <a:latin typeface="Arial"/>
              </a:rPr>
              <a:t>Securing the Future with Quantum Computing and Cryptography  ·  TGS-2024043419</a:t>
            </a:r>
          </a:p>
        </p:txBody>
      </p:sp>
      <p:sp>
        <p:nvSpPr>
          <p:cNvPr id="13" name="TextBox 12"/>
          <p:cNvSpPr txBox="1"/>
          <p:nvPr/>
        </p:nvSpPr>
        <p:spPr>
          <a:xfrm>
            <a:off x="4572000" y="6446520"/>
            <a:ext cx="3017520" cy="320040"/>
          </a:xfrm>
          <a:prstGeom prst="rect">
            <a:avLst/>
          </a:prstGeom>
          <a:noFill/>
        </p:spPr>
        <p:txBody>
          <a:bodyPr wrap="square" anchor="t">
            <a:spAutoFit/>
          </a:bodyPr>
          <a:lstStyle/>
          <a:p>
            <a:pPr algn="ctr">
              <a:spcAft>
                <a:spcPts val="400"/>
              </a:spcAft>
            </a:pPr>
            <a:r>
              <a:rPr sz="900" b="0">
                <a:solidFill>
                  <a:srgbClr val="5B6372"/>
                </a:solidFill>
                <a:latin typeface="Arial"/>
              </a:rPr>
              <a:t>© 2026 Tertiary Infotech Academy Pte Ltd</a:t>
            </a:r>
          </a:p>
        </p:txBody>
      </p:sp>
      <p:sp>
        <p:nvSpPr>
          <p:cNvPr id="14" name="TextBox 13"/>
          <p:cNvSpPr txBox="1"/>
          <p:nvPr/>
        </p:nvSpPr>
        <p:spPr>
          <a:xfrm>
            <a:off x="11338560" y="6446520"/>
            <a:ext cx="548640" cy="320040"/>
          </a:xfrm>
          <a:prstGeom prst="rect">
            <a:avLst/>
          </a:prstGeom>
          <a:noFill/>
        </p:spPr>
        <p:txBody>
          <a:bodyPr wrap="square" anchor="t">
            <a:spAutoFit/>
          </a:bodyPr>
          <a:lstStyle/>
          <a:p>
            <a:pPr algn="r">
              <a:spcAft>
                <a:spcPts val="400"/>
              </a:spcAft>
            </a:pPr>
            <a:r>
              <a:rPr sz="900" b="0">
                <a:solidFill>
                  <a:srgbClr val="5B6372"/>
                </a:solidFill>
                <a:latin typeface="Arial"/>
              </a:rPr>
              <a:t>173</a:t>
            </a:r>
          </a:p>
        </p:txBody>
      </p:sp>
    </p:spTree>
  </p:cSld>
  <p:clrMapOvr>
    <a:masterClrMapping/>
  </p:clrMapOvr>
</p:sld>
</file>

<file path=ppt/slides/slide175.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256032" cy="1417320"/>
          </a:xfrm>
          <a:prstGeom prst="rect">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777240" y="457200"/>
            <a:ext cx="10607040" cy="365760"/>
          </a:xfrm>
          <a:prstGeom prst="rect">
            <a:avLst/>
          </a:prstGeom>
          <a:noFill/>
        </p:spPr>
        <p:txBody>
          <a:bodyPr wrap="square" anchor="t">
            <a:spAutoFit/>
          </a:bodyPr>
          <a:lstStyle/>
          <a:p>
            <a:pPr algn="l">
              <a:spcAft>
                <a:spcPts val="400"/>
              </a:spcAft>
            </a:pPr>
            <a:r>
              <a:rPr sz="1400" b="1">
                <a:solidFill>
                  <a:srgbClr val="10B981"/>
                </a:solidFill>
                <a:latin typeface="Arial"/>
              </a:rPr>
              <a:t>QED</a:t>
            </a:r>
          </a:p>
        </p:txBody>
      </p:sp>
      <p:sp>
        <p:nvSpPr>
          <p:cNvPr id="5" name="TextBox 4"/>
          <p:cNvSpPr txBox="1"/>
          <p:nvPr/>
        </p:nvSpPr>
        <p:spPr>
          <a:xfrm>
            <a:off x="777240" y="822960"/>
            <a:ext cx="10881360" cy="822960"/>
          </a:xfrm>
          <a:prstGeom prst="rect">
            <a:avLst/>
          </a:prstGeom>
          <a:noFill/>
        </p:spPr>
        <p:txBody>
          <a:bodyPr wrap="square" anchor="t">
            <a:spAutoFit/>
          </a:bodyPr>
          <a:lstStyle/>
          <a:p>
            <a:pPr algn="l">
              <a:spcAft>
                <a:spcPts val="400"/>
              </a:spcAft>
            </a:pPr>
            <a:r>
              <a:rPr sz="2900" b="1">
                <a:solidFill>
                  <a:srgbClr val="161B26"/>
                </a:solidFill>
                <a:latin typeface="Arial"/>
              </a:rPr>
              <a:t>The Quantum Fourier Transform is Efficient — Result</a:t>
            </a:r>
          </a:p>
        </p:txBody>
      </p:sp>
      <p:sp>
        <p:nvSpPr>
          <p:cNvPr id="6" name="Rectangle 5"/>
          <p:cNvSpPr/>
          <p:nvPr/>
        </p:nvSpPr>
        <p:spPr>
          <a:xfrm>
            <a:off x="777240" y="1554480"/>
            <a:ext cx="10634472" cy="18288"/>
          </a:xfrm>
          <a:prstGeom prst="rect">
            <a:avLst/>
          </a:prstGeom>
          <a:solidFill>
            <a:srgbClr val="E2E8F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Rectangle 6"/>
          <p:cNvSpPr/>
          <p:nvPr/>
        </p:nvSpPr>
        <p:spPr>
          <a:xfrm>
            <a:off x="777240" y="1783080"/>
            <a:ext cx="10634472" cy="1828800"/>
          </a:xfrm>
          <a:prstGeom prst="rect">
            <a:avLst/>
          </a:prstGeom>
          <a:solidFill>
            <a:srgbClr val="E8F7E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Rectangle 7"/>
          <p:cNvSpPr/>
          <p:nvPr/>
        </p:nvSpPr>
        <p:spPr>
          <a:xfrm>
            <a:off x="777240" y="1783080"/>
            <a:ext cx="100584" cy="1828800"/>
          </a:xfrm>
          <a:prstGeom prst="rect">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TextBox 8"/>
          <p:cNvSpPr txBox="1"/>
          <p:nvPr/>
        </p:nvSpPr>
        <p:spPr>
          <a:xfrm>
            <a:off x="1143000" y="1965960"/>
            <a:ext cx="10058400" cy="365760"/>
          </a:xfrm>
          <a:prstGeom prst="rect">
            <a:avLst/>
          </a:prstGeom>
          <a:noFill/>
        </p:spPr>
        <p:txBody>
          <a:bodyPr wrap="square" anchor="t">
            <a:spAutoFit/>
          </a:bodyPr>
          <a:lstStyle/>
          <a:p>
            <a:pPr algn="l">
              <a:spcAft>
                <a:spcPts val="400"/>
              </a:spcAft>
            </a:pPr>
            <a:r>
              <a:rPr sz="1200" b="1">
                <a:solidFill>
                  <a:srgbClr val="127A3E"/>
                </a:solidFill>
                <a:latin typeface="Arial"/>
              </a:rPr>
              <a:t>RESULT</a:t>
            </a:r>
          </a:p>
        </p:txBody>
      </p:sp>
      <p:sp>
        <p:nvSpPr>
          <p:cNvPr id="10" name="TextBox 9"/>
          <p:cNvSpPr txBox="1"/>
          <p:nvPr/>
        </p:nvSpPr>
        <p:spPr>
          <a:xfrm>
            <a:off x="1143000" y="2377440"/>
            <a:ext cx="10058400" cy="1143000"/>
          </a:xfrm>
          <a:prstGeom prst="rect">
            <a:avLst/>
          </a:prstGeom>
          <a:noFill/>
        </p:spPr>
        <p:txBody>
          <a:bodyPr wrap="square" anchor="t">
            <a:spAutoFit/>
          </a:bodyPr>
          <a:lstStyle/>
          <a:p>
            <a:pPr algn="l">
              <a:spcAft>
                <a:spcPts val="400"/>
              </a:spcAft>
            </a:pPr>
            <a:r>
              <a:rPr sz="1550" b="1">
                <a:solidFill>
                  <a:srgbClr val="161B26"/>
                </a:solidFill>
                <a:latin typeface="Arial"/>
              </a:rPr>
              <a:t>The QFT runs in O(n²) gates thanks to the product-form factorisation, providing the exponential engine inside phase estimation and Shor's algorithm.</a:t>
            </a:r>
          </a:p>
        </p:txBody>
      </p:sp>
      <p:sp>
        <p:nvSpPr>
          <p:cNvPr id="11" name="Rectangle 10"/>
          <p:cNvSpPr/>
          <p:nvPr/>
        </p:nvSpPr>
        <p:spPr>
          <a:xfrm>
            <a:off x="777240" y="3840480"/>
            <a:ext cx="10634472" cy="2148840"/>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 name="Rectangle 11"/>
          <p:cNvSpPr/>
          <p:nvPr/>
        </p:nvSpPr>
        <p:spPr>
          <a:xfrm>
            <a:off x="777240" y="3840480"/>
            <a:ext cx="100584" cy="2148840"/>
          </a:xfrm>
          <a:prstGeom prst="rect">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 name="TextBox 12"/>
          <p:cNvSpPr txBox="1"/>
          <p:nvPr/>
        </p:nvSpPr>
        <p:spPr>
          <a:xfrm>
            <a:off x="1143000" y="4023360"/>
            <a:ext cx="10058400" cy="365760"/>
          </a:xfrm>
          <a:prstGeom prst="rect">
            <a:avLst/>
          </a:prstGeom>
          <a:noFill/>
        </p:spPr>
        <p:txBody>
          <a:bodyPr wrap="square" anchor="t">
            <a:spAutoFit/>
          </a:bodyPr>
          <a:lstStyle/>
          <a:p>
            <a:pPr algn="l">
              <a:spcAft>
                <a:spcPts val="400"/>
              </a:spcAft>
            </a:pPr>
            <a:r>
              <a:rPr sz="1200" b="1">
                <a:solidFill>
                  <a:srgbClr val="1F6FEB"/>
                </a:solidFill>
                <a:latin typeface="Arial"/>
              </a:rPr>
              <a:t>WHY IT MATTERS</a:t>
            </a:r>
          </a:p>
        </p:txBody>
      </p:sp>
      <p:sp>
        <p:nvSpPr>
          <p:cNvPr id="14" name="TextBox 13"/>
          <p:cNvSpPr txBox="1"/>
          <p:nvPr/>
        </p:nvSpPr>
        <p:spPr>
          <a:xfrm>
            <a:off x="1143000" y="4434840"/>
            <a:ext cx="10058400" cy="1463040"/>
          </a:xfrm>
          <a:prstGeom prst="rect">
            <a:avLst/>
          </a:prstGeom>
          <a:noFill/>
        </p:spPr>
        <p:txBody>
          <a:bodyPr wrap="square" anchor="t">
            <a:spAutoFit/>
          </a:bodyPr>
          <a:lstStyle/>
          <a:p>
            <a:pPr algn="l">
              <a:spcAft>
                <a:spcPts val="400"/>
              </a:spcAft>
            </a:pPr>
            <a:r>
              <a:rPr sz="1450" b="0">
                <a:solidFill>
                  <a:srgbClr val="161B26"/>
                </a:solidFill>
                <a:latin typeface="Arial"/>
              </a:rPr>
              <a:t>The QFT is the single most important subroutine in quantum computing — it is what turns period finding, and therefore factoring, from exponential into polynomial.</a:t>
            </a:r>
          </a:p>
        </p:txBody>
      </p:sp>
      <p:sp>
        <p:nvSpPr>
          <p:cNvPr id="15" name="TextBox 14"/>
          <p:cNvSpPr txBox="1"/>
          <p:nvPr/>
        </p:nvSpPr>
        <p:spPr>
          <a:xfrm>
            <a:off x="365760" y="6446520"/>
            <a:ext cx="6858000" cy="320040"/>
          </a:xfrm>
          <a:prstGeom prst="rect">
            <a:avLst/>
          </a:prstGeom>
          <a:noFill/>
        </p:spPr>
        <p:txBody>
          <a:bodyPr wrap="square" anchor="t">
            <a:spAutoFit/>
          </a:bodyPr>
          <a:lstStyle/>
          <a:p>
            <a:pPr algn="l">
              <a:spcAft>
                <a:spcPts val="400"/>
              </a:spcAft>
            </a:pPr>
            <a:r>
              <a:rPr sz="900" b="0">
                <a:solidFill>
                  <a:srgbClr val="5B6372"/>
                </a:solidFill>
                <a:latin typeface="Arial"/>
              </a:rPr>
              <a:t>Securing the Future with Quantum Computing and Cryptography  ·  TGS-2024043419</a:t>
            </a:r>
          </a:p>
        </p:txBody>
      </p:sp>
      <p:sp>
        <p:nvSpPr>
          <p:cNvPr id="16" name="TextBox 15"/>
          <p:cNvSpPr txBox="1"/>
          <p:nvPr/>
        </p:nvSpPr>
        <p:spPr>
          <a:xfrm>
            <a:off x="4572000" y="6446520"/>
            <a:ext cx="3017520" cy="320040"/>
          </a:xfrm>
          <a:prstGeom prst="rect">
            <a:avLst/>
          </a:prstGeom>
          <a:noFill/>
        </p:spPr>
        <p:txBody>
          <a:bodyPr wrap="square" anchor="t">
            <a:spAutoFit/>
          </a:bodyPr>
          <a:lstStyle/>
          <a:p>
            <a:pPr algn="ctr">
              <a:spcAft>
                <a:spcPts val="400"/>
              </a:spcAft>
            </a:pPr>
            <a:r>
              <a:rPr sz="900" b="0">
                <a:solidFill>
                  <a:srgbClr val="5B6372"/>
                </a:solidFill>
                <a:latin typeface="Arial"/>
              </a:rPr>
              <a:t>© 2026 Tertiary Infotech Academy Pte Ltd</a:t>
            </a:r>
          </a:p>
        </p:txBody>
      </p:sp>
      <p:sp>
        <p:nvSpPr>
          <p:cNvPr id="17" name="TextBox 16"/>
          <p:cNvSpPr txBox="1"/>
          <p:nvPr/>
        </p:nvSpPr>
        <p:spPr>
          <a:xfrm>
            <a:off x="11338560" y="6446520"/>
            <a:ext cx="548640" cy="320040"/>
          </a:xfrm>
          <a:prstGeom prst="rect">
            <a:avLst/>
          </a:prstGeom>
          <a:noFill/>
        </p:spPr>
        <p:txBody>
          <a:bodyPr wrap="square" anchor="t">
            <a:spAutoFit/>
          </a:bodyPr>
          <a:lstStyle/>
          <a:p>
            <a:pPr algn="r">
              <a:spcAft>
                <a:spcPts val="400"/>
              </a:spcAft>
            </a:pPr>
            <a:r>
              <a:rPr sz="900" b="0">
                <a:solidFill>
                  <a:srgbClr val="5B6372"/>
                </a:solidFill>
                <a:latin typeface="Arial"/>
              </a:rPr>
              <a:t>174</a:t>
            </a:r>
          </a:p>
        </p:txBody>
      </p:sp>
    </p:spTree>
  </p:cSld>
  <p:clrMapOvr>
    <a:masterClrMapping/>
  </p:clrMapOvr>
</p:sld>
</file>

<file path=ppt/slides/slide176.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256032" cy="1417320"/>
          </a:xfrm>
          <a:prstGeom prst="rect">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777240" y="457200"/>
            <a:ext cx="10607040" cy="365760"/>
          </a:xfrm>
          <a:prstGeom prst="rect">
            <a:avLst/>
          </a:prstGeom>
          <a:noFill/>
        </p:spPr>
        <p:txBody>
          <a:bodyPr wrap="square" anchor="t">
            <a:spAutoFit/>
          </a:bodyPr>
          <a:lstStyle/>
          <a:p>
            <a:pPr algn="l">
              <a:spcAft>
                <a:spcPts val="400"/>
              </a:spcAft>
            </a:pPr>
            <a:r>
              <a:rPr sz="1400" b="1">
                <a:solidFill>
                  <a:srgbClr val="1F6FEB"/>
                </a:solidFill>
                <a:latin typeface="Arial"/>
              </a:rPr>
              <a:t>WHAT YOU'LL DO</a:t>
            </a:r>
          </a:p>
        </p:txBody>
      </p:sp>
      <p:sp>
        <p:nvSpPr>
          <p:cNvPr id="5" name="TextBox 4"/>
          <p:cNvSpPr txBox="1"/>
          <p:nvPr/>
        </p:nvSpPr>
        <p:spPr>
          <a:xfrm>
            <a:off x="777240" y="822960"/>
            <a:ext cx="10881360" cy="822960"/>
          </a:xfrm>
          <a:prstGeom prst="rect">
            <a:avLst/>
          </a:prstGeom>
          <a:noFill/>
        </p:spPr>
        <p:txBody>
          <a:bodyPr wrap="square" anchor="t">
            <a:spAutoFit/>
          </a:bodyPr>
          <a:lstStyle/>
          <a:p>
            <a:pPr algn="l">
              <a:spcAft>
                <a:spcPts val="400"/>
              </a:spcAft>
            </a:pPr>
            <a:r>
              <a:rPr sz="2900" b="1">
                <a:solidFill>
                  <a:srgbClr val="161B26"/>
                </a:solidFill>
                <a:latin typeface="Arial"/>
              </a:rPr>
              <a:t>Hands-On Activities — Quantum Algorithms</a:t>
            </a:r>
          </a:p>
        </p:txBody>
      </p:sp>
      <p:sp>
        <p:nvSpPr>
          <p:cNvPr id="6" name="Rectangle 5"/>
          <p:cNvSpPr/>
          <p:nvPr/>
        </p:nvSpPr>
        <p:spPr>
          <a:xfrm>
            <a:off x="777240" y="1554480"/>
            <a:ext cx="10634472" cy="18288"/>
          </a:xfrm>
          <a:prstGeom prst="rect">
            <a:avLst/>
          </a:prstGeom>
          <a:solidFill>
            <a:srgbClr val="E2E8F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Rectangle 6"/>
          <p:cNvSpPr/>
          <p:nvPr/>
        </p:nvSpPr>
        <p:spPr>
          <a:xfrm>
            <a:off x="777240" y="1783080"/>
            <a:ext cx="3337560" cy="4297680"/>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Rectangle 7"/>
          <p:cNvSpPr/>
          <p:nvPr/>
        </p:nvSpPr>
        <p:spPr>
          <a:xfrm>
            <a:off x="777240" y="1783080"/>
            <a:ext cx="3337560" cy="109728"/>
          </a:xfrm>
          <a:prstGeom prst="rect">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TextBox 8"/>
          <p:cNvSpPr txBox="1"/>
          <p:nvPr/>
        </p:nvSpPr>
        <p:spPr>
          <a:xfrm>
            <a:off x="1005840" y="2011680"/>
            <a:ext cx="2926080" cy="548640"/>
          </a:xfrm>
          <a:prstGeom prst="rect">
            <a:avLst/>
          </a:prstGeom>
          <a:noFill/>
        </p:spPr>
        <p:txBody>
          <a:bodyPr wrap="square" anchor="t">
            <a:spAutoFit/>
          </a:bodyPr>
          <a:lstStyle/>
          <a:p>
            <a:pPr algn="l">
              <a:spcAft>
                <a:spcPts val="400"/>
              </a:spcAft>
            </a:pPr>
            <a:r>
              <a:rPr sz="1900" b="1">
                <a:solidFill>
                  <a:srgbClr val="1F6FEB"/>
                </a:solidFill>
                <a:latin typeface="Arial"/>
              </a:rPr>
              <a:t>Activities 9–10</a:t>
            </a:r>
          </a:p>
        </p:txBody>
      </p:sp>
      <p:sp>
        <p:nvSpPr>
          <p:cNvPr id="10" name="TextBox 9"/>
          <p:cNvSpPr txBox="1"/>
          <p:nvPr/>
        </p:nvSpPr>
        <p:spPr>
          <a:xfrm>
            <a:off x="1005840" y="2697480"/>
            <a:ext cx="2926080" cy="3108960"/>
          </a:xfrm>
          <a:prstGeom prst="rect">
            <a:avLst/>
          </a:prstGeom>
          <a:noFill/>
        </p:spPr>
        <p:txBody>
          <a:bodyPr wrap="square">
            <a:spAutoFit/>
          </a:bodyPr>
          <a:lstStyle/>
          <a:p>
            <a:pPr>
              <a:spcAft>
                <a:spcPts val="900"/>
              </a:spcAft>
            </a:pPr>
            <a:r>
              <a:rPr sz="1400">
                <a:solidFill>
                  <a:srgbClr val="161B26"/>
                </a:solidFill>
                <a:latin typeface="Arial"/>
              </a:rPr>
              <a:t>•  Deutsch and Deutsch-Jozsa Algorithms</a:t>
            </a:r>
          </a:p>
          <a:p>
            <a:pPr>
              <a:spcAft>
                <a:spcPts val="900"/>
              </a:spcAft>
            </a:pPr>
            <a:r>
              <a:rPr sz="1400">
                <a:solidFill>
                  <a:srgbClr val="161B26"/>
                </a:solidFill>
                <a:latin typeface="Arial"/>
              </a:rPr>
              <a:t>•  Bernstein-Vazirani Algorithm</a:t>
            </a:r>
          </a:p>
        </p:txBody>
      </p:sp>
      <p:sp>
        <p:nvSpPr>
          <p:cNvPr id="11" name="Rectangle 10"/>
          <p:cNvSpPr/>
          <p:nvPr/>
        </p:nvSpPr>
        <p:spPr>
          <a:xfrm>
            <a:off x="4572000" y="1783080"/>
            <a:ext cx="3337560" cy="4297680"/>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 name="Rectangle 11"/>
          <p:cNvSpPr/>
          <p:nvPr/>
        </p:nvSpPr>
        <p:spPr>
          <a:xfrm>
            <a:off x="4572000" y="1783080"/>
            <a:ext cx="3337560" cy="109728"/>
          </a:xfrm>
          <a:prstGeom prst="rect">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 name="TextBox 12"/>
          <p:cNvSpPr txBox="1"/>
          <p:nvPr/>
        </p:nvSpPr>
        <p:spPr>
          <a:xfrm>
            <a:off x="4800600" y="2011680"/>
            <a:ext cx="2926080" cy="548640"/>
          </a:xfrm>
          <a:prstGeom prst="rect">
            <a:avLst/>
          </a:prstGeom>
          <a:noFill/>
        </p:spPr>
        <p:txBody>
          <a:bodyPr wrap="square" anchor="t">
            <a:spAutoFit/>
          </a:bodyPr>
          <a:lstStyle/>
          <a:p>
            <a:pPr algn="l">
              <a:spcAft>
                <a:spcPts val="400"/>
              </a:spcAft>
            </a:pPr>
            <a:r>
              <a:rPr sz="1900" b="1">
                <a:solidFill>
                  <a:srgbClr val="10B981"/>
                </a:solidFill>
                <a:latin typeface="Arial"/>
              </a:rPr>
              <a:t>Activities 11–12</a:t>
            </a:r>
          </a:p>
        </p:txBody>
      </p:sp>
      <p:sp>
        <p:nvSpPr>
          <p:cNvPr id="14" name="TextBox 13"/>
          <p:cNvSpPr txBox="1"/>
          <p:nvPr/>
        </p:nvSpPr>
        <p:spPr>
          <a:xfrm>
            <a:off x="4800600" y="2697480"/>
            <a:ext cx="2926080" cy="3108960"/>
          </a:xfrm>
          <a:prstGeom prst="rect">
            <a:avLst/>
          </a:prstGeom>
          <a:noFill/>
        </p:spPr>
        <p:txBody>
          <a:bodyPr wrap="square">
            <a:spAutoFit/>
          </a:bodyPr>
          <a:lstStyle/>
          <a:p>
            <a:pPr>
              <a:spcAft>
                <a:spcPts val="900"/>
              </a:spcAft>
            </a:pPr>
            <a:r>
              <a:rPr sz="1400">
                <a:solidFill>
                  <a:srgbClr val="161B26"/>
                </a:solidFill>
                <a:latin typeface="Arial"/>
              </a:rPr>
              <a:t>•  Grover's Search Algorithm</a:t>
            </a:r>
          </a:p>
          <a:p>
            <a:pPr>
              <a:spcAft>
                <a:spcPts val="900"/>
              </a:spcAft>
            </a:pPr>
            <a:r>
              <a:rPr sz="1400">
                <a:solidFill>
                  <a:srgbClr val="161B26"/>
                </a:solidFill>
                <a:latin typeface="Arial"/>
              </a:rPr>
              <a:t>•  Quantum Fourier Transform</a:t>
            </a:r>
          </a:p>
        </p:txBody>
      </p:sp>
      <p:sp>
        <p:nvSpPr>
          <p:cNvPr id="15" name="Rectangle 14"/>
          <p:cNvSpPr/>
          <p:nvPr/>
        </p:nvSpPr>
        <p:spPr>
          <a:xfrm>
            <a:off x="8366760" y="1783080"/>
            <a:ext cx="3337560" cy="4297680"/>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6" name="Rectangle 15"/>
          <p:cNvSpPr/>
          <p:nvPr/>
        </p:nvSpPr>
        <p:spPr>
          <a:xfrm>
            <a:off x="8366760" y="1783080"/>
            <a:ext cx="3337560" cy="109728"/>
          </a:xfrm>
          <a:prstGeom prst="rect">
            <a:avLst/>
          </a:prstGeom>
          <a:solidFill>
            <a:srgbClr val="7C3AE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7" name="TextBox 16"/>
          <p:cNvSpPr txBox="1"/>
          <p:nvPr/>
        </p:nvSpPr>
        <p:spPr>
          <a:xfrm>
            <a:off x="8595360" y="2011680"/>
            <a:ext cx="2926080" cy="548640"/>
          </a:xfrm>
          <a:prstGeom prst="rect">
            <a:avLst/>
          </a:prstGeom>
          <a:noFill/>
        </p:spPr>
        <p:txBody>
          <a:bodyPr wrap="square" anchor="t">
            <a:spAutoFit/>
          </a:bodyPr>
          <a:lstStyle/>
          <a:p>
            <a:pPr algn="l">
              <a:spcAft>
                <a:spcPts val="400"/>
              </a:spcAft>
            </a:pPr>
            <a:r>
              <a:rPr sz="1900" b="1">
                <a:solidFill>
                  <a:srgbClr val="7C3AED"/>
                </a:solidFill>
                <a:latin typeface="Arial"/>
              </a:rPr>
              <a:t>—</a:t>
            </a:r>
          </a:p>
        </p:txBody>
      </p:sp>
      <p:sp>
        <p:nvSpPr>
          <p:cNvPr id="18" name="TextBox 17"/>
          <p:cNvSpPr txBox="1"/>
          <p:nvPr/>
        </p:nvSpPr>
        <p:spPr>
          <a:xfrm>
            <a:off x="8595360" y="2697480"/>
            <a:ext cx="2926080" cy="3108960"/>
          </a:xfrm>
          <a:prstGeom prst="rect">
            <a:avLst/>
          </a:prstGeom>
          <a:noFill/>
        </p:spPr>
        <p:txBody>
          <a:bodyPr wrap="square">
            <a:spAutoFit/>
          </a:bodyPr>
          <a:lstStyle/>
          <a:p>
            <a:pPr>
              <a:spcAft>
                <a:spcPts val="900"/>
              </a:spcAft>
            </a:pPr>
            <a:r>
              <a:rPr sz="1400">
                <a:solidFill>
                  <a:srgbClr val="161B26"/>
                </a:solidFill>
                <a:latin typeface="Arial"/>
              </a:rPr>
              <a:t>•  —</a:t>
            </a:r>
          </a:p>
        </p:txBody>
      </p:sp>
      <p:sp>
        <p:nvSpPr>
          <p:cNvPr id="19" name="TextBox 18"/>
          <p:cNvSpPr txBox="1"/>
          <p:nvPr/>
        </p:nvSpPr>
        <p:spPr>
          <a:xfrm>
            <a:off x="365760" y="6446520"/>
            <a:ext cx="6858000" cy="320040"/>
          </a:xfrm>
          <a:prstGeom prst="rect">
            <a:avLst/>
          </a:prstGeom>
          <a:noFill/>
        </p:spPr>
        <p:txBody>
          <a:bodyPr wrap="square" anchor="t">
            <a:spAutoFit/>
          </a:bodyPr>
          <a:lstStyle/>
          <a:p>
            <a:pPr algn="l">
              <a:spcAft>
                <a:spcPts val="400"/>
              </a:spcAft>
            </a:pPr>
            <a:r>
              <a:rPr sz="900" b="0">
                <a:solidFill>
                  <a:srgbClr val="5B6372"/>
                </a:solidFill>
                <a:latin typeface="Arial"/>
              </a:rPr>
              <a:t>Securing the Future with Quantum Computing and Cryptography  ·  TGS-2024043419</a:t>
            </a:r>
          </a:p>
        </p:txBody>
      </p:sp>
      <p:sp>
        <p:nvSpPr>
          <p:cNvPr id="20" name="TextBox 19"/>
          <p:cNvSpPr txBox="1"/>
          <p:nvPr/>
        </p:nvSpPr>
        <p:spPr>
          <a:xfrm>
            <a:off x="4572000" y="6446520"/>
            <a:ext cx="3017520" cy="320040"/>
          </a:xfrm>
          <a:prstGeom prst="rect">
            <a:avLst/>
          </a:prstGeom>
          <a:noFill/>
        </p:spPr>
        <p:txBody>
          <a:bodyPr wrap="square" anchor="t">
            <a:spAutoFit/>
          </a:bodyPr>
          <a:lstStyle/>
          <a:p>
            <a:pPr algn="ctr">
              <a:spcAft>
                <a:spcPts val="400"/>
              </a:spcAft>
            </a:pPr>
            <a:r>
              <a:rPr sz="900" b="0">
                <a:solidFill>
                  <a:srgbClr val="5B6372"/>
                </a:solidFill>
                <a:latin typeface="Arial"/>
              </a:rPr>
              <a:t>© 2026 Tertiary Infotech Academy Pte Ltd</a:t>
            </a:r>
          </a:p>
        </p:txBody>
      </p:sp>
      <p:sp>
        <p:nvSpPr>
          <p:cNvPr id="21" name="TextBox 20"/>
          <p:cNvSpPr txBox="1"/>
          <p:nvPr/>
        </p:nvSpPr>
        <p:spPr>
          <a:xfrm>
            <a:off x="11338560" y="6446520"/>
            <a:ext cx="548640" cy="320040"/>
          </a:xfrm>
          <a:prstGeom prst="rect">
            <a:avLst/>
          </a:prstGeom>
          <a:noFill/>
        </p:spPr>
        <p:txBody>
          <a:bodyPr wrap="square" anchor="t">
            <a:spAutoFit/>
          </a:bodyPr>
          <a:lstStyle/>
          <a:p>
            <a:pPr algn="r">
              <a:spcAft>
                <a:spcPts val="400"/>
              </a:spcAft>
            </a:pPr>
            <a:r>
              <a:rPr sz="900" b="0">
                <a:solidFill>
                  <a:srgbClr val="5B6372"/>
                </a:solidFill>
                <a:latin typeface="Arial"/>
              </a:rPr>
              <a:t>175</a:t>
            </a:r>
          </a:p>
        </p:txBody>
      </p:sp>
    </p:spTree>
  </p:cSld>
  <p:clrMapOvr>
    <a:masterClrMapping/>
  </p:clrMapOvr>
</p:sld>
</file>

<file path=ppt/slides/slide177.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256032" cy="1417320"/>
          </a:xfrm>
          <a:prstGeom prst="rect">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777240" y="457200"/>
            <a:ext cx="10607040" cy="365760"/>
          </a:xfrm>
          <a:prstGeom prst="rect">
            <a:avLst/>
          </a:prstGeom>
          <a:noFill/>
        </p:spPr>
        <p:txBody>
          <a:bodyPr wrap="square" anchor="t">
            <a:spAutoFit/>
          </a:bodyPr>
          <a:lstStyle/>
          <a:p>
            <a:pPr algn="l">
              <a:spcAft>
                <a:spcPts val="400"/>
              </a:spcAft>
            </a:pPr>
            <a:r>
              <a:rPr sz="1400" b="1">
                <a:solidFill>
                  <a:srgbClr val="10B981"/>
                </a:solidFill>
                <a:latin typeface="Arial"/>
              </a:rPr>
              <a:t>TOPIC 05 · HANDS-ON ACTIVITY</a:t>
            </a:r>
          </a:p>
        </p:txBody>
      </p:sp>
      <p:sp>
        <p:nvSpPr>
          <p:cNvPr id="5" name="TextBox 4"/>
          <p:cNvSpPr txBox="1"/>
          <p:nvPr/>
        </p:nvSpPr>
        <p:spPr>
          <a:xfrm>
            <a:off x="777240" y="822960"/>
            <a:ext cx="10881360" cy="822960"/>
          </a:xfrm>
          <a:prstGeom prst="rect">
            <a:avLst/>
          </a:prstGeom>
          <a:noFill/>
        </p:spPr>
        <p:txBody>
          <a:bodyPr wrap="square" anchor="t">
            <a:spAutoFit/>
          </a:bodyPr>
          <a:lstStyle/>
          <a:p>
            <a:pPr algn="l">
              <a:spcAft>
                <a:spcPts val="400"/>
              </a:spcAft>
            </a:pPr>
            <a:r>
              <a:rPr sz="2900" b="1">
                <a:solidFill>
                  <a:srgbClr val="161B26"/>
                </a:solidFill>
                <a:latin typeface="Arial"/>
              </a:rPr>
              <a:t>Deutsch and Deutsch-Jozsa Algorithms</a:t>
            </a:r>
          </a:p>
        </p:txBody>
      </p:sp>
      <p:sp>
        <p:nvSpPr>
          <p:cNvPr id="6" name="Rectangle 5"/>
          <p:cNvSpPr/>
          <p:nvPr/>
        </p:nvSpPr>
        <p:spPr>
          <a:xfrm>
            <a:off x="777240" y="1554480"/>
            <a:ext cx="10634472" cy="18288"/>
          </a:xfrm>
          <a:prstGeom prst="rect">
            <a:avLst/>
          </a:prstGeom>
          <a:solidFill>
            <a:srgbClr val="E2E8F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Rectangle 6"/>
          <p:cNvSpPr/>
          <p:nvPr/>
        </p:nvSpPr>
        <p:spPr>
          <a:xfrm>
            <a:off x="9646920" y="457200"/>
            <a:ext cx="1783080" cy="457200"/>
          </a:xfrm>
          <a:prstGeom prst="rect">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TextBox 7"/>
          <p:cNvSpPr txBox="1"/>
          <p:nvPr/>
        </p:nvSpPr>
        <p:spPr>
          <a:xfrm>
            <a:off x="9646920" y="457200"/>
            <a:ext cx="1783080" cy="457200"/>
          </a:xfrm>
          <a:prstGeom prst="rect">
            <a:avLst/>
          </a:prstGeom>
          <a:noFill/>
        </p:spPr>
        <p:txBody>
          <a:bodyPr wrap="square" anchor="ctr">
            <a:spAutoFit/>
          </a:bodyPr>
          <a:lstStyle/>
          <a:p>
            <a:pPr algn="ctr">
              <a:spcAft>
                <a:spcPts val="400"/>
              </a:spcAft>
            </a:pPr>
            <a:r>
              <a:rPr sz="1300" b="1">
                <a:solidFill>
                  <a:srgbClr val="FFFFFF"/>
                </a:solidFill>
                <a:latin typeface="Arial"/>
              </a:rPr>
              <a:t>ACTIVITY 9</a:t>
            </a:r>
          </a:p>
        </p:txBody>
      </p:sp>
      <p:sp>
        <p:nvSpPr>
          <p:cNvPr id="9" name="TextBox 8"/>
          <p:cNvSpPr txBox="1"/>
          <p:nvPr/>
        </p:nvSpPr>
        <p:spPr>
          <a:xfrm>
            <a:off x="777240" y="1828800"/>
            <a:ext cx="10607040" cy="1051560"/>
          </a:xfrm>
          <a:prstGeom prst="rect">
            <a:avLst/>
          </a:prstGeom>
          <a:noFill/>
        </p:spPr>
        <p:txBody>
          <a:bodyPr wrap="square" anchor="t">
            <a:spAutoFit/>
          </a:bodyPr>
          <a:lstStyle/>
          <a:p>
            <a:pPr algn="l">
              <a:spcAft>
                <a:spcPts val="400"/>
              </a:spcAft>
            </a:pPr>
            <a:r>
              <a:rPr sz="1700" b="0">
                <a:solidFill>
                  <a:srgbClr val="161B26"/>
                </a:solidFill>
                <a:latin typeface="Arial"/>
              </a:rPr>
              <a:t>Implement the first algorithms to show a provable quantum advantage: decide whether a black-box function is constant or balanced with a single query, then generalise from one input bit to n.</a:t>
            </a:r>
          </a:p>
        </p:txBody>
      </p:sp>
      <p:sp>
        <p:nvSpPr>
          <p:cNvPr id="10" name="Rectangle 9"/>
          <p:cNvSpPr/>
          <p:nvPr/>
        </p:nvSpPr>
        <p:spPr>
          <a:xfrm>
            <a:off x="777240" y="2971800"/>
            <a:ext cx="10634472" cy="457200"/>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 name="TextBox 10"/>
          <p:cNvSpPr txBox="1"/>
          <p:nvPr/>
        </p:nvSpPr>
        <p:spPr>
          <a:xfrm>
            <a:off x="960120" y="2971800"/>
            <a:ext cx="10241280" cy="457200"/>
          </a:xfrm>
          <a:prstGeom prst="rect">
            <a:avLst/>
          </a:prstGeom>
          <a:noFill/>
        </p:spPr>
        <p:txBody>
          <a:bodyPr wrap="square" anchor="ctr">
            <a:spAutoFit/>
          </a:bodyPr>
          <a:lstStyle/>
          <a:p>
            <a:pPr algn="l">
              <a:spcAft>
                <a:spcPts val="400"/>
              </a:spcAft>
            </a:pPr>
            <a:r>
              <a:rPr sz="1100" b="1">
                <a:solidFill>
                  <a:srgbClr val="1F6FEB"/>
                </a:solidFill>
                <a:latin typeface="Arial"/>
              </a:rPr>
              <a:t>MAPS TO  </a:t>
            </a:r>
            <a:r>
              <a:rPr sz="1250" b="0">
                <a:solidFill>
                  <a:srgbClr val="161B26"/>
                </a:solidFill>
                <a:latin typeface="Arial"/>
              </a:rPr>
              <a:t>LO6 — Establish guidelines for selecting quantum computing algorithms</a:t>
            </a:r>
          </a:p>
        </p:txBody>
      </p:sp>
      <p:sp>
        <p:nvSpPr>
          <p:cNvPr id="12" name="Rectangle 11"/>
          <p:cNvSpPr/>
          <p:nvPr/>
        </p:nvSpPr>
        <p:spPr>
          <a:xfrm>
            <a:off x="777240" y="3611880"/>
            <a:ext cx="10634472" cy="1234440"/>
          </a:xfrm>
          <a:prstGeom prst="rect">
            <a:avLst/>
          </a:prstGeom>
          <a:solidFill>
            <a:srgbClr val="E8F7E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 name="TextBox 12"/>
          <p:cNvSpPr txBox="1"/>
          <p:nvPr/>
        </p:nvSpPr>
        <p:spPr>
          <a:xfrm>
            <a:off x="1051560" y="3767328"/>
            <a:ext cx="10058400" cy="365760"/>
          </a:xfrm>
          <a:prstGeom prst="rect">
            <a:avLst/>
          </a:prstGeom>
          <a:noFill/>
        </p:spPr>
        <p:txBody>
          <a:bodyPr wrap="square" anchor="t">
            <a:spAutoFit/>
          </a:bodyPr>
          <a:lstStyle/>
          <a:p>
            <a:pPr algn="l">
              <a:spcAft>
                <a:spcPts val="400"/>
              </a:spcAft>
            </a:pPr>
            <a:r>
              <a:rPr sz="1200" b="1">
                <a:solidFill>
                  <a:srgbClr val="127A3E"/>
                </a:solidFill>
                <a:latin typeface="Arial"/>
              </a:rPr>
              <a:t>YOU'LL PRODUCE</a:t>
            </a:r>
          </a:p>
        </p:txBody>
      </p:sp>
      <p:sp>
        <p:nvSpPr>
          <p:cNvPr id="14" name="TextBox 13"/>
          <p:cNvSpPr txBox="1"/>
          <p:nvPr/>
        </p:nvSpPr>
        <p:spPr>
          <a:xfrm>
            <a:off x="1051560" y="4133087"/>
            <a:ext cx="10058400" cy="640080"/>
          </a:xfrm>
          <a:prstGeom prst="rect">
            <a:avLst/>
          </a:prstGeom>
          <a:noFill/>
        </p:spPr>
        <p:txBody>
          <a:bodyPr wrap="square" anchor="t">
            <a:spAutoFit/>
          </a:bodyPr>
          <a:lstStyle/>
          <a:p>
            <a:pPr algn="l">
              <a:spcAft>
                <a:spcPts val="400"/>
              </a:spcAft>
            </a:pPr>
            <a:r>
              <a:rPr sz="1550" b="1">
                <a:solidFill>
                  <a:srgbClr val="161B26"/>
                </a:solidFill>
                <a:latin typeface="Arial"/>
              </a:rPr>
              <a:t>Deutsch and Deutsch-Jozsa circuits with all four oracle types, run on IBM Quantum hardware, correctly classifying each function in one query.</a:t>
            </a:r>
          </a:p>
        </p:txBody>
      </p:sp>
      <p:sp>
        <p:nvSpPr>
          <p:cNvPr id="15" name="Rectangle 14"/>
          <p:cNvSpPr/>
          <p:nvPr/>
        </p:nvSpPr>
        <p:spPr>
          <a:xfrm>
            <a:off x="777240" y="5029200"/>
            <a:ext cx="10634472" cy="960120"/>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6" name="TextBox 15"/>
          <p:cNvSpPr txBox="1"/>
          <p:nvPr/>
        </p:nvSpPr>
        <p:spPr>
          <a:xfrm>
            <a:off x="1051560" y="5138928"/>
            <a:ext cx="10058400" cy="365760"/>
          </a:xfrm>
          <a:prstGeom prst="rect">
            <a:avLst/>
          </a:prstGeom>
          <a:noFill/>
        </p:spPr>
        <p:txBody>
          <a:bodyPr wrap="square" anchor="t">
            <a:spAutoFit/>
          </a:bodyPr>
          <a:lstStyle/>
          <a:p>
            <a:pPr algn="l">
              <a:spcAft>
                <a:spcPts val="400"/>
              </a:spcAft>
            </a:pPr>
            <a:r>
              <a:rPr sz="1200" b="1">
                <a:solidFill>
                  <a:srgbClr val="5B6372"/>
                </a:solidFill>
                <a:latin typeface="Arial"/>
              </a:rPr>
              <a:t>Tools:  </a:t>
            </a:r>
            <a:r>
              <a:rPr sz="1200" b="0">
                <a:solidFill>
                  <a:srgbClr val="5B6372"/>
                </a:solidFill>
                <a:latin typeface="Arial"/>
              </a:rPr>
              <a:t>Qiskit 2.x, IBM Quantum Runtime, OpenQASM</a:t>
            </a:r>
          </a:p>
        </p:txBody>
      </p:sp>
      <p:sp>
        <p:nvSpPr>
          <p:cNvPr id="17" name="TextBox 16"/>
          <p:cNvSpPr txBox="1"/>
          <p:nvPr/>
        </p:nvSpPr>
        <p:spPr>
          <a:xfrm>
            <a:off x="1051560" y="5504688"/>
            <a:ext cx="10058400" cy="365760"/>
          </a:xfrm>
          <a:prstGeom prst="rect">
            <a:avLst/>
          </a:prstGeom>
          <a:noFill/>
        </p:spPr>
        <p:txBody>
          <a:bodyPr wrap="square" anchor="t">
            <a:spAutoFit/>
          </a:bodyPr>
          <a:lstStyle/>
          <a:p>
            <a:pPr algn="l">
              <a:spcAft>
                <a:spcPts val="400"/>
              </a:spcAft>
            </a:pPr>
            <a:r>
              <a:rPr sz="1200" b="1">
                <a:solidFill>
                  <a:srgbClr val="1F6FEB"/>
                </a:solidFill>
                <a:latin typeface="Arial"/>
              </a:rPr>
              <a:t>Full step-by-step guide:  </a:t>
            </a:r>
            <a:r>
              <a:rPr sz="1200" b="0">
                <a:solidFill>
                  <a:srgbClr val="161B26"/>
                </a:solidFill>
                <a:latin typeface="Arial"/>
              </a:rPr>
              <a:t>Learner Guide — Activity 9: Deutsch and Deutsch-Jozsa Algorithms</a:t>
            </a:r>
          </a:p>
        </p:txBody>
      </p:sp>
      <p:sp>
        <p:nvSpPr>
          <p:cNvPr id="18" name="TextBox 17"/>
          <p:cNvSpPr txBox="1"/>
          <p:nvPr/>
        </p:nvSpPr>
        <p:spPr>
          <a:xfrm>
            <a:off x="365760" y="6446520"/>
            <a:ext cx="6858000" cy="320040"/>
          </a:xfrm>
          <a:prstGeom prst="rect">
            <a:avLst/>
          </a:prstGeom>
          <a:noFill/>
        </p:spPr>
        <p:txBody>
          <a:bodyPr wrap="square" anchor="t">
            <a:spAutoFit/>
          </a:bodyPr>
          <a:lstStyle/>
          <a:p>
            <a:pPr algn="l">
              <a:spcAft>
                <a:spcPts val="400"/>
              </a:spcAft>
            </a:pPr>
            <a:r>
              <a:rPr sz="900" b="0">
                <a:solidFill>
                  <a:srgbClr val="5B6372"/>
                </a:solidFill>
                <a:latin typeface="Arial"/>
              </a:rPr>
              <a:t>Securing the Future with Quantum Computing and Cryptography  ·  TGS-2024043419</a:t>
            </a:r>
          </a:p>
        </p:txBody>
      </p:sp>
      <p:sp>
        <p:nvSpPr>
          <p:cNvPr id="19" name="TextBox 18"/>
          <p:cNvSpPr txBox="1"/>
          <p:nvPr/>
        </p:nvSpPr>
        <p:spPr>
          <a:xfrm>
            <a:off x="4572000" y="6446520"/>
            <a:ext cx="3017520" cy="320040"/>
          </a:xfrm>
          <a:prstGeom prst="rect">
            <a:avLst/>
          </a:prstGeom>
          <a:noFill/>
        </p:spPr>
        <p:txBody>
          <a:bodyPr wrap="square" anchor="t">
            <a:spAutoFit/>
          </a:bodyPr>
          <a:lstStyle/>
          <a:p>
            <a:pPr algn="ctr">
              <a:spcAft>
                <a:spcPts val="400"/>
              </a:spcAft>
            </a:pPr>
            <a:r>
              <a:rPr sz="900" b="0">
                <a:solidFill>
                  <a:srgbClr val="5B6372"/>
                </a:solidFill>
                <a:latin typeface="Arial"/>
              </a:rPr>
              <a:t>© 2026 Tertiary Infotech Academy Pte Ltd</a:t>
            </a:r>
          </a:p>
        </p:txBody>
      </p:sp>
      <p:sp>
        <p:nvSpPr>
          <p:cNvPr id="20" name="TextBox 19"/>
          <p:cNvSpPr txBox="1"/>
          <p:nvPr/>
        </p:nvSpPr>
        <p:spPr>
          <a:xfrm>
            <a:off x="11338560" y="6446520"/>
            <a:ext cx="548640" cy="320040"/>
          </a:xfrm>
          <a:prstGeom prst="rect">
            <a:avLst/>
          </a:prstGeom>
          <a:noFill/>
        </p:spPr>
        <p:txBody>
          <a:bodyPr wrap="square" anchor="t">
            <a:spAutoFit/>
          </a:bodyPr>
          <a:lstStyle/>
          <a:p>
            <a:pPr algn="r">
              <a:spcAft>
                <a:spcPts val="400"/>
              </a:spcAft>
            </a:pPr>
            <a:r>
              <a:rPr sz="900" b="0">
                <a:solidFill>
                  <a:srgbClr val="5B6372"/>
                </a:solidFill>
                <a:latin typeface="Arial"/>
              </a:rPr>
              <a:t>176</a:t>
            </a:r>
          </a:p>
        </p:txBody>
      </p:sp>
    </p:spTree>
  </p:cSld>
  <p:clrMapOvr>
    <a:masterClrMapping/>
  </p:clrMapOvr>
</p:sld>
</file>

<file path=ppt/slides/slide178.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256032" cy="1417320"/>
          </a:xfrm>
          <a:prstGeom prst="rect">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777240" y="457200"/>
            <a:ext cx="10607040" cy="365760"/>
          </a:xfrm>
          <a:prstGeom prst="rect">
            <a:avLst/>
          </a:prstGeom>
          <a:noFill/>
        </p:spPr>
        <p:txBody>
          <a:bodyPr wrap="square" anchor="t">
            <a:spAutoFit/>
          </a:bodyPr>
          <a:lstStyle/>
          <a:p>
            <a:pPr algn="l">
              <a:spcAft>
                <a:spcPts val="400"/>
              </a:spcAft>
            </a:pPr>
            <a:r>
              <a:rPr sz="1400" b="1">
                <a:solidFill>
                  <a:srgbClr val="10B981"/>
                </a:solidFill>
                <a:latin typeface="Arial"/>
              </a:rPr>
              <a:t>ACTIVITY 9 · VERIFY &amp; DEBRIEF</a:t>
            </a:r>
          </a:p>
        </p:txBody>
      </p:sp>
      <p:sp>
        <p:nvSpPr>
          <p:cNvPr id="5" name="TextBox 4"/>
          <p:cNvSpPr txBox="1"/>
          <p:nvPr/>
        </p:nvSpPr>
        <p:spPr>
          <a:xfrm>
            <a:off x="777240" y="822960"/>
            <a:ext cx="10881360" cy="822960"/>
          </a:xfrm>
          <a:prstGeom prst="rect">
            <a:avLst/>
          </a:prstGeom>
          <a:noFill/>
        </p:spPr>
        <p:txBody>
          <a:bodyPr wrap="square" anchor="t">
            <a:spAutoFit/>
          </a:bodyPr>
          <a:lstStyle/>
          <a:p>
            <a:pPr algn="l">
              <a:spcAft>
                <a:spcPts val="400"/>
              </a:spcAft>
            </a:pPr>
            <a:r>
              <a:rPr sz="2900" b="1">
                <a:solidFill>
                  <a:srgbClr val="161B26"/>
                </a:solidFill>
                <a:latin typeface="Arial"/>
              </a:rPr>
              <a:t>Deutsch and Deutsch-Jozsa Algorithms</a:t>
            </a:r>
          </a:p>
        </p:txBody>
      </p:sp>
      <p:sp>
        <p:nvSpPr>
          <p:cNvPr id="6" name="Rectangle 5"/>
          <p:cNvSpPr/>
          <p:nvPr/>
        </p:nvSpPr>
        <p:spPr>
          <a:xfrm>
            <a:off x="777240" y="1554480"/>
            <a:ext cx="10634472" cy="18288"/>
          </a:xfrm>
          <a:prstGeom prst="rect">
            <a:avLst/>
          </a:prstGeom>
          <a:solidFill>
            <a:srgbClr val="E2E8F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Rectangle 6"/>
          <p:cNvSpPr/>
          <p:nvPr/>
        </p:nvSpPr>
        <p:spPr>
          <a:xfrm>
            <a:off x="777240" y="1783080"/>
            <a:ext cx="10634472" cy="2148840"/>
          </a:xfrm>
          <a:prstGeom prst="rect">
            <a:avLst/>
          </a:prstGeom>
          <a:solidFill>
            <a:srgbClr val="E8F7E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Rectangle 7"/>
          <p:cNvSpPr/>
          <p:nvPr/>
        </p:nvSpPr>
        <p:spPr>
          <a:xfrm>
            <a:off x="777240" y="1783080"/>
            <a:ext cx="100584" cy="2148840"/>
          </a:xfrm>
          <a:prstGeom prst="rect">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TextBox 8"/>
          <p:cNvSpPr txBox="1"/>
          <p:nvPr/>
        </p:nvSpPr>
        <p:spPr>
          <a:xfrm>
            <a:off x="1143000" y="1965960"/>
            <a:ext cx="10058400" cy="411480"/>
          </a:xfrm>
          <a:prstGeom prst="rect">
            <a:avLst/>
          </a:prstGeom>
          <a:noFill/>
        </p:spPr>
        <p:txBody>
          <a:bodyPr wrap="square" anchor="t">
            <a:spAutoFit/>
          </a:bodyPr>
          <a:lstStyle/>
          <a:p>
            <a:pPr algn="l">
              <a:spcAft>
                <a:spcPts val="400"/>
              </a:spcAft>
            </a:pPr>
            <a:r>
              <a:rPr sz="1300" b="1">
                <a:solidFill>
                  <a:srgbClr val="127A3E"/>
                </a:solidFill>
                <a:latin typeface="Arial"/>
              </a:rPr>
              <a:t>TEST IT — HOW YOU KNOW IT WORKED</a:t>
            </a:r>
          </a:p>
        </p:txBody>
      </p:sp>
      <p:sp>
        <p:nvSpPr>
          <p:cNvPr id="10" name="TextBox 9"/>
          <p:cNvSpPr txBox="1"/>
          <p:nvPr/>
        </p:nvSpPr>
        <p:spPr>
          <a:xfrm>
            <a:off x="1143000" y="2423160"/>
            <a:ext cx="10058400" cy="1371600"/>
          </a:xfrm>
          <a:prstGeom prst="rect">
            <a:avLst/>
          </a:prstGeom>
          <a:noFill/>
        </p:spPr>
        <p:txBody>
          <a:bodyPr wrap="square" anchor="t">
            <a:spAutoFit/>
          </a:bodyPr>
          <a:lstStyle/>
          <a:p>
            <a:pPr algn="l">
              <a:spcAft>
                <a:spcPts val="400"/>
              </a:spcAft>
            </a:pPr>
            <a:r>
              <a:rPr sz="1600" b="0">
                <a:solidFill>
                  <a:srgbClr val="161B26"/>
                </a:solidFill>
                <a:latin typeface="Arial"/>
              </a:rPr>
              <a:t>The Deutsch circuit measures 0 for both constant oracles and 1 for both balanced oracles; Deutsch-Jozsa returns the all-zeros string for a constant function and a non-zero string for a balanced function — each using exactly one oracle query.</a:t>
            </a:r>
          </a:p>
        </p:txBody>
      </p:sp>
      <p:sp>
        <p:nvSpPr>
          <p:cNvPr id="11" name="TextBox 10"/>
          <p:cNvSpPr txBox="1"/>
          <p:nvPr/>
        </p:nvSpPr>
        <p:spPr>
          <a:xfrm>
            <a:off x="777240" y="4096512"/>
            <a:ext cx="10607040" cy="365760"/>
          </a:xfrm>
          <a:prstGeom prst="rect">
            <a:avLst/>
          </a:prstGeom>
          <a:noFill/>
        </p:spPr>
        <p:txBody>
          <a:bodyPr wrap="square" anchor="t">
            <a:spAutoFit/>
          </a:bodyPr>
          <a:lstStyle/>
          <a:p>
            <a:pPr algn="l">
              <a:spcAft>
                <a:spcPts val="400"/>
              </a:spcAft>
            </a:pPr>
            <a:r>
              <a:rPr sz="1300" b="1">
                <a:solidFill>
                  <a:srgbClr val="1F6FEB"/>
                </a:solidFill>
                <a:latin typeface="Arial"/>
              </a:rPr>
              <a:t>DISCUSS WITH YOUR TRAINER</a:t>
            </a:r>
          </a:p>
        </p:txBody>
      </p:sp>
      <p:sp>
        <p:nvSpPr>
          <p:cNvPr id="12" name="Rectangle 11"/>
          <p:cNvSpPr/>
          <p:nvPr/>
        </p:nvSpPr>
        <p:spPr>
          <a:xfrm>
            <a:off x="777240" y="4480560"/>
            <a:ext cx="3447288" cy="1463040"/>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 name="Rectangle 12"/>
          <p:cNvSpPr/>
          <p:nvPr/>
        </p:nvSpPr>
        <p:spPr>
          <a:xfrm>
            <a:off x="777240" y="4480560"/>
            <a:ext cx="3447288" cy="82296"/>
          </a:xfrm>
          <a:prstGeom prst="rect">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 name="TextBox 13"/>
          <p:cNvSpPr txBox="1"/>
          <p:nvPr/>
        </p:nvSpPr>
        <p:spPr>
          <a:xfrm>
            <a:off x="978408" y="4663440"/>
            <a:ext cx="3044952" cy="457200"/>
          </a:xfrm>
          <a:prstGeom prst="rect">
            <a:avLst/>
          </a:prstGeom>
          <a:noFill/>
        </p:spPr>
        <p:txBody>
          <a:bodyPr wrap="square" anchor="t">
            <a:spAutoFit/>
          </a:bodyPr>
          <a:lstStyle/>
          <a:p>
            <a:pPr algn="l">
              <a:spcAft>
                <a:spcPts val="400"/>
              </a:spcAft>
            </a:pPr>
            <a:r>
              <a:rPr sz="1350" b="1">
                <a:solidFill>
                  <a:srgbClr val="1F6FEB"/>
                </a:solidFill>
                <a:latin typeface="Arial"/>
              </a:rPr>
              <a:t>What did the result show?</a:t>
            </a:r>
          </a:p>
        </p:txBody>
      </p:sp>
      <p:sp>
        <p:nvSpPr>
          <p:cNvPr id="15" name="TextBox 14"/>
          <p:cNvSpPr txBox="1"/>
          <p:nvPr/>
        </p:nvSpPr>
        <p:spPr>
          <a:xfrm>
            <a:off x="978408" y="5138928"/>
            <a:ext cx="3044952" cy="731520"/>
          </a:xfrm>
          <a:prstGeom prst="rect">
            <a:avLst/>
          </a:prstGeom>
          <a:noFill/>
        </p:spPr>
        <p:txBody>
          <a:bodyPr wrap="square" anchor="t">
            <a:spAutoFit/>
          </a:bodyPr>
          <a:lstStyle/>
          <a:p>
            <a:pPr algn="l">
              <a:spcAft>
                <a:spcPts val="400"/>
              </a:spcAft>
            </a:pPr>
            <a:r>
              <a:rPr sz="1200" b="0">
                <a:solidFill>
                  <a:srgbClr val="5B6372"/>
                </a:solidFill>
                <a:latin typeface="Arial"/>
              </a:rPr>
              <a:t>Restate the outcome in your own words.</a:t>
            </a:r>
          </a:p>
        </p:txBody>
      </p:sp>
      <p:sp>
        <p:nvSpPr>
          <p:cNvPr id="16" name="Rectangle 15"/>
          <p:cNvSpPr/>
          <p:nvPr/>
        </p:nvSpPr>
        <p:spPr>
          <a:xfrm>
            <a:off x="4370832" y="4480560"/>
            <a:ext cx="3447288" cy="1463040"/>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7" name="Rectangle 16"/>
          <p:cNvSpPr/>
          <p:nvPr/>
        </p:nvSpPr>
        <p:spPr>
          <a:xfrm>
            <a:off x="4370832" y="4480560"/>
            <a:ext cx="3447288" cy="82296"/>
          </a:xfrm>
          <a:prstGeom prst="rect">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8" name="TextBox 17"/>
          <p:cNvSpPr txBox="1"/>
          <p:nvPr/>
        </p:nvSpPr>
        <p:spPr>
          <a:xfrm>
            <a:off x="4572000" y="4663440"/>
            <a:ext cx="3044952" cy="457200"/>
          </a:xfrm>
          <a:prstGeom prst="rect">
            <a:avLst/>
          </a:prstGeom>
          <a:noFill/>
        </p:spPr>
        <p:txBody>
          <a:bodyPr wrap="square" anchor="t">
            <a:spAutoFit/>
          </a:bodyPr>
          <a:lstStyle/>
          <a:p>
            <a:pPr algn="l">
              <a:spcAft>
                <a:spcPts val="400"/>
              </a:spcAft>
            </a:pPr>
            <a:r>
              <a:rPr sz="1350" b="1">
                <a:solidFill>
                  <a:srgbClr val="10B981"/>
                </a:solidFill>
                <a:latin typeface="Arial"/>
              </a:rPr>
              <a:t>Why does it work?</a:t>
            </a:r>
          </a:p>
        </p:txBody>
      </p:sp>
      <p:sp>
        <p:nvSpPr>
          <p:cNvPr id="19" name="TextBox 18"/>
          <p:cNvSpPr txBox="1"/>
          <p:nvPr/>
        </p:nvSpPr>
        <p:spPr>
          <a:xfrm>
            <a:off x="4572000" y="5138928"/>
            <a:ext cx="3044952" cy="731520"/>
          </a:xfrm>
          <a:prstGeom prst="rect">
            <a:avLst/>
          </a:prstGeom>
          <a:noFill/>
        </p:spPr>
        <p:txBody>
          <a:bodyPr wrap="square" anchor="t">
            <a:spAutoFit/>
          </a:bodyPr>
          <a:lstStyle/>
          <a:p>
            <a:pPr algn="l">
              <a:spcAft>
                <a:spcPts val="400"/>
              </a:spcAft>
            </a:pPr>
            <a:r>
              <a:rPr sz="1200" b="0">
                <a:solidFill>
                  <a:srgbClr val="5B6372"/>
                </a:solidFill>
                <a:latin typeface="Arial"/>
              </a:rPr>
              <a:t>Name the quantum principle the activity relies on.</a:t>
            </a:r>
          </a:p>
        </p:txBody>
      </p:sp>
      <p:sp>
        <p:nvSpPr>
          <p:cNvPr id="20" name="Rectangle 19"/>
          <p:cNvSpPr/>
          <p:nvPr/>
        </p:nvSpPr>
        <p:spPr>
          <a:xfrm>
            <a:off x="7964424" y="4480560"/>
            <a:ext cx="3447288" cy="1463040"/>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1" name="Rectangle 20"/>
          <p:cNvSpPr/>
          <p:nvPr/>
        </p:nvSpPr>
        <p:spPr>
          <a:xfrm>
            <a:off x="7964424" y="4480560"/>
            <a:ext cx="3447288" cy="82296"/>
          </a:xfrm>
          <a:prstGeom prst="rect">
            <a:avLst/>
          </a:prstGeom>
          <a:solidFill>
            <a:srgbClr val="7C3AE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2" name="TextBox 21"/>
          <p:cNvSpPr txBox="1"/>
          <p:nvPr/>
        </p:nvSpPr>
        <p:spPr>
          <a:xfrm>
            <a:off x="8165592" y="4663440"/>
            <a:ext cx="3044952" cy="457200"/>
          </a:xfrm>
          <a:prstGeom prst="rect">
            <a:avLst/>
          </a:prstGeom>
          <a:noFill/>
        </p:spPr>
        <p:txBody>
          <a:bodyPr wrap="square" anchor="t">
            <a:spAutoFit/>
          </a:bodyPr>
          <a:lstStyle/>
          <a:p>
            <a:pPr algn="l">
              <a:spcAft>
                <a:spcPts val="400"/>
              </a:spcAft>
            </a:pPr>
            <a:r>
              <a:rPr sz="1350" b="1">
                <a:solidFill>
                  <a:srgbClr val="7C3AED"/>
                </a:solidFill>
                <a:latin typeface="Arial"/>
              </a:rPr>
              <a:t>Where would you use it?</a:t>
            </a:r>
          </a:p>
        </p:txBody>
      </p:sp>
      <p:sp>
        <p:nvSpPr>
          <p:cNvPr id="23" name="TextBox 22"/>
          <p:cNvSpPr txBox="1"/>
          <p:nvPr/>
        </p:nvSpPr>
        <p:spPr>
          <a:xfrm>
            <a:off x="8165592" y="5138928"/>
            <a:ext cx="3044952" cy="731520"/>
          </a:xfrm>
          <a:prstGeom prst="rect">
            <a:avLst/>
          </a:prstGeom>
          <a:noFill/>
        </p:spPr>
        <p:txBody>
          <a:bodyPr wrap="square" anchor="t">
            <a:spAutoFit/>
          </a:bodyPr>
          <a:lstStyle/>
          <a:p>
            <a:pPr algn="l">
              <a:spcAft>
                <a:spcPts val="400"/>
              </a:spcAft>
            </a:pPr>
            <a:r>
              <a:rPr sz="1200" b="0">
                <a:solidFill>
                  <a:srgbClr val="5B6372"/>
                </a:solidFill>
                <a:latin typeface="Arial"/>
              </a:rPr>
              <a:t>Give one realistic application in your own field.</a:t>
            </a:r>
          </a:p>
        </p:txBody>
      </p:sp>
      <p:sp>
        <p:nvSpPr>
          <p:cNvPr id="24" name="TextBox 23"/>
          <p:cNvSpPr txBox="1"/>
          <p:nvPr/>
        </p:nvSpPr>
        <p:spPr>
          <a:xfrm>
            <a:off x="365760" y="6446520"/>
            <a:ext cx="6858000" cy="320040"/>
          </a:xfrm>
          <a:prstGeom prst="rect">
            <a:avLst/>
          </a:prstGeom>
          <a:noFill/>
        </p:spPr>
        <p:txBody>
          <a:bodyPr wrap="square" anchor="t">
            <a:spAutoFit/>
          </a:bodyPr>
          <a:lstStyle/>
          <a:p>
            <a:pPr algn="l">
              <a:spcAft>
                <a:spcPts val="400"/>
              </a:spcAft>
            </a:pPr>
            <a:r>
              <a:rPr sz="900" b="0">
                <a:solidFill>
                  <a:srgbClr val="5B6372"/>
                </a:solidFill>
                <a:latin typeface="Arial"/>
              </a:rPr>
              <a:t>Securing the Future with Quantum Computing and Cryptography  ·  TGS-2024043419</a:t>
            </a:r>
          </a:p>
        </p:txBody>
      </p:sp>
      <p:sp>
        <p:nvSpPr>
          <p:cNvPr id="25" name="TextBox 24"/>
          <p:cNvSpPr txBox="1"/>
          <p:nvPr/>
        </p:nvSpPr>
        <p:spPr>
          <a:xfrm>
            <a:off x="4572000" y="6446520"/>
            <a:ext cx="3017520" cy="320040"/>
          </a:xfrm>
          <a:prstGeom prst="rect">
            <a:avLst/>
          </a:prstGeom>
          <a:noFill/>
        </p:spPr>
        <p:txBody>
          <a:bodyPr wrap="square" anchor="t">
            <a:spAutoFit/>
          </a:bodyPr>
          <a:lstStyle/>
          <a:p>
            <a:pPr algn="ctr">
              <a:spcAft>
                <a:spcPts val="400"/>
              </a:spcAft>
            </a:pPr>
            <a:r>
              <a:rPr sz="900" b="0">
                <a:solidFill>
                  <a:srgbClr val="5B6372"/>
                </a:solidFill>
                <a:latin typeface="Arial"/>
              </a:rPr>
              <a:t>© 2026 Tertiary Infotech Academy Pte Ltd</a:t>
            </a:r>
          </a:p>
        </p:txBody>
      </p:sp>
      <p:sp>
        <p:nvSpPr>
          <p:cNvPr id="26" name="TextBox 25"/>
          <p:cNvSpPr txBox="1"/>
          <p:nvPr/>
        </p:nvSpPr>
        <p:spPr>
          <a:xfrm>
            <a:off x="11338560" y="6446520"/>
            <a:ext cx="548640" cy="320040"/>
          </a:xfrm>
          <a:prstGeom prst="rect">
            <a:avLst/>
          </a:prstGeom>
          <a:noFill/>
        </p:spPr>
        <p:txBody>
          <a:bodyPr wrap="square" anchor="t">
            <a:spAutoFit/>
          </a:bodyPr>
          <a:lstStyle/>
          <a:p>
            <a:pPr algn="r">
              <a:spcAft>
                <a:spcPts val="400"/>
              </a:spcAft>
            </a:pPr>
            <a:r>
              <a:rPr sz="900" b="0">
                <a:solidFill>
                  <a:srgbClr val="5B6372"/>
                </a:solidFill>
                <a:latin typeface="Arial"/>
              </a:rPr>
              <a:t>177</a:t>
            </a:r>
          </a:p>
        </p:txBody>
      </p:sp>
    </p:spTree>
  </p:cSld>
  <p:clrMapOvr>
    <a:masterClrMapping/>
  </p:clrMapOvr>
</p:sld>
</file>

<file path=ppt/slides/slide179.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256032" cy="1417320"/>
          </a:xfrm>
          <a:prstGeom prst="rect">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777240" y="457200"/>
            <a:ext cx="10607040" cy="365760"/>
          </a:xfrm>
          <a:prstGeom prst="rect">
            <a:avLst/>
          </a:prstGeom>
          <a:noFill/>
        </p:spPr>
        <p:txBody>
          <a:bodyPr wrap="square" anchor="t">
            <a:spAutoFit/>
          </a:bodyPr>
          <a:lstStyle/>
          <a:p>
            <a:pPr algn="l">
              <a:spcAft>
                <a:spcPts val="400"/>
              </a:spcAft>
            </a:pPr>
            <a:r>
              <a:rPr sz="1400" b="1">
                <a:solidFill>
                  <a:srgbClr val="10B981"/>
                </a:solidFill>
                <a:latin typeface="Arial"/>
              </a:rPr>
              <a:t>TOPIC 05 · HANDS-ON ACTIVITY</a:t>
            </a:r>
          </a:p>
        </p:txBody>
      </p:sp>
      <p:sp>
        <p:nvSpPr>
          <p:cNvPr id="5" name="TextBox 4"/>
          <p:cNvSpPr txBox="1"/>
          <p:nvPr/>
        </p:nvSpPr>
        <p:spPr>
          <a:xfrm>
            <a:off x="777240" y="822960"/>
            <a:ext cx="10881360" cy="822960"/>
          </a:xfrm>
          <a:prstGeom prst="rect">
            <a:avLst/>
          </a:prstGeom>
          <a:noFill/>
        </p:spPr>
        <p:txBody>
          <a:bodyPr wrap="square" anchor="t">
            <a:spAutoFit/>
          </a:bodyPr>
          <a:lstStyle/>
          <a:p>
            <a:pPr algn="l">
              <a:spcAft>
                <a:spcPts val="400"/>
              </a:spcAft>
            </a:pPr>
            <a:r>
              <a:rPr sz="2900" b="1">
                <a:solidFill>
                  <a:srgbClr val="161B26"/>
                </a:solidFill>
                <a:latin typeface="Arial"/>
              </a:rPr>
              <a:t>Bernstein-Vazirani Algorithm</a:t>
            </a:r>
          </a:p>
        </p:txBody>
      </p:sp>
      <p:sp>
        <p:nvSpPr>
          <p:cNvPr id="6" name="Rectangle 5"/>
          <p:cNvSpPr/>
          <p:nvPr/>
        </p:nvSpPr>
        <p:spPr>
          <a:xfrm>
            <a:off x="777240" y="1554480"/>
            <a:ext cx="10634472" cy="18288"/>
          </a:xfrm>
          <a:prstGeom prst="rect">
            <a:avLst/>
          </a:prstGeom>
          <a:solidFill>
            <a:srgbClr val="E2E8F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Rectangle 6"/>
          <p:cNvSpPr/>
          <p:nvPr/>
        </p:nvSpPr>
        <p:spPr>
          <a:xfrm>
            <a:off x="9646920" y="457200"/>
            <a:ext cx="1783080" cy="457200"/>
          </a:xfrm>
          <a:prstGeom prst="rect">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TextBox 7"/>
          <p:cNvSpPr txBox="1"/>
          <p:nvPr/>
        </p:nvSpPr>
        <p:spPr>
          <a:xfrm>
            <a:off x="9646920" y="457200"/>
            <a:ext cx="1783080" cy="457200"/>
          </a:xfrm>
          <a:prstGeom prst="rect">
            <a:avLst/>
          </a:prstGeom>
          <a:noFill/>
        </p:spPr>
        <p:txBody>
          <a:bodyPr wrap="square" anchor="ctr">
            <a:spAutoFit/>
          </a:bodyPr>
          <a:lstStyle/>
          <a:p>
            <a:pPr algn="ctr">
              <a:spcAft>
                <a:spcPts val="400"/>
              </a:spcAft>
            </a:pPr>
            <a:r>
              <a:rPr sz="1300" b="1">
                <a:solidFill>
                  <a:srgbClr val="FFFFFF"/>
                </a:solidFill>
                <a:latin typeface="Arial"/>
              </a:rPr>
              <a:t>ACTIVITY 10</a:t>
            </a:r>
          </a:p>
        </p:txBody>
      </p:sp>
      <p:sp>
        <p:nvSpPr>
          <p:cNvPr id="9" name="TextBox 8"/>
          <p:cNvSpPr txBox="1"/>
          <p:nvPr/>
        </p:nvSpPr>
        <p:spPr>
          <a:xfrm>
            <a:off x="777240" y="1828800"/>
            <a:ext cx="10607040" cy="1051560"/>
          </a:xfrm>
          <a:prstGeom prst="rect">
            <a:avLst/>
          </a:prstGeom>
          <a:noFill/>
        </p:spPr>
        <p:txBody>
          <a:bodyPr wrap="square" anchor="t">
            <a:spAutoFit/>
          </a:bodyPr>
          <a:lstStyle/>
          <a:p>
            <a:pPr algn="l">
              <a:spcAft>
                <a:spcPts val="400"/>
              </a:spcAft>
            </a:pPr>
            <a:r>
              <a:rPr sz="1700" b="0">
                <a:solidFill>
                  <a:srgbClr val="161B26"/>
                </a:solidFill>
                <a:latin typeface="Arial"/>
              </a:rPr>
              <a:t>Recover an n-bit hidden string in a single oracle query. Classically you would need n queries — one per bit — making this a clean demonstration of linear-to-constant query speedup.</a:t>
            </a:r>
          </a:p>
        </p:txBody>
      </p:sp>
      <p:sp>
        <p:nvSpPr>
          <p:cNvPr id="10" name="Rectangle 9"/>
          <p:cNvSpPr/>
          <p:nvPr/>
        </p:nvSpPr>
        <p:spPr>
          <a:xfrm>
            <a:off x="777240" y="2971800"/>
            <a:ext cx="10634472" cy="457200"/>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 name="TextBox 10"/>
          <p:cNvSpPr txBox="1"/>
          <p:nvPr/>
        </p:nvSpPr>
        <p:spPr>
          <a:xfrm>
            <a:off x="960120" y="2971800"/>
            <a:ext cx="10241280" cy="457200"/>
          </a:xfrm>
          <a:prstGeom prst="rect">
            <a:avLst/>
          </a:prstGeom>
          <a:noFill/>
        </p:spPr>
        <p:txBody>
          <a:bodyPr wrap="square" anchor="ctr">
            <a:spAutoFit/>
          </a:bodyPr>
          <a:lstStyle/>
          <a:p>
            <a:pPr algn="l">
              <a:spcAft>
                <a:spcPts val="400"/>
              </a:spcAft>
            </a:pPr>
            <a:r>
              <a:rPr sz="1100" b="1">
                <a:solidFill>
                  <a:srgbClr val="1F6FEB"/>
                </a:solidFill>
                <a:latin typeface="Arial"/>
              </a:rPr>
              <a:t>MAPS TO  </a:t>
            </a:r>
            <a:r>
              <a:rPr sz="1250" b="0">
                <a:solidFill>
                  <a:srgbClr val="161B26"/>
                </a:solidFill>
                <a:latin typeface="Arial"/>
              </a:rPr>
              <a:t>LO6 — Establish guidelines for selecting quantum computing algorithms</a:t>
            </a:r>
          </a:p>
        </p:txBody>
      </p:sp>
      <p:sp>
        <p:nvSpPr>
          <p:cNvPr id="12" name="Rectangle 11"/>
          <p:cNvSpPr/>
          <p:nvPr/>
        </p:nvSpPr>
        <p:spPr>
          <a:xfrm>
            <a:off x="777240" y="3611880"/>
            <a:ext cx="10634472" cy="1234440"/>
          </a:xfrm>
          <a:prstGeom prst="rect">
            <a:avLst/>
          </a:prstGeom>
          <a:solidFill>
            <a:srgbClr val="E8F7E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 name="TextBox 12"/>
          <p:cNvSpPr txBox="1"/>
          <p:nvPr/>
        </p:nvSpPr>
        <p:spPr>
          <a:xfrm>
            <a:off x="1051560" y="3767328"/>
            <a:ext cx="10058400" cy="365760"/>
          </a:xfrm>
          <a:prstGeom prst="rect">
            <a:avLst/>
          </a:prstGeom>
          <a:noFill/>
        </p:spPr>
        <p:txBody>
          <a:bodyPr wrap="square" anchor="t">
            <a:spAutoFit/>
          </a:bodyPr>
          <a:lstStyle/>
          <a:p>
            <a:pPr algn="l">
              <a:spcAft>
                <a:spcPts val="400"/>
              </a:spcAft>
            </a:pPr>
            <a:r>
              <a:rPr sz="1200" b="1">
                <a:solidFill>
                  <a:srgbClr val="127A3E"/>
                </a:solidFill>
                <a:latin typeface="Arial"/>
              </a:rPr>
              <a:t>YOU'LL PRODUCE</a:t>
            </a:r>
          </a:p>
        </p:txBody>
      </p:sp>
      <p:sp>
        <p:nvSpPr>
          <p:cNvPr id="14" name="TextBox 13"/>
          <p:cNvSpPr txBox="1"/>
          <p:nvPr/>
        </p:nvSpPr>
        <p:spPr>
          <a:xfrm>
            <a:off x="1051560" y="4133087"/>
            <a:ext cx="10058400" cy="640080"/>
          </a:xfrm>
          <a:prstGeom prst="rect">
            <a:avLst/>
          </a:prstGeom>
          <a:noFill/>
        </p:spPr>
        <p:txBody>
          <a:bodyPr wrap="square" anchor="t">
            <a:spAutoFit/>
          </a:bodyPr>
          <a:lstStyle/>
          <a:p>
            <a:pPr algn="l">
              <a:spcAft>
                <a:spcPts val="400"/>
              </a:spcAft>
            </a:pPr>
            <a:r>
              <a:rPr sz="1550" b="1">
                <a:solidFill>
                  <a:srgbClr val="161B26"/>
                </a:solidFill>
                <a:latin typeface="Arial"/>
              </a:rPr>
              <a:t>A Bernstein-Vazirani circuit that recovers a chosen hidden string such as 1011 in one query on real hardware.</a:t>
            </a:r>
          </a:p>
        </p:txBody>
      </p:sp>
      <p:sp>
        <p:nvSpPr>
          <p:cNvPr id="15" name="Rectangle 14"/>
          <p:cNvSpPr/>
          <p:nvPr/>
        </p:nvSpPr>
        <p:spPr>
          <a:xfrm>
            <a:off x="777240" y="5029200"/>
            <a:ext cx="10634472" cy="960120"/>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6" name="TextBox 15"/>
          <p:cNvSpPr txBox="1"/>
          <p:nvPr/>
        </p:nvSpPr>
        <p:spPr>
          <a:xfrm>
            <a:off x="1051560" y="5138928"/>
            <a:ext cx="10058400" cy="365760"/>
          </a:xfrm>
          <a:prstGeom prst="rect">
            <a:avLst/>
          </a:prstGeom>
          <a:noFill/>
        </p:spPr>
        <p:txBody>
          <a:bodyPr wrap="square" anchor="t">
            <a:spAutoFit/>
          </a:bodyPr>
          <a:lstStyle/>
          <a:p>
            <a:pPr algn="l">
              <a:spcAft>
                <a:spcPts val="400"/>
              </a:spcAft>
            </a:pPr>
            <a:r>
              <a:rPr sz="1200" b="1">
                <a:solidFill>
                  <a:srgbClr val="5B6372"/>
                </a:solidFill>
                <a:latin typeface="Arial"/>
              </a:rPr>
              <a:t>Tools:  </a:t>
            </a:r>
            <a:r>
              <a:rPr sz="1200" b="0">
                <a:solidFill>
                  <a:srgbClr val="5B6372"/>
                </a:solidFill>
                <a:latin typeface="Arial"/>
              </a:rPr>
              <a:t>Qiskit 2.x, IBM Quantum Runtime</a:t>
            </a:r>
          </a:p>
        </p:txBody>
      </p:sp>
      <p:sp>
        <p:nvSpPr>
          <p:cNvPr id="17" name="TextBox 16"/>
          <p:cNvSpPr txBox="1"/>
          <p:nvPr/>
        </p:nvSpPr>
        <p:spPr>
          <a:xfrm>
            <a:off x="1051560" y="5504688"/>
            <a:ext cx="10058400" cy="365760"/>
          </a:xfrm>
          <a:prstGeom prst="rect">
            <a:avLst/>
          </a:prstGeom>
          <a:noFill/>
        </p:spPr>
        <p:txBody>
          <a:bodyPr wrap="square" anchor="t">
            <a:spAutoFit/>
          </a:bodyPr>
          <a:lstStyle/>
          <a:p>
            <a:pPr algn="l">
              <a:spcAft>
                <a:spcPts val="400"/>
              </a:spcAft>
            </a:pPr>
            <a:r>
              <a:rPr sz="1200" b="1">
                <a:solidFill>
                  <a:srgbClr val="1F6FEB"/>
                </a:solidFill>
                <a:latin typeface="Arial"/>
              </a:rPr>
              <a:t>Full step-by-step guide:  </a:t>
            </a:r>
            <a:r>
              <a:rPr sz="1200" b="0">
                <a:solidFill>
                  <a:srgbClr val="161B26"/>
                </a:solidFill>
                <a:latin typeface="Arial"/>
              </a:rPr>
              <a:t>Learner Guide — Activity 10: Bernstein-Vazirani Algorithm</a:t>
            </a:r>
          </a:p>
        </p:txBody>
      </p:sp>
      <p:sp>
        <p:nvSpPr>
          <p:cNvPr id="18" name="TextBox 17"/>
          <p:cNvSpPr txBox="1"/>
          <p:nvPr/>
        </p:nvSpPr>
        <p:spPr>
          <a:xfrm>
            <a:off x="365760" y="6446520"/>
            <a:ext cx="6858000" cy="320040"/>
          </a:xfrm>
          <a:prstGeom prst="rect">
            <a:avLst/>
          </a:prstGeom>
          <a:noFill/>
        </p:spPr>
        <p:txBody>
          <a:bodyPr wrap="square" anchor="t">
            <a:spAutoFit/>
          </a:bodyPr>
          <a:lstStyle/>
          <a:p>
            <a:pPr algn="l">
              <a:spcAft>
                <a:spcPts val="400"/>
              </a:spcAft>
            </a:pPr>
            <a:r>
              <a:rPr sz="900" b="0">
                <a:solidFill>
                  <a:srgbClr val="5B6372"/>
                </a:solidFill>
                <a:latin typeface="Arial"/>
              </a:rPr>
              <a:t>Securing the Future with Quantum Computing and Cryptography  ·  TGS-2024043419</a:t>
            </a:r>
          </a:p>
        </p:txBody>
      </p:sp>
      <p:sp>
        <p:nvSpPr>
          <p:cNvPr id="19" name="TextBox 18"/>
          <p:cNvSpPr txBox="1"/>
          <p:nvPr/>
        </p:nvSpPr>
        <p:spPr>
          <a:xfrm>
            <a:off x="4572000" y="6446520"/>
            <a:ext cx="3017520" cy="320040"/>
          </a:xfrm>
          <a:prstGeom prst="rect">
            <a:avLst/>
          </a:prstGeom>
          <a:noFill/>
        </p:spPr>
        <p:txBody>
          <a:bodyPr wrap="square" anchor="t">
            <a:spAutoFit/>
          </a:bodyPr>
          <a:lstStyle/>
          <a:p>
            <a:pPr algn="ctr">
              <a:spcAft>
                <a:spcPts val="400"/>
              </a:spcAft>
            </a:pPr>
            <a:r>
              <a:rPr sz="900" b="0">
                <a:solidFill>
                  <a:srgbClr val="5B6372"/>
                </a:solidFill>
                <a:latin typeface="Arial"/>
              </a:rPr>
              <a:t>© 2026 Tertiary Infotech Academy Pte Ltd</a:t>
            </a:r>
          </a:p>
        </p:txBody>
      </p:sp>
      <p:sp>
        <p:nvSpPr>
          <p:cNvPr id="20" name="TextBox 19"/>
          <p:cNvSpPr txBox="1"/>
          <p:nvPr/>
        </p:nvSpPr>
        <p:spPr>
          <a:xfrm>
            <a:off x="11338560" y="6446520"/>
            <a:ext cx="548640" cy="320040"/>
          </a:xfrm>
          <a:prstGeom prst="rect">
            <a:avLst/>
          </a:prstGeom>
          <a:noFill/>
        </p:spPr>
        <p:txBody>
          <a:bodyPr wrap="square" anchor="t">
            <a:spAutoFit/>
          </a:bodyPr>
          <a:lstStyle/>
          <a:p>
            <a:pPr algn="r">
              <a:spcAft>
                <a:spcPts val="400"/>
              </a:spcAft>
            </a:pPr>
            <a:r>
              <a:rPr sz="900" b="0">
                <a:solidFill>
                  <a:srgbClr val="5B6372"/>
                </a:solidFill>
                <a:latin typeface="Arial"/>
              </a:rPr>
              <a:t>178</a:t>
            </a:r>
          </a:p>
        </p:txBody>
      </p:sp>
    </p:spTree>
  </p:cSld>
  <p:clrMapOvr>
    <a:masterClrMapping/>
  </p:clrMapOvr>
</p:sld>
</file>

<file path=ppt/slides/slide180.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256032" cy="1417320"/>
          </a:xfrm>
          <a:prstGeom prst="rect">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777240" y="457200"/>
            <a:ext cx="10607040" cy="365760"/>
          </a:xfrm>
          <a:prstGeom prst="rect">
            <a:avLst/>
          </a:prstGeom>
          <a:noFill/>
        </p:spPr>
        <p:txBody>
          <a:bodyPr wrap="square" anchor="t">
            <a:spAutoFit/>
          </a:bodyPr>
          <a:lstStyle/>
          <a:p>
            <a:pPr algn="l">
              <a:spcAft>
                <a:spcPts val="400"/>
              </a:spcAft>
            </a:pPr>
            <a:r>
              <a:rPr sz="1400" b="1">
                <a:solidFill>
                  <a:srgbClr val="10B981"/>
                </a:solidFill>
                <a:latin typeface="Arial"/>
              </a:rPr>
              <a:t>ACTIVITY 10 · VERIFY &amp; DEBRIEF</a:t>
            </a:r>
          </a:p>
        </p:txBody>
      </p:sp>
      <p:sp>
        <p:nvSpPr>
          <p:cNvPr id="5" name="TextBox 4"/>
          <p:cNvSpPr txBox="1"/>
          <p:nvPr/>
        </p:nvSpPr>
        <p:spPr>
          <a:xfrm>
            <a:off x="777240" y="822960"/>
            <a:ext cx="10881360" cy="822960"/>
          </a:xfrm>
          <a:prstGeom prst="rect">
            <a:avLst/>
          </a:prstGeom>
          <a:noFill/>
        </p:spPr>
        <p:txBody>
          <a:bodyPr wrap="square" anchor="t">
            <a:spAutoFit/>
          </a:bodyPr>
          <a:lstStyle/>
          <a:p>
            <a:pPr algn="l">
              <a:spcAft>
                <a:spcPts val="400"/>
              </a:spcAft>
            </a:pPr>
            <a:r>
              <a:rPr sz="2900" b="1">
                <a:solidFill>
                  <a:srgbClr val="161B26"/>
                </a:solidFill>
                <a:latin typeface="Arial"/>
              </a:rPr>
              <a:t>Bernstein-Vazirani Algorithm</a:t>
            </a:r>
          </a:p>
        </p:txBody>
      </p:sp>
      <p:sp>
        <p:nvSpPr>
          <p:cNvPr id="6" name="Rectangle 5"/>
          <p:cNvSpPr/>
          <p:nvPr/>
        </p:nvSpPr>
        <p:spPr>
          <a:xfrm>
            <a:off x="777240" y="1554480"/>
            <a:ext cx="10634472" cy="18288"/>
          </a:xfrm>
          <a:prstGeom prst="rect">
            <a:avLst/>
          </a:prstGeom>
          <a:solidFill>
            <a:srgbClr val="E2E8F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Rectangle 6"/>
          <p:cNvSpPr/>
          <p:nvPr/>
        </p:nvSpPr>
        <p:spPr>
          <a:xfrm>
            <a:off x="777240" y="1783080"/>
            <a:ext cx="10634472" cy="2148840"/>
          </a:xfrm>
          <a:prstGeom prst="rect">
            <a:avLst/>
          </a:prstGeom>
          <a:solidFill>
            <a:srgbClr val="E8F7E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Rectangle 7"/>
          <p:cNvSpPr/>
          <p:nvPr/>
        </p:nvSpPr>
        <p:spPr>
          <a:xfrm>
            <a:off x="777240" y="1783080"/>
            <a:ext cx="100584" cy="2148840"/>
          </a:xfrm>
          <a:prstGeom prst="rect">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TextBox 8"/>
          <p:cNvSpPr txBox="1"/>
          <p:nvPr/>
        </p:nvSpPr>
        <p:spPr>
          <a:xfrm>
            <a:off x="1143000" y="1965960"/>
            <a:ext cx="10058400" cy="411480"/>
          </a:xfrm>
          <a:prstGeom prst="rect">
            <a:avLst/>
          </a:prstGeom>
          <a:noFill/>
        </p:spPr>
        <p:txBody>
          <a:bodyPr wrap="square" anchor="t">
            <a:spAutoFit/>
          </a:bodyPr>
          <a:lstStyle/>
          <a:p>
            <a:pPr algn="l">
              <a:spcAft>
                <a:spcPts val="400"/>
              </a:spcAft>
            </a:pPr>
            <a:r>
              <a:rPr sz="1300" b="1">
                <a:solidFill>
                  <a:srgbClr val="127A3E"/>
                </a:solidFill>
                <a:latin typeface="Arial"/>
              </a:rPr>
              <a:t>TEST IT — HOW YOU KNOW IT WORKED</a:t>
            </a:r>
          </a:p>
        </p:txBody>
      </p:sp>
      <p:sp>
        <p:nvSpPr>
          <p:cNvPr id="10" name="TextBox 9"/>
          <p:cNvSpPr txBox="1"/>
          <p:nvPr/>
        </p:nvSpPr>
        <p:spPr>
          <a:xfrm>
            <a:off x="1143000" y="2423160"/>
            <a:ext cx="10058400" cy="1371600"/>
          </a:xfrm>
          <a:prstGeom prst="rect">
            <a:avLst/>
          </a:prstGeom>
          <a:noFill/>
        </p:spPr>
        <p:txBody>
          <a:bodyPr wrap="square" anchor="t">
            <a:spAutoFit/>
          </a:bodyPr>
          <a:lstStyle/>
          <a:p>
            <a:pPr algn="l">
              <a:spcAft>
                <a:spcPts val="400"/>
              </a:spcAft>
            </a:pPr>
            <a:r>
              <a:rPr sz="1600" b="0">
                <a:solidFill>
                  <a:srgbClr val="161B26"/>
                </a:solidFill>
                <a:latin typeface="Arial"/>
              </a:rPr>
              <a:t>The most frequent measured bit string equals the hidden string s that was encoded in the oracle, recovered with a single oracle query regardless of the length of s.</a:t>
            </a:r>
          </a:p>
        </p:txBody>
      </p:sp>
      <p:sp>
        <p:nvSpPr>
          <p:cNvPr id="11" name="TextBox 10"/>
          <p:cNvSpPr txBox="1"/>
          <p:nvPr/>
        </p:nvSpPr>
        <p:spPr>
          <a:xfrm>
            <a:off x="777240" y="4096512"/>
            <a:ext cx="10607040" cy="365760"/>
          </a:xfrm>
          <a:prstGeom prst="rect">
            <a:avLst/>
          </a:prstGeom>
          <a:noFill/>
        </p:spPr>
        <p:txBody>
          <a:bodyPr wrap="square" anchor="t">
            <a:spAutoFit/>
          </a:bodyPr>
          <a:lstStyle/>
          <a:p>
            <a:pPr algn="l">
              <a:spcAft>
                <a:spcPts val="400"/>
              </a:spcAft>
            </a:pPr>
            <a:r>
              <a:rPr sz="1300" b="1">
                <a:solidFill>
                  <a:srgbClr val="1F6FEB"/>
                </a:solidFill>
                <a:latin typeface="Arial"/>
              </a:rPr>
              <a:t>DISCUSS WITH YOUR TRAINER</a:t>
            </a:r>
          </a:p>
        </p:txBody>
      </p:sp>
      <p:sp>
        <p:nvSpPr>
          <p:cNvPr id="12" name="Rectangle 11"/>
          <p:cNvSpPr/>
          <p:nvPr/>
        </p:nvSpPr>
        <p:spPr>
          <a:xfrm>
            <a:off x="777240" y="4480560"/>
            <a:ext cx="3447288" cy="1463040"/>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 name="Rectangle 12"/>
          <p:cNvSpPr/>
          <p:nvPr/>
        </p:nvSpPr>
        <p:spPr>
          <a:xfrm>
            <a:off x="777240" y="4480560"/>
            <a:ext cx="3447288" cy="82296"/>
          </a:xfrm>
          <a:prstGeom prst="rect">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 name="TextBox 13"/>
          <p:cNvSpPr txBox="1"/>
          <p:nvPr/>
        </p:nvSpPr>
        <p:spPr>
          <a:xfrm>
            <a:off x="978408" y="4663440"/>
            <a:ext cx="3044952" cy="457200"/>
          </a:xfrm>
          <a:prstGeom prst="rect">
            <a:avLst/>
          </a:prstGeom>
          <a:noFill/>
        </p:spPr>
        <p:txBody>
          <a:bodyPr wrap="square" anchor="t">
            <a:spAutoFit/>
          </a:bodyPr>
          <a:lstStyle/>
          <a:p>
            <a:pPr algn="l">
              <a:spcAft>
                <a:spcPts val="400"/>
              </a:spcAft>
            </a:pPr>
            <a:r>
              <a:rPr sz="1350" b="1">
                <a:solidFill>
                  <a:srgbClr val="1F6FEB"/>
                </a:solidFill>
                <a:latin typeface="Arial"/>
              </a:rPr>
              <a:t>What did the result show?</a:t>
            </a:r>
          </a:p>
        </p:txBody>
      </p:sp>
      <p:sp>
        <p:nvSpPr>
          <p:cNvPr id="15" name="TextBox 14"/>
          <p:cNvSpPr txBox="1"/>
          <p:nvPr/>
        </p:nvSpPr>
        <p:spPr>
          <a:xfrm>
            <a:off x="978408" y="5138928"/>
            <a:ext cx="3044952" cy="731520"/>
          </a:xfrm>
          <a:prstGeom prst="rect">
            <a:avLst/>
          </a:prstGeom>
          <a:noFill/>
        </p:spPr>
        <p:txBody>
          <a:bodyPr wrap="square" anchor="t">
            <a:spAutoFit/>
          </a:bodyPr>
          <a:lstStyle/>
          <a:p>
            <a:pPr algn="l">
              <a:spcAft>
                <a:spcPts val="400"/>
              </a:spcAft>
            </a:pPr>
            <a:r>
              <a:rPr sz="1200" b="0">
                <a:solidFill>
                  <a:srgbClr val="5B6372"/>
                </a:solidFill>
                <a:latin typeface="Arial"/>
              </a:rPr>
              <a:t>Restate the outcome in your own words.</a:t>
            </a:r>
          </a:p>
        </p:txBody>
      </p:sp>
      <p:sp>
        <p:nvSpPr>
          <p:cNvPr id="16" name="Rectangle 15"/>
          <p:cNvSpPr/>
          <p:nvPr/>
        </p:nvSpPr>
        <p:spPr>
          <a:xfrm>
            <a:off x="4370832" y="4480560"/>
            <a:ext cx="3447288" cy="1463040"/>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7" name="Rectangle 16"/>
          <p:cNvSpPr/>
          <p:nvPr/>
        </p:nvSpPr>
        <p:spPr>
          <a:xfrm>
            <a:off x="4370832" y="4480560"/>
            <a:ext cx="3447288" cy="82296"/>
          </a:xfrm>
          <a:prstGeom prst="rect">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8" name="TextBox 17"/>
          <p:cNvSpPr txBox="1"/>
          <p:nvPr/>
        </p:nvSpPr>
        <p:spPr>
          <a:xfrm>
            <a:off x="4572000" y="4663440"/>
            <a:ext cx="3044952" cy="457200"/>
          </a:xfrm>
          <a:prstGeom prst="rect">
            <a:avLst/>
          </a:prstGeom>
          <a:noFill/>
        </p:spPr>
        <p:txBody>
          <a:bodyPr wrap="square" anchor="t">
            <a:spAutoFit/>
          </a:bodyPr>
          <a:lstStyle/>
          <a:p>
            <a:pPr algn="l">
              <a:spcAft>
                <a:spcPts val="400"/>
              </a:spcAft>
            </a:pPr>
            <a:r>
              <a:rPr sz="1350" b="1">
                <a:solidFill>
                  <a:srgbClr val="10B981"/>
                </a:solidFill>
                <a:latin typeface="Arial"/>
              </a:rPr>
              <a:t>Why does it work?</a:t>
            </a:r>
          </a:p>
        </p:txBody>
      </p:sp>
      <p:sp>
        <p:nvSpPr>
          <p:cNvPr id="19" name="TextBox 18"/>
          <p:cNvSpPr txBox="1"/>
          <p:nvPr/>
        </p:nvSpPr>
        <p:spPr>
          <a:xfrm>
            <a:off x="4572000" y="5138928"/>
            <a:ext cx="3044952" cy="731520"/>
          </a:xfrm>
          <a:prstGeom prst="rect">
            <a:avLst/>
          </a:prstGeom>
          <a:noFill/>
        </p:spPr>
        <p:txBody>
          <a:bodyPr wrap="square" anchor="t">
            <a:spAutoFit/>
          </a:bodyPr>
          <a:lstStyle/>
          <a:p>
            <a:pPr algn="l">
              <a:spcAft>
                <a:spcPts val="400"/>
              </a:spcAft>
            </a:pPr>
            <a:r>
              <a:rPr sz="1200" b="0">
                <a:solidFill>
                  <a:srgbClr val="5B6372"/>
                </a:solidFill>
                <a:latin typeface="Arial"/>
              </a:rPr>
              <a:t>Name the quantum principle the activity relies on.</a:t>
            </a:r>
          </a:p>
        </p:txBody>
      </p:sp>
      <p:sp>
        <p:nvSpPr>
          <p:cNvPr id="20" name="Rectangle 19"/>
          <p:cNvSpPr/>
          <p:nvPr/>
        </p:nvSpPr>
        <p:spPr>
          <a:xfrm>
            <a:off x="7964424" y="4480560"/>
            <a:ext cx="3447288" cy="1463040"/>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1" name="Rectangle 20"/>
          <p:cNvSpPr/>
          <p:nvPr/>
        </p:nvSpPr>
        <p:spPr>
          <a:xfrm>
            <a:off x="7964424" y="4480560"/>
            <a:ext cx="3447288" cy="82296"/>
          </a:xfrm>
          <a:prstGeom prst="rect">
            <a:avLst/>
          </a:prstGeom>
          <a:solidFill>
            <a:srgbClr val="7C3AE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2" name="TextBox 21"/>
          <p:cNvSpPr txBox="1"/>
          <p:nvPr/>
        </p:nvSpPr>
        <p:spPr>
          <a:xfrm>
            <a:off x="8165592" y="4663440"/>
            <a:ext cx="3044952" cy="457200"/>
          </a:xfrm>
          <a:prstGeom prst="rect">
            <a:avLst/>
          </a:prstGeom>
          <a:noFill/>
        </p:spPr>
        <p:txBody>
          <a:bodyPr wrap="square" anchor="t">
            <a:spAutoFit/>
          </a:bodyPr>
          <a:lstStyle/>
          <a:p>
            <a:pPr algn="l">
              <a:spcAft>
                <a:spcPts val="400"/>
              </a:spcAft>
            </a:pPr>
            <a:r>
              <a:rPr sz="1350" b="1">
                <a:solidFill>
                  <a:srgbClr val="7C3AED"/>
                </a:solidFill>
                <a:latin typeface="Arial"/>
              </a:rPr>
              <a:t>Where would you use it?</a:t>
            </a:r>
          </a:p>
        </p:txBody>
      </p:sp>
      <p:sp>
        <p:nvSpPr>
          <p:cNvPr id="23" name="TextBox 22"/>
          <p:cNvSpPr txBox="1"/>
          <p:nvPr/>
        </p:nvSpPr>
        <p:spPr>
          <a:xfrm>
            <a:off x="8165592" y="5138928"/>
            <a:ext cx="3044952" cy="731520"/>
          </a:xfrm>
          <a:prstGeom prst="rect">
            <a:avLst/>
          </a:prstGeom>
          <a:noFill/>
        </p:spPr>
        <p:txBody>
          <a:bodyPr wrap="square" anchor="t">
            <a:spAutoFit/>
          </a:bodyPr>
          <a:lstStyle/>
          <a:p>
            <a:pPr algn="l">
              <a:spcAft>
                <a:spcPts val="400"/>
              </a:spcAft>
            </a:pPr>
            <a:r>
              <a:rPr sz="1200" b="0">
                <a:solidFill>
                  <a:srgbClr val="5B6372"/>
                </a:solidFill>
                <a:latin typeface="Arial"/>
              </a:rPr>
              <a:t>Give one realistic application in your own field.</a:t>
            </a:r>
          </a:p>
        </p:txBody>
      </p:sp>
      <p:sp>
        <p:nvSpPr>
          <p:cNvPr id="24" name="TextBox 23"/>
          <p:cNvSpPr txBox="1"/>
          <p:nvPr/>
        </p:nvSpPr>
        <p:spPr>
          <a:xfrm>
            <a:off x="365760" y="6446520"/>
            <a:ext cx="6858000" cy="320040"/>
          </a:xfrm>
          <a:prstGeom prst="rect">
            <a:avLst/>
          </a:prstGeom>
          <a:noFill/>
        </p:spPr>
        <p:txBody>
          <a:bodyPr wrap="square" anchor="t">
            <a:spAutoFit/>
          </a:bodyPr>
          <a:lstStyle/>
          <a:p>
            <a:pPr algn="l">
              <a:spcAft>
                <a:spcPts val="400"/>
              </a:spcAft>
            </a:pPr>
            <a:r>
              <a:rPr sz="900" b="0">
                <a:solidFill>
                  <a:srgbClr val="5B6372"/>
                </a:solidFill>
                <a:latin typeface="Arial"/>
              </a:rPr>
              <a:t>Securing the Future with Quantum Computing and Cryptography  ·  TGS-2024043419</a:t>
            </a:r>
          </a:p>
        </p:txBody>
      </p:sp>
      <p:sp>
        <p:nvSpPr>
          <p:cNvPr id="25" name="TextBox 24"/>
          <p:cNvSpPr txBox="1"/>
          <p:nvPr/>
        </p:nvSpPr>
        <p:spPr>
          <a:xfrm>
            <a:off x="4572000" y="6446520"/>
            <a:ext cx="3017520" cy="320040"/>
          </a:xfrm>
          <a:prstGeom prst="rect">
            <a:avLst/>
          </a:prstGeom>
          <a:noFill/>
        </p:spPr>
        <p:txBody>
          <a:bodyPr wrap="square" anchor="t">
            <a:spAutoFit/>
          </a:bodyPr>
          <a:lstStyle/>
          <a:p>
            <a:pPr algn="ctr">
              <a:spcAft>
                <a:spcPts val="400"/>
              </a:spcAft>
            </a:pPr>
            <a:r>
              <a:rPr sz="900" b="0">
                <a:solidFill>
                  <a:srgbClr val="5B6372"/>
                </a:solidFill>
                <a:latin typeface="Arial"/>
              </a:rPr>
              <a:t>© 2026 Tertiary Infotech Academy Pte Ltd</a:t>
            </a:r>
          </a:p>
        </p:txBody>
      </p:sp>
      <p:sp>
        <p:nvSpPr>
          <p:cNvPr id="26" name="TextBox 25"/>
          <p:cNvSpPr txBox="1"/>
          <p:nvPr/>
        </p:nvSpPr>
        <p:spPr>
          <a:xfrm>
            <a:off x="11338560" y="6446520"/>
            <a:ext cx="548640" cy="320040"/>
          </a:xfrm>
          <a:prstGeom prst="rect">
            <a:avLst/>
          </a:prstGeom>
          <a:noFill/>
        </p:spPr>
        <p:txBody>
          <a:bodyPr wrap="square" anchor="t">
            <a:spAutoFit/>
          </a:bodyPr>
          <a:lstStyle/>
          <a:p>
            <a:pPr algn="r">
              <a:spcAft>
                <a:spcPts val="400"/>
              </a:spcAft>
            </a:pPr>
            <a:r>
              <a:rPr sz="900" b="0">
                <a:solidFill>
                  <a:srgbClr val="5B6372"/>
                </a:solidFill>
                <a:latin typeface="Arial"/>
              </a:rPr>
              <a:t>179</a:t>
            </a:r>
          </a:p>
        </p:txBody>
      </p:sp>
    </p:spTree>
  </p:cSld>
  <p:clrMapOvr>
    <a:masterClrMapping/>
  </p:clrMapOvr>
</p:sld>
</file>

<file path=ppt/slides/slide181.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256032" cy="1417320"/>
          </a:xfrm>
          <a:prstGeom prst="rect">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777240" y="457200"/>
            <a:ext cx="10607040" cy="365760"/>
          </a:xfrm>
          <a:prstGeom prst="rect">
            <a:avLst/>
          </a:prstGeom>
          <a:noFill/>
        </p:spPr>
        <p:txBody>
          <a:bodyPr wrap="square" anchor="t">
            <a:spAutoFit/>
          </a:bodyPr>
          <a:lstStyle/>
          <a:p>
            <a:pPr algn="l">
              <a:spcAft>
                <a:spcPts val="400"/>
              </a:spcAft>
            </a:pPr>
            <a:r>
              <a:rPr sz="1400" b="1">
                <a:solidFill>
                  <a:srgbClr val="10B981"/>
                </a:solidFill>
                <a:latin typeface="Arial"/>
              </a:rPr>
              <a:t>TOPIC 05 · HANDS-ON ACTIVITY</a:t>
            </a:r>
          </a:p>
        </p:txBody>
      </p:sp>
      <p:sp>
        <p:nvSpPr>
          <p:cNvPr id="5" name="TextBox 4"/>
          <p:cNvSpPr txBox="1"/>
          <p:nvPr/>
        </p:nvSpPr>
        <p:spPr>
          <a:xfrm>
            <a:off x="777240" y="822960"/>
            <a:ext cx="10881360" cy="822960"/>
          </a:xfrm>
          <a:prstGeom prst="rect">
            <a:avLst/>
          </a:prstGeom>
          <a:noFill/>
        </p:spPr>
        <p:txBody>
          <a:bodyPr wrap="square" anchor="t">
            <a:spAutoFit/>
          </a:bodyPr>
          <a:lstStyle/>
          <a:p>
            <a:pPr algn="l">
              <a:spcAft>
                <a:spcPts val="400"/>
              </a:spcAft>
            </a:pPr>
            <a:r>
              <a:rPr sz="2900" b="1">
                <a:solidFill>
                  <a:srgbClr val="161B26"/>
                </a:solidFill>
                <a:latin typeface="Arial"/>
              </a:rPr>
              <a:t>Grover's Search Algorithm</a:t>
            </a:r>
          </a:p>
        </p:txBody>
      </p:sp>
      <p:sp>
        <p:nvSpPr>
          <p:cNvPr id="6" name="Rectangle 5"/>
          <p:cNvSpPr/>
          <p:nvPr/>
        </p:nvSpPr>
        <p:spPr>
          <a:xfrm>
            <a:off x="777240" y="1554480"/>
            <a:ext cx="10634472" cy="18288"/>
          </a:xfrm>
          <a:prstGeom prst="rect">
            <a:avLst/>
          </a:prstGeom>
          <a:solidFill>
            <a:srgbClr val="E2E8F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Rectangle 6"/>
          <p:cNvSpPr/>
          <p:nvPr/>
        </p:nvSpPr>
        <p:spPr>
          <a:xfrm>
            <a:off x="9646920" y="457200"/>
            <a:ext cx="1783080" cy="457200"/>
          </a:xfrm>
          <a:prstGeom prst="rect">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TextBox 7"/>
          <p:cNvSpPr txBox="1"/>
          <p:nvPr/>
        </p:nvSpPr>
        <p:spPr>
          <a:xfrm>
            <a:off x="9646920" y="457200"/>
            <a:ext cx="1783080" cy="457200"/>
          </a:xfrm>
          <a:prstGeom prst="rect">
            <a:avLst/>
          </a:prstGeom>
          <a:noFill/>
        </p:spPr>
        <p:txBody>
          <a:bodyPr wrap="square" anchor="ctr">
            <a:spAutoFit/>
          </a:bodyPr>
          <a:lstStyle/>
          <a:p>
            <a:pPr algn="ctr">
              <a:spcAft>
                <a:spcPts val="400"/>
              </a:spcAft>
            </a:pPr>
            <a:r>
              <a:rPr sz="1300" b="1">
                <a:solidFill>
                  <a:srgbClr val="FFFFFF"/>
                </a:solidFill>
                <a:latin typeface="Arial"/>
              </a:rPr>
              <a:t>ACTIVITY 11</a:t>
            </a:r>
          </a:p>
        </p:txBody>
      </p:sp>
      <p:sp>
        <p:nvSpPr>
          <p:cNvPr id="9" name="TextBox 8"/>
          <p:cNvSpPr txBox="1"/>
          <p:nvPr/>
        </p:nvSpPr>
        <p:spPr>
          <a:xfrm>
            <a:off x="777240" y="1828800"/>
            <a:ext cx="10607040" cy="1051560"/>
          </a:xfrm>
          <a:prstGeom prst="rect">
            <a:avLst/>
          </a:prstGeom>
          <a:noFill/>
        </p:spPr>
        <p:txBody>
          <a:bodyPr wrap="square" anchor="t">
            <a:spAutoFit/>
          </a:bodyPr>
          <a:lstStyle/>
          <a:p>
            <a:pPr algn="l">
              <a:spcAft>
                <a:spcPts val="400"/>
              </a:spcAft>
            </a:pPr>
            <a:r>
              <a:rPr sz="1700" b="0">
                <a:solidFill>
                  <a:srgbClr val="161B26"/>
                </a:solidFill>
                <a:latin typeface="Arial"/>
              </a:rPr>
              <a:t>Implement amplitude amplification to find a marked item in an unstructured search space, using the phase oracle and the diffuser, and see the quadratic O(sqrt(N)) speedup for 2-qubit and 3-qubit searches.</a:t>
            </a:r>
          </a:p>
        </p:txBody>
      </p:sp>
      <p:sp>
        <p:nvSpPr>
          <p:cNvPr id="10" name="Rectangle 9"/>
          <p:cNvSpPr/>
          <p:nvPr/>
        </p:nvSpPr>
        <p:spPr>
          <a:xfrm>
            <a:off x="777240" y="2971800"/>
            <a:ext cx="10634472" cy="457200"/>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 name="TextBox 10"/>
          <p:cNvSpPr txBox="1"/>
          <p:nvPr/>
        </p:nvSpPr>
        <p:spPr>
          <a:xfrm>
            <a:off x="960120" y="2971800"/>
            <a:ext cx="10241280" cy="457200"/>
          </a:xfrm>
          <a:prstGeom prst="rect">
            <a:avLst/>
          </a:prstGeom>
          <a:noFill/>
        </p:spPr>
        <p:txBody>
          <a:bodyPr wrap="square" anchor="ctr">
            <a:spAutoFit/>
          </a:bodyPr>
          <a:lstStyle/>
          <a:p>
            <a:pPr algn="l">
              <a:spcAft>
                <a:spcPts val="400"/>
              </a:spcAft>
            </a:pPr>
            <a:r>
              <a:rPr sz="1100" b="1">
                <a:solidFill>
                  <a:srgbClr val="1F6FEB"/>
                </a:solidFill>
                <a:latin typeface="Arial"/>
              </a:rPr>
              <a:t>MAPS TO  </a:t>
            </a:r>
            <a:r>
              <a:rPr sz="1250" b="0">
                <a:solidFill>
                  <a:srgbClr val="161B26"/>
                </a:solidFill>
                <a:latin typeface="Arial"/>
              </a:rPr>
              <a:t>LO6, LO7 — Select algorithms and synthesize quantum methodologies</a:t>
            </a:r>
          </a:p>
        </p:txBody>
      </p:sp>
      <p:sp>
        <p:nvSpPr>
          <p:cNvPr id="12" name="Rectangle 11"/>
          <p:cNvSpPr/>
          <p:nvPr/>
        </p:nvSpPr>
        <p:spPr>
          <a:xfrm>
            <a:off x="777240" y="3611880"/>
            <a:ext cx="10634472" cy="1234440"/>
          </a:xfrm>
          <a:prstGeom prst="rect">
            <a:avLst/>
          </a:prstGeom>
          <a:solidFill>
            <a:srgbClr val="E8F7E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 name="TextBox 12"/>
          <p:cNvSpPr txBox="1"/>
          <p:nvPr/>
        </p:nvSpPr>
        <p:spPr>
          <a:xfrm>
            <a:off x="1051560" y="3767328"/>
            <a:ext cx="10058400" cy="365760"/>
          </a:xfrm>
          <a:prstGeom prst="rect">
            <a:avLst/>
          </a:prstGeom>
          <a:noFill/>
        </p:spPr>
        <p:txBody>
          <a:bodyPr wrap="square" anchor="t">
            <a:spAutoFit/>
          </a:bodyPr>
          <a:lstStyle/>
          <a:p>
            <a:pPr algn="l">
              <a:spcAft>
                <a:spcPts val="400"/>
              </a:spcAft>
            </a:pPr>
            <a:r>
              <a:rPr sz="1200" b="1">
                <a:solidFill>
                  <a:srgbClr val="127A3E"/>
                </a:solidFill>
                <a:latin typeface="Arial"/>
              </a:rPr>
              <a:t>YOU'LL PRODUCE</a:t>
            </a:r>
          </a:p>
        </p:txBody>
      </p:sp>
      <p:sp>
        <p:nvSpPr>
          <p:cNvPr id="14" name="TextBox 13"/>
          <p:cNvSpPr txBox="1"/>
          <p:nvPr/>
        </p:nvSpPr>
        <p:spPr>
          <a:xfrm>
            <a:off x="1051560" y="4133087"/>
            <a:ext cx="10058400" cy="640080"/>
          </a:xfrm>
          <a:prstGeom prst="rect">
            <a:avLst/>
          </a:prstGeom>
          <a:noFill/>
        </p:spPr>
        <p:txBody>
          <a:bodyPr wrap="square" anchor="t">
            <a:spAutoFit/>
          </a:bodyPr>
          <a:lstStyle/>
          <a:p>
            <a:pPr algn="l">
              <a:spcAft>
                <a:spcPts val="400"/>
              </a:spcAft>
            </a:pPr>
            <a:r>
              <a:rPr sz="1550" b="1">
                <a:solidFill>
                  <a:srgbClr val="161B26"/>
                </a:solidFill>
                <a:latin typeface="Arial"/>
              </a:rPr>
              <a:t>Grover circuits for 2 and 3 qubits that amplify the marked state to a high measurement probability on real hardware.</a:t>
            </a:r>
          </a:p>
        </p:txBody>
      </p:sp>
      <p:sp>
        <p:nvSpPr>
          <p:cNvPr id="15" name="Rectangle 14"/>
          <p:cNvSpPr/>
          <p:nvPr/>
        </p:nvSpPr>
        <p:spPr>
          <a:xfrm>
            <a:off x="777240" y="5029200"/>
            <a:ext cx="10634472" cy="960120"/>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6" name="TextBox 15"/>
          <p:cNvSpPr txBox="1"/>
          <p:nvPr/>
        </p:nvSpPr>
        <p:spPr>
          <a:xfrm>
            <a:off x="1051560" y="5138928"/>
            <a:ext cx="10058400" cy="365760"/>
          </a:xfrm>
          <a:prstGeom prst="rect">
            <a:avLst/>
          </a:prstGeom>
          <a:noFill/>
        </p:spPr>
        <p:txBody>
          <a:bodyPr wrap="square" anchor="t">
            <a:spAutoFit/>
          </a:bodyPr>
          <a:lstStyle/>
          <a:p>
            <a:pPr algn="l">
              <a:spcAft>
                <a:spcPts val="400"/>
              </a:spcAft>
            </a:pPr>
            <a:r>
              <a:rPr sz="1200" b="1">
                <a:solidFill>
                  <a:srgbClr val="5B6372"/>
                </a:solidFill>
                <a:latin typeface="Arial"/>
              </a:rPr>
              <a:t>Tools:  </a:t>
            </a:r>
            <a:r>
              <a:rPr sz="1200" b="0">
                <a:solidFill>
                  <a:srgbClr val="5B6372"/>
                </a:solidFill>
                <a:latin typeface="Arial"/>
              </a:rPr>
              <a:t>Qiskit 2.x, IBM Quantum Runtime, OpenQASM</a:t>
            </a:r>
          </a:p>
        </p:txBody>
      </p:sp>
      <p:sp>
        <p:nvSpPr>
          <p:cNvPr id="17" name="TextBox 16"/>
          <p:cNvSpPr txBox="1"/>
          <p:nvPr/>
        </p:nvSpPr>
        <p:spPr>
          <a:xfrm>
            <a:off x="1051560" y="5504688"/>
            <a:ext cx="10058400" cy="365760"/>
          </a:xfrm>
          <a:prstGeom prst="rect">
            <a:avLst/>
          </a:prstGeom>
          <a:noFill/>
        </p:spPr>
        <p:txBody>
          <a:bodyPr wrap="square" anchor="t">
            <a:spAutoFit/>
          </a:bodyPr>
          <a:lstStyle/>
          <a:p>
            <a:pPr algn="l">
              <a:spcAft>
                <a:spcPts val="400"/>
              </a:spcAft>
            </a:pPr>
            <a:r>
              <a:rPr sz="1200" b="1">
                <a:solidFill>
                  <a:srgbClr val="1F6FEB"/>
                </a:solidFill>
                <a:latin typeface="Arial"/>
              </a:rPr>
              <a:t>Full step-by-step guide:  </a:t>
            </a:r>
            <a:r>
              <a:rPr sz="1200" b="0">
                <a:solidFill>
                  <a:srgbClr val="161B26"/>
                </a:solidFill>
                <a:latin typeface="Arial"/>
              </a:rPr>
              <a:t>Learner Guide — Activity 11: Grover's Search Algorithm</a:t>
            </a:r>
          </a:p>
        </p:txBody>
      </p:sp>
      <p:sp>
        <p:nvSpPr>
          <p:cNvPr id="18" name="TextBox 17"/>
          <p:cNvSpPr txBox="1"/>
          <p:nvPr/>
        </p:nvSpPr>
        <p:spPr>
          <a:xfrm>
            <a:off x="365760" y="6446520"/>
            <a:ext cx="6858000" cy="320040"/>
          </a:xfrm>
          <a:prstGeom prst="rect">
            <a:avLst/>
          </a:prstGeom>
          <a:noFill/>
        </p:spPr>
        <p:txBody>
          <a:bodyPr wrap="square" anchor="t">
            <a:spAutoFit/>
          </a:bodyPr>
          <a:lstStyle/>
          <a:p>
            <a:pPr algn="l">
              <a:spcAft>
                <a:spcPts val="400"/>
              </a:spcAft>
            </a:pPr>
            <a:r>
              <a:rPr sz="900" b="0">
                <a:solidFill>
                  <a:srgbClr val="5B6372"/>
                </a:solidFill>
                <a:latin typeface="Arial"/>
              </a:rPr>
              <a:t>Securing the Future with Quantum Computing and Cryptography  ·  TGS-2024043419</a:t>
            </a:r>
          </a:p>
        </p:txBody>
      </p:sp>
      <p:sp>
        <p:nvSpPr>
          <p:cNvPr id="19" name="TextBox 18"/>
          <p:cNvSpPr txBox="1"/>
          <p:nvPr/>
        </p:nvSpPr>
        <p:spPr>
          <a:xfrm>
            <a:off x="4572000" y="6446520"/>
            <a:ext cx="3017520" cy="320040"/>
          </a:xfrm>
          <a:prstGeom prst="rect">
            <a:avLst/>
          </a:prstGeom>
          <a:noFill/>
        </p:spPr>
        <p:txBody>
          <a:bodyPr wrap="square" anchor="t">
            <a:spAutoFit/>
          </a:bodyPr>
          <a:lstStyle/>
          <a:p>
            <a:pPr algn="ctr">
              <a:spcAft>
                <a:spcPts val="400"/>
              </a:spcAft>
            </a:pPr>
            <a:r>
              <a:rPr sz="900" b="0">
                <a:solidFill>
                  <a:srgbClr val="5B6372"/>
                </a:solidFill>
                <a:latin typeface="Arial"/>
              </a:rPr>
              <a:t>© 2026 Tertiary Infotech Academy Pte Ltd</a:t>
            </a:r>
          </a:p>
        </p:txBody>
      </p:sp>
      <p:sp>
        <p:nvSpPr>
          <p:cNvPr id="20" name="TextBox 19"/>
          <p:cNvSpPr txBox="1"/>
          <p:nvPr/>
        </p:nvSpPr>
        <p:spPr>
          <a:xfrm>
            <a:off x="11338560" y="6446520"/>
            <a:ext cx="548640" cy="320040"/>
          </a:xfrm>
          <a:prstGeom prst="rect">
            <a:avLst/>
          </a:prstGeom>
          <a:noFill/>
        </p:spPr>
        <p:txBody>
          <a:bodyPr wrap="square" anchor="t">
            <a:spAutoFit/>
          </a:bodyPr>
          <a:lstStyle/>
          <a:p>
            <a:pPr algn="r">
              <a:spcAft>
                <a:spcPts val="400"/>
              </a:spcAft>
            </a:pPr>
            <a:r>
              <a:rPr sz="900" b="0">
                <a:solidFill>
                  <a:srgbClr val="5B6372"/>
                </a:solidFill>
                <a:latin typeface="Arial"/>
              </a:rPr>
              <a:t>180</a:t>
            </a:r>
          </a:p>
        </p:txBody>
      </p:sp>
    </p:spTree>
  </p:cSld>
  <p:clrMapOvr>
    <a:masterClrMapping/>
  </p:clrMapOvr>
</p:sld>
</file>

<file path=ppt/slides/slide182.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256032" cy="1417320"/>
          </a:xfrm>
          <a:prstGeom prst="rect">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777240" y="457200"/>
            <a:ext cx="10607040" cy="365760"/>
          </a:xfrm>
          <a:prstGeom prst="rect">
            <a:avLst/>
          </a:prstGeom>
          <a:noFill/>
        </p:spPr>
        <p:txBody>
          <a:bodyPr wrap="square" anchor="t">
            <a:spAutoFit/>
          </a:bodyPr>
          <a:lstStyle/>
          <a:p>
            <a:pPr algn="l">
              <a:spcAft>
                <a:spcPts val="400"/>
              </a:spcAft>
            </a:pPr>
            <a:r>
              <a:rPr sz="1400" b="1">
                <a:solidFill>
                  <a:srgbClr val="10B981"/>
                </a:solidFill>
                <a:latin typeface="Arial"/>
              </a:rPr>
              <a:t>ACTIVITY 11 · VERIFY &amp; DEBRIEF</a:t>
            </a:r>
          </a:p>
        </p:txBody>
      </p:sp>
      <p:sp>
        <p:nvSpPr>
          <p:cNvPr id="5" name="TextBox 4"/>
          <p:cNvSpPr txBox="1"/>
          <p:nvPr/>
        </p:nvSpPr>
        <p:spPr>
          <a:xfrm>
            <a:off x="777240" y="822960"/>
            <a:ext cx="10881360" cy="822960"/>
          </a:xfrm>
          <a:prstGeom prst="rect">
            <a:avLst/>
          </a:prstGeom>
          <a:noFill/>
        </p:spPr>
        <p:txBody>
          <a:bodyPr wrap="square" anchor="t">
            <a:spAutoFit/>
          </a:bodyPr>
          <a:lstStyle/>
          <a:p>
            <a:pPr algn="l">
              <a:spcAft>
                <a:spcPts val="400"/>
              </a:spcAft>
            </a:pPr>
            <a:r>
              <a:rPr sz="2900" b="1">
                <a:solidFill>
                  <a:srgbClr val="161B26"/>
                </a:solidFill>
                <a:latin typeface="Arial"/>
              </a:rPr>
              <a:t>Grover's Search Algorithm</a:t>
            </a:r>
          </a:p>
        </p:txBody>
      </p:sp>
      <p:sp>
        <p:nvSpPr>
          <p:cNvPr id="6" name="Rectangle 5"/>
          <p:cNvSpPr/>
          <p:nvPr/>
        </p:nvSpPr>
        <p:spPr>
          <a:xfrm>
            <a:off x="777240" y="1554480"/>
            <a:ext cx="10634472" cy="18288"/>
          </a:xfrm>
          <a:prstGeom prst="rect">
            <a:avLst/>
          </a:prstGeom>
          <a:solidFill>
            <a:srgbClr val="E2E8F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Rectangle 6"/>
          <p:cNvSpPr/>
          <p:nvPr/>
        </p:nvSpPr>
        <p:spPr>
          <a:xfrm>
            <a:off x="777240" y="1783080"/>
            <a:ext cx="10634472" cy="2148840"/>
          </a:xfrm>
          <a:prstGeom prst="rect">
            <a:avLst/>
          </a:prstGeom>
          <a:solidFill>
            <a:srgbClr val="E8F7E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Rectangle 7"/>
          <p:cNvSpPr/>
          <p:nvPr/>
        </p:nvSpPr>
        <p:spPr>
          <a:xfrm>
            <a:off x="777240" y="1783080"/>
            <a:ext cx="100584" cy="2148840"/>
          </a:xfrm>
          <a:prstGeom prst="rect">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TextBox 8"/>
          <p:cNvSpPr txBox="1"/>
          <p:nvPr/>
        </p:nvSpPr>
        <p:spPr>
          <a:xfrm>
            <a:off x="1143000" y="1965960"/>
            <a:ext cx="10058400" cy="411480"/>
          </a:xfrm>
          <a:prstGeom prst="rect">
            <a:avLst/>
          </a:prstGeom>
          <a:noFill/>
        </p:spPr>
        <p:txBody>
          <a:bodyPr wrap="square" anchor="t">
            <a:spAutoFit/>
          </a:bodyPr>
          <a:lstStyle/>
          <a:p>
            <a:pPr algn="l">
              <a:spcAft>
                <a:spcPts val="400"/>
              </a:spcAft>
            </a:pPr>
            <a:r>
              <a:rPr sz="1300" b="1">
                <a:solidFill>
                  <a:srgbClr val="127A3E"/>
                </a:solidFill>
                <a:latin typeface="Arial"/>
              </a:rPr>
              <a:t>TEST IT — HOW YOU KNOW IT WORKED</a:t>
            </a:r>
          </a:p>
        </p:txBody>
      </p:sp>
      <p:sp>
        <p:nvSpPr>
          <p:cNvPr id="10" name="TextBox 9"/>
          <p:cNvSpPr txBox="1"/>
          <p:nvPr/>
        </p:nvSpPr>
        <p:spPr>
          <a:xfrm>
            <a:off x="1143000" y="2423160"/>
            <a:ext cx="10058400" cy="1371600"/>
          </a:xfrm>
          <a:prstGeom prst="rect">
            <a:avLst/>
          </a:prstGeom>
          <a:noFill/>
        </p:spPr>
        <p:txBody>
          <a:bodyPr wrap="square" anchor="t">
            <a:spAutoFit/>
          </a:bodyPr>
          <a:lstStyle/>
          <a:p>
            <a:pPr algn="l">
              <a:spcAft>
                <a:spcPts val="400"/>
              </a:spcAft>
            </a:pPr>
            <a:r>
              <a:rPr sz="1600" b="0">
                <a:solidFill>
                  <a:srgbClr val="161B26"/>
                </a:solidFill>
                <a:latin typeface="Arial"/>
              </a:rPr>
              <a:t>For 2 qubits the marked state is measured with near-certainty after one Grover iteration; for 3 qubits it dominates the histogram after two iterations; applying too many iterations visibly reduces the success probability.</a:t>
            </a:r>
          </a:p>
        </p:txBody>
      </p:sp>
      <p:sp>
        <p:nvSpPr>
          <p:cNvPr id="11" name="TextBox 10"/>
          <p:cNvSpPr txBox="1"/>
          <p:nvPr/>
        </p:nvSpPr>
        <p:spPr>
          <a:xfrm>
            <a:off x="777240" y="4096512"/>
            <a:ext cx="10607040" cy="365760"/>
          </a:xfrm>
          <a:prstGeom prst="rect">
            <a:avLst/>
          </a:prstGeom>
          <a:noFill/>
        </p:spPr>
        <p:txBody>
          <a:bodyPr wrap="square" anchor="t">
            <a:spAutoFit/>
          </a:bodyPr>
          <a:lstStyle/>
          <a:p>
            <a:pPr algn="l">
              <a:spcAft>
                <a:spcPts val="400"/>
              </a:spcAft>
            </a:pPr>
            <a:r>
              <a:rPr sz="1300" b="1">
                <a:solidFill>
                  <a:srgbClr val="1F6FEB"/>
                </a:solidFill>
                <a:latin typeface="Arial"/>
              </a:rPr>
              <a:t>DISCUSS WITH YOUR TRAINER</a:t>
            </a:r>
          </a:p>
        </p:txBody>
      </p:sp>
      <p:sp>
        <p:nvSpPr>
          <p:cNvPr id="12" name="Rectangle 11"/>
          <p:cNvSpPr/>
          <p:nvPr/>
        </p:nvSpPr>
        <p:spPr>
          <a:xfrm>
            <a:off x="777240" y="4480560"/>
            <a:ext cx="3447288" cy="1463040"/>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 name="Rectangle 12"/>
          <p:cNvSpPr/>
          <p:nvPr/>
        </p:nvSpPr>
        <p:spPr>
          <a:xfrm>
            <a:off x="777240" y="4480560"/>
            <a:ext cx="3447288" cy="82296"/>
          </a:xfrm>
          <a:prstGeom prst="rect">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 name="TextBox 13"/>
          <p:cNvSpPr txBox="1"/>
          <p:nvPr/>
        </p:nvSpPr>
        <p:spPr>
          <a:xfrm>
            <a:off x="978408" y="4663440"/>
            <a:ext cx="3044952" cy="457200"/>
          </a:xfrm>
          <a:prstGeom prst="rect">
            <a:avLst/>
          </a:prstGeom>
          <a:noFill/>
        </p:spPr>
        <p:txBody>
          <a:bodyPr wrap="square" anchor="t">
            <a:spAutoFit/>
          </a:bodyPr>
          <a:lstStyle/>
          <a:p>
            <a:pPr algn="l">
              <a:spcAft>
                <a:spcPts val="400"/>
              </a:spcAft>
            </a:pPr>
            <a:r>
              <a:rPr sz="1350" b="1">
                <a:solidFill>
                  <a:srgbClr val="1F6FEB"/>
                </a:solidFill>
                <a:latin typeface="Arial"/>
              </a:rPr>
              <a:t>What did the result show?</a:t>
            </a:r>
          </a:p>
        </p:txBody>
      </p:sp>
      <p:sp>
        <p:nvSpPr>
          <p:cNvPr id="15" name="TextBox 14"/>
          <p:cNvSpPr txBox="1"/>
          <p:nvPr/>
        </p:nvSpPr>
        <p:spPr>
          <a:xfrm>
            <a:off x="978408" y="5138928"/>
            <a:ext cx="3044952" cy="731520"/>
          </a:xfrm>
          <a:prstGeom prst="rect">
            <a:avLst/>
          </a:prstGeom>
          <a:noFill/>
        </p:spPr>
        <p:txBody>
          <a:bodyPr wrap="square" anchor="t">
            <a:spAutoFit/>
          </a:bodyPr>
          <a:lstStyle/>
          <a:p>
            <a:pPr algn="l">
              <a:spcAft>
                <a:spcPts val="400"/>
              </a:spcAft>
            </a:pPr>
            <a:r>
              <a:rPr sz="1200" b="0">
                <a:solidFill>
                  <a:srgbClr val="5B6372"/>
                </a:solidFill>
                <a:latin typeface="Arial"/>
              </a:rPr>
              <a:t>Restate the outcome in your own words.</a:t>
            </a:r>
          </a:p>
        </p:txBody>
      </p:sp>
      <p:sp>
        <p:nvSpPr>
          <p:cNvPr id="16" name="Rectangle 15"/>
          <p:cNvSpPr/>
          <p:nvPr/>
        </p:nvSpPr>
        <p:spPr>
          <a:xfrm>
            <a:off x="4370832" y="4480560"/>
            <a:ext cx="3447288" cy="1463040"/>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7" name="Rectangle 16"/>
          <p:cNvSpPr/>
          <p:nvPr/>
        </p:nvSpPr>
        <p:spPr>
          <a:xfrm>
            <a:off x="4370832" y="4480560"/>
            <a:ext cx="3447288" cy="82296"/>
          </a:xfrm>
          <a:prstGeom prst="rect">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8" name="TextBox 17"/>
          <p:cNvSpPr txBox="1"/>
          <p:nvPr/>
        </p:nvSpPr>
        <p:spPr>
          <a:xfrm>
            <a:off x="4572000" y="4663440"/>
            <a:ext cx="3044952" cy="457200"/>
          </a:xfrm>
          <a:prstGeom prst="rect">
            <a:avLst/>
          </a:prstGeom>
          <a:noFill/>
        </p:spPr>
        <p:txBody>
          <a:bodyPr wrap="square" anchor="t">
            <a:spAutoFit/>
          </a:bodyPr>
          <a:lstStyle/>
          <a:p>
            <a:pPr algn="l">
              <a:spcAft>
                <a:spcPts val="400"/>
              </a:spcAft>
            </a:pPr>
            <a:r>
              <a:rPr sz="1350" b="1">
                <a:solidFill>
                  <a:srgbClr val="10B981"/>
                </a:solidFill>
                <a:latin typeface="Arial"/>
              </a:rPr>
              <a:t>Why does it work?</a:t>
            </a:r>
          </a:p>
        </p:txBody>
      </p:sp>
      <p:sp>
        <p:nvSpPr>
          <p:cNvPr id="19" name="TextBox 18"/>
          <p:cNvSpPr txBox="1"/>
          <p:nvPr/>
        </p:nvSpPr>
        <p:spPr>
          <a:xfrm>
            <a:off x="4572000" y="5138928"/>
            <a:ext cx="3044952" cy="731520"/>
          </a:xfrm>
          <a:prstGeom prst="rect">
            <a:avLst/>
          </a:prstGeom>
          <a:noFill/>
        </p:spPr>
        <p:txBody>
          <a:bodyPr wrap="square" anchor="t">
            <a:spAutoFit/>
          </a:bodyPr>
          <a:lstStyle/>
          <a:p>
            <a:pPr algn="l">
              <a:spcAft>
                <a:spcPts val="400"/>
              </a:spcAft>
            </a:pPr>
            <a:r>
              <a:rPr sz="1200" b="0">
                <a:solidFill>
                  <a:srgbClr val="5B6372"/>
                </a:solidFill>
                <a:latin typeface="Arial"/>
              </a:rPr>
              <a:t>Name the quantum principle the activity relies on.</a:t>
            </a:r>
          </a:p>
        </p:txBody>
      </p:sp>
      <p:sp>
        <p:nvSpPr>
          <p:cNvPr id="20" name="Rectangle 19"/>
          <p:cNvSpPr/>
          <p:nvPr/>
        </p:nvSpPr>
        <p:spPr>
          <a:xfrm>
            <a:off x="7964424" y="4480560"/>
            <a:ext cx="3447288" cy="1463040"/>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1" name="Rectangle 20"/>
          <p:cNvSpPr/>
          <p:nvPr/>
        </p:nvSpPr>
        <p:spPr>
          <a:xfrm>
            <a:off x="7964424" y="4480560"/>
            <a:ext cx="3447288" cy="82296"/>
          </a:xfrm>
          <a:prstGeom prst="rect">
            <a:avLst/>
          </a:prstGeom>
          <a:solidFill>
            <a:srgbClr val="7C3AE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2" name="TextBox 21"/>
          <p:cNvSpPr txBox="1"/>
          <p:nvPr/>
        </p:nvSpPr>
        <p:spPr>
          <a:xfrm>
            <a:off x="8165592" y="4663440"/>
            <a:ext cx="3044952" cy="457200"/>
          </a:xfrm>
          <a:prstGeom prst="rect">
            <a:avLst/>
          </a:prstGeom>
          <a:noFill/>
        </p:spPr>
        <p:txBody>
          <a:bodyPr wrap="square" anchor="t">
            <a:spAutoFit/>
          </a:bodyPr>
          <a:lstStyle/>
          <a:p>
            <a:pPr algn="l">
              <a:spcAft>
                <a:spcPts val="400"/>
              </a:spcAft>
            </a:pPr>
            <a:r>
              <a:rPr sz="1350" b="1">
                <a:solidFill>
                  <a:srgbClr val="7C3AED"/>
                </a:solidFill>
                <a:latin typeface="Arial"/>
              </a:rPr>
              <a:t>Where would you use it?</a:t>
            </a:r>
          </a:p>
        </p:txBody>
      </p:sp>
      <p:sp>
        <p:nvSpPr>
          <p:cNvPr id="23" name="TextBox 22"/>
          <p:cNvSpPr txBox="1"/>
          <p:nvPr/>
        </p:nvSpPr>
        <p:spPr>
          <a:xfrm>
            <a:off x="8165592" y="5138928"/>
            <a:ext cx="3044952" cy="731520"/>
          </a:xfrm>
          <a:prstGeom prst="rect">
            <a:avLst/>
          </a:prstGeom>
          <a:noFill/>
        </p:spPr>
        <p:txBody>
          <a:bodyPr wrap="square" anchor="t">
            <a:spAutoFit/>
          </a:bodyPr>
          <a:lstStyle/>
          <a:p>
            <a:pPr algn="l">
              <a:spcAft>
                <a:spcPts val="400"/>
              </a:spcAft>
            </a:pPr>
            <a:r>
              <a:rPr sz="1200" b="0">
                <a:solidFill>
                  <a:srgbClr val="5B6372"/>
                </a:solidFill>
                <a:latin typeface="Arial"/>
              </a:rPr>
              <a:t>Give one realistic application in your own field.</a:t>
            </a:r>
          </a:p>
        </p:txBody>
      </p:sp>
      <p:sp>
        <p:nvSpPr>
          <p:cNvPr id="24" name="TextBox 23"/>
          <p:cNvSpPr txBox="1"/>
          <p:nvPr/>
        </p:nvSpPr>
        <p:spPr>
          <a:xfrm>
            <a:off x="365760" y="6446520"/>
            <a:ext cx="6858000" cy="320040"/>
          </a:xfrm>
          <a:prstGeom prst="rect">
            <a:avLst/>
          </a:prstGeom>
          <a:noFill/>
        </p:spPr>
        <p:txBody>
          <a:bodyPr wrap="square" anchor="t">
            <a:spAutoFit/>
          </a:bodyPr>
          <a:lstStyle/>
          <a:p>
            <a:pPr algn="l">
              <a:spcAft>
                <a:spcPts val="400"/>
              </a:spcAft>
            </a:pPr>
            <a:r>
              <a:rPr sz="900" b="0">
                <a:solidFill>
                  <a:srgbClr val="5B6372"/>
                </a:solidFill>
                <a:latin typeface="Arial"/>
              </a:rPr>
              <a:t>Securing the Future with Quantum Computing and Cryptography  ·  TGS-2024043419</a:t>
            </a:r>
          </a:p>
        </p:txBody>
      </p:sp>
      <p:sp>
        <p:nvSpPr>
          <p:cNvPr id="25" name="TextBox 24"/>
          <p:cNvSpPr txBox="1"/>
          <p:nvPr/>
        </p:nvSpPr>
        <p:spPr>
          <a:xfrm>
            <a:off x="4572000" y="6446520"/>
            <a:ext cx="3017520" cy="320040"/>
          </a:xfrm>
          <a:prstGeom prst="rect">
            <a:avLst/>
          </a:prstGeom>
          <a:noFill/>
        </p:spPr>
        <p:txBody>
          <a:bodyPr wrap="square" anchor="t">
            <a:spAutoFit/>
          </a:bodyPr>
          <a:lstStyle/>
          <a:p>
            <a:pPr algn="ctr">
              <a:spcAft>
                <a:spcPts val="400"/>
              </a:spcAft>
            </a:pPr>
            <a:r>
              <a:rPr sz="900" b="0">
                <a:solidFill>
                  <a:srgbClr val="5B6372"/>
                </a:solidFill>
                <a:latin typeface="Arial"/>
              </a:rPr>
              <a:t>© 2026 Tertiary Infotech Academy Pte Ltd</a:t>
            </a:r>
          </a:p>
        </p:txBody>
      </p:sp>
      <p:sp>
        <p:nvSpPr>
          <p:cNvPr id="26" name="TextBox 25"/>
          <p:cNvSpPr txBox="1"/>
          <p:nvPr/>
        </p:nvSpPr>
        <p:spPr>
          <a:xfrm>
            <a:off x="11338560" y="6446520"/>
            <a:ext cx="548640" cy="320040"/>
          </a:xfrm>
          <a:prstGeom prst="rect">
            <a:avLst/>
          </a:prstGeom>
          <a:noFill/>
        </p:spPr>
        <p:txBody>
          <a:bodyPr wrap="square" anchor="t">
            <a:spAutoFit/>
          </a:bodyPr>
          <a:lstStyle/>
          <a:p>
            <a:pPr algn="r">
              <a:spcAft>
                <a:spcPts val="400"/>
              </a:spcAft>
            </a:pPr>
            <a:r>
              <a:rPr sz="900" b="0">
                <a:solidFill>
                  <a:srgbClr val="5B6372"/>
                </a:solidFill>
                <a:latin typeface="Arial"/>
              </a:rPr>
              <a:t>181</a:t>
            </a:r>
          </a:p>
        </p:txBody>
      </p:sp>
    </p:spTree>
  </p:cSld>
  <p:clrMapOvr>
    <a:masterClrMapping/>
  </p:clrMapOvr>
</p:sld>
</file>

<file path=ppt/slides/slide183.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256032" cy="1417320"/>
          </a:xfrm>
          <a:prstGeom prst="rect">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777240" y="457200"/>
            <a:ext cx="10607040" cy="365760"/>
          </a:xfrm>
          <a:prstGeom prst="rect">
            <a:avLst/>
          </a:prstGeom>
          <a:noFill/>
        </p:spPr>
        <p:txBody>
          <a:bodyPr wrap="square" anchor="t">
            <a:spAutoFit/>
          </a:bodyPr>
          <a:lstStyle/>
          <a:p>
            <a:pPr algn="l">
              <a:spcAft>
                <a:spcPts val="400"/>
              </a:spcAft>
            </a:pPr>
            <a:r>
              <a:rPr sz="1400" b="1">
                <a:solidFill>
                  <a:srgbClr val="10B981"/>
                </a:solidFill>
                <a:latin typeface="Arial"/>
              </a:rPr>
              <a:t>TOPIC 05 · HANDS-ON ACTIVITY</a:t>
            </a:r>
          </a:p>
        </p:txBody>
      </p:sp>
      <p:sp>
        <p:nvSpPr>
          <p:cNvPr id="5" name="TextBox 4"/>
          <p:cNvSpPr txBox="1"/>
          <p:nvPr/>
        </p:nvSpPr>
        <p:spPr>
          <a:xfrm>
            <a:off x="777240" y="822960"/>
            <a:ext cx="10881360" cy="822960"/>
          </a:xfrm>
          <a:prstGeom prst="rect">
            <a:avLst/>
          </a:prstGeom>
          <a:noFill/>
        </p:spPr>
        <p:txBody>
          <a:bodyPr wrap="square" anchor="t">
            <a:spAutoFit/>
          </a:bodyPr>
          <a:lstStyle/>
          <a:p>
            <a:pPr algn="l">
              <a:spcAft>
                <a:spcPts val="400"/>
              </a:spcAft>
            </a:pPr>
            <a:r>
              <a:rPr sz="2900" b="1">
                <a:solidFill>
                  <a:srgbClr val="161B26"/>
                </a:solidFill>
                <a:latin typeface="Arial"/>
              </a:rPr>
              <a:t>Quantum Fourier Transform</a:t>
            </a:r>
          </a:p>
        </p:txBody>
      </p:sp>
      <p:sp>
        <p:nvSpPr>
          <p:cNvPr id="6" name="Rectangle 5"/>
          <p:cNvSpPr/>
          <p:nvPr/>
        </p:nvSpPr>
        <p:spPr>
          <a:xfrm>
            <a:off x="777240" y="1554480"/>
            <a:ext cx="10634472" cy="18288"/>
          </a:xfrm>
          <a:prstGeom prst="rect">
            <a:avLst/>
          </a:prstGeom>
          <a:solidFill>
            <a:srgbClr val="E2E8F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Rectangle 6"/>
          <p:cNvSpPr/>
          <p:nvPr/>
        </p:nvSpPr>
        <p:spPr>
          <a:xfrm>
            <a:off x="9646920" y="457200"/>
            <a:ext cx="1783080" cy="457200"/>
          </a:xfrm>
          <a:prstGeom prst="rect">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TextBox 7"/>
          <p:cNvSpPr txBox="1"/>
          <p:nvPr/>
        </p:nvSpPr>
        <p:spPr>
          <a:xfrm>
            <a:off x="9646920" y="457200"/>
            <a:ext cx="1783080" cy="457200"/>
          </a:xfrm>
          <a:prstGeom prst="rect">
            <a:avLst/>
          </a:prstGeom>
          <a:noFill/>
        </p:spPr>
        <p:txBody>
          <a:bodyPr wrap="square" anchor="ctr">
            <a:spAutoFit/>
          </a:bodyPr>
          <a:lstStyle/>
          <a:p>
            <a:pPr algn="ctr">
              <a:spcAft>
                <a:spcPts val="400"/>
              </a:spcAft>
            </a:pPr>
            <a:r>
              <a:rPr sz="1300" b="1">
                <a:solidFill>
                  <a:srgbClr val="FFFFFF"/>
                </a:solidFill>
                <a:latin typeface="Arial"/>
              </a:rPr>
              <a:t>ACTIVITY 12</a:t>
            </a:r>
          </a:p>
        </p:txBody>
      </p:sp>
      <p:sp>
        <p:nvSpPr>
          <p:cNvPr id="9" name="TextBox 8"/>
          <p:cNvSpPr txBox="1"/>
          <p:nvPr/>
        </p:nvSpPr>
        <p:spPr>
          <a:xfrm>
            <a:off x="777240" y="1828800"/>
            <a:ext cx="10607040" cy="1051560"/>
          </a:xfrm>
          <a:prstGeom prst="rect">
            <a:avLst/>
          </a:prstGeom>
          <a:noFill/>
        </p:spPr>
        <p:txBody>
          <a:bodyPr wrap="square" anchor="t">
            <a:spAutoFit/>
          </a:bodyPr>
          <a:lstStyle/>
          <a:p>
            <a:pPr algn="l">
              <a:spcAft>
                <a:spcPts val="400"/>
              </a:spcAft>
            </a:pPr>
            <a:r>
              <a:rPr sz="1700" b="0">
                <a:solidFill>
                  <a:srgbClr val="161B26"/>
                </a:solidFill>
                <a:latin typeface="Arial"/>
              </a:rPr>
              <a:t>Build the QFT circuit from Hadamard and controlled-phase gates, verify it against the classical DFT, and understand why it is the engine behind phase estimation and Shor's algorithm.</a:t>
            </a:r>
          </a:p>
        </p:txBody>
      </p:sp>
      <p:sp>
        <p:nvSpPr>
          <p:cNvPr id="10" name="Rectangle 9"/>
          <p:cNvSpPr/>
          <p:nvPr/>
        </p:nvSpPr>
        <p:spPr>
          <a:xfrm>
            <a:off x="777240" y="2971800"/>
            <a:ext cx="10634472" cy="457200"/>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 name="TextBox 10"/>
          <p:cNvSpPr txBox="1"/>
          <p:nvPr/>
        </p:nvSpPr>
        <p:spPr>
          <a:xfrm>
            <a:off x="960120" y="2971800"/>
            <a:ext cx="10241280" cy="457200"/>
          </a:xfrm>
          <a:prstGeom prst="rect">
            <a:avLst/>
          </a:prstGeom>
          <a:noFill/>
        </p:spPr>
        <p:txBody>
          <a:bodyPr wrap="square" anchor="ctr">
            <a:spAutoFit/>
          </a:bodyPr>
          <a:lstStyle/>
          <a:p>
            <a:pPr algn="l">
              <a:spcAft>
                <a:spcPts val="400"/>
              </a:spcAft>
            </a:pPr>
            <a:r>
              <a:rPr sz="1100" b="1">
                <a:solidFill>
                  <a:srgbClr val="1F6FEB"/>
                </a:solidFill>
                <a:latin typeface="Arial"/>
              </a:rPr>
              <a:t>MAPS TO  </a:t>
            </a:r>
            <a:r>
              <a:rPr sz="1250" b="0">
                <a:solidFill>
                  <a:srgbClr val="161B26"/>
                </a:solidFill>
                <a:latin typeface="Arial"/>
              </a:rPr>
              <a:t>LO6, LO7 — Establish guidelines for selecting quantum computing algorithms</a:t>
            </a:r>
          </a:p>
        </p:txBody>
      </p:sp>
      <p:sp>
        <p:nvSpPr>
          <p:cNvPr id="12" name="Rectangle 11"/>
          <p:cNvSpPr/>
          <p:nvPr/>
        </p:nvSpPr>
        <p:spPr>
          <a:xfrm>
            <a:off x="777240" y="3611880"/>
            <a:ext cx="10634472" cy="1234440"/>
          </a:xfrm>
          <a:prstGeom prst="rect">
            <a:avLst/>
          </a:prstGeom>
          <a:solidFill>
            <a:srgbClr val="E8F7E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 name="TextBox 12"/>
          <p:cNvSpPr txBox="1"/>
          <p:nvPr/>
        </p:nvSpPr>
        <p:spPr>
          <a:xfrm>
            <a:off x="1051560" y="3767328"/>
            <a:ext cx="10058400" cy="365760"/>
          </a:xfrm>
          <a:prstGeom prst="rect">
            <a:avLst/>
          </a:prstGeom>
          <a:noFill/>
        </p:spPr>
        <p:txBody>
          <a:bodyPr wrap="square" anchor="t">
            <a:spAutoFit/>
          </a:bodyPr>
          <a:lstStyle/>
          <a:p>
            <a:pPr algn="l">
              <a:spcAft>
                <a:spcPts val="400"/>
              </a:spcAft>
            </a:pPr>
            <a:r>
              <a:rPr sz="1200" b="1">
                <a:solidFill>
                  <a:srgbClr val="127A3E"/>
                </a:solidFill>
                <a:latin typeface="Arial"/>
              </a:rPr>
              <a:t>YOU'LL PRODUCE</a:t>
            </a:r>
          </a:p>
        </p:txBody>
      </p:sp>
      <p:sp>
        <p:nvSpPr>
          <p:cNvPr id="14" name="TextBox 13"/>
          <p:cNvSpPr txBox="1"/>
          <p:nvPr/>
        </p:nvSpPr>
        <p:spPr>
          <a:xfrm>
            <a:off x="1051560" y="4133087"/>
            <a:ext cx="10058400" cy="640080"/>
          </a:xfrm>
          <a:prstGeom prst="rect">
            <a:avLst/>
          </a:prstGeom>
          <a:noFill/>
        </p:spPr>
        <p:txBody>
          <a:bodyPr wrap="square" anchor="t">
            <a:spAutoFit/>
          </a:bodyPr>
          <a:lstStyle/>
          <a:p>
            <a:pPr algn="l">
              <a:spcAft>
                <a:spcPts val="400"/>
              </a:spcAft>
            </a:pPr>
            <a:r>
              <a:rPr sz="1550" b="1">
                <a:solidFill>
                  <a:srgbClr val="161B26"/>
                </a:solidFill>
                <a:latin typeface="Arial"/>
              </a:rPr>
              <a:t>QFT circuits for 3, 4 and 5 qubits, validated against a classical DFT reference and run on IBM Quantum hardware.</a:t>
            </a:r>
          </a:p>
        </p:txBody>
      </p:sp>
      <p:sp>
        <p:nvSpPr>
          <p:cNvPr id="15" name="Rectangle 14"/>
          <p:cNvSpPr/>
          <p:nvPr/>
        </p:nvSpPr>
        <p:spPr>
          <a:xfrm>
            <a:off x="777240" y="5029200"/>
            <a:ext cx="10634472" cy="960120"/>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6" name="TextBox 15"/>
          <p:cNvSpPr txBox="1"/>
          <p:nvPr/>
        </p:nvSpPr>
        <p:spPr>
          <a:xfrm>
            <a:off x="1051560" y="5138928"/>
            <a:ext cx="10058400" cy="365760"/>
          </a:xfrm>
          <a:prstGeom prst="rect">
            <a:avLst/>
          </a:prstGeom>
          <a:noFill/>
        </p:spPr>
        <p:txBody>
          <a:bodyPr wrap="square" anchor="t">
            <a:spAutoFit/>
          </a:bodyPr>
          <a:lstStyle/>
          <a:p>
            <a:pPr algn="l">
              <a:spcAft>
                <a:spcPts val="400"/>
              </a:spcAft>
            </a:pPr>
            <a:r>
              <a:rPr sz="1200" b="1">
                <a:solidFill>
                  <a:srgbClr val="5B6372"/>
                </a:solidFill>
                <a:latin typeface="Arial"/>
              </a:rPr>
              <a:t>Tools:  </a:t>
            </a:r>
            <a:r>
              <a:rPr sz="1200" b="0">
                <a:solidFill>
                  <a:srgbClr val="5B6372"/>
                </a:solidFill>
                <a:latin typeface="Arial"/>
              </a:rPr>
              <a:t>Qiskit 2.x, NumPy, IBM Quantum Runtime, OpenQASM</a:t>
            </a:r>
          </a:p>
        </p:txBody>
      </p:sp>
      <p:sp>
        <p:nvSpPr>
          <p:cNvPr id="17" name="TextBox 16"/>
          <p:cNvSpPr txBox="1"/>
          <p:nvPr/>
        </p:nvSpPr>
        <p:spPr>
          <a:xfrm>
            <a:off x="1051560" y="5504688"/>
            <a:ext cx="10058400" cy="365760"/>
          </a:xfrm>
          <a:prstGeom prst="rect">
            <a:avLst/>
          </a:prstGeom>
          <a:noFill/>
        </p:spPr>
        <p:txBody>
          <a:bodyPr wrap="square" anchor="t">
            <a:spAutoFit/>
          </a:bodyPr>
          <a:lstStyle/>
          <a:p>
            <a:pPr algn="l">
              <a:spcAft>
                <a:spcPts val="400"/>
              </a:spcAft>
            </a:pPr>
            <a:r>
              <a:rPr sz="1200" b="1">
                <a:solidFill>
                  <a:srgbClr val="1F6FEB"/>
                </a:solidFill>
                <a:latin typeface="Arial"/>
              </a:rPr>
              <a:t>Full step-by-step guide:  </a:t>
            </a:r>
            <a:r>
              <a:rPr sz="1200" b="0">
                <a:solidFill>
                  <a:srgbClr val="161B26"/>
                </a:solidFill>
                <a:latin typeface="Arial"/>
              </a:rPr>
              <a:t>Learner Guide — Activity 12: Quantum Fourier Transform</a:t>
            </a:r>
          </a:p>
        </p:txBody>
      </p:sp>
      <p:sp>
        <p:nvSpPr>
          <p:cNvPr id="18" name="TextBox 17"/>
          <p:cNvSpPr txBox="1"/>
          <p:nvPr/>
        </p:nvSpPr>
        <p:spPr>
          <a:xfrm>
            <a:off x="365760" y="6446520"/>
            <a:ext cx="6858000" cy="320040"/>
          </a:xfrm>
          <a:prstGeom prst="rect">
            <a:avLst/>
          </a:prstGeom>
          <a:noFill/>
        </p:spPr>
        <p:txBody>
          <a:bodyPr wrap="square" anchor="t">
            <a:spAutoFit/>
          </a:bodyPr>
          <a:lstStyle/>
          <a:p>
            <a:pPr algn="l">
              <a:spcAft>
                <a:spcPts val="400"/>
              </a:spcAft>
            </a:pPr>
            <a:r>
              <a:rPr sz="900" b="0">
                <a:solidFill>
                  <a:srgbClr val="5B6372"/>
                </a:solidFill>
                <a:latin typeface="Arial"/>
              </a:rPr>
              <a:t>Securing the Future with Quantum Computing and Cryptography  ·  TGS-2024043419</a:t>
            </a:r>
          </a:p>
        </p:txBody>
      </p:sp>
      <p:sp>
        <p:nvSpPr>
          <p:cNvPr id="19" name="TextBox 18"/>
          <p:cNvSpPr txBox="1"/>
          <p:nvPr/>
        </p:nvSpPr>
        <p:spPr>
          <a:xfrm>
            <a:off x="4572000" y="6446520"/>
            <a:ext cx="3017520" cy="320040"/>
          </a:xfrm>
          <a:prstGeom prst="rect">
            <a:avLst/>
          </a:prstGeom>
          <a:noFill/>
        </p:spPr>
        <p:txBody>
          <a:bodyPr wrap="square" anchor="t">
            <a:spAutoFit/>
          </a:bodyPr>
          <a:lstStyle/>
          <a:p>
            <a:pPr algn="ctr">
              <a:spcAft>
                <a:spcPts val="400"/>
              </a:spcAft>
            </a:pPr>
            <a:r>
              <a:rPr sz="900" b="0">
                <a:solidFill>
                  <a:srgbClr val="5B6372"/>
                </a:solidFill>
                <a:latin typeface="Arial"/>
              </a:rPr>
              <a:t>© 2026 Tertiary Infotech Academy Pte Ltd</a:t>
            </a:r>
          </a:p>
        </p:txBody>
      </p:sp>
      <p:sp>
        <p:nvSpPr>
          <p:cNvPr id="20" name="TextBox 19"/>
          <p:cNvSpPr txBox="1"/>
          <p:nvPr/>
        </p:nvSpPr>
        <p:spPr>
          <a:xfrm>
            <a:off x="11338560" y="6446520"/>
            <a:ext cx="548640" cy="320040"/>
          </a:xfrm>
          <a:prstGeom prst="rect">
            <a:avLst/>
          </a:prstGeom>
          <a:noFill/>
        </p:spPr>
        <p:txBody>
          <a:bodyPr wrap="square" anchor="t">
            <a:spAutoFit/>
          </a:bodyPr>
          <a:lstStyle/>
          <a:p>
            <a:pPr algn="r">
              <a:spcAft>
                <a:spcPts val="400"/>
              </a:spcAft>
            </a:pPr>
            <a:r>
              <a:rPr sz="900" b="0">
                <a:solidFill>
                  <a:srgbClr val="5B6372"/>
                </a:solidFill>
                <a:latin typeface="Arial"/>
              </a:rPr>
              <a:t>182</a:t>
            </a:r>
          </a:p>
        </p:txBody>
      </p:sp>
    </p:spTree>
  </p:cSld>
  <p:clrMapOvr>
    <a:masterClrMapping/>
  </p:clrMapOvr>
</p:sld>
</file>

<file path=ppt/slides/slide184.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256032" cy="1417320"/>
          </a:xfrm>
          <a:prstGeom prst="rect">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777240" y="457200"/>
            <a:ext cx="10607040" cy="365760"/>
          </a:xfrm>
          <a:prstGeom prst="rect">
            <a:avLst/>
          </a:prstGeom>
          <a:noFill/>
        </p:spPr>
        <p:txBody>
          <a:bodyPr wrap="square" anchor="t">
            <a:spAutoFit/>
          </a:bodyPr>
          <a:lstStyle/>
          <a:p>
            <a:pPr algn="l">
              <a:spcAft>
                <a:spcPts val="400"/>
              </a:spcAft>
            </a:pPr>
            <a:r>
              <a:rPr sz="1400" b="1">
                <a:solidFill>
                  <a:srgbClr val="10B981"/>
                </a:solidFill>
                <a:latin typeface="Arial"/>
              </a:rPr>
              <a:t>ACTIVITY 12 · VERIFY &amp; DEBRIEF</a:t>
            </a:r>
          </a:p>
        </p:txBody>
      </p:sp>
      <p:sp>
        <p:nvSpPr>
          <p:cNvPr id="5" name="TextBox 4"/>
          <p:cNvSpPr txBox="1"/>
          <p:nvPr/>
        </p:nvSpPr>
        <p:spPr>
          <a:xfrm>
            <a:off x="777240" y="822960"/>
            <a:ext cx="10881360" cy="822960"/>
          </a:xfrm>
          <a:prstGeom prst="rect">
            <a:avLst/>
          </a:prstGeom>
          <a:noFill/>
        </p:spPr>
        <p:txBody>
          <a:bodyPr wrap="square" anchor="t">
            <a:spAutoFit/>
          </a:bodyPr>
          <a:lstStyle/>
          <a:p>
            <a:pPr algn="l">
              <a:spcAft>
                <a:spcPts val="400"/>
              </a:spcAft>
            </a:pPr>
            <a:r>
              <a:rPr sz="2900" b="1">
                <a:solidFill>
                  <a:srgbClr val="161B26"/>
                </a:solidFill>
                <a:latin typeface="Arial"/>
              </a:rPr>
              <a:t>Quantum Fourier Transform</a:t>
            </a:r>
          </a:p>
        </p:txBody>
      </p:sp>
      <p:sp>
        <p:nvSpPr>
          <p:cNvPr id="6" name="Rectangle 5"/>
          <p:cNvSpPr/>
          <p:nvPr/>
        </p:nvSpPr>
        <p:spPr>
          <a:xfrm>
            <a:off x="777240" y="1554480"/>
            <a:ext cx="10634472" cy="18288"/>
          </a:xfrm>
          <a:prstGeom prst="rect">
            <a:avLst/>
          </a:prstGeom>
          <a:solidFill>
            <a:srgbClr val="E2E8F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Rectangle 6"/>
          <p:cNvSpPr/>
          <p:nvPr/>
        </p:nvSpPr>
        <p:spPr>
          <a:xfrm>
            <a:off x="777240" y="1783080"/>
            <a:ext cx="10634472" cy="2148840"/>
          </a:xfrm>
          <a:prstGeom prst="rect">
            <a:avLst/>
          </a:prstGeom>
          <a:solidFill>
            <a:srgbClr val="E8F7E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Rectangle 7"/>
          <p:cNvSpPr/>
          <p:nvPr/>
        </p:nvSpPr>
        <p:spPr>
          <a:xfrm>
            <a:off x="777240" y="1783080"/>
            <a:ext cx="100584" cy="2148840"/>
          </a:xfrm>
          <a:prstGeom prst="rect">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TextBox 8"/>
          <p:cNvSpPr txBox="1"/>
          <p:nvPr/>
        </p:nvSpPr>
        <p:spPr>
          <a:xfrm>
            <a:off x="1143000" y="1965960"/>
            <a:ext cx="10058400" cy="411480"/>
          </a:xfrm>
          <a:prstGeom prst="rect">
            <a:avLst/>
          </a:prstGeom>
          <a:noFill/>
        </p:spPr>
        <p:txBody>
          <a:bodyPr wrap="square" anchor="t">
            <a:spAutoFit/>
          </a:bodyPr>
          <a:lstStyle/>
          <a:p>
            <a:pPr algn="l">
              <a:spcAft>
                <a:spcPts val="400"/>
              </a:spcAft>
            </a:pPr>
            <a:r>
              <a:rPr sz="1300" b="1">
                <a:solidFill>
                  <a:srgbClr val="127A3E"/>
                </a:solidFill>
                <a:latin typeface="Arial"/>
              </a:rPr>
              <a:t>TEST IT — HOW YOU KNOW IT WORKED</a:t>
            </a:r>
          </a:p>
        </p:txBody>
      </p:sp>
      <p:sp>
        <p:nvSpPr>
          <p:cNvPr id="10" name="TextBox 9"/>
          <p:cNvSpPr txBox="1"/>
          <p:nvPr/>
        </p:nvSpPr>
        <p:spPr>
          <a:xfrm>
            <a:off x="1143000" y="2423160"/>
            <a:ext cx="10058400" cy="1371600"/>
          </a:xfrm>
          <a:prstGeom prst="rect">
            <a:avLst/>
          </a:prstGeom>
          <a:noFill/>
        </p:spPr>
        <p:txBody>
          <a:bodyPr wrap="square" anchor="t">
            <a:spAutoFit/>
          </a:bodyPr>
          <a:lstStyle/>
          <a:p>
            <a:pPr algn="l">
              <a:spcAft>
                <a:spcPts val="400"/>
              </a:spcAft>
            </a:pPr>
            <a:r>
              <a:rPr sz="1600" b="0">
                <a:solidFill>
                  <a:srgbClr val="161B26"/>
                </a:solidFill>
                <a:latin typeface="Arial"/>
              </a:rPr>
              <a:t>Your hand-built QFT circuit produces the same state vector as Qiskit's built-in QFT and matches a normalised classical FFT of the same input, using on the order of n^2 gates.</a:t>
            </a:r>
          </a:p>
        </p:txBody>
      </p:sp>
      <p:sp>
        <p:nvSpPr>
          <p:cNvPr id="11" name="TextBox 10"/>
          <p:cNvSpPr txBox="1"/>
          <p:nvPr/>
        </p:nvSpPr>
        <p:spPr>
          <a:xfrm>
            <a:off x="777240" y="4096512"/>
            <a:ext cx="10607040" cy="365760"/>
          </a:xfrm>
          <a:prstGeom prst="rect">
            <a:avLst/>
          </a:prstGeom>
          <a:noFill/>
        </p:spPr>
        <p:txBody>
          <a:bodyPr wrap="square" anchor="t">
            <a:spAutoFit/>
          </a:bodyPr>
          <a:lstStyle/>
          <a:p>
            <a:pPr algn="l">
              <a:spcAft>
                <a:spcPts val="400"/>
              </a:spcAft>
            </a:pPr>
            <a:r>
              <a:rPr sz="1300" b="1">
                <a:solidFill>
                  <a:srgbClr val="1F6FEB"/>
                </a:solidFill>
                <a:latin typeface="Arial"/>
              </a:rPr>
              <a:t>DISCUSS WITH YOUR TRAINER</a:t>
            </a:r>
          </a:p>
        </p:txBody>
      </p:sp>
      <p:sp>
        <p:nvSpPr>
          <p:cNvPr id="12" name="Rectangle 11"/>
          <p:cNvSpPr/>
          <p:nvPr/>
        </p:nvSpPr>
        <p:spPr>
          <a:xfrm>
            <a:off x="777240" y="4480560"/>
            <a:ext cx="3447288" cy="1463040"/>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 name="Rectangle 12"/>
          <p:cNvSpPr/>
          <p:nvPr/>
        </p:nvSpPr>
        <p:spPr>
          <a:xfrm>
            <a:off x="777240" y="4480560"/>
            <a:ext cx="3447288" cy="82296"/>
          </a:xfrm>
          <a:prstGeom prst="rect">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 name="TextBox 13"/>
          <p:cNvSpPr txBox="1"/>
          <p:nvPr/>
        </p:nvSpPr>
        <p:spPr>
          <a:xfrm>
            <a:off x="978408" y="4663440"/>
            <a:ext cx="3044952" cy="457200"/>
          </a:xfrm>
          <a:prstGeom prst="rect">
            <a:avLst/>
          </a:prstGeom>
          <a:noFill/>
        </p:spPr>
        <p:txBody>
          <a:bodyPr wrap="square" anchor="t">
            <a:spAutoFit/>
          </a:bodyPr>
          <a:lstStyle/>
          <a:p>
            <a:pPr algn="l">
              <a:spcAft>
                <a:spcPts val="400"/>
              </a:spcAft>
            </a:pPr>
            <a:r>
              <a:rPr sz="1350" b="1">
                <a:solidFill>
                  <a:srgbClr val="1F6FEB"/>
                </a:solidFill>
                <a:latin typeface="Arial"/>
              </a:rPr>
              <a:t>What did the result show?</a:t>
            </a:r>
          </a:p>
        </p:txBody>
      </p:sp>
      <p:sp>
        <p:nvSpPr>
          <p:cNvPr id="15" name="TextBox 14"/>
          <p:cNvSpPr txBox="1"/>
          <p:nvPr/>
        </p:nvSpPr>
        <p:spPr>
          <a:xfrm>
            <a:off x="978408" y="5138928"/>
            <a:ext cx="3044952" cy="731520"/>
          </a:xfrm>
          <a:prstGeom prst="rect">
            <a:avLst/>
          </a:prstGeom>
          <a:noFill/>
        </p:spPr>
        <p:txBody>
          <a:bodyPr wrap="square" anchor="t">
            <a:spAutoFit/>
          </a:bodyPr>
          <a:lstStyle/>
          <a:p>
            <a:pPr algn="l">
              <a:spcAft>
                <a:spcPts val="400"/>
              </a:spcAft>
            </a:pPr>
            <a:r>
              <a:rPr sz="1200" b="0">
                <a:solidFill>
                  <a:srgbClr val="5B6372"/>
                </a:solidFill>
                <a:latin typeface="Arial"/>
              </a:rPr>
              <a:t>Restate the outcome in your own words.</a:t>
            </a:r>
          </a:p>
        </p:txBody>
      </p:sp>
      <p:sp>
        <p:nvSpPr>
          <p:cNvPr id="16" name="Rectangle 15"/>
          <p:cNvSpPr/>
          <p:nvPr/>
        </p:nvSpPr>
        <p:spPr>
          <a:xfrm>
            <a:off x="4370832" y="4480560"/>
            <a:ext cx="3447288" cy="1463040"/>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7" name="Rectangle 16"/>
          <p:cNvSpPr/>
          <p:nvPr/>
        </p:nvSpPr>
        <p:spPr>
          <a:xfrm>
            <a:off x="4370832" y="4480560"/>
            <a:ext cx="3447288" cy="82296"/>
          </a:xfrm>
          <a:prstGeom prst="rect">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8" name="TextBox 17"/>
          <p:cNvSpPr txBox="1"/>
          <p:nvPr/>
        </p:nvSpPr>
        <p:spPr>
          <a:xfrm>
            <a:off x="4572000" y="4663440"/>
            <a:ext cx="3044952" cy="457200"/>
          </a:xfrm>
          <a:prstGeom prst="rect">
            <a:avLst/>
          </a:prstGeom>
          <a:noFill/>
        </p:spPr>
        <p:txBody>
          <a:bodyPr wrap="square" anchor="t">
            <a:spAutoFit/>
          </a:bodyPr>
          <a:lstStyle/>
          <a:p>
            <a:pPr algn="l">
              <a:spcAft>
                <a:spcPts val="400"/>
              </a:spcAft>
            </a:pPr>
            <a:r>
              <a:rPr sz="1350" b="1">
                <a:solidFill>
                  <a:srgbClr val="10B981"/>
                </a:solidFill>
                <a:latin typeface="Arial"/>
              </a:rPr>
              <a:t>Why does it work?</a:t>
            </a:r>
          </a:p>
        </p:txBody>
      </p:sp>
      <p:sp>
        <p:nvSpPr>
          <p:cNvPr id="19" name="TextBox 18"/>
          <p:cNvSpPr txBox="1"/>
          <p:nvPr/>
        </p:nvSpPr>
        <p:spPr>
          <a:xfrm>
            <a:off x="4572000" y="5138928"/>
            <a:ext cx="3044952" cy="731520"/>
          </a:xfrm>
          <a:prstGeom prst="rect">
            <a:avLst/>
          </a:prstGeom>
          <a:noFill/>
        </p:spPr>
        <p:txBody>
          <a:bodyPr wrap="square" anchor="t">
            <a:spAutoFit/>
          </a:bodyPr>
          <a:lstStyle/>
          <a:p>
            <a:pPr algn="l">
              <a:spcAft>
                <a:spcPts val="400"/>
              </a:spcAft>
            </a:pPr>
            <a:r>
              <a:rPr sz="1200" b="0">
                <a:solidFill>
                  <a:srgbClr val="5B6372"/>
                </a:solidFill>
                <a:latin typeface="Arial"/>
              </a:rPr>
              <a:t>Name the quantum principle the activity relies on.</a:t>
            </a:r>
          </a:p>
        </p:txBody>
      </p:sp>
      <p:sp>
        <p:nvSpPr>
          <p:cNvPr id="20" name="Rectangle 19"/>
          <p:cNvSpPr/>
          <p:nvPr/>
        </p:nvSpPr>
        <p:spPr>
          <a:xfrm>
            <a:off x="7964424" y="4480560"/>
            <a:ext cx="3447288" cy="1463040"/>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1" name="Rectangle 20"/>
          <p:cNvSpPr/>
          <p:nvPr/>
        </p:nvSpPr>
        <p:spPr>
          <a:xfrm>
            <a:off x="7964424" y="4480560"/>
            <a:ext cx="3447288" cy="82296"/>
          </a:xfrm>
          <a:prstGeom prst="rect">
            <a:avLst/>
          </a:prstGeom>
          <a:solidFill>
            <a:srgbClr val="7C3AE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2" name="TextBox 21"/>
          <p:cNvSpPr txBox="1"/>
          <p:nvPr/>
        </p:nvSpPr>
        <p:spPr>
          <a:xfrm>
            <a:off x="8165592" y="4663440"/>
            <a:ext cx="3044952" cy="457200"/>
          </a:xfrm>
          <a:prstGeom prst="rect">
            <a:avLst/>
          </a:prstGeom>
          <a:noFill/>
        </p:spPr>
        <p:txBody>
          <a:bodyPr wrap="square" anchor="t">
            <a:spAutoFit/>
          </a:bodyPr>
          <a:lstStyle/>
          <a:p>
            <a:pPr algn="l">
              <a:spcAft>
                <a:spcPts val="400"/>
              </a:spcAft>
            </a:pPr>
            <a:r>
              <a:rPr sz="1350" b="1">
                <a:solidFill>
                  <a:srgbClr val="7C3AED"/>
                </a:solidFill>
                <a:latin typeface="Arial"/>
              </a:rPr>
              <a:t>Where would you use it?</a:t>
            </a:r>
          </a:p>
        </p:txBody>
      </p:sp>
      <p:sp>
        <p:nvSpPr>
          <p:cNvPr id="23" name="TextBox 22"/>
          <p:cNvSpPr txBox="1"/>
          <p:nvPr/>
        </p:nvSpPr>
        <p:spPr>
          <a:xfrm>
            <a:off x="8165592" y="5138928"/>
            <a:ext cx="3044952" cy="731520"/>
          </a:xfrm>
          <a:prstGeom prst="rect">
            <a:avLst/>
          </a:prstGeom>
          <a:noFill/>
        </p:spPr>
        <p:txBody>
          <a:bodyPr wrap="square" anchor="t">
            <a:spAutoFit/>
          </a:bodyPr>
          <a:lstStyle/>
          <a:p>
            <a:pPr algn="l">
              <a:spcAft>
                <a:spcPts val="400"/>
              </a:spcAft>
            </a:pPr>
            <a:r>
              <a:rPr sz="1200" b="0">
                <a:solidFill>
                  <a:srgbClr val="5B6372"/>
                </a:solidFill>
                <a:latin typeface="Arial"/>
              </a:rPr>
              <a:t>Give one realistic application in your own field.</a:t>
            </a:r>
          </a:p>
        </p:txBody>
      </p:sp>
      <p:sp>
        <p:nvSpPr>
          <p:cNvPr id="24" name="TextBox 23"/>
          <p:cNvSpPr txBox="1"/>
          <p:nvPr/>
        </p:nvSpPr>
        <p:spPr>
          <a:xfrm>
            <a:off x="365760" y="6446520"/>
            <a:ext cx="6858000" cy="320040"/>
          </a:xfrm>
          <a:prstGeom prst="rect">
            <a:avLst/>
          </a:prstGeom>
          <a:noFill/>
        </p:spPr>
        <p:txBody>
          <a:bodyPr wrap="square" anchor="t">
            <a:spAutoFit/>
          </a:bodyPr>
          <a:lstStyle/>
          <a:p>
            <a:pPr algn="l">
              <a:spcAft>
                <a:spcPts val="400"/>
              </a:spcAft>
            </a:pPr>
            <a:r>
              <a:rPr sz="900" b="0">
                <a:solidFill>
                  <a:srgbClr val="5B6372"/>
                </a:solidFill>
                <a:latin typeface="Arial"/>
              </a:rPr>
              <a:t>Securing the Future with Quantum Computing and Cryptography  ·  TGS-2024043419</a:t>
            </a:r>
          </a:p>
        </p:txBody>
      </p:sp>
      <p:sp>
        <p:nvSpPr>
          <p:cNvPr id="25" name="TextBox 24"/>
          <p:cNvSpPr txBox="1"/>
          <p:nvPr/>
        </p:nvSpPr>
        <p:spPr>
          <a:xfrm>
            <a:off x="4572000" y="6446520"/>
            <a:ext cx="3017520" cy="320040"/>
          </a:xfrm>
          <a:prstGeom prst="rect">
            <a:avLst/>
          </a:prstGeom>
          <a:noFill/>
        </p:spPr>
        <p:txBody>
          <a:bodyPr wrap="square" anchor="t">
            <a:spAutoFit/>
          </a:bodyPr>
          <a:lstStyle/>
          <a:p>
            <a:pPr algn="ctr">
              <a:spcAft>
                <a:spcPts val="400"/>
              </a:spcAft>
            </a:pPr>
            <a:r>
              <a:rPr sz="900" b="0">
                <a:solidFill>
                  <a:srgbClr val="5B6372"/>
                </a:solidFill>
                <a:latin typeface="Arial"/>
              </a:rPr>
              <a:t>© 2026 Tertiary Infotech Academy Pte Ltd</a:t>
            </a:r>
          </a:p>
        </p:txBody>
      </p:sp>
      <p:sp>
        <p:nvSpPr>
          <p:cNvPr id="26" name="TextBox 25"/>
          <p:cNvSpPr txBox="1"/>
          <p:nvPr/>
        </p:nvSpPr>
        <p:spPr>
          <a:xfrm>
            <a:off x="11338560" y="6446520"/>
            <a:ext cx="548640" cy="320040"/>
          </a:xfrm>
          <a:prstGeom prst="rect">
            <a:avLst/>
          </a:prstGeom>
          <a:noFill/>
        </p:spPr>
        <p:txBody>
          <a:bodyPr wrap="square" anchor="t">
            <a:spAutoFit/>
          </a:bodyPr>
          <a:lstStyle/>
          <a:p>
            <a:pPr algn="r">
              <a:spcAft>
                <a:spcPts val="400"/>
              </a:spcAft>
            </a:pPr>
            <a:r>
              <a:rPr sz="900" b="0">
                <a:solidFill>
                  <a:srgbClr val="5B6372"/>
                </a:solidFill>
                <a:latin typeface="Arial"/>
              </a:rPr>
              <a:t>183</a:t>
            </a:r>
          </a:p>
        </p:txBody>
      </p:sp>
    </p:spTree>
  </p:cSld>
  <p:clrMapOvr>
    <a:masterClrMapping/>
  </p:clrMapOvr>
</p:sld>
</file>

<file path=ppt/slides/slide185.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256032" cy="1417320"/>
          </a:xfrm>
          <a:prstGeom prst="rect">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777240" y="457200"/>
            <a:ext cx="10607040" cy="365760"/>
          </a:xfrm>
          <a:prstGeom prst="rect">
            <a:avLst/>
          </a:prstGeom>
          <a:noFill/>
        </p:spPr>
        <p:txBody>
          <a:bodyPr wrap="square" anchor="t">
            <a:spAutoFit/>
          </a:bodyPr>
          <a:lstStyle/>
          <a:p>
            <a:pPr algn="l">
              <a:spcAft>
                <a:spcPts val="400"/>
              </a:spcAft>
            </a:pPr>
            <a:r>
              <a:rPr sz="1400" b="1">
                <a:solidFill>
                  <a:srgbClr val="1F6FEB"/>
                </a:solidFill>
                <a:latin typeface="Arial"/>
              </a:rPr>
              <a:t>TOPIC RECAP</a:t>
            </a:r>
          </a:p>
        </p:txBody>
      </p:sp>
      <p:sp>
        <p:nvSpPr>
          <p:cNvPr id="5" name="TextBox 4"/>
          <p:cNvSpPr txBox="1"/>
          <p:nvPr/>
        </p:nvSpPr>
        <p:spPr>
          <a:xfrm>
            <a:off x="777240" y="822960"/>
            <a:ext cx="10881360" cy="822960"/>
          </a:xfrm>
          <a:prstGeom prst="rect">
            <a:avLst/>
          </a:prstGeom>
          <a:noFill/>
        </p:spPr>
        <p:txBody>
          <a:bodyPr wrap="square" anchor="t">
            <a:spAutoFit/>
          </a:bodyPr>
          <a:lstStyle/>
          <a:p>
            <a:pPr algn="l">
              <a:spcAft>
                <a:spcPts val="400"/>
              </a:spcAft>
            </a:pPr>
            <a:r>
              <a:rPr sz="2900" b="1">
                <a:solidFill>
                  <a:srgbClr val="161B26"/>
                </a:solidFill>
                <a:latin typeface="Arial"/>
              </a:rPr>
              <a:t>Recap — Quantum Algorithms</a:t>
            </a:r>
          </a:p>
        </p:txBody>
      </p:sp>
      <p:sp>
        <p:nvSpPr>
          <p:cNvPr id="6" name="Rectangle 5"/>
          <p:cNvSpPr/>
          <p:nvPr/>
        </p:nvSpPr>
        <p:spPr>
          <a:xfrm>
            <a:off x="777240" y="1554480"/>
            <a:ext cx="10634472" cy="18288"/>
          </a:xfrm>
          <a:prstGeom prst="rect">
            <a:avLst/>
          </a:prstGeom>
          <a:solidFill>
            <a:srgbClr val="E2E8F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TextBox 6"/>
          <p:cNvSpPr txBox="1"/>
          <p:nvPr/>
        </p:nvSpPr>
        <p:spPr>
          <a:xfrm>
            <a:off x="777240" y="1783080"/>
            <a:ext cx="10607040" cy="4480560"/>
          </a:xfrm>
          <a:prstGeom prst="rect">
            <a:avLst/>
          </a:prstGeom>
          <a:noFill/>
        </p:spPr>
        <p:txBody>
          <a:bodyPr wrap="square">
            <a:spAutoFit/>
          </a:bodyPr>
          <a:lstStyle/>
          <a:p>
            <a:pPr>
              <a:spcAft>
                <a:spcPts val="1000"/>
              </a:spcAft>
            </a:pPr>
            <a:r>
              <a:rPr sz="1600">
                <a:solidFill>
                  <a:srgbClr val="161B26"/>
                </a:solidFill>
                <a:latin typeface="Arial"/>
              </a:rPr>
              <a:t>•  The query (oracle) model</a:t>
            </a:r>
          </a:p>
          <a:p>
            <a:pPr>
              <a:spcAft>
                <a:spcPts val="1000"/>
              </a:spcAft>
            </a:pPr>
            <a:r>
              <a:rPr sz="1600">
                <a:solidFill>
                  <a:srgbClr val="161B26"/>
                </a:solidFill>
                <a:latin typeface="Arial"/>
              </a:rPr>
              <a:t>•  Deutsch algorithm</a:t>
            </a:r>
          </a:p>
          <a:p>
            <a:pPr>
              <a:spcAft>
                <a:spcPts val="1000"/>
              </a:spcAft>
            </a:pPr>
            <a:r>
              <a:rPr sz="1600">
                <a:solidFill>
                  <a:srgbClr val="161B26"/>
                </a:solidFill>
                <a:latin typeface="Arial"/>
              </a:rPr>
              <a:t>•  Deutsch-Jozsa</a:t>
            </a:r>
          </a:p>
          <a:p>
            <a:pPr>
              <a:spcAft>
                <a:spcPts val="1000"/>
              </a:spcAft>
            </a:pPr>
            <a:r>
              <a:rPr sz="1600">
                <a:solidFill>
                  <a:srgbClr val="161B26"/>
                </a:solidFill>
                <a:latin typeface="Arial"/>
              </a:rPr>
              <a:t>•  Bernstein-Vazirani</a:t>
            </a:r>
          </a:p>
          <a:p>
            <a:pPr>
              <a:spcAft>
                <a:spcPts val="1000"/>
              </a:spcAft>
            </a:pPr>
            <a:r>
              <a:rPr sz="1600">
                <a:solidFill>
                  <a:srgbClr val="161B26"/>
                </a:solidFill>
                <a:latin typeface="Arial"/>
              </a:rPr>
              <a:t>•  Grover search</a:t>
            </a:r>
          </a:p>
          <a:p>
            <a:pPr>
              <a:spcAft>
                <a:spcPts val="1000"/>
              </a:spcAft>
            </a:pPr>
            <a:r>
              <a:rPr sz="1600">
                <a:solidFill>
                  <a:srgbClr val="161B26"/>
                </a:solidFill>
                <a:latin typeface="Arial"/>
              </a:rPr>
              <a:t>•  Quantum Fourier Transform</a:t>
            </a:r>
          </a:p>
        </p:txBody>
      </p:sp>
      <p:sp>
        <p:nvSpPr>
          <p:cNvPr id="8" name="TextBox 7"/>
          <p:cNvSpPr txBox="1"/>
          <p:nvPr/>
        </p:nvSpPr>
        <p:spPr>
          <a:xfrm>
            <a:off x="365760" y="6446520"/>
            <a:ext cx="6858000" cy="320040"/>
          </a:xfrm>
          <a:prstGeom prst="rect">
            <a:avLst/>
          </a:prstGeom>
          <a:noFill/>
        </p:spPr>
        <p:txBody>
          <a:bodyPr wrap="square" anchor="t">
            <a:spAutoFit/>
          </a:bodyPr>
          <a:lstStyle/>
          <a:p>
            <a:pPr algn="l">
              <a:spcAft>
                <a:spcPts val="400"/>
              </a:spcAft>
            </a:pPr>
            <a:r>
              <a:rPr sz="900" b="0">
                <a:solidFill>
                  <a:srgbClr val="5B6372"/>
                </a:solidFill>
                <a:latin typeface="Arial"/>
              </a:rPr>
              <a:t>Securing the Future with Quantum Computing and Cryptography  ·  TGS-2024043419</a:t>
            </a:r>
          </a:p>
        </p:txBody>
      </p:sp>
      <p:sp>
        <p:nvSpPr>
          <p:cNvPr id="9" name="TextBox 8"/>
          <p:cNvSpPr txBox="1"/>
          <p:nvPr/>
        </p:nvSpPr>
        <p:spPr>
          <a:xfrm>
            <a:off x="4572000" y="6446520"/>
            <a:ext cx="3017520" cy="320040"/>
          </a:xfrm>
          <a:prstGeom prst="rect">
            <a:avLst/>
          </a:prstGeom>
          <a:noFill/>
        </p:spPr>
        <p:txBody>
          <a:bodyPr wrap="square" anchor="t">
            <a:spAutoFit/>
          </a:bodyPr>
          <a:lstStyle/>
          <a:p>
            <a:pPr algn="ctr">
              <a:spcAft>
                <a:spcPts val="400"/>
              </a:spcAft>
            </a:pPr>
            <a:r>
              <a:rPr sz="900" b="0">
                <a:solidFill>
                  <a:srgbClr val="5B6372"/>
                </a:solidFill>
                <a:latin typeface="Arial"/>
              </a:rPr>
              <a:t>© 2026 Tertiary Infotech Academy Pte Ltd</a:t>
            </a:r>
          </a:p>
        </p:txBody>
      </p:sp>
      <p:sp>
        <p:nvSpPr>
          <p:cNvPr id="10" name="TextBox 9"/>
          <p:cNvSpPr txBox="1"/>
          <p:nvPr/>
        </p:nvSpPr>
        <p:spPr>
          <a:xfrm>
            <a:off x="11338560" y="6446520"/>
            <a:ext cx="548640" cy="320040"/>
          </a:xfrm>
          <a:prstGeom prst="rect">
            <a:avLst/>
          </a:prstGeom>
          <a:noFill/>
        </p:spPr>
        <p:txBody>
          <a:bodyPr wrap="square" anchor="t">
            <a:spAutoFit/>
          </a:bodyPr>
          <a:lstStyle/>
          <a:p>
            <a:pPr algn="r">
              <a:spcAft>
                <a:spcPts val="400"/>
              </a:spcAft>
            </a:pPr>
            <a:r>
              <a:rPr sz="900" b="0">
                <a:solidFill>
                  <a:srgbClr val="5B6372"/>
                </a:solidFill>
                <a:latin typeface="Arial"/>
              </a:rPr>
              <a:t>184</a:t>
            </a:r>
          </a:p>
        </p:txBody>
      </p:sp>
    </p:spTree>
  </p:cSld>
  <p:clrMapOvr>
    <a:masterClrMapping/>
  </p:clrMapOvr>
</p:sld>
</file>

<file path=ppt/slides/slide186.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256032" cy="6858000"/>
          </a:xfrm>
          <a:prstGeom prst="rect">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Rectangle 3"/>
          <p:cNvSpPr/>
          <p:nvPr/>
        </p:nvSpPr>
        <p:spPr>
          <a:xfrm>
            <a:off x="777240" y="2286000"/>
            <a:ext cx="128016" cy="1828800"/>
          </a:xfrm>
          <a:prstGeom prst="rect">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TextBox 4"/>
          <p:cNvSpPr txBox="1"/>
          <p:nvPr/>
        </p:nvSpPr>
        <p:spPr>
          <a:xfrm>
            <a:off x="1143000" y="2331720"/>
            <a:ext cx="10058400" cy="548640"/>
          </a:xfrm>
          <a:prstGeom prst="rect">
            <a:avLst/>
          </a:prstGeom>
          <a:noFill/>
        </p:spPr>
        <p:txBody>
          <a:bodyPr wrap="square" anchor="t">
            <a:spAutoFit/>
          </a:bodyPr>
          <a:lstStyle/>
          <a:p>
            <a:pPr algn="l">
              <a:spcAft>
                <a:spcPts val="400"/>
              </a:spcAft>
            </a:pPr>
            <a:r>
              <a:rPr sz="1800" b="1">
                <a:solidFill>
                  <a:srgbClr val="1F6FEB"/>
                </a:solidFill>
                <a:latin typeface="Arial"/>
              </a:rPr>
              <a:t>TOPIC 06</a:t>
            </a:r>
          </a:p>
        </p:txBody>
      </p:sp>
      <p:sp>
        <p:nvSpPr>
          <p:cNvPr id="6" name="TextBox 5"/>
          <p:cNvSpPr txBox="1"/>
          <p:nvPr/>
        </p:nvSpPr>
        <p:spPr>
          <a:xfrm>
            <a:off x="1143000" y="2743200"/>
            <a:ext cx="9509760" cy="1463040"/>
          </a:xfrm>
          <a:prstGeom prst="rect">
            <a:avLst/>
          </a:prstGeom>
          <a:noFill/>
        </p:spPr>
        <p:txBody>
          <a:bodyPr wrap="square" anchor="t">
            <a:spAutoFit/>
          </a:bodyPr>
          <a:lstStyle/>
          <a:p>
            <a:pPr algn="l">
              <a:spcAft>
                <a:spcPts val="400"/>
              </a:spcAft>
            </a:pPr>
            <a:r>
              <a:rPr sz="4000" b="1">
                <a:solidFill>
                  <a:srgbClr val="161B26"/>
                </a:solidFill>
                <a:latin typeface="Arial"/>
              </a:rPr>
              <a:t>Quantum Cryptography and Quantum Safety</a:t>
            </a:r>
          </a:p>
        </p:txBody>
      </p:sp>
      <p:sp>
        <p:nvSpPr>
          <p:cNvPr id="7" name="TextBox 6"/>
          <p:cNvSpPr txBox="1"/>
          <p:nvPr/>
        </p:nvSpPr>
        <p:spPr>
          <a:xfrm>
            <a:off x="1161288" y="4251960"/>
            <a:ext cx="9692640" cy="822960"/>
          </a:xfrm>
          <a:prstGeom prst="rect">
            <a:avLst/>
          </a:prstGeom>
          <a:noFill/>
        </p:spPr>
        <p:txBody>
          <a:bodyPr wrap="square" anchor="t">
            <a:spAutoFit/>
          </a:bodyPr>
          <a:lstStyle/>
          <a:p>
            <a:pPr algn="l">
              <a:spcAft>
                <a:spcPts val="400"/>
              </a:spcAft>
            </a:pPr>
            <a:r>
              <a:rPr sz="1500" b="0">
                <a:solidFill>
                  <a:srgbClr val="5B6372"/>
                </a:solidFill>
                <a:latin typeface="Arial"/>
              </a:rPr>
              <a:t>Classical Cryptography · The Quantum Threat · Shor Algorithm · Post-Quantum Cryptography</a:t>
            </a:r>
          </a:p>
        </p:txBody>
      </p:sp>
      <p:sp>
        <p:nvSpPr>
          <p:cNvPr id="8" name="TextBox 7"/>
          <p:cNvSpPr txBox="1"/>
          <p:nvPr/>
        </p:nvSpPr>
        <p:spPr>
          <a:xfrm>
            <a:off x="9144000" y="640080"/>
            <a:ext cx="2560320" cy="1463040"/>
          </a:xfrm>
          <a:prstGeom prst="rect">
            <a:avLst/>
          </a:prstGeom>
          <a:noFill/>
        </p:spPr>
        <p:txBody>
          <a:bodyPr wrap="square" anchor="t">
            <a:spAutoFit/>
          </a:bodyPr>
          <a:lstStyle/>
          <a:p>
            <a:pPr algn="r">
              <a:spcAft>
                <a:spcPts val="400"/>
              </a:spcAft>
            </a:pPr>
            <a:r>
              <a:rPr sz="7200" b="1">
                <a:solidFill>
                  <a:srgbClr val="E2E8F0"/>
                </a:solidFill>
                <a:latin typeface="Arial"/>
              </a:rPr>
              <a:t>06</a:t>
            </a:r>
          </a:p>
        </p:txBody>
      </p:sp>
      <p:sp>
        <p:nvSpPr>
          <p:cNvPr id="9" name="TextBox 8"/>
          <p:cNvSpPr txBox="1"/>
          <p:nvPr/>
        </p:nvSpPr>
        <p:spPr>
          <a:xfrm>
            <a:off x="365760" y="6446520"/>
            <a:ext cx="6858000" cy="320040"/>
          </a:xfrm>
          <a:prstGeom prst="rect">
            <a:avLst/>
          </a:prstGeom>
          <a:noFill/>
        </p:spPr>
        <p:txBody>
          <a:bodyPr wrap="square" anchor="t">
            <a:spAutoFit/>
          </a:bodyPr>
          <a:lstStyle/>
          <a:p>
            <a:pPr algn="l">
              <a:spcAft>
                <a:spcPts val="400"/>
              </a:spcAft>
            </a:pPr>
            <a:r>
              <a:rPr sz="900" b="0">
                <a:solidFill>
                  <a:srgbClr val="5B6372"/>
                </a:solidFill>
                <a:latin typeface="Arial"/>
              </a:rPr>
              <a:t>Securing the Future with Quantum Computing and Cryptography  ·  TGS-2024043419</a:t>
            </a:r>
          </a:p>
        </p:txBody>
      </p:sp>
      <p:sp>
        <p:nvSpPr>
          <p:cNvPr id="10" name="TextBox 9"/>
          <p:cNvSpPr txBox="1"/>
          <p:nvPr/>
        </p:nvSpPr>
        <p:spPr>
          <a:xfrm>
            <a:off x="4572000" y="6446520"/>
            <a:ext cx="3017520" cy="320040"/>
          </a:xfrm>
          <a:prstGeom prst="rect">
            <a:avLst/>
          </a:prstGeom>
          <a:noFill/>
        </p:spPr>
        <p:txBody>
          <a:bodyPr wrap="square" anchor="t">
            <a:spAutoFit/>
          </a:bodyPr>
          <a:lstStyle/>
          <a:p>
            <a:pPr algn="ctr">
              <a:spcAft>
                <a:spcPts val="400"/>
              </a:spcAft>
            </a:pPr>
            <a:r>
              <a:rPr sz="900" b="0">
                <a:solidFill>
                  <a:srgbClr val="5B6372"/>
                </a:solidFill>
                <a:latin typeface="Arial"/>
              </a:rPr>
              <a:t>© 2026 Tertiary Infotech Academy Pte Ltd</a:t>
            </a:r>
          </a:p>
        </p:txBody>
      </p:sp>
      <p:sp>
        <p:nvSpPr>
          <p:cNvPr id="11" name="TextBox 10"/>
          <p:cNvSpPr txBox="1"/>
          <p:nvPr/>
        </p:nvSpPr>
        <p:spPr>
          <a:xfrm>
            <a:off x="11338560" y="6446520"/>
            <a:ext cx="548640" cy="320040"/>
          </a:xfrm>
          <a:prstGeom prst="rect">
            <a:avLst/>
          </a:prstGeom>
          <a:noFill/>
        </p:spPr>
        <p:txBody>
          <a:bodyPr wrap="square" anchor="t">
            <a:spAutoFit/>
          </a:bodyPr>
          <a:lstStyle/>
          <a:p>
            <a:pPr algn="r">
              <a:spcAft>
                <a:spcPts val="400"/>
              </a:spcAft>
            </a:pPr>
            <a:r>
              <a:rPr sz="900" b="0">
                <a:solidFill>
                  <a:srgbClr val="5B6372"/>
                </a:solidFill>
                <a:latin typeface="Arial"/>
              </a:rPr>
              <a:t>185</a:t>
            </a:r>
          </a:p>
        </p:txBody>
      </p:sp>
    </p:spTree>
  </p:cSld>
  <p:clrMapOvr>
    <a:masterClrMapping/>
  </p:clrMapOvr>
</p:sld>
</file>

<file path=ppt/slides/slide187.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256032" cy="1417320"/>
          </a:xfrm>
          <a:prstGeom prst="rect">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777240" y="457200"/>
            <a:ext cx="10607040" cy="365760"/>
          </a:xfrm>
          <a:prstGeom prst="rect">
            <a:avLst/>
          </a:prstGeom>
          <a:noFill/>
        </p:spPr>
        <p:txBody>
          <a:bodyPr wrap="square" anchor="t">
            <a:spAutoFit/>
          </a:bodyPr>
          <a:lstStyle/>
          <a:p>
            <a:pPr algn="l">
              <a:spcAft>
                <a:spcPts val="400"/>
              </a:spcAft>
            </a:pPr>
            <a:r>
              <a:rPr sz="1400" b="1">
                <a:solidFill>
                  <a:srgbClr val="1F6FEB"/>
                </a:solidFill>
                <a:latin typeface="Arial"/>
              </a:rPr>
              <a:t>MAPS TO LO4, LO7</a:t>
            </a:r>
          </a:p>
        </p:txBody>
      </p:sp>
      <p:sp>
        <p:nvSpPr>
          <p:cNvPr id="5" name="TextBox 4"/>
          <p:cNvSpPr txBox="1"/>
          <p:nvPr/>
        </p:nvSpPr>
        <p:spPr>
          <a:xfrm>
            <a:off x="777240" y="822960"/>
            <a:ext cx="10881360" cy="822960"/>
          </a:xfrm>
          <a:prstGeom prst="rect">
            <a:avLst/>
          </a:prstGeom>
          <a:noFill/>
        </p:spPr>
        <p:txBody>
          <a:bodyPr wrap="square" anchor="t">
            <a:spAutoFit/>
          </a:bodyPr>
          <a:lstStyle/>
          <a:p>
            <a:pPr algn="l">
              <a:spcAft>
                <a:spcPts val="400"/>
              </a:spcAft>
            </a:pPr>
            <a:r>
              <a:rPr sz="2900" b="1">
                <a:solidFill>
                  <a:srgbClr val="161B26"/>
                </a:solidFill>
                <a:latin typeface="Arial"/>
              </a:rPr>
              <a:t>Key Concepts — Quantum Cryptography and Quantum Safety</a:t>
            </a:r>
          </a:p>
        </p:txBody>
      </p:sp>
      <p:sp>
        <p:nvSpPr>
          <p:cNvPr id="6" name="Rectangle 5"/>
          <p:cNvSpPr/>
          <p:nvPr/>
        </p:nvSpPr>
        <p:spPr>
          <a:xfrm>
            <a:off x="777240" y="1554480"/>
            <a:ext cx="10634472" cy="18288"/>
          </a:xfrm>
          <a:prstGeom prst="rect">
            <a:avLst/>
          </a:prstGeom>
          <a:solidFill>
            <a:srgbClr val="E2E8F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Rectangle 6"/>
          <p:cNvSpPr/>
          <p:nvPr/>
        </p:nvSpPr>
        <p:spPr>
          <a:xfrm>
            <a:off x="777240" y="1783080"/>
            <a:ext cx="5180076" cy="1298448"/>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Rectangle 7"/>
          <p:cNvSpPr/>
          <p:nvPr/>
        </p:nvSpPr>
        <p:spPr>
          <a:xfrm>
            <a:off x="777240" y="1783080"/>
            <a:ext cx="91440" cy="1298448"/>
          </a:xfrm>
          <a:prstGeom prst="rect">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Oval 8"/>
          <p:cNvSpPr/>
          <p:nvPr/>
        </p:nvSpPr>
        <p:spPr>
          <a:xfrm>
            <a:off x="1033272" y="2157984"/>
            <a:ext cx="548640" cy="548640"/>
          </a:xfrm>
          <a:prstGeom prst="ellipse">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TextBox 9"/>
          <p:cNvSpPr txBox="1"/>
          <p:nvPr/>
        </p:nvSpPr>
        <p:spPr>
          <a:xfrm>
            <a:off x="1033272" y="2157984"/>
            <a:ext cx="548640" cy="548640"/>
          </a:xfrm>
          <a:prstGeom prst="rect">
            <a:avLst/>
          </a:prstGeom>
          <a:noFill/>
        </p:spPr>
        <p:txBody>
          <a:bodyPr wrap="square" anchor="ctr">
            <a:spAutoFit/>
          </a:bodyPr>
          <a:lstStyle/>
          <a:p>
            <a:pPr algn="ctr">
              <a:spcAft>
                <a:spcPts val="400"/>
              </a:spcAft>
            </a:pPr>
            <a:r>
              <a:rPr sz="1800" b="1">
                <a:solidFill>
                  <a:srgbClr val="FFFFFF"/>
                </a:solidFill>
                <a:latin typeface="Arial"/>
              </a:rPr>
              <a:t>1</a:t>
            </a:r>
          </a:p>
        </p:txBody>
      </p:sp>
      <p:sp>
        <p:nvSpPr>
          <p:cNvPr id="11" name="TextBox 10"/>
          <p:cNvSpPr txBox="1"/>
          <p:nvPr/>
        </p:nvSpPr>
        <p:spPr>
          <a:xfrm>
            <a:off x="1764792" y="1892808"/>
            <a:ext cx="3973068" cy="1115568"/>
          </a:xfrm>
          <a:prstGeom prst="rect">
            <a:avLst/>
          </a:prstGeom>
          <a:noFill/>
        </p:spPr>
        <p:txBody>
          <a:bodyPr wrap="square" anchor="ctr">
            <a:spAutoFit/>
          </a:bodyPr>
          <a:lstStyle/>
          <a:p>
            <a:pPr algn="l">
              <a:spcAft>
                <a:spcPts val="300"/>
              </a:spcAft>
            </a:pPr>
            <a:r>
              <a:rPr sz="1450" b="1">
                <a:solidFill>
                  <a:srgbClr val="161B26"/>
                </a:solidFill>
                <a:latin typeface="Arial"/>
              </a:rPr>
              <a:t>Goals of cryptography</a:t>
            </a:r>
          </a:p>
          <a:p>
            <a:pPr algn="l">
              <a:spcAft>
                <a:spcPts val="300"/>
              </a:spcAft>
            </a:pPr>
            <a:r>
              <a:rPr sz="1100" b="0">
                <a:solidFill>
                  <a:srgbClr val="5B6372"/>
                </a:solidFill>
                <a:latin typeface="Arial"/>
              </a:rPr>
              <a:t>Confidentiality, integrity, authentication and non-repudiation are the four properties every scheme must address.</a:t>
            </a:r>
          </a:p>
        </p:txBody>
      </p:sp>
      <p:sp>
        <p:nvSpPr>
          <p:cNvPr id="12" name="Rectangle 11"/>
          <p:cNvSpPr/>
          <p:nvPr/>
        </p:nvSpPr>
        <p:spPr>
          <a:xfrm>
            <a:off x="6231636" y="1783080"/>
            <a:ext cx="5180076" cy="1298448"/>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 name="Rectangle 12"/>
          <p:cNvSpPr/>
          <p:nvPr/>
        </p:nvSpPr>
        <p:spPr>
          <a:xfrm>
            <a:off x="6231636" y="1783080"/>
            <a:ext cx="91440" cy="1298448"/>
          </a:xfrm>
          <a:prstGeom prst="rect">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 name="Oval 13"/>
          <p:cNvSpPr/>
          <p:nvPr/>
        </p:nvSpPr>
        <p:spPr>
          <a:xfrm>
            <a:off x="6487668" y="2157984"/>
            <a:ext cx="548640" cy="548640"/>
          </a:xfrm>
          <a:prstGeom prst="ellipse">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5" name="TextBox 14"/>
          <p:cNvSpPr txBox="1"/>
          <p:nvPr/>
        </p:nvSpPr>
        <p:spPr>
          <a:xfrm>
            <a:off x="6487668" y="2157984"/>
            <a:ext cx="548640" cy="548640"/>
          </a:xfrm>
          <a:prstGeom prst="rect">
            <a:avLst/>
          </a:prstGeom>
          <a:noFill/>
        </p:spPr>
        <p:txBody>
          <a:bodyPr wrap="square" anchor="ctr">
            <a:spAutoFit/>
          </a:bodyPr>
          <a:lstStyle/>
          <a:p>
            <a:pPr algn="ctr">
              <a:spcAft>
                <a:spcPts val="400"/>
              </a:spcAft>
            </a:pPr>
            <a:r>
              <a:rPr sz="1800" b="1">
                <a:solidFill>
                  <a:srgbClr val="FFFFFF"/>
                </a:solidFill>
                <a:latin typeface="Arial"/>
              </a:rPr>
              <a:t>2</a:t>
            </a:r>
          </a:p>
        </p:txBody>
      </p:sp>
      <p:sp>
        <p:nvSpPr>
          <p:cNvPr id="16" name="TextBox 15"/>
          <p:cNvSpPr txBox="1"/>
          <p:nvPr/>
        </p:nvSpPr>
        <p:spPr>
          <a:xfrm>
            <a:off x="7219188" y="1892808"/>
            <a:ext cx="3973068" cy="1115568"/>
          </a:xfrm>
          <a:prstGeom prst="rect">
            <a:avLst/>
          </a:prstGeom>
          <a:noFill/>
        </p:spPr>
        <p:txBody>
          <a:bodyPr wrap="square" anchor="ctr">
            <a:spAutoFit/>
          </a:bodyPr>
          <a:lstStyle/>
          <a:p>
            <a:pPr algn="l">
              <a:spcAft>
                <a:spcPts val="300"/>
              </a:spcAft>
            </a:pPr>
            <a:r>
              <a:rPr sz="1450" b="1">
                <a:solidFill>
                  <a:srgbClr val="161B26"/>
                </a:solidFill>
                <a:latin typeface="Arial"/>
              </a:rPr>
              <a:t>Classical schemes</a:t>
            </a:r>
          </a:p>
          <a:p>
            <a:pPr algn="l">
              <a:spcAft>
                <a:spcPts val="300"/>
              </a:spcAft>
            </a:pPr>
            <a:r>
              <a:rPr sz="1100" b="0">
                <a:solidFill>
                  <a:srgbClr val="5B6372"/>
                </a:solidFill>
                <a:latin typeface="Arial"/>
              </a:rPr>
              <a:t>Symmetric (AES), asymmetric (RSA, ECC) and hash functions (SHA-256) rest on problems that are hard for classical computers.</a:t>
            </a:r>
          </a:p>
        </p:txBody>
      </p:sp>
      <p:sp>
        <p:nvSpPr>
          <p:cNvPr id="17" name="Rectangle 16"/>
          <p:cNvSpPr/>
          <p:nvPr/>
        </p:nvSpPr>
        <p:spPr>
          <a:xfrm>
            <a:off x="777240" y="3319272"/>
            <a:ext cx="5180076" cy="1298448"/>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8" name="Rectangle 17"/>
          <p:cNvSpPr/>
          <p:nvPr/>
        </p:nvSpPr>
        <p:spPr>
          <a:xfrm>
            <a:off x="777240" y="3319272"/>
            <a:ext cx="91440" cy="1298448"/>
          </a:xfrm>
          <a:prstGeom prst="rect">
            <a:avLst/>
          </a:prstGeom>
          <a:solidFill>
            <a:srgbClr val="7C3AE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9" name="Oval 18"/>
          <p:cNvSpPr/>
          <p:nvPr/>
        </p:nvSpPr>
        <p:spPr>
          <a:xfrm>
            <a:off x="1033272" y="3694176"/>
            <a:ext cx="548640" cy="548640"/>
          </a:xfrm>
          <a:prstGeom prst="ellipse">
            <a:avLst/>
          </a:prstGeom>
          <a:solidFill>
            <a:srgbClr val="7C3AE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0" name="TextBox 19"/>
          <p:cNvSpPr txBox="1"/>
          <p:nvPr/>
        </p:nvSpPr>
        <p:spPr>
          <a:xfrm>
            <a:off x="1033272" y="3694176"/>
            <a:ext cx="548640" cy="548640"/>
          </a:xfrm>
          <a:prstGeom prst="rect">
            <a:avLst/>
          </a:prstGeom>
          <a:noFill/>
        </p:spPr>
        <p:txBody>
          <a:bodyPr wrap="square" anchor="ctr">
            <a:spAutoFit/>
          </a:bodyPr>
          <a:lstStyle/>
          <a:p>
            <a:pPr algn="ctr">
              <a:spcAft>
                <a:spcPts val="400"/>
              </a:spcAft>
            </a:pPr>
            <a:r>
              <a:rPr sz="1800" b="1">
                <a:solidFill>
                  <a:srgbClr val="FFFFFF"/>
                </a:solidFill>
                <a:latin typeface="Arial"/>
              </a:rPr>
              <a:t>3</a:t>
            </a:r>
          </a:p>
        </p:txBody>
      </p:sp>
      <p:sp>
        <p:nvSpPr>
          <p:cNvPr id="21" name="TextBox 20"/>
          <p:cNvSpPr txBox="1"/>
          <p:nvPr/>
        </p:nvSpPr>
        <p:spPr>
          <a:xfrm>
            <a:off x="1764792" y="3429000"/>
            <a:ext cx="3973068" cy="1115568"/>
          </a:xfrm>
          <a:prstGeom prst="rect">
            <a:avLst/>
          </a:prstGeom>
          <a:noFill/>
        </p:spPr>
        <p:txBody>
          <a:bodyPr wrap="square" anchor="ctr">
            <a:spAutoFit/>
          </a:bodyPr>
          <a:lstStyle/>
          <a:p>
            <a:pPr algn="l">
              <a:spcAft>
                <a:spcPts val="300"/>
              </a:spcAft>
            </a:pPr>
            <a:r>
              <a:rPr sz="1450" b="1">
                <a:solidFill>
                  <a:srgbClr val="161B26"/>
                </a:solidFill>
                <a:latin typeface="Arial"/>
              </a:rPr>
              <a:t>The quantum threat</a:t>
            </a:r>
          </a:p>
          <a:p>
            <a:pPr algn="l">
              <a:spcAft>
                <a:spcPts val="300"/>
              </a:spcAft>
            </a:pPr>
            <a:r>
              <a:rPr sz="1100" b="0">
                <a:solidFill>
                  <a:srgbClr val="5B6372"/>
                </a:solidFill>
                <a:latin typeface="Arial"/>
              </a:rPr>
              <a:t>Shor's algorithm breaks RSA and ECC in polynomial time; Grover halves the effective key length of symmetric ciphers.</a:t>
            </a:r>
          </a:p>
        </p:txBody>
      </p:sp>
      <p:sp>
        <p:nvSpPr>
          <p:cNvPr id="22" name="Rectangle 21"/>
          <p:cNvSpPr/>
          <p:nvPr/>
        </p:nvSpPr>
        <p:spPr>
          <a:xfrm>
            <a:off x="6231636" y="3319272"/>
            <a:ext cx="5180076" cy="1298448"/>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3" name="Rectangle 22"/>
          <p:cNvSpPr/>
          <p:nvPr/>
        </p:nvSpPr>
        <p:spPr>
          <a:xfrm>
            <a:off x="6231636" y="3319272"/>
            <a:ext cx="91440" cy="1298448"/>
          </a:xfrm>
          <a:prstGeom prst="rect">
            <a:avLst/>
          </a:prstGeom>
          <a:solidFill>
            <a:srgbClr val="F59E0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4" name="Oval 23"/>
          <p:cNvSpPr/>
          <p:nvPr/>
        </p:nvSpPr>
        <p:spPr>
          <a:xfrm>
            <a:off x="6487668" y="3694176"/>
            <a:ext cx="548640" cy="548640"/>
          </a:xfrm>
          <a:prstGeom prst="ellipse">
            <a:avLst/>
          </a:prstGeom>
          <a:solidFill>
            <a:srgbClr val="F59E0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5" name="TextBox 24"/>
          <p:cNvSpPr txBox="1"/>
          <p:nvPr/>
        </p:nvSpPr>
        <p:spPr>
          <a:xfrm>
            <a:off x="6487668" y="3694176"/>
            <a:ext cx="548640" cy="548640"/>
          </a:xfrm>
          <a:prstGeom prst="rect">
            <a:avLst/>
          </a:prstGeom>
          <a:noFill/>
        </p:spPr>
        <p:txBody>
          <a:bodyPr wrap="square" anchor="ctr">
            <a:spAutoFit/>
          </a:bodyPr>
          <a:lstStyle/>
          <a:p>
            <a:pPr algn="ctr">
              <a:spcAft>
                <a:spcPts val="400"/>
              </a:spcAft>
            </a:pPr>
            <a:r>
              <a:rPr sz="1800" b="1">
                <a:solidFill>
                  <a:srgbClr val="FFFFFF"/>
                </a:solidFill>
                <a:latin typeface="Arial"/>
              </a:rPr>
              <a:t>4</a:t>
            </a:r>
          </a:p>
        </p:txBody>
      </p:sp>
      <p:sp>
        <p:nvSpPr>
          <p:cNvPr id="26" name="TextBox 25"/>
          <p:cNvSpPr txBox="1"/>
          <p:nvPr/>
        </p:nvSpPr>
        <p:spPr>
          <a:xfrm>
            <a:off x="7219188" y="3429000"/>
            <a:ext cx="3973068" cy="1115568"/>
          </a:xfrm>
          <a:prstGeom prst="rect">
            <a:avLst/>
          </a:prstGeom>
          <a:noFill/>
        </p:spPr>
        <p:txBody>
          <a:bodyPr wrap="square" anchor="ctr">
            <a:spAutoFit/>
          </a:bodyPr>
          <a:lstStyle/>
          <a:p>
            <a:pPr algn="l">
              <a:spcAft>
                <a:spcPts val="300"/>
              </a:spcAft>
            </a:pPr>
            <a:r>
              <a:rPr sz="1450" b="1">
                <a:solidFill>
                  <a:srgbClr val="161B26"/>
                </a:solidFill>
                <a:latin typeface="Arial"/>
              </a:rPr>
              <a:t>Shor's algorithm</a:t>
            </a:r>
          </a:p>
          <a:p>
            <a:pPr algn="l">
              <a:spcAft>
                <a:spcPts val="300"/>
              </a:spcAft>
            </a:pPr>
            <a:r>
              <a:rPr sz="1100" b="0">
                <a:solidFill>
                  <a:srgbClr val="5B6372"/>
                </a:solidFill>
                <a:latin typeface="Arial"/>
              </a:rPr>
              <a:t>Reduces factoring to period-finding, then uses the QFT to extract the period — turning a hard problem into an easy one.</a:t>
            </a:r>
          </a:p>
        </p:txBody>
      </p:sp>
      <p:sp>
        <p:nvSpPr>
          <p:cNvPr id="27" name="Rectangle 26"/>
          <p:cNvSpPr/>
          <p:nvPr/>
        </p:nvSpPr>
        <p:spPr>
          <a:xfrm>
            <a:off x="777240" y="4855464"/>
            <a:ext cx="5180076" cy="1298448"/>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8" name="Rectangle 27"/>
          <p:cNvSpPr/>
          <p:nvPr/>
        </p:nvSpPr>
        <p:spPr>
          <a:xfrm>
            <a:off x="777240" y="4855464"/>
            <a:ext cx="91440" cy="1298448"/>
          </a:xfrm>
          <a:prstGeom prst="rect">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9" name="Oval 28"/>
          <p:cNvSpPr/>
          <p:nvPr/>
        </p:nvSpPr>
        <p:spPr>
          <a:xfrm>
            <a:off x="1033272" y="5230368"/>
            <a:ext cx="548640" cy="548640"/>
          </a:xfrm>
          <a:prstGeom prst="ellipse">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0" name="TextBox 29"/>
          <p:cNvSpPr txBox="1"/>
          <p:nvPr/>
        </p:nvSpPr>
        <p:spPr>
          <a:xfrm>
            <a:off x="1033272" y="5230368"/>
            <a:ext cx="548640" cy="548640"/>
          </a:xfrm>
          <a:prstGeom prst="rect">
            <a:avLst/>
          </a:prstGeom>
          <a:noFill/>
        </p:spPr>
        <p:txBody>
          <a:bodyPr wrap="square" anchor="ctr">
            <a:spAutoFit/>
          </a:bodyPr>
          <a:lstStyle/>
          <a:p>
            <a:pPr algn="ctr">
              <a:spcAft>
                <a:spcPts val="400"/>
              </a:spcAft>
            </a:pPr>
            <a:r>
              <a:rPr sz="1800" b="1">
                <a:solidFill>
                  <a:srgbClr val="FFFFFF"/>
                </a:solidFill>
                <a:latin typeface="Arial"/>
              </a:rPr>
              <a:t>5</a:t>
            </a:r>
          </a:p>
        </p:txBody>
      </p:sp>
      <p:sp>
        <p:nvSpPr>
          <p:cNvPr id="31" name="TextBox 30"/>
          <p:cNvSpPr txBox="1"/>
          <p:nvPr/>
        </p:nvSpPr>
        <p:spPr>
          <a:xfrm>
            <a:off x="1764792" y="4965192"/>
            <a:ext cx="3973068" cy="1115568"/>
          </a:xfrm>
          <a:prstGeom prst="rect">
            <a:avLst/>
          </a:prstGeom>
          <a:noFill/>
        </p:spPr>
        <p:txBody>
          <a:bodyPr wrap="square" anchor="ctr">
            <a:spAutoFit/>
          </a:bodyPr>
          <a:lstStyle/>
          <a:p>
            <a:pPr algn="l">
              <a:spcAft>
                <a:spcPts val="300"/>
              </a:spcAft>
            </a:pPr>
            <a:r>
              <a:rPr sz="1450" b="1">
                <a:solidFill>
                  <a:srgbClr val="161B26"/>
                </a:solidFill>
                <a:latin typeface="Arial"/>
              </a:rPr>
              <a:t>Harvest now, decrypt later</a:t>
            </a:r>
          </a:p>
          <a:p>
            <a:pPr algn="l">
              <a:spcAft>
                <a:spcPts val="300"/>
              </a:spcAft>
            </a:pPr>
            <a:r>
              <a:rPr sz="1100" b="0">
                <a:solidFill>
                  <a:srgbClr val="5B6372"/>
                </a:solidFill>
                <a:latin typeface="Arial"/>
              </a:rPr>
              <a:t>Adversaries can record encrypted traffic today and decrypt it once a cryptographically relevant quantum computer exists.</a:t>
            </a:r>
          </a:p>
        </p:txBody>
      </p:sp>
      <p:sp>
        <p:nvSpPr>
          <p:cNvPr id="32" name="Rectangle 31"/>
          <p:cNvSpPr/>
          <p:nvPr/>
        </p:nvSpPr>
        <p:spPr>
          <a:xfrm>
            <a:off x="6231636" y="4855464"/>
            <a:ext cx="5180076" cy="1298448"/>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3" name="Rectangle 32"/>
          <p:cNvSpPr/>
          <p:nvPr/>
        </p:nvSpPr>
        <p:spPr>
          <a:xfrm>
            <a:off x="6231636" y="4855464"/>
            <a:ext cx="91440" cy="1298448"/>
          </a:xfrm>
          <a:prstGeom prst="rect">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4" name="Oval 33"/>
          <p:cNvSpPr/>
          <p:nvPr/>
        </p:nvSpPr>
        <p:spPr>
          <a:xfrm>
            <a:off x="6487668" y="5230368"/>
            <a:ext cx="548640" cy="548640"/>
          </a:xfrm>
          <a:prstGeom prst="ellipse">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5" name="TextBox 34"/>
          <p:cNvSpPr txBox="1"/>
          <p:nvPr/>
        </p:nvSpPr>
        <p:spPr>
          <a:xfrm>
            <a:off x="6487668" y="5230368"/>
            <a:ext cx="548640" cy="548640"/>
          </a:xfrm>
          <a:prstGeom prst="rect">
            <a:avLst/>
          </a:prstGeom>
          <a:noFill/>
        </p:spPr>
        <p:txBody>
          <a:bodyPr wrap="square" anchor="ctr">
            <a:spAutoFit/>
          </a:bodyPr>
          <a:lstStyle/>
          <a:p>
            <a:pPr algn="ctr">
              <a:spcAft>
                <a:spcPts val="400"/>
              </a:spcAft>
            </a:pPr>
            <a:r>
              <a:rPr sz="1800" b="1">
                <a:solidFill>
                  <a:srgbClr val="FFFFFF"/>
                </a:solidFill>
                <a:latin typeface="Arial"/>
              </a:rPr>
              <a:t>6</a:t>
            </a:r>
          </a:p>
        </p:txBody>
      </p:sp>
      <p:sp>
        <p:nvSpPr>
          <p:cNvPr id="36" name="TextBox 35"/>
          <p:cNvSpPr txBox="1"/>
          <p:nvPr/>
        </p:nvSpPr>
        <p:spPr>
          <a:xfrm>
            <a:off x="7219188" y="4965192"/>
            <a:ext cx="3973068" cy="1115568"/>
          </a:xfrm>
          <a:prstGeom prst="rect">
            <a:avLst/>
          </a:prstGeom>
          <a:noFill/>
        </p:spPr>
        <p:txBody>
          <a:bodyPr wrap="square" anchor="ctr">
            <a:spAutoFit/>
          </a:bodyPr>
          <a:lstStyle/>
          <a:p>
            <a:pPr algn="l">
              <a:spcAft>
                <a:spcPts val="300"/>
              </a:spcAft>
            </a:pPr>
            <a:r>
              <a:rPr sz="1450" b="1">
                <a:solidFill>
                  <a:srgbClr val="161B26"/>
                </a:solidFill>
                <a:latin typeface="Arial"/>
              </a:rPr>
              <a:t>Post-quantum cryptography</a:t>
            </a:r>
          </a:p>
          <a:p>
            <a:pPr algn="l">
              <a:spcAft>
                <a:spcPts val="300"/>
              </a:spcAft>
            </a:pPr>
            <a:r>
              <a:rPr sz="1100" b="0">
                <a:solidFill>
                  <a:srgbClr val="5B6372"/>
                </a:solidFill>
                <a:latin typeface="Arial"/>
              </a:rPr>
              <a:t>NIST has standardised ML-KEM (Kyber), ML-DSA (Dilithium), SLH-DSA (SPHINCS+) and HQC as quantum-resistant replacements.</a:t>
            </a:r>
          </a:p>
        </p:txBody>
      </p:sp>
      <p:sp>
        <p:nvSpPr>
          <p:cNvPr id="37" name="TextBox 36"/>
          <p:cNvSpPr txBox="1"/>
          <p:nvPr/>
        </p:nvSpPr>
        <p:spPr>
          <a:xfrm>
            <a:off x="365760" y="6446520"/>
            <a:ext cx="6858000" cy="320040"/>
          </a:xfrm>
          <a:prstGeom prst="rect">
            <a:avLst/>
          </a:prstGeom>
          <a:noFill/>
        </p:spPr>
        <p:txBody>
          <a:bodyPr wrap="square" anchor="t">
            <a:spAutoFit/>
          </a:bodyPr>
          <a:lstStyle/>
          <a:p>
            <a:pPr algn="l">
              <a:spcAft>
                <a:spcPts val="400"/>
              </a:spcAft>
            </a:pPr>
            <a:r>
              <a:rPr sz="900" b="0">
                <a:solidFill>
                  <a:srgbClr val="5B6372"/>
                </a:solidFill>
                <a:latin typeface="Arial"/>
              </a:rPr>
              <a:t>Securing the Future with Quantum Computing and Cryptography  ·  TGS-2024043419</a:t>
            </a:r>
          </a:p>
        </p:txBody>
      </p:sp>
      <p:sp>
        <p:nvSpPr>
          <p:cNvPr id="38" name="TextBox 37"/>
          <p:cNvSpPr txBox="1"/>
          <p:nvPr/>
        </p:nvSpPr>
        <p:spPr>
          <a:xfrm>
            <a:off x="4572000" y="6446520"/>
            <a:ext cx="3017520" cy="320040"/>
          </a:xfrm>
          <a:prstGeom prst="rect">
            <a:avLst/>
          </a:prstGeom>
          <a:noFill/>
        </p:spPr>
        <p:txBody>
          <a:bodyPr wrap="square" anchor="t">
            <a:spAutoFit/>
          </a:bodyPr>
          <a:lstStyle/>
          <a:p>
            <a:pPr algn="ctr">
              <a:spcAft>
                <a:spcPts val="400"/>
              </a:spcAft>
            </a:pPr>
            <a:r>
              <a:rPr sz="900" b="0">
                <a:solidFill>
                  <a:srgbClr val="5B6372"/>
                </a:solidFill>
                <a:latin typeface="Arial"/>
              </a:rPr>
              <a:t>© 2026 Tertiary Infotech Academy Pte Ltd</a:t>
            </a:r>
          </a:p>
        </p:txBody>
      </p:sp>
      <p:sp>
        <p:nvSpPr>
          <p:cNvPr id="39" name="TextBox 38"/>
          <p:cNvSpPr txBox="1"/>
          <p:nvPr/>
        </p:nvSpPr>
        <p:spPr>
          <a:xfrm>
            <a:off x="11338560" y="6446520"/>
            <a:ext cx="548640" cy="320040"/>
          </a:xfrm>
          <a:prstGeom prst="rect">
            <a:avLst/>
          </a:prstGeom>
          <a:noFill/>
        </p:spPr>
        <p:txBody>
          <a:bodyPr wrap="square" anchor="t">
            <a:spAutoFit/>
          </a:bodyPr>
          <a:lstStyle/>
          <a:p>
            <a:pPr algn="r">
              <a:spcAft>
                <a:spcPts val="400"/>
              </a:spcAft>
            </a:pPr>
            <a:r>
              <a:rPr sz="900" b="0">
                <a:solidFill>
                  <a:srgbClr val="5B6372"/>
                </a:solidFill>
                <a:latin typeface="Arial"/>
              </a:rPr>
              <a:t>186</a:t>
            </a:r>
          </a:p>
        </p:txBody>
      </p:sp>
    </p:spTree>
  </p:cSld>
  <p:clrMapOvr>
    <a:masterClrMapping/>
  </p:clrMapOvr>
</p:sld>
</file>

<file path=ppt/slides/slide188.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256032" cy="1417320"/>
          </a:xfrm>
          <a:prstGeom prst="rect">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777240" y="457200"/>
            <a:ext cx="10607040" cy="365760"/>
          </a:xfrm>
          <a:prstGeom prst="rect">
            <a:avLst/>
          </a:prstGeom>
          <a:noFill/>
        </p:spPr>
        <p:txBody>
          <a:bodyPr wrap="square" anchor="t">
            <a:spAutoFit/>
          </a:bodyPr>
          <a:lstStyle/>
          <a:p>
            <a:pPr algn="l">
              <a:spcAft>
                <a:spcPts val="400"/>
              </a:spcAft>
            </a:pPr>
            <a:r>
              <a:rPr sz="1400" b="1">
                <a:solidFill>
                  <a:srgbClr val="1F6FEB"/>
                </a:solidFill>
                <a:latin typeface="Arial"/>
              </a:rPr>
              <a:t>WHAT BREAKS AND WHAT SURVIVES</a:t>
            </a:r>
          </a:p>
        </p:txBody>
      </p:sp>
      <p:sp>
        <p:nvSpPr>
          <p:cNvPr id="5" name="TextBox 4"/>
          <p:cNvSpPr txBox="1"/>
          <p:nvPr/>
        </p:nvSpPr>
        <p:spPr>
          <a:xfrm>
            <a:off x="777240" y="822960"/>
            <a:ext cx="10881360" cy="822960"/>
          </a:xfrm>
          <a:prstGeom prst="rect">
            <a:avLst/>
          </a:prstGeom>
          <a:noFill/>
        </p:spPr>
        <p:txBody>
          <a:bodyPr wrap="square" anchor="t">
            <a:spAutoFit/>
          </a:bodyPr>
          <a:lstStyle/>
          <a:p>
            <a:pPr algn="l">
              <a:spcAft>
                <a:spcPts val="400"/>
              </a:spcAft>
            </a:pPr>
            <a:r>
              <a:rPr sz="2900" b="1">
                <a:solidFill>
                  <a:srgbClr val="161B26"/>
                </a:solidFill>
                <a:latin typeface="Arial"/>
              </a:rPr>
              <a:t>The Quantum Threat to Cryptography</a:t>
            </a:r>
          </a:p>
        </p:txBody>
      </p:sp>
      <p:sp>
        <p:nvSpPr>
          <p:cNvPr id="6" name="Rectangle 5"/>
          <p:cNvSpPr/>
          <p:nvPr/>
        </p:nvSpPr>
        <p:spPr>
          <a:xfrm>
            <a:off x="777240" y="1554480"/>
            <a:ext cx="10634472" cy="18288"/>
          </a:xfrm>
          <a:prstGeom prst="rect">
            <a:avLst/>
          </a:prstGeom>
          <a:solidFill>
            <a:srgbClr val="E2E8F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pic>
        <p:nvPicPr>
          <p:cNvPr id="7" name="Picture 6" descr="crypto-threat.png"/>
          <p:cNvPicPr>
            <a:picLocks noChangeAspect="1"/>
          </p:cNvPicPr>
          <p:nvPr/>
        </p:nvPicPr>
        <p:blipFill>
          <a:blip r:embed="rId2"/>
          <a:stretch>
            <a:fillRect/>
          </a:stretch>
        </p:blipFill>
        <p:spPr>
          <a:xfrm>
            <a:off x="2027128" y="1755648"/>
            <a:ext cx="8134695" cy="3950208"/>
          </a:xfrm>
          <a:prstGeom prst="rect">
            <a:avLst/>
          </a:prstGeom>
        </p:spPr>
      </p:pic>
      <p:sp>
        <p:nvSpPr>
          <p:cNvPr id="8" name="Rectangle 7"/>
          <p:cNvSpPr/>
          <p:nvPr/>
        </p:nvSpPr>
        <p:spPr>
          <a:xfrm>
            <a:off x="777240" y="5870448"/>
            <a:ext cx="10634472" cy="457200"/>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TextBox 8"/>
          <p:cNvSpPr txBox="1"/>
          <p:nvPr/>
        </p:nvSpPr>
        <p:spPr>
          <a:xfrm>
            <a:off x="960120" y="5870448"/>
            <a:ext cx="10241280" cy="457200"/>
          </a:xfrm>
          <a:prstGeom prst="rect">
            <a:avLst/>
          </a:prstGeom>
          <a:noFill/>
        </p:spPr>
        <p:txBody>
          <a:bodyPr wrap="square" anchor="ctr">
            <a:spAutoFit/>
          </a:bodyPr>
          <a:lstStyle/>
          <a:p>
            <a:pPr algn="ctr">
              <a:spcAft>
                <a:spcPts val="400"/>
              </a:spcAft>
            </a:pPr>
            <a:r>
              <a:rPr sz="1350" b="0">
                <a:solidFill>
                  <a:srgbClr val="161B26"/>
                </a:solidFill>
                <a:latin typeface="Arial"/>
              </a:rPr>
              <a:t>Symmetric crypto survives by doubling key length; public-key crypto must be replaced outright.</a:t>
            </a:r>
          </a:p>
        </p:txBody>
      </p:sp>
      <p:sp>
        <p:nvSpPr>
          <p:cNvPr id="10" name="TextBox 9"/>
          <p:cNvSpPr txBox="1"/>
          <p:nvPr/>
        </p:nvSpPr>
        <p:spPr>
          <a:xfrm>
            <a:off x="365760" y="6446520"/>
            <a:ext cx="6858000" cy="320040"/>
          </a:xfrm>
          <a:prstGeom prst="rect">
            <a:avLst/>
          </a:prstGeom>
          <a:noFill/>
        </p:spPr>
        <p:txBody>
          <a:bodyPr wrap="square" anchor="t">
            <a:spAutoFit/>
          </a:bodyPr>
          <a:lstStyle/>
          <a:p>
            <a:pPr algn="l">
              <a:spcAft>
                <a:spcPts val="400"/>
              </a:spcAft>
            </a:pPr>
            <a:r>
              <a:rPr sz="900" b="0">
                <a:solidFill>
                  <a:srgbClr val="5B6372"/>
                </a:solidFill>
                <a:latin typeface="Arial"/>
              </a:rPr>
              <a:t>Securing the Future with Quantum Computing and Cryptography  ·  TGS-2024043419</a:t>
            </a:r>
          </a:p>
        </p:txBody>
      </p:sp>
      <p:sp>
        <p:nvSpPr>
          <p:cNvPr id="11" name="TextBox 10"/>
          <p:cNvSpPr txBox="1"/>
          <p:nvPr/>
        </p:nvSpPr>
        <p:spPr>
          <a:xfrm>
            <a:off x="4572000" y="6446520"/>
            <a:ext cx="3017520" cy="320040"/>
          </a:xfrm>
          <a:prstGeom prst="rect">
            <a:avLst/>
          </a:prstGeom>
          <a:noFill/>
        </p:spPr>
        <p:txBody>
          <a:bodyPr wrap="square" anchor="t">
            <a:spAutoFit/>
          </a:bodyPr>
          <a:lstStyle/>
          <a:p>
            <a:pPr algn="ctr">
              <a:spcAft>
                <a:spcPts val="400"/>
              </a:spcAft>
            </a:pPr>
            <a:r>
              <a:rPr sz="900" b="0">
                <a:solidFill>
                  <a:srgbClr val="5B6372"/>
                </a:solidFill>
                <a:latin typeface="Arial"/>
              </a:rPr>
              <a:t>© 2026 Tertiary Infotech Academy Pte Ltd</a:t>
            </a:r>
          </a:p>
        </p:txBody>
      </p:sp>
      <p:sp>
        <p:nvSpPr>
          <p:cNvPr id="12" name="TextBox 11"/>
          <p:cNvSpPr txBox="1"/>
          <p:nvPr/>
        </p:nvSpPr>
        <p:spPr>
          <a:xfrm>
            <a:off x="11338560" y="6446520"/>
            <a:ext cx="548640" cy="320040"/>
          </a:xfrm>
          <a:prstGeom prst="rect">
            <a:avLst/>
          </a:prstGeom>
          <a:noFill/>
        </p:spPr>
        <p:txBody>
          <a:bodyPr wrap="square" anchor="t">
            <a:spAutoFit/>
          </a:bodyPr>
          <a:lstStyle/>
          <a:p>
            <a:pPr algn="r">
              <a:spcAft>
                <a:spcPts val="400"/>
              </a:spcAft>
            </a:pPr>
            <a:r>
              <a:rPr sz="900" b="0">
                <a:solidFill>
                  <a:srgbClr val="5B6372"/>
                </a:solidFill>
                <a:latin typeface="Arial"/>
              </a:rPr>
              <a:t>187</a:t>
            </a:r>
          </a:p>
        </p:txBody>
      </p:sp>
    </p:spTree>
  </p:cSld>
  <p:clrMapOvr>
    <a:masterClrMapping/>
  </p:clrMapOvr>
</p:sld>
</file>

<file path=ppt/slides/slide189.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256032" cy="1417320"/>
          </a:xfrm>
          <a:prstGeom prst="rect">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777240" y="457200"/>
            <a:ext cx="10607040" cy="365760"/>
          </a:xfrm>
          <a:prstGeom prst="rect">
            <a:avLst/>
          </a:prstGeom>
          <a:noFill/>
        </p:spPr>
        <p:txBody>
          <a:bodyPr wrap="square" anchor="t">
            <a:spAutoFit/>
          </a:bodyPr>
          <a:lstStyle/>
          <a:p>
            <a:pPr algn="l">
              <a:spcAft>
                <a:spcPts val="400"/>
              </a:spcAft>
            </a:pPr>
            <a:r>
              <a:rPr sz="1400" b="1">
                <a:solidFill>
                  <a:srgbClr val="1F6FEB"/>
                </a:solidFill>
                <a:latin typeface="Arial"/>
              </a:rPr>
              <a:t>FACTORING VIA PERIOD FINDING</a:t>
            </a:r>
          </a:p>
        </p:txBody>
      </p:sp>
      <p:sp>
        <p:nvSpPr>
          <p:cNvPr id="5" name="TextBox 4"/>
          <p:cNvSpPr txBox="1"/>
          <p:nvPr/>
        </p:nvSpPr>
        <p:spPr>
          <a:xfrm>
            <a:off x="777240" y="822960"/>
            <a:ext cx="10881360" cy="822960"/>
          </a:xfrm>
          <a:prstGeom prst="rect">
            <a:avLst/>
          </a:prstGeom>
          <a:noFill/>
        </p:spPr>
        <p:txBody>
          <a:bodyPr wrap="square" anchor="t">
            <a:spAutoFit/>
          </a:bodyPr>
          <a:lstStyle/>
          <a:p>
            <a:pPr algn="l">
              <a:spcAft>
                <a:spcPts val="400"/>
              </a:spcAft>
            </a:pPr>
            <a:r>
              <a:rPr sz="2900" b="1">
                <a:solidFill>
                  <a:srgbClr val="161B26"/>
                </a:solidFill>
                <a:latin typeface="Arial"/>
              </a:rPr>
              <a:t>Shor's Algorithm</a:t>
            </a:r>
          </a:p>
        </p:txBody>
      </p:sp>
      <p:sp>
        <p:nvSpPr>
          <p:cNvPr id="6" name="Rectangle 5"/>
          <p:cNvSpPr/>
          <p:nvPr/>
        </p:nvSpPr>
        <p:spPr>
          <a:xfrm>
            <a:off x="777240" y="1554480"/>
            <a:ext cx="10634472" cy="18288"/>
          </a:xfrm>
          <a:prstGeom prst="rect">
            <a:avLst/>
          </a:prstGeom>
          <a:solidFill>
            <a:srgbClr val="E2E8F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pic>
        <p:nvPicPr>
          <p:cNvPr id="7" name="Picture 6" descr="shor-flow.png"/>
          <p:cNvPicPr>
            <a:picLocks noChangeAspect="1"/>
          </p:cNvPicPr>
          <p:nvPr/>
        </p:nvPicPr>
        <p:blipFill>
          <a:blip r:embed="rId2"/>
          <a:stretch>
            <a:fillRect/>
          </a:stretch>
        </p:blipFill>
        <p:spPr>
          <a:xfrm>
            <a:off x="777240" y="1837816"/>
            <a:ext cx="10634472" cy="3785872"/>
          </a:xfrm>
          <a:prstGeom prst="rect">
            <a:avLst/>
          </a:prstGeom>
        </p:spPr>
      </p:pic>
      <p:sp>
        <p:nvSpPr>
          <p:cNvPr id="8" name="Rectangle 7"/>
          <p:cNvSpPr/>
          <p:nvPr/>
        </p:nvSpPr>
        <p:spPr>
          <a:xfrm>
            <a:off x="777240" y="5870448"/>
            <a:ext cx="10634472" cy="457200"/>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TextBox 8"/>
          <p:cNvSpPr txBox="1"/>
          <p:nvPr/>
        </p:nvSpPr>
        <p:spPr>
          <a:xfrm>
            <a:off x="960120" y="5870448"/>
            <a:ext cx="10241280" cy="457200"/>
          </a:xfrm>
          <a:prstGeom prst="rect">
            <a:avLst/>
          </a:prstGeom>
          <a:noFill/>
        </p:spPr>
        <p:txBody>
          <a:bodyPr wrap="square" anchor="ctr">
            <a:spAutoFit/>
          </a:bodyPr>
          <a:lstStyle/>
          <a:p>
            <a:pPr algn="ctr">
              <a:spcAft>
                <a:spcPts val="400"/>
              </a:spcAft>
            </a:pPr>
            <a:r>
              <a:rPr sz="1350" b="0">
                <a:solidFill>
                  <a:srgbClr val="161B26"/>
                </a:solidFill>
                <a:latin typeface="Arial"/>
              </a:rPr>
              <a:t>Only the period-finding step is quantum — the rest is classical number theory.</a:t>
            </a:r>
          </a:p>
        </p:txBody>
      </p:sp>
      <p:sp>
        <p:nvSpPr>
          <p:cNvPr id="10" name="TextBox 9"/>
          <p:cNvSpPr txBox="1"/>
          <p:nvPr/>
        </p:nvSpPr>
        <p:spPr>
          <a:xfrm>
            <a:off x="365760" y="6446520"/>
            <a:ext cx="6858000" cy="320040"/>
          </a:xfrm>
          <a:prstGeom prst="rect">
            <a:avLst/>
          </a:prstGeom>
          <a:noFill/>
        </p:spPr>
        <p:txBody>
          <a:bodyPr wrap="square" anchor="t">
            <a:spAutoFit/>
          </a:bodyPr>
          <a:lstStyle/>
          <a:p>
            <a:pPr algn="l">
              <a:spcAft>
                <a:spcPts val="400"/>
              </a:spcAft>
            </a:pPr>
            <a:r>
              <a:rPr sz="900" b="0">
                <a:solidFill>
                  <a:srgbClr val="5B6372"/>
                </a:solidFill>
                <a:latin typeface="Arial"/>
              </a:rPr>
              <a:t>Securing the Future with Quantum Computing and Cryptography  ·  TGS-2024043419</a:t>
            </a:r>
          </a:p>
        </p:txBody>
      </p:sp>
      <p:sp>
        <p:nvSpPr>
          <p:cNvPr id="11" name="TextBox 10"/>
          <p:cNvSpPr txBox="1"/>
          <p:nvPr/>
        </p:nvSpPr>
        <p:spPr>
          <a:xfrm>
            <a:off x="4572000" y="6446520"/>
            <a:ext cx="3017520" cy="320040"/>
          </a:xfrm>
          <a:prstGeom prst="rect">
            <a:avLst/>
          </a:prstGeom>
          <a:noFill/>
        </p:spPr>
        <p:txBody>
          <a:bodyPr wrap="square" anchor="t">
            <a:spAutoFit/>
          </a:bodyPr>
          <a:lstStyle/>
          <a:p>
            <a:pPr algn="ctr">
              <a:spcAft>
                <a:spcPts val="400"/>
              </a:spcAft>
            </a:pPr>
            <a:r>
              <a:rPr sz="900" b="0">
                <a:solidFill>
                  <a:srgbClr val="5B6372"/>
                </a:solidFill>
                <a:latin typeface="Arial"/>
              </a:rPr>
              <a:t>© 2026 Tertiary Infotech Academy Pte Ltd</a:t>
            </a:r>
          </a:p>
        </p:txBody>
      </p:sp>
      <p:sp>
        <p:nvSpPr>
          <p:cNvPr id="12" name="TextBox 11"/>
          <p:cNvSpPr txBox="1"/>
          <p:nvPr/>
        </p:nvSpPr>
        <p:spPr>
          <a:xfrm>
            <a:off x="11338560" y="6446520"/>
            <a:ext cx="548640" cy="320040"/>
          </a:xfrm>
          <a:prstGeom prst="rect">
            <a:avLst/>
          </a:prstGeom>
          <a:noFill/>
        </p:spPr>
        <p:txBody>
          <a:bodyPr wrap="square" anchor="t">
            <a:spAutoFit/>
          </a:bodyPr>
          <a:lstStyle/>
          <a:p>
            <a:pPr algn="r">
              <a:spcAft>
                <a:spcPts val="400"/>
              </a:spcAft>
            </a:pPr>
            <a:r>
              <a:rPr sz="900" b="0">
                <a:solidFill>
                  <a:srgbClr val="5B6372"/>
                </a:solidFill>
                <a:latin typeface="Arial"/>
              </a:rPr>
              <a:t>188</a:t>
            </a:r>
          </a:p>
        </p:txBody>
      </p:sp>
    </p:spTree>
  </p:cSld>
  <p:clrMapOvr>
    <a:masterClrMapping/>
  </p:clrMapOvr>
</p:sld>
</file>

<file path=ppt/slides/slide190.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256032" cy="1417320"/>
          </a:xfrm>
          <a:prstGeom prst="rect">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777240" y="457200"/>
            <a:ext cx="10607040" cy="365760"/>
          </a:xfrm>
          <a:prstGeom prst="rect">
            <a:avLst/>
          </a:prstGeom>
          <a:noFill/>
        </p:spPr>
        <p:txBody>
          <a:bodyPr wrap="square" anchor="t">
            <a:spAutoFit/>
          </a:bodyPr>
          <a:lstStyle/>
          <a:p>
            <a:pPr algn="l">
              <a:spcAft>
                <a:spcPts val="400"/>
              </a:spcAft>
            </a:pPr>
            <a:r>
              <a:rPr sz="1400" b="1">
                <a:solidFill>
                  <a:srgbClr val="1F6FEB"/>
                </a:solidFill>
                <a:latin typeface="Arial"/>
              </a:rPr>
              <a:t>THE FOUR GOALS: CONFIDENTIALITY · INTEGRITY · AUTHENTICATION · NON-REPUDIATION</a:t>
            </a:r>
          </a:p>
        </p:txBody>
      </p:sp>
      <p:sp>
        <p:nvSpPr>
          <p:cNvPr id="5" name="TextBox 4"/>
          <p:cNvSpPr txBox="1"/>
          <p:nvPr/>
        </p:nvSpPr>
        <p:spPr>
          <a:xfrm>
            <a:off x="777240" y="822960"/>
            <a:ext cx="10881360" cy="822960"/>
          </a:xfrm>
          <a:prstGeom prst="rect">
            <a:avLst/>
          </a:prstGeom>
          <a:noFill/>
        </p:spPr>
        <p:txBody>
          <a:bodyPr wrap="square" anchor="t">
            <a:spAutoFit/>
          </a:bodyPr>
          <a:lstStyle/>
          <a:p>
            <a:pPr algn="l">
              <a:spcAft>
                <a:spcPts val="400"/>
              </a:spcAft>
            </a:pPr>
            <a:r>
              <a:rPr sz="2900" b="1">
                <a:solidFill>
                  <a:srgbClr val="161B26"/>
                </a:solidFill>
                <a:latin typeface="Arial"/>
              </a:rPr>
              <a:t>Classical Cryptography — What You Must Know</a:t>
            </a:r>
          </a:p>
        </p:txBody>
      </p:sp>
      <p:sp>
        <p:nvSpPr>
          <p:cNvPr id="6" name="Rectangle 5"/>
          <p:cNvSpPr/>
          <p:nvPr/>
        </p:nvSpPr>
        <p:spPr>
          <a:xfrm>
            <a:off x="777240" y="1554480"/>
            <a:ext cx="10634472" cy="18288"/>
          </a:xfrm>
          <a:prstGeom prst="rect">
            <a:avLst/>
          </a:prstGeom>
          <a:solidFill>
            <a:srgbClr val="E2E8F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Rectangle 6"/>
          <p:cNvSpPr/>
          <p:nvPr/>
        </p:nvSpPr>
        <p:spPr>
          <a:xfrm>
            <a:off x="777240" y="1874519"/>
            <a:ext cx="1914204" cy="475488"/>
          </a:xfrm>
          <a:prstGeom prst="rect">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TextBox 7"/>
          <p:cNvSpPr txBox="1"/>
          <p:nvPr/>
        </p:nvSpPr>
        <p:spPr>
          <a:xfrm>
            <a:off x="914400" y="1874519"/>
            <a:ext cx="1639884" cy="475488"/>
          </a:xfrm>
          <a:prstGeom prst="rect">
            <a:avLst/>
          </a:prstGeom>
          <a:noFill/>
        </p:spPr>
        <p:txBody>
          <a:bodyPr wrap="square" anchor="ctr">
            <a:spAutoFit/>
          </a:bodyPr>
          <a:lstStyle/>
          <a:p>
            <a:pPr algn="l">
              <a:spcAft>
                <a:spcPts val="400"/>
              </a:spcAft>
            </a:pPr>
            <a:r>
              <a:rPr sz="1300" b="1">
                <a:solidFill>
                  <a:srgbClr val="FFFFFF"/>
                </a:solidFill>
                <a:latin typeface="Arial"/>
              </a:rPr>
              <a:t>Type</a:t>
            </a:r>
          </a:p>
        </p:txBody>
      </p:sp>
      <p:sp>
        <p:nvSpPr>
          <p:cNvPr id="9" name="Rectangle 8"/>
          <p:cNvSpPr/>
          <p:nvPr/>
        </p:nvSpPr>
        <p:spPr>
          <a:xfrm>
            <a:off x="2691444" y="1874519"/>
            <a:ext cx="2339583" cy="475488"/>
          </a:xfrm>
          <a:prstGeom prst="rect">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TextBox 9"/>
          <p:cNvSpPr txBox="1"/>
          <p:nvPr/>
        </p:nvSpPr>
        <p:spPr>
          <a:xfrm>
            <a:off x="2828604" y="1874519"/>
            <a:ext cx="2065263" cy="475488"/>
          </a:xfrm>
          <a:prstGeom prst="rect">
            <a:avLst/>
          </a:prstGeom>
          <a:noFill/>
        </p:spPr>
        <p:txBody>
          <a:bodyPr wrap="square" anchor="ctr">
            <a:spAutoFit/>
          </a:bodyPr>
          <a:lstStyle/>
          <a:p>
            <a:pPr algn="l">
              <a:spcAft>
                <a:spcPts val="400"/>
              </a:spcAft>
            </a:pPr>
            <a:r>
              <a:rPr sz="1300" b="1">
                <a:solidFill>
                  <a:srgbClr val="FFFFFF"/>
                </a:solidFill>
                <a:latin typeface="Arial"/>
              </a:rPr>
              <a:t>Example</a:t>
            </a:r>
          </a:p>
        </p:txBody>
      </p:sp>
      <p:sp>
        <p:nvSpPr>
          <p:cNvPr id="11" name="Rectangle 10"/>
          <p:cNvSpPr/>
          <p:nvPr/>
        </p:nvSpPr>
        <p:spPr>
          <a:xfrm>
            <a:off x="5031027" y="1874519"/>
            <a:ext cx="3190341" cy="475488"/>
          </a:xfrm>
          <a:prstGeom prst="rect">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 name="TextBox 11"/>
          <p:cNvSpPr txBox="1"/>
          <p:nvPr/>
        </p:nvSpPr>
        <p:spPr>
          <a:xfrm>
            <a:off x="5168187" y="1874519"/>
            <a:ext cx="2916021" cy="475488"/>
          </a:xfrm>
          <a:prstGeom prst="rect">
            <a:avLst/>
          </a:prstGeom>
          <a:noFill/>
        </p:spPr>
        <p:txBody>
          <a:bodyPr wrap="square" anchor="ctr">
            <a:spAutoFit/>
          </a:bodyPr>
          <a:lstStyle/>
          <a:p>
            <a:pPr algn="l">
              <a:spcAft>
                <a:spcPts val="400"/>
              </a:spcAft>
            </a:pPr>
            <a:r>
              <a:rPr sz="1300" b="1">
                <a:solidFill>
                  <a:srgbClr val="FFFFFF"/>
                </a:solidFill>
                <a:latin typeface="Arial"/>
              </a:rPr>
              <a:t>Key</a:t>
            </a:r>
          </a:p>
        </p:txBody>
      </p:sp>
      <p:sp>
        <p:nvSpPr>
          <p:cNvPr id="13" name="Rectangle 12"/>
          <p:cNvSpPr/>
          <p:nvPr/>
        </p:nvSpPr>
        <p:spPr>
          <a:xfrm>
            <a:off x="8221368" y="1874519"/>
            <a:ext cx="3190341" cy="475488"/>
          </a:xfrm>
          <a:prstGeom prst="rect">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 name="TextBox 13"/>
          <p:cNvSpPr txBox="1"/>
          <p:nvPr/>
        </p:nvSpPr>
        <p:spPr>
          <a:xfrm>
            <a:off x="8358528" y="1874519"/>
            <a:ext cx="2916021" cy="475488"/>
          </a:xfrm>
          <a:prstGeom prst="rect">
            <a:avLst/>
          </a:prstGeom>
          <a:noFill/>
        </p:spPr>
        <p:txBody>
          <a:bodyPr wrap="square" anchor="ctr">
            <a:spAutoFit/>
          </a:bodyPr>
          <a:lstStyle/>
          <a:p>
            <a:pPr algn="l">
              <a:spcAft>
                <a:spcPts val="400"/>
              </a:spcAft>
            </a:pPr>
            <a:r>
              <a:rPr sz="1300" b="1">
                <a:solidFill>
                  <a:srgbClr val="FFFFFF"/>
                </a:solidFill>
                <a:latin typeface="Arial"/>
              </a:rPr>
              <a:t>Broken by</a:t>
            </a:r>
          </a:p>
        </p:txBody>
      </p:sp>
      <p:sp>
        <p:nvSpPr>
          <p:cNvPr id="15" name="Rectangle 14"/>
          <p:cNvSpPr/>
          <p:nvPr/>
        </p:nvSpPr>
        <p:spPr>
          <a:xfrm>
            <a:off x="777240" y="2350007"/>
            <a:ext cx="1914204" cy="475488"/>
          </a:xfrm>
          <a:prstGeom prst="rect">
            <a:avLst/>
          </a:prstGeom>
          <a:solidFill>
            <a:srgbClr val="F5F8FC"/>
          </a:solidFill>
          <a:ln w="12700">
            <a:solidFill>
              <a:srgbClr val="E2E8F0"/>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6" name="TextBox 15"/>
          <p:cNvSpPr txBox="1"/>
          <p:nvPr/>
        </p:nvSpPr>
        <p:spPr>
          <a:xfrm>
            <a:off x="914400" y="2350007"/>
            <a:ext cx="1639884" cy="475488"/>
          </a:xfrm>
          <a:prstGeom prst="rect">
            <a:avLst/>
          </a:prstGeom>
          <a:noFill/>
        </p:spPr>
        <p:txBody>
          <a:bodyPr wrap="square" anchor="ctr">
            <a:spAutoFit/>
          </a:bodyPr>
          <a:lstStyle/>
          <a:p>
            <a:pPr algn="l">
              <a:spcAft>
                <a:spcPts val="400"/>
              </a:spcAft>
            </a:pPr>
            <a:r>
              <a:rPr sz="1200" b="1">
                <a:solidFill>
                  <a:srgbClr val="161B26"/>
                </a:solidFill>
                <a:latin typeface="Arial"/>
              </a:rPr>
              <a:t>Symmetric</a:t>
            </a:r>
          </a:p>
        </p:txBody>
      </p:sp>
      <p:sp>
        <p:nvSpPr>
          <p:cNvPr id="17" name="Rectangle 16"/>
          <p:cNvSpPr/>
          <p:nvPr/>
        </p:nvSpPr>
        <p:spPr>
          <a:xfrm>
            <a:off x="2691444" y="2350007"/>
            <a:ext cx="2339583" cy="475488"/>
          </a:xfrm>
          <a:prstGeom prst="rect">
            <a:avLst/>
          </a:prstGeom>
          <a:solidFill>
            <a:srgbClr val="F5F8FC"/>
          </a:solidFill>
          <a:ln w="12700">
            <a:solidFill>
              <a:srgbClr val="E2E8F0"/>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8" name="TextBox 17"/>
          <p:cNvSpPr txBox="1"/>
          <p:nvPr/>
        </p:nvSpPr>
        <p:spPr>
          <a:xfrm>
            <a:off x="2828604" y="2350007"/>
            <a:ext cx="2065263" cy="475488"/>
          </a:xfrm>
          <a:prstGeom prst="rect">
            <a:avLst/>
          </a:prstGeom>
          <a:noFill/>
        </p:spPr>
        <p:txBody>
          <a:bodyPr wrap="square" anchor="ctr">
            <a:spAutoFit/>
          </a:bodyPr>
          <a:lstStyle/>
          <a:p>
            <a:pPr algn="l">
              <a:spcAft>
                <a:spcPts val="400"/>
              </a:spcAft>
            </a:pPr>
            <a:r>
              <a:rPr sz="1200" b="0">
                <a:solidFill>
                  <a:srgbClr val="161B26"/>
                </a:solidFill>
                <a:latin typeface="Arial"/>
              </a:rPr>
              <a:t>AES-256</a:t>
            </a:r>
          </a:p>
        </p:txBody>
      </p:sp>
      <p:sp>
        <p:nvSpPr>
          <p:cNvPr id="19" name="Rectangle 18"/>
          <p:cNvSpPr/>
          <p:nvPr/>
        </p:nvSpPr>
        <p:spPr>
          <a:xfrm>
            <a:off x="5031027" y="2350007"/>
            <a:ext cx="3190341" cy="475488"/>
          </a:xfrm>
          <a:prstGeom prst="rect">
            <a:avLst/>
          </a:prstGeom>
          <a:solidFill>
            <a:srgbClr val="F5F8FC"/>
          </a:solidFill>
          <a:ln w="12700">
            <a:solidFill>
              <a:srgbClr val="E2E8F0"/>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0" name="TextBox 19"/>
          <p:cNvSpPr txBox="1"/>
          <p:nvPr/>
        </p:nvSpPr>
        <p:spPr>
          <a:xfrm>
            <a:off x="5168187" y="2350007"/>
            <a:ext cx="2916021" cy="475488"/>
          </a:xfrm>
          <a:prstGeom prst="rect">
            <a:avLst/>
          </a:prstGeom>
          <a:noFill/>
        </p:spPr>
        <p:txBody>
          <a:bodyPr wrap="square" anchor="ctr">
            <a:spAutoFit/>
          </a:bodyPr>
          <a:lstStyle/>
          <a:p>
            <a:pPr algn="l">
              <a:spcAft>
                <a:spcPts val="400"/>
              </a:spcAft>
            </a:pPr>
            <a:r>
              <a:rPr sz="1200" b="0">
                <a:solidFill>
                  <a:srgbClr val="161B26"/>
                </a:solidFill>
                <a:latin typeface="Arial"/>
              </a:rPr>
              <a:t>One shared secret key</a:t>
            </a:r>
          </a:p>
        </p:txBody>
      </p:sp>
      <p:sp>
        <p:nvSpPr>
          <p:cNvPr id="21" name="Rectangle 20"/>
          <p:cNvSpPr/>
          <p:nvPr/>
        </p:nvSpPr>
        <p:spPr>
          <a:xfrm>
            <a:off x="8221368" y="2350007"/>
            <a:ext cx="3190341" cy="475488"/>
          </a:xfrm>
          <a:prstGeom prst="rect">
            <a:avLst/>
          </a:prstGeom>
          <a:solidFill>
            <a:srgbClr val="F5F8FC"/>
          </a:solidFill>
          <a:ln w="12700">
            <a:solidFill>
              <a:srgbClr val="E2E8F0"/>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2" name="TextBox 21"/>
          <p:cNvSpPr txBox="1"/>
          <p:nvPr/>
        </p:nvSpPr>
        <p:spPr>
          <a:xfrm>
            <a:off x="8358528" y="2350007"/>
            <a:ext cx="2916021" cy="475488"/>
          </a:xfrm>
          <a:prstGeom prst="rect">
            <a:avLst/>
          </a:prstGeom>
          <a:noFill/>
        </p:spPr>
        <p:txBody>
          <a:bodyPr wrap="square" anchor="ctr">
            <a:spAutoFit/>
          </a:bodyPr>
          <a:lstStyle/>
          <a:p>
            <a:pPr algn="l">
              <a:spcAft>
                <a:spcPts val="400"/>
              </a:spcAft>
            </a:pPr>
            <a:r>
              <a:rPr sz="1200" b="0">
                <a:solidFill>
                  <a:srgbClr val="161B26"/>
                </a:solidFill>
                <a:latin typeface="Arial"/>
              </a:rPr>
              <a:t>Grover (halves strength)</a:t>
            </a:r>
          </a:p>
        </p:txBody>
      </p:sp>
      <p:sp>
        <p:nvSpPr>
          <p:cNvPr id="23" name="Rectangle 22"/>
          <p:cNvSpPr/>
          <p:nvPr/>
        </p:nvSpPr>
        <p:spPr>
          <a:xfrm>
            <a:off x="777240" y="2825495"/>
            <a:ext cx="1914204" cy="475488"/>
          </a:xfrm>
          <a:prstGeom prst="rect">
            <a:avLst/>
          </a:prstGeom>
          <a:solidFill>
            <a:srgbClr val="FFFFFF"/>
          </a:solidFill>
          <a:ln w="12700">
            <a:solidFill>
              <a:srgbClr val="E2E8F0"/>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4" name="TextBox 23"/>
          <p:cNvSpPr txBox="1"/>
          <p:nvPr/>
        </p:nvSpPr>
        <p:spPr>
          <a:xfrm>
            <a:off x="914400" y="2825495"/>
            <a:ext cx="1639884" cy="475488"/>
          </a:xfrm>
          <a:prstGeom prst="rect">
            <a:avLst/>
          </a:prstGeom>
          <a:noFill/>
        </p:spPr>
        <p:txBody>
          <a:bodyPr wrap="square" anchor="ctr">
            <a:spAutoFit/>
          </a:bodyPr>
          <a:lstStyle/>
          <a:p>
            <a:pPr algn="l">
              <a:spcAft>
                <a:spcPts val="400"/>
              </a:spcAft>
            </a:pPr>
            <a:r>
              <a:rPr sz="1200" b="1">
                <a:solidFill>
                  <a:srgbClr val="161B26"/>
                </a:solidFill>
                <a:latin typeface="Arial"/>
              </a:rPr>
              <a:t>Asymmetric</a:t>
            </a:r>
          </a:p>
        </p:txBody>
      </p:sp>
      <p:sp>
        <p:nvSpPr>
          <p:cNvPr id="25" name="Rectangle 24"/>
          <p:cNvSpPr/>
          <p:nvPr/>
        </p:nvSpPr>
        <p:spPr>
          <a:xfrm>
            <a:off x="2691444" y="2825495"/>
            <a:ext cx="2339583" cy="475488"/>
          </a:xfrm>
          <a:prstGeom prst="rect">
            <a:avLst/>
          </a:prstGeom>
          <a:solidFill>
            <a:srgbClr val="FFFFFF"/>
          </a:solidFill>
          <a:ln w="12700">
            <a:solidFill>
              <a:srgbClr val="E2E8F0"/>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6" name="TextBox 25"/>
          <p:cNvSpPr txBox="1"/>
          <p:nvPr/>
        </p:nvSpPr>
        <p:spPr>
          <a:xfrm>
            <a:off x="2828604" y="2825495"/>
            <a:ext cx="2065263" cy="475488"/>
          </a:xfrm>
          <a:prstGeom prst="rect">
            <a:avLst/>
          </a:prstGeom>
          <a:noFill/>
        </p:spPr>
        <p:txBody>
          <a:bodyPr wrap="square" anchor="ctr">
            <a:spAutoFit/>
          </a:bodyPr>
          <a:lstStyle/>
          <a:p>
            <a:pPr algn="l">
              <a:spcAft>
                <a:spcPts val="400"/>
              </a:spcAft>
            </a:pPr>
            <a:r>
              <a:rPr sz="1200" b="0">
                <a:solidFill>
                  <a:srgbClr val="161B26"/>
                </a:solidFill>
                <a:latin typeface="Arial"/>
              </a:rPr>
              <a:t>RSA-2048, ECC</a:t>
            </a:r>
          </a:p>
        </p:txBody>
      </p:sp>
      <p:sp>
        <p:nvSpPr>
          <p:cNvPr id="27" name="Rectangle 26"/>
          <p:cNvSpPr/>
          <p:nvPr/>
        </p:nvSpPr>
        <p:spPr>
          <a:xfrm>
            <a:off x="5031027" y="2825495"/>
            <a:ext cx="3190341" cy="475488"/>
          </a:xfrm>
          <a:prstGeom prst="rect">
            <a:avLst/>
          </a:prstGeom>
          <a:solidFill>
            <a:srgbClr val="FFFFFF"/>
          </a:solidFill>
          <a:ln w="12700">
            <a:solidFill>
              <a:srgbClr val="E2E8F0"/>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8" name="TextBox 27"/>
          <p:cNvSpPr txBox="1"/>
          <p:nvPr/>
        </p:nvSpPr>
        <p:spPr>
          <a:xfrm>
            <a:off x="5168187" y="2825495"/>
            <a:ext cx="2916021" cy="475488"/>
          </a:xfrm>
          <a:prstGeom prst="rect">
            <a:avLst/>
          </a:prstGeom>
          <a:noFill/>
        </p:spPr>
        <p:txBody>
          <a:bodyPr wrap="square" anchor="ctr">
            <a:spAutoFit/>
          </a:bodyPr>
          <a:lstStyle/>
          <a:p>
            <a:pPr algn="l">
              <a:spcAft>
                <a:spcPts val="400"/>
              </a:spcAft>
            </a:pPr>
            <a:r>
              <a:rPr sz="1200" b="0">
                <a:solidFill>
                  <a:srgbClr val="161B26"/>
                </a:solidFill>
                <a:latin typeface="Arial"/>
              </a:rPr>
              <a:t>Public + private key pair</a:t>
            </a:r>
          </a:p>
        </p:txBody>
      </p:sp>
      <p:sp>
        <p:nvSpPr>
          <p:cNvPr id="29" name="Rectangle 28"/>
          <p:cNvSpPr/>
          <p:nvPr/>
        </p:nvSpPr>
        <p:spPr>
          <a:xfrm>
            <a:off x="8221368" y="2825495"/>
            <a:ext cx="3190341" cy="475488"/>
          </a:xfrm>
          <a:prstGeom prst="rect">
            <a:avLst/>
          </a:prstGeom>
          <a:solidFill>
            <a:srgbClr val="FFFFFF"/>
          </a:solidFill>
          <a:ln w="12700">
            <a:solidFill>
              <a:srgbClr val="E2E8F0"/>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0" name="TextBox 29"/>
          <p:cNvSpPr txBox="1"/>
          <p:nvPr/>
        </p:nvSpPr>
        <p:spPr>
          <a:xfrm>
            <a:off x="8358528" y="2825495"/>
            <a:ext cx="2916021" cy="475488"/>
          </a:xfrm>
          <a:prstGeom prst="rect">
            <a:avLst/>
          </a:prstGeom>
          <a:noFill/>
        </p:spPr>
        <p:txBody>
          <a:bodyPr wrap="square" anchor="ctr">
            <a:spAutoFit/>
          </a:bodyPr>
          <a:lstStyle/>
          <a:p>
            <a:pPr algn="l">
              <a:spcAft>
                <a:spcPts val="400"/>
              </a:spcAft>
            </a:pPr>
            <a:r>
              <a:rPr sz="1200" b="0">
                <a:solidFill>
                  <a:srgbClr val="161B26"/>
                </a:solidFill>
                <a:latin typeface="Arial"/>
              </a:rPr>
              <a:t>Shor (fully broken)</a:t>
            </a:r>
          </a:p>
        </p:txBody>
      </p:sp>
      <p:sp>
        <p:nvSpPr>
          <p:cNvPr id="31" name="Rectangle 30"/>
          <p:cNvSpPr/>
          <p:nvPr/>
        </p:nvSpPr>
        <p:spPr>
          <a:xfrm>
            <a:off x="777240" y="3300983"/>
            <a:ext cx="1914204" cy="475488"/>
          </a:xfrm>
          <a:prstGeom prst="rect">
            <a:avLst/>
          </a:prstGeom>
          <a:solidFill>
            <a:srgbClr val="F5F8FC"/>
          </a:solidFill>
          <a:ln w="12700">
            <a:solidFill>
              <a:srgbClr val="E2E8F0"/>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2" name="TextBox 31"/>
          <p:cNvSpPr txBox="1"/>
          <p:nvPr/>
        </p:nvSpPr>
        <p:spPr>
          <a:xfrm>
            <a:off x="914400" y="3300983"/>
            <a:ext cx="1639884" cy="475488"/>
          </a:xfrm>
          <a:prstGeom prst="rect">
            <a:avLst/>
          </a:prstGeom>
          <a:noFill/>
        </p:spPr>
        <p:txBody>
          <a:bodyPr wrap="square" anchor="ctr">
            <a:spAutoFit/>
          </a:bodyPr>
          <a:lstStyle/>
          <a:p>
            <a:pPr algn="l">
              <a:spcAft>
                <a:spcPts val="400"/>
              </a:spcAft>
            </a:pPr>
            <a:r>
              <a:rPr sz="1200" b="1">
                <a:solidFill>
                  <a:srgbClr val="161B26"/>
                </a:solidFill>
                <a:latin typeface="Arial"/>
              </a:rPr>
              <a:t>Hash</a:t>
            </a:r>
          </a:p>
        </p:txBody>
      </p:sp>
      <p:sp>
        <p:nvSpPr>
          <p:cNvPr id="33" name="Rectangle 32"/>
          <p:cNvSpPr/>
          <p:nvPr/>
        </p:nvSpPr>
        <p:spPr>
          <a:xfrm>
            <a:off x="2691444" y="3300983"/>
            <a:ext cx="2339583" cy="475488"/>
          </a:xfrm>
          <a:prstGeom prst="rect">
            <a:avLst/>
          </a:prstGeom>
          <a:solidFill>
            <a:srgbClr val="F5F8FC"/>
          </a:solidFill>
          <a:ln w="12700">
            <a:solidFill>
              <a:srgbClr val="E2E8F0"/>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4" name="TextBox 33"/>
          <p:cNvSpPr txBox="1"/>
          <p:nvPr/>
        </p:nvSpPr>
        <p:spPr>
          <a:xfrm>
            <a:off x="2828604" y="3300983"/>
            <a:ext cx="2065263" cy="475488"/>
          </a:xfrm>
          <a:prstGeom prst="rect">
            <a:avLst/>
          </a:prstGeom>
          <a:noFill/>
        </p:spPr>
        <p:txBody>
          <a:bodyPr wrap="square" anchor="ctr">
            <a:spAutoFit/>
          </a:bodyPr>
          <a:lstStyle/>
          <a:p>
            <a:pPr algn="l">
              <a:spcAft>
                <a:spcPts val="400"/>
              </a:spcAft>
            </a:pPr>
            <a:r>
              <a:rPr sz="1200" b="0">
                <a:solidFill>
                  <a:srgbClr val="161B26"/>
                </a:solidFill>
                <a:latin typeface="Arial"/>
              </a:rPr>
              <a:t>SHA-256</a:t>
            </a:r>
          </a:p>
        </p:txBody>
      </p:sp>
      <p:sp>
        <p:nvSpPr>
          <p:cNvPr id="35" name="Rectangle 34"/>
          <p:cNvSpPr/>
          <p:nvPr/>
        </p:nvSpPr>
        <p:spPr>
          <a:xfrm>
            <a:off x="5031027" y="3300983"/>
            <a:ext cx="3190341" cy="475488"/>
          </a:xfrm>
          <a:prstGeom prst="rect">
            <a:avLst/>
          </a:prstGeom>
          <a:solidFill>
            <a:srgbClr val="F5F8FC"/>
          </a:solidFill>
          <a:ln w="12700">
            <a:solidFill>
              <a:srgbClr val="E2E8F0"/>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6" name="TextBox 35"/>
          <p:cNvSpPr txBox="1"/>
          <p:nvPr/>
        </p:nvSpPr>
        <p:spPr>
          <a:xfrm>
            <a:off x="5168187" y="3300983"/>
            <a:ext cx="2916021" cy="475488"/>
          </a:xfrm>
          <a:prstGeom prst="rect">
            <a:avLst/>
          </a:prstGeom>
          <a:noFill/>
        </p:spPr>
        <p:txBody>
          <a:bodyPr wrap="square" anchor="ctr">
            <a:spAutoFit/>
          </a:bodyPr>
          <a:lstStyle/>
          <a:p>
            <a:pPr algn="l">
              <a:spcAft>
                <a:spcPts val="400"/>
              </a:spcAft>
            </a:pPr>
            <a:r>
              <a:rPr sz="1200" b="0">
                <a:solidFill>
                  <a:srgbClr val="161B26"/>
                </a:solidFill>
                <a:latin typeface="Arial"/>
              </a:rPr>
              <a:t>No key</a:t>
            </a:r>
          </a:p>
        </p:txBody>
      </p:sp>
      <p:sp>
        <p:nvSpPr>
          <p:cNvPr id="37" name="Rectangle 36"/>
          <p:cNvSpPr/>
          <p:nvPr/>
        </p:nvSpPr>
        <p:spPr>
          <a:xfrm>
            <a:off x="8221368" y="3300983"/>
            <a:ext cx="3190341" cy="475488"/>
          </a:xfrm>
          <a:prstGeom prst="rect">
            <a:avLst/>
          </a:prstGeom>
          <a:solidFill>
            <a:srgbClr val="F5F8FC"/>
          </a:solidFill>
          <a:ln w="12700">
            <a:solidFill>
              <a:srgbClr val="E2E8F0"/>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8" name="TextBox 37"/>
          <p:cNvSpPr txBox="1"/>
          <p:nvPr/>
        </p:nvSpPr>
        <p:spPr>
          <a:xfrm>
            <a:off x="8358528" y="3300983"/>
            <a:ext cx="2916021" cy="475488"/>
          </a:xfrm>
          <a:prstGeom prst="rect">
            <a:avLst/>
          </a:prstGeom>
          <a:noFill/>
        </p:spPr>
        <p:txBody>
          <a:bodyPr wrap="square" anchor="ctr">
            <a:spAutoFit/>
          </a:bodyPr>
          <a:lstStyle/>
          <a:p>
            <a:pPr algn="l">
              <a:spcAft>
                <a:spcPts val="400"/>
              </a:spcAft>
            </a:pPr>
            <a:r>
              <a:rPr sz="1200" b="0">
                <a:solidFill>
                  <a:srgbClr val="161B26"/>
                </a:solidFill>
                <a:latin typeface="Arial"/>
              </a:rPr>
              <a:t>Grover (halves strength)</a:t>
            </a:r>
          </a:p>
        </p:txBody>
      </p:sp>
      <p:sp>
        <p:nvSpPr>
          <p:cNvPr id="39" name="Rectangle 38"/>
          <p:cNvSpPr/>
          <p:nvPr/>
        </p:nvSpPr>
        <p:spPr>
          <a:xfrm>
            <a:off x="777240" y="3776471"/>
            <a:ext cx="1914204" cy="475488"/>
          </a:xfrm>
          <a:prstGeom prst="rect">
            <a:avLst/>
          </a:prstGeom>
          <a:solidFill>
            <a:srgbClr val="FFFFFF"/>
          </a:solidFill>
          <a:ln w="12700">
            <a:solidFill>
              <a:srgbClr val="E2E8F0"/>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0" name="TextBox 39"/>
          <p:cNvSpPr txBox="1"/>
          <p:nvPr/>
        </p:nvSpPr>
        <p:spPr>
          <a:xfrm>
            <a:off x="914400" y="3776471"/>
            <a:ext cx="1639884" cy="475488"/>
          </a:xfrm>
          <a:prstGeom prst="rect">
            <a:avLst/>
          </a:prstGeom>
          <a:noFill/>
        </p:spPr>
        <p:txBody>
          <a:bodyPr wrap="square" anchor="ctr">
            <a:spAutoFit/>
          </a:bodyPr>
          <a:lstStyle/>
          <a:p>
            <a:pPr algn="l">
              <a:spcAft>
                <a:spcPts val="400"/>
              </a:spcAft>
            </a:pPr>
            <a:r>
              <a:rPr sz="1200" b="1">
                <a:solidFill>
                  <a:srgbClr val="161B26"/>
                </a:solidFill>
                <a:latin typeface="Arial"/>
              </a:rPr>
              <a:t>PQC KEM</a:t>
            </a:r>
          </a:p>
        </p:txBody>
      </p:sp>
      <p:sp>
        <p:nvSpPr>
          <p:cNvPr id="41" name="Rectangle 40"/>
          <p:cNvSpPr/>
          <p:nvPr/>
        </p:nvSpPr>
        <p:spPr>
          <a:xfrm>
            <a:off x="2691444" y="3776471"/>
            <a:ext cx="2339583" cy="475488"/>
          </a:xfrm>
          <a:prstGeom prst="rect">
            <a:avLst/>
          </a:prstGeom>
          <a:solidFill>
            <a:srgbClr val="FFFFFF"/>
          </a:solidFill>
          <a:ln w="12700">
            <a:solidFill>
              <a:srgbClr val="E2E8F0"/>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2" name="TextBox 41"/>
          <p:cNvSpPr txBox="1"/>
          <p:nvPr/>
        </p:nvSpPr>
        <p:spPr>
          <a:xfrm>
            <a:off x="2828604" y="3776471"/>
            <a:ext cx="2065263" cy="475488"/>
          </a:xfrm>
          <a:prstGeom prst="rect">
            <a:avLst/>
          </a:prstGeom>
          <a:noFill/>
        </p:spPr>
        <p:txBody>
          <a:bodyPr wrap="square" anchor="ctr">
            <a:spAutoFit/>
          </a:bodyPr>
          <a:lstStyle/>
          <a:p>
            <a:pPr algn="l">
              <a:spcAft>
                <a:spcPts val="400"/>
              </a:spcAft>
            </a:pPr>
            <a:r>
              <a:rPr sz="1200" b="0">
                <a:solidFill>
                  <a:srgbClr val="161B26"/>
                </a:solidFill>
                <a:latin typeface="Arial"/>
              </a:rPr>
              <a:t>ML-KEM (Kyber)</a:t>
            </a:r>
          </a:p>
        </p:txBody>
      </p:sp>
      <p:sp>
        <p:nvSpPr>
          <p:cNvPr id="43" name="Rectangle 42"/>
          <p:cNvSpPr/>
          <p:nvPr/>
        </p:nvSpPr>
        <p:spPr>
          <a:xfrm>
            <a:off x="5031027" y="3776471"/>
            <a:ext cx="3190341" cy="475488"/>
          </a:xfrm>
          <a:prstGeom prst="rect">
            <a:avLst/>
          </a:prstGeom>
          <a:solidFill>
            <a:srgbClr val="FFFFFF"/>
          </a:solidFill>
          <a:ln w="12700">
            <a:solidFill>
              <a:srgbClr val="E2E8F0"/>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4" name="TextBox 43"/>
          <p:cNvSpPr txBox="1"/>
          <p:nvPr/>
        </p:nvSpPr>
        <p:spPr>
          <a:xfrm>
            <a:off x="5168187" y="3776471"/>
            <a:ext cx="2916021" cy="475488"/>
          </a:xfrm>
          <a:prstGeom prst="rect">
            <a:avLst/>
          </a:prstGeom>
          <a:noFill/>
        </p:spPr>
        <p:txBody>
          <a:bodyPr wrap="square" anchor="ctr">
            <a:spAutoFit/>
          </a:bodyPr>
          <a:lstStyle/>
          <a:p>
            <a:pPr algn="l">
              <a:spcAft>
                <a:spcPts val="400"/>
              </a:spcAft>
            </a:pPr>
            <a:r>
              <a:rPr sz="1200" b="0">
                <a:solidFill>
                  <a:srgbClr val="161B26"/>
                </a:solidFill>
                <a:latin typeface="Arial"/>
              </a:rPr>
              <a:t>Lattice-based</a:t>
            </a:r>
          </a:p>
        </p:txBody>
      </p:sp>
      <p:sp>
        <p:nvSpPr>
          <p:cNvPr id="45" name="Rectangle 44"/>
          <p:cNvSpPr/>
          <p:nvPr/>
        </p:nvSpPr>
        <p:spPr>
          <a:xfrm>
            <a:off x="8221368" y="3776471"/>
            <a:ext cx="3190341" cy="475488"/>
          </a:xfrm>
          <a:prstGeom prst="rect">
            <a:avLst/>
          </a:prstGeom>
          <a:solidFill>
            <a:srgbClr val="FFFFFF"/>
          </a:solidFill>
          <a:ln w="12700">
            <a:solidFill>
              <a:srgbClr val="E2E8F0"/>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6" name="TextBox 45"/>
          <p:cNvSpPr txBox="1"/>
          <p:nvPr/>
        </p:nvSpPr>
        <p:spPr>
          <a:xfrm>
            <a:off x="8358528" y="3776471"/>
            <a:ext cx="2916021" cy="475488"/>
          </a:xfrm>
          <a:prstGeom prst="rect">
            <a:avLst/>
          </a:prstGeom>
          <a:noFill/>
        </p:spPr>
        <p:txBody>
          <a:bodyPr wrap="square" anchor="ctr">
            <a:spAutoFit/>
          </a:bodyPr>
          <a:lstStyle/>
          <a:p>
            <a:pPr algn="l">
              <a:spcAft>
                <a:spcPts val="400"/>
              </a:spcAft>
            </a:pPr>
            <a:r>
              <a:rPr sz="1200" b="0">
                <a:solidFill>
                  <a:srgbClr val="161B26"/>
                </a:solidFill>
                <a:latin typeface="Arial"/>
              </a:rPr>
              <a:t>Not known to be broken</a:t>
            </a:r>
          </a:p>
        </p:txBody>
      </p:sp>
      <p:sp>
        <p:nvSpPr>
          <p:cNvPr id="47" name="Rectangle 46"/>
          <p:cNvSpPr/>
          <p:nvPr/>
        </p:nvSpPr>
        <p:spPr>
          <a:xfrm>
            <a:off x="777240" y="4251959"/>
            <a:ext cx="1914204" cy="475488"/>
          </a:xfrm>
          <a:prstGeom prst="rect">
            <a:avLst/>
          </a:prstGeom>
          <a:solidFill>
            <a:srgbClr val="F5F8FC"/>
          </a:solidFill>
          <a:ln w="12700">
            <a:solidFill>
              <a:srgbClr val="E2E8F0"/>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8" name="TextBox 47"/>
          <p:cNvSpPr txBox="1"/>
          <p:nvPr/>
        </p:nvSpPr>
        <p:spPr>
          <a:xfrm>
            <a:off x="914400" y="4251959"/>
            <a:ext cx="1639884" cy="475488"/>
          </a:xfrm>
          <a:prstGeom prst="rect">
            <a:avLst/>
          </a:prstGeom>
          <a:noFill/>
        </p:spPr>
        <p:txBody>
          <a:bodyPr wrap="square" anchor="ctr">
            <a:spAutoFit/>
          </a:bodyPr>
          <a:lstStyle/>
          <a:p>
            <a:pPr algn="l">
              <a:spcAft>
                <a:spcPts val="400"/>
              </a:spcAft>
            </a:pPr>
            <a:r>
              <a:rPr sz="1200" b="1">
                <a:solidFill>
                  <a:srgbClr val="161B26"/>
                </a:solidFill>
                <a:latin typeface="Arial"/>
              </a:rPr>
              <a:t>PQC signature</a:t>
            </a:r>
          </a:p>
        </p:txBody>
      </p:sp>
      <p:sp>
        <p:nvSpPr>
          <p:cNvPr id="49" name="Rectangle 48"/>
          <p:cNvSpPr/>
          <p:nvPr/>
        </p:nvSpPr>
        <p:spPr>
          <a:xfrm>
            <a:off x="2691444" y="4251959"/>
            <a:ext cx="2339583" cy="475488"/>
          </a:xfrm>
          <a:prstGeom prst="rect">
            <a:avLst/>
          </a:prstGeom>
          <a:solidFill>
            <a:srgbClr val="F5F8FC"/>
          </a:solidFill>
          <a:ln w="12700">
            <a:solidFill>
              <a:srgbClr val="E2E8F0"/>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0" name="TextBox 49"/>
          <p:cNvSpPr txBox="1"/>
          <p:nvPr/>
        </p:nvSpPr>
        <p:spPr>
          <a:xfrm>
            <a:off x="2828604" y="4251959"/>
            <a:ext cx="2065263" cy="475488"/>
          </a:xfrm>
          <a:prstGeom prst="rect">
            <a:avLst/>
          </a:prstGeom>
          <a:noFill/>
        </p:spPr>
        <p:txBody>
          <a:bodyPr wrap="square" anchor="ctr">
            <a:spAutoFit/>
          </a:bodyPr>
          <a:lstStyle/>
          <a:p>
            <a:pPr algn="l">
              <a:spcAft>
                <a:spcPts val="400"/>
              </a:spcAft>
            </a:pPr>
            <a:r>
              <a:rPr sz="1200" b="0">
                <a:solidFill>
                  <a:srgbClr val="161B26"/>
                </a:solidFill>
                <a:latin typeface="Arial"/>
              </a:rPr>
              <a:t>ML-DSA, SLH-DSA</a:t>
            </a:r>
          </a:p>
        </p:txBody>
      </p:sp>
      <p:sp>
        <p:nvSpPr>
          <p:cNvPr id="51" name="Rectangle 50"/>
          <p:cNvSpPr/>
          <p:nvPr/>
        </p:nvSpPr>
        <p:spPr>
          <a:xfrm>
            <a:off x="5031027" y="4251959"/>
            <a:ext cx="3190341" cy="475488"/>
          </a:xfrm>
          <a:prstGeom prst="rect">
            <a:avLst/>
          </a:prstGeom>
          <a:solidFill>
            <a:srgbClr val="F5F8FC"/>
          </a:solidFill>
          <a:ln w="12700">
            <a:solidFill>
              <a:srgbClr val="E2E8F0"/>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2" name="TextBox 51"/>
          <p:cNvSpPr txBox="1"/>
          <p:nvPr/>
        </p:nvSpPr>
        <p:spPr>
          <a:xfrm>
            <a:off x="5168187" y="4251959"/>
            <a:ext cx="2916021" cy="475488"/>
          </a:xfrm>
          <a:prstGeom prst="rect">
            <a:avLst/>
          </a:prstGeom>
          <a:noFill/>
        </p:spPr>
        <p:txBody>
          <a:bodyPr wrap="square" anchor="ctr">
            <a:spAutoFit/>
          </a:bodyPr>
          <a:lstStyle/>
          <a:p>
            <a:pPr algn="l">
              <a:spcAft>
                <a:spcPts val="400"/>
              </a:spcAft>
            </a:pPr>
            <a:r>
              <a:rPr sz="1200" b="0">
                <a:solidFill>
                  <a:srgbClr val="161B26"/>
                </a:solidFill>
                <a:latin typeface="Arial"/>
              </a:rPr>
              <a:t>Lattice / hash-based</a:t>
            </a:r>
          </a:p>
        </p:txBody>
      </p:sp>
      <p:sp>
        <p:nvSpPr>
          <p:cNvPr id="53" name="Rectangle 52"/>
          <p:cNvSpPr/>
          <p:nvPr/>
        </p:nvSpPr>
        <p:spPr>
          <a:xfrm>
            <a:off x="8221368" y="4251959"/>
            <a:ext cx="3190341" cy="475488"/>
          </a:xfrm>
          <a:prstGeom prst="rect">
            <a:avLst/>
          </a:prstGeom>
          <a:solidFill>
            <a:srgbClr val="F5F8FC"/>
          </a:solidFill>
          <a:ln w="12700">
            <a:solidFill>
              <a:srgbClr val="E2E8F0"/>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4" name="TextBox 53"/>
          <p:cNvSpPr txBox="1"/>
          <p:nvPr/>
        </p:nvSpPr>
        <p:spPr>
          <a:xfrm>
            <a:off x="8358528" y="4251959"/>
            <a:ext cx="2916021" cy="475488"/>
          </a:xfrm>
          <a:prstGeom prst="rect">
            <a:avLst/>
          </a:prstGeom>
          <a:noFill/>
        </p:spPr>
        <p:txBody>
          <a:bodyPr wrap="square" anchor="ctr">
            <a:spAutoFit/>
          </a:bodyPr>
          <a:lstStyle/>
          <a:p>
            <a:pPr algn="l">
              <a:spcAft>
                <a:spcPts val="400"/>
              </a:spcAft>
            </a:pPr>
            <a:r>
              <a:rPr sz="1200" b="0">
                <a:solidFill>
                  <a:srgbClr val="161B26"/>
                </a:solidFill>
                <a:latin typeface="Arial"/>
              </a:rPr>
              <a:t>Not known to be broken</a:t>
            </a:r>
          </a:p>
        </p:txBody>
      </p:sp>
      <p:sp>
        <p:nvSpPr>
          <p:cNvPr id="55" name="TextBox 54"/>
          <p:cNvSpPr txBox="1"/>
          <p:nvPr/>
        </p:nvSpPr>
        <p:spPr>
          <a:xfrm>
            <a:off x="365760" y="6446520"/>
            <a:ext cx="6858000" cy="320040"/>
          </a:xfrm>
          <a:prstGeom prst="rect">
            <a:avLst/>
          </a:prstGeom>
          <a:noFill/>
        </p:spPr>
        <p:txBody>
          <a:bodyPr wrap="square" anchor="t">
            <a:spAutoFit/>
          </a:bodyPr>
          <a:lstStyle/>
          <a:p>
            <a:pPr algn="l">
              <a:spcAft>
                <a:spcPts val="400"/>
              </a:spcAft>
            </a:pPr>
            <a:r>
              <a:rPr sz="900" b="0">
                <a:solidFill>
                  <a:srgbClr val="5B6372"/>
                </a:solidFill>
                <a:latin typeface="Arial"/>
              </a:rPr>
              <a:t>Securing the Future with Quantum Computing and Cryptography  ·  TGS-2024043419</a:t>
            </a:r>
          </a:p>
        </p:txBody>
      </p:sp>
      <p:sp>
        <p:nvSpPr>
          <p:cNvPr id="56" name="TextBox 55"/>
          <p:cNvSpPr txBox="1"/>
          <p:nvPr/>
        </p:nvSpPr>
        <p:spPr>
          <a:xfrm>
            <a:off x="4572000" y="6446520"/>
            <a:ext cx="3017520" cy="320040"/>
          </a:xfrm>
          <a:prstGeom prst="rect">
            <a:avLst/>
          </a:prstGeom>
          <a:noFill/>
        </p:spPr>
        <p:txBody>
          <a:bodyPr wrap="square" anchor="t">
            <a:spAutoFit/>
          </a:bodyPr>
          <a:lstStyle/>
          <a:p>
            <a:pPr algn="ctr">
              <a:spcAft>
                <a:spcPts val="400"/>
              </a:spcAft>
            </a:pPr>
            <a:r>
              <a:rPr sz="900" b="0">
                <a:solidFill>
                  <a:srgbClr val="5B6372"/>
                </a:solidFill>
                <a:latin typeface="Arial"/>
              </a:rPr>
              <a:t>© 2026 Tertiary Infotech Academy Pte Ltd</a:t>
            </a:r>
          </a:p>
        </p:txBody>
      </p:sp>
      <p:sp>
        <p:nvSpPr>
          <p:cNvPr id="57" name="TextBox 56"/>
          <p:cNvSpPr txBox="1"/>
          <p:nvPr/>
        </p:nvSpPr>
        <p:spPr>
          <a:xfrm>
            <a:off x="11338560" y="6446520"/>
            <a:ext cx="548640" cy="320040"/>
          </a:xfrm>
          <a:prstGeom prst="rect">
            <a:avLst/>
          </a:prstGeom>
          <a:noFill/>
        </p:spPr>
        <p:txBody>
          <a:bodyPr wrap="square" anchor="t">
            <a:spAutoFit/>
          </a:bodyPr>
          <a:lstStyle/>
          <a:p>
            <a:pPr algn="r">
              <a:spcAft>
                <a:spcPts val="400"/>
              </a:spcAft>
            </a:pPr>
            <a:r>
              <a:rPr sz="900" b="0">
                <a:solidFill>
                  <a:srgbClr val="5B6372"/>
                </a:solidFill>
                <a:latin typeface="Arial"/>
              </a:rPr>
              <a:t>189</a:t>
            </a:r>
          </a:p>
        </p:txBody>
      </p:sp>
    </p:spTree>
  </p:cSld>
  <p:clrMapOvr>
    <a:masterClrMapping/>
  </p:clrMapOvr>
</p:sld>
</file>

<file path=ppt/slides/slide191.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256032" cy="6858000"/>
          </a:xfrm>
          <a:prstGeom prst="rect">
            <a:avLst/>
          </a:prstGeom>
          <a:solidFill>
            <a:srgbClr val="DC2626"/>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1005840" y="2011680"/>
            <a:ext cx="10058400" cy="457200"/>
          </a:xfrm>
          <a:prstGeom prst="rect">
            <a:avLst/>
          </a:prstGeom>
          <a:noFill/>
        </p:spPr>
        <p:txBody>
          <a:bodyPr wrap="square" anchor="t">
            <a:spAutoFit/>
          </a:bodyPr>
          <a:lstStyle/>
          <a:p>
            <a:pPr algn="l">
              <a:spcAft>
                <a:spcPts val="400"/>
              </a:spcAft>
            </a:pPr>
            <a:r>
              <a:rPr sz="1600" b="1">
                <a:solidFill>
                  <a:srgbClr val="DC2626"/>
                </a:solidFill>
                <a:latin typeface="Arial"/>
              </a:rPr>
              <a:t>WHY MIGRATE BEFORE THE THREAT ARRIVES</a:t>
            </a:r>
          </a:p>
        </p:txBody>
      </p:sp>
      <p:sp>
        <p:nvSpPr>
          <p:cNvPr id="5" name="TextBox 4"/>
          <p:cNvSpPr txBox="1"/>
          <p:nvPr/>
        </p:nvSpPr>
        <p:spPr>
          <a:xfrm>
            <a:off x="1005840" y="2560320"/>
            <a:ext cx="10332720" cy="2194560"/>
          </a:xfrm>
          <a:prstGeom prst="rect">
            <a:avLst/>
          </a:prstGeom>
          <a:noFill/>
        </p:spPr>
        <p:txBody>
          <a:bodyPr wrap="square" anchor="t">
            <a:spAutoFit/>
          </a:bodyPr>
          <a:lstStyle/>
          <a:p>
            <a:pPr algn="l">
              <a:spcAft>
                <a:spcPts val="400"/>
              </a:spcAft>
            </a:pPr>
            <a:r>
              <a:rPr sz="3600" b="1">
                <a:solidFill>
                  <a:srgbClr val="161B26"/>
                </a:solidFill>
                <a:latin typeface="Arial"/>
              </a:rPr>
              <a:t>Harvest now, decrypt later.</a:t>
            </a:r>
          </a:p>
        </p:txBody>
      </p:sp>
      <p:sp>
        <p:nvSpPr>
          <p:cNvPr id="6" name="TextBox 5"/>
          <p:cNvSpPr txBox="1"/>
          <p:nvPr/>
        </p:nvSpPr>
        <p:spPr>
          <a:xfrm>
            <a:off x="1024128" y="4572000"/>
            <a:ext cx="10058400" cy="1097280"/>
          </a:xfrm>
          <a:prstGeom prst="rect">
            <a:avLst/>
          </a:prstGeom>
          <a:noFill/>
        </p:spPr>
        <p:txBody>
          <a:bodyPr wrap="square" anchor="t">
            <a:spAutoFit/>
          </a:bodyPr>
          <a:lstStyle/>
          <a:p>
            <a:pPr algn="l">
              <a:spcAft>
                <a:spcPts val="400"/>
              </a:spcAft>
            </a:pPr>
            <a:r>
              <a:rPr sz="1900" b="0">
                <a:solidFill>
                  <a:srgbClr val="5B6372"/>
                </a:solidFill>
                <a:latin typeface="Arial"/>
              </a:rPr>
              <a:t>An adversary can record your encrypted traffic today and decrypt it the day a cryptographically relevant quantum computer exists. Any secret that must stay confidential for a decade is already at risk.</a:t>
            </a:r>
          </a:p>
        </p:txBody>
      </p:sp>
      <p:sp>
        <p:nvSpPr>
          <p:cNvPr id="7" name="TextBox 6"/>
          <p:cNvSpPr txBox="1"/>
          <p:nvPr/>
        </p:nvSpPr>
        <p:spPr>
          <a:xfrm>
            <a:off x="365760" y="6446520"/>
            <a:ext cx="6858000" cy="320040"/>
          </a:xfrm>
          <a:prstGeom prst="rect">
            <a:avLst/>
          </a:prstGeom>
          <a:noFill/>
        </p:spPr>
        <p:txBody>
          <a:bodyPr wrap="square" anchor="t">
            <a:spAutoFit/>
          </a:bodyPr>
          <a:lstStyle/>
          <a:p>
            <a:pPr algn="l">
              <a:spcAft>
                <a:spcPts val="400"/>
              </a:spcAft>
            </a:pPr>
            <a:r>
              <a:rPr sz="900" b="0">
                <a:solidFill>
                  <a:srgbClr val="5B6372"/>
                </a:solidFill>
                <a:latin typeface="Arial"/>
              </a:rPr>
              <a:t>Securing the Future with Quantum Computing and Cryptography  ·  TGS-2024043419</a:t>
            </a:r>
          </a:p>
        </p:txBody>
      </p:sp>
      <p:sp>
        <p:nvSpPr>
          <p:cNvPr id="8" name="TextBox 7"/>
          <p:cNvSpPr txBox="1"/>
          <p:nvPr/>
        </p:nvSpPr>
        <p:spPr>
          <a:xfrm>
            <a:off x="4572000" y="6446520"/>
            <a:ext cx="3017520" cy="320040"/>
          </a:xfrm>
          <a:prstGeom prst="rect">
            <a:avLst/>
          </a:prstGeom>
          <a:noFill/>
        </p:spPr>
        <p:txBody>
          <a:bodyPr wrap="square" anchor="t">
            <a:spAutoFit/>
          </a:bodyPr>
          <a:lstStyle/>
          <a:p>
            <a:pPr algn="ctr">
              <a:spcAft>
                <a:spcPts val="400"/>
              </a:spcAft>
            </a:pPr>
            <a:r>
              <a:rPr sz="900" b="0">
                <a:solidFill>
                  <a:srgbClr val="5B6372"/>
                </a:solidFill>
                <a:latin typeface="Arial"/>
              </a:rPr>
              <a:t>© 2026 Tertiary Infotech Academy Pte Ltd</a:t>
            </a:r>
          </a:p>
        </p:txBody>
      </p:sp>
      <p:sp>
        <p:nvSpPr>
          <p:cNvPr id="9" name="TextBox 8"/>
          <p:cNvSpPr txBox="1"/>
          <p:nvPr/>
        </p:nvSpPr>
        <p:spPr>
          <a:xfrm>
            <a:off x="11338560" y="6446520"/>
            <a:ext cx="548640" cy="320040"/>
          </a:xfrm>
          <a:prstGeom prst="rect">
            <a:avLst/>
          </a:prstGeom>
          <a:noFill/>
        </p:spPr>
        <p:txBody>
          <a:bodyPr wrap="square" anchor="t">
            <a:spAutoFit/>
          </a:bodyPr>
          <a:lstStyle/>
          <a:p>
            <a:pPr algn="r">
              <a:spcAft>
                <a:spcPts val="400"/>
              </a:spcAft>
            </a:pPr>
            <a:r>
              <a:rPr sz="900" b="0">
                <a:solidFill>
                  <a:srgbClr val="5B6372"/>
                </a:solidFill>
                <a:latin typeface="Arial"/>
              </a:rPr>
              <a:t>190</a:t>
            </a:r>
          </a:p>
        </p:txBody>
      </p:sp>
    </p:spTree>
  </p:cSld>
  <p:clrMapOvr>
    <a:masterClrMapping/>
  </p:clrMapOvr>
</p:sld>
</file>

<file path=ppt/slides/slide192.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256032" cy="1417320"/>
          </a:xfrm>
          <a:prstGeom prst="rect">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777240" y="457200"/>
            <a:ext cx="10607040" cy="365760"/>
          </a:xfrm>
          <a:prstGeom prst="rect">
            <a:avLst/>
          </a:prstGeom>
          <a:noFill/>
        </p:spPr>
        <p:txBody>
          <a:bodyPr wrap="square" anchor="t">
            <a:spAutoFit/>
          </a:bodyPr>
          <a:lstStyle/>
          <a:p>
            <a:pPr algn="l">
              <a:spcAft>
                <a:spcPts val="400"/>
              </a:spcAft>
            </a:pPr>
            <a:r>
              <a:rPr sz="1400" b="1">
                <a:solidFill>
                  <a:srgbClr val="1F6FEB"/>
                </a:solidFill>
                <a:latin typeface="Arial"/>
              </a:rPr>
              <a:t>WHAT TO DO ON MONDAY MORNING</a:t>
            </a:r>
          </a:p>
        </p:txBody>
      </p:sp>
      <p:sp>
        <p:nvSpPr>
          <p:cNvPr id="5" name="TextBox 4"/>
          <p:cNvSpPr txBox="1"/>
          <p:nvPr/>
        </p:nvSpPr>
        <p:spPr>
          <a:xfrm>
            <a:off x="777240" y="822960"/>
            <a:ext cx="10881360" cy="822960"/>
          </a:xfrm>
          <a:prstGeom prst="rect">
            <a:avLst/>
          </a:prstGeom>
          <a:noFill/>
        </p:spPr>
        <p:txBody>
          <a:bodyPr wrap="square" anchor="t">
            <a:spAutoFit/>
          </a:bodyPr>
          <a:lstStyle/>
          <a:p>
            <a:pPr algn="l">
              <a:spcAft>
                <a:spcPts val="400"/>
              </a:spcAft>
            </a:pPr>
            <a:r>
              <a:rPr sz="2900" b="1">
                <a:solidFill>
                  <a:srgbClr val="161B26"/>
                </a:solidFill>
                <a:latin typeface="Arial"/>
              </a:rPr>
              <a:t>The threat timeline</a:t>
            </a:r>
          </a:p>
        </p:txBody>
      </p:sp>
      <p:sp>
        <p:nvSpPr>
          <p:cNvPr id="6" name="Rectangle 5"/>
          <p:cNvSpPr/>
          <p:nvPr/>
        </p:nvSpPr>
        <p:spPr>
          <a:xfrm>
            <a:off x="777240" y="1554480"/>
            <a:ext cx="10634472" cy="18288"/>
          </a:xfrm>
          <a:prstGeom prst="rect">
            <a:avLst/>
          </a:prstGeom>
          <a:solidFill>
            <a:srgbClr val="E2E8F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Rectangle 6"/>
          <p:cNvSpPr/>
          <p:nvPr/>
        </p:nvSpPr>
        <p:spPr>
          <a:xfrm>
            <a:off x="777240" y="1810512"/>
            <a:ext cx="10634472" cy="3214116"/>
          </a:xfrm>
          <a:prstGeom prst="rect">
            <a:avLst/>
          </a:prstGeom>
          <a:solidFill>
            <a:srgbClr val="0B122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TextBox 7"/>
          <p:cNvSpPr txBox="1"/>
          <p:nvPr/>
        </p:nvSpPr>
        <p:spPr>
          <a:xfrm>
            <a:off x="1097280" y="1956816"/>
            <a:ext cx="9994392" cy="2921508"/>
          </a:xfrm>
          <a:prstGeom prst="rect">
            <a:avLst/>
          </a:prstGeom>
          <a:noFill/>
        </p:spPr>
        <p:txBody>
          <a:bodyPr wrap="square" anchor="t">
            <a:spAutoFit/>
          </a:bodyPr>
          <a:lstStyle/>
          <a:p>
            <a:pPr algn="l">
              <a:spcAft>
                <a:spcPts val="300"/>
              </a:spcAft>
            </a:pPr>
            <a:r>
              <a:rPr sz="1500" b="0">
                <a:solidFill>
                  <a:srgbClr val="9CDCFE"/>
                </a:solidFill>
                <a:latin typeface="Arial"/>
              </a:rPr>
              <a:t>Three dates decide your risk (Mosca's theorem):</a:t>
            </a:r>
          </a:p>
          <a:p>
            <a:pPr algn="l">
              <a:spcAft>
                <a:spcPts val="300"/>
              </a:spcAft>
            </a:pPr>
            <a:r>
              <a:rPr sz="1500" b="0">
                <a:solidFill>
                  <a:srgbClr val="0B1220"/>
                </a:solidFill>
                <a:latin typeface="Arial"/>
              </a:rPr>
              <a:t> </a:t>
            </a:r>
          </a:p>
          <a:p>
            <a:pPr algn="l">
              <a:spcAft>
                <a:spcPts val="300"/>
              </a:spcAft>
            </a:pPr>
            <a:r>
              <a:rPr sz="1500" b="0">
                <a:solidFill>
                  <a:srgbClr val="9CDCFE"/>
                </a:solidFill>
                <a:latin typeface="Arial"/>
              </a:rPr>
              <a:t>   X  =  how long your data must stay secret        (years)</a:t>
            </a:r>
          </a:p>
          <a:p>
            <a:pPr algn="l">
              <a:spcAft>
                <a:spcPts val="300"/>
              </a:spcAft>
            </a:pPr>
            <a:r>
              <a:rPr sz="1500" b="0">
                <a:solidFill>
                  <a:srgbClr val="9CDCFE"/>
                </a:solidFill>
                <a:latin typeface="Arial"/>
              </a:rPr>
              <a:t>   Y  =  how long migration will take you           (years)</a:t>
            </a:r>
          </a:p>
          <a:p>
            <a:pPr algn="l">
              <a:spcAft>
                <a:spcPts val="300"/>
              </a:spcAft>
            </a:pPr>
            <a:r>
              <a:rPr sz="1500" b="0">
                <a:solidFill>
                  <a:srgbClr val="9CDCFE"/>
                </a:solidFill>
                <a:latin typeface="Arial"/>
              </a:rPr>
              <a:t>   Z  =  time until a cryptographically relevant QC (years)</a:t>
            </a:r>
          </a:p>
          <a:p>
            <a:pPr algn="l">
              <a:spcAft>
                <a:spcPts val="300"/>
              </a:spcAft>
            </a:pPr>
            <a:r>
              <a:rPr sz="1500" b="0">
                <a:solidFill>
                  <a:srgbClr val="0B1220"/>
                </a:solidFill>
                <a:latin typeface="Arial"/>
              </a:rPr>
              <a:t> </a:t>
            </a:r>
          </a:p>
          <a:p>
            <a:pPr algn="l">
              <a:spcAft>
                <a:spcPts val="300"/>
              </a:spcAft>
            </a:pPr>
            <a:r>
              <a:rPr sz="1500" b="0">
                <a:solidFill>
                  <a:srgbClr val="9CDCFE"/>
                </a:solidFill>
                <a:latin typeface="Arial"/>
              </a:rPr>
              <a:t>   IF   X + Y  &gt;  Z    then you are ALREADY exposed.</a:t>
            </a:r>
          </a:p>
          <a:p>
            <a:pPr algn="l">
              <a:spcAft>
                <a:spcPts val="300"/>
              </a:spcAft>
            </a:pPr>
            <a:r>
              <a:rPr sz="1500" b="0">
                <a:solidFill>
                  <a:srgbClr val="0B1220"/>
                </a:solidFill>
                <a:latin typeface="Arial"/>
              </a:rPr>
              <a:t> </a:t>
            </a:r>
          </a:p>
          <a:p>
            <a:pPr algn="l">
              <a:spcAft>
                <a:spcPts val="300"/>
              </a:spcAft>
            </a:pPr>
            <a:r>
              <a:rPr sz="1500" b="0">
                <a:solidFill>
                  <a:srgbClr val="9CDCFE"/>
                </a:solidFill>
                <a:latin typeface="Arial"/>
              </a:rPr>
              <a:t>Health records X=25y, migration Y=5y, Z estimated 10-15y  -&gt;  act now.</a:t>
            </a:r>
          </a:p>
        </p:txBody>
      </p:sp>
      <p:sp>
        <p:nvSpPr>
          <p:cNvPr id="9" name="Rectangle 8"/>
          <p:cNvSpPr/>
          <p:nvPr/>
        </p:nvSpPr>
        <p:spPr>
          <a:xfrm>
            <a:off x="777240" y="5225796"/>
            <a:ext cx="10634472" cy="827532"/>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Rectangle 9"/>
          <p:cNvSpPr/>
          <p:nvPr/>
        </p:nvSpPr>
        <p:spPr>
          <a:xfrm>
            <a:off x="777240" y="5225796"/>
            <a:ext cx="82296" cy="827532"/>
          </a:xfrm>
          <a:prstGeom prst="rect">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 name="TextBox 10"/>
          <p:cNvSpPr txBox="1"/>
          <p:nvPr/>
        </p:nvSpPr>
        <p:spPr>
          <a:xfrm>
            <a:off x="1097280" y="5225796"/>
            <a:ext cx="10149840" cy="827532"/>
          </a:xfrm>
          <a:prstGeom prst="rect">
            <a:avLst/>
          </a:prstGeom>
          <a:noFill/>
        </p:spPr>
        <p:txBody>
          <a:bodyPr wrap="square" anchor="ctr">
            <a:spAutoFit/>
          </a:bodyPr>
          <a:lstStyle/>
          <a:p>
            <a:pPr algn="l">
              <a:spcAft>
                <a:spcPts val="400"/>
              </a:spcAft>
            </a:pPr>
            <a:r>
              <a:rPr sz="1150" b="1">
                <a:solidFill>
                  <a:srgbClr val="10B981"/>
                </a:solidFill>
                <a:latin typeface="Arial"/>
              </a:rPr>
              <a:t>KEY POINT:  </a:t>
            </a:r>
            <a:r>
              <a:rPr sz="1300" b="0">
                <a:solidFill>
                  <a:srgbClr val="161B26"/>
                </a:solidFill>
                <a:latin typeface="Arial"/>
              </a:rPr>
              <a:t>Mosca's inequality turns a vague fear into a concrete deadline you can put in front of a board.</a:t>
            </a:r>
          </a:p>
        </p:txBody>
      </p:sp>
      <p:sp>
        <p:nvSpPr>
          <p:cNvPr id="12" name="TextBox 11"/>
          <p:cNvSpPr txBox="1"/>
          <p:nvPr/>
        </p:nvSpPr>
        <p:spPr>
          <a:xfrm>
            <a:off x="365760" y="6446520"/>
            <a:ext cx="6858000" cy="320040"/>
          </a:xfrm>
          <a:prstGeom prst="rect">
            <a:avLst/>
          </a:prstGeom>
          <a:noFill/>
        </p:spPr>
        <p:txBody>
          <a:bodyPr wrap="square" anchor="t">
            <a:spAutoFit/>
          </a:bodyPr>
          <a:lstStyle/>
          <a:p>
            <a:pPr algn="l">
              <a:spcAft>
                <a:spcPts val="400"/>
              </a:spcAft>
            </a:pPr>
            <a:r>
              <a:rPr sz="900" b="0">
                <a:solidFill>
                  <a:srgbClr val="5B6372"/>
                </a:solidFill>
                <a:latin typeface="Arial"/>
              </a:rPr>
              <a:t>Securing the Future with Quantum Computing and Cryptography  ·  TGS-2024043419</a:t>
            </a:r>
          </a:p>
        </p:txBody>
      </p:sp>
      <p:sp>
        <p:nvSpPr>
          <p:cNvPr id="13" name="TextBox 12"/>
          <p:cNvSpPr txBox="1"/>
          <p:nvPr/>
        </p:nvSpPr>
        <p:spPr>
          <a:xfrm>
            <a:off x="4572000" y="6446520"/>
            <a:ext cx="3017520" cy="320040"/>
          </a:xfrm>
          <a:prstGeom prst="rect">
            <a:avLst/>
          </a:prstGeom>
          <a:noFill/>
        </p:spPr>
        <p:txBody>
          <a:bodyPr wrap="square" anchor="t">
            <a:spAutoFit/>
          </a:bodyPr>
          <a:lstStyle/>
          <a:p>
            <a:pPr algn="ctr">
              <a:spcAft>
                <a:spcPts val="400"/>
              </a:spcAft>
            </a:pPr>
            <a:r>
              <a:rPr sz="900" b="0">
                <a:solidFill>
                  <a:srgbClr val="5B6372"/>
                </a:solidFill>
                <a:latin typeface="Arial"/>
              </a:rPr>
              <a:t>© 2026 Tertiary Infotech Academy Pte Ltd</a:t>
            </a:r>
          </a:p>
        </p:txBody>
      </p:sp>
      <p:sp>
        <p:nvSpPr>
          <p:cNvPr id="14" name="TextBox 13"/>
          <p:cNvSpPr txBox="1"/>
          <p:nvPr/>
        </p:nvSpPr>
        <p:spPr>
          <a:xfrm>
            <a:off x="11338560" y="6446520"/>
            <a:ext cx="548640" cy="320040"/>
          </a:xfrm>
          <a:prstGeom prst="rect">
            <a:avLst/>
          </a:prstGeom>
          <a:noFill/>
        </p:spPr>
        <p:txBody>
          <a:bodyPr wrap="square" anchor="t">
            <a:spAutoFit/>
          </a:bodyPr>
          <a:lstStyle/>
          <a:p>
            <a:pPr algn="r">
              <a:spcAft>
                <a:spcPts val="400"/>
              </a:spcAft>
            </a:pPr>
            <a:r>
              <a:rPr sz="900" b="0">
                <a:solidFill>
                  <a:srgbClr val="5B6372"/>
                </a:solidFill>
                <a:latin typeface="Arial"/>
              </a:rPr>
              <a:t>191</a:t>
            </a:r>
          </a:p>
        </p:txBody>
      </p:sp>
    </p:spTree>
  </p:cSld>
  <p:clrMapOvr>
    <a:masterClrMapping/>
  </p:clrMapOvr>
</p:sld>
</file>

<file path=ppt/slides/slide193.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256032" cy="1417320"/>
          </a:xfrm>
          <a:prstGeom prst="rect">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777240" y="457200"/>
            <a:ext cx="10607040" cy="365760"/>
          </a:xfrm>
          <a:prstGeom prst="rect">
            <a:avLst/>
          </a:prstGeom>
          <a:noFill/>
        </p:spPr>
        <p:txBody>
          <a:bodyPr wrap="square" anchor="t">
            <a:spAutoFit/>
          </a:bodyPr>
          <a:lstStyle/>
          <a:p>
            <a:pPr algn="l">
              <a:spcAft>
                <a:spcPts val="400"/>
              </a:spcAft>
            </a:pPr>
            <a:r>
              <a:rPr sz="1400" b="1">
                <a:solidFill>
                  <a:srgbClr val="1F6FEB"/>
                </a:solidFill>
                <a:latin typeface="Arial"/>
              </a:rPr>
              <a:t>WHAT TO DO ON MONDAY MORNING</a:t>
            </a:r>
          </a:p>
        </p:txBody>
      </p:sp>
      <p:sp>
        <p:nvSpPr>
          <p:cNvPr id="5" name="TextBox 4"/>
          <p:cNvSpPr txBox="1"/>
          <p:nvPr/>
        </p:nvSpPr>
        <p:spPr>
          <a:xfrm>
            <a:off x="777240" y="822960"/>
            <a:ext cx="10881360" cy="822960"/>
          </a:xfrm>
          <a:prstGeom prst="rect">
            <a:avLst/>
          </a:prstGeom>
          <a:noFill/>
        </p:spPr>
        <p:txBody>
          <a:bodyPr wrap="square" anchor="t">
            <a:spAutoFit/>
          </a:bodyPr>
          <a:lstStyle/>
          <a:p>
            <a:pPr algn="l">
              <a:spcAft>
                <a:spcPts val="400"/>
              </a:spcAft>
            </a:pPr>
            <a:r>
              <a:rPr sz="2900" b="1">
                <a:solidFill>
                  <a:srgbClr val="161B26"/>
                </a:solidFill>
                <a:latin typeface="Arial"/>
              </a:rPr>
              <a:t>Step 1 — Build a cryptographic inventory (CBOM)</a:t>
            </a:r>
          </a:p>
        </p:txBody>
      </p:sp>
      <p:sp>
        <p:nvSpPr>
          <p:cNvPr id="6" name="Rectangle 5"/>
          <p:cNvSpPr/>
          <p:nvPr/>
        </p:nvSpPr>
        <p:spPr>
          <a:xfrm>
            <a:off x="777240" y="1554480"/>
            <a:ext cx="10634472" cy="18288"/>
          </a:xfrm>
          <a:prstGeom prst="rect">
            <a:avLst/>
          </a:prstGeom>
          <a:solidFill>
            <a:srgbClr val="E2E8F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Rectangle 6"/>
          <p:cNvSpPr/>
          <p:nvPr/>
        </p:nvSpPr>
        <p:spPr>
          <a:xfrm>
            <a:off x="777240" y="1810512"/>
            <a:ext cx="10634472" cy="3520440"/>
          </a:xfrm>
          <a:prstGeom prst="rect">
            <a:avLst/>
          </a:prstGeom>
          <a:solidFill>
            <a:srgbClr val="0B122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TextBox 7"/>
          <p:cNvSpPr txBox="1"/>
          <p:nvPr/>
        </p:nvSpPr>
        <p:spPr>
          <a:xfrm>
            <a:off x="1097280" y="1956816"/>
            <a:ext cx="9994392" cy="3227832"/>
          </a:xfrm>
          <a:prstGeom prst="rect">
            <a:avLst/>
          </a:prstGeom>
          <a:noFill/>
        </p:spPr>
        <p:txBody>
          <a:bodyPr wrap="square" anchor="t">
            <a:spAutoFit/>
          </a:bodyPr>
          <a:lstStyle/>
          <a:p>
            <a:pPr algn="l">
              <a:spcAft>
                <a:spcPts val="300"/>
              </a:spcAft>
            </a:pPr>
            <a:r>
              <a:rPr sz="1320" b="0">
                <a:solidFill>
                  <a:srgbClr val="9CDCFE"/>
                </a:solidFill>
                <a:latin typeface="Arial"/>
              </a:rPr>
              <a:t>You cannot migrate what you cannot see. Enumerate:</a:t>
            </a:r>
          </a:p>
          <a:p>
            <a:pPr algn="l">
              <a:spcAft>
                <a:spcPts val="300"/>
              </a:spcAft>
            </a:pPr>
            <a:r>
              <a:rPr sz="1320" b="0">
                <a:solidFill>
                  <a:srgbClr val="0B1220"/>
                </a:solidFill>
                <a:latin typeface="Arial"/>
              </a:rPr>
              <a:t> </a:t>
            </a:r>
          </a:p>
          <a:p>
            <a:pPr algn="l">
              <a:spcAft>
                <a:spcPts val="300"/>
              </a:spcAft>
            </a:pPr>
            <a:r>
              <a:rPr sz="1320" b="0">
                <a:solidFill>
                  <a:srgbClr val="9CDCFE"/>
                </a:solidFill>
                <a:latin typeface="Arial"/>
              </a:rPr>
              <a:t>   • TLS certificates and their key algorithms</a:t>
            </a:r>
          </a:p>
          <a:p>
            <a:pPr algn="l">
              <a:spcAft>
                <a:spcPts val="300"/>
              </a:spcAft>
            </a:pPr>
            <a:r>
              <a:rPr sz="1320" b="0">
                <a:solidFill>
                  <a:srgbClr val="9CDCFE"/>
                </a:solidFill>
                <a:latin typeface="Arial"/>
              </a:rPr>
              <a:t>   • VPNs, SSH keys, code-signing certificates</a:t>
            </a:r>
          </a:p>
          <a:p>
            <a:pPr algn="l">
              <a:spcAft>
                <a:spcPts val="300"/>
              </a:spcAft>
            </a:pPr>
            <a:r>
              <a:rPr sz="1320" b="0">
                <a:solidFill>
                  <a:srgbClr val="9CDCFE"/>
                </a:solidFill>
                <a:latin typeface="Arial"/>
              </a:rPr>
              <a:t>   • database and backup encryption</a:t>
            </a:r>
          </a:p>
          <a:p>
            <a:pPr algn="l">
              <a:spcAft>
                <a:spcPts val="300"/>
              </a:spcAft>
            </a:pPr>
            <a:r>
              <a:rPr sz="1320" b="0">
                <a:solidFill>
                  <a:srgbClr val="9CDCFE"/>
                </a:solidFill>
                <a:latin typeface="Arial"/>
              </a:rPr>
              <a:t>   • hardcoded crypto in applications and firmware</a:t>
            </a:r>
          </a:p>
          <a:p>
            <a:pPr algn="l">
              <a:spcAft>
                <a:spcPts val="300"/>
              </a:spcAft>
            </a:pPr>
            <a:r>
              <a:rPr sz="1320" b="0">
                <a:solidFill>
                  <a:srgbClr val="9CDCFE"/>
                </a:solidFill>
                <a:latin typeface="Arial"/>
              </a:rPr>
              <a:t>   • third-party and SaaS dependencies</a:t>
            </a:r>
          </a:p>
          <a:p>
            <a:pPr algn="l">
              <a:spcAft>
                <a:spcPts val="300"/>
              </a:spcAft>
            </a:pPr>
            <a:r>
              <a:rPr sz="1320" b="0">
                <a:solidFill>
                  <a:srgbClr val="0B1220"/>
                </a:solidFill>
                <a:latin typeface="Arial"/>
              </a:rPr>
              <a:t> </a:t>
            </a:r>
          </a:p>
          <a:p>
            <a:pPr algn="l">
              <a:spcAft>
                <a:spcPts val="300"/>
              </a:spcAft>
            </a:pPr>
            <a:r>
              <a:rPr sz="1320" b="0">
                <a:solidFill>
                  <a:srgbClr val="9CDCFE"/>
                </a:solidFill>
                <a:latin typeface="Arial"/>
              </a:rPr>
              <a:t>Produce a Cryptographic Bill of Materials (CBOM). Tools: CBOM/CycloneDX,</a:t>
            </a:r>
          </a:p>
          <a:p>
            <a:pPr algn="l">
              <a:spcAft>
                <a:spcPts val="300"/>
              </a:spcAft>
            </a:pPr>
            <a:r>
              <a:rPr sz="1320" b="0">
                <a:solidFill>
                  <a:srgbClr val="9CDCFE"/>
                </a:solidFill>
                <a:latin typeface="Arial"/>
              </a:rPr>
              <a:t>sslyze, openssl scanning, source-code scanners.</a:t>
            </a:r>
          </a:p>
        </p:txBody>
      </p:sp>
      <p:sp>
        <p:nvSpPr>
          <p:cNvPr id="9" name="Rectangle 8"/>
          <p:cNvSpPr/>
          <p:nvPr/>
        </p:nvSpPr>
        <p:spPr>
          <a:xfrm>
            <a:off x="777240" y="5532120"/>
            <a:ext cx="10634472" cy="521208"/>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Rectangle 9"/>
          <p:cNvSpPr/>
          <p:nvPr/>
        </p:nvSpPr>
        <p:spPr>
          <a:xfrm>
            <a:off x="777240" y="5532120"/>
            <a:ext cx="82296" cy="521208"/>
          </a:xfrm>
          <a:prstGeom prst="rect">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 name="TextBox 10"/>
          <p:cNvSpPr txBox="1"/>
          <p:nvPr/>
        </p:nvSpPr>
        <p:spPr>
          <a:xfrm>
            <a:off x="1097280" y="5532120"/>
            <a:ext cx="10149840" cy="521208"/>
          </a:xfrm>
          <a:prstGeom prst="rect">
            <a:avLst/>
          </a:prstGeom>
          <a:noFill/>
        </p:spPr>
        <p:txBody>
          <a:bodyPr wrap="square" anchor="ctr">
            <a:spAutoFit/>
          </a:bodyPr>
          <a:lstStyle/>
          <a:p>
            <a:pPr algn="l">
              <a:spcAft>
                <a:spcPts val="400"/>
              </a:spcAft>
            </a:pPr>
            <a:r>
              <a:rPr sz="1150" b="1">
                <a:solidFill>
                  <a:srgbClr val="10B981"/>
                </a:solidFill>
                <a:latin typeface="Arial"/>
              </a:rPr>
              <a:t>KEY POINT:  </a:t>
            </a:r>
            <a:r>
              <a:rPr sz="1300" b="0">
                <a:solidFill>
                  <a:srgbClr val="161B26"/>
                </a:solidFill>
                <a:latin typeface="Arial"/>
              </a:rPr>
              <a:t>Most organisations discover far more RSA and ECC than they expected, especially embedded in vendor products.</a:t>
            </a:r>
          </a:p>
        </p:txBody>
      </p:sp>
      <p:sp>
        <p:nvSpPr>
          <p:cNvPr id="12" name="TextBox 11"/>
          <p:cNvSpPr txBox="1"/>
          <p:nvPr/>
        </p:nvSpPr>
        <p:spPr>
          <a:xfrm>
            <a:off x="365760" y="6446520"/>
            <a:ext cx="6858000" cy="320040"/>
          </a:xfrm>
          <a:prstGeom prst="rect">
            <a:avLst/>
          </a:prstGeom>
          <a:noFill/>
        </p:spPr>
        <p:txBody>
          <a:bodyPr wrap="square" anchor="t">
            <a:spAutoFit/>
          </a:bodyPr>
          <a:lstStyle/>
          <a:p>
            <a:pPr algn="l">
              <a:spcAft>
                <a:spcPts val="400"/>
              </a:spcAft>
            </a:pPr>
            <a:r>
              <a:rPr sz="900" b="0">
                <a:solidFill>
                  <a:srgbClr val="5B6372"/>
                </a:solidFill>
                <a:latin typeface="Arial"/>
              </a:rPr>
              <a:t>Securing the Future with Quantum Computing and Cryptography  ·  TGS-2024043419</a:t>
            </a:r>
          </a:p>
        </p:txBody>
      </p:sp>
      <p:sp>
        <p:nvSpPr>
          <p:cNvPr id="13" name="TextBox 12"/>
          <p:cNvSpPr txBox="1"/>
          <p:nvPr/>
        </p:nvSpPr>
        <p:spPr>
          <a:xfrm>
            <a:off x="4572000" y="6446520"/>
            <a:ext cx="3017520" cy="320040"/>
          </a:xfrm>
          <a:prstGeom prst="rect">
            <a:avLst/>
          </a:prstGeom>
          <a:noFill/>
        </p:spPr>
        <p:txBody>
          <a:bodyPr wrap="square" anchor="t">
            <a:spAutoFit/>
          </a:bodyPr>
          <a:lstStyle/>
          <a:p>
            <a:pPr algn="ctr">
              <a:spcAft>
                <a:spcPts val="400"/>
              </a:spcAft>
            </a:pPr>
            <a:r>
              <a:rPr sz="900" b="0">
                <a:solidFill>
                  <a:srgbClr val="5B6372"/>
                </a:solidFill>
                <a:latin typeface="Arial"/>
              </a:rPr>
              <a:t>© 2026 Tertiary Infotech Academy Pte Ltd</a:t>
            </a:r>
          </a:p>
        </p:txBody>
      </p:sp>
      <p:sp>
        <p:nvSpPr>
          <p:cNvPr id="14" name="TextBox 13"/>
          <p:cNvSpPr txBox="1"/>
          <p:nvPr/>
        </p:nvSpPr>
        <p:spPr>
          <a:xfrm>
            <a:off x="11338560" y="6446520"/>
            <a:ext cx="548640" cy="320040"/>
          </a:xfrm>
          <a:prstGeom prst="rect">
            <a:avLst/>
          </a:prstGeom>
          <a:noFill/>
        </p:spPr>
        <p:txBody>
          <a:bodyPr wrap="square" anchor="t">
            <a:spAutoFit/>
          </a:bodyPr>
          <a:lstStyle/>
          <a:p>
            <a:pPr algn="r">
              <a:spcAft>
                <a:spcPts val="400"/>
              </a:spcAft>
            </a:pPr>
            <a:r>
              <a:rPr sz="900" b="0">
                <a:solidFill>
                  <a:srgbClr val="5B6372"/>
                </a:solidFill>
                <a:latin typeface="Arial"/>
              </a:rPr>
              <a:t>192</a:t>
            </a:r>
          </a:p>
        </p:txBody>
      </p:sp>
    </p:spTree>
  </p:cSld>
  <p:clrMapOvr>
    <a:masterClrMapping/>
  </p:clrMapOvr>
</p:sld>
</file>

<file path=ppt/slides/slide194.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256032" cy="1417320"/>
          </a:xfrm>
          <a:prstGeom prst="rect">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777240" y="457200"/>
            <a:ext cx="10607040" cy="365760"/>
          </a:xfrm>
          <a:prstGeom prst="rect">
            <a:avLst/>
          </a:prstGeom>
          <a:noFill/>
        </p:spPr>
        <p:txBody>
          <a:bodyPr wrap="square" anchor="t">
            <a:spAutoFit/>
          </a:bodyPr>
          <a:lstStyle/>
          <a:p>
            <a:pPr algn="l">
              <a:spcAft>
                <a:spcPts val="400"/>
              </a:spcAft>
            </a:pPr>
            <a:r>
              <a:rPr sz="1400" b="1">
                <a:solidFill>
                  <a:srgbClr val="1F6FEB"/>
                </a:solidFill>
                <a:latin typeface="Arial"/>
              </a:rPr>
              <a:t>WHAT TO DO ON MONDAY MORNING</a:t>
            </a:r>
          </a:p>
        </p:txBody>
      </p:sp>
      <p:sp>
        <p:nvSpPr>
          <p:cNvPr id="5" name="TextBox 4"/>
          <p:cNvSpPr txBox="1"/>
          <p:nvPr/>
        </p:nvSpPr>
        <p:spPr>
          <a:xfrm>
            <a:off x="777240" y="822960"/>
            <a:ext cx="10881360" cy="822960"/>
          </a:xfrm>
          <a:prstGeom prst="rect">
            <a:avLst/>
          </a:prstGeom>
          <a:noFill/>
        </p:spPr>
        <p:txBody>
          <a:bodyPr wrap="square" anchor="t">
            <a:spAutoFit/>
          </a:bodyPr>
          <a:lstStyle/>
          <a:p>
            <a:pPr algn="l">
              <a:spcAft>
                <a:spcPts val="400"/>
              </a:spcAft>
            </a:pPr>
            <a:r>
              <a:rPr sz="2900" b="1">
                <a:solidFill>
                  <a:srgbClr val="161B26"/>
                </a:solidFill>
                <a:latin typeface="Arial"/>
              </a:rPr>
              <a:t>Step 2 — Classify and prioritise</a:t>
            </a:r>
          </a:p>
        </p:txBody>
      </p:sp>
      <p:sp>
        <p:nvSpPr>
          <p:cNvPr id="6" name="Rectangle 5"/>
          <p:cNvSpPr/>
          <p:nvPr/>
        </p:nvSpPr>
        <p:spPr>
          <a:xfrm>
            <a:off x="777240" y="1554480"/>
            <a:ext cx="10634472" cy="18288"/>
          </a:xfrm>
          <a:prstGeom prst="rect">
            <a:avLst/>
          </a:prstGeom>
          <a:solidFill>
            <a:srgbClr val="E2E8F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Rectangle 6"/>
          <p:cNvSpPr/>
          <p:nvPr/>
        </p:nvSpPr>
        <p:spPr>
          <a:xfrm>
            <a:off x="777240" y="1810512"/>
            <a:ext cx="10634472" cy="2907792"/>
          </a:xfrm>
          <a:prstGeom prst="rect">
            <a:avLst/>
          </a:prstGeom>
          <a:solidFill>
            <a:srgbClr val="0B122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TextBox 7"/>
          <p:cNvSpPr txBox="1"/>
          <p:nvPr/>
        </p:nvSpPr>
        <p:spPr>
          <a:xfrm>
            <a:off x="1097280" y="1956816"/>
            <a:ext cx="9994392" cy="2615184"/>
          </a:xfrm>
          <a:prstGeom prst="rect">
            <a:avLst/>
          </a:prstGeom>
          <a:noFill/>
        </p:spPr>
        <p:txBody>
          <a:bodyPr wrap="square" anchor="t">
            <a:spAutoFit/>
          </a:bodyPr>
          <a:lstStyle/>
          <a:p>
            <a:pPr algn="l">
              <a:spcAft>
                <a:spcPts val="300"/>
              </a:spcAft>
            </a:pPr>
            <a:r>
              <a:rPr sz="1500" b="0">
                <a:solidFill>
                  <a:srgbClr val="9CDCFE"/>
                </a:solidFill>
                <a:latin typeface="Arial"/>
              </a:rPr>
              <a:t>   BROKEN by Shor      RSA, ECC, ECDSA, ECDH, DH, DSA   -&gt;  must replace</a:t>
            </a:r>
          </a:p>
          <a:p>
            <a:pPr algn="l">
              <a:spcAft>
                <a:spcPts val="300"/>
              </a:spcAft>
            </a:pPr>
            <a:r>
              <a:rPr sz="1500" b="0">
                <a:solidFill>
                  <a:srgbClr val="9CDCFE"/>
                </a:solidFill>
                <a:latin typeface="Arial"/>
              </a:rPr>
              <a:t>   WEAKENED by Grover  AES-128, SHA-256                 -&gt;  double key size</a:t>
            </a:r>
          </a:p>
          <a:p>
            <a:pPr algn="l">
              <a:spcAft>
                <a:spcPts val="300"/>
              </a:spcAft>
            </a:pPr>
            <a:r>
              <a:rPr sz="1500" b="0">
                <a:solidFill>
                  <a:srgbClr val="9CDCFE"/>
                </a:solidFill>
                <a:latin typeface="Arial"/>
              </a:rPr>
              <a:t>   SAFE                AES-256, SHA-512, SHA-3          -&gt;  keep</a:t>
            </a:r>
          </a:p>
          <a:p>
            <a:pPr algn="l">
              <a:spcAft>
                <a:spcPts val="300"/>
              </a:spcAft>
            </a:pPr>
            <a:r>
              <a:rPr sz="1500" b="0">
                <a:solidFill>
                  <a:srgbClr val="0B1220"/>
                </a:solidFill>
                <a:latin typeface="Arial"/>
              </a:rPr>
              <a:t> </a:t>
            </a:r>
          </a:p>
          <a:p>
            <a:pPr algn="l">
              <a:spcAft>
                <a:spcPts val="300"/>
              </a:spcAft>
            </a:pPr>
            <a:r>
              <a:rPr sz="1500" b="0">
                <a:solidFill>
                  <a:srgbClr val="9CDCFE"/>
                </a:solidFill>
                <a:latin typeface="Arial"/>
              </a:rPr>
              <a:t>Priority score = (data lifetime) × (exposure) × (replacement difficulty)</a:t>
            </a:r>
          </a:p>
          <a:p>
            <a:pPr algn="l">
              <a:spcAft>
                <a:spcPts val="300"/>
              </a:spcAft>
            </a:pPr>
            <a:r>
              <a:rPr sz="1500" b="0">
                <a:solidFill>
                  <a:srgbClr val="0B1220"/>
                </a:solidFill>
                <a:latin typeface="Arial"/>
              </a:rPr>
              <a:t> </a:t>
            </a:r>
          </a:p>
          <a:p>
            <a:pPr algn="l">
              <a:spcAft>
                <a:spcPts val="300"/>
              </a:spcAft>
            </a:pPr>
            <a:r>
              <a:rPr sz="1500" b="0">
                <a:solidFill>
                  <a:srgbClr val="9CDCFE"/>
                </a:solidFill>
                <a:latin typeface="Arial"/>
              </a:rPr>
              <a:t>Rank highest: long-lived secrets, long-lived devices, anything whose</a:t>
            </a:r>
          </a:p>
          <a:p>
            <a:pPr algn="l">
              <a:spcAft>
                <a:spcPts val="300"/>
              </a:spcAft>
            </a:pPr>
            <a:r>
              <a:rPr sz="1500" b="0">
                <a:solidFill>
                  <a:srgbClr val="9CDCFE"/>
                </a:solidFill>
                <a:latin typeface="Arial"/>
              </a:rPr>
              <a:t>traffic crosses an untrusted network today.</a:t>
            </a:r>
          </a:p>
        </p:txBody>
      </p:sp>
      <p:sp>
        <p:nvSpPr>
          <p:cNvPr id="9" name="Rectangle 8"/>
          <p:cNvSpPr/>
          <p:nvPr/>
        </p:nvSpPr>
        <p:spPr>
          <a:xfrm>
            <a:off x="777240" y="4919472"/>
            <a:ext cx="10634472" cy="1133856"/>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Rectangle 9"/>
          <p:cNvSpPr/>
          <p:nvPr/>
        </p:nvSpPr>
        <p:spPr>
          <a:xfrm>
            <a:off x="777240" y="4919472"/>
            <a:ext cx="82296" cy="1133856"/>
          </a:xfrm>
          <a:prstGeom prst="rect">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 name="TextBox 10"/>
          <p:cNvSpPr txBox="1"/>
          <p:nvPr/>
        </p:nvSpPr>
        <p:spPr>
          <a:xfrm>
            <a:off x="1097280" y="4919472"/>
            <a:ext cx="10149840" cy="1133856"/>
          </a:xfrm>
          <a:prstGeom prst="rect">
            <a:avLst/>
          </a:prstGeom>
          <a:noFill/>
        </p:spPr>
        <p:txBody>
          <a:bodyPr wrap="square" anchor="ctr">
            <a:spAutoFit/>
          </a:bodyPr>
          <a:lstStyle/>
          <a:p>
            <a:pPr algn="l">
              <a:spcAft>
                <a:spcPts val="400"/>
              </a:spcAft>
            </a:pPr>
            <a:r>
              <a:rPr sz="1150" b="1">
                <a:solidFill>
                  <a:srgbClr val="10B981"/>
                </a:solidFill>
                <a:latin typeface="Arial"/>
              </a:rPr>
              <a:t>KEY POINT:  </a:t>
            </a:r>
            <a:r>
              <a:rPr sz="1300" b="0">
                <a:solidFill>
                  <a:srgbClr val="161B26"/>
                </a:solidFill>
                <a:latin typeface="Arial"/>
              </a:rPr>
              <a:t>Harvest-now-decrypt-later means long confidentiality lifetimes dominate the ranking — not how sensitive the system feels today.</a:t>
            </a:r>
          </a:p>
        </p:txBody>
      </p:sp>
      <p:sp>
        <p:nvSpPr>
          <p:cNvPr id="12" name="TextBox 11"/>
          <p:cNvSpPr txBox="1"/>
          <p:nvPr/>
        </p:nvSpPr>
        <p:spPr>
          <a:xfrm>
            <a:off x="365760" y="6446520"/>
            <a:ext cx="6858000" cy="320040"/>
          </a:xfrm>
          <a:prstGeom prst="rect">
            <a:avLst/>
          </a:prstGeom>
          <a:noFill/>
        </p:spPr>
        <p:txBody>
          <a:bodyPr wrap="square" anchor="t">
            <a:spAutoFit/>
          </a:bodyPr>
          <a:lstStyle/>
          <a:p>
            <a:pPr algn="l">
              <a:spcAft>
                <a:spcPts val="400"/>
              </a:spcAft>
            </a:pPr>
            <a:r>
              <a:rPr sz="900" b="0">
                <a:solidFill>
                  <a:srgbClr val="5B6372"/>
                </a:solidFill>
                <a:latin typeface="Arial"/>
              </a:rPr>
              <a:t>Securing the Future with Quantum Computing and Cryptography  ·  TGS-2024043419</a:t>
            </a:r>
          </a:p>
        </p:txBody>
      </p:sp>
      <p:sp>
        <p:nvSpPr>
          <p:cNvPr id="13" name="TextBox 12"/>
          <p:cNvSpPr txBox="1"/>
          <p:nvPr/>
        </p:nvSpPr>
        <p:spPr>
          <a:xfrm>
            <a:off x="4572000" y="6446520"/>
            <a:ext cx="3017520" cy="320040"/>
          </a:xfrm>
          <a:prstGeom prst="rect">
            <a:avLst/>
          </a:prstGeom>
          <a:noFill/>
        </p:spPr>
        <p:txBody>
          <a:bodyPr wrap="square" anchor="t">
            <a:spAutoFit/>
          </a:bodyPr>
          <a:lstStyle/>
          <a:p>
            <a:pPr algn="ctr">
              <a:spcAft>
                <a:spcPts val="400"/>
              </a:spcAft>
            </a:pPr>
            <a:r>
              <a:rPr sz="900" b="0">
                <a:solidFill>
                  <a:srgbClr val="5B6372"/>
                </a:solidFill>
                <a:latin typeface="Arial"/>
              </a:rPr>
              <a:t>© 2026 Tertiary Infotech Academy Pte Ltd</a:t>
            </a:r>
          </a:p>
        </p:txBody>
      </p:sp>
      <p:sp>
        <p:nvSpPr>
          <p:cNvPr id="14" name="TextBox 13"/>
          <p:cNvSpPr txBox="1"/>
          <p:nvPr/>
        </p:nvSpPr>
        <p:spPr>
          <a:xfrm>
            <a:off x="11338560" y="6446520"/>
            <a:ext cx="548640" cy="320040"/>
          </a:xfrm>
          <a:prstGeom prst="rect">
            <a:avLst/>
          </a:prstGeom>
          <a:noFill/>
        </p:spPr>
        <p:txBody>
          <a:bodyPr wrap="square" anchor="t">
            <a:spAutoFit/>
          </a:bodyPr>
          <a:lstStyle/>
          <a:p>
            <a:pPr algn="r">
              <a:spcAft>
                <a:spcPts val="400"/>
              </a:spcAft>
            </a:pPr>
            <a:r>
              <a:rPr sz="900" b="0">
                <a:solidFill>
                  <a:srgbClr val="5B6372"/>
                </a:solidFill>
                <a:latin typeface="Arial"/>
              </a:rPr>
              <a:t>193</a:t>
            </a:r>
          </a:p>
        </p:txBody>
      </p:sp>
    </p:spTree>
  </p:cSld>
  <p:clrMapOvr>
    <a:masterClrMapping/>
  </p:clrMapOvr>
</p:sld>
</file>

<file path=ppt/slides/slide195.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256032" cy="1417320"/>
          </a:xfrm>
          <a:prstGeom prst="rect">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777240" y="457200"/>
            <a:ext cx="10607040" cy="365760"/>
          </a:xfrm>
          <a:prstGeom prst="rect">
            <a:avLst/>
          </a:prstGeom>
          <a:noFill/>
        </p:spPr>
        <p:txBody>
          <a:bodyPr wrap="square" anchor="t">
            <a:spAutoFit/>
          </a:bodyPr>
          <a:lstStyle/>
          <a:p>
            <a:pPr algn="l">
              <a:spcAft>
                <a:spcPts val="400"/>
              </a:spcAft>
            </a:pPr>
            <a:r>
              <a:rPr sz="1400" b="1">
                <a:solidFill>
                  <a:srgbClr val="1F6FEB"/>
                </a:solidFill>
                <a:latin typeface="Arial"/>
              </a:rPr>
              <a:t>WHAT TO DO ON MONDAY MORNING</a:t>
            </a:r>
          </a:p>
        </p:txBody>
      </p:sp>
      <p:sp>
        <p:nvSpPr>
          <p:cNvPr id="5" name="TextBox 4"/>
          <p:cNvSpPr txBox="1"/>
          <p:nvPr/>
        </p:nvSpPr>
        <p:spPr>
          <a:xfrm>
            <a:off x="777240" y="822960"/>
            <a:ext cx="10881360" cy="822960"/>
          </a:xfrm>
          <a:prstGeom prst="rect">
            <a:avLst/>
          </a:prstGeom>
          <a:noFill/>
        </p:spPr>
        <p:txBody>
          <a:bodyPr wrap="square" anchor="t">
            <a:spAutoFit/>
          </a:bodyPr>
          <a:lstStyle/>
          <a:p>
            <a:pPr algn="l">
              <a:spcAft>
                <a:spcPts val="400"/>
              </a:spcAft>
            </a:pPr>
            <a:r>
              <a:rPr sz="2900" b="1">
                <a:solidFill>
                  <a:srgbClr val="161B26"/>
                </a:solidFill>
                <a:latin typeface="Arial"/>
              </a:rPr>
              <a:t>Step 3 — Deploy the NIST standards</a:t>
            </a:r>
          </a:p>
        </p:txBody>
      </p:sp>
      <p:sp>
        <p:nvSpPr>
          <p:cNvPr id="6" name="Rectangle 5"/>
          <p:cNvSpPr/>
          <p:nvPr/>
        </p:nvSpPr>
        <p:spPr>
          <a:xfrm>
            <a:off x="777240" y="1554480"/>
            <a:ext cx="10634472" cy="18288"/>
          </a:xfrm>
          <a:prstGeom prst="rect">
            <a:avLst/>
          </a:prstGeom>
          <a:solidFill>
            <a:srgbClr val="E2E8F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Rectangle 6"/>
          <p:cNvSpPr/>
          <p:nvPr/>
        </p:nvSpPr>
        <p:spPr>
          <a:xfrm>
            <a:off x="777240" y="1810512"/>
            <a:ext cx="10634472" cy="2601468"/>
          </a:xfrm>
          <a:prstGeom prst="rect">
            <a:avLst/>
          </a:prstGeom>
          <a:solidFill>
            <a:srgbClr val="0B122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TextBox 7"/>
          <p:cNvSpPr txBox="1"/>
          <p:nvPr/>
        </p:nvSpPr>
        <p:spPr>
          <a:xfrm>
            <a:off x="1097280" y="1956816"/>
            <a:ext cx="9994392" cy="2308860"/>
          </a:xfrm>
          <a:prstGeom prst="rect">
            <a:avLst/>
          </a:prstGeom>
          <a:noFill/>
        </p:spPr>
        <p:txBody>
          <a:bodyPr wrap="square" anchor="t">
            <a:spAutoFit/>
          </a:bodyPr>
          <a:lstStyle/>
          <a:p>
            <a:pPr algn="l">
              <a:spcAft>
                <a:spcPts val="300"/>
              </a:spcAft>
            </a:pPr>
            <a:r>
              <a:rPr sz="1500" b="0">
                <a:solidFill>
                  <a:srgbClr val="9CDCFE"/>
                </a:solidFill>
                <a:latin typeface="Arial"/>
              </a:rPr>
              <a:t>   FIPS 203  ML-KEM   (Kyber)     key encapsulation — replaces RSA/ECDH</a:t>
            </a:r>
          </a:p>
          <a:p>
            <a:pPr algn="l">
              <a:spcAft>
                <a:spcPts val="300"/>
              </a:spcAft>
            </a:pPr>
            <a:r>
              <a:rPr sz="1500" b="0">
                <a:solidFill>
                  <a:srgbClr val="9CDCFE"/>
                </a:solidFill>
                <a:latin typeface="Arial"/>
              </a:rPr>
              <a:t>   FIPS 204  ML-DSA   (Dilithium) signatures — the general-purpose default</a:t>
            </a:r>
          </a:p>
          <a:p>
            <a:pPr algn="l">
              <a:spcAft>
                <a:spcPts val="300"/>
              </a:spcAft>
            </a:pPr>
            <a:r>
              <a:rPr sz="1500" b="0">
                <a:solidFill>
                  <a:srgbClr val="9CDCFE"/>
                </a:solidFill>
                <a:latin typeface="Arial"/>
              </a:rPr>
              <a:t>   FIPS 205  SLH-DSA  (SPHINCS+)  hash-based signatures — conservative backup</a:t>
            </a:r>
          </a:p>
          <a:p>
            <a:pPr algn="l">
              <a:spcAft>
                <a:spcPts val="300"/>
              </a:spcAft>
            </a:pPr>
            <a:r>
              <a:rPr sz="1500" b="0">
                <a:solidFill>
                  <a:srgbClr val="9CDCFE"/>
                </a:solidFill>
                <a:latin typeface="Arial"/>
              </a:rPr>
              <a:t>   2025      HQC                  code-based KEM — algorithmic diversity</a:t>
            </a:r>
          </a:p>
          <a:p>
            <a:pPr algn="l">
              <a:spcAft>
                <a:spcPts val="300"/>
              </a:spcAft>
            </a:pPr>
            <a:r>
              <a:rPr sz="1500" b="0">
                <a:solidFill>
                  <a:srgbClr val="0B1220"/>
                </a:solidFill>
                <a:latin typeface="Arial"/>
              </a:rPr>
              <a:t> </a:t>
            </a:r>
          </a:p>
          <a:p>
            <a:pPr algn="l">
              <a:spcAft>
                <a:spcPts val="300"/>
              </a:spcAft>
            </a:pPr>
            <a:r>
              <a:rPr sz="1500" b="0">
                <a:solidFill>
                  <a:srgbClr val="9CDCFE"/>
                </a:solidFill>
                <a:latin typeface="Arial"/>
              </a:rPr>
              <a:t>Chosen for structural DIVERSITY: lattice, hash and code-based problems,</a:t>
            </a:r>
          </a:p>
          <a:p>
            <a:pPr algn="l">
              <a:spcAft>
                <a:spcPts val="300"/>
              </a:spcAft>
            </a:pPr>
            <a:r>
              <a:rPr sz="1500" b="0">
                <a:solidFill>
                  <a:srgbClr val="9CDCFE"/>
                </a:solidFill>
                <a:latin typeface="Arial"/>
              </a:rPr>
              <a:t>so one mathematical breakthrough cannot break everything at once.</a:t>
            </a:r>
          </a:p>
        </p:txBody>
      </p:sp>
      <p:sp>
        <p:nvSpPr>
          <p:cNvPr id="9" name="Rectangle 8"/>
          <p:cNvSpPr/>
          <p:nvPr/>
        </p:nvSpPr>
        <p:spPr>
          <a:xfrm>
            <a:off x="777240" y="4613148"/>
            <a:ext cx="10634472" cy="1440180"/>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Rectangle 9"/>
          <p:cNvSpPr/>
          <p:nvPr/>
        </p:nvSpPr>
        <p:spPr>
          <a:xfrm>
            <a:off x="777240" y="4613148"/>
            <a:ext cx="82296" cy="1440180"/>
          </a:xfrm>
          <a:prstGeom prst="rect">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 name="TextBox 10"/>
          <p:cNvSpPr txBox="1"/>
          <p:nvPr/>
        </p:nvSpPr>
        <p:spPr>
          <a:xfrm>
            <a:off x="1097280" y="4613148"/>
            <a:ext cx="10149840" cy="1440180"/>
          </a:xfrm>
          <a:prstGeom prst="rect">
            <a:avLst/>
          </a:prstGeom>
          <a:noFill/>
        </p:spPr>
        <p:txBody>
          <a:bodyPr wrap="square" anchor="ctr">
            <a:spAutoFit/>
          </a:bodyPr>
          <a:lstStyle/>
          <a:p>
            <a:pPr algn="l">
              <a:spcAft>
                <a:spcPts val="400"/>
              </a:spcAft>
            </a:pPr>
            <a:r>
              <a:rPr sz="1150" b="1">
                <a:solidFill>
                  <a:srgbClr val="10B981"/>
                </a:solidFill>
                <a:latin typeface="Arial"/>
              </a:rPr>
              <a:t>KEY POINT:  </a:t>
            </a:r>
            <a:r>
              <a:rPr sz="1300" b="0">
                <a:solidFill>
                  <a:srgbClr val="161B26"/>
                </a:solidFill>
                <a:latin typeface="Arial"/>
              </a:rPr>
              <a:t>SLH-DSA has larger signatures but rests only on hash-function security — the most conservative assumption available.</a:t>
            </a:r>
          </a:p>
        </p:txBody>
      </p:sp>
      <p:sp>
        <p:nvSpPr>
          <p:cNvPr id="12" name="TextBox 11"/>
          <p:cNvSpPr txBox="1"/>
          <p:nvPr/>
        </p:nvSpPr>
        <p:spPr>
          <a:xfrm>
            <a:off x="365760" y="6446520"/>
            <a:ext cx="6858000" cy="320040"/>
          </a:xfrm>
          <a:prstGeom prst="rect">
            <a:avLst/>
          </a:prstGeom>
          <a:noFill/>
        </p:spPr>
        <p:txBody>
          <a:bodyPr wrap="square" anchor="t">
            <a:spAutoFit/>
          </a:bodyPr>
          <a:lstStyle/>
          <a:p>
            <a:pPr algn="l">
              <a:spcAft>
                <a:spcPts val="400"/>
              </a:spcAft>
            </a:pPr>
            <a:r>
              <a:rPr sz="900" b="0">
                <a:solidFill>
                  <a:srgbClr val="5B6372"/>
                </a:solidFill>
                <a:latin typeface="Arial"/>
              </a:rPr>
              <a:t>Securing the Future with Quantum Computing and Cryptography  ·  TGS-2024043419</a:t>
            </a:r>
          </a:p>
        </p:txBody>
      </p:sp>
      <p:sp>
        <p:nvSpPr>
          <p:cNvPr id="13" name="TextBox 12"/>
          <p:cNvSpPr txBox="1"/>
          <p:nvPr/>
        </p:nvSpPr>
        <p:spPr>
          <a:xfrm>
            <a:off x="4572000" y="6446520"/>
            <a:ext cx="3017520" cy="320040"/>
          </a:xfrm>
          <a:prstGeom prst="rect">
            <a:avLst/>
          </a:prstGeom>
          <a:noFill/>
        </p:spPr>
        <p:txBody>
          <a:bodyPr wrap="square" anchor="t">
            <a:spAutoFit/>
          </a:bodyPr>
          <a:lstStyle/>
          <a:p>
            <a:pPr algn="ctr">
              <a:spcAft>
                <a:spcPts val="400"/>
              </a:spcAft>
            </a:pPr>
            <a:r>
              <a:rPr sz="900" b="0">
                <a:solidFill>
                  <a:srgbClr val="5B6372"/>
                </a:solidFill>
                <a:latin typeface="Arial"/>
              </a:rPr>
              <a:t>© 2026 Tertiary Infotech Academy Pte Ltd</a:t>
            </a:r>
          </a:p>
        </p:txBody>
      </p:sp>
      <p:sp>
        <p:nvSpPr>
          <p:cNvPr id="14" name="TextBox 13"/>
          <p:cNvSpPr txBox="1"/>
          <p:nvPr/>
        </p:nvSpPr>
        <p:spPr>
          <a:xfrm>
            <a:off x="11338560" y="6446520"/>
            <a:ext cx="548640" cy="320040"/>
          </a:xfrm>
          <a:prstGeom prst="rect">
            <a:avLst/>
          </a:prstGeom>
          <a:noFill/>
        </p:spPr>
        <p:txBody>
          <a:bodyPr wrap="square" anchor="t">
            <a:spAutoFit/>
          </a:bodyPr>
          <a:lstStyle/>
          <a:p>
            <a:pPr algn="r">
              <a:spcAft>
                <a:spcPts val="400"/>
              </a:spcAft>
            </a:pPr>
            <a:r>
              <a:rPr sz="900" b="0">
                <a:solidFill>
                  <a:srgbClr val="5B6372"/>
                </a:solidFill>
                <a:latin typeface="Arial"/>
              </a:rPr>
              <a:t>194</a:t>
            </a:r>
          </a:p>
        </p:txBody>
      </p:sp>
    </p:spTree>
  </p:cSld>
  <p:clrMapOvr>
    <a:masterClrMapping/>
  </p:clrMapOvr>
</p:sld>
</file>

<file path=ppt/slides/slide196.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256032" cy="1417320"/>
          </a:xfrm>
          <a:prstGeom prst="rect">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777240" y="457200"/>
            <a:ext cx="10607040" cy="365760"/>
          </a:xfrm>
          <a:prstGeom prst="rect">
            <a:avLst/>
          </a:prstGeom>
          <a:noFill/>
        </p:spPr>
        <p:txBody>
          <a:bodyPr wrap="square" anchor="t">
            <a:spAutoFit/>
          </a:bodyPr>
          <a:lstStyle/>
          <a:p>
            <a:pPr algn="l">
              <a:spcAft>
                <a:spcPts val="400"/>
              </a:spcAft>
            </a:pPr>
            <a:r>
              <a:rPr sz="1400" b="1">
                <a:solidFill>
                  <a:srgbClr val="1F6FEB"/>
                </a:solidFill>
                <a:latin typeface="Arial"/>
              </a:rPr>
              <a:t>WHAT TO DO ON MONDAY MORNING</a:t>
            </a:r>
          </a:p>
        </p:txBody>
      </p:sp>
      <p:sp>
        <p:nvSpPr>
          <p:cNvPr id="5" name="TextBox 4"/>
          <p:cNvSpPr txBox="1"/>
          <p:nvPr/>
        </p:nvSpPr>
        <p:spPr>
          <a:xfrm>
            <a:off x="777240" y="822960"/>
            <a:ext cx="10881360" cy="822960"/>
          </a:xfrm>
          <a:prstGeom prst="rect">
            <a:avLst/>
          </a:prstGeom>
          <a:noFill/>
        </p:spPr>
        <p:txBody>
          <a:bodyPr wrap="square" anchor="t">
            <a:spAutoFit/>
          </a:bodyPr>
          <a:lstStyle/>
          <a:p>
            <a:pPr algn="l">
              <a:spcAft>
                <a:spcPts val="400"/>
              </a:spcAft>
            </a:pPr>
            <a:r>
              <a:rPr sz="2900" b="1">
                <a:solidFill>
                  <a:srgbClr val="161B26"/>
                </a:solidFill>
                <a:latin typeface="Arial"/>
              </a:rPr>
              <a:t>Step 4 — Hybrid mode during transition</a:t>
            </a:r>
          </a:p>
        </p:txBody>
      </p:sp>
      <p:sp>
        <p:nvSpPr>
          <p:cNvPr id="6" name="Rectangle 5"/>
          <p:cNvSpPr/>
          <p:nvPr/>
        </p:nvSpPr>
        <p:spPr>
          <a:xfrm>
            <a:off x="777240" y="1554480"/>
            <a:ext cx="10634472" cy="18288"/>
          </a:xfrm>
          <a:prstGeom prst="rect">
            <a:avLst/>
          </a:prstGeom>
          <a:solidFill>
            <a:srgbClr val="E2E8F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Rectangle 6"/>
          <p:cNvSpPr/>
          <p:nvPr/>
        </p:nvSpPr>
        <p:spPr>
          <a:xfrm>
            <a:off x="777240" y="1810512"/>
            <a:ext cx="10634472" cy="2907792"/>
          </a:xfrm>
          <a:prstGeom prst="rect">
            <a:avLst/>
          </a:prstGeom>
          <a:solidFill>
            <a:srgbClr val="0B122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TextBox 7"/>
          <p:cNvSpPr txBox="1"/>
          <p:nvPr/>
        </p:nvSpPr>
        <p:spPr>
          <a:xfrm>
            <a:off x="1097280" y="1956816"/>
            <a:ext cx="9994392" cy="2615184"/>
          </a:xfrm>
          <a:prstGeom prst="rect">
            <a:avLst/>
          </a:prstGeom>
          <a:noFill/>
        </p:spPr>
        <p:txBody>
          <a:bodyPr wrap="square" anchor="t">
            <a:spAutoFit/>
          </a:bodyPr>
          <a:lstStyle/>
          <a:p>
            <a:pPr algn="l">
              <a:spcAft>
                <a:spcPts val="300"/>
              </a:spcAft>
            </a:pPr>
            <a:r>
              <a:rPr sz="1500" b="0">
                <a:solidFill>
                  <a:srgbClr val="9CDCFE"/>
                </a:solidFill>
                <a:latin typeface="Arial"/>
              </a:rPr>
              <a:t>Run classical AND post-quantum together, combining both shared secrets:</a:t>
            </a:r>
          </a:p>
          <a:p>
            <a:pPr algn="l">
              <a:spcAft>
                <a:spcPts val="300"/>
              </a:spcAft>
            </a:pPr>
            <a:r>
              <a:rPr sz="1500" b="0">
                <a:solidFill>
                  <a:srgbClr val="0B1220"/>
                </a:solidFill>
                <a:latin typeface="Arial"/>
              </a:rPr>
              <a:t> </a:t>
            </a:r>
          </a:p>
          <a:p>
            <a:pPr algn="l">
              <a:spcAft>
                <a:spcPts val="300"/>
              </a:spcAft>
            </a:pPr>
            <a:r>
              <a:rPr sz="1500" b="0">
                <a:solidFill>
                  <a:srgbClr val="9CDCFE"/>
                </a:solidFill>
                <a:latin typeface="Arial"/>
              </a:rPr>
              <a:t>   shared_secret  =  KDF( ECDH_secret  ||  ML-KEM_secret )</a:t>
            </a:r>
          </a:p>
          <a:p>
            <a:pPr algn="l">
              <a:spcAft>
                <a:spcPts val="300"/>
              </a:spcAft>
            </a:pPr>
            <a:r>
              <a:rPr sz="1500" b="0">
                <a:solidFill>
                  <a:srgbClr val="0B1220"/>
                </a:solidFill>
                <a:latin typeface="Arial"/>
              </a:rPr>
              <a:t> </a:t>
            </a:r>
          </a:p>
          <a:p>
            <a:pPr algn="l">
              <a:spcAft>
                <a:spcPts val="300"/>
              </a:spcAft>
            </a:pPr>
            <a:r>
              <a:rPr sz="1500" b="0">
                <a:solidFill>
                  <a:srgbClr val="9CDCFE"/>
                </a:solidFill>
                <a:latin typeface="Arial"/>
              </a:rPr>
              <a:t>The session stays secure if EITHER component holds.</a:t>
            </a:r>
          </a:p>
          <a:p>
            <a:pPr algn="l">
              <a:spcAft>
                <a:spcPts val="300"/>
              </a:spcAft>
            </a:pPr>
            <a:r>
              <a:rPr sz="1500" b="0">
                <a:solidFill>
                  <a:srgbClr val="0B1220"/>
                </a:solidFill>
                <a:latin typeface="Arial"/>
              </a:rPr>
              <a:t> </a:t>
            </a:r>
          </a:p>
          <a:p>
            <a:pPr algn="l">
              <a:spcAft>
                <a:spcPts val="300"/>
              </a:spcAft>
            </a:pPr>
            <a:r>
              <a:rPr sz="1500" b="0">
                <a:solidFill>
                  <a:srgbClr val="9CDCFE"/>
                </a:solidFill>
                <a:latin typeface="Arial"/>
              </a:rPr>
              <a:t>Already deployed: X25519+ML-KEM768 in Chrome, Firefox, Cloudflare,</a:t>
            </a:r>
          </a:p>
          <a:p>
            <a:pPr algn="l">
              <a:spcAft>
                <a:spcPts val="300"/>
              </a:spcAft>
            </a:pPr>
            <a:r>
              <a:rPr sz="1500" b="0">
                <a:solidFill>
                  <a:srgbClr val="9CDCFE"/>
                </a:solidFill>
                <a:latin typeface="Arial"/>
              </a:rPr>
              <a:t>Signal (PQXDH), Apple iMessage (PQ3), OpenSSH 9.x.</a:t>
            </a:r>
          </a:p>
        </p:txBody>
      </p:sp>
      <p:sp>
        <p:nvSpPr>
          <p:cNvPr id="9" name="Rectangle 8"/>
          <p:cNvSpPr/>
          <p:nvPr/>
        </p:nvSpPr>
        <p:spPr>
          <a:xfrm>
            <a:off x="777240" y="4919472"/>
            <a:ext cx="10634472" cy="1133856"/>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Rectangle 9"/>
          <p:cNvSpPr/>
          <p:nvPr/>
        </p:nvSpPr>
        <p:spPr>
          <a:xfrm>
            <a:off x="777240" y="4919472"/>
            <a:ext cx="82296" cy="1133856"/>
          </a:xfrm>
          <a:prstGeom prst="rect">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 name="TextBox 10"/>
          <p:cNvSpPr txBox="1"/>
          <p:nvPr/>
        </p:nvSpPr>
        <p:spPr>
          <a:xfrm>
            <a:off x="1097280" y="4919472"/>
            <a:ext cx="10149840" cy="1133856"/>
          </a:xfrm>
          <a:prstGeom prst="rect">
            <a:avLst/>
          </a:prstGeom>
          <a:noFill/>
        </p:spPr>
        <p:txBody>
          <a:bodyPr wrap="square" anchor="ctr">
            <a:spAutoFit/>
          </a:bodyPr>
          <a:lstStyle/>
          <a:p>
            <a:pPr algn="l">
              <a:spcAft>
                <a:spcPts val="400"/>
              </a:spcAft>
            </a:pPr>
            <a:r>
              <a:rPr sz="1150" b="1">
                <a:solidFill>
                  <a:srgbClr val="10B981"/>
                </a:solidFill>
                <a:latin typeface="Arial"/>
              </a:rPr>
              <a:t>KEY POINT:  </a:t>
            </a:r>
            <a:r>
              <a:rPr sz="1300" b="0">
                <a:solidFill>
                  <a:srgbClr val="161B26"/>
                </a:solidFill>
                <a:latin typeface="Arial"/>
              </a:rPr>
              <a:t>Hybrid protects against both a future quantum attack AND an implementation flaw in the new, less battle-tested PQC code.</a:t>
            </a:r>
          </a:p>
        </p:txBody>
      </p:sp>
      <p:sp>
        <p:nvSpPr>
          <p:cNvPr id="12" name="TextBox 11"/>
          <p:cNvSpPr txBox="1"/>
          <p:nvPr/>
        </p:nvSpPr>
        <p:spPr>
          <a:xfrm>
            <a:off x="365760" y="6446520"/>
            <a:ext cx="6858000" cy="320040"/>
          </a:xfrm>
          <a:prstGeom prst="rect">
            <a:avLst/>
          </a:prstGeom>
          <a:noFill/>
        </p:spPr>
        <p:txBody>
          <a:bodyPr wrap="square" anchor="t">
            <a:spAutoFit/>
          </a:bodyPr>
          <a:lstStyle/>
          <a:p>
            <a:pPr algn="l">
              <a:spcAft>
                <a:spcPts val="400"/>
              </a:spcAft>
            </a:pPr>
            <a:r>
              <a:rPr sz="900" b="0">
                <a:solidFill>
                  <a:srgbClr val="5B6372"/>
                </a:solidFill>
                <a:latin typeface="Arial"/>
              </a:rPr>
              <a:t>Securing the Future with Quantum Computing and Cryptography  ·  TGS-2024043419</a:t>
            </a:r>
          </a:p>
        </p:txBody>
      </p:sp>
      <p:sp>
        <p:nvSpPr>
          <p:cNvPr id="13" name="TextBox 12"/>
          <p:cNvSpPr txBox="1"/>
          <p:nvPr/>
        </p:nvSpPr>
        <p:spPr>
          <a:xfrm>
            <a:off x="4572000" y="6446520"/>
            <a:ext cx="3017520" cy="320040"/>
          </a:xfrm>
          <a:prstGeom prst="rect">
            <a:avLst/>
          </a:prstGeom>
          <a:noFill/>
        </p:spPr>
        <p:txBody>
          <a:bodyPr wrap="square" anchor="t">
            <a:spAutoFit/>
          </a:bodyPr>
          <a:lstStyle/>
          <a:p>
            <a:pPr algn="ctr">
              <a:spcAft>
                <a:spcPts val="400"/>
              </a:spcAft>
            </a:pPr>
            <a:r>
              <a:rPr sz="900" b="0">
                <a:solidFill>
                  <a:srgbClr val="5B6372"/>
                </a:solidFill>
                <a:latin typeface="Arial"/>
              </a:rPr>
              <a:t>© 2026 Tertiary Infotech Academy Pte Ltd</a:t>
            </a:r>
          </a:p>
        </p:txBody>
      </p:sp>
      <p:sp>
        <p:nvSpPr>
          <p:cNvPr id="14" name="TextBox 13"/>
          <p:cNvSpPr txBox="1"/>
          <p:nvPr/>
        </p:nvSpPr>
        <p:spPr>
          <a:xfrm>
            <a:off x="11338560" y="6446520"/>
            <a:ext cx="548640" cy="320040"/>
          </a:xfrm>
          <a:prstGeom prst="rect">
            <a:avLst/>
          </a:prstGeom>
          <a:noFill/>
        </p:spPr>
        <p:txBody>
          <a:bodyPr wrap="square" anchor="t">
            <a:spAutoFit/>
          </a:bodyPr>
          <a:lstStyle/>
          <a:p>
            <a:pPr algn="r">
              <a:spcAft>
                <a:spcPts val="400"/>
              </a:spcAft>
            </a:pPr>
            <a:r>
              <a:rPr sz="900" b="0">
                <a:solidFill>
                  <a:srgbClr val="5B6372"/>
                </a:solidFill>
                <a:latin typeface="Arial"/>
              </a:rPr>
              <a:t>195</a:t>
            </a:r>
          </a:p>
        </p:txBody>
      </p:sp>
    </p:spTree>
  </p:cSld>
  <p:clrMapOvr>
    <a:masterClrMapping/>
  </p:clrMapOvr>
</p:sld>
</file>

<file path=ppt/slides/slide197.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256032" cy="1417320"/>
          </a:xfrm>
          <a:prstGeom prst="rect">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777240" y="457200"/>
            <a:ext cx="10607040" cy="365760"/>
          </a:xfrm>
          <a:prstGeom prst="rect">
            <a:avLst/>
          </a:prstGeom>
          <a:noFill/>
        </p:spPr>
        <p:txBody>
          <a:bodyPr wrap="square" anchor="t">
            <a:spAutoFit/>
          </a:bodyPr>
          <a:lstStyle/>
          <a:p>
            <a:pPr algn="l">
              <a:spcAft>
                <a:spcPts val="400"/>
              </a:spcAft>
            </a:pPr>
            <a:r>
              <a:rPr sz="1400" b="1">
                <a:solidFill>
                  <a:srgbClr val="1F6FEB"/>
                </a:solidFill>
                <a:latin typeface="Arial"/>
              </a:rPr>
              <a:t>WHAT TO DO ON MONDAY MORNING</a:t>
            </a:r>
          </a:p>
        </p:txBody>
      </p:sp>
      <p:sp>
        <p:nvSpPr>
          <p:cNvPr id="5" name="TextBox 4"/>
          <p:cNvSpPr txBox="1"/>
          <p:nvPr/>
        </p:nvSpPr>
        <p:spPr>
          <a:xfrm>
            <a:off x="777240" y="822960"/>
            <a:ext cx="10881360" cy="822960"/>
          </a:xfrm>
          <a:prstGeom prst="rect">
            <a:avLst/>
          </a:prstGeom>
          <a:noFill/>
        </p:spPr>
        <p:txBody>
          <a:bodyPr wrap="square" anchor="t">
            <a:spAutoFit/>
          </a:bodyPr>
          <a:lstStyle/>
          <a:p>
            <a:pPr algn="l">
              <a:spcAft>
                <a:spcPts val="400"/>
              </a:spcAft>
            </a:pPr>
            <a:r>
              <a:rPr sz="2900" b="1">
                <a:solidFill>
                  <a:srgbClr val="161B26"/>
                </a:solidFill>
                <a:latin typeface="Arial"/>
              </a:rPr>
              <a:t>Step 5 — Build crypto-agility</a:t>
            </a:r>
          </a:p>
        </p:txBody>
      </p:sp>
      <p:sp>
        <p:nvSpPr>
          <p:cNvPr id="6" name="Rectangle 5"/>
          <p:cNvSpPr/>
          <p:nvPr/>
        </p:nvSpPr>
        <p:spPr>
          <a:xfrm>
            <a:off x="777240" y="1554480"/>
            <a:ext cx="10634472" cy="18288"/>
          </a:xfrm>
          <a:prstGeom prst="rect">
            <a:avLst/>
          </a:prstGeom>
          <a:solidFill>
            <a:srgbClr val="E2E8F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Rectangle 6"/>
          <p:cNvSpPr/>
          <p:nvPr/>
        </p:nvSpPr>
        <p:spPr>
          <a:xfrm>
            <a:off x="777240" y="1810512"/>
            <a:ext cx="10634472" cy="3214116"/>
          </a:xfrm>
          <a:prstGeom prst="rect">
            <a:avLst/>
          </a:prstGeom>
          <a:solidFill>
            <a:srgbClr val="0B122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TextBox 7"/>
          <p:cNvSpPr txBox="1"/>
          <p:nvPr/>
        </p:nvSpPr>
        <p:spPr>
          <a:xfrm>
            <a:off x="1097280" y="1956816"/>
            <a:ext cx="9994392" cy="2921508"/>
          </a:xfrm>
          <a:prstGeom prst="rect">
            <a:avLst/>
          </a:prstGeom>
          <a:noFill/>
        </p:spPr>
        <p:txBody>
          <a:bodyPr wrap="square" anchor="t">
            <a:spAutoFit/>
          </a:bodyPr>
          <a:lstStyle/>
          <a:p>
            <a:pPr algn="l">
              <a:spcAft>
                <a:spcPts val="300"/>
              </a:spcAft>
            </a:pPr>
            <a:r>
              <a:rPr sz="1500" b="0">
                <a:solidFill>
                  <a:srgbClr val="9CDCFE"/>
                </a:solidFill>
                <a:latin typeface="Arial"/>
              </a:rPr>
              <a:t>The real lesson of this migration is that there will be ANOTHER one.</a:t>
            </a:r>
          </a:p>
          <a:p>
            <a:pPr algn="l">
              <a:spcAft>
                <a:spcPts val="300"/>
              </a:spcAft>
            </a:pPr>
            <a:r>
              <a:rPr sz="1500" b="0">
                <a:solidFill>
                  <a:srgbClr val="0B1220"/>
                </a:solidFill>
                <a:latin typeface="Arial"/>
              </a:rPr>
              <a:t> </a:t>
            </a:r>
          </a:p>
          <a:p>
            <a:pPr algn="l">
              <a:spcAft>
                <a:spcPts val="300"/>
              </a:spcAft>
            </a:pPr>
            <a:r>
              <a:rPr sz="1500" b="0">
                <a:solidFill>
                  <a:srgbClr val="9CDCFE"/>
                </a:solidFill>
                <a:latin typeface="Arial"/>
              </a:rPr>
              <a:t>   • never hardcode algorithms — make them configuration</a:t>
            </a:r>
          </a:p>
          <a:p>
            <a:pPr algn="l">
              <a:spcAft>
                <a:spcPts val="300"/>
              </a:spcAft>
            </a:pPr>
            <a:r>
              <a:rPr sz="1500" b="0">
                <a:solidFill>
                  <a:srgbClr val="9CDCFE"/>
                </a:solidFill>
                <a:latin typeface="Arial"/>
              </a:rPr>
              <a:t>   • negotiate algorithms at the protocol level</a:t>
            </a:r>
          </a:p>
          <a:p>
            <a:pPr algn="l">
              <a:spcAft>
                <a:spcPts val="300"/>
              </a:spcAft>
            </a:pPr>
            <a:r>
              <a:rPr sz="1500" b="0">
                <a:solidFill>
                  <a:srgbClr val="9CDCFE"/>
                </a:solidFill>
                <a:latin typeface="Arial"/>
              </a:rPr>
              <a:t>   • centralise crypto in a library or service, not scattered in apps</a:t>
            </a:r>
          </a:p>
          <a:p>
            <a:pPr algn="l">
              <a:spcAft>
                <a:spcPts val="300"/>
              </a:spcAft>
            </a:pPr>
            <a:r>
              <a:rPr sz="1500" b="0">
                <a:solidFill>
                  <a:srgbClr val="9CDCFE"/>
                </a:solidFill>
                <a:latin typeface="Arial"/>
              </a:rPr>
              <a:t>   • keep certificate lifetimes short so rotation is routine</a:t>
            </a:r>
          </a:p>
          <a:p>
            <a:pPr algn="l">
              <a:spcAft>
                <a:spcPts val="300"/>
              </a:spcAft>
            </a:pPr>
            <a:r>
              <a:rPr sz="1500" b="0">
                <a:solidFill>
                  <a:srgbClr val="9CDCFE"/>
                </a:solidFill>
                <a:latin typeface="Arial"/>
              </a:rPr>
              <a:t>   • test algorithm swaps in CI</a:t>
            </a:r>
          </a:p>
          <a:p>
            <a:pPr algn="l">
              <a:spcAft>
                <a:spcPts val="300"/>
              </a:spcAft>
            </a:pPr>
            <a:r>
              <a:rPr sz="1500" b="0">
                <a:solidFill>
                  <a:srgbClr val="0B1220"/>
                </a:solidFill>
                <a:latin typeface="Arial"/>
              </a:rPr>
              <a:t> </a:t>
            </a:r>
          </a:p>
          <a:p>
            <a:pPr algn="l">
              <a:spcAft>
                <a:spcPts val="300"/>
              </a:spcAft>
            </a:pPr>
            <a:r>
              <a:rPr sz="1500" b="0">
                <a:solidFill>
                  <a:srgbClr val="9CDCFE"/>
                </a:solidFill>
                <a:latin typeface="Arial"/>
              </a:rPr>
              <a:t>Design goal: changing algorithm should be a CONFIG change, not a rewrite.</a:t>
            </a:r>
          </a:p>
        </p:txBody>
      </p:sp>
      <p:sp>
        <p:nvSpPr>
          <p:cNvPr id="9" name="Rectangle 8"/>
          <p:cNvSpPr/>
          <p:nvPr/>
        </p:nvSpPr>
        <p:spPr>
          <a:xfrm>
            <a:off x="777240" y="5225796"/>
            <a:ext cx="10634472" cy="827532"/>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Rectangle 9"/>
          <p:cNvSpPr/>
          <p:nvPr/>
        </p:nvSpPr>
        <p:spPr>
          <a:xfrm>
            <a:off x="777240" y="5225796"/>
            <a:ext cx="82296" cy="827532"/>
          </a:xfrm>
          <a:prstGeom prst="rect">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 name="TextBox 10"/>
          <p:cNvSpPr txBox="1"/>
          <p:nvPr/>
        </p:nvSpPr>
        <p:spPr>
          <a:xfrm>
            <a:off x="1097280" y="5225796"/>
            <a:ext cx="10149840" cy="827532"/>
          </a:xfrm>
          <a:prstGeom prst="rect">
            <a:avLst/>
          </a:prstGeom>
          <a:noFill/>
        </p:spPr>
        <p:txBody>
          <a:bodyPr wrap="square" anchor="ctr">
            <a:spAutoFit/>
          </a:bodyPr>
          <a:lstStyle/>
          <a:p>
            <a:pPr algn="l">
              <a:spcAft>
                <a:spcPts val="400"/>
              </a:spcAft>
            </a:pPr>
            <a:r>
              <a:rPr sz="1150" b="1">
                <a:solidFill>
                  <a:srgbClr val="10B981"/>
                </a:solidFill>
                <a:latin typeface="Arial"/>
              </a:rPr>
              <a:t>KEY POINT:  </a:t>
            </a:r>
            <a:r>
              <a:rPr sz="1300" b="0">
                <a:solidFill>
                  <a:srgbClr val="161B26"/>
                </a:solidFill>
                <a:latin typeface="Arial"/>
              </a:rPr>
              <a:t>Organisations that built crypto-agility for the SHA-1 to SHA-2 migration are finding the PQC transition dramatically cheaper.</a:t>
            </a:r>
          </a:p>
        </p:txBody>
      </p:sp>
      <p:sp>
        <p:nvSpPr>
          <p:cNvPr id="12" name="TextBox 11"/>
          <p:cNvSpPr txBox="1"/>
          <p:nvPr/>
        </p:nvSpPr>
        <p:spPr>
          <a:xfrm>
            <a:off x="365760" y="6446520"/>
            <a:ext cx="6858000" cy="320040"/>
          </a:xfrm>
          <a:prstGeom prst="rect">
            <a:avLst/>
          </a:prstGeom>
          <a:noFill/>
        </p:spPr>
        <p:txBody>
          <a:bodyPr wrap="square" anchor="t">
            <a:spAutoFit/>
          </a:bodyPr>
          <a:lstStyle/>
          <a:p>
            <a:pPr algn="l">
              <a:spcAft>
                <a:spcPts val="400"/>
              </a:spcAft>
            </a:pPr>
            <a:r>
              <a:rPr sz="900" b="0">
                <a:solidFill>
                  <a:srgbClr val="5B6372"/>
                </a:solidFill>
                <a:latin typeface="Arial"/>
              </a:rPr>
              <a:t>Securing the Future with Quantum Computing and Cryptography  ·  TGS-2024043419</a:t>
            </a:r>
          </a:p>
        </p:txBody>
      </p:sp>
      <p:sp>
        <p:nvSpPr>
          <p:cNvPr id="13" name="TextBox 12"/>
          <p:cNvSpPr txBox="1"/>
          <p:nvPr/>
        </p:nvSpPr>
        <p:spPr>
          <a:xfrm>
            <a:off x="4572000" y="6446520"/>
            <a:ext cx="3017520" cy="320040"/>
          </a:xfrm>
          <a:prstGeom prst="rect">
            <a:avLst/>
          </a:prstGeom>
          <a:noFill/>
        </p:spPr>
        <p:txBody>
          <a:bodyPr wrap="square" anchor="t">
            <a:spAutoFit/>
          </a:bodyPr>
          <a:lstStyle/>
          <a:p>
            <a:pPr algn="ctr">
              <a:spcAft>
                <a:spcPts val="400"/>
              </a:spcAft>
            </a:pPr>
            <a:r>
              <a:rPr sz="900" b="0">
                <a:solidFill>
                  <a:srgbClr val="5B6372"/>
                </a:solidFill>
                <a:latin typeface="Arial"/>
              </a:rPr>
              <a:t>© 2026 Tertiary Infotech Academy Pte Ltd</a:t>
            </a:r>
          </a:p>
        </p:txBody>
      </p:sp>
      <p:sp>
        <p:nvSpPr>
          <p:cNvPr id="14" name="TextBox 13"/>
          <p:cNvSpPr txBox="1"/>
          <p:nvPr/>
        </p:nvSpPr>
        <p:spPr>
          <a:xfrm>
            <a:off x="11338560" y="6446520"/>
            <a:ext cx="548640" cy="320040"/>
          </a:xfrm>
          <a:prstGeom prst="rect">
            <a:avLst/>
          </a:prstGeom>
          <a:noFill/>
        </p:spPr>
        <p:txBody>
          <a:bodyPr wrap="square" anchor="t">
            <a:spAutoFit/>
          </a:bodyPr>
          <a:lstStyle/>
          <a:p>
            <a:pPr algn="r">
              <a:spcAft>
                <a:spcPts val="400"/>
              </a:spcAft>
            </a:pPr>
            <a:r>
              <a:rPr sz="900" b="0">
                <a:solidFill>
                  <a:srgbClr val="5B6372"/>
                </a:solidFill>
                <a:latin typeface="Arial"/>
              </a:rPr>
              <a:t>196</a:t>
            </a:r>
          </a:p>
        </p:txBody>
      </p:sp>
    </p:spTree>
  </p:cSld>
  <p:clrMapOvr>
    <a:masterClrMapping/>
  </p:clrMapOvr>
</p:sld>
</file>

<file path=ppt/slides/slide198.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256032" cy="1417320"/>
          </a:xfrm>
          <a:prstGeom prst="rect">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777240" y="457200"/>
            <a:ext cx="10607040" cy="365760"/>
          </a:xfrm>
          <a:prstGeom prst="rect">
            <a:avLst/>
          </a:prstGeom>
          <a:noFill/>
        </p:spPr>
        <p:txBody>
          <a:bodyPr wrap="square" anchor="t">
            <a:spAutoFit/>
          </a:bodyPr>
          <a:lstStyle/>
          <a:p>
            <a:pPr algn="l">
              <a:spcAft>
                <a:spcPts val="400"/>
              </a:spcAft>
            </a:pPr>
            <a:r>
              <a:rPr sz="1400" b="1">
                <a:solidFill>
                  <a:srgbClr val="1F6FEB"/>
                </a:solidFill>
                <a:latin typeface="Arial"/>
              </a:rPr>
              <a:t>THREATS, DEFENCES AND WHAT ACTUALLY WORKS</a:t>
            </a:r>
          </a:p>
        </p:txBody>
      </p:sp>
      <p:sp>
        <p:nvSpPr>
          <p:cNvPr id="5" name="TextBox 4"/>
          <p:cNvSpPr txBox="1"/>
          <p:nvPr/>
        </p:nvSpPr>
        <p:spPr>
          <a:xfrm>
            <a:off x="777240" y="822960"/>
            <a:ext cx="10881360" cy="822960"/>
          </a:xfrm>
          <a:prstGeom prst="rect">
            <a:avLst/>
          </a:prstGeom>
          <a:noFill/>
        </p:spPr>
        <p:txBody>
          <a:bodyPr wrap="square" anchor="t">
            <a:spAutoFit/>
          </a:bodyPr>
          <a:lstStyle/>
          <a:p>
            <a:pPr algn="l">
              <a:spcAft>
                <a:spcPts val="400"/>
              </a:spcAft>
            </a:pPr>
            <a:r>
              <a:rPr sz="2900" b="1">
                <a:solidFill>
                  <a:srgbClr val="161B26"/>
                </a:solidFill>
                <a:latin typeface="Arial"/>
              </a:rPr>
              <a:t>Two meanings of 'quantum security'</a:t>
            </a:r>
          </a:p>
        </p:txBody>
      </p:sp>
      <p:sp>
        <p:nvSpPr>
          <p:cNvPr id="6" name="Rectangle 5"/>
          <p:cNvSpPr/>
          <p:nvPr/>
        </p:nvSpPr>
        <p:spPr>
          <a:xfrm>
            <a:off x="777240" y="1554480"/>
            <a:ext cx="10634472" cy="18288"/>
          </a:xfrm>
          <a:prstGeom prst="rect">
            <a:avLst/>
          </a:prstGeom>
          <a:solidFill>
            <a:srgbClr val="E2E8F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Rectangle 6"/>
          <p:cNvSpPr/>
          <p:nvPr/>
        </p:nvSpPr>
        <p:spPr>
          <a:xfrm>
            <a:off x="777240" y="1810512"/>
            <a:ext cx="10634472" cy="2907792"/>
          </a:xfrm>
          <a:prstGeom prst="rect">
            <a:avLst/>
          </a:prstGeom>
          <a:solidFill>
            <a:srgbClr val="0B122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TextBox 7"/>
          <p:cNvSpPr txBox="1"/>
          <p:nvPr/>
        </p:nvSpPr>
        <p:spPr>
          <a:xfrm>
            <a:off x="1097280" y="1956816"/>
            <a:ext cx="9994392" cy="2615184"/>
          </a:xfrm>
          <a:prstGeom prst="rect">
            <a:avLst/>
          </a:prstGeom>
          <a:noFill/>
        </p:spPr>
        <p:txBody>
          <a:bodyPr wrap="square" anchor="t">
            <a:spAutoFit/>
          </a:bodyPr>
          <a:lstStyle/>
          <a:p>
            <a:pPr algn="l">
              <a:spcAft>
                <a:spcPts val="300"/>
              </a:spcAft>
            </a:pPr>
            <a:r>
              <a:rPr sz="1500" b="0">
                <a:solidFill>
                  <a:srgbClr val="9CDCFE"/>
                </a:solidFill>
                <a:latin typeface="Arial"/>
              </a:rPr>
              <a:t>   1. SECURITY AGAINST quantum computers</a:t>
            </a:r>
          </a:p>
          <a:p>
            <a:pPr algn="l">
              <a:spcAft>
                <a:spcPts val="300"/>
              </a:spcAft>
            </a:pPr>
            <a:r>
              <a:rPr sz="1500" b="0">
                <a:solidFill>
                  <a:srgbClr val="9CDCFE"/>
                </a:solidFill>
                <a:latin typeface="Arial"/>
              </a:rPr>
              <a:t>      = Post-Quantum Cryptography (PQC)</a:t>
            </a:r>
          </a:p>
          <a:p>
            <a:pPr algn="l">
              <a:spcAft>
                <a:spcPts val="300"/>
              </a:spcAft>
            </a:pPr>
            <a:r>
              <a:rPr sz="1500" b="0">
                <a:solidFill>
                  <a:srgbClr val="9CDCFE"/>
                </a:solidFill>
                <a:latin typeface="Arial"/>
              </a:rPr>
              <a:t>      Classical maths, classical hardware, believed quantum-resistant.</a:t>
            </a:r>
          </a:p>
          <a:p>
            <a:pPr algn="l">
              <a:spcAft>
                <a:spcPts val="300"/>
              </a:spcAft>
            </a:pPr>
            <a:r>
              <a:rPr sz="1500" b="0">
                <a:solidFill>
                  <a:srgbClr val="9CDCFE"/>
                </a:solidFill>
                <a:latin typeface="Arial"/>
              </a:rPr>
              <a:t>      Runs on the machines you already own.</a:t>
            </a:r>
          </a:p>
          <a:p>
            <a:pPr algn="l">
              <a:spcAft>
                <a:spcPts val="300"/>
              </a:spcAft>
            </a:pPr>
            <a:r>
              <a:rPr sz="1500" b="0">
                <a:solidFill>
                  <a:srgbClr val="0B1220"/>
                </a:solidFill>
                <a:latin typeface="Arial"/>
              </a:rPr>
              <a:t> </a:t>
            </a:r>
          </a:p>
          <a:p>
            <a:pPr algn="l">
              <a:spcAft>
                <a:spcPts val="300"/>
              </a:spcAft>
            </a:pPr>
            <a:r>
              <a:rPr sz="1500" b="0">
                <a:solidFill>
                  <a:srgbClr val="9CDCFE"/>
                </a:solidFill>
                <a:latin typeface="Arial"/>
              </a:rPr>
              <a:t>   2. SECURITY USING quantum physics</a:t>
            </a:r>
          </a:p>
          <a:p>
            <a:pPr algn="l">
              <a:spcAft>
                <a:spcPts val="300"/>
              </a:spcAft>
            </a:pPr>
            <a:r>
              <a:rPr sz="1500" b="0">
                <a:solidFill>
                  <a:srgbClr val="9CDCFE"/>
                </a:solidFill>
                <a:latin typeface="Arial"/>
              </a:rPr>
              <a:t>      = QKD, QRNG, device-independent cryptography</a:t>
            </a:r>
          </a:p>
          <a:p>
            <a:pPr algn="l">
              <a:spcAft>
                <a:spcPts val="300"/>
              </a:spcAft>
            </a:pPr>
            <a:r>
              <a:rPr sz="1500" b="0">
                <a:solidFill>
                  <a:srgbClr val="9CDCFE"/>
                </a:solidFill>
                <a:latin typeface="Arial"/>
              </a:rPr>
              <a:t>      Needs quantum hardware; security from physical law.</a:t>
            </a:r>
          </a:p>
        </p:txBody>
      </p:sp>
      <p:sp>
        <p:nvSpPr>
          <p:cNvPr id="9" name="Rectangle 8"/>
          <p:cNvSpPr/>
          <p:nvPr/>
        </p:nvSpPr>
        <p:spPr>
          <a:xfrm>
            <a:off x="777240" y="4919472"/>
            <a:ext cx="10634472" cy="1133856"/>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Rectangle 9"/>
          <p:cNvSpPr/>
          <p:nvPr/>
        </p:nvSpPr>
        <p:spPr>
          <a:xfrm>
            <a:off x="777240" y="4919472"/>
            <a:ext cx="82296" cy="1133856"/>
          </a:xfrm>
          <a:prstGeom prst="rect">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 name="TextBox 10"/>
          <p:cNvSpPr txBox="1"/>
          <p:nvPr/>
        </p:nvSpPr>
        <p:spPr>
          <a:xfrm>
            <a:off x="1097280" y="4919472"/>
            <a:ext cx="10149840" cy="1133856"/>
          </a:xfrm>
          <a:prstGeom prst="rect">
            <a:avLst/>
          </a:prstGeom>
          <a:noFill/>
        </p:spPr>
        <p:txBody>
          <a:bodyPr wrap="square" anchor="ctr">
            <a:spAutoFit/>
          </a:bodyPr>
          <a:lstStyle/>
          <a:p>
            <a:pPr algn="l">
              <a:spcAft>
                <a:spcPts val="400"/>
              </a:spcAft>
            </a:pPr>
            <a:r>
              <a:rPr sz="1150" b="1">
                <a:solidFill>
                  <a:srgbClr val="10B981"/>
                </a:solidFill>
                <a:latin typeface="Arial"/>
              </a:rPr>
              <a:t>KEY POINT:  </a:t>
            </a:r>
            <a:r>
              <a:rPr sz="1300" b="0">
                <a:solidFill>
                  <a:srgbClr val="161B26"/>
                </a:solidFill>
                <a:latin typeface="Arial"/>
              </a:rPr>
              <a:t>These are constantly conflated in vendor marketing. Know which one is being sold to you.</a:t>
            </a:r>
          </a:p>
        </p:txBody>
      </p:sp>
      <p:sp>
        <p:nvSpPr>
          <p:cNvPr id="12" name="TextBox 11"/>
          <p:cNvSpPr txBox="1"/>
          <p:nvPr/>
        </p:nvSpPr>
        <p:spPr>
          <a:xfrm>
            <a:off x="365760" y="6446520"/>
            <a:ext cx="6858000" cy="320040"/>
          </a:xfrm>
          <a:prstGeom prst="rect">
            <a:avLst/>
          </a:prstGeom>
          <a:noFill/>
        </p:spPr>
        <p:txBody>
          <a:bodyPr wrap="square" anchor="t">
            <a:spAutoFit/>
          </a:bodyPr>
          <a:lstStyle/>
          <a:p>
            <a:pPr algn="l">
              <a:spcAft>
                <a:spcPts val="400"/>
              </a:spcAft>
            </a:pPr>
            <a:r>
              <a:rPr sz="900" b="0">
                <a:solidFill>
                  <a:srgbClr val="5B6372"/>
                </a:solidFill>
                <a:latin typeface="Arial"/>
              </a:rPr>
              <a:t>Securing the Future with Quantum Computing and Cryptography  ·  TGS-2024043419</a:t>
            </a:r>
          </a:p>
        </p:txBody>
      </p:sp>
      <p:sp>
        <p:nvSpPr>
          <p:cNvPr id="13" name="TextBox 12"/>
          <p:cNvSpPr txBox="1"/>
          <p:nvPr/>
        </p:nvSpPr>
        <p:spPr>
          <a:xfrm>
            <a:off x="4572000" y="6446520"/>
            <a:ext cx="3017520" cy="320040"/>
          </a:xfrm>
          <a:prstGeom prst="rect">
            <a:avLst/>
          </a:prstGeom>
          <a:noFill/>
        </p:spPr>
        <p:txBody>
          <a:bodyPr wrap="square" anchor="t">
            <a:spAutoFit/>
          </a:bodyPr>
          <a:lstStyle/>
          <a:p>
            <a:pPr algn="ctr">
              <a:spcAft>
                <a:spcPts val="400"/>
              </a:spcAft>
            </a:pPr>
            <a:r>
              <a:rPr sz="900" b="0">
                <a:solidFill>
                  <a:srgbClr val="5B6372"/>
                </a:solidFill>
                <a:latin typeface="Arial"/>
              </a:rPr>
              <a:t>© 2026 Tertiary Infotech Academy Pte Ltd</a:t>
            </a:r>
          </a:p>
        </p:txBody>
      </p:sp>
      <p:sp>
        <p:nvSpPr>
          <p:cNvPr id="14" name="TextBox 13"/>
          <p:cNvSpPr txBox="1"/>
          <p:nvPr/>
        </p:nvSpPr>
        <p:spPr>
          <a:xfrm>
            <a:off x="11338560" y="6446520"/>
            <a:ext cx="548640" cy="320040"/>
          </a:xfrm>
          <a:prstGeom prst="rect">
            <a:avLst/>
          </a:prstGeom>
          <a:noFill/>
        </p:spPr>
        <p:txBody>
          <a:bodyPr wrap="square" anchor="t">
            <a:spAutoFit/>
          </a:bodyPr>
          <a:lstStyle/>
          <a:p>
            <a:pPr algn="r">
              <a:spcAft>
                <a:spcPts val="400"/>
              </a:spcAft>
            </a:pPr>
            <a:r>
              <a:rPr sz="900" b="0">
                <a:solidFill>
                  <a:srgbClr val="5B6372"/>
                </a:solidFill>
                <a:latin typeface="Arial"/>
              </a:rPr>
              <a:t>197</a:t>
            </a:r>
          </a:p>
        </p:txBody>
      </p:sp>
    </p:spTree>
  </p:cSld>
  <p:clrMapOvr>
    <a:masterClrMapping/>
  </p:clrMapOvr>
</p:sld>
</file>

<file path=ppt/slides/slide199.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256032" cy="1417320"/>
          </a:xfrm>
          <a:prstGeom prst="rect">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777240" y="457200"/>
            <a:ext cx="10607040" cy="365760"/>
          </a:xfrm>
          <a:prstGeom prst="rect">
            <a:avLst/>
          </a:prstGeom>
          <a:noFill/>
        </p:spPr>
        <p:txBody>
          <a:bodyPr wrap="square" anchor="t">
            <a:spAutoFit/>
          </a:bodyPr>
          <a:lstStyle/>
          <a:p>
            <a:pPr algn="l">
              <a:spcAft>
                <a:spcPts val="400"/>
              </a:spcAft>
            </a:pPr>
            <a:r>
              <a:rPr sz="1400" b="1">
                <a:solidFill>
                  <a:srgbClr val="1F6FEB"/>
                </a:solidFill>
                <a:latin typeface="Arial"/>
              </a:rPr>
              <a:t>THREATS, DEFENCES AND WHAT ACTUALLY WORKS</a:t>
            </a:r>
          </a:p>
        </p:txBody>
      </p:sp>
      <p:sp>
        <p:nvSpPr>
          <p:cNvPr id="5" name="TextBox 4"/>
          <p:cNvSpPr txBox="1"/>
          <p:nvPr/>
        </p:nvSpPr>
        <p:spPr>
          <a:xfrm>
            <a:off x="777240" y="822960"/>
            <a:ext cx="10881360" cy="822960"/>
          </a:xfrm>
          <a:prstGeom prst="rect">
            <a:avLst/>
          </a:prstGeom>
          <a:noFill/>
        </p:spPr>
        <p:txBody>
          <a:bodyPr wrap="square" anchor="t">
            <a:spAutoFit/>
          </a:bodyPr>
          <a:lstStyle/>
          <a:p>
            <a:pPr algn="l">
              <a:spcAft>
                <a:spcPts val="400"/>
              </a:spcAft>
            </a:pPr>
            <a:r>
              <a:rPr sz="2900" b="1">
                <a:solidFill>
                  <a:srgbClr val="161B26"/>
                </a:solidFill>
                <a:latin typeface="Arial"/>
              </a:rPr>
              <a:t>The quantum threat model</a:t>
            </a:r>
          </a:p>
        </p:txBody>
      </p:sp>
      <p:sp>
        <p:nvSpPr>
          <p:cNvPr id="6" name="Rectangle 5"/>
          <p:cNvSpPr/>
          <p:nvPr/>
        </p:nvSpPr>
        <p:spPr>
          <a:xfrm>
            <a:off x="777240" y="1554480"/>
            <a:ext cx="10634472" cy="18288"/>
          </a:xfrm>
          <a:prstGeom prst="rect">
            <a:avLst/>
          </a:prstGeom>
          <a:solidFill>
            <a:srgbClr val="E2E8F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Rectangle 6"/>
          <p:cNvSpPr/>
          <p:nvPr/>
        </p:nvSpPr>
        <p:spPr>
          <a:xfrm>
            <a:off x="777240" y="1810512"/>
            <a:ext cx="10634472" cy="3520440"/>
          </a:xfrm>
          <a:prstGeom prst="rect">
            <a:avLst/>
          </a:prstGeom>
          <a:solidFill>
            <a:srgbClr val="0B122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TextBox 7"/>
          <p:cNvSpPr txBox="1"/>
          <p:nvPr/>
        </p:nvSpPr>
        <p:spPr>
          <a:xfrm>
            <a:off x="1097280" y="1956816"/>
            <a:ext cx="9994392" cy="3227832"/>
          </a:xfrm>
          <a:prstGeom prst="rect">
            <a:avLst/>
          </a:prstGeom>
          <a:noFill/>
        </p:spPr>
        <p:txBody>
          <a:bodyPr wrap="square" anchor="t">
            <a:spAutoFit/>
          </a:bodyPr>
          <a:lstStyle/>
          <a:p>
            <a:pPr algn="l">
              <a:spcAft>
                <a:spcPts val="300"/>
              </a:spcAft>
            </a:pPr>
            <a:r>
              <a:rPr sz="1320" b="0">
                <a:solidFill>
                  <a:srgbClr val="9CDCFE"/>
                </a:solidFill>
                <a:latin typeface="Arial"/>
              </a:rPr>
              <a:t>   SHOR   breaks RSA, DH, ECC, ECDSA outright — polynomial time.</a:t>
            </a:r>
          </a:p>
          <a:p>
            <a:pPr algn="l">
              <a:spcAft>
                <a:spcPts val="300"/>
              </a:spcAft>
            </a:pPr>
            <a:r>
              <a:rPr sz="1320" b="0">
                <a:solidFill>
                  <a:srgbClr val="9CDCFE"/>
                </a:solidFill>
                <a:latin typeface="Arial"/>
              </a:rPr>
              <a:t>          All public-key crypto in use today fails.</a:t>
            </a:r>
          </a:p>
          <a:p>
            <a:pPr algn="l">
              <a:spcAft>
                <a:spcPts val="300"/>
              </a:spcAft>
            </a:pPr>
            <a:r>
              <a:rPr sz="1320" b="0">
                <a:solidFill>
                  <a:srgbClr val="0B1220"/>
                </a:solidFill>
                <a:latin typeface="Arial"/>
              </a:rPr>
              <a:t> </a:t>
            </a:r>
          </a:p>
          <a:p>
            <a:pPr algn="l">
              <a:spcAft>
                <a:spcPts val="300"/>
              </a:spcAft>
            </a:pPr>
            <a:r>
              <a:rPr sz="1320" b="0">
                <a:solidFill>
                  <a:srgbClr val="9CDCFE"/>
                </a:solidFill>
                <a:latin typeface="Arial"/>
              </a:rPr>
              <a:t>   GROVER halves effective symmetric key length.</a:t>
            </a:r>
          </a:p>
          <a:p>
            <a:pPr algn="l">
              <a:spcAft>
                <a:spcPts val="300"/>
              </a:spcAft>
            </a:pPr>
            <a:r>
              <a:rPr sz="1320" b="0">
                <a:solidFill>
                  <a:srgbClr val="9CDCFE"/>
                </a:solidFill>
                <a:latin typeface="Arial"/>
              </a:rPr>
              <a:t>          AES-128 -&gt; ~64-bit security;  AES-256 stays safe.</a:t>
            </a:r>
          </a:p>
          <a:p>
            <a:pPr algn="l">
              <a:spcAft>
                <a:spcPts val="300"/>
              </a:spcAft>
            </a:pPr>
            <a:r>
              <a:rPr sz="1320" b="0">
                <a:solidFill>
                  <a:srgbClr val="9CDCFE"/>
                </a:solidFill>
                <a:latin typeface="Arial"/>
              </a:rPr>
              <a:t>          (In practice the parallelisation penalty makes this weaker still.)</a:t>
            </a:r>
          </a:p>
          <a:p>
            <a:pPr algn="l">
              <a:spcAft>
                <a:spcPts val="300"/>
              </a:spcAft>
            </a:pPr>
            <a:r>
              <a:rPr sz="1320" b="0">
                <a:solidFill>
                  <a:srgbClr val="0B1220"/>
                </a:solidFill>
                <a:latin typeface="Arial"/>
              </a:rPr>
              <a:t> </a:t>
            </a:r>
          </a:p>
          <a:p>
            <a:pPr algn="l">
              <a:spcAft>
                <a:spcPts val="300"/>
              </a:spcAft>
            </a:pPr>
            <a:r>
              <a:rPr sz="1320" b="0">
                <a:solidFill>
                  <a:srgbClr val="9CDCFE"/>
                </a:solidFill>
                <a:latin typeface="Arial"/>
              </a:rPr>
              <a:t>   HARVEST NOW, DECRYPT LATER</a:t>
            </a:r>
          </a:p>
          <a:p>
            <a:pPr algn="l">
              <a:spcAft>
                <a:spcPts val="300"/>
              </a:spcAft>
            </a:pPr>
            <a:r>
              <a:rPr sz="1320" b="0">
                <a:solidFill>
                  <a:srgbClr val="9CDCFE"/>
                </a:solidFill>
                <a:latin typeface="Arial"/>
              </a:rPr>
              <a:t>          The attack is happening TODAY. Encrypted traffic is being</a:t>
            </a:r>
          </a:p>
          <a:p>
            <a:pPr algn="l">
              <a:spcAft>
                <a:spcPts val="300"/>
              </a:spcAft>
            </a:pPr>
            <a:r>
              <a:rPr sz="1320" b="0">
                <a:solidFill>
                  <a:srgbClr val="9CDCFE"/>
                </a:solidFill>
                <a:latin typeface="Arial"/>
              </a:rPr>
              <a:t>          recorded now for decryption once a CRQC exists.</a:t>
            </a:r>
          </a:p>
        </p:txBody>
      </p:sp>
      <p:sp>
        <p:nvSpPr>
          <p:cNvPr id="9" name="Rectangle 8"/>
          <p:cNvSpPr/>
          <p:nvPr/>
        </p:nvSpPr>
        <p:spPr>
          <a:xfrm>
            <a:off x="777240" y="5532120"/>
            <a:ext cx="10634472" cy="521208"/>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Rectangle 9"/>
          <p:cNvSpPr/>
          <p:nvPr/>
        </p:nvSpPr>
        <p:spPr>
          <a:xfrm>
            <a:off x="777240" y="5532120"/>
            <a:ext cx="82296" cy="521208"/>
          </a:xfrm>
          <a:prstGeom prst="rect">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 name="TextBox 10"/>
          <p:cNvSpPr txBox="1"/>
          <p:nvPr/>
        </p:nvSpPr>
        <p:spPr>
          <a:xfrm>
            <a:off x="1097280" y="5532120"/>
            <a:ext cx="10149840" cy="521208"/>
          </a:xfrm>
          <a:prstGeom prst="rect">
            <a:avLst/>
          </a:prstGeom>
          <a:noFill/>
        </p:spPr>
        <p:txBody>
          <a:bodyPr wrap="square" anchor="ctr">
            <a:spAutoFit/>
          </a:bodyPr>
          <a:lstStyle/>
          <a:p>
            <a:pPr algn="l">
              <a:spcAft>
                <a:spcPts val="400"/>
              </a:spcAft>
            </a:pPr>
            <a:r>
              <a:rPr sz="1150" b="1">
                <a:solidFill>
                  <a:srgbClr val="10B981"/>
                </a:solidFill>
                <a:latin typeface="Arial"/>
              </a:rPr>
              <a:t>KEY POINT:  </a:t>
            </a:r>
            <a:r>
              <a:rPr sz="1300" b="0">
                <a:solidFill>
                  <a:srgbClr val="161B26"/>
                </a:solidFill>
                <a:latin typeface="Arial"/>
              </a:rPr>
              <a:t>Note the asymmetry: symmetric crypto survives with bigger keys; public-key crypto must be replaced entirely.</a:t>
            </a:r>
          </a:p>
        </p:txBody>
      </p:sp>
      <p:sp>
        <p:nvSpPr>
          <p:cNvPr id="12" name="TextBox 11"/>
          <p:cNvSpPr txBox="1"/>
          <p:nvPr/>
        </p:nvSpPr>
        <p:spPr>
          <a:xfrm>
            <a:off x="365760" y="6446520"/>
            <a:ext cx="6858000" cy="320040"/>
          </a:xfrm>
          <a:prstGeom prst="rect">
            <a:avLst/>
          </a:prstGeom>
          <a:noFill/>
        </p:spPr>
        <p:txBody>
          <a:bodyPr wrap="square" anchor="t">
            <a:spAutoFit/>
          </a:bodyPr>
          <a:lstStyle/>
          <a:p>
            <a:pPr algn="l">
              <a:spcAft>
                <a:spcPts val="400"/>
              </a:spcAft>
            </a:pPr>
            <a:r>
              <a:rPr sz="900" b="0">
                <a:solidFill>
                  <a:srgbClr val="5B6372"/>
                </a:solidFill>
                <a:latin typeface="Arial"/>
              </a:rPr>
              <a:t>Securing the Future with Quantum Computing and Cryptography  ·  TGS-2024043419</a:t>
            </a:r>
          </a:p>
        </p:txBody>
      </p:sp>
      <p:sp>
        <p:nvSpPr>
          <p:cNvPr id="13" name="TextBox 12"/>
          <p:cNvSpPr txBox="1"/>
          <p:nvPr/>
        </p:nvSpPr>
        <p:spPr>
          <a:xfrm>
            <a:off x="4572000" y="6446520"/>
            <a:ext cx="3017520" cy="320040"/>
          </a:xfrm>
          <a:prstGeom prst="rect">
            <a:avLst/>
          </a:prstGeom>
          <a:noFill/>
        </p:spPr>
        <p:txBody>
          <a:bodyPr wrap="square" anchor="t">
            <a:spAutoFit/>
          </a:bodyPr>
          <a:lstStyle/>
          <a:p>
            <a:pPr algn="ctr">
              <a:spcAft>
                <a:spcPts val="400"/>
              </a:spcAft>
            </a:pPr>
            <a:r>
              <a:rPr sz="900" b="0">
                <a:solidFill>
                  <a:srgbClr val="5B6372"/>
                </a:solidFill>
                <a:latin typeface="Arial"/>
              </a:rPr>
              <a:t>© 2026 Tertiary Infotech Academy Pte Ltd</a:t>
            </a:r>
          </a:p>
        </p:txBody>
      </p:sp>
      <p:sp>
        <p:nvSpPr>
          <p:cNvPr id="14" name="TextBox 13"/>
          <p:cNvSpPr txBox="1"/>
          <p:nvPr/>
        </p:nvSpPr>
        <p:spPr>
          <a:xfrm>
            <a:off x="11338560" y="6446520"/>
            <a:ext cx="548640" cy="320040"/>
          </a:xfrm>
          <a:prstGeom prst="rect">
            <a:avLst/>
          </a:prstGeom>
          <a:noFill/>
        </p:spPr>
        <p:txBody>
          <a:bodyPr wrap="square" anchor="t">
            <a:spAutoFit/>
          </a:bodyPr>
          <a:lstStyle/>
          <a:p>
            <a:pPr algn="r">
              <a:spcAft>
                <a:spcPts val="400"/>
              </a:spcAft>
            </a:pPr>
            <a:r>
              <a:rPr sz="900" b="0">
                <a:solidFill>
                  <a:srgbClr val="5B6372"/>
                </a:solidFill>
                <a:latin typeface="Arial"/>
              </a:rPr>
              <a:t>198</a:t>
            </a:r>
          </a:p>
        </p:txBody>
      </p:sp>
    </p:spTree>
  </p:cSld>
  <p:clrMapOvr>
    <a:masterClrMapping/>
  </p:clrMapOvr>
</p:sld>
</file>

<file path=ppt/slides/slide200.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256032" cy="1417320"/>
          </a:xfrm>
          <a:prstGeom prst="rect">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777240" y="457200"/>
            <a:ext cx="10607040" cy="365760"/>
          </a:xfrm>
          <a:prstGeom prst="rect">
            <a:avLst/>
          </a:prstGeom>
          <a:noFill/>
        </p:spPr>
        <p:txBody>
          <a:bodyPr wrap="square" anchor="t">
            <a:spAutoFit/>
          </a:bodyPr>
          <a:lstStyle/>
          <a:p>
            <a:pPr algn="l">
              <a:spcAft>
                <a:spcPts val="400"/>
              </a:spcAft>
            </a:pPr>
            <a:r>
              <a:rPr sz="1400" b="1">
                <a:solidFill>
                  <a:srgbClr val="1F6FEB"/>
                </a:solidFill>
                <a:latin typeface="Arial"/>
              </a:rPr>
              <a:t>THREATS, DEFENCES AND WHAT ACTUALLY WORKS</a:t>
            </a:r>
          </a:p>
        </p:txBody>
      </p:sp>
      <p:sp>
        <p:nvSpPr>
          <p:cNvPr id="5" name="TextBox 4"/>
          <p:cNvSpPr txBox="1"/>
          <p:nvPr/>
        </p:nvSpPr>
        <p:spPr>
          <a:xfrm>
            <a:off x="777240" y="822960"/>
            <a:ext cx="10881360" cy="822960"/>
          </a:xfrm>
          <a:prstGeom prst="rect">
            <a:avLst/>
          </a:prstGeom>
          <a:noFill/>
        </p:spPr>
        <p:txBody>
          <a:bodyPr wrap="square" anchor="t">
            <a:spAutoFit/>
          </a:bodyPr>
          <a:lstStyle/>
          <a:p>
            <a:pPr algn="l">
              <a:spcAft>
                <a:spcPts val="400"/>
              </a:spcAft>
            </a:pPr>
            <a:r>
              <a:rPr sz="2900" b="1">
                <a:solidFill>
                  <a:srgbClr val="161B26"/>
                </a:solidFill>
                <a:latin typeface="Arial"/>
              </a:rPr>
              <a:t>QKD vs PQC — an honest comparison</a:t>
            </a:r>
          </a:p>
        </p:txBody>
      </p:sp>
      <p:sp>
        <p:nvSpPr>
          <p:cNvPr id="6" name="Rectangle 5"/>
          <p:cNvSpPr/>
          <p:nvPr/>
        </p:nvSpPr>
        <p:spPr>
          <a:xfrm>
            <a:off x="777240" y="1554480"/>
            <a:ext cx="10634472" cy="18288"/>
          </a:xfrm>
          <a:prstGeom prst="rect">
            <a:avLst/>
          </a:prstGeom>
          <a:solidFill>
            <a:srgbClr val="E2E8F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Rectangle 6"/>
          <p:cNvSpPr/>
          <p:nvPr/>
        </p:nvSpPr>
        <p:spPr>
          <a:xfrm>
            <a:off x="777240" y="1810512"/>
            <a:ext cx="10634472" cy="3214116"/>
          </a:xfrm>
          <a:prstGeom prst="rect">
            <a:avLst/>
          </a:prstGeom>
          <a:solidFill>
            <a:srgbClr val="0B122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TextBox 7"/>
          <p:cNvSpPr txBox="1"/>
          <p:nvPr/>
        </p:nvSpPr>
        <p:spPr>
          <a:xfrm>
            <a:off x="1097280" y="1956816"/>
            <a:ext cx="9994392" cy="2921508"/>
          </a:xfrm>
          <a:prstGeom prst="rect">
            <a:avLst/>
          </a:prstGeom>
          <a:noFill/>
        </p:spPr>
        <p:txBody>
          <a:bodyPr wrap="square" anchor="t">
            <a:spAutoFit/>
          </a:bodyPr>
          <a:lstStyle/>
          <a:p>
            <a:pPr algn="l">
              <a:spcAft>
                <a:spcPts val="300"/>
              </a:spcAft>
            </a:pPr>
            <a:r>
              <a:rPr sz="1500" b="0">
                <a:solidFill>
                  <a:srgbClr val="9CDCFE"/>
                </a:solidFill>
                <a:latin typeface="Arial"/>
              </a:rPr>
              <a:t>   QKD                              PQC</a:t>
            </a:r>
          </a:p>
          <a:p>
            <a:pPr algn="l">
              <a:spcAft>
                <a:spcPts val="300"/>
              </a:spcAft>
            </a:pPr>
            <a:r>
              <a:rPr sz="1500" b="0">
                <a:solidFill>
                  <a:srgbClr val="9CDCFE"/>
                </a:solidFill>
                <a:latin typeface="Arial"/>
              </a:rPr>
              <a:t>   security from physics            security from hard maths</a:t>
            </a:r>
          </a:p>
          <a:p>
            <a:pPr algn="l">
              <a:spcAft>
                <a:spcPts val="300"/>
              </a:spcAft>
            </a:pPr>
            <a:r>
              <a:rPr sz="1500" b="0">
                <a:solidFill>
                  <a:srgbClr val="9CDCFE"/>
                </a:solidFill>
                <a:latin typeface="Arial"/>
              </a:rPr>
              <a:t>   needs dedicated fibre/satellite  runs on existing hardware</a:t>
            </a:r>
          </a:p>
          <a:p>
            <a:pPr algn="l">
              <a:spcAft>
                <a:spcPts val="300"/>
              </a:spcAft>
            </a:pPr>
            <a:r>
              <a:rPr sz="1500" b="0">
                <a:solidFill>
                  <a:srgbClr val="9CDCFE"/>
                </a:solidFill>
                <a:latin typeface="Arial"/>
              </a:rPr>
              <a:t>   ~100-500 km without repeaters    unlimited range (internet)</a:t>
            </a:r>
          </a:p>
          <a:p>
            <a:pPr algn="l">
              <a:spcAft>
                <a:spcPts val="300"/>
              </a:spcAft>
            </a:pPr>
            <a:r>
              <a:rPr sz="1500" b="0">
                <a:solidFill>
                  <a:srgbClr val="9CDCFE"/>
                </a:solidFill>
                <a:latin typeface="Arial"/>
              </a:rPr>
              <a:t>   expensive dedicated hardware     software update</a:t>
            </a:r>
          </a:p>
          <a:p>
            <a:pPr algn="l">
              <a:spcAft>
                <a:spcPts val="300"/>
              </a:spcAft>
            </a:pPr>
            <a:r>
              <a:rPr sz="1500" b="0">
                <a:solidFill>
                  <a:srgbClr val="9CDCFE"/>
                </a:solidFill>
                <a:latin typeface="Arial"/>
              </a:rPr>
              <a:t>   no authentication built in       signatures included</a:t>
            </a:r>
          </a:p>
          <a:p>
            <a:pPr algn="l">
              <a:spcAft>
                <a:spcPts val="300"/>
              </a:spcAft>
            </a:pPr>
            <a:r>
              <a:rPr sz="1500" b="0">
                <a:solidFill>
                  <a:srgbClr val="9CDCFE"/>
                </a:solidFill>
                <a:latin typeface="Arial"/>
              </a:rPr>
              <a:t>   point-to-point links             works at internet scale</a:t>
            </a:r>
          </a:p>
          <a:p>
            <a:pPr algn="l">
              <a:spcAft>
                <a:spcPts val="300"/>
              </a:spcAft>
            </a:pPr>
            <a:r>
              <a:rPr sz="1500" b="0">
                <a:solidFill>
                  <a:srgbClr val="0B1220"/>
                </a:solidFill>
                <a:latin typeface="Arial"/>
              </a:rPr>
              <a:t> </a:t>
            </a:r>
          </a:p>
          <a:p>
            <a:pPr algn="l">
              <a:spcAft>
                <a:spcPts val="300"/>
              </a:spcAft>
            </a:pPr>
            <a:r>
              <a:rPr sz="1500" b="0">
                <a:solidFill>
                  <a:srgbClr val="9CDCFE"/>
                </a:solidFill>
                <a:latin typeface="Arial"/>
              </a:rPr>
              <a:t>NSA/NCSC advise PQC for general use; QKD suits specific high-value links.</a:t>
            </a:r>
          </a:p>
        </p:txBody>
      </p:sp>
      <p:sp>
        <p:nvSpPr>
          <p:cNvPr id="9" name="Rectangle 8"/>
          <p:cNvSpPr/>
          <p:nvPr/>
        </p:nvSpPr>
        <p:spPr>
          <a:xfrm>
            <a:off x="777240" y="5225796"/>
            <a:ext cx="10634472" cy="827532"/>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Rectangle 9"/>
          <p:cNvSpPr/>
          <p:nvPr/>
        </p:nvSpPr>
        <p:spPr>
          <a:xfrm>
            <a:off x="777240" y="5225796"/>
            <a:ext cx="82296" cy="827532"/>
          </a:xfrm>
          <a:prstGeom prst="rect">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 name="TextBox 10"/>
          <p:cNvSpPr txBox="1"/>
          <p:nvPr/>
        </p:nvSpPr>
        <p:spPr>
          <a:xfrm>
            <a:off x="1097280" y="5225796"/>
            <a:ext cx="10149840" cy="827532"/>
          </a:xfrm>
          <a:prstGeom prst="rect">
            <a:avLst/>
          </a:prstGeom>
          <a:noFill/>
        </p:spPr>
        <p:txBody>
          <a:bodyPr wrap="square" anchor="ctr">
            <a:spAutoFit/>
          </a:bodyPr>
          <a:lstStyle/>
          <a:p>
            <a:pPr algn="l">
              <a:spcAft>
                <a:spcPts val="400"/>
              </a:spcAft>
            </a:pPr>
            <a:r>
              <a:rPr sz="1150" b="1">
                <a:solidFill>
                  <a:srgbClr val="10B981"/>
                </a:solidFill>
                <a:latin typeface="Arial"/>
              </a:rPr>
              <a:t>KEY POINT:  </a:t>
            </a:r>
            <a:r>
              <a:rPr sz="1300" b="0">
                <a:solidFill>
                  <a:srgbClr val="161B26"/>
                </a:solidFill>
                <a:latin typeface="Arial"/>
              </a:rPr>
              <a:t>QKD is NOT a drop-in replacement for public-key infrastructure — it still needs an authenticated classical channel to prevent man-in-the-middle.</a:t>
            </a:r>
          </a:p>
        </p:txBody>
      </p:sp>
      <p:sp>
        <p:nvSpPr>
          <p:cNvPr id="12" name="TextBox 11"/>
          <p:cNvSpPr txBox="1"/>
          <p:nvPr/>
        </p:nvSpPr>
        <p:spPr>
          <a:xfrm>
            <a:off x="365760" y="6446520"/>
            <a:ext cx="6858000" cy="320040"/>
          </a:xfrm>
          <a:prstGeom prst="rect">
            <a:avLst/>
          </a:prstGeom>
          <a:noFill/>
        </p:spPr>
        <p:txBody>
          <a:bodyPr wrap="square" anchor="t">
            <a:spAutoFit/>
          </a:bodyPr>
          <a:lstStyle/>
          <a:p>
            <a:pPr algn="l">
              <a:spcAft>
                <a:spcPts val="400"/>
              </a:spcAft>
            </a:pPr>
            <a:r>
              <a:rPr sz="900" b="0">
                <a:solidFill>
                  <a:srgbClr val="5B6372"/>
                </a:solidFill>
                <a:latin typeface="Arial"/>
              </a:rPr>
              <a:t>Securing the Future with Quantum Computing and Cryptography  ·  TGS-2024043419</a:t>
            </a:r>
          </a:p>
        </p:txBody>
      </p:sp>
      <p:sp>
        <p:nvSpPr>
          <p:cNvPr id="13" name="TextBox 12"/>
          <p:cNvSpPr txBox="1"/>
          <p:nvPr/>
        </p:nvSpPr>
        <p:spPr>
          <a:xfrm>
            <a:off x="4572000" y="6446520"/>
            <a:ext cx="3017520" cy="320040"/>
          </a:xfrm>
          <a:prstGeom prst="rect">
            <a:avLst/>
          </a:prstGeom>
          <a:noFill/>
        </p:spPr>
        <p:txBody>
          <a:bodyPr wrap="square" anchor="t">
            <a:spAutoFit/>
          </a:bodyPr>
          <a:lstStyle/>
          <a:p>
            <a:pPr algn="ctr">
              <a:spcAft>
                <a:spcPts val="400"/>
              </a:spcAft>
            </a:pPr>
            <a:r>
              <a:rPr sz="900" b="0">
                <a:solidFill>
                  <a:srgbClr val="5B6372"/>
                </a:solidFill>
                <a:latin typeface="Arial"/>
              </a:rPr>
              <a:t>© 2026 Tertiary Infotech Academy Pte Ltd</a:t>
            </a:r>
          </a:p>
        </p:txBody>
      </p:sp>
      <p:sp>
        <p:nvSpPr>
          <p:cNvPr id="14" name="TextBox 13"/>
          <p:cNvSpPr txBox="1"/>
          <p:nvPr/>
        </p:nvSpPr>
        <p:spPr>
          <a:xfrm>
            <a:off x="11338560" y="6446520"/>
            <a:ext cx="548640" cy="320040"/>
          </a:xfrm>
          <a:prstGeom prst="rect">
            <a:avLst/>
          </a:prstGeom>
          <a:noFill/>
        </p:spPr>
        <p:txBody>
          <a:bodyPr wrap="square" anchor="t">
            <a:spAutoFit/>
          </a:bodyPr>
          <a:lstStyle/>
          <a:p>
            <a:pPr algn="r">
              <a:spcAft>
                <a:spcPts val="400"/>
              </a:spcAft>
            </a:pPr>
            <a:r>
              <a:rPr sz="900" b="0">
                <a:solidFill>
                  <a:srgbClr val="5B6372"/>
                </a:solidFill>
                <a:latin typeface="Arial"/>
              </a:rPr>
              <a:t>199</a:t>
            </a:r>
          </a:p>
        </p:txBody>
      </p:sp>
    </p:spTree>
  </p:cSld>
  <p:clrMapOvr>
    <a:masterClrMapping/>
  </p:clrMapOvr>
</p:sld>
</file>

<file path=ppt/slides/slide201.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256032" cy="1417320"/>
          </a:xfrm>
          <a:prstGeom prst="rect">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777240" y="457200"/>
            <a:ext cx="10607040" cy="365760"/>
          </a:xfrm>
          <a:prstGeom prst="rect">
            <a:avLst/>
          </a:prstGeom>
          <a:noFill/>
        </p:spPr>
        <p:txBody>
          <a:bodyPr wrap="square" anchor="t">
            <a:spAutoFit/>
          </a:bodyPr>
          <a:lstStyle/>
          <a:p>
            <a:pPr algn="l">
              <a:spcAft>
                <a:spcPts val="400"/>
              </a:spcAft>
            </a:pPr>
            <a:r>
              <a:rPr sz="1400" b="1">
                <a:solidFill>
                  <a:srgbClr val="1F6FEB"/>
                </a:solidFill>
                <a:latin typeface="Arial"/>
              </a:rPr>
              <a:t>THREATS, DEFENCES AND WHAT ACTUALLY WORKS</a:t>
            </a:r>
          </a:p>
        </p:txBody>
      </p:sp>
      <p:sp>
        <p:nvSpPr>
          <p:cNvPr id="5" name="TextBox 4"/>
          <p:cNvSpPr txBox="1"/>
          <p:nvPr/>
        </p:nvSpPr>
        <p:spPr>
          <a:xfrm>
            <a:off x="777240" y="822960"/>
            <a:ext cx="10881360" cy="822960"/>
          </a:xfrm>
          <a:prstGeom prst="rect">
            <a:avLst/>
          </a:prstGeom>
          <a:noFill/>
        </p:spPr>
        <p:txBody>
          <a:bodyPr wrap="square" anchor="t">
            <a:spAutoFit/>
          </a:bodyPr>
          <a:lstStyle/>
          <a:p>
            <a:pPr algn="l">
              <a:spcAft>
                <a:spcPts val="400"/>
              </a:spcAft>
            </a:pPr>
            <a:r>
              <a:rPr sz="2900" b="1">
                <a:solidFill>
                  <a:srgbClr val="161B26"/>
                </a:solidFill>
                <a:latin typeface="Arial"/>
              </a:rPr>
              <a:t>Quantum random number generation (QRNG)</a:t>
            </a:r>
          </a:p>
        </p:txBody>
      </p:sp>
      <p:sp>
        <p:nvSpPr>
          <p:cNvPr id="6" name="Rectangle 5"/>
          <p:cNvSpPr/>
          <p:nvPr/>
        </p:nvSpPr>
        <p:spPr>
          <a:xfrm>
            <a:off x="777240" y="1554480"/>
            <a:ext cx="10634472" cy="18288"/>
          </a:xfrm>
          <a:prstGeom prst="rect">
            <a:avLst/>
          </a:prstGeom>
          <a:solidFill>
            <a:srgbClr val="E2E8F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Rectangle 6"/>
          <p:cNvSpPr/>
          <p:nvPr/>
        </p:nvSpPr>
        <p:spPr>
          <a:xfrm>
            <a:off x="777240" y="1810512"/>
            <a:ext cx="10634472" cy="3214116"/>
          </a:xfrm>
          <a:prstGeom prst="rect">
            <a:avLst/>
          </a:prstGeom>
          <a:solidFill>
            <a:srgbClr val="0B122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TextBox 7"/>
          <p:cNvSpPr txBox="1"/>
          <p:nvPr/>
        </p:nvSpPr>
        <p:spPr>
          <a:xfrm>
            <a:off x="1097280" y="1956816"/>
            <a:ext cx="9994392" cy="2921508"/>
          </a:xfrm>
          <a:prstGeom prst="rect">
            <a:avLst/>
          </a:prstGeom>
          <a:noFill/>
        </p:spPr>
        <p:txBody>
          <a:bodyPr wrap="square" anchor="t">
            <a:spAutoFit/>
          </a:bodyPr>
          <a:lstStyle/>
          <a:p>
            <a:pPr algn="l">
              <a:spcAft>
                <a:spcPts val="300"/>
              </a:spcAft>
            </a:pPr>
            <a:r>
              <a:rPr sz="1500" b="0">
                <a:solidFill>
                  <a:srgbClr val="9CDCFE"/>
                </a:solidFill>
                <a:latin typeface="Arial"/>
              </a:rPr>
              <a:t>Classical PRNGs are DETERMINISTIC — given the seed, the output follows.</a:t>
            </a:r>
          </a:p>
          <a:p>
            <a:pPr algn="l">
              <a:spcAft>
                <a:spcPts val="300"/>
              </a:spcAft>
            </a:pPr>
            <a:r>
              <a:rPr sz="1500" b="0">
                <a:solidFill>
                  <a:srgbClr val="0B1220"/>
                </a:solidFill>
                <a:latin typeface="Arial"/>
              </a:rPr>
              <a:t> </a:t>
            </a:r>
          </a:p>
          <a:p>
            <a:pPr algn="l">
              <a:spcAft>
                <a:spcPts val="300"/>
              </a:spcAft>
            </a:pPr>
            <a:r>
              <a:rPr sz="1500" b="0">
                <a:solidFill>
                  <a:srgbClr val="9CDCFE"/>
                </a:solidFill>
                <a:latin typeface="Arial"/>
              </a:rPr>
              <a:t>QRNG derives randomness from a genuinely indeterministic quantum event:</a:t>
            </a:r>
          </a:p>
          <a:p>
            <a:pPr algn="l">
              <a:spcAft>
                <a:spcPts val="300"/>
              </a:spcAft>
            </a:pPr>
            <a:r>
              <a:rPr sz="1500" b="0">
                <a:solidFill>
                  <a:srgbClr val="9CDCFE"/>
                </a:solidFill>
                <a:latin typeface="Arial"/>
              </a:rPr>
              <a:t>   • which path a photon takes at a beamsplitter</a:t>
            </a:r>
          </a:p>
          <a:p>
            <a:pPr algn="l">
              <a:spcAft>
                <a:spcPts val="300"/>
              </a:spcAft>
            </a:pPr>
            <a:r>
              <a:rPr sz="1500" b="0">
                <a:solidFill>
                  <a:srgbClr val="9CDCFE"/>
                </a:solidFill>
                <a:latin typeface="Arial"/>
              </a:rPr>
              <a:t>   • vacuum fluctuation amplitude</a:t>
            </a:r>
          </a:p>
          <a:p>
            <a:pPr algn="l">
              <a:spcAft>
                <a:spcPts val="300"/>
              </a:spcAft>
            </a:pPr>
            <a:r>
              <a:rPr sz="1500" b="0">
                <a:solidFill>
                  <a:srgbClr val="9CDCFE"/>
                </a:solidFill>
                <a:latin typeface="Arial"/>
              </a:rPr>
              <a:t>   • arrival-time jitter of photons</a:t>
            </a:r>
          </a:p>
          <a:p>
            <a:pPr algn="l">
              <a:spcAft>
                <a:spcPts val="300"/>
              </a:spcAft>
            </a:pPr>
            <a:r>
              <a:rPr sz="1500" b="0">
                <a:solidFill>
                  <a:srgbClr val="0B1220"/>
                </a:solidFill>
                <a:latin typeface="Arial"/>
              </a:rPr>
              <a:t> </a:t>
            </a:r>
          </a:p>
          <a:p>
            <a:pPr algn="l">
              <a:spcAft>
                <a:spcPts val="300"/>
              </a:spcAft>
            </a:pPr>
            <a:r>
              <a:rPr sz="1500" b="0">
                <a:solidFill>
                  <a:srgbClr val="9CDCFE"/>
                </a:solidFill>
                <a:latin typeface="Arial"/>
              </a:rPr>
              <a:t>Axiom 4 (the Born rule) guarantees the outcome is fundamentally random,</a:t>
            </a:r>
          </a:p>
          <a:p>
            <a:pPr algn="l">
              <a:spcAft>
                <a:spcPts val="300"/>
              </a:spcAft>
            </a:pPr>
            <a:r>
              <a:rPr sz="1500" b="0">
                <a:solidFill>
                  <a:srgbClr val="9CDCFE"/>
                </a:solidFill>
                <a:latin typeface="Arial"/>
              </a:rPr>
              <a:t>not merely hard to predict.</a:t>
            </a:r>
          </a:p>
        </p:txBody>
      </p:sp>
      <p:sp>
        <p:nvSpPr>
          <p:cNvPr id="9" name="Rectangle 8"/>
          <p:cNvSpPr/>
          <p:nvPr/>
        </p:nvSpPr>
        <p:spPr>
          <a:xfrm>
            <a:off x="777240" y="5225796"/>
            <a:ext cx="10634472" cy="827532"/>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Rectangle 9"/>
          <p:cNvSpPr/>
          <p:nvPr/>
        </p:nvSpPr>
        <p:spPr>
          <a:xfrm>
            <a:off x="777240" y="5225796"/>
            <a:ext cx="82296" cy="827532"/>
          </a:xfrm>
          <a:prstGeom prst="rect">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 name="TextBox 10"/>
          <p:cNvSpPr txBox="1"/>
          <p:nvPr/>
        </p:nvSpPr>
        <p:spPr>
          <a:xfrm>
            <a:off x="1097280" y="5225796"/>
            <a:ext cx="10149840" cy="827532"/>
          </a:xfrm>
          <a:prstGeom prst="rect">
            <a:avLst/>
          </a:prstGeom>
          <a:noFill/>
        </p:spPr>
        <p:txBody>
          <a:bodyPr wrap="square" anchor="ctr">
            <a:spAutoFit/>
          </a:bodyPr>
          <a:lstStyle/>
          <a:p>
            <a:pPr algn="l">
              <a:spcAft>
                <a:spcPts val="400"/>
              </a:spcAft>
            </a:pPr>
            <a:r>
              <a:rPr sz="1150" b="1">
                <a:solidFill>
                  <a:srgbClr val="10B981"/>
                </a:solidFill>
                <a:latin typeface="Arial"/>
              </a:rPr>
              <a:t>KEY POINT:  </a:t>
            </a:r>
            <a:r>
              <a:rPr sz="1300" b="0">
                <a:solidFill>
                  <a:srgbClr val="161B26"/>
                </a:solidFill>
                <a:latin typeface="Arial"/>
              </a:rPr>
              <a:t>QRNG is the most mature and deployable quantum security technology today — and weak randomness is a very common real-world failure.</a:t>
            </a:r>
          </a:p>
        </p:txBody>
      </p:sp>
      <p:sp>
        <p:nvSpPr>
          <p:cNvPr id="12" name="TextBox 11"/>
          <p:cNvSpPr txBox="1"/>
          <p:nvPr/>
        </p:nvSpPr>
        <p:spPr>
          <a:xfrm>
            <a:off x="365760" y="6446520"/>
            <a:ext cx="6858000" cy="320040"/>
          </a:xfrm>
          <a:prstGeom prst="rect">
            <a:avLst/>
          </a:prstGeom>
          <a:noFill/>
        </p:spPr>
        <p:txBody>
          <a:bodyPr wrap="square" anchor="t">
            <a:spAutoFit/>
          </a:bodyPr>
          <a:lstStyle/>
          <a:p>
            <a:pPr algn="l">
              <a:spcAft>
                <a:spcPts val="400"/>
              </a:spcAft>
            </a:pPr>
            <a:r>
              <a:rPr sz="900" b="0">
                <a:solidFill>
                  <a:srgbClr val="5B6372"/>
                </a:solidFill>
                <a:latin typeface="Arial"/>
              </a:rPr>
              <a:t>Securing the Future with Quantum Computing and Cryptography  ·  TGS-2024043419</a:t>
            </a:r>
          </a:p>
        </p:txBody>
      </p:sp>
      <p:sp>
        <p:nvSpPr>
          <p:cNvPr id="13" name="TextBox 12"/>
          <p:cNvSpPr txBox="1"/>
          <p:nvPr/>
        </p:nvSpPr>
        <p:spPr>
          <a:xfrm>
            <a:off x="4572000" y="6446520"/>
            <a:ext cx="3017520" cy="320040"/>
          </a:xfrm>
          <a:prstGeom prst="rect">
            <a:avLst/>
          </a:prstGeom>
          <a:noFill/>
        </p:spPr>
        <p:txBody>
          <a:bodyPr wrap="square" anchor="t">
            <a:spAutoFit/>
          </a:bodyPr>
          <a:lstStyle/>
          <a:p>
            <a:pPr algn="ctr">
              <a:spcAft>
                <a:spcPts val="400"/>
              </a:spcAft>
            </a:pPr>
            <a:r>
              <a:rPr sz="900" b="0">
                <a:solidFill>
                  <a:srgbClr val="5B6372"/>
                </a:solidFill>
                <a:latin typeface="Arial"/>
              </a:rPr>
              <a:t>© 2026 Tertiary Infotech Academy Pte Ltd</a:t>
            </a:r>
          </a:p>
        </p:txBody>
      </p:sp>
      <p:sp>
        <p:nvSpPr>
          <p:cNvPr id="14" name="TextBox 13"/>
          <p:cNvSpPr txBox="1"/>
          <p:nvPr/>
        </p:nvSpPr>
        <p:spPr>
          <a:xfrm>
            <a:off x="11338560" y="6446520"/>
            <a:ext cx="548640" cy="320040"/>
          </a:xfrm>
          <a:prstGeom prst="rect">
            <a:avLst/>
          </a:prstGeom>
          <a:noFill/>
        </p:spPr>
        <p:txBody>
          <a:bodyPr wrap="square" anchor="t">
            <a:spAutoFit/>
          </a:bodyPr>
          <a:lstStyle/>
          <a:p>
            <a:pPr algn="r">
              <a:spcAft>
                <a:spcPts val="400"/>
              </a:spcAft>
            </a:pPr>
            <a:r>
              <a:rPr sz="900" b="0">
                <a:solidFill>
                  <a:srgbClr val="5B6372"/>
                </a:solidFill>
                <a:latin typeface="Arial"/>
              </a:rPr>
              <a:t>200</a:t>
            </a:r>
          </a:p>
        </p:txBody>
      </p:sp>
    </p:spTree>
  </p:cSld>
  <p:clrMapOvr>
    <a:masterClrMapping/>
  </p:clrMapOvr>
</p:sld>
</file>

<file path=ppt/slides/slide202.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256032" cy="1417320"/>
          </a:xfrm>
          <a:prstGeom prst="rect">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777240" y="457200"/>
            <a:ext cx="10607040" cy="365760"/>
          </a:xfrm>
          <a:prstGeom prst="rect">
            <a:avLst/>
          </a:prstGeom>
          <a:noFill/>
        </p:spPr>
        <p:txBody>
          <a:bodyPr wrap="square" anchor="t">
            <a:spAutoFit/>
          </a:bodyPr>
          <a:lstStyle/>
          <a:p>
            <a:pPr algn="l">
              <a:spcAft>
                <a:spcPts val="400"/>
              </a:spcAft>
            </a:pPr>
            <a:r>
              <a:rPr sz="1400" b="1">
                <a:solidFill>
                  <a:srgbClr val="1F6FEB"/>
                </a:solidFill>
                <a:latin typeface="Arial"/>
              </a:rPr>
              <a:t>THREATS, DEFENCES AND WHAT ACTUALLY WORKS</a:t>
            </a:r>
          </a:p>
        </p:txBody>
      </p:sp>
      <p:sp>
        <p:nvSpPr>
          <p:cNvPr id="5" name="TextBox 4"/>
          <p:cNvSpPr txBox="1"/>
          <p:nvPr/>
        </p:nvSpPr>
        <p:spPr>
          <a:xfrm>
            <a:off x="777240" y="822960"/>
            <a:ext cx="10881360" cy="822960"/>
          </a:xfrm>
          <a:prstGeom prst="rect">
            <a:avLst/>
          </a:prstGeom>
          <a:noFill/>
        </p:spPr>
        <p:txBody>
          <a:bodyPr wrap="square" anchor="t">
            <a:spAutoFit/>
          </a:bodyPr>
          <a:lstStyle/>
          <a:p>
            <a:pPr algn="l">
              <a:spcAft>
                <a:spcPts val="400"/>
              </a:spcAft>
            </a:pPr>
            <a:r>
              <a:rPr sz="2900" b="1">
                <a:solidFill>
                  <a:srgbClr val="161B26"/>
                </a:solidFill>
                <a:latin typeface="Arial"/>
              </a:rPr>
              <a:t>Defence-in-depth for the quantum era</a:t>
            </a:r>
          </a:p>
        </p:txBody>
      </p:sp>
      <p:sp>
        <p:nvSpPr>
          <p:cNvPr id="6" name="Rectangle 5"/>
          <p:cNvSpPr/>
          <p:nvPr/>
        </p:nvSpPr>
        <p:spPr>
          <a:xfrm>
            <a:off x="777240" y="1554480"/>
            <a:ext cx="10634472" cy="18288"/>
          </a:xfrm>
          <a:prstGeom prst="rect">
            <a:avLst/>
          </a:prstGeom>
          <a:solidFill>
            <a:srgbClr val="E2E8F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Rectangle 6"/>
          <p:cNvSpPr/>
          <p:nvPr/>
        </p:nvSpPr>
        <p:spPr>
          <a:xfrm>
            <a:off x="777240" y="1810512"/>
            <a:ext cx="10634472" cy="3520440"/>
          </a:xfrm>
          <a:prstGeom prst="rect">
            <a:avLst/>
          </a:prstGeom>
          <a:solidFill>
            <a:srgbClr val="0B122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TextBox 7"/>
          <p:cNvSpPr txBox="1"/>
          <p:nvPr/>
        </p:nvSpPr>
        <p:spPr>
          <a:xfrm>
            <a:off x="1097280" y="1956816"/>
            <a:ext cx="9994392" cy="3227832"/>
          </a:xfrm>
          <a:prstGeom prst="rect">
            <a:avLst/>
          </a:prstGeom>
          <a:noFill/>
        </p:spPr>
        <p:txBody>
          <a:bodyPr wrap="square" anchor="t">
            <a:spAutoFit/>
          </a:bodyPr>
          <a:lstStyle/>
          <a:p>
            <a:pPr algn="l">
              <a:spcAft>
                <a:spcPts val="300"/>
              </a:spcAft>
            </a:pPr>
            <a:r>
              <a:rPr sz="1320" b="0">
                <a:solidFill>
                  <a:srgbClr val="9CDCFE"/>
                </a:solidFill>
                <a:latin typeface="Arial"/>
              </a:rPr>
              <a:t>   NOW      inventory crypto; switch to AES-256 and SHA-384/512;</a:t>
            </a:r>
          </a:p>
          <a:p>
            <a:pPr algn="l">
              <a:spcAft>
                <a:spcPts val="300"/>
              </a:spcAft>
            </a:pPr>
            <a:r>
              <a:rPr sz="1320" b="0">
                <a:solidFill>
                  <a:srgbClr val="9CDCFE"/>
                </a:solidFill>
                <a:latin typeface="Arial"/>
              </a:rPr>
              <a:t>            deploy hybrid key exchange; buy crypto-agility</a:t>
            </a:r>
          </a:p>
          <a:p>
            <a:pPr algn="l">
              <a:spcAft>
                <a:spcPts val="300"/>
              </a:spcAft>
            </a:pPr>
            <a:r>
              <a:rPr sz="1320" b="0">
                <a:solidFill>
                  <a:srgbClr val="0B1220"/>
                </a:solidFill>
                <a:latin typeface="Arial"/>
              </a:rPr>
              <a:t> </a:t>
            </a:r>
          </a:p>
          <a:p>
            <a:pPr algn="l">
              <a:spcAft>
                <a:spcPts val="300"/>
              </a:spcAft>
            </a:pPr>
            <a:r>
              <a:rPr sz="1320" b="0">
                <a:solidFill>
                  <a:srgbClr val="9CDCFE"/>
                </a:solidFill>
                <a:latin typeface="Arial"/>
              </a:rPr>
              <a:t>   NEXT     migrate signatures to ML-DSA; PQC certificate chains;</a:t>
            </a:r>
          </a:p>
          <a:p>
            <a:pPr algn="l">
              <a:spcAft>
                <a:spcPts val="300"/>
              </a:spcAft>
            </a:pPr>
            <a:r>
              <a:rPr sz="1320" b="0">
                <a:solidFill>
                  <a:srgbClr val="9CDCFE"/>
                </a:solidFill>
                <a:latin typeface="Arial"/>
              </a:rPr>
              <a:t>            update embedded and IoT firmware pipelines</a:t>
            </a:r>
          </a:p>
          <a:p>
            <a:pPr algn="l">
              <a:spcAft>
                <a:spcPts val="300"/>
              </a:spcAft>
            </a:pPr>
            <a:r>
              <a:rPr sz="1320" b="0">
                <a:solidFill>
                  <a:srgbClr val="0B1220"/>
                </a:solidFill>
                <a:latin typeface="Arial"/>
              </a:rPr>
              <a:t> </a:t>
            </a:r>
          </a:p>
          <a:p>
            <a:pPr algn="l">
              <a:spcAft>
                <a:spcPts val="300"/>
              </a:spcAft>
            </a:pPr>
            <a:r>
              <a:rPr sz="1320" b="0">
                <a:solidFill>
                  <a:srgbClr val="9CDCFE"/>
                </a:solidFill>
                <a:latin typeface="Arial"/>
              </a:rPr>
              <a:t>   ONGOING  monitor NIST/vendor guidance; re-run the CBOM;</a:t>
            </a:r>
          </a:p>
          <a:p>
            <a:pPr algn="l">
              <a:spcAft>
                <a:spcPts val="300"/>
              </a:spcAft>
            </a:pPr>
            <a:r>
              <a:rPr sz="1320" b="0">
                <a:solidFill>
                  <a:srgbClr val="9CDCFE"/>
                </a:solidFill>
                <a:latin typeface="Arial"/>
              </a:rPr>
              <a:t>            treat algorithm agility as a permanent capability</a:t>
            </a:r>
          </a:p>
          <a:p>
            <a:pPr algn="l">
              <a:spcAft>
                <a:spcPts val="300"/>
              </a:spcAft>
            </a:pPr>
            <a:r>
              <a:rPr sz="1320" b="0">
                <a:solidFill>
                  <a:srgbClr val="0B1220"/>
                </a:solidFill>
                <a:latin typeface="Arial"/>
              </a:rPr>
              <a:t> </a:t>
            </a:r>
          </a:p>
          <a:p>
            <a:pPr algn="l">
              <a:spcAft>
                <a:spcPts val="300"/>
              </a:spcAft>
            </a:pPr>
            <a:r>
              <a:rPr sz="1320" b="0">
                <a:solidFill>
                  <a:srgbClr val="9CDCFE"/>
                </a:solidFill>
                <a:latin typeface="Arial"/>
              </a:rPr>
              <a:t>   SPECIAL  QKD only where the threat model and budget genuinely justify it</a:t>
            </a:r>
          </a:p>
        </p:txBody>
      </p:sp>
      <p:sp>
        <p:nvSpPr>
          <p:cNvPr id="9" name="Rectangle 8"/>
          <p:cNvSpPr/>
          <p:nvPr/>
        </p:nvSpPr>
        <p:spPr>
          <a:xfrm>
            <a:off x="777240" y="5532120"/>
            <a:ext cx="10634472" cy="521208"/>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Rectangle 9"/>
          <p:cNvSpPr/>
          <p:nvPr/>
        </p:nvSpPr>
        <p:spPr>
          <a:xfrm>
            <a:off x="777240" y="5532120"/>
            <a:ext cx="82296" cy="521208"/>
          </a:xfrm>
          <a:prstGeom prst="rect">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 name="TextBox 10"/>
          <p:cNvSpPr txBox="1"/>
          <p:nvPr/>
        </p:nvSpPr>
        <p:spPr>
          <a:xfrm>
            <a:off x="1097280" y="5532120"/>
            <a:ext cx="10149840" cy="521208"/>
          </a:xfrm>
          <a:prstGeom prst="rect">
            <a:avLst/>
          </a:prstGeom>
          <a:noFill/>
        </p:spPr>
        <p:txBody>
          <a:bodyPr wrap="square" anchor="ctr">
            <a:spAutoFit/>
          </a:bodyPr>
          <a:lstStyle/>
          <a:p>
            <a:pPr algn="l">
              <a:spcAft>
                <a:spcPts val="400"/>
              </a:spcAft>
            </a:pPr>
            <a:r>
              <a:rPr sz="1150" b="1">
                <a:solidFill>
                  <a:srgbClr val="10B981"/>
                </a:solidFill>
                <a:latin typeface="Arial"/>
              </a:rPr>
              <a:t>KEY POINT:  </a:t>
            </a:r>
            <a:r>
              <a:rPr sz="1300" b="0">
                <a:solidFill>
                  <a:srgbClr val="161B26"/>
                </a:solidFill>
                <a:latin typeface="Arial"/>
              </a:rPr>
              <a:t>The sequencing matters: confidentiality (harvest-now risk) before authenticity (which an attacker must break in real time).</a:t>
            </a:r>
          </a:p>
        </p:txBody>
      </p:sp>
      <p:sp>
        <p:nvSpPr>
          <p:cNvPr id="12" name="TextBox 11"/>
          <p:cNvSpPr txBox="1"/>
          <p:nvPr/>
        </p:nvSpPr>
        <p:spPr>
          <a:xfrm>
            <a:off x="365760" y="6446520"/>
            <a:ext cx="6858000" cy="320040"/>
          </a:xfrm>
          <a:prstGeom prst="rect">
            <a:avLst/>
          </a:prstGeom>
          <a:noFill/>
        </p:spPr>
        <p:txBody>
          <a:bodyPr wrap="square" anchor="t">
            <a:spAutoFit/>
          </a:bodyPr>
          <a:lstStyle/>
          <a:p>
            <a:pPr algn="l">
              <a:spcAft>
                <a:spcPts val="400"/>
              </a:spcAft>
            </a:pPr>
            <a:r>
              <a:rPr sz="900" b="0">
                <a:solidFill>
                  <a:srgbClr val="5B6372"/>
                </a:solidFill>
                <a:latin typeface="Arial"/>
              </a:rPr>
              <a:t>Securing the Future with Quantum Computing and Cryptography  ·  TGS-2024043419</a:t>
            </a:r>
          </a:p>
        </p:txBody>
      </p:sp>
      <p:sp>
        <p:nvSpPr>
          <p:cNvPr id="13" name="TextBox 12"/>
          <p:cNvSpPr txBox="1"/>
          <p:nvPr/>
        </p:nvSpPr>
        <p:spPr>
          <a:xfrm>
            <a:off x="4572000" y="6446520"/>
            <a:ext cx="3017520" cy="320040"/>
          </a:xfrm>
          <a:prstGeom prst="rect">
            <a:avLst/>
          </a:prstGeom>
          <a:noFill/>
        </p:spPr>
        <p:txBody>
          <a:bodyPr wrap="square" anchor="t">
            <a:spAutoFit/>
          </a:bodyPr>
          <a:lstStyle/>
          <a:p>
            <a:pPr algn="ctr">
              <a:spcAft>
                <a:spcPts val="400"/>
              </a:spcAft>
            </a:pPr>
            <a:r>
              <a:rPr sz="900" b="0">
                <a:solidFill>
                  <a:srgbClr val="5B6372"/>
                </a:solidFill>
                <a:latin typeface="Arial"/>
              </a:rPr>
              <a:t>© 2026 Tertiary Infotech Academy Pte Ltd</a:t>
            </a:r>
          </a:p>
        </p:txBody>
      </p:sp>
      <p:sp>
        <p:nvSpPr>
          <p:cNvPr id="14" name="TextBox 13"/>
          <p:cNvSpPr txBox="1"/>
          <p:nvPr/>
        </p:nvSpPr>
        <p:spPr>
          <a:xfrm>
            <a:off x="11338560" y="6446520"/>
            <a:ext cx="548640" cy="320040"/>
          </a:xfrm>
          <a:prstGeom prst="rect">
            <a:avLst/>
          </a:prstGeom>
          <a:noFill/>
        </p:spPr>
        <p:txBody>
          <a:bodyPr wrap="square" anchor="t">
            <a:spAutoFit/>
          </a:bodyPr>
          <a:lstStyle/>
          <a:p>
            <a:pPr algn="r">
              <a:spcAft>
                <a:spcPts val="400"/>
              </a:spcAft>
            </a:pPr>
            <a:r>
              <a:rPr sz="900" b="0">
                <a:solidFill>
                  <a:srgbClr val="5B6372"/>
                </a:solidFill>
                <a:latin typeface="Arial"/>
              </a:rPr>
              <a:t>201</a:t>
            </a:r>
          </a:p>
        </p:txBody>
      </p:sp>
    </p:spTree>
  </p:cSld>
  <p:clrMapOvr>
    <a:masterClrMapping/>
  </p:clrMapOvr>
</p:sld>
</file>

<file path=ppt/slides/slide203.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256032" cy="1417320"/>
          </a:xfrm>
          <a:prstGeom prst="rect">
            <a:avLst/>
          </a:prstGeom>
          <a:solidFill>
            <a:srgbClr val="7C3AE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777240" y="457200"/>
            <a:ext cx="10607040" cy="365760"/>
          </a:xfrm>
          <a:prstGeom prst="rect">
            <a:avLst/>
          </a:prstGeom>
          <a:noFill/>
        </p:spPr>
        <p:txBody>
          <a:bodyPr wrap="square" anchor="t">
            <a:spAutoFit/>
          </a:bodyPr>
          <a:lstStyle/>
          <a:p>
            <a:pPr algn="l">
              <a:spcAft>
                <a:spcPts val="400"/>
              </a:spcAft>
            </a:pPr>
            <a:r>
              <a:rPr sz="1400" b="1">
                <a:solidFill>
                  <a:srgbClr val="7C3AED"/>
                </a:solidFill>
                <a:latin typeface="Arial"/>
              </a:rPr>
              <a:t>DERIVATION</a:t>
            </a:r>
          </a:p>
        </p:txBody>
      </p:sp>
      <p:sp>
        <p:nvSpPr>
          <p:cNvPr id="5" name="TextBox 4"/>
          <p:cNvSpPr txBox="1"/>
          <p:nvPr/>
        </p:nvSpPr>
        <p:spPr>
          <a:xfrm>
            <a:off x="777240" y="822960"/>
            <a:ext cx="10881360" cy="822960"/>
          </a:xfrm>
          <a:prstGeom prst="rect">
            <a:avLst/>
          </a:prstGeom>
          <a:noFill/>
        </p:spPr>
        <p:txBody>
          <a:bodyPr wrap="square" anchor="t">
            <a:spAutoFit/>
          </a:bodyPr>
          <a:lstStyle/>
          <a:p>
            <a:pPr algn="l">
              <a:spcAft>
                <a:spcPts val="400"/>
              </a:spcAft>
            </a:pPr>
            <a:r>
              <a:rPr sz="2900" b="1">
                <a:solidFill>
                  <a:srgbClr val="161B26"/>
                </a:solidFill>
                <a:latin typeface="Arial"/>
              </a:rPr>
              <a:t>Proof — Shor's Algorithm Breaks RSA</a:t>
            </a:r>
          </a:p>
        </p:txBody>
      </p:sp>
      <p:sp>
        <p:nvSpPr>
          <p:cNvPr id="6" name="Rectangle 5"/>
          <p:cNvSpPr/>
          <p:nvPr/>
        </p:nvSpPr>
        <p:spPr>
          <a:xfrm>
            <a:off x="777240" y="1554480"/>
            <a:ext cx="10634472" cy="18288"/>
          </a:xfrm>
          <a:prstGeom prst="rect">
            <a:avLst/>
          </a:prstGeom>
          <a:solidFill>
            <a:srgbClr val="E2E8F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Rectangle 6"/>
          <p:cNvSpPr/>
          <p:nvPr/>
        </p:nvSpPr>
        <p:spPr>
          <a:xfrm>
            <a:off x="777240" y="1783080"/>
            <a:ext cx="10634472" cy="1371600"/>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Rectangle 7"/>
          <p:cNvSpPr/>
          <p:nvPr/>
        </p:nvSpPr>
        <p:spPr>
          <a:xfrm>
            <a:off x="777240" y="1783080"/>
            <a:ext cx="100584" cy="1371600"/>
          </a:xfrm>
          <a:prstGeom prst="rect">
            <a:avLst/>
          </a:prstGeom>
          <a:solidFill>
            <a:srgbClr val="7C3AE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TextBox 8"/>
          <p:cNvSpPr txBox="1"/>
          <p:nvPr/>
        </p:nvSpPr>
        <p:spPr>
          <a:xfrm>
            <a:off x="1143000" y="1938528"/>
            <a:ext cx="10058400" cy="365760"/>
          </a:xfrm>
          <a:prstGeom prst="rect">
            <a:avLst/>
          </a:prstGeom>
          <a:noFill/>
        </p:spPr>
        <p:txBody>
          <a:bodyPr wrap="square" anchor="t">
            <a:spAutoFit/>
          </a:bodyPr>
          <a:lstStyle/>
          <a:p>
            <a:pPr algn="l">
              <a:spcAft>
                <a:spcPts val="400"/>
              </a:spcAft>
            </a:pPr>
            <a:r>
              <a:rPr sz="1200" b="1">
                <a:solidFill>
                  <a:srgbClr val="7C3AED"/>
                </a:solidFill>
                <a:latin typeface="Arial"/>
              </a:rPr>
              <a:t>CLAIM</a:t>
            </a:r>
          </a:p>
        </p:txBody>
      </p:sp>
      <p:sp>
        <p:nvSpPr>
          <p:cNvPr id="10" name="TextBox 9"/>
          <p:cNvSpPr txBox="1"/>
          <p:nvPr/>
        </p:nvSpPr>
        <p:spPr>
          <a:xfrm>
            <a:off x="1143000" y="2304288"/>
            <a:ext cx="10058400" cy="777240"/>
          </a:xfrm>
          <a:prstGeom prst="rect">
            <a:avLst/>
          </a:prstGeom>
          <a:noFill/>
        </p:spPr>
        <p:txBody>
          <a:bodyPr wrap="square" anchor="t">
            <a:spAutoFit/>
          </a:bodyPr>
          <a:lstStyle/>
          <a:p>
            <a:pPr algn="l">
              <a:spcAft>
                <a:spcPts val="400"/>
              </a:spcAft>
            </a:pPr>
            <a:r>
              <a:rPr sz="1550" b="1">
                <a:solidFill>
                  <a:srgbClr val="161B26"/>
                </a:solidFill>
                <a:latin typeface="Arial"/>
              </a:rPr>
              <a:t>Factoring reduces to period finding, which a quantum computer solves in polynomial time.</a:t>
            </a:r>
          </a:p>
        </p:txBody>
      </p:sp>
      <p:sp>
        <p:nvSpPr>
          <p:cNvPr id="11" name="TextBox 10"/>
          <p:cNvSpPr txBox="1"/>
          <p:nvPr/>
        </p:nvSpPr>
        <p:spPr>
          <a:xfrm>
            <a:off x="777240" y="3364992"/>
            <a:ext cx="10607040" cy="365760"/>
          </a:xfrm>
          <a:prstGeom prst="rect">
            <a:avLst/>
          </a:prstGeom>
          <a:noFill/>
        </p:spPr>
        <p:txBody>
          <a:bodyPr wrap="square" anchor="t">
            <a:spAutoFit/>
          </a:bodyPr>
          <a:lstStyle/>
          <a:p>
            <a:pPr algn="l">
              <a:spcAft>
                <a:spcPts val="400"/>
              </a:spcAft>
            </a:pPr>
            <a:r>
              <a:rPr sz="1200" b="1">
                <a:solidFill>
                  <a:srgbClr val="1F6FEB"/>
                </a:solidFill>
                <a:latin typeface="Arial"/>
              </a:rPr>
              <a:t>GIVEN</a:t>
            </a:r>
          </a:p>
        </p:txBody>
      </p:sp>
      <p:sp>
        <p:nvSpPr>
          <p:cNvPr id="12" name="Rectangle 11"/>
          <p:cNvSpPr/>
          <p:nvPr/>
        </p:nvSpPr>
        <p:spPr>
          <a:xfrm>
            <a:off x="777240" y="3730752"/>
            <a:ext cx="10634472" cy="783336"/>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 name="Rectangle 12"/>
          <p:cNvSpPr/>
          <p:nvPr/>
        </p:nvSpPr>
        <p:spPr>
          <a:xfrm>
            <a:off x="777240" y="3730752"/>
            <a:ext cx="82296" cy="783336"/>
          </a:xfrm>
          <a:prstGeom prst="rect">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 name="TextBox 13"/>
          <p:cNvSpPr txBox="1"/>
          <p:nvPr/>
        </p:nvSpPr>
        <p:spPr>
          <a:xfrm>
            <a:off x="1097280" y="3730752"/>
            <a:ext cx="10149840" cy="783336"/>
          </a:xfrm>
          <a:prstGeom prst="rect">
            <a:avLst/>
          </a:prstGeom>
          <a:noFill/>
        </p:spPr>
        <p:txBody>
          <a:bodyPr wrap="square" anchor="ctr">
            <a:spAutoFit/>
          </a:bodyPr>
          <a:lstStyle/>
          <a:p>
            <a:pPr algn="l">
              <a:spcAft>
                <a:spcPts val="400"/>
              </a:spcAft>
            </a:pPr>
            <a:r>
              <a:rPr sz="1300" b="0">
                <a:solidFill>
                  <a:srgbClr val="161B26"/>
                </a:solidFill>
                <a:latin typeface="Arial"/>
              </a:rPr>
              <a:t>Goal: factor a composite N (e.g. an RSA modulus).</a:t>
            </a:r>
          </a:p>
        </p:txBody>
      </p:sp>
      <p:sp>
        <p:nvSpPr>
          <p:cNvPr id="15" name="Rectangle 14"/>
          <p:cNvSpPr/>
          <p:nvPr/>
        </p:nvSpPr>
        <p:spPr>
          <a:xfrm>
            <a:off x="777240" y="4642104"/>
            <a:ext cx="10634472" cy="783336"/>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6" name="Rectangle 15"/>
          <p:cNvSpPr/>
          <p:nvPr/>
        </p:nvSpPr>
        <p:spPr>
          <a:xfrm>
            <a:off x="777240" y="4642104"/>
            <a:ext cx="82296" cy="783336"/>
          </a:xfrm>
          <a:prstGeom prst="rect">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7" name="TextBox 16"/>
          <p:cNvSpPr txBox="1"/>
          <p:nvPr/>
        </p:nvSpPr>
        <p:spPr>
          <a:xfrm>
            <a:off x="1097280" y="4642104"/>
            <a:ext cx="10149840" cy="783336"/>
          </a:xfrm>
          <a:prstGeom prst="rect">
            <a:avLst/>
          </a:prstGeom>
          <a:noFill/>
        </p:spPr>
        <p:txBody>
          <a:bodyPr wrap="square" anchor="ctr">
            <a:spAutoFit/>
          </a:bodyPr>
          <a:lstStyle/>
          <a:p>
            <a:pPr algn="l">
              <a:spcAft>
                <a:spcPts val="400"/>
              </a:spcAft>
            </a:pPr>
            <a:r>
              <a:rPr sz="1300" b="0">
                <a:solidFill>
                  <a:srgbClr val="161B26"/>
                </a:solidFill>
                <a:latin typeface="Arial"/>
              </a:rPr>
              <a:t>Best known classical method (GNFS) is sub-exponential: exp(O((log N)^(1/3))).</a:t>
            </a:r>
          </a:p>
        </p:txBody>
      </p:sp>
      <p:sp>
        <p:nvSpPr>
          <p:cNvPr id="18" name="Rectangle 17"/>
          <p:cNvSpPr/>
          <p:nvPr/>
        </p:nvSpPr>
        <p:spPr>
          <a:xfrm>
            <a:off x="777240" y="5553456"/>
            <a:ext cx="10634472" cy="783336"/>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9" name="Rectangle 18"/>
          <p:cNvSpPr/>
          <p:nvPr/>
        </p:nvSpPr>
        <p:spPr>
          <a:xfrm>
            <a:off x="777240" y="5553456"/>
            <a:ext cx="82296" cy="783336"/>
          </a:xfrm>
          <a:prstGeom prst="rect">
            <a:avLst/>
          </a:prstGeom>
          <a:solidFill>
            <a:srgbClr val="7C3AE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0" name="TextBox 19"/>
          <p:cNvSpPr txBox="1"/>
          <p:nvPr/>
        </p:nvSpPr>
        <p:spPr>
          <a:xfrm>
            <a:off x="1097280" y="5553456"/>
            <a:ext cx="10149840" cy="783336"/>
          </a:xfrm>
          <a:prstGeom prst="rect">
            <a:avLst/>
          </a:prstGeom>
          <a:noFill/>
        </p:spPr>
        <p:txBody>
          <a:bodyPr wrap="square" anchor="ctr">
            <a:spAutoFit/>
          </a:bodyPr>
          <a:lstStyle/>
          <a:p>
            <a:pPr algn="l">
              <a:spcAft>
                <a:spcPts val="400"/>
              </a:spcAft>
            </a:pPr>
            <a:r>
              <a:rPr sz="1300" b="0">
                <a:solidFill>
                  <a:srgbClr val="161B26"/>
                </a:solidFill>
                <a:latin typeface="Arial"/>
              </a:rPr>
              <a:t>Shor runs in O((log N)³) — polynomial.</a:t>
            </a:r>
          </a:p>
        </p:txBody>
      </p:sp>
      <p:sp>
        <p:nvSpPr>
          <p:cNvPr id="21" name="TextBox 20"/>
          <p:cNvSpPr txBox="1"/>
          <p:nvPr/>
        </p:nvSpPr>
        <p:spPr>
          <a:xfrm>
            <a:off x="365760" y="6446520"/>
            <a:ext cx="6858000" cy="320040"/>
          </a:xfrm>
          <a:prstGeom prst="rect">
            <a:avLst/>
          </a:prstGeom>
          <a:noFill/>
        </p:spPr>
        <p:txBody>
          <a:bodyPr wrap="square" anchor="t">
            <a:spAutoFit/>
          </a:bodyPr>
          <a:lstStyle/>
          <a:p>
            <a:pPr algn="l">
              <a:spcAft>
                <a:spcPts val="400"/>
              </a:spcAft>
            </a:pPr>
            <a:r>
              <a:rPr sz="900" b="0">
                <a:solidFill>
                  <a:srgbClr val="5B6372"/>
                </a:solidFill>
                <a:latin typeface="Arial"/>
              </a:rPr>
              <a:t>Securing the Future with Quantum Computing and Cryptography  ·  TGS-2024043419</a:t>
            </a:r>
          </a:p>
        </p:txBody>
      </p:sp>
      <p:sp>
        <p:nvSpPr>
          <p:cNvPr id="22" name="TextBox 21"/>
          <p:cNvSpPr txBox="1"/>
          <p:nvPr/>
        </p:nvSpPr>
        <p:spPr>
          <a:xfrm>
            <a:off x="4572000" y="6446520"/>
            <a:ext cx="3017520" cy="320040"/>
          </a:xfrm>
          <a:prstGeom prst="rect">
            <a:avLst/>
          </a:prstGeom>
          <a:noFill/>
        </p:spPr>
        <p:txBody>
          <a:bodyPr wrap="square" anchor="t">
            <a:spAutoFit/>
          </a:bodyPr>
          <a:lstStyle/>
          <a:p>
            <a:pPr algn="ctr">
              <a:spcAft>
                <a:spcPts val="400"/>
              </a:spcAft>
            </a:pPr>
            <a:r>
              <a:rPr sz="900" b="0">
                <a:solidFill>
                  <a:srgbClr val="5B6372"/>
                </a:solidFill>
                <a:latin typeface="Arial"/>
              </a:rPr>
              <a:t>© 2026 Tertiary Infotech Academy Pte Ltd</a:t>
            </a:r>
          </a:p>
        </p:txBody>
      </p:sp>
      <p:sp>
        <p:nvSpPr>
          <p:cNvPr id="23" name="TextBox 22"/>
          <p:cNvSpPr txBox="1"/>
          <p:nvPr/>
        </p:nvSpPr>
        <p:spPr>
          <a:xfrm>
            <a:off x="11338560" y="6446520"/>
            <a:ext cx="548640" cy="320040"/>
          </a:xfrm>
          <a:prstGeom prst="rect">
            <a:avLst/>
          </a:prstGeom>
          <a:noFill/>
        </p:spPr>
        <p:txBody>
          <a:bodyPr wrap="square" anchor="t">
            <a:spAutoFit/>
          </a:bodyPr>
          <a:lstStyle/>
          <a:p>
            <a:pPr algn="r">
              <a:spcAft>
                <a:spcPts val="400"/>
              </a:spcAft>
            </a:pPr>
            <a:r>
              <a:rPr sz="900" b="0">
                <a:solidFill>
                  <a:srgbClr val="5B6372"/>
                </a:solidFill>
                <a:latin typeface="Arial"/>
              </a:rPr>
              <a:t>202</a:t>
            </a:r>
          </a:p>
        </p:txBody>
      </p:sp>
    </p:spTree>
  </p:cSld>
  <p:clrMapOvr>
    <a:masterClrMapping/>
  </p:clrMapOvr>
</p:sld>
</file>

<file path=ppt/slides/slide204.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256032" cy="1417320"/>
          </a:xfrm>
          <a:prstGeom prst="rect">
            <a:avLst/>
          </a:prstGeom>
          <a:solidFill>
            <a:srgbClr val="7C3AE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777240" y="457200"/>
            <a:ext cx="10607040" cy="365760"/>
          </a:xfrm>
          <a:prstGeom prst="rect">
            <a:avLst/>
          </a:prstGeom>
          <a:noFill/>
        </p:spPr>
        <p:txBody>
          <a:bodyPr wrap="square" anchor="t">
            <a:spAutoFit/>
          </a:bodyPr>
          <a:lstStyle/>
          <a:p>
            <a:pPr algn="l">
              <a:spcAft>
                <a:spcPts val="400"/>
              </a:spcAft>
            </a:pPr>
            <a:r>
              <a:rPr sz="1400" b="1">
                <a:solidFill>
                  <a:srgbClr val="7C3AED"/>
                </a:solidFill>
                <a:latin typeface="Arial"/>
              </a:rPr>
              <a:t>SHOR'S ALGORITHM BREAKS RSA  ·  STEP 1 OF 6</a:t>
            </a:r>
          </a:p>
        </p:txBody>
      </p:sp>
      <p:sp>
        <p:nvSpPr>
          <p:cNvPr id="5" name="TextBox 4"/>
          <p:cNvSpPr txBox="1"/>
          <p:nvPr/>
        </p:nvSpPr>
        <p:spPr>
          <a:xfrm>
            <a:off x="777240" y="822960"/>
            <a:ext cx="10881360" cy="822960"/>
          </a:xfrm>
          <a:prstGeom prst="rect">
            <a:avLst/>
          </a:prstGeom>
          <a:noFill/>
        </p:spPr>
        <p:txBody>
          <a:bodyPr wrap="square" anchor="t">
            <a:spAutoFit/>
          </a:bodyPr>
          <a:lstStyle/>
          <a:p>
            <a:pPr algn="l">
              <a:spcAft>
                <a:spcPts val="400"/>
              </a:spcAft>
            </a:pPr>
            <a:r>
              <a:rPr sz="2900" b="1">
                <a:solidFill>
                  <a:srgbClr val="161B26"/>
                </a:solidFill>
                <a:latin typeface="Arial"/>
              </a:rPr>
              <a:t>Step 1 — Reduce factoring to order finding</a:t>
            </a:r>
          </a:p>
        </p:txBody>
      </p:sp>
      <p:sp>
        <p:nvSpPr>
          <p:cNvPr id="6" name="Rectangle 5"/>
          <p:cNvSpPr/>
          <p:nvPr/>
        </p:nvSpPr>
        <p:spPr>
          <a:xfrm>
            <a:off x="777240" y="1554480"/>
            <a:ext cx="10634472" cy="18288"/>
          </a:xfrm>
          <a:prstGeom prst="rect">
            <a:avLst/>
          </a:prstGeom>
          <a:solidFill>
            <a:srgbClr val="E2E8F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Rectangle 6"/>
          <p:cNvSpPr/>
          <p:nvPr/>
        </p:nvSpPr>
        <p:spPr>
          <a:xfrm>
            <a:off x="777240" y="1810512"/>
            <a:ext cx="10634472" cy="2011680"/>
          </a:xfrm>
          <a:prstGeom prst="rect">
            <a:avLst/>
          </a:prstGeom>
          <a:solidFill>
            <a:srgbClr val="0B122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TextBox 7"/>
          <p:cNvSpPr txBox="1"/>
          <p:nvPr/>
        </p:nvSpPr>
        <p:spPr>
          <a:xfrm>
            <a:off x="1097280" y="1956816"/>
            <a:ext cx="9994392" cy="1719072"/>
          </a:xfrm>
          <a:prstGeom prst="rect">
            <a:avLst/>
          </a:prstGeom>
          <a:noFill/>
        </p:spPr>
        <p:txBody>
          <a:bodyPr wrap="square" anchor="t">
            <a:spAutoFit/>
          </a:bodyPr>
          <a:lstStyle/>
          <a:p>
            <a:pPr algn="l">
              <a:spcAft>
                <a:spcPts val="300"/>
              </a:spcAft>
            </a:pPr>
            <a:r>
              <a:rPr sz="1550" b="0">
                <a:solidFill>
                  <a:srgbClr val="9CDCFE"/>
                </a:solidFill>
                <a:latin typeface="Arial"/>
              </a:rPr>
              <a:t>Pick a random a with 1 &lt; a &lt; N.</a:t>
            </a:r>
          </a:p>
          <a:p>
            <a:pPr algn="l">
              <a:spcAft>
                <a:spcPts val="300"/>
              </a:spcAft>
            </a:pPr>
            <a:r>
              <a:rPr sz="1550" b="0">
                <a:solidFill>
                  <a:srgbClr val="9CDCFE"/>
                </a:solidFill>
                <a:latin typeface="Arial"/>
              </a:rPr>
              <a:t>If gcd(a, N) ≠ 1 we already have a factor (lucky — done).</a:t>
            </a:r>
          </a:p>
          <a:p>
            <a:pPr algn="l">
              <a:spcAft>
                <a:spcPts val="300"/>
              </a:spcAft>
            </a:pPr>
            <a:r>
              <a:rPr sz="1550" b="0">
                <a:solidFill>
                  <a:srgbClr val="0B1220"/>
                </a:solidFill>
                <a:latin typeface="Arial"/>
              </a:rPr>
              <a:t> </a:t>
            </a:r>
          </a:p>
          <a:p>
            <a:pPr algn="l">
              <a:spcAft>
                <a:spcPts val="300"/>
              </a:spcAft>
            </a:pPr>
            <a:r>
              <a:rPr sz="1550" b="0">
                <a:solidFill>
                  <a:srgbClr val="9CDCFE"/>
                </a:solidFill>
                <a:latin typeface="Arial"/>
              </a:rPr>
              <a:t>Otherwise find the ORDER r: the smallest r &gt; 0 with</a:t>
            </a:r>
          </a:p>
          <a:p>
            <a:pPr algn="l">
              <a:spcAft>
                <a:spcPts val="300"/>
              </a:spcAft>
            </a:pPr>
            <a:r>
              <a:rPr sz="1550" b="0">
                <a:solidFill>
                  <a:srgbClr val="9CDCFE"/>
                </a:solidFill>
                <a:latin typeface="Arial"/>
              </a:rPr>
              <a:t>   a^r ≡ 1  (mod N)</a:t>
            </a:r>
          </a:p>
        </p:txBody>
      </p:sp>
      <p:sp>
        <p:nvSpPr>
          <p:cNvPr id="9" name="Rectangle 8"/>
          <p:cNvSpPr/>
          <p:nvPr/>
        </p:nvSpPr>
        <p:spPr>
          <a:xfrm>
            <a:off x="777240" y="4023360"/>
            <a:ext cx="10634472" cy="2029968"/>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Rectangle 9"/>
          <p:cNvSpPr/>
          <p:nvPr/>
        </p:nvSpPr>
        <p:spPr>
          <a:xfrm>
            <a:off x="777240" y="4023360"/>
            <a:ext cx="82296" cy="2029968"/>
          </a:xfrm>
          <a:prstGeom prst="rect">
            <a:avLst/>
          </a:prstGeom>
          <a:solidFill>
            <a:srgbClr val="F59E0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 name="TextBox 10"/>
          <p:cNvSpPr txBox="1"/>
          <p:nvPr/>
        </p:nvSpPr>
        <p:spPr>
          <a:xfrm>
            <a:off x="1097280" y="4023360"/>
            <a:ext cx="10149840" cy="2029968"/>
          </a:xfrm>
          <a:prstGeom prst="rect">
            <a:avLst/>
          </a:prstGeom>
          <a:noFill/>
        </p:spPr>
        <p:txBody>
          <a:bodyPr wrap="square" anchor="ctr">
            <a:spAutoFit/>
          </a:bodyPr>
          <a:lstStyle/>
          <a:p>
            <a:pPr algn="l">
              <a:spcAft>
                <a:spcPts val="400"/>
              </a:spcAft>
            </a:pPr>
            <a:r>
              <a:rPr sz="1150" b="1">
                <a:solidFill>
                  <a:srgbClr val="F59E0B"/>
                </a:solidFill>
                <a:latin typeface="Arial"/>
              </a:rPr>
              <a:t>WHY THIS STEP:  </a:t>
            </a:r>
            <a:r>
              <a:rPr sz="1300" b="0">
                <a:solidFill>
                  <a:srgbClr val="161B26"/>
                </a:solidFill>
                <a:latin typeface="Arial"/>
              </a:rPr>
              <a:t>This reduction is entirely CLASSICAL number theory — no quantum yet.</a:t>
            </a:r>
          </a:p>
        </p:txBody>
      </p:sp>
      <p:sp>
        <p:nvSpPr>
          <p:cNvPr id="12" name="TextBox 11"/>
          <p:cNvSpPr txBox="1"/>
          <p:nvPr/>
        </p:nvSpPr>
        <p:spPr>
          <a:xfrm>
            <a:off x="365760" y="6446520"/>
            <a:ext cx="6858000" cy="320040"/>
          </a:xfrm>
          <a:prstGeom prst="rect">
            <a:avLst/>
          </a:prstGeom>
          <a:noFill/>
        </p:spPr>
        <p:txBody>
          <a:bodyPr wrap="square" anchor="t">
            <a:spAutoFit/>
          </a:bodyPr>
          <a:lstStyle/>
          <a:p>
            <a:pPr algn="l">
              <a:spcAft>
                <a:spcPts val="400"/>
              </a:spcAft>
            </a:pPr>
            <a:r>
              <a:rPr sz="900" b="0">
                <a:solidFill>
                  <a:srgbClr val="5B6372"/>
                </a:solidFill>
                <a:latin typeface="Arial"/>
              </a:rPr>
              <a:t>Securing the Future with Quantum Computing and Cryptography  ·  TGS-2024043419</a:t>
            </a:r>
          </a:p>
        </p:txBody>
      </p:sp>
      <p:sp>
        <p:nvSpPr>
          <p:cNvPr id="13" name="TextBox 12"/>
          <p:cNvSpPr txBox="1"/>
          <p:nvPr/>
        </p:nvSpPr>
        <p:spPr>
          <a:xfrm>
            <a:off x="4572000" y="6446520"/>
            <a:ext cx="3017520" cy="320040"/>
          </a:xfrm>
          <a:prstGeom prst="rect">
            <a:avLst/>
          </a:prstGeom>
          <a:noFill/>
        </p:spPr>
        <p:txBody>
          <a:bodyPr wrap="square" anchor="t">
            <a:spAutoFit/>
          </a:bodyPr>
          <a:lstStyle/>
          <a:p>
            <a:pPr algn="ctr">
              <a:spcAft>
                <a:spcPts val="400"/>
              </a:spcAft>
            </a:pPr>
            <a:r>
              <a:rPr sz="900" b="0">
                <a:solidFill>
                  <a:srgbClr val="5B6372"/>
                </a:solidFill>
                <a:latin typeface="Arial"/>
              </a:rPr>
              <a:t>© 2026 Tertiary Infotech Academy Pte Ltd</a:t>
            </a:r>
          </a:p>
        </p:txBody>
      </p:sp>
      <p:sp>
        <p:nvSpPr>
          <p:cNvPr id="14" name="TextBox 13"/>
          <p:cNvSpPr txBox="1"/>
          <p:nvPr/>
        </p:nvSpPr>
        <p:spPr>
          <a:xfrm>
            <a:off x="11338560" y="6446520"/>
            <a:ext cx="548640" cy="320040"/>
          </a:xfrm>
          <a:prstGeom prst="rect">
            <a:avLst/>
          </a:prstGeom>
          <a:noFill/>
        </p:spPr>
        <p:txBody>
          <a:bodyPr wrap="square" anchor="t">
            <a:spAutoFit/>
          </a:bodyPr>
          <a:lstStyle/>
          <a:p>
            <a:pPr algn="r">
              <a:spcAft>
                <a:spcPts val="400"/>
              </a:spcAft>
            </a:pPr>
            <a:r>
              <a:rPr sz="900" b="0">
                <a:solidFill>
                  <a:srgbClr val="5B6372"/>
                </a:solidFill>
                <a:latin typeface="Arial"/>
              </a:rPr>
              <a:t>203</a:t>
            </a:r>
          </a:p>
        </p:txBody>
      </p:sp>
    </p:spTree>
  </p:cSld>
  <p:clrMapOvr>
    <a:masterClrMapping/>
  </p:clrMapOvr>
</p:sld>
</file>

<file path=ppt/slides/slide205.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256032" cy="1417320"/>
          </a:xfrm>
          <a:prstGeom prst="rect">
            <a:avLst/>
          </a:prstGeom>
          <a:solidFill>
            <a:srgbClr val="7C3AE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777240" y="457200"/>
            <a:ext cx="10607040" cy="365760"/>
          </a:xfrm>
          <a:prstGeom prst="rect">
            <a:avLst/>
          </a:prstGeom>
          <a:noFill/>
        </p:spPr>
        <p:txBody>
          <a:bodyPr wrap="square" anchor="t">
            <a:spAutoFit/>
          </a:bodyPr>
          <a:lstStyle/>
          <a:p>
            <a:pPr algn="l">
              <a:spcAft>
                <a:spcPts val="400"/>
              </a:spcAft>
            </a:pPr>
            <a:r>
              <a:rPr sz="1400" b="1">
                <a:solidFill>
                  <a:srgbClr val="7C3AED"/>
                </a:solidFill>
                <a:latin typeface="Arial"/>
              </a:rPr>
              <a:t>SHOR'S ALGORITHM BREAKS RSA  ·  STEP 2 OF 6</a:t>
            </a:r>
          </a:p>
        </p:txBody>
      </p:sp>
      <p:sp>
        <p:nvSpPr>
          <p:cNvPr id="5" name="TextBox 4"/>
          <p:cNvSpPr txBox="1"/>
          <p:nvPr/>
        </p:nvSpPr>
        <p:spPr>
          <a:xfrm>
            <a:off x="777240" y="822960"/>
            <a:ext cx="10881360" cy="822960"/>
          </a:xfrm>
          <a:prstGeom prst="rect">
            <a:avLst/>
          </a:prstGeom>
          <a:noFill/>
        </p:spPr>
        <p:txBody>
          <a:bodyPr wrap="square" anchor="t">
            <a:spAutoFit/>
          </a:bodyPr>
          <a:lstStyle/>
          <a:p>
            <a:pPr algn="l">
              <a:spcAft>
                <a:spcPts val="400"/>
              </a:spcAft>
            </a:pPr>
            <a:r>
              <a:rPr sz="2900" b="1">
                <a:solidFill>
                  <a:srgbClr val="161B26"/>
                </a:solidFill>
                <a:latin typeface="Arial"/>
              </a:rPr>
              <a:t>Step 2 — Why the order gives a factor</a:t>
            </a:r>
          </a:p>
        </p:txBody>
      </p:sp>
      <p:sp>
        <p:nvSpPr>
          <p:cNvPr id="6" name="Rectangle 5"/>
          <p:cNvSpPr/>
          <p:nvPr/>
        </p:nvSpPr>
        <p:spPr>
          <a:xfrm>
            <a:off x="777240" y="1554480"/>
            <a:ext cx="10634472" cy="18288"/>
          </a:xfrm>
          <a:prstGeom prst="rect">
            <a:avLst/>
          </a:prstGeom>
          <a:solidFill>
            <a:srgbClr val="E2E8F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Rectangle 6"/>
          <p:cNvSpPr/>
          <p:nvPr/>
        </p:nvSpPr>
        <p:spPr>
          <a:xfrm>
            <a:off x="777240" y="1810512"/>
            <a:ext cx="10634472" cy="3255264"/>
          </a:xfrm>
          <a:prstGeom prst="rect">
            <a:avLst/>
          </a:prstGeom>
          <a:solidFill>
            <a:srgbClr val="0B122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TextBox 7"/>
          <p:cNvSpPr txBox="1"/>
          <p:nvPr/>
        </p:nvSpPr>
        <p:spPr>
          <a:xfrm>
            <a:off x="1097280" y="1956816"/>
            <a:ext cx="9994392" cy="2962656"/>
          </a:xfrm>
          <a:prstGeom prst="rect">
            <a:avLst/>
          </a:prstGeom>
          <a:noFill/>
        </p:spPr>
        <p:txBody>
          <a:bodyPr wrap="square" anchor="t">
            <a:spAutoFit/>
          </a:bodyPr>
          <a:lstStyle/>
          <a:p>
            <a:pPr algn="l">
              <a:spcAft>
                <a:spcPts val="300"/>
              </a:spcAft>
            </a:pPr>
            <a:r>
              <a:rPr sz="1550" b="0">
                <a:solidFill>
                  <a:srgbClr val="9CDCFE"/>
                </a:solidFill>
                <a:latin typeface="Arial"/>
              </a:rPr>
              <a:t>If r is EVEN, then a^r - 1 ≡ 0 (mod N) factors as:</a:t>
            </a:r>
          </a:p>
          <a:p>
            <a:pPr algn="l">
              <a:spcAft>
                <a:spcPts val="300"/>
              </a:spcAft>
            </a:pPr>
            <a:r>
              <a:rPr sz="1550" b="0">
                <a:solidFill>
                  <a:srgbClr val="0B1220"/>
                </a:solidFill>
                <a:latin typeface="Arial"/>
              </a:rPr>
              <a:t> </a:t>
            </a:r>
          </a:p>
          <a:p>
            <a:pPr algn="l">
              <a:spcAft>
                <a:spcPts val="300"/>
              </a:spcAft>
            </a:pPr>
            <a:r>
              <a:rPr sz="1550" b="0">
                <a:solidFill>
                  <a:srgbClr val="9CDCFE"/>
                </a:solidFill>
                <a:latin typeface="Arial"/>
              </a:rPr>
              <a:t>   (a^(r/2) - 1)(a^(r/2) + 1)  ≡  0   (mod N)</a:t>
            </a:r>
          </a:p>
          <a:p>
            <a:pPr algn="l">
              <a:spcAft>
                <a:spcPts val="300"/>
              </a:spcAft>
            </a:pPr>
            <a:r>
              <a:rPr sz="1550" b="0">
                <a:solidFill>
                  <a:srgbClr val="0B1220"/>
                </a:solidFill>
                <a:latin typeface="Arial"/>
              </a:rPr>
              <a:t> </a:t>
            </a:r>
          </a:p>
          <a:p>
            <a:pPr algn="l">
              <a:spcAft>
                <a:spcPts val="300"/>
              </a:spcAft>
            </a:pPr>
            <a:r>
              <a:rPr sz="1550" b="0">
                <a:solidFill>
                  <a:srgbClr val="9CDCFE"/>
                </a:solidFill>
                <a:latin typeface="Arial"/>
              </a:rPr>
              <a:t>So N divides that product. Provided a^(r/2) ≢ -1 (mod N),</a:t>
            </a:r>
          </a:p>
          <a:p>
            <a:pPr algn="l">
              <a:spcAft>
                <a:spcPts val="300"/>
              </a:spcAft>
            </a:pPr>
            <a:r>
              <a:rPr sz="1550" b="0">
                <a:solidFill>
                  <a:srgbClr val="9CDCFE"/>
                </a:solidFill>
                <a:latin typeface="Arial"/>
              </a:rPr>
              <a:t>   gcd(a^(r/2) - 1, N)  and  gcd(a^(r/2) + 1, N)</a:t>
            </a:r>
          </a:p>
          <a:p>
            <a:pPr algn="l">
              <a:spcAft>
                <a:spcPts val="300"/>
              </a:spcAft>
            </a:pPr>
            <a:r>
              <a:rPr sz="1550" b="0">
                <a:solidFill>
                  <a:srgbClr val="9CDCFE"/>
                </a:solidFill>
                <a:latin typeface="Arial"/>
              </a:rPr>
              <a:t>are NON-TRIVIAL factors of N.</a:t>
            </a:r>
          </a:p>
          <a:p>
            <a:pPr algn="l">
              <a:spcAft>
                <a:spcPts val="300"/>
              </a:spcAft>
            </a:pPr>
            <a:r>
              <a:rPr sz="1550" b="0">
                <a:solidFill>
                  <a:srgbClr val="0B1220"/>
                </a:solidFill>
                <a:latin typeface="Arial"/>
              </a:rPr>
              <a:t> </a:t>
            </a:r>
          </a:p>
          <a:p>
            <a:pPr algn="l">
              <a:spcAft>
                <a:spcPts val="300"/>
              </a:spcAft>
            </a:pPr>
            <a:r>
              <a:rPr sz="1550" b="0">
                <a:solidFill>
                  <a:srgbClr val="9CDCFE"/>
                </a:solidFill>
                <a:latin typeface="Arial"/>
              </a:rPr>
              <a:t>P(r even AND the condition holds) ≥ 1/2 for random a — so a few tries suffice.</a:t>
            </a:r>
          </a:p>
        </p:txBody>
      </p:sp>
      <p:sp>
        <p:nvSpPr>
          <p:cNvPr id="9" name="Rectangle 8"/>
          <p:cNvSpPr/>
          <p:nvPr/>
        </p:nvSpPr>
        <p:spPr>
          <a:xfrm>
            <a:off x="777240" y="5266944"/>
            <a:ext cx="10634472" cy="786384"/>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Rectangle 9"/>
          <p:cNvSpPr/>
          <p:nvPr/>
        </p:nvSpPr>
        <p:spPr>
          <a:xfrm>
            <a:off x="777240" y="5266944"/>
            <a:ext cx="82296" cy="786384"/>
          </a:xfrm>
          <a:prstGeom prst="rect">
            <a:avLst/>
          </a:prstGeom>
          <a:solidFill>
            <a:srgbClr val="F59E0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 name="TextBox 10"/>
          <p:cNvSpPr txBox="1"/>
          <p:nvPr/>
        </p:nvSpPr>
        <p:spPr>
          <a:xfrm>
            <a:off x="1097280" y="5266944"/>
            <a:ext cx="10149840" cy="786384"/>
          </a:xfrm>
          <a:prstGeom prst="rect">
            <a:avLst/>
          </a:prstGeom>
          <a:noFill/>
        </p:spPr>
        <p:txBody>
          <a:bodyPr wrap="square" anchor="ctr">
            <a:spAutoFit/>
          </a:bodyPr>
          <a:lstStyle/>
          <a:p>
            <a:pPr algn="l">
              <a:spcAft>
                <a:spcPts val="400"/>
              </a:spcAft>
            </a:pPr>
            <a:r>
              <a:rPr sz="1150" b="1">
                <a:solidFill>
                  <a:srgbClr val="F59E0B"/>
                </a:solidFill>
                <a:latin typeface="Arial"/>
              </a:rPr>
              <a:t>WHY THIS STEP:  </a:t>
            </a:r>
            <a:r>
              <a:rPr sz="1300" b="0">
                <a:solidFill>
                  <a:srgbClr val="161B26"/>
                </a:solidFill>
                <a:latin typeface="Arial"/>
              </a:rPr>
              <a:t>gcd is computed classically in polynomial time by Euclid's algorithm.</a:t>
            </a:r>
          </a:p>
        </p:txBody>
      </p:sp>
      <p:sp>
        <p:nvSpPr>
          <p:cNvPr id="12" name="TextBox 11"/>
          <p:cNvSpPr txBox="1"/>
          <p:nvPr/>
        </p:nvSpPr>
        <p:spPr>
          <a:xfrm>
            <a:off x="365760" y="6446520"/>
            <a:ext cx="6858000" cy="320040"/>
          </a:xfrm>
          <a:prstGeom prst="rect">
            <a:avLst/>
          </a:prstGeom>
          <a:noFill/>
        </p:spPr>
        <p:txBody>
          <a:bodyPr wrap="square" anchor="t">
            <a:spAutoFit/>
          </a:bodyPr>
          <a:lstStyle/>
          <a:p>
            <a:pPr algn="l">
              <a:spcAft>
                <a:spcPts val="400"/>
              </a:spcAft>
            </a:pPr>
            <a:r>
              <a:rPr sz="900" b="0">
                <a:solidFill>
                  <a:srgbClr val="5B6372"/>
                </a:solidFill>
                <a:latin typeface="Arial"/>
              </a:rPr>
              <a:t>Securing the Future with Quantum Computing and Cryptography  ·  TGS-2024043419</a:t>
            </a:r>
          </a:p>
        </p:txBody>
      </p:sp>
      <p:sp>
        <p:nvSpPr>
          <p:cNvPr id="13" name="TextBox 12"/>
          <p:cNvSpPr txBox="1"/>
          <p:nvPr/>
        </p:nvSpPr>
        <p:spPr>
          <a:xfrm>
            <a:off x="4572000" y="6446520"/>
            <a:ext cx="3017520" cy="320040"/>
          </a:xfrm>
          <a:prstGeom prst="rect">
            <a:avLst/>
          </a:prstGeom>
          <a:noFill/>
        </p:spPr>
        <p:txBody>
          <a:bodyPr wrap="square" anchor="t">
            <a:spAutoFit/>
          </a:bodyPr>
          <a:lstStyle/>
          <a:p>
            <a:pPr algn="ctr">
              <a:spcAft>
                <a:spcPts val="400"/>
              </a:spcAft>
            </a:pPr>
            <a:r>
              <a:rPr sz="900" b="0">
                <a:solidFill>
                  <a:srgbClr val="5B6372"/>
                </a:solidFill>
                <a:latin typeface="Arial"/>
              </a:rPr>
              <a:t>© 2026 Tertiary Infotech Academy Pte Ltd</a:t>
            </a:r>
          </a:p>
        </p:txBody>
      </p:sp>
      <p:sp>
        <p:nvSpPr>
          <p:cNvPr id="14" name="TextBox 13"/>
          <p:cNvSpPr txBox="1"/>
          <p:nvPr/>
        </p:nvSpPr>
        <p:spPr>
          <a:xfrm>
            <a:off x="11338560" y="6446520"/>
            <a:ext cx="548640" cy="320040"/>
          </a:xfrm>
          <a:prstGeom prst="rect">
            <a:avLst/>
          </a:prstGeom>
          <a:noFill/>
        </p:spPr>
        <p:txBody>
          <a:bodyPr wrap="square" anchor="t">
            <a:spAutoFit/>
          </a:bodyPr>
          <a:lstStyle/>
          <a:p>
            <a:pPr algn="r">
              <a:spcAft>
                <a:spcPts val="400"/>
              </a:spcAft>
            </a:pPr>
            <a:r>
              <a:rPr sz="900" b="0">
                <a:solidFill>
                  <a:srgbClr val="5B6372"/>
                </a:solidFill>
                <a:latin typeface="Arial"/>
              </a:rPr>
              <a:t>204</a:t>
            </a:r>
          </a:p>
        </p:txBody>
      </p:sp>
    </p:spTree>
  </p:cSld>
  <p:clrMapOvr>
    <a:masterClrMapping/>
  </p:clrMapOvr>
</p:sld>
</file>

<file path=ppt/slides/slide206.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256032" cy="1417320"/>
          </a:xfrm>
          <a:prstGeom prst="rect">
            <a:avLst/>
          </a:prstGeom>
          <a:solidFill>
            <a:srgbClr val="7C3AE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777240" y="457200"/>
            <a:ext cx="10607040" cy="365760"/>
          </a:xfrm>
          <a:prstGeom prst="rect">
            <a:avLst/>
          </a:prstGeom>
          <a:noFill/>
        </p:spPr>
        <p:txBody>
          <a:bodyPr wrap="square" anchor="t">
            <a:spAutoFit/>
          </a:bodyPr>
          <a:lstStyle/>
          <a:p>
            <a:pPr algn="l">
              <a:spcAft>
                <a:spcPts val="400"/>
              </a:spcAft>
            </a:pPr>
            <a:r>
              <a:rPr sz="1400" b="1">
                <a:solidFill>
                  <a:srgbClr val="7C3AED"/>
                </a:solidFill>
                <a:latin typeface="Arial"/>
              </a:rPr>
              <a:t>SHOR'S ALGORITHM BREAKS RSA  ·  STEP 3 OF 6</a:t>
            </a:r>
          </a:p>
        </p:txBody>
      </p:sp>
      <p:sp>
        <p:nvSpPr>
          <p:cNvPr id="5" name="TextBox 4"/>
          <p:cNvSpPr txBox="1"/>
          <p:nvPr/>
        </p:nvSpPr>
        <p:spPr>
          <a:xfrm>
            <a:off x="777240" y="822960"/>
            <a:ext cx="10881360" cy="822960"/>
          </a:xfrm>
          <a:prstGeom prst="rect">
            <a:avLst/>
          </a:prstGeom>
          <a:noFill/>
        </p:spPr>
        <p:txBody>
          <a:bodyPr wrap="square" anchor="t">
            <a:spAutoFit/>
          </a:bodyPr>
          <a:lstStyle/>
          <a:p>
            <a:pPr algn="l">
              <a:spcAft>
                <a:spcPts val="400"/>
              </a:spcAft>
            </a:pPr>
            <a:r>
              <a:rPr sz="2900" b="1">
                <a:solidFill>
                  <a:srgbClr val="161B26"/>
                </a:solidFill>
                <a:latin typeface="Arial"/>
              </a:rPr>
              <a:t>Step 3 — Worked example: N = 15, a = 7</a:t>
            </a:r>
          </a:p>
        </p:txBody>
      </p:sp>
      <p:sp>
        <p:nvSpPr>
          <p:cNvPr id="6" name="Rectangle 5"/>
          <p:cNvSpPr/>
          <p:nvPr/>
        </p:nvSpPr>
        <p:spPr>
          <a:xfrm>
            <a:off x="777240" y="1554480"/>
            <a:ext cx="10634472" cy="18288"/>
          </a:xfrm>
          <a:prstGeom prst="rect">
            <a:avLst/>
          </a:prstGeom>
          <a:solidFill>
            <a:srgbClr val="E2E8F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Rectangle 6"/>
          <p:cNvSpPr/>
          <p:nvPr/>
        </p:nvSpPr>
        <p:spPr>
          <a:xfrm>
            <a:off x="777240" y="1810512"/>
            <a:ext cx="10634472" cy="3566160"/>
          </a:xfrm>
          <a:prstGeom prst="rect">
            <a:avLst/>
          </a:prstGeom>
          <a:solidFill>
            <a:srgbClr val="0B122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TextBox 7"/>
          <p:cNvSpPr txBox="1"/>
          <p:nvPr/>
        </p:nvSpPr>
        <p:spPr>
          <a:xfrm>
            <a:off x="1097280" y="1956816"/>
            <a:ext cx="9994392" cy="3273552"/>
          </a:xfrm>
          <a:prstGeom prst="rect">
            <a:avLst/>
          </a:prstGeom>
          <a:noFill/>
        </p:spPr>
        <p:txBody>
          <a:bodyPr wrap="square" anchor="t">
            <a:spAutoFit/>
          </a:bodyPr>
          <a:lstStyle/>
          <a:p>
            <a:pPr algn="l">
              <a:spcAft>
                <a:spcPts val="300"/>
              </a:spcAft>
            </a:pPr>
            <a:r>
              <a:rPr sz="1350" b="0">
                <a:solidFill>
                  <a:srgbClr val="9CDCFE"/>
                </a:solidFill>
                <a:latin typeface="Arial"/>
              </a:rPr>
              <a:t>Powers of 7 mod 15:</a:t>
            </a:r>
          </a:p>
          <a:p>
            <a:pPr algn="l">
              <a:spcAft>
                <a:spcPts val="300"/>
              </a:spcAft>
            </a:pPr>
            <a:r>
              <a:rPr sz="1350" b="0">
                <a:solidFill>
                  <a:srgbClr val="9CDCFE"/>
                </a:solidFill>
                <a:latin typeface="Arial"/>
              </a:rPr>
              <a:t>   7¹ = 7,  7² = 49 ≡ 4,  7³ ≡ 28 ≡ 13,  7⁴ ≡ 91 ≡ 1</a:t>
            </a:r>
          </a:p>
          <a:p>
            <a:pPr algn="l">
              <a:spcAft>
                <a:spcPts val="300"/>
              </a:spcAft>
            </a:pPr>
            <a:r>
              <a:rPr sz="1350" b="0">
                <a:solidFill>
                  <a:srgbClr val="0B1220"/>
                </a:solidFill>
                <a:latin typeface="Arial"/>
              </a:rPr>
              <a:t> </a:t>
            </a:r>
          </a:p>
          <a:p>
            <a:pPr algn="l">
              <a:spcAft>
                <a:spcPts val="300"/>
              </a:spcAft>
            </a:pPr>
            <a:r>
              <a:rPr sz="1350" b="0">
                <a:solidFill>
                  <a:srgbClr val="9CDCFE"/>
                </a:solidFill>
                <a:latin typeface="Arial"/>
              </a:rPr>
              <a:t>So r = 4 (even, good).</a:t>
            </a:r>
          </a:p>
          <a:p>
            <a:pPr algn="l">
              <a:spcAft>
                <a:spcPts val="300"/>
              </a:spcAft>
            </a:pPr>
            <a:r>
              <a:rPr sz="1350" b="0">
                <a:solidFill>
                  <a:srgbClr val="9CDCFE"/>
                </a:solidFill>
                <a:latin typeface="Arial"/>
              </a:rPr>
              <a:t>   a^(r/2) = 7² = 49 ≡ 4 (mod 15),  and 4 ≢ -1, so we may proceed.</a:t>
            </a:r>
          </a:p>
          <a:p>
            <a:pPr algn="l">
              <a:spcAft>
                <a:spcPts val="300"/>
              </a:spcAft>
            </a:pPr>
            <a:r>
              <a:rPr sz="1350" b="0">
                <a:solidFill>
                  <a:srgbClr val="0B1220"/>
                </a:solidFill>
                <a:latin typeface="Arial"/>
              </a:rPr>
              <a:t> </a:t>
            </a:r>
          </a:p>
          <a:p>
            <a:pPr algn="l">
              <a:spcAft>
                <a:spcPts val="300"/>
              </a:spcAft>
            </a:pPr>
            <a:r>
              <a:rPr sz="1350" b="0">
                <a:solidFill>
                  <a:srgbClr val="9CDCFE"/>
                </a:solidFill>
                <a:latin typeface="Arial"/>
              </a:rPr>
              <a:t>   gcd(4 - 1, 15) = gcd(3, 15) = 3</a:t>
            </a:r>
          </a:p>
          <a:p>
            <a:pPr algn="l">
              <a:spcAft>
                <a:spcPts val="300"/>
              </a:spcAft>
            </a:pPr>
            <a:r>
              <a:rPr sz="1350" b="0">
                <a:solidFill>
                  <a:srgbClr val="9CDCFE"/>
                </a:solidFill>
                <a:latin typeface="Arial"/>
              </a:rPr>
              <a:t>   gcd(4 + 1, 15) = gcd(5, 15) = 5</a:t>
            </a:r>
          </a:p>
          <a:p>
            <a:pPr algn="l">
              <a:spcAft>
                <a:spcPts val="300"/>
              </a:spcAft>
            </a:pPr>
            <a:r>
              <a:rPr sz="1350" b="0">
                <a:solidFill>
                  <a:srgbClr val="0B1220"/>
                </a:solidFill>
                <a:latin typeface="Arial"/>
              </a:rPr>
              <a:t> </a:t>
            </a:r>
          </a:p>
          <a:p>
            <a:pPr algn="l">
              <a:spcAft>
                <a:spcPts val="300"/>
              </a:spcAft>
            </a:pPr>
            <a:r>
              <a:rPr sz="1350" b="0">
                <a:solidFill>
                  <a:srgbClr val="9CDCFE"/>
                </a:solidFill>
                <a:latin typeface="Arial"/>
              </a:rPr>
              <a:t>   15 = 3 × 5      FACTORED</a:t>
            </a:r>
          </a:p>
        </p:txBody>
      </p:sp>
      <p:sp>
        <p:nvSpPr>
          <p:cNvPr id="9" name="Rectangle 8"/>
          <p:cNvSpPr/>
          <p:nvPr/>
        </p:nvSpPr>
        <p:spPr>
          <a:xfrm>
            <a:off x="777240" y="5577840"/>
            <a:ext cx="10634472" cy="475488"/>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Rectangle 9"/>
          <p:cNvSpPr/>
          <p:nvPr/>
        </p:nvSpPr>
        <p:spPr>
          <a:xfrm>
            <a:off x="777240" y="5577840"/>
            <a:ext cx="82296" cy="475488"/>
          </a:xfrm>
          <a:prstGeom prst="rect">
            <a:avLst/>
          </a:prstGeom>
          <a:solidFill>
            <a:srgbClr val="F59E0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 name="TextBox 10"/>
          <p:cNvSpPr txBox="1"/>
          <p:nvPr/>
        </p:nvSpPr>
        <p:spPr>
          <a:xfrm>
            <a:off x="1097280" y="5577840"/>
            <a:ext cx="10149840" cy="475488"/>
          </a:xfrm>
          <a:prstGeom prst="rect">
            <a:avLst/>
          </a:prstGeom>
          <a:noFill/>
        </p:spPr>
        <p:txBody>
          <a:bodyPr wrap="square" anchor="ctr">
            <a:spAutoFit/>
          </a:bodyPr>
          <a:lstStyle/>
          <a:p>
            <a:pPr algn="l">
              <a:spcAft>
                <a:spcPts val="400"/>
              </a:spcAft>
            </a:pPr>
            <a:r>
              <a:rPr sz="1150" b="1">
                <a:solidFill>
                  <a:srgbClr val="F59E0B"/>
                </a:solidFill>
                <a:latin typeface="Arial"/>
              </a:rPr>
              <a:t>WHY THIS STEP:  </a:t>
            </a:r>
            <a:r>
              <a:rPr sz="1300" b="0">
                <a:solidFill>
                  <a:srgbClr val="161B26"/>
                </a:solidFill>
                <a:latin typeface="Arial"/>
              </a:rPr>
              <a:t>Everything here was classical — the only hard step is FINDING r.</a:t>
            </a:r>
          </a:p>
        </p:txBody>
      </p:sp>
      <p:sp>
        <p:nvSpPr>
          <p:cNvPr id="12" name="TextBox 11"/>
          <p:cNvSpPr txBox="1"/>
          <p:nvPr/>
        </p:nvSpPr>
        <p:spPr>
          <a:xfrm>
            <a:off x="365760" y="6446520"/>
            <a:ext cx="6858000" cy="320040"/>
          </a:xfrm>
          <a:prstGeom prst="rect">
            <a:avLst/>
          </a:prstGeom>
          <a:noFill/>
        </p:spPr>
        <p:txBody>
          <a:bodyPr wrap="square" anchor="t">
            <a:spAutoFit/>
          </a:bodyPr>
          <a:lstStyle/>
          <a:p>
            <a:pPr algn="l">
              <a:spcAft>
                <a:spcPts val="400"/>
              </a:spcAft>
            </a:pPr>
            <a:r>
              <a:rPr sz="900" b="0">
                <a:solidFill>
                  <a:srgbClr val="5B6372"/>
                </a:solidFill>
                <a:latin typeface="Arial"/>
              </a:rPr>
              <a:t>Securing the Future with Quantum Computing and Cryptography  ·  TGS-2024043419</a:t>
            </a:r>
          </a:p>
        </p:txBody>
      </p:sp>
      <p:sp>
        <p:nvSpPr>
          <p:cNvPr id="13" name="TextBox 12"/>
          <p:cNvSpPr txBox="1"/>
          <p:nvPr/>
        </p:nvSpPr>
        <p:spPr>
          <a:xfrm>
            <a:off x="4572000" y="6446520"/>
            <a:ext cx="3017520" cy="320040"/>
          </a:xfrm>
          <a:prstGeom prst="rect">
            <a:avLst/>
          </a:prstGeom>
          <a:noFill/>
        </p:spPr>
        <p:txBody>
          <a:bodyPr wrap="square" anchor="t">
            <a:spAutoFit/>
          </a:bodyPr>
          <a:lstStyle/>
          <a:p>
            <a:pPr algn="ctr">
              <a:spcAft>
                <a:spcPts val="400"/>
              </a:spcAft>
            </a:pPr>
            <a:r>
              <a:rPr sz="900" b="0">
                <a:solidFill>
                  <a:srgbClr val="5B6372"/>
                </a:solidFill>
                <a:latin typeface="Arial"/>
              </a:rPr>
              <a:t>© 2026 Tertiary Infotech Academy Pte Ltd</a:t>
            </a:r>
          </a:p>
        </p:txBody>
      </p:sp>
      <p:sp>
        <p:nvSpPr>
          <p:cNvPr id="14" name="TextBox 13"/>
          <p:cNvSpPr txBox="1"/>
          <p:nvPr/>
        </p:nvSpPr>
        <p:spPr>
          <a:xfrm>
            <a:off x="11338560" y="6446520"/>
            <a:ext cx="548640" cy="320040"/>
          </a:xfrm>
          <a:prstGeom prst="rect">
            <a:avLst/>
          </a:prstGeom>
          <a:noFill/>
        </p:spPr>
        <p:txBody>
          <a:bodyPr wrap="square" anchor="t">
            <a:spAutoFit/>
          </a:bodyPr>
          <a:lstStyle/>
          <a:p>
            <a:pPr algn="r">
              <a:spcAft>
                <a:spcPts val="400"/>
              </a:spcAft>
            </a:pPr>
            <a:r>
              <a:rPr sz="900" b="0">
                <a:solidFill>
                  <a:srgbClr val="5B6372"/>
                </a:solidFill>
                <a:latin typeface="Arial"/>
              </a:rPr>
              <a:t>205</a:t>
            </a:r>
          </a:p>
        </p:txBody>
      </p:sp>
    </p:spTree>
  </p:cSld>
  <p:clrMapOvr>
    <a:masterClrMapping/>
  </p:clrMapOvr>
</p:sld>
</file>

<file path=ppt/slides/slide207.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256032" cy="1417320"/>
          </a:xfrm>
          <a:prstGeom prst="rect">
            <a:avLst/>
          </a:prstGeom>
          <a:solidFill>
            <a:srgbClr val="7C3AE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777240" y="457200"/>
            <a:ext cx="10607040" cy="365760"/>
          </a:xfrm>
          <a:prstGeom prst="rect">
            <a:avLst/>
          </a:prstGeom>
          <a:noFill/>
        </p:spPr>
        <p:txBody>
          <a:bodyPr wrap="square" anchor="t">
            <a:spAutoFit/>
          </a:bodyPr>
          <a:lstStyle/>
          <a:p>
            <a:pPr algn="l">
              <a:spcAft>
                <a:spcPts val="400"/>
              </a:spcAft>
            </a:pPr>
            <a:r>
              <a:rPr sz="1400" b="1">
                <a:solidFill>
                  <a:srgbClr val="7C3AED"/>
                </a:solidFill>
                <a:latin typeface="Arial"/>
              </a:rPr>
              <a:t>SHOR'S ALGORITHM BREAKS RSA  ·  STEP 4 OF 6</a:t>
            </a:r>
          </a:p>
        </p:txBody>
      </p:sp>
      <p:sp>
        <p:nvSpPr>
          <p:cNvPr id="5" name="TextBox 4"/>
          <p:cNvSpPr txBox="1"/>
          <p:nvPr/>
        </p:nvSpPr>
        <p:spPr>
          <a:xfrm>
            <a:off x="777240" y="822960"/>
            <a:ext cx="10881360" cy="822960"/>
          </a:xfrm>
          <a:prstGeom prst="rect">
            <a:avLst/>
          </a:prstGeom>
          <a:noFill/>
        </p:spPr>
        <p:txBody>
          <a:bodyPr wrap="square" anchor="t">
            <a:spAutoFit/>
          </a:bodyPr>
          <a:lstStyle/>
          <a:p>
            <a:pPr algn="l">
              <a:spcAft>
                <a:spcPts val="400"/>
              </a:spcAft>
            </a:pPr>
            <a:r>
              <a:rPr sz="2900" b="1">
                <a:solidFill>
                  <a:srgbClr val="161B26"/>
                </a:solidFill>
                <a:latin typeface="Arial"/>
              </a:rPr>
              <a:t>Step 4 — The quantum part: period finding</a:t>
            </a:r>
          </a:p>
        </p:txBody>
      </p:sp>
      <p:sp>
        <p:nvSpPr>
          <p:cNvPr id="6" name="Rectangle 5"/>
          <p:cNvSpPr/>
          <p:nvPr/>
        </p:nvSpPr>
        <p:spPr>
          <a:xfrm>
            <a:off x="777240" y="1554480"/>
            <a:ext cx="10634472" cy="18288"/>
          </a:xfrm>
          <a:prstGeom prst="rect">
            <a:avLst/>
          </a:prstGeom>
          <a:solidFill>
            <a:srgbClr val="E2E8F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Rectangle 6"/>
          <p:cNvSpPr/>
          <p:nvPr/>
        </p:nvSpPr>
        <p:spPr>
          <a:xfrm>
            <a:off x="777240" y="1810512"/>
            <a:ext cx="10634472" cy="3566160"/>
          </a:xfrm>
          <a:prstGeom prst="rect">
            <a:avLst/>
          </a:prstGeom>
          <a:solidFill>
            <a:srgbClr val="0B122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TextBox 7"/>
          <p:cNvSpPr txBox="1"/>
          <p:nvPr/>
        </p:nvSpPr>
        <p:spPr>
          <a:xfrm>
            <a:off x="1097280" y="1956816"/>
            <a:ext cx="9994392" cy="3273552"/>
          </a:xfrm>
          <a:prstGeom prst="rect">
            <a:avLst/>
          </a:prstGeom>
          <a:noFill/>
        </p:spPr>
        <p:txBody>
          <a:bodyPr wrap="square" anchor="t">
            <a:spAutoFit/>
          </a:bodyPr>
          <a:lstStyle/>
          <a:p>
            <a:pPr algn="l">
              <a:spcAft>
                <a:spcPts val="300"/>
              </a:spcAft>
            </a:pPr>
            <a:r>
              <a:rPr sz="1350" b="0">
                <a:solidFill>
                  <a:srgbClr val="9CDCFE"/>
                </a:solidFill>
                <a:latin typeface="Arial"/>
              </a:rPr>
              <a:t>Prepare a counting register in superposition and compute a^x mod N:</a:t>
            </a:r>
          </a:p>
          <a:p>
            <a:pPr algn="l">
              <a:spcAft>
                <a:spcPts val="300"/>
              </a:spcAft>
            </a:pPr>
            <a:r>
              <a:rPr sz="1350" b="0">
                <a:solidFill>
                  <a:srgbClr val="0B1220"/>
                </a:solidFill>
                <a:latin typeface="Arial"/>
              </a:rPr>
              <a:t> </a:t>
            </a:r>
          </a:p>
          <a:p>
            <a:pPr algn="l">
              <a:spcAft>
                <a:spcPts val="300"/>
              </a:spcAft>
            </a:pPr>
            <a:r>
              <a:rPr sz="1350" b="0">
                <a:solidFill>
                  <a:srgbClr val="9CDCFE"/>
                </a:solidFill>
                <a:latin typeface="Arial"/>
              </a:rPr>
              <a:t>   (1/√Q) Σ_x |x&gt; |a^x mod N&gt;</a:t>
            </a:r>
          </a:p>
          <a:p>
            <a:pPr algn="l">
              <a:spcAft>
                <a:spcPts val="300"/>
              </a:spcAft>
            </a:pPr>
            <a:r>
              <a:rPr sz="1350" b="0">
                <a:solidFill>
                  <a:srgbClr val="0B1220"/>
                </a:solidFill>
                <a:latin typeface="Arial"/>
              </a:rPr>
              <a:t> </a:t>
            </a:r>
          </a:p>
          <a:p>
            <a:pPr algn="l">
              <a:spcAft>
                <a:spcPts val="300"/>
              </a:spcAft>
            </a:pPr>
            <a:r>
              <a:rPr sz="1350" b="0">
                <a:solidFill>
                  <a:srgbClr val="9CDCFE"/>
                </a:solidFill>
                <a:latin typeface="Arial"/>
              </a:rPr>
              <a:t>Measure the second register. It collapses to some value a^(x₀) mod N,</a:t>
            </a:r>
          </a:p>
          <a:p>
            <a:pPr algn="l">
              <a:spcAft>
                <a:spcPts val="300"/>
              </a:spcAft>
            </a:pPr>
            <a:r>
              <a:rPr sz="1350" b="0">
                <a:solidFill>
                  <a:srgbClr val="9CDCFE"/>
                </a:solidFill>
                <a:latin typeface="Arial"/>
              </a:rPr>
              <a:t>leaving the first register in a superposition of all x with the same value:</a:t>
            </a:r>
          </a:p>
          <a:p>
            <a:pPr algn="l">
              <a:spcAft>
                <a:spcPts val="300"/>
              </a:spcAft>
            </a:pPr>
            <a:r>
              <a:rPr sz="1350" b="0">
                <a:solidFill>
                  <a:srgbClr val="0B1220"/>
                </a:solidFill>
                <a:latin typeface="Arial"/>
              </a:rPr>
              <a:t> </a:t>
            </a:r>
          </a:p>
          <a:p>
            <a:pPr algn="l">
              <a:spcAft>
                <a:spcPts val="300"/>
              </a:spcAft>
            </a:pPr>
            <a:r>
              <a:rPr sz="1350" b="0">
                <a:solidFill>
                  <a:srgbClr val="9CDCFE"/>
                </a:solidFill>
                <a:latin typeface="Arial"/>
              </a:rPr>
              <a:t>   |x₀&gt; + |x₀ + r&gt; + |x₀ + 2r&gt; + …</a:t>
            </a:r>
          </a:p>
          <a:p>
            <a:pPr algn="l">
              <a:spcAft>
                <a:spcPts val="300"/>
              </a:spcAft>
            </a:pPr>
            <a:r>
              <a:rPr sz="1350" b="0">
                <a:solidFill>
                  <a:srgbClr val="0B1220"/>
                </a:solidFill>
                <a:latin typeface="Arial"/>
              </a:rPr>
              <a:t> </a:t>
            </a:r>
          </a:p>
          <a:p>
            <a:pPr algn="l">
              <a:spcAft>
                <a:spcPts val="300"/>
              </a:spcAft>
            </a:pPr>
            <a:r>
              <a:rPr sz="1350" b="0">
                <a:solidFill>
                  <a:srgbClr val="9CDCFE"/>
                </a:solidFill>
                <a:latin typeface="Arial"/>
              </a:rPr>
              <a:t>— a PERIODIC state with period exactly r.</a:t>
            </a:r>
          </a:p>
        </p:txBody>
      </p:sp>
      <p:sp>
        <p:nvSpPr>
          <p:cNvPr id="9" name="Rectangle 8"/>
          <p:cNvSpPr/>
          <p:nvPr/>
        </p:nvSpPr>
        <p:spPr>
          <a:xfrm>
            <a:off x="777240" y="5577840"/>
            <a:ext cx="10634472" cy="475488"/>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Rectangle 9"/>
          <p:cNvSpPr/>
          <p:nvPr/>
        </p:nvSpPr>
        <p:spPr>
          <a:xfrm>
            <a:off x="777240" y="5577840"/>
            <a:ext cx="82296" cy="475488"/>
          </a:xfrm>
          <a:prstGeom prst="rect">
            <a:avLst/>
          </a:prstGeom>
          <a:solidFill>
            <a:srgbClr val="F59E0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 name="TextBox 10"/>
          <p:cNvSpPr txBox="1"/>
          <p:nvPr/>
        </p:nvSpPr>
        <p:spPr>
          <a:xfrm>
            <a:off x="1097280" y="5577840"/>
            <a:ext cx="10149840" cy="475488"/>
          </a:xfrm>
          <a:prstGeom prst="rect">
            <a:avLst/>
          </a:prstGeom>
          <a:noFill/>
        </p:spPr>
        <p:txBody>
          <a:bodyPr wrap="square" anchor="ctr">
            <a:spAutoFit/>
          </a:bodyPr>
          <a:lstStyle/>
          <a:p>
            <a:pPr algn="l">
              <a:spcAft>
                <a:spcPts val="400"/>
              </a:spcAft>
            </a:pPr>
            <a:r>
              <a:rPr sz="1150" b="1">
                <a:solidFill>
                  <a:srgbClr val="F59E0B"/>
                </a:solidFill>
                <a:latin typeface="Arial"/>
              </a:rPr>
              <a:t>WHY THIS STEP:  </a:t>
            </a:r>
            <a:r>
              <a:rPr sz="1300" b="0">
                <a:solidFill>
                  <a:srgbClr val="161B26"/>
                </a:solidFill>
                <a:latin typeface="Arial"/>
              </a:rPr>
              <a:t>The period is encoded in the register, but measuring directly would just give one random x — useless. The QFT is needed to expose the period.</a:t>
            </a:r>
          </a:p>
        </p:txBody>
      </p:sp>
      <p:sp>
        <p:nvSpPr>
          <p:cNvPr id="12" name="TextBox 11"/>
          <p:cNvSpPr txBox="1"/>
          <p:nvPr/>
        </p:nvSpPr>
        <p:spPr>
          <a:xfrm>
            <a:off x="365760" y="6446520"/>
            <a:ext cx="6858000" cy="320040"/>
          </a:xfrm>
          <a:prstGeom prst="rect">
            <a:avLst/>
          </a:prstGeom>
          <a:noFill/>
        </p:spPr>
        <p:txBody>
          <a:bodyPr wrap="square" anchor="t">
            <a:spAutoFit/>
          </a:bodyPr>
          <a:lstStyle/>
          <a:p>
            <a:pPr algn="l">
              <a:spcAft>
                <a:spcPts val="400"/>
              </a:spcAft>
            </a:pPr>
            <a:r>
              <a:rPr sz="900" b="0">
                <a:solidFill>
                  <a:srgbClr val="5B6372"/>
                </a:solidFill>
                <a:latin typeface="Arial"/>
              </a:rPr>
              <a:t>Securing the Future with Quantum Computing and Cryptography  ·  TGS-2024043419</a:t>
            </a:r>
          </a:p>
        </p:txBody>
      </p:sp>
      <p:sp>
        <p:nvSpPr>
          <p:cNvPr id="13" name="TextBox 12"/>
          <p:cNvSpPr txBox="1"/>
          <p:nvPr/>
        </p:nvSpPr>
        <p:spPr>
          <a:xfrm>
            <a:off x="4572000" y="6446520"/>
            <a:ext cx="3017520" cy="320040"/>
          </a:xfrm>
          <a:prstGeom prst="rect">
            <a:avLst/>
          </a:prstGeom>
          <a:noFill/>
        </p:spPr>
        <p:txBody>
          <a:bodyPr wrap="square" anchor="t">
            <a:spAutoFit/>
          </a:bodyPr>
          <a:lstStyle/>
          <a:p>
            <a:pPr algn="ctr">
              <a:spcAft>
                <a:spcPts val="400"/>
              </a:spcAft>
            </a:pPr>
            <a:r>
              <a:rPr sz="900" b="0">
                <a:solidFill>
                  <a:srgbClr val="5B6372"/>
                </a:solidFill>
                <a:latin typeface="Arial"/>
              </a:rPr>
              <a:t>© 2026 Tertiary Infotech Academy Pte Ltd</a:t>
            </a:r>
          </a:p>
        </p:txBody>
      </p:sp>
      <p:sp>
        <p:nvSpPr>
          <p:cNvPr id="14" name="TextBox 13"/>
          <p:cNvSpPr txBox="1"/>
          <p:nvPr/>
        </p:nvSpPr>
        <p:spPr>
          <a:xfrm>
            <a:off x="11338560" y="6446520"/>
            <a:ext cx="548640" cy="320040"/>
          </a:xfrm>
          <a:prstGeom prst="rect">
            <a:avLst/>
          </a:prstGeom>
          <a:noFill/>
        </p:spPr>
        <p:txBody>
          <a:bodyPr wrap="square" anchor="t">
            <a:spAutoFit/>
          </a:bodyPr>
          <a:lstStyle/>
          <a:p>
            <a:pPr algn="r">
              <a:spcAft>
                <a:spcPts val="400"/>
              </a:spcAft>
            </a:pPr>
            <a:r>
              <a:rPr sz="900" b="0">
                <a:solidFill>
                  <a:srgbClr val="5B6372"/>
                </a:solidFill>
                <a:latin typeface="Arial"/>
              </a:rPr>
              <a:t>206</a:t>
            </a:r>
          </a:p>
        </p:txBody>
      </p:sp>
    </p:spTree>
  </p:cSld>
  <p:clrMapOvr>
    <a:masterClrMapping/>
  </p:clrMapOvr>
</p:sld>
</file>

<file path=ppt/slides/slide208.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256032" cy="1417320"/>
          </a:xfrm>
          <a:prstGeom prst="rect">
            <a:avLst/>
          </a:prstGeom>
          <a:solidFill>
            <a:srgbClr val="7C3AE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777240" y="457200"/>
            <a:ext cx="10607040" cy="365760"/>
          </a:xfrm>
          <a:prstGeom prst="rect">
            <a:avLst/>
          </a:prstGeom>
          <a:noFill/>
        </p:spPr>
        <p:txBody>
          <a:bodyPr wrap="square" anchor="t">
            <a:spAutoFit/>
          </a:bodyPr>
          <a:lstStyle/>
          <a:p>
            <a:pPr algn="l">
              <a:spcAft>
                <a:spcPts val="400"/>
              </a:spcAft>
            </a:pPr>
            <a:r>
              <a:rPr sz="1400" b="1">
                <a:solidFill>
                  <a:srgbClr val="7C3AED"/>
                </a:solidFill>
                <a:latin typeface="Arial"/>
              </a:rPr>
              <a:t>SHOR'S ALGORITHM BREAKS RSA  ·  STEP 5 OF 6</a:t>
            </a:r>
          </a:p>
        </p:txBody>
      </p:sp>
      <p:sp>
        <p:nvSpPr>
          <p:cNvPr id="5" name="TextBox 4"/>
          <p:cNvSpPr txBox="1"/>
          <p:nvPr/>
        </p:nvSpPr>
        <p:spPr>
          <a:xfrm>
            <a:off x="777240" y="822960"/>
            <a:ext cx="10881360" cy="822960"/>
          </a:xfrm>
          <a:prstGeom prst="rect">
            <a:avLst/>
          </a:prstGeom>
          <a:noFill/>
        </p:spPr>
        <p:txBody>
          <a:bodyPr wrap="square" anchor="t">
            <a:spAutoFit/>
          </a:bodyPr>
          <a:lstStyle/>
          <a:p>
            <a:pPr algn="l">
              <a:spcAft>
                <a:spcPts val="400"/>
              </a:spcAft>
            </a:pPr>
            <a:r>
              <a:rPr sz="2900" b="1">
                <a:solidFill>
                  <a:srgbClr val="161B26"/>
                </a:solidFill>
                <a:latin typeface="Arial"/>
              </a:rPr>
              <a:t>Step 5 — The QFT extracts the period</a:t>
            </a:r>
          </a:p>
        </p:txBody>
      </p:sp>
      <p:sp>
        <p:nvSpPr>
          <p:cNvPr id="6" name="Rectangle 5"/>
          <p:cNvSpPr/>
          <p:nvPr/>
        </p:nvSpPr>
        <p:spPr>
          <a:xfrm>
            <a:off x="777240" y="1554480"/>
            <a:ext cx="10634472" cy="18288"/>
          </a:xfrm>
          <a:prstGeom prst="rect">
            <a:avLst/>
          </a:prstGeom>
          <a:solidFill>
            <a:srgbClr val="E2E8F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Rectangle 6"/>
          <p:cNvSpPr/>
          <p:nvPr/>
        </p:nvSpPr>
        <p:spPr>
          <a:xfrm>
            <a:off x="777240" y="1810512"/>
            <a:ext cx="10634472" cy="3255264"/>
          </a:xfrm>
          <a:prstGeom prst="rect">
            <a:avLst/>
          </a:prstGeom>
          <a:solidFill>
            <a:srgbClr val="0B122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TextBox 7"/>
          <p:cNvSpPr txBox="1"/>
          <p:nvPr/>
        </p:nvSpPr>
        <p:spPr>
          <a:xfrm>
            <a:off x="1097280" y="1956816"/>
            <a:ext cx="9994392" cy="2962656"/>
          </a:xfrm>
          <a:prstGeom prst="rect">
            <a:avLst/>
          </a:prstGeom>
          <a:noFill/>
        </p:spPr>
        <p:txBody>
          <a:bodyPr wrap="square" anchor="t">
            <a:spAutoFit/>
          </a:bodyPr>
          <a:lstStyle/>
          <a:p>
            <a:pPr algn="l">
              <a:spcAft>
                <a:spcPts val="300"/>
              </a:spcAft>
            </a:pPr>
            <a:r>
              <a:rPr sz="1550" b="0">
                <a:solidFill>
                  <a:srgbClr val="9CDCFE"/>
                </a:solidFill>
                <a:latin typeface="Arial"/>
              </a:rPr>
              <a:t>Apply the inverse QFT to the counting register.</a:t>
            </a:r>
          </a:p>
          <a:p>
            <a:pPr algn="l">
              <a:spcAft>
                <a:spcPts val="300"/>
              </a:spcAft>
            </a:pPr>
            <a:r>
              <a:rPr sz="1550" b="0">
                <a:solidFill>
                  <a:srgbClr val="0B1220"/>
                </a:solidFill>
                <a:latin typeface="Arial"/>
              </a:rPr>
              <a:t> </a:t>
            </a:r>
          </a:p>
          <a:p>
            <a:pPr algn="l">
              <a:spcAft>
                <a:spcPts val="300"/>
              </a:spcAft>
            </a:pPr>
            <a:r>
              <a:rPr sz="1550" b="0">
                <a:solidFill>
                  <a:srgbClr val="9CDCFE"/>
                </a:solidFill>
                <a:latin typeface="Arial"/>
              </a:rPr>
              <a:t>The QFT of a periodic comb is a comb with reciprocal spacing: the amplitude</a:t>
            </a:r>
          </a:p>
          <a:p>
            <a:pPr algn="l">
              <a:spcAft>
                <a:spcPts val="300"/>
              </a:spcAft>
            </a:pPr>
            <a:r>
              <a:rPr sz="1550" b="0">
                <a:solidFill>
                  <a:srgbClr val="9CDCFE"/>
                </a:solidFill>
                <a:latin typeface="Arial"/>
              </a:rPr>
              <a:t>concentrates on multiples of Q/r. Measuring yields, with high probability,</a:t>
            </a:r>
          </a:p>
          <a:p>
            <a:pPr algn="l">
              <a:spcAft>
                <a:spcPts val="300"/>
              </a:spcAft>
            </a:pPr>
            <a:r>
              <a:rPr sz="1550" b="0">
                <a:solidFill>
                  <a:srgbClr val="0B1220"/>
                </a:solidFill>
                <a:latin typeface="Arial"/>
              </a:rPr>
              <a:t> </a:t>
            </a:r>
          </a:p>
          <a:p>
            <a:pPr algn="l">
              <a:spcAft>
                <a:spcPts val="300"/>
              </a:spcAft>
            </a:pPr>
            <a:r>
              <a:rPr sz="1550" b="0">
                <a:solidFill>
                  <a:srgbClr val="9CDCFE"/>
                </a:solidFill>
                <a:latin typeface="Arial"/>
              </a:rPr>
              <a:t>   y  ≈  k·Q/r      for some integer k</a:t>
            </a:r>
          </a:p>
          <a:p>
            <a:pPr algn="l">
              <a:spcAft>
                <a:spcPts val="300"/>
              </a:spcAft>
            </a:pPr>
            <a:r>
              <a:rPr sz="1550" b="0">
                <a:solidFill>
                  <a:srgbClr val="0B1220"/>
                </a:solidFill>
                <a:latin typeface="Arial"/>
              </a:rPr>
              <a:t> </a:t>
            </a:r>
          </a:p>
          <a:p>
            <a:pPr algn="l">
              <a:spcAft>
                <a:spcPts val="300"/>
              </a:spcAft>
            </a:pPr>
            <a:r>
              <a:rPr sz="1550" b="0">
                <a:solidFill>
                  <a:srgbClr val="9CDCFE"/>
                </a:solidFill>
                <a:latin typeface="Arial"/>
              </a:rPr>
              <a:t>Then  y/Q ≈ k/r, and CONTINUED FRACTIONS recover r from that rational</a:t>
            </a:r>
          </a:p>
          <a:p>
            <a:pPr algn="l">
              <a:spcAft>
                <a:spcPts val="300"/>
              </a:spcAft>
            </a:pPr>
            <a:r>
              <a:rPr sz="1550" b="0">
                <a:solidFill>
                  <a:srgbClr val="9CDCFE"/>
                </a:solidFill>
                <a:latin typeface="Arial"/>
              </a:rPr>
              <a:t>approximation.</a:t>
            </a:r>
          </a:p>
        </p:txBody>
      </p:sp>
      <p:sp>
        <p:nvSpPr>
          <p:cNvPr id="9" name="Rectangle 8"/>
          <p:cNvSpPr/>
          <p:nvPr/>
        </p:nvSpPr>
        <p:spPr>
          <a:xfrm>
            <a:off x="777240" y="5266944"/>
            <a:ext cx="10634472" cy="786384"/>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Rectangle 9"/>
          <p:cNvSpPr/>
          <p:nvPr/>
        </p:nvSpPr>
        <p:spPr>
          <a:xfrm>
            <a:off x="777240" y="5266944"/>
            <a:ext cx="82296" cy="786384"/>
          </a:xfrm>
          <a:prstGeom prst="rect">
            <a:avLst/>
          </a:prstGeom>
          <a:solidFill>
            <a:srgbClr val="F59E0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 name="TextBox 10"/>
          <p:cNvSpPr txBox="1"/>
          <p:nvPr/>
        </p:nvSpPr>
        <p:spPr>
          <a:xfrm>
            <a:off x="1097280" y="5266944"/>
            <a:ext cx="10149840" cy="786384"/>
          </a:xfrm>
          <a:prstGeom prst="rect">
            <a:avLst/>
          </a:prstGeom>
          <a:noFill/>
        </p:spPr>
        <p:txBody>
          <a:bodyPr wrap="square" anchor="ctr">
            <a:spAutoFit/>
          </a:bodyPr>
          <a:lstStyle/>
          <a:p>
            <a:pPr algn="l">
              <a:spcAft>
                <a:spcPts val="400"/>
              </a:spcAft>
            </a:pPr>
            <a:r>
              <a:rPr sz="1150" b="1">
                <a:solidFill>
                  <a:srgbClr val="F59E0B"/>
                </a:solidFill>
                <a:latin typeface="Arial"/>
              </a:rPr>
              <a:t>WHY THIS STEP:  </a:t>
            </a:r>
            <a:r>
              <a:rPr sz="1300" b="0">
                <a:solidFill>
                  <a:srgbClr val="161B26"/>
                </a:solidFill>
                <a:latin typeface="Arial"/>
              </a:rPr>
              <a:t>The QFT costs only O(n²) gates — this is where the exponential speedup lives.</a:t>
            </a:r>
          </a:p>
        </p:txBody>
      </p:sp>
      <p:sp>
        <p:nvSpPr>
          <p:cNvPr id="12" name="TextBox 11"/>
          <p:cNvSpPr txBox="1"/>
          <p:nvPr/>
        </p:nvSpPr>
        <p:spPr>
          <a:xfrm>
            <a:off x="365760" y="6446520"/>
            <a:ext cx="6858000" cy="320040"/>
          </a:xfrm>
          <a:prstGeom prst="rect">
            <a:avLst/>
          </a:prstGeom>
          <a:noFill/>
        </p:spPr>
        <p:txBody>
          <a:bodyPr wrap="square" anchor="t">
            <a:spAutoFit/>
          </a:bodyPr>
          <a:lstStyle/>
          <a:p>
            <a:pPr algn="l">
              <a:spcAft>
                <a:spcPts val="400"/>
              </a:spcAft>
            </a:pPr>
            <a:r>
              <a:rPr sz="900" b="0">
                <a:solidFill>
                  <a:srgbClr val="5B6372"/>
                </a:solidFill>
                <a:latin typeface="Arial"/>
              </a:rPr>
              <a:t>Securing the Future with Quantum Computing and Cryptography  ·  TGS-2024043419</a:t>
            </a:r>
          </a:p>
        </p:txBody>
      </p:sp>
      <p:sp>
        <p:nvSpPr>
          <p:cNvPr id="13" name="TextBox 12"/>
          <p:cNvSpPr txBox="1"/>
          <p:nvPr/>
        </p:nvSpPr>
        <p:spPr>
          <a:xfrm>
            <a:off x="4572000" y="6446520"/>
            <a:ext cx="3017520" cy="320040"/>
          </a:xfrm>
          <a:prstGeom prst="rect">
            <a:avLst/>
          </a:prstGeom>
          <a:noFill/>
        </p:spPr>
        <p:txBody>
          <a:bodyPr wrap="square" anchor="t">
            <a:spAutoFit/>
          </a:bodyPr>
          <a:lstStyle/>
          <a:p>
            <a:pPr algn="ctr">
              <a:spcAft>
                <a:spcPts val="400"/>
              </a:spcAft>
            </a:pPr>
            <a:r>
              <a:rPr sz="900" b="0">
                <a:solidFill>
                  <a:srgbClr val="5B6372"/>
                </a:solidFill>
                <a:latin typeface="Arial"/>
              </a:rPr>
              <a:t>© 2026 Tertiary Infotech Academy Pte Ltd</a:t>
            </a:r>
          </a:p>
        </p:txBody>
      </p:sp>
      <p:sp>
        <p:nvSpPr>
          <p:cNvPr id="14" name="TextBox 13"/>
          <p:cNvSpPr txBox="1"/>
          <p:nvPr/>
        </p:nvSpPr>
        <p:spPr>
          <a:xfrm>
            <a:off x="11338560" y="6446520"/>
            <a:ext cx="548640" cy="320040"/>
          </a:xfrm>
          <a:prstGeom prst="rect">
            <a:avLst/>
          </a:prstGeom>
          <a:noFill/>
        </p:spPr>
        <p:txBody>
          <a:bodyPr wrap="square" anchor="t">
            <a:spAutoFit/>
          </a:bodyPr>
          <a:lstStyle/>
          <a:p>
            <a:pPr algn="r">
              <a:spcAft>
                <a:spcPts val="400"/>
              </a:spcAft>
            </a:pPr>
            <a:r>
              <a:rPr sz="900" b="0">
                <a:solidFill>
                  <a:srgbClr val="5B6372"/>
                </a:solidFill>
                <a:latin typeface="Arial"/>
              </a:rPr>
              <a:t>207</a:t>
            </a:r>
          </a:p>
        </p:txBody>
      </p:sp>
    </p:spTree>
  </p:cSld>
  <p:clrMapOvr>
    <a:masterClrMapping/>
  </p:clrMapOvr>
</p:sld>
</file>

<file path=ppt/slides/slide209.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256032" cy="1417320"/>
          </a:xfrm>
          <a:prstGeom prst="rect">
            <a:avLst/>
          </a:prstGeom>
          <a:solidFill>
            <a:srgbClr val="7C3AE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777240" y="457200"/>
            <a:ext cx="10607040" cy="365760"/>
          </a:xfrm>
          <a:prstGeom prst="rect">
            <a:avLst/>
          </a:prstGeom>
          <a:noFill/>
        </p:spPr>
        <p:txBody>
          <a:bodyPr wrap="square" anchor="t">
            <a:spAutoFit/>
          </a:bodyPr>
          <a:lstStyle/>
          <a:p>
            <a:pPr algn="l">
              <a:spcAft>
                <a:spcPts val="400"/>
              </a:spcAft>
            </a:pPr>
            <a:r>
              <a:rPr sz="1400" b="1">
                <a:solidFill>
                  <a:srgbClr val="7C3AED"/>
                </a:solidFill>
                <a:latin typeface="Arial"/>
              </a:rPr>
              <a:t>SHOR'S ALGORITHM BREAKS RSA  ·  STEP 6 OF 6</a:t>
            </a:r>
          </a:p>
        </p:txBody>
      </p:sp>
      <p:sp>
        <p:nvSpPr>
          <p:cNvPr id="5" name="TextBox 4"/>
          <p:cNvSpPr txBox="1"/>
          <p:nvPr/>
        </p:nvSpPr>
        <p:spPr>
          <a:xfrm>
            <a:off x="777240" y="822960"/>
            <a:ext cx="10881360" cy="822960"/>
          </a:xfrm>
          <a:prstGeom prst="rect">
            <a:avLst/>
          </a:prstGeom>
          <a:noFill/>
        </p:spPr>
        <p:txBody>
          <a:bodyPr wrap="square" anchor="t">
            <a:spAutoFit/>
          </a:bodyPr>
          <a:lstStyle/>
          <a:p>
            <a:pPr algn="l">
              <a:spcAft>
                <a:spcPts val="400"/>
              </a:spcAft>
            </a:pPr>
            <a:r>
              <a:rPr sz="2900" b="1">
                <a:solidFill>
                  <a:srgbClr val="161B26"/>
                </a:solidFill>
                <a:latin typeface="Arial"/>
              </a:rPr>
              <a:t>Step 6 — Cost and consequence</a:t>
            </a:r>
          </a:p>
        </p:txBody>
      </p:sp>
      <p:sp>
        <p:nvSpPr>
          <p:cNvPr id="6" name="Rectangle 5"/>
          <p:cNvSpPr/>
          <p:nvPr/>
        </p:nvSpPr>
        <p:spPr>
          <a:xfrm>
            <a:off x="777240" y="1554480"/>
            <a:ext cx="10634472" cy="18288"/>
          </a:xfrm>
          <a:prstGeom prst="rect">
            <a:avLst/>
          </a:prstGeom>
          <a:solidFill>
            <a:srgbClr val="E2E8F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Rectangle 6"/>
          <p:cNvSpPr/>
          <p:nvPr/>
        </p:nvSpPr>
        <p:spPr>
          <a:xfrm>
            <a:off x="777240" y="1810512"/>
            <a:ext cx="10634472" cy="2322576"/>
          </a:xfrm>
          <a:prstGeom prst="rect">
            <a:avLst/>
          </a:prstGeom>
          <a:solidFill>
            <a:srgbClr val="0B122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TextBox 7"/>
          <p:cNvSpPr txBox="1"/>
          <p:nvPr/>
        </p:nvSpPr>
        <p:spPr>
          <a:xfrm>
            <a:off x="1097280" y="1956816"/>
            <a:ext cx="9994392" cy="2029968"/>
          </a:xfrm>
          <a:prstGeom prst="rect">
            <a:avLst/>
          </a:prstGeom>
          <a:noFill/>
        </p:spPr>
        <p:txBody>
          <a:bodyPr wrap="square" anchor="t">
            <a:spAutoFit/>
          </a:bodyPr>
          <a:lstStyle/>
          <a:p>
            <a:pPr algn="l">
              <a:spcAft>
                <a:spcPts val="300"/>
              </a:spcAft>
            </a:pPr>
            <a:r>
              <a:rPr sz="1550" b="0">
                <a:solidFill>
                  <a:srgbClr val="9CDCFE"/>
                </a:solidFill>
                <a:latin typeface="Arial"/>
              </a:rPr>
              <a:t>Total: O((log N)³) operations — POLYNOMIAL in the number of bits.</a:t>
            </a:r>
          </a:p>
          <a:p>
            <a:pPr algn="l">
              <a:spcAft>
                <a:spcPts val="300"/>
              </a:spcAft>
            </a:pPr>
            <a:r>
              <a:rPr sz="1550" b="0">
                <a:solidFill>
                  <a:srgbClr val="0B1220"/>
                </a:solidFill>
                <a:latin typeface="Arial"/>
              </a:rPr>
              <a:t> </a:t>
            </a:r>
          </a:p>
          <a:p>
            <a:pPr algn="l">
              <a:spcAft>
                <a:spcPts val="300"/>
              </a:spcAft>
            </a:pPr>
            <a:r>
              <a:rPr sz="1550" b="0">
                <a:solidFill>
                  <a:srgbClr val="9CDCFE"/>
                </a:solidFill>
                <a:latin typeface="Arial"/>
              </a:rPr>
              <a:t>RSA-2048 estimates: roughly 4,000 logical qubits and ~10⁹ Toffoli gates,</a:t>
            </a:r>
          </a:p>
          <a:p>
            <a:pPr algn="l">
              <a:spcAft>
                <a:spcPts val="300"/>
              </a:spcAft>
            </a:pPr>
            <a:r>
              <a:rPr sz="1550" b="0">
                <a:solidFill>
                  <a:srgbClr val="9CDCFE"/>
                </a:solidFill>
                <a:latin typeface="Arial"/>
              </a:rPr>
              <a:t>which at realistic error rates means MILLIONS of physical qubits.</a:t>
            </a:r>
          </a:p>
          <a:p>
            <a:pPr algn="l">
              <a:spcAft>
                <a:spcPts val="300"/>
              </a:spcAft>
            </a:pPr>
            <a:r>
              <a:rPr sz="1550" b="0">
                <a:solidFill>
                  <a:srgbClr val="0B1220"/>
                </a:solidFill>
                <a:latin typeface="Arial"/>
              </a:rPr>
              <a:t> </a:t>
            </a:r>
          </a:p>
          <a:p>
            <a:pPr algn="l">
              <a:spcAft>
                <a:spcPts val="300"/>
              </a:spcAft>
            </a:pPr>
            <a:r>
              <a:rPr sz="1550" b="0">
                <a:solidFill>
                  <a:srgbClr val="9CDCFE"/>
                </a:solidFill>
                <a:latin typeface="Arial"/>
              </a:rPr>
              <a:t>Shor also breaks Diffie-Hellman and ECC (the discrete-log problem).</a:t>
            </a:r>
          </a:p>
        </p:txBody>
      </p:sp>
      <p:sp>
        <p:nvSpPr>
          <p:cNvPr id="9" name="Rectangle 8"/>
          <p:cNvSpPr/>
          <p:nvPr/>
        </p:nvSpPr>
        <p:spPr>
          <a:xfrm>
            <a:off x="777240" y="4334256"/>
            <a:ext cx="10634472" cy="1719072"/>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Rectangle 9"/>
          <p:cNvSpPr/>
          <p:nvPr/>
        </p:nvSpPr>
        <p:spPr>
          <a:xfrm>
            <a:off x="777240" y="4334256"/>
            <a:ext cx="82296" cy="1719072"/>
          </a:xfrm>
          <a:prstGeom prst="rect">
            <a:avLst/>
          </a:prstGeom>
          <a:solidFill>
            <a:srgbClr val="F59E0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 name="TextBox 10"/>
          <p:cNvSpPr txBox="1"/>
          <p:nvPr/>
        </p:nvSpPr>
        <p:spPr>
          <a:xfrm>
            <a:off x="1097280" y="4334256"/>
            <a:ext cx="10149840" cy="1719072"/>
          </a:xfrm>
          <a:prstGeom prst="rect">
            <a:avLst/>
          </a:prstGeom>
          <a:noFill/>
        </p:spPr>
        <p:txBody>
          <a:bodyPr wrap="square" anchor="ctr">
            <a:spAutoFit/>
          </a:bodyPr>
          <a:lstStyle/>
          <a:p>
            <a:pPr algn="l">
              <a:spcAft>
                <a:spcPts val="400"/>
              </a:spcAft>
            </a:pPr>
            <a:r>
              <a:rPr sz="1150" b="1">
                <a:solidFill>
                  <a:srgbClr val="F59E0B"/>
                </a:solidFill>
                <a:latin typeface="Arial"/>
              </a:rPr>
              <a:t>WHY THIS STEP:  </a:t>
            </a:r>
            <a:r>
              <a:rPr sz="1300" b="0">
                <a:solidFill>
                  <a:srgbClr val="161B26"/>
                </a:solidFill>
                <a:latin typeface="Arial"/>
              </a:rPr>
              <a:t>Not achievable today — but 'harvest now, decrypt later' means data captured today is already at risk.</a:t>
            </a:r>
          </a:p>
        </p:txBody>
      </p:sp>
      <p:sp>
        <p:nvSpPr>
          <p:cNvPr id="12" name="TextBox 11"/>
          <p:cNvSpPr txBox="1"/>
          <p:nvPr/>
        </p:nvSpPr>
        <p:spPr>
          <a:xfrm>
            <a:off x="365760" y="6446520"/>
            <a:ext cx="6858000" cy="320040"/>
          </a:xfrm>
          <a:prstGeom prst="rect">
            <a:avLst/>
          </a:prstGeom>
          <a:noFill/>
        </p:spPr>
        <p:txBody>
          <a:bodyPr wrap="square" anchor="t">
            <a:spAutoFit/>
          </a:bodyPr>
          <a:lstStyle/>
          <a:p>
            <a:pPr algn="l">
              <a:spcAft>
                <a:spcPts val="400"/>
              </a:spcAft>
            </a:pPr>
            <a:r>
              <a:rPr sz="900" b="0">
                <a:solidFill>
                  <a:srgbClr val="5B6372"/>
                </a:solidFill>
                <a:latin typeface="Arial"/>
              </a:rPr>
              <a:t>Securing the Future with Quantum Computing and Cryptography  ·  TGS-2024043419</a:t>
            </a:r>
          </a:p>
        </p:txBody>
      </p:sp>
      <p:sp>
        <p:nvSpPr>
          <p:cNvPr id="13" name="TextBox 12"/>
          <p:cNvSpPr txBox="1"/>
          <p:nvPr/>
        </p:nvSpPr>
        <p:spPr>
          <a:xfrm>
            <a:off x="4572000" y="6446520"/>
            <a:ext cx="3017520" cy="320040"/>
          </a:xfrm>
          <a:prstGeom prst="rect">
            <a:avLst/>
          </a:prstGeom>
          <a:noFill/>
        </p:spPr>
        <p:txBody>
          <a:bodyPr wrap="square" anchor="t">
            <a:spAutoFit/>
          </a:bodyPr>
          <a:lstStyle/>
          <a:p>
            <a:pPr algn="ctr">
              <a:spcAft>
                <a:spcPts val="400"/>
              </a:spcAft>
            </a:pPr>
            <a:r>
              <a:rPr sz="900" b="0">
                <a:solidFill>
                  <a:srgbClr val="5B6372"/>
                </a:solidFill>
                <a:latin typeface="Arial"/>
              </a:rPr>
              <a:t>© 2026 Tertiary Infotech Academy Pte Ltd</a:t>
            </a:r>
          </a:p>
        </p:txBody>
      </p:sp>
      <p:sp>
        <p:nvSpPr>
          <p:cNvPr id="14" name="TextBox 13"/>
          <p:cNvSpPr txBox="1"/>
          <p:nvPr/>
        </p:nvSpPr>
        <p:spPr>
          <a:xfrm>
            <a:off x="11338560" y="6446520"/>
            <a:ext cx="548640" cy="320040"/>
          </a:xfrm>
          <a:prstGeom prst="rect">
            <a:avLst/>
          </a:prstGeom>
          <a:noFill/>
        </p:spPr>
        <p:txBody>
          <a:bodyPr wrap="square" anchor="t">
            <a:spAutoFit/>
          </a:bodyPr>
          <a:lstStyle/>
          <a:p>
            <a:pPr algn="r">
              <a:spcAft>
                <a:spcPts val="400"/>
              </a:spcAft>
            </a:pPr>
            <a:r>
              <a:rPr sz="900" b="0">
                <a:solidFill>
                  <a:srgbClr val="5B6372"/>
                </a:solidFill>
                <a:latin typeface="Arial"/>
              </a:rPr>
              <a:t>208</a:t>
            </a:r>
          </a:p>
        </p:txBody>
      </p:sp>
    </p:spTree>
  </p:cSld>
  <p:clrMapOvr>
    <a:masterClrMapping/>
  </p:clrMapOvr>
</p:sld>
</file>

<file path=ppt/slides/slide210.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256032" cy="1417320"/>
          </a:xfrm>
          <a:prstGeom prst="rect">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777240" y="457200"/>
            <a:ext cx="10607040" cy="365760"/>
          </a:xfrm>
          <a:prstGeom prst="rect">
            <a:avLst/>
          </a:prstGeom>
          <a:noFill/>
        </p:spPr>
        <p:txBody>
          <a:bodyPr wrap="square" anchor="t">
            <a:spAutoFit/>
          </a:bodyPr>
          <a:lstStyle/>
          <a:p>
            <a:pPr algn="l">
              <a:spcAft>
                <a:spcPts val="400"/>
              </a:spcAft>
            </a:pPr>
            <a:r>
              <a:rPr sz="1400" b="1">
                <a:solidFill>
                  <a:srgbClr val="10B981"/>
                </a:solidFill>
                <a:latin typeface="Arial"/>
              </a:rPr>
              <a:t>QED</a:t>
            </a:r>
          </a:p>
        </p:txBody>
      </p:sp>
      <p:sp>
        <p:nvSpPr>
          <p:cNvPr id="5" name="TextBox 4"/>
          <p:cNvSpPr txBox="1"/>
          <p:nvPr/>
        </p:nvSpPr>
        <p:spPr>
          <a:xfrm>
            <a:off x="777240" y="822960"/>
            <a:ext cx="10881360" cy="822960"/>
          </a:xfrm>
          <a:prstGeom prst="rect">
            <a:avLst/>
          </a:prstGeom>
          <a:noFill/>
        </p:spPr>
        <p:txBody>
          <a:bodyPr wrap="square" anchor="t">
            <a:spAutoFit/>
          </a:bodyPr>
          <a:lstStyle/>
          <a:p>
            <a:pPr algn="l">
              <a:spcAft>
                <a:spcPts val="400"/>
              </a:spcAft>
            </a:pPr>
            <a:r>
              <a:rPr sz="2900" b="1">
                <a:solidFill>
                  <a:srgbClr val="161B26"/>
                </a:solidFill>
                <a:latin typeface="Arial"/>
              </a:rPr>
              <a:t>Shor's Algorithm Breaks RSA — Result</a:t>
            </a:r>
          </a:p>
        </p:txBody>
      </p:sp>
      <p:sp>
        <p:nvSpPr>
          <p:cNvPr id="6" name="Rectangle 5"/>
          <p:cNvSpPr/>
          <p:nvPr/>
        </p:nvSpPr>
        <p:spPr>
          <a:xfrm>
            <a:off x="777240" y="1554480"/>
            <a:ext cx="10634472" cy="18288"/>
          </a:xfrm>
          <a:prstGeom prst="rect">
            <a:avLst/>
          </a:prstGeom>
          <a:solidFill>
            <a:srgbClr val="E2E8F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Rectangle 6"/>
          <p:cNvSpPr/>
          <p:nvPr/>
        </p:nvSpPr>
        <p:spPr>
          <a:xfrm>
            <a:off x="777240" y="1783080"/>
            <a:ext cx="10634472" cy="1828800"/>
          </a:xfrm>
          <a:prstGeom prst="rect">
            <a:avLst/>
          </a:prstGeom>
          <a:solidFill>
            <a:srgbClr val="E8F7E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Rectangle 7"/>
          <p:cNvSpPr/>
          <p:nvPr/>
        </p:nvSpPr>
        <p:spPr>
          <a:xfrm>
            <a:off x="777240" y="1783080"/>
            <a:ext cx="100584" cy="1828800"/>
          </a:xfrm>
          <a:prstGeom prst="rect">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TextBox 8"/>
          <p:cNvSpPr txBox="1"/>
          <p:nvPr/>
        </p:nvSpPr>
        <p:spPr>
          <a:xfrm>
            <a:off x="1143000" y="1965960"/>
            <a:ext cx="10058400" cy="365760"/>
          </a:xfrm>
          <a:prstGeom prst="rect">
            <a:avLst/>
          </a:prstGeom>
          <a:noFill/>
        </p:spPr>
        <p:txBody>
          <a:bodyPr wrap="square" anchor="t">
            <a:spAutoFit/>
          </a:bodyPr>
          <a:lstStyle/>
          <a:p>
            <a:pPr algn="l">
              <a:spcAft>
                <a:spcPts val="400"/>
              </a:spcAft>
            </a:pPr>
            <a:r>
              <a:rPr sz="1200" b="1">
                <a:solidFill>
                  <a:srgbClr val="127A3E"/>
                </a:solidFill>
                <a:latin typeface="Arial"/>
              </a:rPr>
              <a:t>RESULT</a:t>
            </a:r>
          </a:p>
        </p:txBody>
      </p:sp>
      <p:sp>
        <p:nvSpPr>
          <p:cNvPr id="10" name="TextBox 9"/>
          <p:cNvSpPr txBox="1"/>
          <p:nvPr/>
        </p:nvSpPr>
        <p:spPr>
          <a:xfrm>
            <a:off x="1143000" y="2377440"/>
            <a:ext cx="10058400" cy="1143000"/>
          </a:xfrm>
          <a:prstGeom prst="rect">
            <a:avLst/>
          </a:prstGeom>
          <a:noFill/>
        </p:spPr>
        <p:txBody>
          <a:bodyPr wrap="square" anchor="t">
            <a:spAutoFit/>
          </a:bodyPr>
          <a:lstStyle/>
          <a:p>
            <a:pPr algn="l">
              <a:spcAft>
                <a:spcPts val="400"/>
              </a:spcAft>
            </a:pPr>
            <a:r>
              <a:rPr sz="1550" b="1">
                <a:solidFill>
                  <a:srgbClr val="161B26"/>
                </a:solidFill>
                <a:latin typeface="Arial"/>
              </a:rPr>
              <a:t>Given the order r of a mod N, the factors follow classically from gcd(a^(r/2) ± 1, N). The quantum computer supplies r in polynomial time via the QFT.</a:t>
            </a:r>
          </a:p>
        </p:txBody>
      </p:sp>
      <p:sp>
        <p:nvSpPr>
          <p:cNvPr id="11" name="Rectangle 10"/>
          <p:cNvSpPr/>
          <p:nvPr/>
        </p:nvSpPr>
        <p:spPr>
          <a:xfrm>
            <a:off x="777240" y="3840480"/>
            <a:ext cx="10634472" cy="2148840"/>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 name="Rectangle 11"/>
          <p:cNvSpPr/>
          <p:nvPr/>
        </p:nvSpPr>
        <p:spPr>
          <a:xfrm>
            <a:off x="777240" y="3840480"/>
            <a:ext cx="100584" cy="2148840"/>
          </a:xfrm>
          <a:prstGeom prst="rect">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 name="TextBox 12"/>
          <p:cNvSpPr txBox="1"/>
          <p:nvPr/>
        </p:nvSpPr>
        <p:spPr>
          <a:xfrm>
            <a:off x="1143000" y="4023360"/>
            <a:ext cx="10058400" cy="365760"/>
          </a:xfrm>
          <a:prstGeom prst="rect">
            <a:avLst/>
          </a:prstGeom>
          <a:noFill/>
        </p:spPr>
        <p:txBody>
          <a:bodyPr wrap="square" anchor="t">
            <a:spAutoFit/>
          </a:bodyPr>
          <a:lstStyle/>
          <a:p>
            <a:pPr algn="l">
              <a:spcAft>
                <a:spcPts val="400"/>
              </a:spcAft>
            </a:pPr>
            <a:r>
              <a:rPr sz="1200" b="1">
                <a:solidFill>
                  <a:srgbClr val="1F6FEB"/>
                </a:solidFill>
                <a:latin typeface="Arial"/>
              </a:rPr>
              <a:t>WHY IT MATTERS</a:t>
            </a:r>
          </a:p>
        </p:txBody>
      </p:sp>
      <p:sp>
        <p:nvSpPr>
          <p:cNvPr id="14" name="TextBox 13"/>
          <p:cNvSpPr txBox="1"/>
          <p:nvPr/>
        </p:nvSpPr>
        <p:spPr>
          <a:xfrm>
            <a:off x="1143000" y="4434840"/>
            <a:ext cx="10058400" cy="1463040"/>
          </a:xfrm>
          <a:prstGeom prst="rect">
            <a:avLst/>
          </a:prstGeom>
          <a:noFill/>
        </p:spPr>
        <p:txBody>
          <a:bodyPr wrap="square" anchor="t">
            <a:spAutoFit/>
          </a:bodyPr>
          <a:lstStyle/>
          <a:p>
            <a:pPr algn="l">
              <a:spcAft>
                <a:spcPts val="400"/>
              </a:spcAft>
            </a:pPr>
            <a:r>
              <a:rPr sz="1450" b="0">
                <a:solidFill>
                  <a:srgbClr val="161B26"/>
                </a:solidFill>
                <a:latin typeface="Arial"/>
              </a:rPr>
              <a:t>Shor is the reason post-quantum cryptography exists. Every public-key system in use today — RSA, DH, ECDSA — is broken by it, which is why NIST standardised ML-KEM, ML-DSA and SLH-DSA.</a:t>
            </a:r>
          </a:p>
        </p:txBody>
      </p:sp>
      <p:sp>
        <p:nvSpPr>
          <p:cNvPr id="15" name="TextBox 14"/>
          <p:cNvSpPr txBox="1"/>
          <p:nvPr/>
        </p:nvSpPr>
        <p:spPr>
          <a:xfrm>
            <a:off x="365760" y="6446520"/>
            <a:ext cx="6858000" cy="320040"/>
          </a:xfrm>
          <a:prstGeom prst="rect">
            <a:avLst/>
          </a:prstGeom>
          <a:noFill/>
        </p:spPr>
        <p:txBody>
          <a:bodyPr wrap="square" anchor="t">
            <a:spAutoFit/>
          </a:bodyPr>
          <a:lstStyle/>
          <a:p>
            <a:pPr algn="l">
              <a:spcAft>
                <a:spcPts val="400"/>
              </a:spcAft>
            </a:pPr>
            <a:r>
              <a:rPr sz="900" b="0">
                <a:solidFill>
                  <a:srgbClr val="5B6372"/>
                </a:solidFill>
                <a:latin typeface="Arial"/>
              </a:rPr>
              <a:t>Securing the Future with Quantum Computing and Cryptography  ·  TGS-2024043419</a:t>
            </a:r>
          </a:p>
        </p:txBody>
      </p:sp>
      <p:sp>
        <p:nvSpPr>
          <p:cNvPr id="16" name="TextBox 15"/>
          <p:cNvSpPr txBox="1"/>
          <p:nvPr/>
        </p:nvSpPr>
        <p:spPr>
          <a:xfrm>
            <a:off x="4572000" y="6446520"/>
            <a:ext cx="3017520" cy="320040"/>
          </a:xfrm>
          <a:prstGeom prst="rect">
            <a:avLst/>
          </a:prstGeom>
          <a:noFill/>
        </p:spPr>
        <p:txBody>
          <a:bodyPr wrap="square" anchor="t">
            <a:spAutoFit/>
          </a:bodyPr>
          <a:lstStyle/>
          <a:p>
            <a:pPr algn="ctr">
              <a:spcAft>
                <a:spcPts val="400"/>
              </a:spcAft>
            </a:pPr>
            <a:r>
              <a:rPr sz="900" b="0">
                <a:solidFill>
                  <a:srgbClr val="5B6372"/>
                </a:solidFill>
                <a:latin typeface="Arial"/>
              </a:rPr>
              <a:t>© 2026 Tertiary Infotech Academy Pte Ltd</a:t>
            </a:r>
          </a:p>
        </p:txBody>
      </p:sp>
      <p:sp>
        <p:nvSpPr>
          <p:cNvPr id="17" name="TextBox 16"/>
          <p:cNvSpPr txBox="1"/>
          <p:nvPr/>
        </p:nvSpPr>
        <p:spPr>
          <a:xfrm>
            <a:off x="11338560" y="6446520"/>
            <a:ext cx="548640" cy="320040"/>
          </a:xfrm>
          <a:prstGeom prst="rect">
            <a:avLst/>
          </a:prstGeom>
          <a:noFill/>
        </p:spPr>
        <p:txBody>
          <a:bodyPr wrap="square" anchor="t">
            <a:spAutoFit/>
          </a:bodyPr>
          <a:lstStyle/>
          <a:p>
            <a:pPr algn="r">
              <a:spcAft>
                <a:spcPts val="400"/>
              </a:spcAft>
            </a:pPr>
            <a:r>
              <a:rPr sz="900" b="0">
                <a:solidFill>
                  <a:srgbClr val="5B6372"/>
                </a:solidFill>
                <a:latin typeface="Arial"/>
              </a:rPr>
              <a:t>209</a:t>
            </a:r>
          </a:p>
        </p:txBody>
      </p:sp>
    </p:spTree>
  </p:cSld>
  <p:clrMapOvr>
    <a:masterClrMapping/>
  </p:clrMapOvr>
</p:sld>
</file>

<file path=ppt/slides/slide211.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256032" cy="1417320"/>
          </a:xfrm>
          <a:prstGeom prst="rect">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777240" y="457200"/>
            <a:ext cx="10607040" cy="365760"/>
          </a:xfrm>
          <a:prstGeom prst="rect">
            <a:avLst/>
          </a:prstGeom>
          <a:noFill/>
        </p:spPr>
        <p:txBody>
          <a:bodyPr wrap="square" anchor="t">
            <a:spAutoFit/>
          </a:bodyPr>
          <a:lstStyle/>
          <a:p>
            <a:pPr algn="l">
              <a:spcAft>
                <a:spcPts val="400"/>
              </a:spcAft>
            </a:pPr>
            <a:r>
              <a:rPr sz="1400" b="1">
                <a:solidFill>
                  <a:srgbClr val="1F6FEB"/>
                </a:solidFill>
                <a:latin typeface="Arial"/>
              </a:rPr>
              <a:t>WHAT YOU'LL DO</a:t>
            </a:r>
          </a:p>
        </p:txBody>
      </p:sp>
      <p:sp>
        <p:nvSpPr>
          <p:cNvPr id="5" name="TextBox 4"/>
          <p:cNvSpPr txBox="1"/>
          <p:nvPr/>
        </p:nvSpPr>
        <p:spPr>
          <a:xfrm>
            <a:off x="777240" y="822960"/>
            <a:ext cx="10881360" cy="822960"/>
          </a:xfrm>
          <a:prstGeom prst="rect">
            <a:avLst/>
          </a:prstGeom>
          <a:noFill/>
        </p:spPr>
        <p:txBody>
          <a:bodyPr wrap="square" anchor="t">
            <a:spAutoFit/>
          </a:bodyPr>
          <a:lstStyle/>
          <a:p>
            <a:pPr algn="l">
              <a:spcAft>
                <a:spcPts val="400"/>
              </a:spcAft>
            </a:pPr>
            <a:r>
              <a:rPr sz="2900" b="1">
                <a:solidFill>
                  <a:srgbClr val="161B26"/>
                </a:solidFill>
                <a:latin typeface="Arial"/>
              </a:rPr>
              <a:t>Hands-On Activities — Quantum Cryptography and Quantum Safety</a:t>
            </a:r>
          </a:p>
        </p:txBody>
      </p:sp>
      <p:sp>
        <p:nvSpPr>
          <p:cNvPr id="6" name="Rectangle 5"/>
          <p:cNvSpPr/>
          <p:nvPr/>
        </p:nvSpPr>
        <p:spPr>
          <a:xfrm>
            <a:off x="777240" y="1554480"/>
            <a:ext cx="10634472" cy="18288"/>
          </a:xfrm>
          <a:prstGeom prst="rect">
            <a:avLst/>
          </a:prstGeom>
          <a:solidFill>
            <a:srgbClr val="E2E8F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Rectangle 6"/>
          <p:cNvSpPr/>
          <p:nvPr/>
        </p:nvSpPr>
        <p:spPr>
          <a:xfrm>
            <a:off x="777240" y="1783080"/>
            <a:ext cx="3337560" cy="4297680"/>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Rectangle 7"/>
          <p:cNvSpPr/>
          <p:nvPr/>
        </p:nvSpPr>
        <p:spPr>
          <a:xfrm>
            <a:off x="777240" y="1783080"/>
            <a:ext cx="3337560" cy="109728"/>
          </a:xfrm>
          <a:prstGeom prst="rect">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TextBox 8"/>
          <p:cNvSpPr txBox="1"/>
          <p:nvPr/>
        </p:nvSpPr>
        <p:spPr>
          <a:xfrm>
            <a:off x="1005840" y="2011680"/>
            <a:ext cx="2926080" cy="548640"/>
          </a:xfrm>
          <a:prstGeom prst="rect">
            <a:avLst/>
          </a:prstGeom>
          <a:noFill/>
        </p:spPr>
        <p:txBody>
          <a:bodyPr wrap="square" anchor="t">
            <a:spAutoFit/>
          </a:bodyPr>
          <a:lstStyle/>
          <a:p>
            <a:pPr algn="l">
              <a:spcAft>
                <a:spcPts val="400"/>
              </a:spcAft>
            </a:pPr>
            <a:r>
              <a:rPr sz="1900" b="1">
                <a:solidFill>
                  <a:srgbClr val="1F6FEB"/>
                </a:solidFill>
                <a:latin typeface="Arial"/>
              </a:rPr>
              <a:t>Activity 13</a:t>
            </a:r>
          </a:p>
        </p:txBody>
      </p:sp>
      <p:sp>
        <p:nvSpPr>
          <p:cNvPr id="10" name="TextBox 9"/>
          <p:cNvSpPr txBox="1"/>
          <p:nvPr/>
        </p:nvSpPr>
        <p:spPr>
          <a:xfrm>
            <a:off x="1005840" y="2697480"/>
            <a:ext cx="2926080" cy="3108960"/>
          </a:xfrm>
          <a:prstGeom prst="rect">
            <a:avLst/>
          </a:prstGeom>
          <a:noFill/>
        </p:spPr>
        <p:txBody>
          <a:bodyPr wrap="square">
            <a:spAutoFit/>
          </a:bodyPr>
          <a:lstStyle/>
          <a:p>
            <a:pPr>
              <a:spcAft>
                <a:spcPts val="900"/>
              </a:spcAft>
            </a:pPr>
            <a:r>
              <a:rPr sz="1400">
                <a:solidFill>
                  <a:srgbClr val="161B26"/>
                </a:solidFill>
                <a:latin typeface="Arial"/>
              </a:rPr>
              <a:t>•  Shor's Algorithm and the Quantum Threat to RSA</a:t>
            </a:r>
          </a:p>
        </p:txBody>
      </p:sp>
      <p:sp>
        <p:nvSpPr>
          <p:cNvPr id="11" name="Rectangle 10"/>
          <p:cNvSpPr/>
          <p:nvPr/>
        </p:nvSpPr>
        <p:spPr>
          <a:xfrm>
            <a:off x="4572000" y="1783080"/>
            <a:ext cx="3337560" cy="4297680"/>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 name="Rectangle 11"/>
          <p:cNvSpPr/>
          <p:nvPr/>
        </p:nvSpPr>
        <p:spPr>
          <a:xfrm>
            <a:off x="4572000" y="1783080"/>
            <a:ext cx="3337560" cy="109728"/>
          </a:xfrm>
          <a:prstGeom prst="rect">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 name="TextBox 12"/>
          <p:cNvSpPr txBox="1"/>
          <p:nvPr/>
        </p:nvSpPr>
        <p:spPr>
          <a:xfrm>
            <a:off x="4800600" y="2011680"/>
            <a:ext cx="2926080" cy="548640"/>
          </a:xfrm>
          <a:prstGeom prst="rect">
            <a:avLst/>
          </a:prstGeom>
          <a:noFill/>
        </p:spPr>
        <p:txBody>
          <a:bodyPr wrap="square" anchor="t">
            <a:spAutoFit/>
          </a:bodyPr>
          <a:lstStyle/>
          <a:p>
            <a:pPr algn="l">
              <a:spcAft>
                <a:spcPts val="400"/>
              </a:spcAft>
            </a:pPr>
            <a:r>
              <a:rPr sz="1900" b="1">
                <a:solidFill>
                  <a:srgbClr val="10B981"/>
                </a:solidFill>
                <a:latin typeface="Arial"/>
              </a:rPr>
              <a:t>Activity 14</a:t>
            </a:r>
          </a:p>
        </p:txBody>
      </p:sp>
      <p:sp>
        <p:nvSpPr>
          <p:cNvPr id="14" name="TextBox 13"/>
          <p:cNvSpPr txBox="1"/>
          <p:nvPr/>
        </p:nvSpPr>
        <p:spPr>
          <a:xfrm>
            <a:off x="4800600" y="2697480"/>
            <a:ext cx="2926080" cy="3108960"/>
          </a:xfrm>
          <a:prstGeom prst="rect">
            <a:avLst/>
          </a:prstGeom>
          <a:noFill/>
        </p:spPr>
        <p:txBody>
          <a:bodyPr wrap="square">
            <a:spAutoFit/>
          </a:bodyPr>
          <a:lstStyle/>
          <a:p>
            <a:pPr>
              <a:spcAft>
                <a:spcPts val="900"/>
              </a:spcAft>
            </a:pPr>
            <a:r>
              <a:rPr sz="1400">
                <a:solidFill>
                  <a:srgbClr val="161B26"/>
                </a:solidFill>
                <a:latin typeface="Arial"/>
              </a:rPr>
              <a:t>•  Post-Quantum Cryptography Migration Assessment</a:t>
            </a:r>
          </a:p>
        </p:txBody>
      </p:sp>
      <p:sp>
        <p:nvSpPr>
          <p:cNvPr id="15" name="Rectangle 14"/>
          <p:cNvSpPr/>
          <p:nvPr/>
        </p:nvSpPr>
        <p:spPr>
          <a:xfrm>
            <a:off x="8366760" y="1783080"/>
            <a:ext cx="3337560" cy="4297680"/>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6" name="Rectangle 15"/>
          <p:cNvSpPr/>
          <p:nvPr/>
        </p:nvSpPr>
        <p:spPr>
          <a:xfrm>
            <a:off x="8366760" y="1783080"/>
            <a:ext cx="3337560" cy="109728"/>
          </a:xfrm>
          <a:prstGeom prst="rect">
            <a:avLst/>
          </a:prstGeom>
          <a:solidFill>
            <a:srgbClr val="7C3AE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7" name="TextBox 16"/>
          <p:cNvSpPr txBox="1"/>
          <p:nvPr/>
        </p:nvSpPr>
        <p:spPr>
          <a:xfrm>
            <a:off x="8595360" y="2011680"/>
            <a:ext cx="2926080" cy="548640"/>
          </a:xfrm>
          <a:prstGeom prst="rect">
            <a:avLst/>
          </a:prstGeom>
          <a:noFill/>
        </p:spPr>
        <p:txBody>
          <a:bodyPr wrap="square" anchor="t">
            <a:spAutoFit/>
          </a:bodyPr>
          <a:lstStyle/>
          <a:p>
            <a:pPr algn="l">
              <a:spcAft>
                <a:spcPts val="400"/>
              </a:spcAft>
            </a:pPr>
            <a:r>
              <a:rPr sz="1900" b="1">
                <a:solidFill>
                  <a:srgbClr val="7C3AED"/>
                </a:solidFill>
                <a:latin typeface="Arial"/>
              </a:rPr>
              <a:t>—</a:t>
            </a:r>
          </a:p>
        </p:txBody>
      </p:sp>
      <p:sp>
        <p:nvSpPr>
          <p:cNvPr id="18" name="TextBox 17"/>
          <p:cNvSpPr txBox="1"/>
          <p:nvPr/>
        </p:nvSpPr>
        <p:spPr>
          <a:xfrm>
            <a:off x="8595360" y="2697480"/>
            <a:ext cx="2926080" cy="3108960"/>
          </a:xfrm>
          <a:prstGeom prst="rect">
            <a:avLst/>
          </a:prstGeom>
          <a:noFill/>
        </p:spPr>
        <p:txBody>
          <a:bodyPr wrap="square">
            <a:spAutoFit/>
          </a:bodyPr>
          <a:lstStyle/>
          <a:p>
            <a:pPr>
              <a:spcAft>
                <a:spcPts val="900"/>
              </a:spcAft>
            </a:pPr>
            <a:r>
              <a:rPr sz="1400">
                <a:solidFill>
                  <a:srgbClr val="161B26"/>
                </a:solidFill>
                <a:latin typeface="Arial"/>
              </a:rPr>
              <a:t>•  —</a:t>
            </a:r>
          </a:p>
        </p:txBody>
      </p:sp>
      <p:sp>
        <p:nvSpPr>
          <p:cNvPr id="19" name="TextBox 18"/>
          <p:cNvSpPr txBox="1"/>
          <p:nvPr/>
        </p:nvSpPr>
        <p:spPr>
          <a:xfrm>
            <a:off x="365760" y="6446520"/>
            <a:ext cx="6858000" cy="320040"/>
          </a:xfrm>
          <a:prstGeom prst="rect">
            <a:avLst/>
          </a:prstGeom>
          <a:noFill/>
        </p:spPr>
        <p:txBody>
          <a:bodyPr wrap="square" anchor="t">
            <a:spAutoFit/>
          </a:bodyPr>
          <a:lstStyle/>
          <a:p>
            <a:pPr algn="l">
              <a:spcAft>
                <a:spcPts val="400"/>
              </a:spcAft>
            </a:pPr>
            <a:r>
              <a:rPr sz="900" b="0">
                <a:solidFill>
                  <a:srgbClr val="5B6372"/>
                </a:solidFill>
                <a:latin typeface="Arial"/>
              </a:rPr>
              <a:t>Securing the Future with Quantum Computing and Cryptography  ·  TGS-2024043419</a:t>
            </a:r>
          </a:p>
        </p:txBody>
      </p:sp>
      <p:sp>
        <p:nvSpPr>
          <p:cNvPr id="20" name="TextBox 19"/>
          <p:cNvSpPr txBox="1"/>
          <p:nvPr/>
        </p:nvSpPr>
        <p:spPr>
          <a:xfrm>
            <a:off x="4572000" y="6446520"/>
            <a:ext cx="3017520" cy="320040"/>
          </a:xfrm>
          <a:prstGeom prst="rect">
            <a:avLst/>
          </a:prstGeom>
          <a:noFill/>
        </p:spPr>
        <p:txBody>
          <a:bodyPr wrap="square" anchor="t">
            <a:spAutoFit/>
          </a:bodyPr>
          <a:lstStyle/>
          <a:p>
            <a:pPr algn="ctr">
              <a:spcAft>
                <a:spcPts val="400"/>
              </a:spcAft>
            </a:pPr>
            <a:r>
              <a:rPr sz="900" b="0">
                <a:solidFill>
                  <a:srgbClr val="5B6372"/>
                </a:solidFill>
                <a:latin typeface="Arial"/>
              </a:rPr>
              <a:t>© 2026 Tertiary Infotech Academy Pte Ltd</a:t>
            </a:r>
          </a:p>
        </p:txBody>
      </p:sp>
      <p:sp>
        <p:nvSpPr>
          <p:cNvPr id="21" name="TextBox 20"/>
          <p:cNvSpPr txBox="1"/>
          <p:nvPr/>
        </p:nvSpPr>
        <p:spPr>
          <a:xfrm>
            <a:off x="11338560" y="6446520"/>
            <a:ext cx="548640" cy="320040"/>
          </a:xfrm>
          <a:prstGeom prst="rect">
            <a:avLst/>
          </a:prstGeom>
          <a:noFill/>
        </p:spPr>
        <p:txBody>
          <a:bodyPr wrap="square" anchor="t">
            <a:spAutoFit/>
          </a:bodyPr>
          <a:lstStyle/>
          <a:p>
            <a:pPr algn="r">
              <a:spcAft>
                <a:spcPts val="400"/>
              </a:spcAft>
            </a:pPr>
            <a:r>
              <a:rPr sz="900" b="0">
                <a:solidFill>
                  <a:srgbClr val="5B6372"/>
                </a:solidFill>
                <a:latin typeface="Arial"/>
              </a:rPr>
              <a:t>210</a:t>
            </a:r>
          </a:p>
        </p:txBody>
      </p:sp>
    </p:spTree>
  </p:cSld>
  <p:clrMapOvr>
    <a:masterClrMapping/>
  </p:clrMapOvr>
</p:sld>
</file>

<file path=ppt/slides/slide212.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256032" cy="1417320"/>
          </a:xfrm>
          <a:prstGeom prst="rect">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777240" y="457200"/>
            <a:ext cx="10607040" cy="365760"/>
          </a:xfrm>
          <a:prstGeom prst="rect">
            <a:avLst/>
          </a:prstGeom>
          <a:noFill/>
        </p:spPr>
        <p:txBody>
          <a:bodyPr wrap="square" anchor="t">
            <a:spAutoFit/>
          </a:bodyPr>
          <a:lstStyle/>
          <a:p>
            <a:pPr algn="l">
              <a:spcAft>
                <a:spcPts val="400"/>
              </a:spcAft>
            </a:pPr>
            <a:r>
              <a:rPr sz="1400" b="1">
                <a:solidFill>
                  <a:srgbClr val="10B981"/>
                </a:solidFill>
                <a:latin typeface="Arial"/>
              </a:rPr>
              <a:t>TOPIC 06 · HANDS-ON ACTIVITY</a:t>
            </a:r>
          </a:p>
        </p:txBody>
      </p:sp>
      <p:sp>
        <p:nvSpPr>
          <p:cNvPr id="5" name="TextBox 4"/>
          <p:cNvSpPr txBox="1"/>
          <p:nvPr/>
        </p:nvSpPr>
        <p:spPr>
          <a:xfrm>
            <a:off x="777240" y="822960"/>
            <a:ext cx="10881360" cy="822960"/>
          </a:xfrm>
          <a:prstGeom prst="rect">
            <a:avLst/>
          </a:prstGeom>
          <a:noFill/>
        </p:spPr>
        <p:txBody>
          <a:bodyPr wrap="square" anchor="t">
            <a:spAutoFit/>
          </a:bodyPr>
          <a:lstStyle/>
          <a:p>
            <a:pPr algn="l">
              <a:spcAft>
                <a:spcPts val="400"/>
              </a:spcAft>
            </a:pPr>
            <a:r>
              <a:rPr sz="2900" b="1">
                <a:solidFill>
                  <a:srgbClr val="161B26"/>
                </a:solidFill>
                <a:latin typeface="Arial"/>
              </a:rPr>
              <a:t>Shor's Algorithm and the Quantum Threat to RSA</a:t>
            </a:r>
          </a:p>
        </p:txBody>
      </p:sp>
      <p:sp>
        <p:nvSpPr>
          <p:cNvPr id="6" name="Rectangle 5"/>
          <p:cNvSpPr/>
          <p:nvPr/>
        </p:nvSpPr>
        <p:spPr>
          <a:xfrm>
            <a:off x="777240" y="1554480"/>
            <a:ext cx="10634472" cy="18288"/>
          </a:xfrm>
          <a:prstGeom prst="rect">
            <a:avLst/>
          </a:prstGeom>
          <a:solidFill>
            <a:srgbClr val="E2E8F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Rectangle 6"/>
          <p:cNvSpPr/>
          <p:nvPr/>
        </p:nvSpPr>
        <p:spPr>
          <a:xfrm>
            <a:off x="9646920" y="457200"/>
            <a:ext cx="1783080" cy="457200"/>
          </a:xfrm>
          <a:prstGeom prst="rect">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TextBox 7"/>
          <p:cNvSpPr txBox="1"/>
          <p:nvPr/>
        </p:nvSpPr>
        <p:spPr>
          <a:xfrm>
            <a:off x="9646920" y="457200"/>
            <a:ext cx="1783080" cy="457200"/>
          </a:xfrm>
          <a:prstGeom prst="rect">
            <a:avLst/>
          </a:prstGeom>
          <a:noFill/>
        </p:spPr>
        <p:txBody>
          <a:bodyPr wrap="square" anchor="ctr">
            <a:spAutoFit/>
          </a:bodyPr>
          <a:lstStyle/>
          <a:p>
            <a:pPr algn="ctr">
              <a:spcAft>
                <a:spcPts val="400"/>
              </a:spcAft>
            </a:pPr>
            <a:r>
              <a:rPr sz="1300" b="1">
                <a:solidFill>
                  <a:srgbClr val="FFFFFF"/>
                </a:solidFill>
                <a:latin typeface="Arial"/>
              </a:rPr>
              <a:t>ACTIVITY 13</a:t>
            </a:r>
          </a:p>
        </p:txBody>
      </p:sp>
      <p:sp>
        <p:nvSpPr>
          <p:cNvPr id="9" name="TextBox 8"/>
          <p:cNvSpPr txBox="1"/>
          <p:nvPr/>
        </p:nvSpPr>
        <p:spPr>
          <a:xfrm>
            <a:off x="777240" y="1828800"/>
            <a:ext cx="10607040" cy="1051560"/>
          </a:xfrm>
          <a:prstGeom prst="rect">
            <a:avLst/>
          </a:prstGeom>
          <a:noFill/>
        </p:spPr>
        <p:txBody>
          <a:bodyPr wrap="square" anchor="t">
            <a:spAutoFit/>
          </a:bodyPr>
          <a:lstStyle/>
          <a:p>
            <a:pPr algn="l">
              <a:spcAft>
                <a:spcPts val="400"/>
              </a:spcAft>
            </a:pPr>
            <a:r>
              <a:rPr sz="1700" b="0">
                <a:solidFill>
                  <a:srgbClr val="161B26"/>
                </a:solidFill>
                <a:latin typeface="Arial"/>
              </a:rPr>
              <a:t>See how factoring reduces to period finding, run the quantum period-finding circuit that sits at the heart of Shor's algorithm, and recover the factors of N = 15 from the measured period.</a:t>
            </a:r>
          </a:p>
        </p:txBody>
      </p:sp>
      <p:sp>
        <p:nvSpPr>
          <p:cNvPr id="10" name="Rectangle 9"/>
          <p:cNvSpPr/>
          <p:nvPr/>
        </p:nvSpPr>
        <p:spPr>
          <a:xfrm>
            <a:off x="777240" y="2971800"/>
            <a:ext cx="10634472" cy="457200"/>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 name="TextBox 10"/>
          <p:cNvSpPr txBox="1"/>
          <p:nvPr/>
        </p:nvSpPr>
        <p:spPr>
          <a:xfrm>
            <a:off x="960120" y="2971800"/>
            <a:ext cx="10241280" cy="457200"/>
          </a:xfrm>
          <a:prstGeom prst="rect">
            <a:avLst/>
          </a:prstGeom>
          <a:noFill/>
        </p:spPr>
        <p:txBody>
          <a:bodyPr wrap="square" anchor="ctr">
            <a:spAutoFit/>
          </a:bodyPr>
          <a:lstStyle/>
          <a:p>
            <a:pPr algn="l">
              <a:spcAft>
                <a:spcPts val="400"/>
              </a:spcAft>
            </a:pPr>
            <a:r>
              <a:rPr sz="1100" b="1">
                <a:solidFill>
                  <a:srgbClr val="1F6FEB"/>
                </a:solidFill>
                <a:latin typeface="Arial"/>
              </a:rPr>
              <a:t>MAPS TO  </a:t>
            </a:r>
            <a:r>
              <a:rPr sz="1250" b="0">
                <a:solidFill>
                  <a:srgbClr val="161B26"/>
                </a:solidFill>
                <a:latin typeface="Arial"/>
              </a:rPr>
              <a:t>LO7 — Synthesize quantum methodologies to address complex problems</a:t>
            </a:r>
          </a:p>
        </p:txBody>
      </p:sp>
      <p:sp>
        <p:nvSpPr>
          <p:cNvPr id="12" name="Rectangle 11"/>
          <p:cNvSpPr/>
          <p:nvPr/>
        </p:nvSpPr>
        <p:spPr>
          <a:xfrm>
            <a:off x="777240" y="3611880"/>
            <a:ext cx="10634472" cy="1234440"/>
          </a:xfrm>
          <a:prstGeom prst="rect">
            <a:avLst/>
          </a:prstGeom>
          <a:solidFill>
            <a:srgbClr val="E8F7E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 name="TextBox 12"/>
          <p:cNvSpPr txBox="1"/>
          <p:nvPr/>
        </p:nvSpPr>
        <p:spPr>
          <a:xfrm>
            <a:off x="1051560" y="3767328"/>
            <a:ext cx="10058400" cy="365760"/>
          </a:xfrm>
          <a:prstGeom prst="rect">
            <a:avLst/>
          </a:prstGeom>
          <a:noFill/>
        </p:spPr>
        <p:txBody>
          <a:bodyPr wrap="square" anchor="t">
            <a:spAutoFit/>
          </a:bodyPr>
          <a:lstStyle/>
          <a:p>
            <a:pPr algn="l">
              <a:spcAft>
                <a:spcPts val="400"/>
              </a:spcAft>
            </a:pPr>
            <a:r>
              <a:rPr sz="1200" b="1">
                <a:solidFill>
                  <a:srgbClr val="127A3E"/>
                </a:solidFill>
                <a:latin typeface="Arial"/>
              </a:rPr>
              <a:t>YOU'LL PRODUCE</a:t>
            </a:r>
          </a:p>
        </p:txBody>
      </p:sp>
      <p:sp>
        <p:nvSpPr>
          <p:cNvPr id="14" name="TextBox 13"/>
          <p:cNvSpPr txBox="1"/>
          <p:nvPr/>
        </p:nvSpPr>
        <p:spPr>
          <a:xfrm>
            <a:off x="1051560" y="4133087"/>
            <a:ext cx="10058400" cy="640080"/>
          </a:xfrm>
          <a:prstGeom prst="rect">
            <a:avLst/>
          </a:prstGeom>
          <a:noFill/>
        </p:spPr>
        <p:txBody>
          <a:bodyPr wrap="square" anchor="t">
            <a:spAutoFit/>
          </a:bodyPr>
          <a:lstStyle/>
          <a:p>
            <a:pPr algn="l">
              <a:spcAft>
                <a:spcPts val="400"/>
              </a:spcAft>
            </a:pPr>
            <a:r>
              <a:rPr sz="1550" b="1">
                <a:solidFill>
                  <a:srgbClr val="161B26"/>
                </a:solidFill>
                <a:latin typeface="Arial"/>
              </a:rPr>
              <a:t>A period-finding circuit whose measured output yields the period r, from which the factors of N = 15 are classically recovered.</a:t>
            </a:r>
          </a:p>
        </p:txBody>
      </p:sp>
      <p:sp>
        <p:nvSpPr>
          <p:cNvPr id="15" name="Rectangle 14"/>
          <p:cNvSpPr/>
          <p:nvPr/>
        </p:nvSpPr>
        <p:spPr>
          <a:xfrm>
            <a:off x="777240" y="5029200"/>
            <a:ext cx="10634472" cy="960120"/>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6" name="TextBox 15"/>
          <p:cNvSpPr txBox="1"/>
          <p:nvPr/>
        </p:nvSpPr>
        <p:spPr>
          <a:xfrm>
            <a:off x="1051560" y="5138928"/>
            <a:ext cx="10058400" cy="365760"/>
          </a:xfrm>
          <a:prstGeom prst="rect">
            <a:avLst/>
          </a:prstGeom>
          <a:noFill/>
        </p:spPr>
        <p:txBody>
          <a:bodyPr wrap="square" anchor="t">
            <a:spAutoFit/>
          </a:bodyPr>
          <a:lstStyle/>
          <a:p>
            <a:pPr algn="l">
              <a:spcAft>
                <a:spcPts val="400"/>
              </a:spcAft>
            </a:pPr>
            <a:r>
              <a:rPr sz="1200" b="1">
                <a:solidFill>
                  <a:srgbClr val="5B6372"/>
                </a:solidFill>
                <a:latin typeface="Arial"/>
              </a:rPr>
              <a:t>Tools:  </a:t>
            </a:r>
            <a:r>
              <a:rPr sz="1200" b="0">
                <a:solidFill>
                  <a:srgbClr val="5B6372"/>
                </a:solidFill>
                <a:latin typeface="Arial"/>
              </a:rPr>
              <a:t>Qiskit 2.x, IBM Quantum Runtime, Python, OpenQASM</a:t>
            </a:r>
          </a:p>
        </p:txBody>
      </p:sp>
      <p:sp>
        <p:nvSpPr>
          <p:cNvPr id="17" name="TextBox 16"/>
          <p:cNvSpPr txBox="1"/>
          <p:nvPr/>
        </p:nvSpPr>
        <p:spPr>
          <a:xfrm>
            <a:off x="1051560" y="5504688"/>
            <a:ext cx="10058400" cy="365760"/>
          </a:xfrm>
          <a:prstGeom prst="rect">
            <a:avLst/>
          </a:prstGeom>
          <a:noFill/>
        </p:spPr>
        <p:txBody>
          <a:bodyPr wrap="square" anchor="t">
            <a:spAutoFit/>
          </a:bodyPr>
          <a:lstStyle/>
          <a:p>
            <a:pPr algn="l">
              <a:spcAft>
                <a:spcPts val="400"/>
              </a:spcAft>
            </a:pPr>
            <a:r>
              <a:rPr sz="1200" b="1">
                <a:solidFill>
                  <a:srgbClr val="1F6FEB"/>
                </a:solidFill>
                <a:latin typeface="Arial"/>
              </a:rPr>
              <a:t>Full step-by-step guide:  </a:t>
            </a:r>
            <a:r>
              <a:rPr sz="1200" b="0">
                <a:solidFill>
                  <a:srgbClr val="161B26"/>
                </a:solidFill>
                <a:latin typeface="Arial"/>
              </a:rPr>
              <a:t>Learner Guide — Activity 13: Shor's Algorithm and the Quantum Threat to RSA</a:t>
            </a:r>
          </a:p>
        </p:txBody>
      </p:sp>
      <p:sp>
        <p:nvSpPr>
          <p:cNvPr id="18" name="TextBox 17"/>
          <p:cNvSpPr txBox="1"/>
          <p:nvPr/>
        </p:nvSpPr>
        <p:spPr>
          <a:xfrm>
            <a:off x="365760" y="6446520"/>
            <a:ext cx="6858000" cy="320040"/>
          </a:xfrm>
          <a:prstGeom prst="rect">
            <a:avLst/>
          </a:prstGeom>
          <a:noFill/>
        </p:spPr>
        <p:txBody>
          <a:bodyPr wrap="square" anchor="t">
            <a:spAutoFit/>
          </a:bodyPr>
          <a:lstStyle/>
          <a:p>
            <a:pPr algn="l">
              <a:spcAft>
                <a:spcPts val="400"/>
              </a:spcAft>
            </a:pPr>
            <a:r>
              <a:rPr sz="900" b="0">
                <a:solidFill>
                  <a:srgbClr val="5B6372"/>
                </a:solidFill>
                <a:latin typeface="Arial"/>
              </a:rPr>
              <a:t>Securing the Future with Quantum Computing and Cryptography  ·  TGS-2024043419</a:t>
            </a:r>
          </a:p>
        </p:txBody>
      </p:sp>
      <p:sp>
        <p:nvSpPr>
          <p:cNvPr id="19" name="TextBox 18"/>
          <p:cNvSpPr txBox="1"/>
          <p:nvPr/>
        </p:nvSpPr>
        <p:spPr>
          <a:xfrm>
            <a:off x="4572000" y="6446520"/>
            <a:ext cx="3017520" cy="320040"/>
          </a:xfrm>
          <a:prstGeom prst="rect">
            <a:avLst/>
          </a:prstGeom>
          <a:noFill/>
        </p:spPr>
        <p:txBody>
          <a:bodyPr wrap="square" anchor="t">
            <a:spAutoFit/>
          </a:bodyPr>
          <a:lstStyle/>
          <a:p>
            <a:pPr algn="ctr">
              <a:spcAft>
                <a:spcPts val="400"/>
              </a:spcAft>
            </a:pPr>
            <a:r>
              <a:rPr sz="900" b="0">
                <a:solidFill>
                  <a:srgbClr val="5B6372"/>
                </a:solidFill>
                <a:latin typeface="Arial"/>
              </a:rPr>
              <a:t>© 2026 Tertiary Infotech Academy Pte Ltd</a:t>
            </a:r>
          </a:p>
        </p:txBody>
      </p:sp>
      <p:sp>
        <p:nvSpPr>
          <p:cNvPr id="20" name="TextBox 19"/>
          <p:cNvSpPr txBox="1"/>
          <p:nvPr/>
        </p:nvSpPr>
        <p:spPr>
          <a:xfrm>
            <a:off x="11338560" y="6446520"/>
            <a:ext cx="548640" cy="320040"/>
          </a:xfrm>
          <a:prstGeom prst="rect">
            <a:avLst/>
          </a:prstGeom>
          <a:noFill/>
        </p:spPr>
        <p:txBody>
          <a:bodyPr wrap="square" anchor="t">
            <a:spAutoFit/>
          </a:bodyPr>
          <a:lstStyle/>
          <a:p>
            <a:pPr algn="r">
              <a:spcAft>
                <a:spcPts val="400"/>
              </a:spcAft>
            </a:pPr>
            <a:r>
              <a:rPr sz="900" b="0">
                <a:solidFill>
                  <a:srgbClr val="5B6372"/>
                </a:solidFill>
                <a:latin typeface="Arial"/>
              </a:rPr>
              <a:t>211</a:t>
            </a:r>
          </a:p>
        </p:txBody>
      </p:sp>
    </p:spTree>
  </p:cSld>
  <p:clrMapOvr>
    <a:masterClrMapping/>
  </p:clrMapOvr>
</p:sld>
</file>

<file path=ppt/slides/slide213.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256032" cy="1417320"/>
          </a:xfrm>
          <a:prstGeom prst="rect">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777240" y="457200"/>
            <a:ext cx="10607040" cy="365760"/>
          </a:xfrm>
          <a:prstGeom prst="rect">
            <a:avLst/>
          </a:prstGeom>
          <a:noFill/>
        </p:spPr>
        <p:txBody>
          <a:bodyPr wrap="square" anchor="t">
            <a:spAutoFit/>
          </a:bodyPr>
          <a:lstStyle/>
          <a:p>
            <a:pPr algn="l">
              <a:spcAft>
                <a:spcPts val="400"/>
              </a:spcAft>
            </a:pPr>
            <a:r>
              <a:rPr sz="1400" b="1">
                <a:solidFill>
                  <a:srgbClr val="10B981"/>
                </a:solidFill>
                <a:latin typeface="Arial"/>
              </a:rPr>
              <a:t>ACTIVITY 13 · VERIFY &amp; DEBRIEF</a:t>
            </a:r>
          </a:p>
        </p:txBody>
      </p:sp>
      <p:sp>
        <p:nvSpPr>
          <p:cNvPr id="5" name="TextBox 4"/>
          <p:cNvSpPr txBox="1"/>
          <p:nvPr/>
        </p:nvSpPr>
        <p:spPr>
          <a:xfrm>
            <a:off x="777240" y="822960"/>
            <a:ext cx="10881360" cy="822960"/>
          </a:xfrm>
          <a:prstGeom prst="rect">
            <a:avLst/>
          </a:prstGeom>
          <a:noFill/>
        </p:spPr>
        <p:txBody>
          <a:bodyPr wrap="square" anchor="t">
            <a:spAutoFit/>
          </a:bodyPr>
          <a:lstStyle/>
          <a:p>
            <a:pPr algn="l">
              <a:spcAft>
                <a:spcPts val="400"/>
              </a:spcAft>
            </a:pPr>
            <a:r>
              <a:rPr sz="2900" b="1">
                <a:solidFill>
                  <a:srgbClr val="161B26"/>
                </a:solidFill>
                <a:latin typeface="Arial"/>
              </a:rPr>
              <a:t>Shor's Algorithm and the Quantum Threat to RSA</a:t>
            </a:r>
          </a:p>
        </p:txBody>
      </p:sp>
      <p:sp>
        <p:nvSpPr>
          <p:cNvPr id="6" name="Rectangle 5"/>
          <p:cNvSpPr/>
          <p:nvPr/>
        </p:nvSpPr>
        <p:spPr>
          <a:xfrm>
            <a:off x="777240" y="1554480"/>
            <a:ext cx="10634472" cy="18288"/>
          </a:xfrm>
          <a:prstGeom prst="rect">
            <a:avLst/>
          </a:prstGeom>
          <a:solidFill>
            <a:srgbClr val="E2E8F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Rectangle 6"/>
          <p:cNvSpPr/>
          <p:nvPr/>
        </p:nvSpPr>
        <p:spPr>
          <a:xfrm>
            <a:off x="777240" y="1783080"/>
            <a:ext cx="10634472" cy="2148840"/>
          </a:xfrm>
          <a:prstGeom prst="rect">
            <a:avLst/>
          </a:prstGeom>
          <a:solidFill>
            <a:srgbClr val="E8F7E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Rectangle 7"/>
          <p:cNvSpPr/>
          <p:nvPr/>
        </p:nvSpPr>
        <p:spPr>
          <a:xfrm>
            <a:off x="777240" y="1783080"/>
            <a:ext cx="100584" cy="2148840"/>
          </a:xfrm>
          <a:prstGeom prst="rect">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TextBox 8"/>
          <p:cNvSpPr txBox="1"/>
          <p:nvPr/>
        </p:nvSpPr>
        <p:spPr>
          <a:xfrm>
            <a:off x="1143000" y="1965960"/>
            <a:ext cx="10058400" cy="411480"/>
          </a:xfrm>
          <a:prstGeom prst="rect">
            <a:avLst/>
          </a:prstGeom>
          <a:noFill/>
        </p:spPr>
        <p:txBody>
          <a:bodyPr wrap="square" anchor="t">
            <a:spAutoFit/>
          </a:bodyPr>
          <a:lstStyle/>
          <a:p>
            <a:pPr algn="l">
              <a:spcAft>
                <a:spcPts val="400"/>
              </a:spcAft>
            </a:pPr>
            <a:r>
              <a:rPr sz="1300" b="1">
                <a:solidFill>
                  <a:srgbClr val="127A3E"/>
                </a:solidFill>
                <a:latin typeface="Arial"/>
              </a:rPr>
              <a:t>TEST IT — HOW YOU KNOW IT WORKED</a:t>
            </a:r>
          </a:p>
        </p:txBody>
      </p:sp>
      <p:sp>
        <p:nvSpPr>
          <p:cNvPr id="10" name="TextBox 9"/>
          <p:cNvSpPr txBox="1"/>
          <p:nvPr/>
        </p:nvSpPr>
        <p:spPr>
          <a:xfrm>
            <a:off x="1143000" y="2423160"/>
            <a:ext cx="10058400" cy="1371600"/>
          </a:xfrm>
          <a:prstGeom prst="rect">
            <a:avLst/>
          </a:prstGeom>
          <a:noFill/>
        </p:spPr>
        <p:txBody>
          <a:bodyPr wrap="square" anchor="t">
            <a:spAutoFit/>
          </a:bodyPr>
          <a:lstStyle/>
          <a:p>
            <a:pPr algn="l">
              <a:spcAft>
                <a:spcPts val="400"/>
              </a:spcAft>
            </a:pPr>
            <a:r>
              <a:rPr sz="1600" b="0">
                <a:solidFill>
                  <a:srgbClr val="161B26"/>
                </a:solidFill>
                <a:latin typeface="Arial"/>
              </a:rPr>
              <a:t>The measured phase yields period r = 4 for a = 7 and N = 15, and the classical post-processing step recovers the correct factors 3 and 5.</a:t>
            </a:r>
          </a:p>
        </p:txBody>
      </p:sp>
      <p:sp>
        <p:nvSpPr>
          <p:cNvPr id="11" name="TextBox 10"/>
          <p:cNvSpPr txBox="1"/>
          <p:nvPr/>
        </p:nvSpPr>
        <p:spPr>
          <a:xfrm>
            <a:off x="777240" y="4096512"/>
            <a:ext cx="10607040" cy="365760"/>
          </a:xfrm>
          <a:prstGeom prst="rect">
            <a:avLst/>
          </a:prstGeom>
          <a:noFill/>
        </p:spPr>
        <p:txBody>
          <a:bodyPr wrap="square" anchor="t">
            <a:spAutoFit/>
          </a:bodyPr>
          <a:lstStyle/>
          <a:p>
            <a:pPr algn="l">
              <a:spcAft>
                <a:spcPts val="400"/>
              </a:spcAft>
            </a:pPr>
            <a:r>
              <a:rPr sz="1300" b="1">
                <a:solidFill>
                  <a:srgbClr val="1F6FEB"/>
                </a:solidFill>
                <a:latin typeface="Arial"/>
              </a:rPr>
              <a:t>DISCUSS WITH YOUR TRAINER</a:t>
            </a:r>
          </a:p>
        </p:txBody>
      </p:sp>
      <p:sp>
        <p:nvSpPr>
          <p:cNvPr id="12" name="Rectangle 11"/>
          <p:cNvSpPr/>
          <p:nvPr/>
        </p:nvSpPr>
        <p:spPr>
          <a:xfrm>
            <a:off x="777240" y="4480560"/>
            <a:ext cx="3447288" cy="1463040"/>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 name="Rectangle 12"/>
          <p:cNvSpPr/>
          <p:nvPr/>
        </p:nvSpPr>
        <p:spPr>
          <a:xfrm>
            <a:off x="777240" y="4480560"/>
            <a:ext cx="3447288" cy="82296"/>
          </a:xfrm>
          <a:prstGeom prst="rect">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 name="TextBox 13"/>
          <p:cNvSpPr txBox="1"/>
          <p:nvPr/>
        </p:nvSpPr>
        <p:spPr>
          <a:xfrm>
            <a:off x="978408" y="4663440"/>
            <a:ext cx="3044952" cy="457200"/>
          </a:xfrm>
          <a:prstGeom prst="rect">
            <a:avLst/>
          </a:prstGeom>
          <a:noFill/>
        </p:spPr>
        <p:txBody>
          <a:bodyPr wrap="square" anchor="t">
            <a:spAutoFit/>
          </a:bodyPr>
          <a:lstStyle/>
          <a:p>
            <a:pPr algn="l">
              <a:spcAft>
                <a:spcPts val="400"/>
              </a:spcAft>
            </a:pPr>
            <a:r>
              <a:rPr sz="1350" b="1">
                <a:solidFill>
                  <a:srgbClr val="1F6FEB"/>
                </a:solidFill>
                <a:latin typeface="Arial"/>
              </a:rPr>
              <a:t>What did the result show?</a:t>
            </a:r>
          </a:p>
        </p:txBody>
      </p:sp>
      <p:sp>
        <p:nvSpPr>
          <p:cNvPr id="15" name="TextBox 14"/>
          <p:cNvSpPr txBox="1"/>
          <p:nvPr/>
        </p:nvSpPr>
        <p:spPr>
          <a:xfrm>
            <a:off x="978408" y="5138928"/>
            <a:ext cx="3044952" cy="731520"/>
          </a:xfrm>
          <a:prstGeom prst="rect">
            <a:avLst/>
          </a:prstGeom>
          <a:noFill/>
        </p:spPr>
        <p:txBody>
          <a:bodyPr wrap="square" anchor="t">
            <a:spAutoFit/>
          </a:bodyPr>
          <a:lstStyle/>
          <a:p>
            <a:pPr algn="l">
              <a:spcAft>
                <a:spcPts val="400"/>
              </a:spcAft>
            </a:pPr>
            <a:r>
              <a:rPr sz="1200" b="0">
                <a:solidFill>
                  <a:srgbClr val="5B6372"/>
                </a:solidFill>
                <a:latin typeface="Arial"/>
              </a:rPr>
              <a:t>Restate the outcome in your own words.</a:t>
            </a:r>
          </a:p>
        </p:txBody>
      </p:sp>
      <p:sp>
        <p:nvSpPr>
          <p:cNvPr id="16" name="Rectangle 15"/>
          <p:cNvSpPr/>
          <p:nvPr/>
        </p:nvSpPr>
        <p:spPr>
          <a:xfrm>
            <a:off x="4370832" y="4480560"/>
            <a:ext cx="3447288" cy="1463040"/>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7" name="Rectangle 16"/>
          <p:cNvSpPr/>
          <p:nvPr/>
        </p:nvSpPr>
        <p:spPr>
          <a:xfrm>
            <a:off x="4370832" y="4480560"/>
            <a:ext cx="3447288" cy="82296"/>
          </a:xfrm>
          <a:prstGeom prst="rect">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8" name="TextBox 17"/>
          <p:cNvSpPr txBox="1"/>
          <p:nvPr/>
        </p:nvSpPr>
        <p:spPr>
          <a:xfrm>
            <a:off x="4572000" y="4663440"/>
            <a:ext cx="3044952" cy="457200"/>
          </a:xfrm>
          <a:prstGeom prst="rect">
            <a:avLst/>
          </a:prstGeom>
          <a:noFill/>
        </p:spPr>
        <p:txBody>
          <a:bodyPr wrap="square" anchor="t">
            <a:spAutoFit/>
          </a:bodyPr>
          <a:lstStyle/>
          <a:p>
            <a:pPr algn="l">
              <a:spcAft>
                <a:spcPts val="400"/>
              </a:spcAft>
            </a:pPr>
            <a:r>
              <a:rPr sz="1350" b="1">
                <a:solidFill>
                  <a:srgbClr val="10B981"/>
                </a:solidFill>
                <a:latin typeface="Arial"/>
              </a:rPr>
              <a:t>Why does it work?</a:t>
            </a:r>
          </a:p>
        </p:txBody>
      </p:sp>
      <p:sp>
        <p:nvSpPr>
          <p:cNvPr id="19" name="TextBox 18"/>
          <p:cNvSpPr txBox="1"/>
          <p:nvPr/>
        </p:nvSpPr>
        <p:spPr>
          <a:xfrm>
            <a:off x="4572000" y="5138928"/>
            <a:ext cx="3044952" cy="731520"/>
          </a:xfrm>
          <a:prstGeom prst="rect">
            <a:avLst/>
          </a:prstGeom>
          <a:noFill/>
        </p:spPr>
        <p:txBody>
          <a:bodyPr wrap="square" anchor="t">
            <a:spAutoFit/>
          </a:bodyPr>
          <a:lstStyle/>
          <a:p>
            <a:pPr algn="l">
              <a:spcAft>
                <a:spcPts val="400"/>
              </a:spcAft>
            </a:pPr>
            <a:r>
              <a:rPr sz="1200" b="0">
                <a:solidFill>
                  <a:srgbClr val="5B6372"/>
                </a:solidFill>
                <a:latin typeface="Arial"/>
              </a:rPr>
              <a:t>Name the quantum principle the activity relies on.</a:t>
            </a:r>
          </a:p>
        </p:txBody>
      </p:sp>
      <p:sp>
        <p:nvSpPr>
          <p:cNvPr id="20" name="Rectangle 19"/>
          <p:cNvSpPr/>
          <p:nvPr/>
        </p:nvSpPr>
        <p:spPr>
          <a:xfrm>
            <a:off x="7964424" y="4480560"/>
            <a:ext cx="3447288" cy="1463040"/>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1" name="Rectangle 20"/>
          <p:cNvSpPr/>
          <p:nvPr/>
        </p:nvSpPr>
        <p:spPr>
          <a:xfrm>
            <a:off x="7964424" y="4480560"/>
            <a:ext cx="3447288" cy="82296"/>
          </a:xfrm>
          <a:prstGeom prst="rect">
            <a:avLst/>
          </a:prstGeom>
          <a:solidFill>
            <a:srgbClr val="7C3AE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2" name="TextBox 21"/>
          <p:cNvSpPr txBox="1"/>
          <p:nvPr/>
        </p:nvSpPr>
        <p:spPr>
          <a:xfrm>
            <a:off x="8165592" y="4663440"/>
            <a:ext cx="3044952" cy="457200"/>
          </a:xfrm>
          <a:prstGeom prst="rect">
            <a:avLst/>
          </a:prstGeom>
          <a:noFill/>
        </p:spPr>
        <p:txBody>
          <a:bodyPr wrap="square" anchor="t">
            <a:spAutoFit/>
          </a:bodyPr>
          <a:lstStyle/>
          <a:p>
            <a:pPr algn="l">
              <a:spcAft>
                <a:spcPts val="400"/>
              </a:spcAft>
            </a:pPr>
            <a:r>
              <a:rPr sz="1350" b="1">
                <a:solidFill>
                  <a:srgbClr val="7C3AED"/>
                </a:solidFill>
                <a:latin typeface="Arial"/>
              </a:rPr>
              <a:t>Where would you use it?</a:t>
            </a:r>
          </a:p>
        </p:txBody>
      </p:sp>
      <p:sp>
        <p:nvSpPr>
          <p:cNvPr id="23" name="TextBox 22"/>
          <p:cNvSpPr txBox="1"/>
          <p:nvPr/>
        </p:nvSpPr>
        <p:spPr>
          <a:xfrm>
            <a:off x="8165592" y="5138928"/>
            <a:ext cx="3044952" cy="731520"/>
          </a:xfrm>
          <a:prstGeom prst="rect">
            <a:avLst/>
          </a:prstGeom>
          <a:noFill/>
        </p:spPr>
        <p:txBody>
          <a:bodyPr wrap="square" anchor="t">
            <a:spAutoFit/>
          </a:bodyPr>
          <a:lstStyle/>
          <a:p>
            <a:pPr algn="l">
              <a:spcAft>
                <a:spcPts val="400"/>
              </a:spcAft>
            </a:pPr>
            <a:r>
              <a:rPr sz="1200" b="0">
                <a:solidFill>
                  <a:srgbClr val="5B6372"/>
                </a:solidFill>
                <a:latin typeface="Arial"/>
              </a:rPr>
              <a:t>Give one realistic application in your own field.</a:t>
            </a:r>
          </a:p>
        </p:txBody>
      </p:sp>
      <p:sp>
        <p:nvSpPr>
          <p:cNvPr id="24" name="TextBox 23"/>
          <p:cNvSpPr txBox="1"/>
          <p:nvPr/>
        </p:nvSpPr>
        <p:spPr>
          <a:xfrm>
            <a:off x="365760" y="6446520"/>
            <a:ext cx="6858000" cy="320040"/>
          </a:xfrm>
          <a:prstGeom prst="rect">
            <a:avLst/>
          </a:prstGeom>
          <a:noFill/>
        </p:spPr>
        <p:txBody>
          <a:bodyPr wrap="square" anchor="t">
            <a:spAutoFit/>
          </a:bodyPr>
          <a:lstStyle/>
          <a:p>
            <a:pPr algn="l">
              <a:spcAft>
                <a:spcPts val="400"/>
              </a:spcAft>
            </a:pPr>
            <a:r>
              <a:rPr sz="900" b="0">
                <a:solidFill>
                  <a:srgbClr val="5B6372"/>
                </a:solidFill>
                <a:latin typeface="Arial"/>
              </a:rPr>
              <a:t>Securing the Future with Quantum Computing and Cryptography  ·  TGS-2024043419</a:t>
            </a:r>
          </a:p>
        </p:txBody>
      </p:sp>
      <p:sp>
        <p:nvSpPr>
          <p:cNvPr id="25" name="TextBox 24"/>
          <p:cNvSpPr txBox="1"/>
          <p:nvPr/>
        </p:nvSpPr>
        <p:spPr>
          <a:xfrm>
            <a:off x="4572000" y="6446520"/>
            <a:ext cx="3017520" cy="320040"/>
          </a:xfrm>
          <a:prstGeom prst="rect">
            <a:avLst/>
          </a:prstGeom>
          <a:noFill/>
        </p:spPr>
        <p:txBody>
          <a:bodyPr wrap="square" anchor="t">
            <a:spAutoFit/>
          </a:bodyPr>
          <a:lstStyle/>
          <a:p>
            <a:pPr algn="ctr">
              <a:spcAft>
                <a:spcPts val="400"/>
              </a:spcAft>
            </a:pPr>
            <a:r>
              <a:rPr sz="900" b="0">
                <a:solidFill>
                  <a:srgbClr val="5B6372"/>
                </a:solidFill>
                <a:latin typeface="Arial"/>
              </a:rPr>
              <a:t>© 2026 Tertiary Infotech Academy Pte Ltd</a:t>
            </a:r>
          </a:p>
        </p:txBody>
      </p:sp>
      <p:sp>
        <p:nvSpPr>
          <p:cNvPr id="26" name="TextBox 25"/>
          <p:cNvSpPr txBox="1"/>
          <p:nvPr/>
        </p:nvSpPr>
        <p:spPr>
          <a:xfrm>
            <a:off x="11338560" y="6446520"/>
            <a:ext cx="548640" cy="320040"/>
          </a:xfrm>
          <a:prstGeom prst="rect">
            <a:avLst/>
          </a:prstGeom>
          <a:noFill/>
        </p:spPr>
        <p:txBody>
          <a:bodyPr wrap="square" anchor="t">
            <a:spAutoFit/>
          </a:bodyPr>
          <a:lstStyle/>
          <a:p>
            <a:pPr algn="r">
              <a:spcAft>
                <a:spcPts val="400"/>
              </a:spcAft>
            </a:pPr>
            <a:r>
              <a:rPr sz="900" b="0">
                <a:solidFill>
                  <a:srgbClr val="5B6372"/>
                </a:solidFill>
                <a:latin typeface="Arial"/>
              </a:rPr>
              <a:t>212</a:t>
            </a:r>
          </a:p>
        </p:txBody>
      </p:sp>
    </p:spTree>
  </p:cSld>
  <p:clrMapOvr>
    <a:masterClrMapping/>
  </p:clrMapOvr>
</p:sld>
</file>

<file path=ppt/slides/slide214.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256032" cy="1417320"/>
          </a:xfrm>
          <a:prstGeom prst="rect">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777240" y="457200"/>
            <a:ext cx="10607040" cy="365760"/>
          </a:xfrm>
          <a:prstGeom prst="rect">
            <a:avLst/>
          </a:prstGeom>
          <a:noFill/>
        </p:spPr>
        <p:txBody>
          <a:bodyPr wrap="square" anchor="t">
            <a:spAutoFit/>
          </a:bodyPr>
          <a:lstStyle/>
          <a:p>
            <a:pPr algn="l">
              <a:spcAft>
                <a:spcPts val="400"/>
              </a:spcAft>
            </a:pPr>
            <a:r>
              <a:rPr sz="1400" b="1">
                <a:solidFill>
                  <a:srgbClr val="10B981"/>
                </a:solidFill>
                <a:latin typeface="Arial"/>
              </a:rPr>
              <a:t>TOPIC 06 · HANDS-ON ACTIVITY</a:t>
            </a:r>
          </a:p>
        </p:txBody>
      </p:sp>
      <p:sp>
        <p:nvSpPr>
          <p:cNvPr id="5" name="TextBox 4"/>
          <p:cNvSpPr txBox="1"/>
          <p:nvPr/>
        </p:nvSpPr>
        <p:spPr>
          <a:xfrm>
            <a:off x="777240" y="822960"/>
            <a:ext cx="10881360" cy="822960"/>
          </a:xfrm>
          <a:prstGeom prst="rect">
            <a:avLst/>
          </a:prstGeom>
          <a:noFill/>
        </p:spPr>
        <p:txBody>
          <a:bodyPr wrap="square" anchor="t">
            <a:spAutoFit/>
          </a:bodyPr>
          <a:lstStyle/>
          <a:p>
            <a:pPr algn="l">
              <a:spcAft>
                <a:spcPts val="400"/>
              </a:spcAft>
            </a:pPr>
            <a:r>
              <a:rPr sz="2900" b="1">
                <a:solidFill>
                  <a:srgbClr val="161B26"/>
                </a:solidFill>
                <a:latin typeface="Arial"/>
              </a:rPr>
              <a:t>Post-Quantum Cryptography Migration Assessment</a:t>
            </a:r>
          </a:p>
        </p:txBody>
      </p:sp>
      <p:sp>
        <p:nvSpPr>
          <p:cNvPr id="6" name="Rectangle 5"/>
          <p:cNvSpPr/>
          <p:nvPr/>
        </p:nvSpPr>
        <p:spPr>
          <a:xfrm>
            <a:off x="777240" y="1554480"/>
            <a:ext cx="10634472" cy="18288"/>
          </a:xfrm>
          <a:prstGeom prst="rect">
            <a:avLst/>
          </a:prstGeom>
          <a:solidFill>
            <a:srgbClr val="E2E8F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Rectangle 6"/>
          <p:cNvSpPr/>
          <p:nvPr/>
        </p:nvSpPr>
        <p:spPr>
          <a:xfrm>
            <a:off x="9646920" y="457200"/>
            <a:ext cx="1783080" cy="457200"/>
          </a:xfrm>
          <a:prstGeom prst="rect">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TextBox 7"/>
          <p:cNvSpPr txBox="1"/>
          <p:nvPr/>
        </p:nvSpPr>
        <p:spPr>
          <a:xfrm>
            <a:off x="9646920" y="457200"/>
            <a:ext cx="1783080" cy="457200"/>
          </a:xfrm>
          <a:prstGeom prst="rect">
            <a:avLst/>
          </a:prstGeom>
          <a:noFill/>
        </p:spPr>
        <p:txBody>
          <a:bodyPr wrap="square" anchor="ctr">
            <a:spAutoFit/>
          </a:bodyPr>
          <a:lstStyle/>
          <a:p>
            <a:pPr algn="ctr">
              <a:spcAft>
                <a:spcPts val="400"/>
              </a:spcAft>
            </a:pPr>
            <a:r>
              <a:rPr sz="1300" b="1">
                <a:solidFill>
                  <a:srgbClr val="FFFFFF"/>
                </a:solidFill>
                <a:latin typeface="Arial"/>
              </a:rPr>
              <a:t>ACTIVITY 14</a:t>
            </a:r>
          </a:p>
        </p:txBody>
      </p:sp>
      <p:sp>
        <p:nvSpPr>
          <p:cNvPr id="9" name="TextBox 8"/>
          <p:cNvSpPr txBox="1"/>
          <p:nvPr/>
        </p:nvSpPr>
        <p:spPr>
          <a:xfrm>
            <a:off x="777240" y="1828800"/>
            <a:ext cx="10607040" cy="1051560"/>
          </a:xfrm>
          <a:prstGeom prst="rect">
            <a:avLst/>
          </a:prstGeom>
          <a:noFill/>
        </p:spPr>
        <p:txBody>
          <a:bodyPr wrap="square" anchor="t">
            <a:spAutoFit/>
          </a:bodyPr>
          <a:lstStyle/>
          <a:p>
            <a:pPr algn="l">
              <a:spcAft>
                <a:spcPts val="400"/>
              </a:spcAft>
            </a:pPr>
            <a:r>
              <a:rPr sz="1700" b="0">
                <a:solidFill>
                  <a:srgbClr val="161B26"/>
                </a:solidFill>
                <a:latin typeface="Arial"/>
              </a:rPr>
              <a:t>Assess which cryptography in a realistic system is broken by a quantum computer, map each algorithm to its NIST post-quantum replacement, and produce a prioritised migration plan against the harvest-now-decrypt-later risk.</a:t>
            </a:r>
          </a:p>
        </p:txBody>
      </p:sp>
      <p:sp>
        <p:nvSpPr>
          <p:cNvPr id="10" name="Rectangle 9"/>
          <p:cNvSpPr/>
          <p:nvPr/>
        </p:nvSpPr>
        <p:spPr>
          <a:xfrm>
            <a:off x="777240" y="2971800"/>
            <a:ext cx="10634472" cy="457200"/>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 name="TextBox 10"/>
          <p:cNvSpPr txBox="1"/>
          <p:nvPr/>
        </p:nvSpPr>
        <p:spPr>
          <a:xfrm>
            <a:off x="960120" y="2971800"/>
            <a:ext cx="10241280" cy="457200"/>
          </a:xfrm>
          <a:prstGeom prst="rect">
            <a:avLst/>
          </a:prstGeom>
          <a:noFill/>
        </p:spPr>
        <p:txBody>
          <a:bodyPr wrap="square" anchor="ctr">
            <a:spAutoFit/>
          </a:bodyPr>
          <a:lstStyle/>
          <a:p>
            <a:pPr algn="l">
              <a:spcAft>
                <a:spcPts val="400"/>
              </a:spcAft>
            </a:pPr>
            <a:r>
              <a:rPr sz="1100" b="1">
                <a:solidFill>
                  <a:srgbClr val="1F6FEB"/>
                </a:solidFill>
                <a:latin typeface="Arial"/>
              </a:rPr>
              <a:t>MAPS TO  </a:t>
            </a:r>
            <a:r>
              <a:rPr sz="1250" b="0">
                <a:solidFill>
                  <a:srgbClr val="161B26"/>
                </a:solidFill>
                <a:latin typeface="Arial"/>
              </a:rPr>
              <a:t>LO4, LO7 — Evaluate quantum applicability in the business context</a:t>
            </a:r>
          </a:p>
        </p:txBody>
      </p:sp>
      <p:sp>
        <p:nvSpPr>
          <p:cNvPr id="12" name="Rectangle 11"/>
          <p:cNvSpPr/>
          <p:nvPr/>
        </p:nvSpPr>
        <p:spPr>
          <a:xfrm>
            <a:off x="777240" y="3611880"/>
            <a:ext cx="10634472" cy="1234440"/>
          </a:xfrm>
          <a:prstGeom prst="rect">
            <a:avLst/>
          </a:prstGeom>
          <a:solidFill>
            <a:srgbClr val="E8F7E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 name="TextBox 12"/>
          <p:cNvSpPr txBox="1"/>
          <p:nvPr/>
        </p:nvSpPr>
        <p:spPr>
          <a:xfrm>
            <a:off x="1051560" y="3767328"/>
            <a:ext cx="10058400" cy="365760"/>
          </a:xfrm>
          <a:prstGeom prst="rect">
            <a:avLst/>
          </a:prstGeom>
          <a:noFill/>
        </p:spPr>
        <p:txBody>
          <a:bodyPr wrap="square" anchor="t">
            <a:spAutoFit/>
          </a:bodyPr>
          <a:lstStyle/>
          <a:p>
            <a:pPr algn="l">
              <a:spcAft>
                <a:spcPts val="400"/>
              </a:spcAft>
            </a:pPr>
            <a:r>
              <a:rPr sz="1200" b="1">
                <a:solidFill>
                  <a:srgbClr val="127A3E"/>
                </a:solidFill>
                <a:latin typeface="Arial"/>
              </a:rPr>
              <a:t>YOU'LL PRODUCE</a:t>
            </a:r>
          </a:p>
        </p:txBody>
      </p:sp>
      <p:sp>
        <p:nvSpPr>
          <p:cNvPr id="14" name="TextBox 13"/>
          <p:cNvSpPr txBox="1"/>
          <p:nvPr/>
        </p:nvSpPr>
        <p:spPr>
          <a:xfrm>
            <a:off x="1051560" y="4133087"/>
            <a:ext cx="10058400" cy="640080"/>
          </a:xfrm>
          <a:prstGeom prst="rect">
            <a:avLst/>
          </a:prstGeom>
          <a:noFill/>
        </p:spPr>
        <p:txBody>
          <a:bodyPr wrap="square" anchor="t">
            <a:spAutoFit/>
          </a:bodyPr>
          <a:lstStyle/>
          <a:p>
            <a:pPr algn="l">
              <a:spcAft>
                <a:spcPts val="400"/>
              </a:spcAft>
            </a:pPr>
            <a:r>
              <a:rPr sz="1550" b="1">
                <a:solidFill>
                  <a:srgbClr val="161B26"/>
                </a:solidFill>
                <a:latin typeface="Arial"/>
              </a:rPr>
              <a:t>A completed cryptographic inventory and a prioritised PQC migration plan for a sample organisation.</a:t>
            </a:r>
          </a:p>
        </p:txBody>
      </p:sp>
      <p:sp>
        <p:nvSpPr>
          <p:cNvPr id="15" name="Rectangle 14"/>
          <p:cNvSpPr/>
          <p:nvPr/>
        </p:nvSpPr>
        <p:spPr>
          <a:xfrm>
            <a:off x="777240" y="5029200"/>
            <a:ext cx="10634472" cy="960120"/>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6" name="TextBox 15"/>
          <p:cNvSpPr txBox="1"/>
          <p:nvPr/>
        </p:nvSpPr>
        <p:spPr>
          <a:xfrm>
            <a:off x="1051560" y="5138928"/>
            <a:ext cx="10058400" cy="365760"/>
          </a:xfrm>
          <a:prstGeom prst="rect">
            <a:avLst/>
          </a:prstGeom>
          <a:noFill/>
        </p:spPr>
        <p:txBody>
          <a:bodyPr wrap="square" anchor="t">
            <a:spAutoFit/>
          </a:bodyPr>
          <a:lstStyle/>
          <a:p>
            <a:pPr algn="l">
              <a:spcAft>
                <a:spcPts val="400"/>
              </a:spcAft>
            </a:pPr>
            <a:r>
              <a:rPr sz="1200" b="1">
                <a:solidFill>
                  <a:srgbClr val="5B6372"/>
                </a:solidFill>
                <a:latin typeface="Arial"/>
              </a:rPr>
              <a:t>Tools:  </a:t>
            </a:r>
            <a:r>
              <a:rPr sz="1200" b="0">
                <a:solidFill>
                  <a:srgbClr val="5B6372"/>
                </a:solidFill>
                <a:latin typeface="Arial"/>
              </a:rPr>
              <a:t>NIST FIPS 203/204/205, OpenSSL, Python</a:t>
            </a:r>
          </a:p>
        </p:txBody>
      </p:sp>
      <p:sp>
        <p:nvSpPr>
          <p:cNvPr id="17" name="TextBox 16"/>
          <p:cNvSpPr txBox="1"/>
          <p:nvPr/>
        </p:nvSpPr>
        <p:spPr>
          <a:xfrm>
            <a:off x="1051560" y="5504688"/>
            <a:ext cx="10058400" cy="365760"/>
          </a:xfrm>
          <a:prstGeom prst="rect">
            <a:avLst/>
          </a:prstGeom>
          <a:noFill/>
        </p:spPr>
        <p:txBody>
          <a:bodyPr wrap="square" anchor="t">
            <a:spAutoFit/>
          </a:bodyPr>
          <a:lstStyle/>
          <a:p>
            <a:pPr algn="l">
              <a:spcAft>
                <a:spcPts val="400"/>
              </a:spcAft>
            </a:pPr>
            <a:r>
              <a:rPr sz="1200" b="1">
                <a:solidFill>
                  <a:srgbClr val="1F6FEB"/>
                </a:solidFill>
                <a:latin typeface="Arial"/>
              </a:rPr>
              <a:t>Full step-by-step guide:  </a:t>
            </a:r>
            <a:r>
              <a:rPr sz="1200" b="0">
                <a:solidFill>
                  <a:srgbClr val="161B26"/>
                </a:solidFill>
                <a:latin typeface="Arial"/>
              </a:rPr>
              <a:t>Learner Guide — Activity 14: Post-Quantum Cryptography Migration Assessment</a:t>
            </a:r>
          </a:p>
        </p:txBody>
      </p:sp>
      <p:sp>
        <p:nvSpPr>
          <p:cNvPr id="18" name="TextBox 17"/>
          <p:cNvSpPr txBox="1"/>
          <p:nvPr/>
        </p:nvSpPr>
        <p:spPr>
          <a:xfrm>
            <a:off x="365760" y="6446520"/>
            <a:ext cx="6858000" cy="320040"/>
          </a:xfrm>
          <a:prstGeom prst="rect">
            <a:avLst/>
          </a:prstGeom>
          <a:noFill/>
        </p:spPr>
        <p:txBody>
          <a:bodyPr wrap="square" anchor="t">
            <a:spAutoFit/>
          </a:bodyPr>
          <a:lstStyle/>
          <a:p>
            <a:pPr algn="l">
              <a:spcAft>
                <a:spcPts val="400"/>
              </a:spcAft>
            </a:pPr>
            <a:r>
              <a:rPr sz="900" b="0">
                <a:solidFill>
                  <a:srgbClr val="5B6372"/>
                </a:solidFill>
                <a:latin typeface="Arial"/>
              </a:rPr>
              <a:t>Securing the Future with Quantum Computing and Cryptography  ·  TGS-2024043419</a:t>
            </a:r>
          </a:p>
        </p:txBody>
      </p:sp>
      <p:sp>
        <p:nvSpPr>
          <p:cNvPr id="19" name="TextBox 18"/>
          <p:cNvSpPr txBox="1"/>
          <p:nvPr/>
        </p:nvSpPr>
        <p:spPr>
          <a:xfrm>
            <a:off x="4572000" y="6446520"/>
            <a:ext cx="3017520" cy="320040"/>
          </a:xfrm>
          <a:prstGeom prst="rect">
            <a:avLst/>
          </a:prstGeom>
          <a:noFill/>
        </p:spPr>
        <p:txBody>
          <a:bodyPr wrap="square" anchor="t">
            <a:spAutoFit/>
          </a:bodyPr>
          <a:lstStyle/>
          <a:p>
            <a:pPr algn="ctr">
              <a:spcAft>
                <a:spcPts val="400"/>
              </a:spcAft>
            </a:pPr>
            <a:r>
              <a:rPr sz="900" b="0">
                <a:solidFill>
                  <a:srgbClr val="5B6372"/>
                </a:solidFill>
                <a:latin typeface="Arial"/>
              </a:rPr>
              <a:t>© 2026 Tertiary Infotech Academy Pte Ltd</a:t>
            </a:r>
          </a:p>
        </p:txBody>
      </p:sp>
      <p:sp>
        <p:nvSpPr>
          <p:cNvPr id="20" name="TextBox 19"/>
          <p:cNvSpPr txBox="1"/>
          <p:nvPr/>
        </p:nvSpPr>
        <p:spPr>
          <a:xfrm>
            <a:off x="11338560" y="6446520"/>
            <a:ext cx="548640" cy="320040"/>
          </a:xfrm>
          <a:prstGeom prst="rect">
            <a:avLst/>
          </a:prstGeom>
          <a:noFill/>
        </p:spPr>
        <p:txBody>
          <a:bodyPr wrap="square" anchor="t">
            <a:spAutoFit/>
          </a:bodyPr>
          <a:lstStyle/>
          <a:p>
            <a:pPr algn="r">
              <a:spcAft>
                <a:spcPts val="400"/>
              </a:spcAft>
            </a:pPr>
            <a:r>
              <a:rPr sz="900" b="0">
                <a:solidFill>
                  <a:srgbClr val="5B6372"/>
                </a:solidFill>
                <a:latin typeface="Arial"/>
              </a:rPr>
              <a:t>213</a:t>
            </a:r>
          </a:p>
        </p:txBody>
      </p:sp>
    </p:spTree>
  </p:cSld>
  <p:clrMapOvr>
    <a:masterClrMapping/>
  </p:clrMapOvr>
</p:sld>
</file>

<file path=ppt/slides/slide215.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256032" cy="1417320"/>
          </a:xfrm>
          <a:prstGeom prst="rect">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777240" y="457200"/>
            <a:ext cx="10607040" cy="365760"/>
          </a:xfrm>
          <a:prstGeom prst="rect">
            <a:avLst/>
          </a:prstGeom>
          <a:noFill/>
        </p:spPr>
        <p:txBody>
          <a:bodyPr wrap="square" anchor="t">
            <a:spAutoFit/>
          </a:bodyPr>
          <a:lstStyle/>
          <a:p>
            <a:pPr algn="l">
              <a:spcAft>
                <a:spcPts val="400"/>
              </a:spcAft>
            </a:pPr>
            <a:r>
              <a:rPr sz="1400" b="1">
                <a:solidFill>
                  <a:srgbClr val="10B981"/>
                </a:solidFill>
                <a:latin typeface="Arial"/>
              </a:rPr>
              <a:t>ACTIVITY 14 · VERIFY &amp; DEBRIEF</a:t>
            </a:r>
          </a:p>
        </p:txBody>
      </p:sp>
      <p:sp>
        <p:nvSpPr>
          <p:cNvPr id="5" name="TextBox 4"/>
          <p:cNvSpPr txBox="1"/>
          <p:nvPr/>
        </p:nvSpPr>
        <p:spPr>
          <a:xfrm>
            <a:off x="777240" y="822960"/>
            <a:ext cx="10881360" cy="822960"/>
          </a:xfrm>
          <a:prstGeom prst="rect">
            <a:avLst/>
          </a:prstGeom>
          <a:noFill/>
        </p:spPr>
        <p:txBody>
          <a:bodyPr wrap="square" anchor="t">
            <a:spAutoFit/>
          </a:bodyPr>
          <a:lstStyle/>
          <a:p>
            <a:pPr algn="l">
              <a:spcAft>
                <a:spcPts val="400"/>
              </a:spcAft>
            </a:pPr>
            <a:r>
              <a:rPr sz="2900" b="1">
                <a:solidFill>
                  <a:srgbClr val="161B26"/>
                </a:solidFill>
                <a:latin typeface="Arial"/>
              </a:rPr>
              <a:t>Post-Quantum Cryptography Migration Assessment</a:t>
            </a:r>
          </a:p>
        </p:txBody>
      </p:sp>
      <p:sp>
        <p:nvSpPr>
          <p:cNvPr id="6" name="Rectangle 5"/>
          <p:cNvSpPr/>
          <p:nvPr/>
        </p:nvSpPr>
        <p:spPr>
          <a:xfrm>
            <a:off x="777240" y="1554480"/>
            <a:ext cx="10634472" cy="18288"/>
          </a:xfrm>
          <a:prstGeom prst="rect">
            <a:avLst/>
          </a:prstGeom>
          <a:solidFill>
            <a:srgbClr val="E2E8F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Rectangle 6"/>
          <p:cNvSpPr/>
          <p:nvPr/>
        </p:nvSpPr>
        <p:spPr>
          <a:xfrm>
            <a:off x="777240" y="1783080"/>
            <a:ext cx="10634472" cy="2148840"/>
          </a:xfrm>
          <a:prstGeom prst="rect">
            <a:avLst/>
          </a:prstGeom>
          <a:solidFill>
            <a:srgbClr val="E8F7E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Rectangle 7"/>
          <p:cNvSpPr/>
          <p:nvPr/>
        </p:nvSpPr>
        <p:spPr>
          <a:xfrm>
            <a:off x="777240" y="1783080"/>
            <a:ext cx="100584" cy="2148840"/>
          </a:xfrm>
          <a:prstGeom prst="rect">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TextBox 8"/>
          <p:cNvSpPr txBox="1"/>
          <p:nvPr/>
        </p:nvSpPr>
        <p:spPr>
          <a:xfrm>
            <a:off x="1143000" y="1965960"/>
            <a:ext cx="10058400" cy="411480"/>
          </a:xfrm>
          <a:prstGeom prst="rect">
            <a:avLst/>
          </a:prstGeom>
          <a:noFill/>
        </p:spPr>
        <p:txBody>
          <a:bodyPr wrap="square" anchor="t">
            <a:spAutoFit/>
          </a:bodyPr>
          <a:lstStyle/>
          <a:p>
            <a:pPr algn="l">
              <a:spcAft>
                <a:spcPts val="400"/>
              </a:spcAft>
            </a:pPr>
            <a:r>
              <a:rPr sz="1300" b="1">
                <a:solidFill>
                  <a:srgbClr val="127A3E"/>
                </a:solidFill>
                <a:latin typeface="Arial"/>
              </a:rPr>
              <a:t>TEST IT — HOW YOU KNOW IT WORKED</a:t>
            </a:r>
          </a:p>
        </p:txBody>
      </p:sp>
      <p:sp>
        <p:nvSpPr>
          <p:cNvPr id="10" name="TextBox 9"/>
          <p:cNvSpPr txBox="1"/>
          <p:nvPr/>
        </p:nvSpPr>
        <p:spPr>
          <a:xfrm>
            <a:off x="1143000" y="2423160"/>
            <a:ext cx="10058400" cy="1371600"/>
          </a:xfrm>
          <a:prstGeom prst="rect">
            <a:avLst/>
          </a:prstGeom>
          <a:noFill/>
        </p:spPr>
        <p:txBody>
          <a:bodyPr wrap="square" anchor="t">
            <a:spAutoFit/>
          </a:bodyPr>
          <a:lstStyle/>
          <a:p>
            <a:pPr algn="l">
              <a:spcAft>
                <a:spcPts val="400"/>
              </a:spcAft>
            </a:pPr>
            <a:r>
              <a:rPr sz="1600" b="0">
                <a:solidFill>
                  <a:srgbClr val="161B26"/>
                </a:solidFill>
                <a:latin typeface="Arial"/>
              </a:rPr>
              <a:t>Your inventory correctly separates Shor-broken asymmetric algorithms from Grover-weakened symmetric ones, maps each to the correct NIST FIPS standard, and ranks migration priority by how long the data must remain confidential.</a:t>
            </a:r>
          </a:p>
        </p:txBody>
      </p:sp>
      <p:sp>
        <p:nvSpPr>
          <p:cNvPr id="11" name="TextBox 10"/>
          <p:cNvSpPr txBox="1"/>
          <p:nvPr/>
        </p:nvSpPr>
        <p:spPr>
          <a:xfrm>
            <a:off x="777240" y="4096512"/>
            <a:ext cx="10607040" cy="365760"/>
          </a:xfrm>
          <a:prstGeom prst="rect">
            <a:avLst/>
          </a:prstGeom>
          <a:noFill/>
        </p:spPr>
        <p:txBody>
          <a:bodyPr wrap="square" anchor="t">
            <a:spAutoFit/>
          </a:bodyPr>
          <a:lstStyle/>
          <a:p>
            <a:pPr algn="l">
              <a:spcAft>
                <a:spcPts val="400"/>
              </a:spcAft>
            </a:pPr>
            <a:r>
              <a:rPr sz="1300" b="1">
                <a:solidFill>
                  <a:srgbClr val="1F6FEB"/>
                </a:solidFill>
                <a:latin typeface="Arial"/>
              </a:rPr>
              <a:t>DISCUSS WITH YOUR TRAINER</a:t>
            </a:r>
          </a:p>
        </p:txBody>
      </p:sp>
      <p:sp>
        <p:nvSpPr>
          <p:cNvPr id="12" name="Rectangle 11"/>
          <p:cNvSpPr/>
          <p:nvPr/>
        </p:nvSpPr>
        <p:spPr>
          <a:xfrm>
            <a:off x="777240" y="4480560"/>
            <a:ext cx="3447288" cy="1463040"/>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 name="Rectangle 12"/>
          <p:cNvSpPr/>
          <p:nvPr/>
        </p:nvSpPr>
        <p:spPr>
          <a:xfrm>
            <a:off x="777240" y="4480560"/>
            <a:ext cx="3447288" cy="82296"/>
          </a:xfrm>
          <a:prstGeom prst="rect">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 name="TextBox 13"/>
          <p:cNvSpPr txBox="1"/>
          <p:nvPr/>
        </p:nvSpPr>
        <p:spPr>
          <a:xfrm>
            <a:off x="978408" y="4663440"/>
            <a:ext cx="3044952" cy="457200"/>
          </a:xfrm>
          <a:prstGeom prst="rect">
            <a:avLst/>
          </a:prstGeom>
          <a:noFill/>
        </p:spPr>
        <p:txBody>
          <a:bodyPr wrap="square" anchor="t">
            <a:spAutoFit/>
          </a:bodyPr>
          <a:lstStyle/>
          <a:p>
            <a:pPr algn="l">
              <a:spcAft>
                <a:spcPts val="400"/>
              </a:spcAft>
            </a:pPr>
            <a:r>
              <a:rPr sz="1350" b="1">
                <a:solidFill>
                  <a:srgbClr val="1F6FEB"/>
                </a:solidFill>
                <a:latin typeface="Arial"/>
              </a:rPr>
              <a:t>What did the result show?</a:t>
            </a:r>
          </a:p>
        </p:txBody>
      </p:sp>
      <p:sp>
        <p:nvSpPr>
          <p:cNvPr id="15" name="TextBox 14"/>
          <p:cNvSpPr txBox="1"/>
          <p:nvPr/>
        </p:nvSpPr>
        <p:spPr>
          <a:xfrm>
            <a:off x="978408" y="5138928"/>
            <a:ext cx="3044952" cy="731520"/>
          </a:xfrm>
          <a:prstGeom prst="rect">
            <a:avLst/>
          </a:prstGeom>
          <a:noFill/>
        </p:spPr>
        <p:txBody>
          <a:bodyPr wrap="square" anchor="t">
            <a:spAutoFit/>
          </a:bodyPr>
          <a:lstStyle/>
          <a:p>
            <a:pPr algn="l">
              <a:spcAft>
                <a:spcPts val="400"/>
              </a:spcAft>
            </a:pPr>
            <a:r>
              <a:rPr sz="1200" b="0">
                <a:solidFill>
                  <a:srgbClr val="5B6372"/>
                </a:solidFill>
                <a:latin typeface="Arial"/>
              </a:rPr>
              <a:t>Restate the outcome in your own words.</a:t>
            </a:r>
          </a:p>
        </p:txBody>
      </p:sp>
      <p:sp>
        <p:nvSpPr>
          <p:cNvPr id="16" name="Rectangle 15"/>
          <p:cNvSpPr/>
          <p:nvPr/>
        </p:nvSpPr>
        <p:spPr>
          <a:xfrm>
            <a:off x="4370832" y="4480560"/>
            <a:ext cx="3447288" cy="1463040"/>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7" name="Rectangle 16"/>
          <p:cNvSpPr/>
          <p:nvPr/>
        </p:nvSpPr>
        <p:spPr>
          <a:xfrm>
            <a:off x="4370832" y="4480560"/>
            <a:ext cx="3447288" cy="82296"/>
          </a:xfrm>
          <a:prstGeom prst="rect">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8" name="TextBox 17"/>
          <p:cNvSpPr txBox="1"/>
          <p:nvPr/>
        </p:nvSpPr>
        <p:spPr>
          <a:xfrm>
            <a:off x="4572000" y="4663440"/>
            <a:ext cx="3044952" cy="457200"/>
          </a:xfrm>
          <a:prstGeom prst="rect">
            <a:avLst/>
          </a:prstGeom>
          <a:noFill/>
        </p:spPr>
        <p:txBody>
          <a:bodyPr wrap="square" anchor="t">
            <a:spAutoFit/>
          </a:bodyPr>
          <a:lstStyle/>
          <a:p>
            <a:pPr algn="l">
              <a:spcAft>
                <a:spcPts val="400"/>
              </a:spcAft>
            </a:pPr>
            <a:r>
              <a:rPr sz="1350" b="1">
                <a:solidFill>
                  <a:srgbClr val="10B981"/>
                </a:solidFill>
                <a:latin typeface="Arial"/>
              </a:rPr>
              <a:t>Why does it work?</a:t>
            </a:r>
          </a:p>
        </p:txBody>
      </p:sp>
      <p:sp>
        <p:nvSpPr>
          <p:cNvPr id="19" name="TextBox 18"/>
          <p:cNvSpPr txBox="1"/>
          <p:nvPr/>
        </p:nvSpPr>
        <p:spPr>
          <a:xfrm>
            <a:off x="4572000" y="5138928"/>
            <a:ext cx="3044952" cy="731520"/>
          </a:xfrm>
          <a:prstGeom prst="rect">
            <a:avLst/>
          </a:prstGeom>
          <a:noFill/>
        </p:spPr>
        <p:txBody>
          <a:bodyPr wrap="square" anchor="t">
            <a:spAutoFit/>
          </a:bodyPr>
          <a:lstStyle/>
          <a:p>
            <a:pPr algn="l">
              <a:spcAft>
                <a:spcPts val="400"/>
              </a:spcAft>
            </a:pPr>
            <a:r>
              <a:rPr sz="1200" b="0">
                <a:solidFill>
                  <a:srgbClr val="5B6372"/>
                </a:solidFill>
                <a:latin typeface="Arial"/>
              </a:rPr>
              <a:t>Name the quantum principle the activity relies on.</a:t>
            </a:r>
          </a:p>
        </p:txBody>
      </p:sp>
      <p:sp>
        <p:nvSpPr>
          <p:cNvPr id="20" name="Rectangle 19"/>
          <p:cNvSpPr/>
          <p:nvPr/>
        </p:nvSpPr>
        <p:spPr>
          <a:xfrm>
            <a:off x="7964424" y="4480560"/>
            <a:ext cx="3447288" cy="1463040"/>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1" name="Rectangle 20"/>
          <p:cNvSpPr/>
          <p:nvPr/>
        </p:nvSpPr>
        <p:spPr>
          <a:xfrm>
            <a:off x="7964424" y="4480560"/>
            <a:ext cx="3447288" cy="82296"/>
          </a:xfrm>
          <a:prstGeom prst="rect">
            <a:avLst/>
          </a:prstGeom>
          <a:solidFill>
            <a:srgbClr val="7C3AE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2" name="TextBox 21"/>
          <p:cNvSpPr txBox="1"/>
          <p:nvPr/>
        </p:nvSpPr>
        <p:spPr>
          <a:xfrm>
            <a:off x="8165592" y="4663440"/>
            <a:ext cx="3044952" cy="457200"/>
          </a:xfrm>
          <a:prstGeom prst="rect">
            <a:avLst/>
          </a:prstGeom>
          <a:noFill/>
        </p:spPr>
        <p:txBody>
          <a:bodyPr wrap="square" anchor="t">
            <a:spAutoFit/>
          </a:bodyPr>
          <a:lstStyle/>
          <a:p>
            <a:pPr algn="l">
              <a:spcAft>
                <a:spcPts val="400"/>
              </a:spcAft>
            </a:pPr>
            <a:r>
              <a:rPr sz="1350" b="1">
                <a:solidFill>
                  <a:srgbClr val="7C3AED"/>
                </a:solidFill>
                <a:latin typeface="Arial"/>
              </a:rPr>
              <a:t>Where would you use it?</a:t>
            </a:r>
          </a:p>
        </p:txBody>
      </p:sp>
      <p:sp>
        <p:nvSpPr>
          <p:cNvPr id="23" name="TextBox 22"/>
          <p:cNvSpPr txBox="1"/>
          <p:nvPr/>
        </p:nvSpPr>
        <p:spPr>
          <a:xfrm>
            <a:off x="8165592" y="5138928"/>
            <a:ext cx="3044952" cy="731520"/>
          </a:xfrm>
          <a:prstGeom prst="rect">
            <a:avLst/>
          </a:prstGeom>
          <a:noFill/>
        </p:spPr>
        <p:txBody>
          <a:bodyPr wrap="square" anchor="t">
            <a:spAutoFit/>
          </a:bodyPr>
          <a:lstStyle/>
          <a:p>
            <a:pPr algn="l">
              <a:spcAft>
                <a:spcPts val="400"/>
              </a:spcAft>
            </a:pPr>
            <a:r>
              <a:rPr sz="1200" b="0">
                <a:solidFill>
                  <a:srgbClr val="5B6372"/>
                </a:solidFill>
                <a:latin typeface="Arial"/>
              </a:rPr>
              <a:t>Give one realistic application in your own field.</a:t>
            </a:r>
          </a:p>
        </p:txBody>
      </p:sp>
      <p:sp>
        <p:nvSpPr>
          <p:cNvPr id="24" name="TextBox 23"/>
          <p:cNvSpPr txBox="1"/>
          <p:nvPr/>
        </p:nvSpPr>
        <p:spPr>
          <a:xfrm>
            <a:off x="365760" y="6446520"/>
            <a:ext cx="6858000" cy="320040"/>
          </a:xfrm>
          <a:prstGeom prst="rect">
            <a:avLst/>
          </a:prstGeom>
          <a:noFill/>
        </p:spPr>
        <p:txBody>
          <a:bodyPr wrap="square" anchor="t">
            <a:spAutoFit/>
          </a:bodyPr>
          <a:lstStyle/>
          <a:p>
            <a:pPr algn="l">
              <a:spcAft>
                <a:spcPts val="400"/>
              </a:spcAft>
            </a:pPr>
            <a:r>
              <a:rPr sz="900" b="0">
                <a:solidFill>
                  <a:srgbClr val="5B6372"/>
                </a:solidFill>
                <a:latin typeface="Arial"/>
              </a:rPr>
              <a:t>Securing the Future with Quantum Computing and Cryptography  ·  TGS-2024043419</a:t>
            </a:r>
          </a:p>
        </p:txBody>
      </p:sp>
      <p:sp>
        <p:nvSpPr>
          <p:cNvPr id="25" name="TextBox 24"/>
          <p:cNvSpPr txBox="1"/>
          <p:nvPr/>
        </p:nvSpPr>
        <p:spPr>
          <a:xfrm>
            <a:off x="4572000" y="6446520"/>
            <a:ext cx="3017520" cy="320040"/>
          </a:xfrm>
          <a:prstGeom prst="rect">
            <a:avLst/>
          </a:prstGeom>
          <a:noFill/>
        </p:spPr>
        <p:txBody>
          <a:bodyPr wrap="square" anchor="t">
            <a:spAutoFit/>
          </a:bodyPr>
          <a:lstStyle/>
          <a:p>
            <a:pPr algn="ctr">
              <a:spcAft>
                <a:spcPts val="400"/>
              </a:spcAft>
            </a:pPr>
            <a:r>
              <a:rPr sz="900" b="0">
                <a:solidFill>
                  <a:srgbClr val="5B6372"/>
                </a:solidFill>
                <a:latin typeface="Arial"/>
              </a:rPr>
              <a:t>© 2026 Tertiary Infotech Academy Pte Ltd</a:t>
            </a:r>
          </a:p>
        </p:txBody>
      </p:sp>
      <p:sp>
        <p:nvSpPr>
          <p:cNvPr id="26" name="TextBox 25"/>
          <p:cNvSpPr txBox="1"/>
          <p:nvPr/>
        </p:nvSpPr>
        <p:spPr>
          <a:xfrm>
            <a:off x="11338560" y="6446520"/>
            <a:ext cx="548640" cy="320040"/>
          </a:xfrm>
          <a:prstGeom prst="rect">
            <a:avLst/>
          </a:prstGeom>
          <a:noFill/>
        </p:spPr>
        <p:txBody>
          <a:bodyPr wrap="square" anchor="t">
            <a:spAutoFit/>
          </a:bodyPr>
          <a:lstStyle/>
          <a:p>
            <a:pPr algn="r">
              <a:spcAft>
                <a:spcPts val="400"/>
              </a:spcAft>
            </a:pPr>
            <a:r>
              <a:rPr sz="900" b="0">
                <a:solidFill>
                  <a:srgbClr val="5B6372"/>
                </a:solidFill>
                <a:latin typeface="Arial"/>
              </a:rPr>
              <a:t>214</a:t>
            </a:r>
          </a:p>
        </p:txBody>
      </p:sp>
    </p:spTree>
  </p:cSld>
  <p:clrMapOvr>
    <a:masterClrMapping/>
  </p:clrMapOvr>
</p:sld>
</file>

<file path=ppt/slides/slide216.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256032" cy="1417320"/>
          </a:xfrm>
          <a:prstGeom prst="rect">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777240" y="457200"/>
            <a:ext cx="10607040" cy="365760"/>
          </a:xfrm>
          <a:prstGeom prst="rect">
            <a:avLst/>
          </a:prstGeom>
          <a:noFill/>
        </p:spPr>
        <p:txBody>
          <a:bodyPr wrap="square" anchor="t">
            <a:spAutoFit/>
          </a:bodyPr>
          <a:lstStyle/>
          <a:p>
            <a:pPr algn="l">
              <a:spcAft>
                <a:spcPts val="400"/>
              </a:spcAft>
            </a:pPr>
            <a:r>
              <a:rPr sz="1400" b="1">
                <a:solidFill>
                  <a:srgbClr val="1F6FEB"/>
                </a:solidFill>
                <a:latin typeface="Arial"/>
              </a:rPr>
              <a:t>TOPIC RECAP</a:t>
            </a:r>
          </a:p>
        </p:txBody>
      </p:sp>
      <p:sp>
        <p:nvSpPr>
          <p:cNvPr id="5" name="TextBox 4"/>
          <p:cNvSpPr txBox="1"/>
          <p:nvPr/>
        </p:nvSpPr>
        <p:spPr>
          <a:xfrm>
            <a:off x="777240" y="822960"/>
            <a:ext cx="10881360" cy="822960"/>
          </a:xfrm>
          <a:prstGeom prst="rect">
            <a:avLst/>
          </a:prstGeom>
          <a:noFill/>
        </p:spPr>
        <p:txBody>
          <a:bodyPr wrap="square" anchor="t">
            <a:spAutoFit/>
          </a:bodyPr>
          <a:lstStyle/>
          <a:p>
            <a:pPr algn="l">
              <a:spcAft>
                <a:spcPts val="400"/>
              </a:spcAft>
            </a:pPr>
            <a:r>
              <a:rPr sz="2900" b="1">
                <a:solidFill>
                  <a:srgbClr val="161B26"/>
                </a:solidFill>
                <a:latin typeface="Arial"/>
              </a:rPr>
              <a:t>Recap — Quantum Cryptography and Quantum Safety</a:t>
            </a:r>
          </a:p>
        </p:txBody>
      </p:sp>
      <p:sp>
        <p:nvSpPr>
          <p:cNvPr id="6" name="Rectangle 5"/>
          <p:cNvSpPr/>
          <p:nvPr/>
        </p:nvSpPr>
        <p:spPr>
          <a:xfrm>
            <a:off x="777240" y="1554480"/>
            <a:ext cx="10634472" cy="18288"/>
          </a:xfrm>
          <a:prstGeom prst="rect">
            <a:avLst/>
          </a:prstGeom>
          <a:solidFill>
            <a:srgbClr val="E2E8F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TextBox 6"/>
          <p:cNvSpPr txBox="1"/>
          <p:nvPr/>
        </p:nvSpPr>
        <p:spPr>
          <a:xfrm>
            <a:off x="777240" y="1783080"/>
            <a:ext cx="10607040" cy="4480560"/>
          </a:xfrm>
          <a:prstGeom prst="rect">
            <a:avLst/>
          </a:prstGeom>
          <a:noFill/>
        </p:spPr>
        <p:txBody>
          <a:bodyPr wrap="square">
            <a:spAutoFit/>
          </a:bodyPr>
          <a:lstStyle/>
          <a:p>
            <a:pPr>
              <a:spcAft>
                <a:spcPts val="1000"/>
              </a:spcAft>
            </a:pPr>
            <a:r>
              <a:rPr sz="1600">
                <a:solidFill>
                  <a:srgbClr val="161B26"/>
                </a:solidFill>
                <a:latin typeface="Arial"/>
              </a:rPr>
              <a:t>•  Goals of cryptography</a:t>
            </a:r>
          </a:p>
          <a:p>
            <a:pPr>
              <a:spcAft>
                <a:spcPts val="1000"/>
              </a:spcAft>
            </a:pPr>
            <a:r>
              <a:rPr sz="1600">
                <a:solidFill>
                  <a:srgbClr val="161B26"/>
                </a:solidFill>
                <a:latin typeface="Arial"/>
              </a:rPr>
              <a:t>•  Classical schemes</a:t>
            </a:r>
          </a:p>
          <a:p>
            <a:pPr>
              <a:spcAft>
                <a:spcPts val="1000"/>
              </a:spcAft>
            </a:pPr>
            <a:r>
              <a:rPr sz="1600">
                <a:solidFill>
                  <a:srgbClr val="161B26"/>
                </a:solidFill>
                <a:latin typeface="Arial"/>
              </a:rPr>
              <a:t>•  The quantum threat</a:t>
            </a:r>
          </a:p>
          <a:p>
            <a:pPr>
              <a:spcAft>
                <a:spcPts val="1000"/>
              </a:spcAft>
            </a:pPr>
            <a:r>
              <a:rPr sz="1600">
                <a:solidFill>
                  <a:srgbClr val="161B26"/>
                </a:solidFill>
                <a:latin typeface="Arial"/>
              </a:rPr>
              <a:t>•  Shor's algorithm</a:t>
            </a:r>
          </a:p>
          <a:p>
            <a:pPr>
              <a:spcAft>
                <a:spcPts val="1000"/>
              </a:spcAft>
            </a:pPr>
            <a:r>
              <a:rPr sz="1600">
                <a:solidFill>
                  <a:srgbClr val="161B26"/>
                </a:solidFill>
                <a:latin typeface="Arial"/>
              </a:rPr>
              <a:t>•  Harvest now, decrypt later</a:t>
            </a:r>
          </a:p>
          <a:p>
            <a:pPr>
              <a:spcAft>
                <a:spcPts val="1000"/>
              </a:spcAft>
            </a:pPr>
            <a:r>
              <a:rPr sz="1600">
                <a:solidFill>
                  <a:srgbClr val="161B26"/>
                </a:solidFill>
                <a:latin typeface="Arial"/>
              </a:rPr>
              <a:t>•  Post-quantum cryptography</a:t>
            </a:r>
          </a:p>
        </p:txBody>
      </p:sp>
      <p:sp>
        <p:nvSpPr>
          <p:cNvPr id="8" name="TextBox 7"/>
          <p:cNvSpPr txBox="1"/>
          <p:nvPr/>
        </p:nvSpPr>
        <p:spPr>
          <a:xfrm>
            <a:off x="365760" y="6446520"/>
            <a:ext cx="6858000" cy="320040"/>
          </a:xfrm>
          <a:prstGeom prst="rect">
            <a:avLst/>
          </a:prstGeom>
          <a:noFill/>
        </p:spPr>
        <p:txBody>
          <a:bodyPr wrap="square" anchor="t">
            <a:spAutoFit/>
          </a:bodyPr>
          <a:lstStyle/>
          <a:p>
            <a:pPr algn="l">
              <a:spcAft>
                <a:spcPts val="400"/>
              </a:spcAft>
            </a:pPr>
            <a:r>
              <a:rPr sz="900" b="0">
                <a:solidFill>
                  <a:srgbClr val="5B6372"/>
                </a:solidFill>
                <a:latin typeface="Arial"/>
              </a:rPr>
              <a:t>Securing the Future with Quantum Computing and Cryptography  ·  TGS-2024043419</a:t>
            </a:r>
          </a:p>
        </p:txBody>
      </p:sp>
      <p:sp>
        <p:nvSpPr>
          <p:cNvPr id="9" name="TextBox 8"/>
          <p:cNvSpPr txBox="1"/>
          <p:nvPr/>
        </p:nvSpPr>
        <p:spPr>
          <a:xfrm>
            <a:off x="4572000" y="6446520"/>
            <a:ext cx="3017520" cy="320040"/>
          </a:xfrm>
          <a:prstGeom prst="rect">
            <a:avLst/>
          </a:prstGeom>
          <a:noFill/>
        </p:spPr>
        <p:txBody>
          <a:bodyPr wrap="square" anchor="t">
            <a:spAutoFit/>
          </a:bodyPr>
          <a:lstStyle/>
          <a:p>
            <a:pPr algn="ctr">
              <a:spcAft>
                <a:spcPts val="400"/>
              </a:spcAft>
            </a:pPr>
            <a:r>
              <a:rPr sz="900" b="0">
                <a:solidFill>
                  <a:srgbClr val="5B6372"/>
                </a:solidFill>
                <a:latin typeface="Arial"/>
              </a:rPr>
              <a:t>© 2026 Tertiary Infotech Academy Pte Ltd</a:t>
            </a:r>
          </a:p>
        </p:txBody>
      </p:sp>
      <p:sp>
        <p:nvSpPr>
          <p:cNvPr id="10" name="TextBox 9"/>
          <p:cNvSpPr txBox="1"/>
          <p:nvPr/>
        </p:nvSpPr>
        <p:spPr>
          <a:xfrm>
            <a:off x="11338560" y="6446520"/>
            <a:ext cx="548640" cy="320040"/>
          </a:xfrm>
          <a:prstGeom prst="rect">
            <a:avLst/>
          </a:prstGeom>
          <a:noFill/>
        </p:spPr>
        <p:txBody>
          <a:bodyPr wrap="square" anchor="t">
            <a:spAutoFit/>
          </a:bodyPr>
          <a:lstStyle/>
          <a:p>
            <a:pPr algn="r">
              <a:spcAft>
                <a:spcPts val="400"/>
              </a:spcAft>
            </a:pPr>
            <a:r>
              <a:rPr sz="900" b="0">
                <a:solidFill>
                  <a:srgbClr val="5B6372"/>
                </a:solidFill>
                <a:latin typeface="Arial"/>
              </a:rPr>
              <a:t>215</a:t>
            </a:r>
          </a:p>
        </p:txBody>
      </p:sp>
    </p:spTree>
  </p:cSld>
  <p:clrMapOvr>
    <a:masterClrMapping/>
  </p:clrMapOvr>
</p:sld>
</file>

<file path=ppt/slides/slide217.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256032" cy="6858000"/>
          </a:xfrm>
          <a:prstGeom prst="rect">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Rectangle 3"/>
          <p:cNvSpPr/>
          <p:nvPr/>
        </p:nvSpPr>
        <p:spPr>
          <a:xfrm>
            <a:off x="777240" y="2286000"/>
            <a:ext cx="128016" cy="1828800"/>
          </a:xfrm>
          <a:prstGeom prst="rect">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TextBox 4"/>
          <p:cNvSpPr txBox="1"/>
          <p:nvPr/>
        </p:nvSpPr>
        <p:spPr>
          <a:xfrm>
            <a:off x="1143000" y="2331720"/>
            <a:ext cx="10058400" cy="548640"/>
          </a:xfrm>
          <a:prstGeom prst="rect">
            <a:avLst/>
          </a:prstGeom>
          <a:noFill/>
        </p:spPr>
        <p:txBody>
          <a:bodyPr wrap="square" anchor="t">
            <a:spAutoFit/>
          </a:bodyPr>
          <a:lstStyle/>
          <a:p>
            <a:pPr algn="l">
              <a:spcAft>
                <a:spcPts val="400"/>
              </a:spcAft>
            </a:pPr>
            <a:r>
              <a:rPr sz="1800" b="1">
                <a:solidFill>
                  <a:srgbClr val="1F6FEB"/>
                </a:solidFill>
                <a:latin typeface="Arial"/>
              </a:rPr>
              <a:t>TOPIC 07</a:t>
            </a:r>
          </a:p>
        </p:txBody>
      </p:sp>
      <p:sp>
        <p:nvSpPr>
          <p:cNvPr id="6" name="TextBox 5"/>
          <p:cNvSpPr txBox="1"/>
          <p:nvPr/>
        </p:nvSpPr>
        <p:spPr>
          <a:xfrm>
            <a:off x="1143000" y="2743200"/>
            <a:ext cx="9509760" cy="1463040"/>
          </a:xfrm>
          <a:prstGeom prst="rect">
            <a:avLst/>
          </a:prstGeom>
          <a:noFill/>
        </p:spPr>
        <p:txBody>
          <a:bodyPr wrap="square" anchor="t">
            <a:spAutoFit/>
          </a:bodyPr>
          <a:lstStyle/>
          <a:p>
            <a:pPr algn="l">
              <a:spcAft>
                <a:spcPts val="400"/>
              </a:spcAft>
            </a:pPr>
            <a:r>
              <a:rPr sz="4000" b="1">
                <a:solidFill>
                  <a:srgbClr val="161B26"/>
                </a:solidFill>
                <a:latin typeface="Arial"/>
              </a:rPr>
              <a:t>Quantum Computing Applications and Use Cases</a:t>
            </a:r>
          </a:p>
        </p:txBody>
      </p:sp>
      <p:sp>
        <p:nvSpPr>
          <p:cNvPr id="7" name="TextBox 6"/>
          <p:cNvSpPr txBox="1"/>
          <p:nvPr/>
        </p:nvSpPr>
        <p:spPr>
          <a:xfrm>
            <a:off x="1161288" y="4251960"/>
            <a:ext cx="9692640" cy="822960"/>
          </a:xfrm>
          <a:prstGeom prst="rect">
            <a:avLst/>
          </a:prstGeom>
          <a:noFill/>
        </p:spPr>
        <p:txBody>
          <a:bodyPr wrap="square" anchor="t">
            <a:spAutoFit/>
          </a:bodyPr>
          <a:lstStyle/>
          <a:p>
            <a:pPr algn="l">
              <a:spcAft>
                <a:spcPts val="400"/>
              </a:spcAft>
            </a:pPr>
            <a:r>
              <a:rPr sz="1500" b="0">
                <a:solidFill>
                  <a:srgbClr val="5B6372"/>
                </a:solidFill>
                <a:latin typeface="Arial"/>
              </a:rPr>
              <a:t>Finance · Healthcare · Science</a:t>
            </a:r>
          </a:p>
        </p:txBody>
      </p:sp>
      <p:sp>
        <p:nvSpPr>
          <p:cNvPr id="8" name="TextBox 7"/>
          <p:cNvSpPr txBox="1"/>
          <p:nvPr/>
        </p:nvSpPr>
        <p:spPr>
          <a:xfrm>
            <a:off x="9144000" y="640080"/>
            <a:ext cx="2560320" cy="1463040"/>
          </a:xfrm>
          <a:prstGeom prst="rect">
            <a:avLst/>
          </a:prstGeom>
          <a:noFill/>
        </p:spPr>
        <p:txBody>
          <a:bodyPr wrap="square" anchor="t">
            <a:spAutoFit/>
          </a:bodyPr>
          <a:lstStyle/>
          <a:p>
            <a:pPr algn="r">
              <a:spcAft>
                <a:spcPts val="400"/>
              </a:spcAft>
            </a:pPr>
            <a:r>
              <a:rPr sz="7200" b="1">
                <a:solidFill>
                  <a:srgbClr val="E2E8F0"/>
                </a:solidFill>
                <a:latin typeface="Arial"/>
              </a:rPr>
              <a:t>07</a:t>
            </a:r>
          </a:p>
        </p:txBody>
      </p:sp>
      <p:sp>
        <p:nvSpPr>
          <p:cNvPr id="9" name="TextBox 8"/>
          <p:cNvSpPr txBox="1"/>
          <p:nvPr/>
        </p:nvSpPr>
        <p:spPr>
          <a:xfrm>
            <a:off x="365760" y="6446520"/>
            <a:ext cx="6858000" cy="320040"/>
          </a:xfrm>
          <a:prstGeom prst="rect">
            <a:avLst/>
          </a:prstGeom>
          <a:noFill/>
        </p:spPr>
        <p:txBody>
          <a:bodyPr wrap="square" anchor="t">
            <a:spAutoFit/>
          </a:bodyPr>
          <a:lstStyle/>
          <a:p>
            <a:pPr algn="l">
              <a:spcAft>
                <a:spcPts val="400"/>
              </a:spcAft>
            </a:pPr>
            <a:r>
              <a:rPr sz="900" b="0">
                <a:solidFill>
                  <a:srgbClr val="5B6372"/>
                </a:solidFill>
                <a:latin typeface="Arial"/>
              </a:rPr>
              <a:t>Securing the Future with Quantum Computing and Cryptography  ·  TGS-2024043419</a:t>
            </a:r>
          </a:p>
        </p:txBody>
      </p:sp>
      <p:sp>
        <p:nvSpPr>
          <p:cNvPr id="10" name="TextBox 9"/>
          <p:cNvSpPr txBox="1"/>
          <p:nvPr/>
        </p:nvSpPr>
        <p:spPr>
          <a:xfrm>
            <a:off x="4572000" y="6446520"/>
            <a:ext cx="3017520" cy="320040"/>
          </a:xfrm>
          <a:prstGeom prst="rect">
            <a:avLst/>
          </a:prstGeom>
          <a:noFill/>
        </p:spPr>
        <p:txBody>
          <a:bodyPr wrap="square" anchor="t">
            <a:spAutoFit/>
          </a:bodyPr>
          <a:lstStyle/>
          <a:p>
            <a:pPr algn="ctr">
              <a:spcAft>
                <a:spcPts val="400"/>
              </a:spcAft>
            </a:pPr>
            <a:r>
              <a:rPr sz="900" b="0">
                <a:solidFill>
                  <a:srgbClr val="5B6372"/>
                </a:solidFill>
                <a:latin typeface="Arial"/>
              </a:rPr>
              <a:t>© 2026 Tertiary Infotech Academy Pte Ltd</a:t>
            </a:r>
          </a:p>
        </p:txBody>
      </p:sp>
      <p:sp>
        <p:nvSpPr>
          <p:cNvPr id="11" name="TextBox 10"/>
          <p:cNvSpPr txBox="1"/>
          <p:nvPr/>
        </p:nvSpPr>
        <p:spPr>
          <a:xfrm>
            <a:off x="11338560" y="6446520"/>
            <a:ext cx="548640" cy="320040"/>
          </a:xfrm>
          <a:prstGeom prst="rect">
            <a:avLst/>
          </a:prstGeom>
          <a:noFill/>
        </p:spPr>
        <p:txBody>
          <a:bodyPr wrap="square" anchor="t">
            <a:spAutoFit/>
          </a:bodyPr>
          <a:lstStyle/>
          <a:p>
            <a:pPr algn="r">
              <a:spcAft>
                <a:spcPts val="400"/>
              </a:spcAft>
            </a:pPr>
            <a:r>
              <a:rPr sz="900" b="0">
                <a:solidFill>
                  <a:srgbClr val="5B6372"/>
                </a:solidFill>
                <a:latin typeface="Arial"/>
              </a:rPr>
              <a:t>216</a:t>
            </a:r>
          </a:p>
        </p:txBody>
      </p:sp>
    </p:spTree>
  </p:cSld>
  <p:clrMapOvr>
    <a:masterClrMapping/>
  </p:clrMapOvr>
</p:sld>
</file>

<file path=ppt/slides/slide218.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256032" cy="1417320"/>
          </a:xfrm>
          <a:prstGeom prst="rect">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777240" y="457200"/>
            <a:ext cx="10607040" cy="365760"/>
          </a:xfrm>
          <a:prstGeom prst="rect">
            <a:avLst/>
          </a:prstGeom>
          <a:noFill/>
        </p:spPr>
        <p:txBody>
          <a:bodyPr wrap="square" anchor="t">
            <a:spAutoFit/>
          </a:bodyPr>
          <a:lstStyle/>
          <a:p>
            <a:pPr algn="l">
              <a:spcAft>
                <a:spcPts val="400"/>
              </a:spcAft>
            </a:pPr>
            <a:r>
              <a:rPr sz="1400" b="1">
                <a:solidFill>
                  <a:srgbClr val="1F6FEB"/>
                </a:solidFill>
                <a:latin typeface="Arial"/>
              </a:rPr>
              <a:t>MAPS TO LO4</a:t>
            </a:r>
          </a:p>
        </p:txBody>
      </p:sp>
      <p:sp>
        <p:nvSpPr>
          <p:cNvPr id="5" name="TextBox 4"/>
          <p:cNvSpPr txBox="1"/>
          <p:nvPr/>
        </p:nvSpPr>
        <p:spPr>
          <a:xfrm>
            <a:off x="777240" y="822960"/>
            <a:ext cx="10881360" cy="822960"/>
          </a:xfrm>
          <a:prstGeom prst="rect">
            <a:avLst/>
          </a:prstGeom>
          <a:noFill/>
        </p:spPr>
        <p:txBody>
          <a:bodyPr wrap="square" anchor="t">
            <a:spAutoFit/>
          </a:bodyPr>
          <a:lstStyle/>
          <a:p>
            <a:pPr algn="l">
              <a:spcAft>
                <a:spcPts val="400"/>
              </a:spcAft>
            </a:pPr>
            <a:r>
              <a:rPr sz="2900" b="1">
                <a:solidFill>
                  <a:srgbClr val="161B26"/>
                </a:solidFill>
                <a:latin typeface="Arial"/>
              </a:rPr>
              <a:t>Key Concepts — Quantum Computing Applications and Use Cases</a:t>
            </a:r>
          </a:p>
        </p:txBody>
      </p:sp>
      <p:sp>
        <p:nvSpPr>
          <p:cNvPr id="6" name="Rectangle 5"/>
          <p:cNvSpPr/>
          <p:nvPr/>
        </p:nvSpPr>
        <p:spPr>
          <a:xfrm>
            <a:off x="777240" y="1554480"/>
            <a:ext cx="10634472" cy="18288"/>
          </a:xfrm>
          <a:prstGeom prst="rect">
            <a:avLst/>
          </a:prstGeom>
          <a:solidFill>
            <a:srgbClr val="E2E8F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Rectangle 6"/>
          <p:cNvSpPr/>
          <p:nvPr/>
        </p:nvSpPr>
        <p:spPr>
          <a:xfrm>
            <a:off x="777240" y="1783080"/>
            <a:ext cx="5180076" cy="1298448"/>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Rectangle 7"/>
          <p:cNvSpPr/>
          <p:nvPr/>
        </p:nvSpPr>
        <p:spPr>
          <a:xfrm>
            <a:off x="777240" y="1783080"/>
            <a:ext cx="91440" cy="1298448"/>
          </a:xfrm>
          <a:prstGeom prst="rect">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Oval 8"/>
          <p:cNvSpPr/>
          <p:nvPr/>
        </p:nvSpPr>
        <p:spPr>
          <a:xfrm>
            <a:off x="1033272" y="2157984"/>
            <a:ext cx="548640" cy="548640"/>
          </a:xfrm>
          <a:prstGeom prst="ellipse">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TextBox 9"/>
          <p:cNvSpPr txBox="1"/>
          <p:nvPr/>
        </p:nvSpPr>
        <p:spPr>
          <a:xfrm>
            <a:off x="1033272" y="2157984"/>
            <a:ext cx="548640" cy="548640"/>
          </a:xfrm>
          <a:prstGeom prst="rect">
            <a:avLst/>
          </a:prstGeom>
          <a:noFill/>
        </p:spPr>
        <p:txBody>
          <a:bodyPr wrap="square" anchor="ctr">
            <a:spAutoFit/>
          </a:bodyPr>
          <a:lstStyle/>
          <a:p>
            <a:pPr algn="ctr">
              <a:spcAft>
                <a:spcPts val="400"/>
              </a:spcAft>
            </a:pPr>
            <a:r>
              <a:rPr sz="1800" b="1">
                <a:solidFill>
                  <a:srgbClr val="FFFFFF"/>
                </a:solidFill>
                <a:latin typeface="Arial"/>
              </a:rPr>
              <a:t>1</a:t>
            </a:r>
          </a:p>
        </p:txBody>
      </p:sp>
      <p:sp>
        <p:nvSpPr>
          <p:cNvPr id="11" name="TextBox 10"/>
          <p:cNvSpPr txBox="1"/>
          <p:nvPr/>
        </p:nvSpPr>
        <p:spPr>
          <a:xfrm>
            <a:off x="1764792" y="1892808"/>
            <a:ext cx="3973068" cy="1115568"/>
          </a:xfrm>
          <a:prstGeom prst="rect">
            <a:avLst/>
          </a:prstGeom>
          <a:noFill/>
        </p:spPr>
        <p:txBody>
          <a:bodyPr wrap="square" anchor="ctr">
            <a:spAutoFit/>
          </a:bodyPr>
          <a:lstStyle/>
          <a:p>
            <a:pPr algn="l">
              <a:spcAft>
                <a:spcPts val="300"/>
              </a:spcAft>
            </a:pPr>
            <a:r>
              <a:rPr sz="1450" b="1">
                <a:solidFill>
                  <a:srgbClr val="161B26"/>
                </a:solidFill>
                <a:latin typeface="Arial"/>
              </a:rPr>
              <a:t>Finance</a:t>
            </a:r>
          </a:p>
          <a:p>
            <a:pPr algn="l">
              <a:spcAft>
                <a:spcPts val="300"/>
              </a:spcAft>
            </a:pPr>
            <a:r>
              <a:rPr sz="1100" b="0">
                <a:solidFill>
                  <a:srgbClr val="5B6372"/>
                </a:solidFill>
                <a:latin typeface="Arial"/>
              </a:rPr>
              <a:t>Portfolio optimisation, derivative pricing via amplitude estimation, credit risk and fraud detection are the leading finance use cases.</a:t>
            </a:r>
          </a:p>
        </p:txBody>
      </p:sp>
      <p:sp>
        <p:nvSpPr>
          <p:cNvPr id="12" name="Rectangle 11"/>
          <p:cNvSpPr/>
          <p:nvPr/>
        </p:nvSpPr>
        <p:spPr>
          <a:xfrm>
            <a:off x="6231636" y="1783080"/>
            <a:ext cx="5180076" cy="1298448"/>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 name="Rectangle 12"/>
          <p:cNvSpPr/>
          <p:nvPr/>
        </p:nvSpPr>
        <p:spPr>
          <a:xfrm>
            <a:off x="6231636" y="1783080"/>
            <a:ext cx="91440" cy="1298448"/>
          </a:xfrm>
          <a:prstGeom prst="rect">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 name="Oval 13"/>
          <p:cNvSpPr/>
          <p:nvPr/>
        </p:nvSpPr>
        <p:spPr>
          <a:xfrm>
            <a:off x="6487668" y="2157984"/>
            <a:ext cx="548640" cy="548640"/>
          </a:xfrm>
          <a:prstGeom prst="ellipse">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5" name="TextBox 14"/>
          <p:cNvSpPr txBox="1"/>
          <p:nvPr/>
        </p:nvSpPr>
        <p:spPr>
          <a:xfrm>
            <a:off x="6487668" y="2157984"/>
            <a:ext cx="548640" cy="548640"/>
          </a:xfrm>
          <a:prstGeom prst="rect">
            <a:avLst/>
          </a:prstGeom>
          <a:noFill/>
        </p:spPr>
        <p:txBody>
          <a:bodyPr wrap="square" anchor="ctr">
            <a:spAutoFit/>
          </a:bodyPr>
          <a:lstStyle/>
          <a:p>
            <a:pPr algn="ctr">
              <a:spcAft>
                <a:spcPts val="400"/>
              </a:spcAft>
            </a:pPr>
            <a:r>
              <a:rPr sz="1800" b="1">
                <a:solidFill>
                  <a:srgbClr val="FFFFFF"/>
                </a:solidFill>
                <a:latin typeface="Arial"/>
              </a:rPr>
              <a:t>2</a:t>
            </a:r>
          </a:p>
        </p:txBody>
      </p:sp>
      <p:sp>
        <p:nvSpPr>
          <p:cNvPr id="16" name="TextBox 15"/>
          <p:cNvSpPr txBox="1"/>
          <p:nvPr/>
        </p:nvSpPr>
        <p:spPr>
          <a:xfrm>
            <a:off x="7219188" y="1892808"/>
            <a:ext cx="3973068" cy="1115568"/>
          </a:xfrm>
          <a:prstGeom prst="rect">
            <a:avLst/>
          </a:prstGeom>
          <a:noFill/>
        </p:spPr>
        <p:txBody>
          <a:bodyPr wrap="square" anchor="ctr">
            <a:spAutoFit/>
          </a:bodyPr>
          <a:lstStyle/>
          <a:p>
            <a:pPr algn="l">
              <a:spcAft>
                <a:spcPts val="300"/>
              </a:spcAft>
            </a:pPr>
            <a:r>
              <a:rPr sz="1450" b="1">
                <a:solidFill>
                  <a:srgbClr val="161B26"/>
                </a:solidFill>
                <a:latin typeface="Arial"/>
              </a:rPr>
              <a:t>Healthcare and life sciences</a:t>
            </a:r>
          </a:p>
          <a:p>
            <a:pPr algn="l">
              <a:spcAft>
                <a:spcPts val="300"/>
              </a:spcAft>
            </a:pPr>
            <a:r>
              <a:rPr sz="1100" b="0">
                <a:solidFill>
                  <a:srgbClr val="5B6372"/>
                </a:solidFill>
                <a:latin typeface="Arial"/>
              </a:rPr>
              <a:t>Molecular simulation with VQE, protein folding and accelerated drug discovery target problems classical HPC cannot reach.</a:t>
            </a:r>
          </a:p>
        </p:txBody>
      </p:sp>
      <p:sp>
        <p:nvSpPr>
          <p:cNvPr id="17" name="Rectangle 16"/>
          <p:cNvSpPr/>
          <p:nvPr/>
        </p:nvSpPr>
        <p:spPr>
          <a:xfrm>
            <a:off x="777240" y="3319272"/>
            <a:ext cx="5180076" cy="1298448"/>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8" name="Rectangle 17"/>
          <p:cNvSpPr/>
          <p:nvPr/>
        </p:nvSpPr>
        <p:spPr>
          <a:xfrm>
            <a:off x="777240" y="3319272"/>
            <a:ext cx="91440" cy="1298448"/>
          </a:xfrm>
          <a:prstGeom prst="rect">
            <a:avLst/>
          </a:prstGeom>
          <a:solidFill>
            <a:srgbClr val="7C3AE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9" name="Oval 18"/>
          <p:cNvSpPr/>
          <p:nvPr/>
        </p:nvSpPr>
        <p:spPr>
          <a:xfrm>
            <a:off x="1033272" y="3694176"/>
            <a:ext cx="548640" cy="548640"/>
          </a:xfrm>
          <a:prstGeom prst="ellipse">
            <a:avLst/>
          </a:prstGeom>
          <a:solidFill>
            <a:srgbClr val="7C3AE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0" name="TextBox 19"/>
          <p:cNvSpPr txBox="1"/>
          <p:nvPr/>
        </p:nvSpPr>
        <p:spPr>
          <a:xfrm>
            <a:off x="1033272" y="3694176"/>
            <a:ext cx="548640" cy="548640"/>
          </a:xfrm>
          <a:prstGeom prst="rect">
            <a:avLst/>
          </a:prstGeom>
          <a:noFill/>
        </p:spPr>
        <p:txBody>
          <a:bodyPr wrap="square" anchor="ctr">
            <a:spAutoFit/>
          </a:bodyPr>
          <a:lstStyle/>
          <a:p>
            <a:pPr algn="ctr">
              <a:spcAft>
                <a:spcPts val="400"/>
              </a:spcAft>
            </a:pPr>
            <a:r>
              <a:rPr sz="1800" b="1">
                <a:solidFill>
                  <a:srgbClr val="FFFFFF"/>
                </a:solidFill>
                <a:latin typeface="Arial"/>
              </a:rPr>
              <a:t>3</a:t>
            </a:r>
          </a:p>
        </p:txBody>
      </p:sp>
      <p:sp>
        <p:nvSpPr>
          <p:cNvPr id="21" name="TextBox 20"/>
          <p:cNvSpPr txBox="1"/>
          <p:nvPr/>
        </p:nvSpPr>
        <p:spPr>
          <a:xfrm>
            <a:off x="1764792" y="3429000"/>
            <a:ext cx="3973068" cy="1115568"/>
          </a:xfrm>
          <a:prstGeom prst="rect">
            <a:avLst/>
          </a:prstGeom>
          <a:noFill/>
        </p:spPr>
        <p:txBody>
          <a:bodyPr wrap="square" anchor="ctr">
            <a:spAutoFit/>
          </a:bodyPr>
          <a:lstStyle/>
          <a:p>
            <a:pPr algn="l">
              <a:spcAft>
                <a:spcPts val="300"/>
              </a:spcAft>
            </a:pPr>
            <a:r>
              <a:rPr sz="1450" b="1">
                <a:solidFill>
                  <a:srgbClr val="161B26"/>
                </a:solidFill>
                <a:latin typeface="Arial"/>
              </a:rPr>
              <a:t>Science and materials</a:t>
            </a:r>
          </a:p>
          <a:p>
            <a:pPr algn="l">
              <a:spcAft>
                <a:spcPts val="300"/>
              </a:spcAft>
            </a:pPr>
            <a:r>
              <a:rPr sz="1100" b="0">
                <a:solidFill>
                  <a:srgbClr val="5B6372"/>
                </a:solidFill>
                <a:latin typeface="Arial"/>
              </a:rPr>
              <a:t>Simulating catalysts, superconductors, nitrogen fixation and battery chemistry is quantum computing's most natural application.</a:t>
            </a:r>
          </a:p>
        </p:txBody>
      </p:sp>
      <p:sp>
        <p:nvSpPr>
          <p:cNvPr id="22" name="Rectangle 21"/>
          <p:cNvSpPr/>
          <p:nvPr/>
        </p:nvSpPr>
        <p:spPr>
          <a:xfrm>
            <a:off x="6231636" y="3319272"/>
            <a:ext cx="5180076" cy="1298448"/>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3" name="Rectangle 22"/>
          <p:cNvSpPr/>
          <p:nvPr/>
        </p:nvSpPr>
        <p:spPr>
          <a:xfrm>
            <a:off x="6231636" y="3319272"/>
            <a:ext cx="91440" cy="1298448"/>
          </a:xfrm>
          <a:prstGeom prst="rect">
            <a:avLst/>
          </a:prstGeom>
          <a:solidFill>
            <a:srgbClr val="F59E0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4" name="Oval 23"/>
          <p:cNvSpPr/>
          <p:nvPr/>
        </p:nvSpPr>
        <p:spPr>
          <a:xfrm>
            <a:off x="6487668" y="3694176"/>
            <a:ext cx="548640" cy="548640"/>
          </a:xfrm>
          <a:prstGeom prst="ellipse">
            <a:avLst/>
          </a:prstGeom>
          <a:solidFill>
            <a:srgbClr val="F59E0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5" name="TextBox 24"/>
          <p:cNvSpPr txBox="1"/>
          <p:nvPr/>
        </p:nvSpPr>
        <p:spPr>
          <a:xfrm>
            <a:off x="6487668" y="3694176"/>
            <a:ext cx="548640" cy="548640"/>
          </a:xfrm>
          <a:prstGeom prst="rect">
            <a:avLst/>
          </a:prstGeom>
          <a:noFill/>
        </p:spPr>
        <p:txBody>
          <a:bodyPr wrap="square" anchor="ctr">
            <a:spAutoFit/>
          </a:bodyPr>
          <a:lstStyle/>
          <a:p>
            <a:pPr algn="ctr">
              <a:spcAft>
                <a:spcPts val="400"/>
              </a:spcAft>
            </a:pPr>
            <a:r>
              <a:rPr sz="1800" b="1">
                <a:solidFill>
                  <a:srgbClr val="FFFFFF"/>
                </a:solidFill>
                <a:latin typeface="Arial"/>
              </a:rPr>
              <a:t>4</a:t>
            </a:r>
          </a:p>
        </p:txBody>
      </p:sp>
      <p:sp>
        <p:nvSpPr>
          <p:cNvPr id="26" name="TextBox 25"/>
          <p:cNvSpPr txBox="1"/>
          <p:nvPr/>
        </p:nvSpPr>
        <p:spPr>
          <a:xfrm>
            <a:off x="7219188" y="3429000"/>
            <a:ext cx="3973068" cy="1115568"/>
          </a:xfrm>
          <a:prstGeom prst="rect">
            <a:avLst/>
          </a:prstGeom>
          <a:noFill/>
        </p:spPr>
        <p:txBody>
          <a:bodyPr wrap="square" anchor="ctr">
            <a:spAutoFit/>
          </a:bodyPr>
          <a:lstStyle/>
          <a:p>
            <a:pPr algn="l">
              <a:spcAft>
                <a:spcPts val="300"/>
              </a:spcAft>
            </a:pPr>
            <a:r>
              <a:rPr sz="1450" b="1">
                <a:solidFill>
                  <a:srgbClr val="161B26"/>
                </a:solidFill>
                <a:latin typeface="Arial"/>
              </a:rPr>
              <a:t>Optimisation and logistics</a:t>
            </a:r>
          </a:p>
          <a:p>
            <a:pPr algn="l">
              <a:spcAft>
                <a:spcPts val="300"/>
              </a:spcAft>
            </a:pPr>
            <a:r>
              <a:rPr sz="1100" b="0">
                <a:solidFill>
                  <a:srgbClr val="5B6372"/>
                </a:solidFill>
                <a:latin typeface="Arial"/>
              </a:rPr>
              <a:t>QAOA addresses routing, scheduling and Max-Cut style combinatorial problems across supply chains and energy grids.</a:t>
            </a:r>
          </a:p>
        </p:txBody>
      </p:sp>
      <p:sp>
        <p:nvSpPr>
          <p:cNvPr id="27" name="Rectangle 26"/>
          <p:cNvSpPr/>
          <p:nvPr/>
        </p:nvSpPr>
        <p:spPr>
          <a:xfrm>
            <a:off x="777240" y="4855464"/>
            <a:ext cx="5180076" cy="1298448"/>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8" name="Rectangle 27"/>
          <p:cNvSpPr/>
          <p:nvPr/>
        </p:nvSpPr>
        <p:spPr>
          <a:xfrm>
            <a:off x="777240" y="4855464"/>
            <a:ext cx="91440" cy="1298448"/>
          </a:xfrm>
          <a:prstGeom prst="rect">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9" name="Oval 28"/>
          <p:cNvSpPr/>
          <p:nvPr/>
        </p:nvSpPr>
        <p:spPr>
          <a:xfrm>
            <a:off x="1033272" y="5230368"/>
            <a:ext cx="548640" cy="548640"/>
          </a:xfrm>
          <a:prstGeom prst="ellipse">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0" name="TextBox 29"/>
          <p:cNvSpPr txBox="1"/>
          <p:nvPr/>
        </p:nvSpPr>
        <p:spPr>
          <a:xfrm>
            <a:off x="1033272" y="5230368"/>
            <a:ext cx="548640" cy="548640"/>
          </a:xfrm>
          <a:prstGeom prst="rect">
            <a:avLst/>
          </a:prstGeom>
          <a:noFill/>
        </p:spPr>
        <p:txBody>
          <a:bodyPr wrap="square" anchor="ctr">
            <a:spAutoFit/>
          </a:bodyPr>
          <a:lstStyle/>
          <a:p>
            <a:pPr algn="ctr">
              <a:spcAft>
                <a:spcPts val="400"/>
              </a:spcAft>
            </a:pPr>
            <a:r>
              <a:rPr sz="1800" b="1">
                <a:solidFill>
                  <a:srgbClr val="FFFFFF"/>
                </a:solidFill>
                <a:latin typeface="Arial"/>
              </a:rPr>
              <a:t>5</a:t>
            </a:r>
          </a:p>
        </p:txBody>
      </p:sp>
      <p:sp>
        <p:nvSpPr>
          <p:cNvPr id="31" name="TextBox 30"/>
          <p:cNvSpPr txBox="1"/>
          <p:nvPr/>
        </p:nvSpPr>
        <p:spPr>
          <a:xfrm>
            <a:off x="1764792" y="4965192"/>
            <a:ext cx="3973068" cy="1115568"/>
          </a:xfrm>
          <a:prstGeom prst="rect">
            <a:avLst/>
          </a:prstGeom>
          <a:noFill/>
        </p:spPr>
        <p:txBody>
          <a:bodyPr wrap="square" anchor="ctr">
            <a:spAutoFit/>
          </a:bodyPr>
          <a:lstStyle/>
          <a:p>
            <a:pPr algn="l">
              <a:spcAft>
                <a:spcPts val="300"/>
              </a:spcAft>
            </a:pPr>
            <a:r>
              <a:rPr sz="1450" b="1">
                <a:solidFill>
                  <a:srgbClr val="161B26"/>
                </a:solidFill>
                <a:latin typeface="Arial"/>
              </a:rPr>
              <a:t>Quantum machine learning</a:t>
            </a:r>
          </a:p>
          <a:p>
            <a:pPr algn="l">
              <a:spcAft>
                <a:spcPts val="300"/>
              </a:spcAft>
            </a:pPr>
            <a:r>
              <a:rPr sz="1100" b="0">
                <a:solidFill>
                  <a:srgbClr val="5B6372"/>
                </a:solidFill>
                <a:latin typeface="Arial"/>
              </a:rPr>
              <a:t>Quantum kernels and variational classifiers explore feature spaces that are expensive to compute classically.</a:t>
            </a:r>
          </a:p>
        </p:txBody>
      </p:sp>
      <p:sp>
        <p:nvSpPr>
          <p:cNvPr id="32" name="Rectangle 31"/>
          <p:cNvSpPr/>
          <p:nvPr/>
        </p:nvSpPr>
        <p:spPr>
          <a:xfrm>
            <a:off x="6231636" y="4855464"/>
            <a:ext cx="5180076" cy="1298448"/>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3" name="Rectangle 32"/>
          <p:cNvSpPr/>
          <p:nvPr/>
        </p:nvSpPr>
        <p:spPr>
          <a:xfrm>
            <a:off x="6231636" y="4855464"/>
            <a:ext cx="91440" cy="1298448"/>
          </a:xfrm>
          <a:prstGeom prst="rect">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4" name="Oval 33"/>
          <p:cNvSpPr/>
          <p:nvPr/>
        </p:nvSpPr>
        <p:spPr>
          <a:xfrm>
            <a:off x="6487668" y="5230368"/>
            <a:ext cx="548640" cy="548640"/>
          </a:xfrm>
          <a:prstGeom prst="ellipse">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5" name="TextBox 34"/>
          <p:cNvSpPr txBox="1"/>
          <p:nvPr/>
        </p:nvSpPr>
        <p:spPr>
          <a:xfrm>
            <a:off x="6487668" y="5230368"/>
            <a:ext cx="548640" cy="548640"/>
          </a:xfrm>
          <a:prstGeom prst="rect">
            <a:avLst/>
          </a:prstGeom>
          <a:noFill/>
        </p:spPr>
        <p:txBody>
          <a:bodyPr wrap="square" anchor="ctr">
            <a:spAutoFit/>
          </a:bodyPr>
          <a:lstStyle/>
          <a:p>
            <a:pPr algn="ctr">
              <a:spcAft>
                <a:spcPts val="400"/>
              </a:spcAft>
            </a:pPr>
            <a:r>
              <a:rPr sz="1800" b="1">
                <a:solidFill>
                  <a:srgbClr val="FFFFFF"/>
                </a:solidFill>
                <a:latin typeface="Arial"/>
              </a:rPr>
              <a:t>6</a:t>
            </a:r>
          </a:p>
        </p:txBody>
      </p:sp>
      <p:sp>
        <p:nvSpPr>
          <p:cNvPr id="36" name="TextBox 35"/>
          <p:cNvSpPr txBox="1"/>
          <p:nvPr/>
        </p:nvSpPr>
        <p:spPr>
          <a:xfrm>
            <a:off x="7219188" y="4965192"/>
            <a:ext cx="3973068" cy="1115568"/>
          </a:xfrm>
          <a:prstGeom prst="rect">
            <a:avLst/>
          </a:prstGeom>
          <a:noFill/>
        </p:spPr>
        <p:txBody>
          <a:bodyPr wrap="square" anchor="ctr">
            <a:spAutoFit/>
          </a:bodyPr>
          <a:lstStyle/>
          <a:p>
            <a:pPr algn="l">
              <a:spcAft>
                <a:spcPts val="300"/>
              </a:spcAft>
            </a:pPr>
            <a:r>
              <a:rPr sz="1450" b="1">
                <a:solidFill>
                  <a:srgbClr val="161B26"/>
                </a:solidFill>
                <a:latin typeface="Arial"/>
              </a:rPr>
              <a:t>Assessing business value</a:t>
            </a:r>
          </a:p>
          <a:p>
            <a:pPr algn="l">
              <a:spcAft>
                <a:spcPts val="300"/>
              </a:spcAft>
            </a:pPr>
            <a:r>
              <a:rPr sz="1100" b="0">
                <a:solidFill>
                  <a:srgbClr val="5B6372"/>
                </a:solidFill>
                <a:latin typeface="Arial"/>
              </a:rPr>
              <a:t>Evaluate a use case on problem structure, data size, required qubit count and whether a classical method already suffices.</a:t>
            </a:r>
          </a:p>
        </p:txBody>
      </p:sp>
      <p:sp>
        <p:nvSpPr>
          <p:cNvPr id="37" name="TextBox 36"/>
          <p:cNvSpPr txBox="1"/>
          <p:nvPr/>
        </p:nvSpPr>
        <p:spPr>
          <a:xfrm>
            <a:off x="365760" y="6446520"/>
            <a:ext cx="6858000" cy="320040"/>
          </a:xfrm>
          <a:prstGeom prst="rect">
            <a:avLst/>
          </a:prstGeom>
          <a:noFill/>
        </p:spPr>
        <p:txBody>
          <a:bodyPr wrap="square" anchor="t">
            <a:spAutoFit/>
          </a:bodyPr>
          <a:lstStyle/>
          <a:p>
            <a:pPr algn="l">
              <a:spcAft>
                <a:spcPts val="400"/>
              </a:spcAft>
            </a:pPr>
            <a:r>
              <a:rPr sz="900" b="0">
                <a:solidFill>
                  <a:srgbClr val="5B6372"/>
                </a:solidFill>
                <a:latin typeface="Arial"/>
              </a:rPr>
              <a:t>Securing the Future with Quantum Computing and Cryptography  ·  TGS-2024043419</a:t>
            </a:r>
          </a:p>
        </p:txBody>
      </p:sp>
      <p:sp>
        <p:nvSpPr>
          <p:cNvPr id="38" name="TextBox 37"/>
          <p:cNvSpPr txBox="1"/>
          <p:nvPr/>
        </p:nvSpPr>
        <p:spPr>
          <a:xfrm>
            <a:off x="4572000" y="6446520"/>
            <a:ext cx="3017520" cy="320040"/>
          </a:xfrm>
          <a:prstGeom prst="rect">
            <a:avLst/>
          </a:prstGeom>
          <a:noFill/>
        </p:spPr>
        <p:txBody>
          <a:bodyPr wrap="square" anchor="t">
            <a:spAutoFit/>
          </a:bodyPr>
          <a:lstStyle/>
          <a:p>
            <a:pPr algn="ctr">
              <a:spcAft>
                <a:spcPts val="400"/>
              </a:spcAft>
            </a:pPr>
            <a:r>
              <a:rPr sz="900" b="0">
                <a:solidFill>
                  <a:srgbClr val="5B6372"/>
                </a:solidFill>
                <a:latin typeface="Arial"/>
              </a:rPr>
              <a:t>© 2026 Tertiary Infotech Academy Pte Ltd</a:t>
            </a:r>
          </a:p>
        </p:txBody>
      </p:sp>
      <p:sp>
        <p:nvSpPr>
          <p:cNvPr id="39" name="TextBox 38"/>
          <p:cNvSpPr txBox="1"/>
          <p:nvPr/>
        </p:nvSpPr>
        <p:spPr>
          <a:xfrm>
            <a:off x="11338560" y="6446520"/>
            <a:ext cx="548640" cy="320040"/>
          </a:xfrm>
          <a:prstGeom prst="rect">
            <a:avLst/>
          </a:prstGeom>
          <a:noFill/>
        </p:spPr>
        <p:txBody>
          <a:bodyPr wrap="square" anchor="t">
            <a:spAutoFit/>
          </a:bodyPr>
          <a:lstStyle/>
          <a:p>
            <a:pPr algn="r">
              <a:spcAft>
                <a:spcPts val="400"/>
              </a:spcAft>
            </a:pPr>
            <a:r>
              <a:rPr sz="900" b="0">
                <a:solidFill>
                  <a:srgbClr val="5B6372"/>
                </a:solidFill>
                <a:latin typeface="Arial"/>
              </a:rPr>
              <a:t>217</a:t>
            </a:r>
          </a:p>
        </p:txBody>
      </p:sp>
    </p:spTree>
  </p:cSld>
  <p:clrMapOvr>
    <a:masterClrMapping/>
  </p:clrMapOvr>
</p:sld>
</file>

<file path=ppt/slides/slide219.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256032" cy="1417320"/>
          </a:xfrm>
          <a:prstGeom prst="rect">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777240" y="457200"/>
            <a:ext cx="10607040" cy="365760"/>
          </a:xfrm>
          <a:prstGeom prst="rect">
            <a:avLst/>
          </a:prstGeom>
          <a:noFill/>
        </p:spPr>
        <p:txBody>
          <a:bodyPr wrap="square" anchor="t">
            <a:spAutoFit/>
          </a:bodyPr>
          <a:lstStyle/>
          <a:p>
            <a:pPr algn="l">
              <a:spcAft>
                <a:spcPts val="400"/>
              </a:spcAft>
            </a:pPr>
            <a:r>
              <a:rPr sz="1400" b="1">
                <a:solidFill>
                  <a:srgbClr val="1F6FEB"/>
                </a:solidFill>
                <a:latin typeface="Arial"/>
              </a:rPr>
              <a:t>USE CASES BY SECTOR</a:t>
            </a:r>
          </a:p>
        </p:txBody>
      </p:sp>
      <p:sp>
        <p:nvSpPr>
          <p:cNvPr id="5" name="TextBox 4"/>
          <p:cNvSpPr txBox="1"/>
          <p:nvPr/>
        </p:nvSpPr>
        <p:spPr>
          <a:xfrm>
            <a:off x="777240" y="822960"/>
            <a:ext cx="10881360" cy="822960"/>
          </a:xfrm>
          <a:prstGeom prst="rect">
            <a:avLst/>
          </a:prstGeom>
          <a:noFill/>
        </p:spPr>
        <p:txBody>
          <a:bodyPr wrap="square" anchor="t">
            <a:spAutoFit/>
          </a:bodyPr>
          <a:lstStyle/>
          <a:p>
            <a:pPr algn="l">
              <a:spcAft>
                <a:spcPts val="400"/>
              </a:spcAft>
            </a:pPr>
            <a:r>
              <a:rPr sz="2900" b="1">
                <a:solidFill>
                  <a:srgbClr val="161B26"/>
                </a:solidFill>
                <a:latin typeface="Arial"/>
              </a:rPr>
              <a:t>Where Quantum Creates Value</a:t>
            </a:r>
          </a:p>
        </p:txBody>
      </p:sp>
      <p:sp>
        <p:nvSpPr>
          <p:cNvPr id="6" name="Rectangle 5"/>
          <p:cNvSpPr/>
          <p:nvPr/>
        </p:nvSpPr>
        <p:spPr>
          <a:xfrm>
            <a:off x="777240" y="1554480"/>
            <a:ext cx="10634472" cy="18288"/>
          </a:xfrm>
          <a:prstGeom prst="rect">
            <a:avLst/>
          </a:prstGeom>
          <a:solidFill>
            <a:srgbClr val="E2E8F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pic>
        <p:nvPicPr>
          <p:cNvPr id="7" name="Picture 6" descr="applications-map.png"/>
          <p:cNvPicPr>
            <a:picLocks noChangeAspect="1"/>
          </p:cNvPicPr>
          <p:nvPr/>
        </p:nvPicPr>
        <p:blipFill>
          <a:blip r:embed="rId2"/>
          <a:stretch>
            <a:fillRect/>
          </a:stretch>
        </p:blipFill>
        <p:spPr>
          <a:xfrm>
            <a:off x="2175619" y="1755648"/>
            <a:ext cx="7837714" cy="3950208"/>
          </a:xfrm>
          <a:prstGeom prst="rect">
            <a:avLst/>
          </a:prstGeom>
        </p:spPr>
      </p:pic>
      <p:sp>
        <p:nvSpPr>
          <p:cNvPr id="8" name="Rectangle 7"/>
          <p:cNvSpPr/>
          <p:nvPr/>
        </p:nvSpPr>
        <p:spPr>
          <a:xfrm>
            <a:off x="777240" y="5870448"/>
            <a:ext cx="10634472" cy="457200"/>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TextBox 8"/>
          <p:cNvSpPr txBox="1"/>
          <p:nvPr/>
        </p:nvSpPr>
        <p:spPr>
          <a:xfrm>
            <a:off x="960120" y="5870448"/>
            <a:ext cx="10241280" cy="457200"/>
          </a:xfrm>
          <a:prstGeom prst="rect">
            <a:avLst/>
          </a:prstGeom>
          <a:noFill/>
        </p:spPr>
        <p:txBody>
          <a:bodyPr wrap="square" anchor="ctr">
            <a:spAutoFit/>
          </a:bodyPr>
          <a:lstStyle/>
          <a:p>
            <a:pPr algn="ctr">
              <a:spcAft>
                <a:spcPts val="400"/>
              </a:spcAft>
            </a:pPr>
            <a:r>
              <a:rPr sz="1350" b="0">
                <a:solidFill>
                  <a:srgbClr val="161B26"/>
                </a:solidFill>
                <a:latin typeface="Arial"/>
              </a:rPr>
              <a:t>The best candidates are problems with quantum structure — chemistry and optimisation — not big-data problems.</a:t>
            </a:r>
          </a:p>
        </p:txBody>
      </p:sp>
      <p:sp>
        <p:nvSpPr>
          <p:cNvPr id="10" name="TextBox 9"/>
          <p:cNvSpPr txBox="1"/>
          <p:nvPr/>
        </p:nvSpPr>
        <p:spPr>
          <a:xfrm>
            <a:off x="365760" y="6446520"/>
            <a:ext cx="6858000" cy="320040"/>
          </a:xfrm>
          <a:prstGeom prst="rect">
            <a:avLst/>
          </a:prstGeom>
          <a:noFill/>
        </p:spPr>
        <p:txBody>
          <a:bodyPr wrap="square" anchor="t">
            <a:spAutoFit/>
          </a:bodyPr>
          <a:lstStyle/>
          <a:p>
            <a:pPr algn="l">
              <a:spcAft>
                <a:spcPts val="400"/>
              </a:spcAft>
            </a:pPr>
            <a:r>
              <a:rPr sz="900" b="0">
                <a:solidFill>
                  <a:srgbClr val="5B6372"/>
                </a:solidFill>
                <a:latin typeface="Arial"/>
              </a:rPr>
              <a:t>Securing the Future with Quantum Computing and Cryptography  ·  TGS-2024043419</a:t>
            </a:r>
          </a:p>
        </p:txBody>
      </p:sp>
      <p:sp>
        <p:nvSpPr>
          <p:cNvPr id="11" name="TextBox 10"/>
          <p:cNvSpPr txBox="1"/>
          <p:nvPr/>
        </p:nvSpPr>
        <p:spPr>
          <a:xfrm>
            <a:off x="4572000" y="6446520"/>
            <a:ext cx="3017520" cy="320040"/>
          </a:xfrm>
          <a:prstGeom prst="rect">
            <a:avLst/>
          </a:prstGeom>
          <a:noFill/>
        </p:spPr>
        <p:txBody>
          <a:bodyPr wrap="square" anchor="t">
            <a:spAutoFit/>
          </a:bodyPr>
          <a:lstStyle/>
          <a:p>
            <a:pPr algn="ctr">
              <a:spcAft>
                <a:spcPts val="400"/>
              </a:spcAft>
            </a:pPr>
            <a:r>
              <a:rPr sz="900" b="0">
                <a:solidFill>
                  <a:srgbClr val="5B6372"/>
                </a:solidFill>
                <a:latin typeface="Arial"/>
              </a:rPr>
              <a:t>© 2026 Tertiary Infotech Academy Pte Ltd</a:t>
            </a:r>
          </a:p>
        </p:txBody>
      </p:sp>
      <p:sp>
        <p:nvSpPr>
          <p:cNvPr id="12" name="TextBox 11"/>
          <p:cNvSpPr txBox="1"/>
          <p:nvPr/>
        </p:nvSpPr>
        <p:spPr>
          <a:xfrm>
            <a:off x="11338560" y="6446520"/>
            <a:ext cx="548640" cy="320040"/>
          </a:xfrm>
          <a:prstGeom prst="rect">
            <a:avLst/>
          </a:prstGeom>
          <a:noFill/>
        </p:spPr>
        <p:txBody>
          <a:bodyPr wrap="square" anchor="t">
            <a:spAutoFit/>
          </a:bodyPr>
          <a:lstStyle/>
          <a:p>
            <a:pPr algn="r">
              <a:spcAft>
                <a:spcPts val="400"/>
              </a:spcAft>
            </a:pPr>
            <a:r>
              <a:rPr sz="900" b="0">
                <a:solidFill>
                  <a:srgbClr val="5B6372"/>
                </a:solidFill>
                <a:latin typeface="Arial"/>
              </a:rPr>
              <a:t>218</a:t>
            </a:r>
          </a:p>
        </p:txBody>
      </p:sp>
    </p:spTree>
  </p:cSld>
  <p:clrMapOvr>
    <a:masterClrMapping/>
  </p:clrMapOvr>
</p:sld>
</file>

<file path=ppt/slides/slide220.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256032" cy="1417320"/>
          </a:xfrm>
          <a:prstGeom prst="rect">
            <a:avLst/>
          </a:prstGeom>
          <a:solidFill>
            <a:srgbClr val="7C3AE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777240" y="457200"/>
            <a:ext cx="10607040" cy="365760"/>
          </a:xfrm>
          <a:prstGeom prst="rect">
            <a:avLst/>
          </a:prstGeom>
          <a:noFill/>
        </p:spPr>
        <p:txBody>
          <a:bodyPr wrap="square" anchor="t">
            <a:spAutoFit/>
          </a:bodyPr>
          <a:lstStyle/>
          <a:p>
            <a:pPr algn="l">
              <a:spcAft>
                <a:spcPts val="400"/>
              </a:spcAft>
            </a:pPr>
            <a:r>
              <a:rPr sz="1400" b="1">
                <a:solidFill>
                  <a:srgbClr val="7C3AED"/>
                </a:solidFill>
                <a:latin typeface="Arial"/>
              </a:rPr>
              <a:t>THE FLAGSHIP NEAR-TERM APPLICATION</a:t>
            </a:r>
          </a:p>
        </p:txBody>
      </p:sp>
      <p:sp>
        <p:nvSpPr>
          <p:cNvPr id="5" name="TextBox 4"/>
          <p:cNvSpPr txBox="1"/>
          <p:nvPr/>
        </p:nvSpPr>
        <p:spPr>
          <a:xfrm>
            <a:off x="777240" y="822960"/>
            <a:ext cx="10881360" cy="822960"/>
          </a:xfrm>
          <a:prstGeom prst="rect">
            <a:avLst/>
          </a:prstGeom>
          <a:noFill/>
        </p:spPr>
        <p:txBody>
          <a:bodyPr wrap="square" anchor="t">
            <a:spAutoFit/>
          </a:bodyPr>
          <a:lstStyle/>
          <a:p>
            <a:pPr algn="l">
              <a:spcAft>
                <a:spcPts val="400"/>
              </a:spcAft>
            </a:pPr>
            <a:r>
              <a:rPr sz="2900" b="1">
                <a:solidFill>
                  <a:srgbClr val="161B26"/>
                </a:solidFill>
                <a:latin typeface="Arial"/>
              </a:rPr>
              <a:t>VQE — Simulating Molecules</a:t>
            </a:r>
          </a:p>
        </p:txBody>
      </p:sp>
      <p:sp>
        <p:nvSpPr>
          <p:cNvPr id="6" name="Rectangle 5"/>
          <p:cNvSpPr/>
          <p:nvPr/>
        </p:nvSpPr>
        <p:spPr>
          <a:xfrm>
            <a:off x="777240" y="1554480"/>
            <a:ext cx="10634472" cy="18288"/>
          </a:xfrm>
          <a:prstGeom prst="rect">
            <a:avLst/>
          </a:prstGeom>
          <a:solidFill>
            <a:srgbClr val="E2E8F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pic>
        <p:nvPicPr>
          <p:cNvPr id="7" name="Picture 6" descr="vqe-convergence.png"/>
          <p:cNvPicPr>
            <a:picLocks noChangeAspect="1"/>
          </p:cNvPicPr>
          <p:nvPr/>
        </p:nvPicPr>
        <p:blipFill>
          <a:blip r:embed="rId2"/>
          <a:stretch>
            <a:fillRect/>
          </a:stretch>
        </p:blipFill>
        <p:spPr>
          <a:xfrm>
            <a:off x="777240" y="2352470"/>
            <a:ext cx="6400800" cy="3067460"/>
          </a:xfrm>
          <a:prstGeom prst="rect">
            <a:avLst/>
          </a:prstGeom>
        </p:spPr>
      </p:pic>
      <p:sp>
        <p:nvSpPr>
          <p:cNvPr id="8" name="Rectangle 7"/>
          <p:cNvSpPr/>
          <p:nvPr/>
        </p:nvSpPr>
        <p:spPr>
          <a:xfrm>
            <a:off x="7452360" y="1783080"/>
            <a:ext cx="3959352" cy="937260"/>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Rectangle 8"/>
          <p:cNvSpPr/>
          <p:nvPr/>
        </p:nvSpPr>
        <p:spPr>
          <a:xfrm>
            <a:off x="7452360" y="1783080"/>
            <a:ext cx="82296" cy="937260"/>
          </a:xfrm>
          <a:prstGeom prst="rect">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TextBox 9"/>
          <p:cNvSpPr txBox="1"/>
          <p:nvPr/>
        </p:nvSpPr>
        <p:spPr>
          <a:xfrm>
            <a:off x="7708392" y="1783080"/>
            <a:ext cx="3502152" cy="937260"/>
          </a:xfrm>
          <a:prstGeom prst="rect">
            <a:avLst/>
          </a:prstGeom>
          <a:noFill/>
        </p:spPr>
        <p:txBody>
          <a:bodyPr wrap="square" anchor="ctr">
            <a:spAutoFit/>
          </a:bodyPr>
          <a:lstStyle/>
          <a:p>
            <a:pPr algn="l">
              <a:spcAft>
                <a:spcPts val="300"/>
              </a:spcAft>
            </a:pPr>
            <a:r>
              <a:rPr sz="1400" b="1">
                <a:solidFill>
                  <a:srgbClr val="1F6FEB"/>
                </a:solidFill>
                <a:latin typeface="Arial"/>
              </a:rPr>
              <a:t>Hybrid loop</a:t>
            </a:r>
          </a:p>
          <a:p>
            <a:pPr algn="l">
              <a:spcAft>
                <a:spcPts val="300"/>
              </a:spcAft>
            </a:pPr>
            <a:r>
              <a:rPr sz="1200" b="0">
                <a:solidFill>
                  <a:srgbClr val="161B26"/>
                </a:solidFill>
                <a:latin typeface="Arial"/>
              </a:rPr>
              <a:t>A quantum circuit prepares the trial state; a classical optimiser tunes it.</a:t>
            </a:r>
          </a:p>
        </p:txBody>
      </p:sp>
      <p:sp>
        <p:nvSpPr>
          <p:cNvPr id="11" name="Rectangle 10"/>
          <p:cNvSpPr/>
          <p:nvPr/>
        </p:nvSpPr>
        <p:spPr>
          <a:xfrm>
            <a:off x="7452360" y="2903220"/>
            <a:ext cx="3959352" cy="937260"/>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 name="Rectangle 11"/>
          <p:cNvSpPr/>
          <p:nvPr/>
        </p:nvSpPr>
        <p:spPr>
          <a:xfrm>
            <a:off x="7452360" y="2903220"/>
            <a:ext cx="82296" cy="937260"/>
          </a:xfrm>
          <a:prstGeom prst="rect">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 name="TextBox 12"/>
          <p:cNvSpPr txBox="1"/>
          <p:nvPr/>
        </p:nvSpPr>
        <p:spPr>
          <a:xfrm>
            <a:off x="7708392" y="2903220"/>
            <a:ext cx="3502152" cy="937260"/>
          </a:xfrm>
          <a:prstGeom prst="rect">
            <a:avLst/>
          </a:prstGeom>
          <a:noFill/>
        </p:spPr>
        <p:txBody>
          <a:bodyPr wrap="square" anchor="ctr">
            <a:spAutoFit/>
          </a:bodyPr>
          <a:lstStyle/>
          <a:p>
            <a:pPr algn="l">
              <a:spcAft>
                <a:spcPts val="300"/>
              </a:spcAft>
            </a:pPr>
            <a:r>
              <a:rPr sz="1400" b="1">
                <a:solidFill>
                  <a:srgbClr val="10B981"/>
                </a:solidFill>
                <a:latin typeface="Arial"/>
              </a:rPr>
              <a:t>Noise tolerant</a:t>
            </a:r>
          </a:p>
          <a:p>
            <a:pPr algn="l">
              <a:spcAft>
                <a:spcPts val="300"/>
              </a:spcAft>
            </a:pPr>
            <a:r>
              <a:rPr sz="1200" b="0">
                <a:solidFill>
                  <a:srgbClr val="161B26"/>
                </a:solidFill>
                <a:latin typeface="Arial"/>
              </a:rPr>
              <a:t>Shallow circuits make VQE practical on today's NISQ hardware.</a:t>
            </a:r>
          </a:p>
        </p:txBody>
      </p:sp>
      <p:sp>
        <p:nvSpPr>
          <p:cNvPr id="14" name="Rectangle 13"/>
          <p:cNvSpPr/>
          <p:nvPr/>
        </p:nvSpPr>
        <p:spPr>
          <a:xfrm>
            <a:off x="7452360" y="4023360"/>
            <a:ext cx="3959352" cy="937260"/>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5" name="Rectangle 14"/>
          <p:cNvSpPr/>
          <p:nvPr/>
        </p:nvSpPr>
        <p:spPr>
          <a:xfrm>
            <a:off x="7452360" y="4023360"/>
            <a:ext cx="82296" cy="937260"/>
          </a:xfrm>
          <a:prstGeom prst="rect">
            <a:avLst/>
          </a:prstGeom>
          <a:solidFill>
            <a:srgbClr val="7C3AE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6" name="TextBox 15"/>
          <p:cNvSpPr txBox="1"/>
          <p:nvPr/>
        </p:nvSpPr>
        <p:spPr>
          <a:xfrm>
            <a:off x="7708392" y="4023360"/>
            <a:ext cx="3502152" cy="937260"/>
          </a:xfrm>
          <a:prstGeom prst="rect">
            <a:avLst/>
          </a:prstGeom>
          <a:noFill/>
        </p:spPr>
        <p:txBody>
          <a:bodyPr wrap="square" anchor="ctr">
            <a:spAutoFit/>
          </a:bodyPr>
          <a:lstStyle/>
          <a:p>
            <a:pPr algn="l">
              <a:spcAft>
                <a:spcPts val="300"/>
              </a:spcAft>
            </a:pPr>
            <a:r>
              <a:rPr sz="1400" b="1">
                <a:solidFill>
                  <a:srgbClr val="7C3AED"/>
                </a:solidFill>
                <a:latin typeface="Arial"/>
              </a:rPr>
              <a:t>The target</a:t>
            </a:r>
          </a:p>
          <a:p>
            <a:pPr algn="l">
              <a:spcAft>
                <a:spcPts val="300"/>
              </a:spcAft>
            </a:pPr>
            <a:r>
              <a:rPr sz="1200" b="0">
                <a:solidFill>
                  <a:srgbClr val="161B26"/>
                </a:solidFill>
                <a:latin typeface="Arial"/>
              </a:rPr>
              <a:t>Ground-state energy — the quantity that drives chemistry.</a:t>
            </a:r>
          </a:p>
        </p:txBody>
      </p:sp>
      <p:sp>
        <p:nvSpPr>
          <p:cNvPr id="17" name="Rectangle 16"/>
          <p:cNvSpPr/>
          <p:nvPr/>
        </p:nvSpPr>
        <p:spPr>
          <a:xfrm>
            <a:off x="7452360" y="5143500"/>
            <a:ext cx="3959352" cy="937260"/>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8" name="Rectangle 17"/>
          <p:cNvSpPr/>
          <p:nvPr/>
        </p:nvSpPr>
        <p:spPr>
          <a:xfrm>
            <a:off x="7452360" y="5143500"/>
            <a:ext cx="82296" cy="937260"/>
          </a:xfrm>
          <a:prstGeom prst="rect">
            <a:avLst/>
          </a:prstGeom>
          <a:solidFill>
            <a:srgbClr val="F59E0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9" name="TextBox 18"/>
          <p:cNvSpPr txBox="1"/>
          <p:nvPr/>
        </p:nvSpPr>
        <p:spPr>
          <a:xfrm>
            <a:off x="7708392" y="5143500"/>
            <a:ext cx="3502152" cy="937260"/>
          </a:xfrm>
          <a:prstGeom prst="rect">
            <a:avLst/>
          </a:prstGeom>
          <a:noFill/>
        </p:spPr>
        <p:txBody>
          <a:bodyPr wrap="square" anchor="ctr">
            <a:spAutoFit/>
          </a:bodyPr>
          <a:lstStyle/>
          <a:p>
            <a:pPr algn="l">
              <a:spcAft>
                <a:spcPts val="300"/>
              </a:spcAft>
            </a:pPr>
            <a:r>
              <a:rPr sz="1400" b="1">
                <a:solidFill>
                  <a:srgbClr val="F59E0B"/>
                </a:solidFill>
                <a:latin typeface="Arial"/>
              </a:rPr>
              <a:t>The prize</a:t>
            </a:r>
          </a:p>
          <a:p>
            <a:pPr algn="l">
              <a:spcAft>
                <a:spcPts val="300"/>
              </a:spcAft>
            </a:pPr>
            <a:r>
              <a:rPr sz="1200" b="0">
                <a:solidFill>
                  <a:srgbClr val="161B26"/>
                </a:solidFill>
                <a:latin typeface="Arial"/>
              </a:rPr>
              <a:t>Catalysts, batteries and drug candidates simulated exactly.</a:t>
            </a:r>
          </a:p>
        </p:txBody>
      </p:sp>
      <p:sp>
        <p:nvSpPr>
          <p:cNvPr id="20" name="TextBox 19"/>
          <p:cNvSpPr txBox="1"/>
          <p:nvPr/>
        </p:nvSpPr>
        <p:spPr>
          <a:xfrm>
            <a:off x="365760" y="6446520"/>
            <a:ext cx="6858000" cy="320040"/>
          </a:xfrm>
          <a:prstGeom prst="rect">
            <a:avLst/>
          </a:prstGeom>
          <a:noFill/>
        </p:spPr>
        <p:txBody>
          <a:bodyPr wrap="square" anchor="t">
            <a:spAutoFit/>
          </a:bodyPr>
          <a:lstStyle/>
          <a:p>
            <a:pPr algn="l">
              <a:spcAft>
                <a:spcPts val="400"/>
              </a:spcAft>
            </a:pPr>
            <a:r>
              <a:rPr sz="900" b="0">
                <a:solidFill>
                  <a:srgbClr val="5B6372"/>
                </a:solidFill>
                <a:latin typeface="Arial"/>
              </a:rPr>
              <a:t>Securing the Future with Quantum Computing and Cryptography  ·  TGS-2024043419</a:t>
            </a:r>
          </a:p>
        </p:txBody>
      </p:sp>
      <p:sp>
        <p:nvSpPr>
          <p:cNvPr id="21" name="TextBox 20"/>
          <p:cNvSpPr txBox="1"/>
          <p:nvPr/>
        </p:nvSpPr>
        <p:spPr>
          <a:xfrm>
            <a:off x="4572000" y="6446520"/>
            <a:ext cx="3017520" cy="320040"/>
          </a:xfrm>
          <a:prstGeom prst="rect">
            <a:avLst/>
          </a:prstGeom>
          <a:noFill/>
        </p:spPr>
        <p:txBody>
          <a:bodyPr wrap="square" anchor="t">
            <a:spAutoFit/>
          </a:bodyPr>
          <a:lstStyle/>
          <a:p>
            <a:pPr algn="ctr">
              <a:spcAft>
                <a:spcPts val="400"/>
              </a:spcAft>
            </a:pPr>
            <a:r>
              <a:rPr sz="900" b="0">
                <a:solidFill>
                  <a:srgbClr val="5B6372"/>
                </a:solidFill>
                <a:latin typeface="Arial"/>
              </a:rPr>
              <a:t>© 2026 Tertiary Infotech Academy Pte Ltd</a:t>
            </a:r>
          </a:p>
        </p:txBody>
      </p:sp>
      <p:sp>
        <p:nvSpPr>
          <p:cNvPr id="22" name="TextBox 21"/>
          <p:cNvSpPr txBox="1"/>
          <p:nvPr/>
        </p:nvSpPr>
        <p:spPr>
          <a:xfrm>
            <a:off x="11338560" y="6446520"/>
            <a:ext cx="548640" cy="320040"/>
          </a:xfrm>
          <a:prstGeom prst="rect">
            <a:avLst/>
          </a:prstGeom>
          <a:noFill/>
        </p:spPr>
        <p:txBody>
          <a:bodyPr wrap="square" anchor="t">
            <a:spAutoFit/>
          </a:bodyPr>
          <a:lstStyle/>
          <a:p>
            <a:pPr algn="r">
              <a:spcAft>
                <a:spcPts val="400"/>
              </a:spcAft>
            </a:pPr>
            <a:r>
              <a:rPr sz="900" b="0">
                <a:solidFill>
                  <a:srgbClr val="5B6372"/>
                </a:solidFill>
                <a:latin typeface="Arial"/>
              </a:rPr>
              <a:t>219</a:t>
            </a:r>
          </a:p>
        </p:txBody>
      </p:sp>
    </p:spTree>
  </p:cSld>
  <p:clrMapOvr>
    <a:masterClrMapping/>
  </p:clrMapOvr>
</p:sld>
</file>

<file path=ppt/slides/slide221.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256032" cy="1417320"/>
          </a:xfrm>
          <a:prstGeom prst="rect">
            <a:avLst/>
          </a:prstGeom>
          <a:solidFill>
            <a:srgbClr val="F59E0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777240" y="457200"/>
            <a:ext cx="10607040" cy="365760"/>
          </a:xfrm>
          <a:prstGeom prst="rect">
            <a:avLst/>
          </a:prstGeom>
          <a:noFill/>
        </p:spPr>
        <p:txBody>
          <a:bodyPr wrap="square" anchor="t">
            <a:spAutoFit/>
          </a:bodyPr>
          <a:lstStyle/>
          <a:p>
            <a:pPr algn="l">
              <a:spcAft>
                <a:spcPts val="400"/>
              </a:spcAft>
            </a:pPr>
            <a:r>
              <a:rPr sz="1400" b="1">
                <a:solidFill>
                  <a:srgbClr val="F59E0B"/>
                </a:solidFill>
                <a:latin typeface="Arial"/>
              </a:rPr>
              <a:t>A PRACTICAL CHECKLIST FOR LO4</a:t>
            </a:r>
          </a:p>
        </p:txBody>
      </p:sp>
      <p:sp>
        <p:nvSpPr>
          <p:cNvPr id="5" name="TextBox 4"/>
          <p:cNvSpPr txBox="1"/>
          <p:nvPr/>
        </p:nvSpPr>
        <p:spPr>
          <a:xfrm>
            <a:off x="777240" y="822960"/>
            <a:ext cx="10881360" cy="822960"/>
          </a:xfrm>
          <a:prstGeom prst="rect">
            <a:avLst/>
          </a:prstGeom>
          <a:noFill/>
        </p:spPr>
        <p:txBody>
          <a:bodyPr wrap="square" anchor="t">
            <a:spAutoFit/>
          </a:bodyPr>
          <a:lstStyle/>
          <a:p>
            <a:pPr algn="l">
              <a:spcAft>
                <a:spcPts val="400"/>
              </a:spcAft>
            </a:pPr>
            <a:r>
              <a:rPr sz="2900" b="1">
                <a:solidFill>
                  <a:srgbClr val="161B26"/>
                </a:solidFill>
                <a:latin typeface="Arial"/>
              </a:rPr>
              <a:t>Assessing a Quantum Use Case</a:t>
            </a:r>
          </a:p>
        </p:txBody>
      </p:sp>
      <p:sp>
        <p:nvSpPr>
          <p:cNvPr id="6" name="Rectangle 5"/>
          <p:cNvSpPr/>
          <p:nvPr/>
        </p:nvSpPr>
        <p:spPr>
          <a:xfrm>
            <a:off x="777240" y="1554480"/>
            <a:ext cx="10634472" cy="18288"/>
          </a:xfrm>
          <a:prstGeom prst="rect">
            <a:avLst/>
          </a:prstGeom>
          <a:solidFill>
            <a:srgbClr val="E2E8F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Rectangle 6"/>
          <p:cNvSpPr/>
          <p:nvPr/>
        </p:nvSpPr>
        <p:spPr>
          <a:xfrm>
            <a:off x="777240" y="1783080"/>
            <a:ext cx="5180076" cy="1298448"/>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Rectangle 7"/>
          <p:cNvSpPr/>
          <p:nvPr/>
        </p:nvSpPr>
        <p:spPr>
          <a:xfrm>
            <a:off x="777240" y="1783080"/>
            <a:ext cx="91440" cy="1298448"/>
          </a:xfrm>
          <a:prstGeom prst="rect">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Oval 8"/>
          <p:cNvSpPr/>
          <p:nvPr/>
        </p:nvSpPr>
        <p:spPr>
          <a:xfrm>
            <a:off x="1033272" y="2157984"/>
            <a:ext cx="548640" cy="548640"/>
          </a:xfrm>
          <a:prstGeom prst="ellipse">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TextBox 9"/>
          <p:cNvSpPr txBox="1"/>
          <p:nvPr/>
        </p:nvSpPr>
        <p:spPr>
          <a:xfrm>
            <a:off x="1033272" y="2157984"/>
            <a:ext cx="548640" cy="548640"/>
          </a:xfrm>
          <a:prstGeom prst="rect">
            <a:avLst/>
          </a:prstGeom>
          <a:noFill/>
        </p:spPr>
        <p:txBody>
          <a:bodyPr wrap="square" anchor="ctr">
            <a:spAutoFit/>
          </a:bodyPr>
          <a:lstStyle/>
          <a:p>
            <a:pPr algn="ctr">
              <a:spcAft>
                <a:spcPts val="400"/>
              </a:spcAft>
            </a:pPr>
            <a:r>
              <a:rPr sz="1800" b="1">
                <a:solidFill>
                  <a:srgbClr val="FFFFFF"/>
                </a:solidFill>
                <a:latin typeface="Arial"/>
              </a:rPr>
              <a:t>1</a:t>
            </a:r>
          </a:p>
        </p:txBody>
      </p:sp>
      <p:sp>
        <p:nvSpPr>
          <p:cNvPr id="11" name="TextBox 10"/>
          <p:cNvSpPr txBox="1"/>
          <p:nvPr/>
        </p:nvSpPr>
        <p:spPr>
          <a:xfrm>
            <a:off x="1764792" y="1892808"/>
            <a:ext cx="3973068" cy="1115568"/>
          </a:xfrm>
          <a:prstGeom prst="rect">
            <a:avLst/>
          </a:prstGeom>
          <a:noFill/>
        </p:spPr>
        <p:txBody>
          <a:bodyPr wrap="square" anchor="ctr">
            <a:spAutoFit/>
          </a:bodyPr>
          <a:lstStyle/>
          <a:p>
            <a:pPr algn="l">
              <a:spcAft>
                <a:spcPts val="300"/>
              </a:spcAft>
            </a:pPr>
            <a:r>
              <a:rPr sz="1450" b="1">
                <a:solidFill>
                  <a:srgbClr val="161B26"/>
                </a:solidFill>
                <a:latin typeface="Arial"/>
              </a:rPr>
              <a:t>Does the problem have quantum structure?</a:t>
            </a:r>
          </a:p>
          <a:p>
            <a:pPr algn="l">
              <a:spcAft>
                <a:spcPts val="300"/>
              </a:spcAft>
            </a:pPr>
            <a:r>
              <a:rPr sz="1100" b="0">
                <a:solidFill>
                  <a:srgbClr val="5B6372"/>
                </a:solidFill>
                <a:latin typeface="Arial"/>
              </a:rPr>
              <a:t>Chemistry and optimisation map naturally; generic data processing does not.</a:t>
            </a:r>
          </a:p>
        </p:txBody>
      </p:sp>
      <p:sp>
        <p:nvSpPr>
          <p:cNvPr id="12" name="Rectangle 11"/>
          <p:cNvSpPr/>
          <p:nvPr/>
        </p:nvSpPr>
        <p:spPr>
          <a:xfrm>
            <a:off x="6231636" y="1783080"/>
            <a:ext cx="5180076" cy="1298448"/>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 name="Rectangle 12"/>
          <p:cNvSpPr/>
          <p:nvPr/>
        </p:nvSpPr>
        <p:spPr>
          <a:xfrm>
            <a:off x="6231636" y="1783080"/>
            <a:ext cx="91440" cy="1298448"/>
          </a:xfrm>
          <a:prstGeom prst="rect">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 name="Oval 13"/>
          <p:cNvSpPr/>
          <p:nvPr/>
        </p:nvSpPr>
        <p:spPr>
          <a:xfrm>
            <a:off x="6487668" y="2157984"/>
            <a:ext cx="548640" cy="548640"/>
          </a:xfrm>
          <a:prstGeom prst="ellipse">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5" name="TextBox 14"/>
          <p:cNvSpPr txBox="1"/>
          <p:nvPr/>
        </p:nvSpPr>
        <p:spPr>
          <a:xfrm>
            <a:off x="6487668" y="2157984"/>
            <a:ext cx="548640" cy="548640"/>
          </a:xfrm>
          <a:prstGeom prst="rect">
            <a:avLst/>
          </a:prstGeom>
          <a:noFill/>
        </p:spPr>
        <p:txBody>
          <a:bodyPr wrap="square" anchor="ctr">
            <a:spAutoFit/>
          </a:bodyPr>
          <a:lstStyle/>
          <a:p>
            <a:pPr algn="ctr">
              <a:spcAft>
                <a:spcPts val="400"/>
              </a:spcAft>
            </a:pPr>
            <a:r>
              <a:rPr sz="1800" b="1">
                <a:solidFill>
                  <a:srgbClr val="FFFFFF"/>
                </a:solidFill>
                <a:latin typeface="Arial"/>
              </a:rPr>
              <a:t>2</a:t>
            </a:r>
          </a:p>
        </p:txBody>
      </p:sp>
      <p:sp>
        <p:nvSpPr>
          <p:cNvPr id="16" name="TextBox 15"/>
          <p:cNvSpPr txBox="1"/>
          <p:nvPr/>
        </p:nvSpPr>
        <p:spPr>
          <a:xfrm>
            <a:off x="7219188" y="1892808"/>
            <a:ext cx="3973068" cy="1115568"/>
          </a:xfrm>
          <a:prstGeom prst="rect">
            <a:avLst/>
          </a:prstGeom>
          <a:noFill/>
        </p:spPr>
        <p:txBody>
          <a:bodyPr wrap="square" anchor="ctr">
            <a:spAutoFit/>
          </a:bodyPr>
          <a:lstStyle/>
          <a:p>
            <a:pPr algn="l">
              <a:spcAft>
                <a:spcPts val="300"/>
              </a:spcAft>
            </a:pPr>
            <a:r>
              <a:rPr sz="1450" b="1">
                <a:solidFill>
                  <a:srgbClr val="161B26"/>
                </a:solidFill>
                <a:latin typeface="Arial"/>
              </a:rPr>
              <a:t>How big is the data?</a:t>
            </a:r>
          </a:p>
          <a:p>
            <a:pPr algn="l">
              <a:spcAft>
                <a:spcPts val="300"/>
              </a:spcAft>
            </a:pPr>
            <a:r>
              <a:rPr sz="1100" b="0">
                <a:solidFill>
                  <a:srgbClr val="5B6372"/>
                </a:solidFill>
                <a:latin typeface="Arial"/>
              </a:rPr>
              <a:t>Loading large classical datasets into a quantum computer is itself a bottleneck.</a:t>
            </a:r>
          </a:p>
        </p:txBody>
      </p:sp>
      <p:sp>
        <p:nvSpPr>
          <p:cNvPr id="17" name="Rectangle 16"/>
          <p:cNvSpPr/>
          <p:nvPr/>
        </p:nvSpPr>
        <p:spPr>
          <a:xfrm>
            <a:off x="777240" y="3319272"/>
            <a:ext cx="5180076" cy="1298448"/>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8" name="Rectangle 17"/>
          <p:cNvSpPr/>
          <p:nvPr/>
        </p:nvSpPr>
        <p:spPr>
          <a:xfrm>
            <a:off x="777240" y="3319272"/>
            <a:ext cx="91440" cy="1298448"/>
          </a:xfrm>
          <a:prstGeom prst="rect">
            <a:avLst/>
          </a:prstGeom>
          <a:solidFill>
            <a:srgbClr val="7C3AE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9" name="Oval 18"/>
          <p:cNvSpPr/>
          <p:nvPr/>
        </p:nvSpPr>
        <p:spPr>
          <a:xfrm>
            <a:off x="1033272" y="3694176"/>
            <a:ext cx="548640" cy="548640"/>
          </a:xfrm>
          <a:prstGeom prst="ellipse">
            <a:avLst/>
          </a:prstGeom>
          <a:solidFill>
            <a:srgbClr val="7C3AE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0" name="TextBox 19"/>
          <p:cNvSpPr txBox="1"/>
          <p:nvPr/>
        </p:nvSpPr>
        <p:spPr>
          <a:xfrm>
            <a:off x="1033272" y="3694176"/>
            <a:ext cx="548640" cy="548640"/>
          </a:xfrm>
          <a:prstGeom prst="rect">
            <a:avLst/>
          </a:prstGeom>
          <a:noFill/>
        </p:spPr>
        <p:txBody>
          <a:bodyPr wrap="square" anchor="ctr">
            <a:spAutoFit/>
          </a:bodyPr>
          <a:lstStyle/>
          <a:p>
            <a:pPr algn="ctr">
              <a:spcAft>
                <a:spcPts val="400"/>
              </a:spcAft>
            </a:pPr>
            <a:r>
              <a:rPr sz="1800" b="1">
                <a:solidFill>
                  <a:srgbClr val="FFFFFF"/>
                </a:solidFill>
                <a:latin typeface="Arial"/>
              </a:rPr>
              <a:t>3</a:t>
            </a:r>
          </a:p>
        </p:txBody>
      </p:sp>
      <p:sp>
        <p:nvSpPr>
          <p:cNvPr id="21" name="TextBox 20"/>
          <p:cNvSpPr txBox="1"/>
          <p:nvPr/>
        </p:nvSpPr>
        <p:spPr>
          <a:xfrm>
            <a:off x="1764792" y="3429000"/>
            <a:ext cx="3973068" cy="1115568"/>
          </a:xfrm>
          <a:prstGeom prst="rect">
            <a:avLst/>
          </a:prstGeom>
          <a:noFill/>
        </p:spPr>
        <p:txBody>
          <a:bodyPr wrap="square" anchor="ctr">
            <a:spAutoFit/>
          </a:bodyPr>
          <a:lstStyle/>
          <a:p>
            <a:pPr algn="l">
              <a:spcAft>
                <a:spcPts val="300"/>
              </a:spcAft>
            </a:pPr>
            <a:r>
              <a:rPr sz="1450" b="1">
                <a:solidFill>
                  <a:srgbClr val="161B26"/>
                </a:solidFill>
                <a:latin typeface="Arial"/>
              </a:rPr>
              <a:t>What qubit count is needed?</a:t>
            </a:r>
          </a:p>
          <a:p>
            <a:pPr algn="l">
              <a:spcAft>
                <a:spcPts val="300"/>
              </a:spcAft>
            </a:pPr>
            <a:r>
              <a:rPr sz="1100" b="0">
                <a:solidFill>
                  <a:srgbClr val="5B6372"/>
                </a:solidFill>
                <a:latin typeface="Arial"/>
              </a:rPr>
              <a:t>Estimate logical qubits, then multiply for error-correction overhead.</a:t>
            </a:r>
          </a:p>
        </p:txBody>
      </p:sp>
      <p:sp>
        <p:nvSpPr>
          <p:cNvPr id="22" name="Rectangle 21"/>
          <p:cNvSpPr/>
          <p:nvPr/>
        </p:nvSpPr>
        <p:spPr>
          <a:xfrm>
            <a:off x="6231636" y="3319272"/>
            <a:ext cx="5180076" cy="1298448"/>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3" name="Rectangle 22"/>
          <p:cNvSpPr/>
          <p:nvPr/>
        </p:nvSpPr>
        <p:spPr>
          <a:xfrm>
            <a:off x="6231636" y="3319272"/>
            <a:ext cx="91440" cy="1298448"/>
          </a:xfrm>
          <a:prstGeom prst="rect">
            <a:avLst/>
          </a:prstGeom>
          <a:solidFill>
            <a:srgbClr val="F59E0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4" name="Oval 23"/>
          <p:cNvSpPr/>
          <p:nvPr/>
        </p:nvSpPr>
        <p:spPr>
          <a:xfrm>
            <a:off x="6487668" y="3694176"/>
            <a:ext cx="548640" cy="548640"/>
          </a:xfrm>
          <a:prstGeom prst="ellipse">
            <a:avLst/>
          </a:prstGeom>
          <a:solidFill>
            <a:srgbClr val="F59E0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5" name="TextBox 24"/>
          <p:cNvSpPr txBox="1"/>
          <p:nvPr/>
        </p:nvSpPr>
        <p:spPr>
          <a:xfrm>
            <a:off x="6487668" y="3694176"/>
            <a:ext cx="548640" cy="548640"/>
          </a:xfrm>
          <a:prstGeom prst="rect">
            <a:avLst/>
          </a:prstGeom>
          <a:noFill/>
        </p:spPr>
        <p:txBody>
          <a:bodyPr wrap="square" anchor="ctr">
            <a:spAutoFit/>
          </a:bodyPr>
          <a:lstStyle/>
          <a:p>
            <a:pPr algn="ctr">
              <a:spcAft>
                <a:spcPts val="400"/>
              </a:spcAft>
            </a:pPr>
            <a:r>
              <a:rPr sz="1800" b="1">
                <a:solidFill>
                  <a:srgbClr val="FFFFFF"/>
                </a:solidFill>
                <a:latin typeface="Arial"/>
              </a:rPr>
              <a:t>4</a:t>
            </a:r>
          </a:p>
        </p:txBody>
      </p:sp>
      <p:sp>
        <p:nvSpPr>
          <p:cNvPr id="26" name="TextBox 25"/>
          <p:cNvSpPr txBox="1"/>
          <p:nvPr/>
        </p:nvSpPr>
        <p:spPr>
          <a:xfrm>
            <a:off x="7219188" y="3429000"/>
            <a:ext cx="3973068" cy="1115568"/>
          </a:xfrm>
          <a:prstGeom prst="rect">
            <a:avLst/>
          </a:prstGeom>
          <a:noFill/>
        </p:spPr>
        <p:txBody>
          <a:bodyPr wrap="square" anchor="ctr">
            <a:spAutoFit/>
          </a:bodyPr>
          <a:lstStyle/>
          <a:p>
            <a:pPr algn="l">
              <a:spcAft>
                <a:spcPts val="300"/>
              </a:spcAft>
            </a:pPr>
            <a:r>
              <a:rPr sz="1450" b="1">
                <a:solidFill>
                  <a:srgbClr val="161B26"/>
                </a:solidFill>
                <a:latin typeface="Arial"/>
              </a:rPr>
              <a:t>Is there a good classical method?</a:t>
            </a:r>
          </a:p>
          <a:p>
            <a:pPr algn="l">
              <a:spcAft>
                <a:spcPts val="300"/>
              </a:spcAft>
            </a:pPr>
            <a:r>
              <a:rPr sz="1100" b="0">
                <a:solidFill>
                  <a:srgbClr val="5B6372"/>
                </a:solidFill>
                <a:latin typeface="Arial"/>
              </a:rPr>
              <a:t>If a classical heuristic already solves it well, quantum adds nothing.</a:t>
            </a:r>
          </a:p>
        </p:txBody>
      </p:sp>
      <p:sp>
        <p:nvSpPr>
          <p:cNvPr id="27" name="Rectangle 26"/>
          <p:cNvSpPr/>
          <p:nvPr/>
        </p:nvSpPr>
        <p:spPr>
          <a:xfrm>
            <a:off x="777240" y="4855464"/>
            <a:ext cx="5180076" cy="1298448"/>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8" name="Rectangle 27"/>
          <p:cNvSpPr/>
          <p:nvPr/>
        </p:nvSpPr>
        <p:spPr>
          <a:xfrm>
            <a:off x="777240" y="4855464"/>
            <a:ext cx="91440" cy="1298448"/>
          </a:xfrm>
          <a:prstGeom prst="rect">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9" name="Oval 28"/>
          <p:cNvSpPr/>
          <p:nvPr/>
        </p:nvSpPr>
        <p:spPr>
          <a:xfrm>
            <a:off x="1033272" y="5230368"/>
            <a:ext cx="548640" cy="548640"/>
          </a:xfrm>
          <a:prstGeom prst="ellipse">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0" name="TextBox 29"/>
          <p:cNvSpPr txBox="1"/>
          <p:nvPr/>
        </p:nvSpPr>
        <p:spPr>
          <a:xfrm>
            <a:off x="1033272" y="5230368"/>
            <a:ext cx="548640" cy="548640"/>
          </a:xfrm>
          <a:prstGeom prst="rect">
            <a:avLst/>
          </a:prstGeom>
          <a:noFill/>
        </p:spPr>
        <p:txBody>
          <a:bodyPr wrap="square" anchor="ctr">
            <a:spAutoFit/>
          </a:bodyPr>
          <a:lstStyle/>
          <a:p>
            <a:pPr algn="ctr">
              <a:spcAft>
                <a:spcPts val="400"/>
              </a:spcAft>
            </a:pPr>
            <a:r>
              <a:rPr sz="1800" b="1">
                <a:solidFill>
                  <a:srgbClr val="FFFFFF"/>
                </a:solidFill>
                <a:latin typeface="Arial"/>
              </a:rPr>
              <a:t>5</a:t>
            </a:r>
          </a:p>
        </p:txBody>
      </p:sp>
      <p:sp>
        <p:nvSpPr>
          <p:cNvPr id="31" name="TextBox 30"/>
          <p:cNvSpPr txBox="1"/>
          <p:nvPr/>
        </p:nvSpPr>
        <p:spPr>
          <a:xfrm>
            <a:off x="1764792" y="4965192"/>
            <a:ext cx="3973068" cy="1115568"/>
          </a:xfrm>
          <a:prstGeom prst="rect">
            <a:avLst/>
          </a:prstGeom>
          <a:noFill/>
        </p:spPr>
        <p:txBody>
          <a:bodyPr wrap="square" anchor="ctr">
            <a:spAutoFit/>
          </a:bodyPr>
          <a:lstStyle/>
          <a:p>
            <a:pPr algn="l">
              <a:spcAft>
                <a:spcPts val="300"/>
              </a:spcAft>
            </a:pPr>
            <a:r>
              <a:rPr sz="1450" b="1">
                <a:solidFill>
                  <a:srgbClr val="161B26"/>
                </a:solidFill>
                <a:latin typeface="Arial"/>
              </a:rPr>
              <a:t>What is the time horizon?</a:t>
            </a:r>
          </a:p>
          <a:p>
            <a:pPr algn="l">
              <a:spcAft>
                <a:spcPts val="300"/>
              </a:spcAft>
            </a:pPr>
            <a:r>
              <a:rPr sz="1100" b="0">
                <a:solidFill>
                  <a:srgbClr val="5B6372"/>
                </a:solidFill>
                <a:latin typeface="Arial"/>
              </a:rPr>
              <a:t>NISQ demos today; fault-tolerant advantage is a 2030s proposition.</a:t>
            </a:r>
          </a:p>
        </p:txBody>
      </p:sp>
      <p:sp>
        <p:nvSpPr>
          <p:cNvPr id="32" name="Rectangle 31"/>
          <p:cNvSpPr/>
          <p:nvPr/>
        </p:nvSpPr>
        <p:spPr>
          <a:xfrm>
            <a:off x="6231636" y="4855464"/>
            <a:ext cx="5180076" cy="1298448"/>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3" name="Rectangle 32"/>
          <p:cNvSpPr/>
          <p:nvPr/>
        </p:nvSpPr>
        <p:spPr>
          <a:xfrm>
            <a:off x="6231636" y="4855464"/>
            <a:ext cx="91440" cy="1298448"/>
          </a:xfrm>
          <a:prstGeom prst="rect">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4" name="Oval 33"/>
          <p:cNvSpPr/>
          <p:nvPr/>
        </p:nvSpPr>
        <p:spPr>
          <a:xfrm>
            <a:off x="6487668" y="5230368"/>
            <a:ext cx="548640" cy="548640"/>
          </a:xfrm>
          <a:prstGeom prst="ellipse">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5" name="TextBox 34"/>
          <p:cNvSpPr txBox="1"/>
          <p:nvPr/>
        </p:nvSpPr>
        <p:spPr>
          <a:xfrm>
            <a:off x="6487668" y="5230368"/>
            <a:ext cx="548640" cy="548640"/>
          </a:xfrm>
          <a:prstGeom prst="rect">
            <a:avLst/>
          </a:prstGeom>
          <a:noFill/>
        </p:spPr>
        <p:txBody>
          <a:bodyPr wrap="square" anchor="ctr">
            <a:spAutoFit/>
          </a:bodyPr>
          <a:lstStyle/>
          <a:p>
            <a:pPr algn="ctr">
              <a:spcAft>
                <a:spcPts val="400"/>
              </a:spcAft>
            </a:pPr>
            <a:r>
              <a:rPr sz="1800" b="1">
                <a:solidFill>
                  <a:srgbClr val="FFFFFF"/>
                </a:solidFill>
                <a:latin typeface="Arial"/>
              </a:rPr>
              <a:t>6</a:t>
            </a:r>
          </a:p>
        </p:txBody>
      </p:sp>
      <p:sp>
        <p:nvSpPr>
          <p:cNvPr id="36" name="TextBox 35"/>
          <p:cNvSpPr txBox="1"/>
          <p:nvPr/>
        </p:nvSpPr>
        <p:spPr>
          <a:xfrm>
            <a:off x="7219188" y="4965192"/>
            <a:ext cx="3973068" cy="1115568"/>
          </a:xfrm>
          <a:prstGeom prst="rect">
            <a:avLst/>
          </a:prstGeom>
          <a:noFill/>
        </p:spPr>
        <p:txBody>
          <a:bodyPr wrap="square" anchor="ctr">
            <a:spAutoFit/>
          </a:bodyPr>
          <a:lstStyle/>
          <a:p>
            <a:pPr algn="l">
              <a:spcAft>
                <a:spcPts val="300"/>
              </a:spcAft>
            </a:pPr>
            <a:r>
              <a:rPr sz="1450" b="1">
                <a:solidFill>
                  <a:srgbClr val="161B26"/>
                </a:solidFill>
                <a:latin typeface="Arial"/>
              </a:rPr>
              <a:t>What is the cost of waiting?</a:t>
            </a:r>
          </a:p>
          <a:p>
            <a:pPr algn="l">
              <a:spcAft>
                <a:spcPts val="300"/>
              </a:spcAft>
            </a:pPr>
            <a:r>
              <a:rPr sz="1100" b="0">
                <a:solidFill>
                  <a:srgbClr val="5B6372"/>
                </a:solidFill>
                <a:latin typeface="Arial"/>
              </a:rPr>
              <a:t>For cryptography the answer is high — migrate now.</a:t>
            </a:r>
          </a:p>
        </p:txBody>
      </p:sp>
      <p:sp>
        <p:nvSpPr>
          <p:cNvPr id="37" name="TextBox 36"/>
          <p:cNvSpPr txBox="1"/>
          <p:nvPr/>
        </p:nvSpPr>
        <p:spPr>
          <a:xfrm>
            <a:off x="365760" y="6446520"/>
            <a:ext cx="6858000" cy="320040"/>
          </a:xfrm>
          <a:prstGeom prst="rect">
            <a:avLst/>
          </a:prstGeom>
          <a:noFill/>
        </p:spPr>
        <p:txBody>
          <a:bodyPr wrap="square" anchor="t">
            <a:spAutoFit/>
          </a:bodyPr>
          <a:lstStyle/>
          <a:p>
            <a:pPr algn="l">
              <a:spcAft>
                <a:spcPts val="400"/>
              </a:spcAft>
            </a:pPr>
            <a:r>
              <a:rPr sz="900" b="0">
                <a:solidFill>
                  <a:srgbClr val="5B6372"/>
                </a:solidFill>
                <a:latin typeface="Arial"/>
              </a:rPr>
              <a:t>Securing the Future with Quantum Computing and Cryptography  ·  TGS-2024043419</a:t>
            </a:r>
          </a:p>
        </p:txBody>
      </p:sp>
      <p:sp>
        <p:nvSpPr>
          <p:cNvPr id="38" name="TextBox 37"/>
          <p:cNvSpPr txBox="1"/>
          <p:nvPr/>
        </p:nvSpPr>
        <p:spPr>
          <a:xfrm>
            <a:off x="4572000" y="6446520"/>
            <a:ext cx="3017520" cy="320040"/>
          </a:xfrm>
          <a:prstGeom prst="rect">
            <a:avLst/>
          </a:prstGeom>
          <a:noFill/>
        </p:spPr>
        <p:txBody>
          <a:bodyPr wrap="square" anchor="t">
            <a:spAutoFit/>
          </a:bodyPr>
          <a:lstStyle/>
          <a:p>
            <a:pPr algn="ctr">
              <a:spcAft>
                <a:spcPts val="400"/>
              </a:spcAft>
            </a:pPr>
            <a:r>
              <a:rPr sz="900" b="0">
                <a:solidFill>
                  <a:srgbClr val="5B6372"/>
                </a:solidFill>
                <a:latin typeface="Arial"/>
              </a:rPr>
              <a:t>© 2026 Tertiary Infotech Academy Pte Ltd</a:t>
            </a:r>
          </a:p>
        </p:txBody>
      </p:sp>
      <p:sp>
        <p:nvSpPr>
          <p:cNvPr id="39" name="TextBox 38"/>
          <p:cNvSpPr txBox="1"/>
          <p:nvPr/>
        </p:nvSpPr>
        <p:spPr>
          <a:xfrm>
            <a:off x="11338560" y="6446520"/>
            <a:ext cx="548640" cy="320040"/>
          </a:xfrm>
          <a:prstGeom prst="rect">
            <a:avLst/>
          </a:prstGeom>
          <a:noFill/>
        </p:spPr>
        <p:txBody>
          <a:bodyPr wrap="square" anchor="t">
            <a:spAutoFit/>
          </a:bodyPr>
          <a:lstStyle/>
          <a:p>
            <a:pPr algn="r">
              <a:spcAft>
                <a:spcPts val="400"/>
              </a:spcAft>
            </a:pPr>
            <a:r>
              <a:rPr sz="900" b="0">
                <a:solidFill>
                  <a:srgbClr val="5B6372"/>
                </a:solidFill>
                <a:latin typeface="Arial"/>
              </a:rPr>
              <a:t>220</a:t>
            </a:r>
          </a:p>
        </p:txBody>
      </p:sp>
    </p:spTree>
  </p:cSld>
  <p:clrMapOvr>
    <a:masterClrMapping/>
  </p:clrMapOvr>
</p:sld>
</file>

<file path=ppt/slides/slide222.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256032" cy="1417320"/>
          </a:xfrm>
          <a:prstGeom prst="rect">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777240" y="457200"/>
            <a:ext cx="10607040" cy="365760"/>
          </a:xfrm>
          <a:prstGeom prst="rect">
            <a:avLst/>
          </a:prstGeom>
          <a:noFill/>
        </p:spPr>
        <p:txBody>
          <a:bodyPr wrap="square" anchor="t">
            <a:spAutoFit/>
          </a:bodyPr>
          <a:lstStyle/>
          <a:p>
            <a:pPr algn="l">
              <a:spcAft>
                <a:spcPts val="400"/>
              </a:spcAft>
            </a:pPr>
            <a:r>
              <a:rPr sz="1400" b="1">
                <a:solidFill>
                  <a:srgbClr val="1F6FEB"/>
                </a:solidFill>
                <a:latin typeface="Arial"/>
              </a:rPr>
              <a:t>WHERE THE TWO TECHNOLOGIES MEET</a:t>
            </a:r>
          </a:p>
        </p:txBody>
      </p:sp>
      <p:sp>
        <p:nvSpPr>
          <p:cNvPr id="5" name="TextBox 4"/>
          <p:cNvSpPr txBox="1"/>
          <p:nvPr/>
        </p:nvSpPr>
        <p:spPr>
          <a:xfrm>
            <a:off x="777240" y="822960"/>
            <a:ext cx="10881360" cy="822960"/>
          </a:xfrm>
          <a:prstGeom prst="rect">
            <a:avLst/>
          </a:prstGeom>
          <a:noFill/>
        </p:spPr>
        <p:txBody>
          <a:bodyPr wrap="square" anchor="t">
            <a:spAutoFit/>
          </a:bodyPr>
          <a:lstStyle/>
          <a:p>
            <a:pPr algn="l">
              <a:spcAft>
                <a:spcPts val="400"/>
              </a:spcAft>
            </a:pPr>
            <a:r>
              <a:rPr sz="2900" b="1">
                <a:solidFill>
                  <a:srgbClr val="161B26"/>
                </a:solidFill>
                <a:latin typeface="Arial"/>
              </a:rPr>
              <a:t>Four distinct intersections</a:t>
            </a:r>
          </a:p>
        </p:txBody>
      </p:sp>
      <p:sp>
        <p:nvSpPr>
          <p:cNvPr id="6" name="Rectangle 5"/>
          <p:cNvSpPr/>
          <p:nvPr/>
        </p:nvSpPr>
        <p:spPr>
          <a:xfrm>
            <a:off x="777240" y="1554480"/>
            <a:ext cx="10634472" cy="18288"/>
          </a:xfrm>
          <a:prstGeom prst="rect">
            <a:avLst/>
          </a:prstGeom>
          <a:solidFill>
            <a:srgbClr val="E2E8F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Rectangle 6"/>
          <p:cNvSpPr/>
          <p:nvPr/>
        </p:nvSpPr>
        <p:spPr>
          <a:xfrm>
            <a:off x="777240" y="1810512"/>
            <a:ext cx="10634472" cy="2601468"/>
          </a:xfrm>
          <a:prstGeom prst="rect">
            <a:avLst/>
          </a:prstGeom>
          <a:solidFill>
            <a:srgbClr val="0B122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TextBox 7"/>
          <p:cNvSpPr txBox="1"/>
          <p:nvPr/>
        </p:nvSpPr>
        <p:spPr>
          <a:xfrm>
            <a:off x="1097280" y="1956816"/>
            <a:ext cx="9994392" cy="2308860"/>
          </a:xfrm>
          <a:prstGeom prst="rect">
            <a:avLst/>
          </a:prstGeom>
          <a:noFill/>
        </p:spPr>
        <p:txBody>
          <a:bodyPr wrap="square" anchor="t">
            <a:spAutoFit/>
          </a:bodyPr>
          <a:lstStyle/>
          <a:p>
            <a:pPr algn="l">
              <a:spcAft>
                <a:spcPts val="300"/>
              </a:spcAft>
            </a:pPr>
            <a:r>
              <a:rPr sz="1500" b="0">
                <a:solidFill>
                  <a:srgbClr val="9CDCFE"/>
                </a:solidFill>
                <a:latin typeface="Arial"/>
              </a:rPr>
              <a:t>   1. QUANTUM FOR AI    — quantum algorithms to speed up machine learning</a:t>
            </a:r>
          </a:p>
          <a:p>
            <a:pPr algn="l">
              <a:spcAft>
                <a:spcPts val="300"/>
              </a:spcAft>
            </a:pPr>
            <a:r>
              <a:rPr sz="1500" b="0">
                <a:solidFill>
                  <a:srgbClr val="9CDCFE"/>
                </a:solidFill>
                <a:latin typeface="Arial"/>
              </a:rPr>
              <a:t>   2. AI FOR QUANTUM    — machine learning to make quantum computers work</a:t>
            </a:r>
          </a:p>
          <a:p>
            <a:pPr algn="l">
              <a:spcAft>
                <a:spcPts val="300"/>
              </a:spcAft>
            </a:pPr>
            <a:r>
              <a:rPr sz="1500" b="0">
                <a:solidFill>
                  <a:srgbClr val="9CDCFE"/>
                </a:solidFill>
                <a:latin typeface="Arial"/>
              </a:rPr>
              <a:t>   3. QUANTUM-INSPIRED  — classical algorithms borrowed from quantum ideas</a:t>
            </a:r>
          </a:p>
          <a:p>
            <a:pPr algn="l">
              <a:spcAft>
                <a:spcPts val="300"/>
              </a:spcAft>
            </a:pPr>
            <a:r>
              <a:rPr sz="1500" b="0">
                <a:solidFill>
                  <a:srgbClr val="9CDCFE"/>
                </a:solidFill>
                <a:latin typeface="Arial"/>
              </a:rPr>
              <a:t>   4. SHARED INFRASTRUCTURE — hybrid classical/quantum/GPU pipelines</a:t>
            </a:r>
          </a:p>
          <a:p>
            <a:pPr algn="l">
              <a:spcAft>
                <a:spcPts val="300"/>
              </a:spcAft>
            </a:pPr>
            <a:r>
              <a:rPr sz="1500" b="0">
                <a:solidFill>
                  <a:srgbClr val="0B1220"/>
                </a:solidFill>
                <a:latin typeface="Arial"/>
              </a:rPr>
              <a:t> </a:t>
            </a:r>
          </a:p>
          <a:p>
            <a:pPr algn="l">
              <a:spcAft>
                <a:spcPts val="300"/>
              </a:spcAft>
            </a:pPr>
            <a:r>
              <a:rPr sz="1500" b="0">
                <a:solidFill>
                  <a:srgbClr val="9CDCFE"/>
                </a:solidFill>
                <a:latin typeface="Arial"/>
              </a:rPr>
              <a:t>Intersection 2 is where the REAL commercial value sits today —</a:t>
            </a:r>
          </a:p>
          <a:p>
            <a:pPr algn="l">
              <a:spcAft>
                <a:spcPts val="300"/>
              </a:spcAft>
            </a:pPr>
            <a:r>
              <a:rPr sz="1500" b="0">
                <a:solidFill>
                  <a:srgbClr val="9CDCFE"/>
                </a:solidFill>
                <a:latin typeface="Arial"/>
              </a:rPr>
              <a:t>which is the reverse of what most headlines suggest.</a:t>
            </a:r>
          </a:p>
        </p:txBody>
      </p:sp>
      <p:sp>
        <p:nvSpPr>
          <p:cNvPr id="9" name="Rectangle 8"/>
          <p:cNvSpPr/>
          <p:nvPr/>
        </p:nvSpPr>
        <p:spPr>
          <a:xfrm>
            <a:off x="777240" y="4613148"/>
            <a:ext cx="10634472" cy="1440180"/>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Rectangle 9"/>
          <p:cNvSpPr/>
          <p:nvPr/>
        </p:nvSpPr>
        <p:spPr>
          <a:xfrm>
            <a:off x="777240" y="4613148"/>
            <a:ext cx="82296" cy="1440180"/>
          </a:xfrm>
          <a:prstGeom prst="rect">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 name="TextBox 10"/>
          <p:cNvSpPr txBox="1"/>
          <p:nvPr/>
        </p:nvSpPr>
        <p:spPr>
          <a:xfrm>
            <a:off x="1097280" y="4613148"/>
            <a:ext cx="10149840" cy="1440180"/>
          </a:xfrm>
          <a:prstGeom prst="rect">
            <a:avLst/>
          </a:prstGeom>
          <a:noFill/>
        </p:spPr>
        <p:txBody>
          <a:bodyPr wrap="square" anchor="ctr">
            <a:spAutoFit/>
          </a:bodyPr>
          <a:lstStyle/>
          <a:p>
            <a:pPr algn="l">
              <a:spcAft>
                <a:spcPts val="400"/>
              </a:spcAft>
            </a:pPr>
            <a:r>
              <a:rPr sz="1150" b="1">
                <a:solidFill>
                  <a:srgbClr val="10B981"/>
                </a:solidFill>
                <a:latin typeface="Arial"/>
              </a:rPr>
              <a:t>KEY POINT:  </a:t>
            </a:r>
            <a:r>
              <a:rPr sz="1300" b="0">
                <a:solidFill>
                  <a:srgbClr val="161B26"/>
                </a:solidFill>
                <a:latin typeface="Arial"/>
              </a:rPr>
              <a:t>Be precise about which intersection is being discussed; they have completely different maturity levels.</a:t>
            </a:r>
          </a:p>
        </p:txBody>
      </p:sp>
      <p:sp>
        <p:nvSpPr>
          <p:cNvPr id="12" name="TextBox 11"/>
          <p:cNvSpPr txBox="1"/>
          <p:nvPr/>
        </p:nvSpPr>
        <p:spPr>
          <a:xfrm>
            <a:off x="365760" y="6446520"/>
            <a:ext cx="6858000" cy="320040"/>
          </a:xfrm>
          <a:prstGeom prst="rect">
            <a:avLst/>
          </a:prstGeom>
          <a:noFill/>
        </p:spPr>
        <p:txBody>
          <a:bodyPr wrap="square" anchor="t">
            <a:spAutoFit/>
          </a:bodyPr>
          <a:lstStyle/>
          <a:p>
            <a:pPr algn="l">
              <a:spcAft>
                <a:spcPts val="400"/>
              </a:spcAft>
            </a:pPr>
            <a:r>
              <a:rPr sz="900" b="0">
                <a:solidFill>
                  <a:srgbClr val="5B6372"/>
                </a:solidFill>
                <a:latin typeface="Arial"/>
              </a:rPr>
              <a:t>Securing the Future with Quantum Computing and Cryptography  ·  TGS-2024043419</a:t>
            </a:r>
          </a:p>
        </p:txBody>
      </p:sp>
      <p:sp>
        <p:nvSpPr>
          <p:cNvPr id="13" name="TextBox 12"/>
          <p:cNvSpPr txBox="1"/>
          <p:nvPr/>
        </p:nvSpPr>
        <p:spPr>
          <a:xfrm>
            <a:off x="4572000" y="6446520"/>
            <a:ext cx="3017520" cy="320040"/>
          </a:xfrm>
          <a:prstGeom prst="rect">
            <a:avLst/>
          </a:prstGeom>
          <a:noFill/>
        </p:spPr>
        <p:txBody>
          <a:bodyPr wrap="square" anchor="t">
            <a:spAutoFit/>
          </a:bodyPr>
          <a:lstStyle/>
          <a:p>
            <a:pPr algn="ctr">
              <a:spcAft>
                <a:spcPts val="400"/>
              </a:spcAft>
            </a:pPr>
            <a:r>
              <a:rPr sz="900" b="0">
                <a:solidFill>
                  <a:srgbClr val="5B6372"/>
                </a:solidFill>
                <a:latin typeface="Arial"/>
              </a:rPr>
              <a:t>© 2026 Tertiary Infotech Academy Pte Ltd</a:t>
            </a:r>
          </a:p>
        </p:txBody>
      </p:sp>
      <p:sp>
        <p:nvSpPr>
          <p:cNvPr id="14" name="TextBox 13"/>
          <p:cNvSpPr txBox="1"/>
          <p:nvPr/>
        </p:nvSpPr>
        <p:spPr>
          <a:xfrm>
            <a:off x="11338560" y="6446520"/>
            <a:ext cx="548640" cy="320040"/>
          </a:xfrm>
          <a:prstGeom prst="rect">
            <a:avLst/>
          </a:prstGeom>
          <a:noFill/>
        </p:spPr>
        <p:txBody>
          <a:bodyPr wrap="square" anchor="t">
            <a:spAutoFit/>
          </a:bodyPr>
          <a:lstStyle/>
          <a:p>
            <a:pPr algn="r">
              <a:spcAft>
                <a:spcPts val="400"/>
              </a:spcAft>
            </a:pPr>
            <a:r>
              <a:rPr sz="900" b="0">
                <a:solidFill>
                  <a:srgbClr val="5B6372"/>
                </a:solidFill>
                <a:latin typeface="Arial"/>
              </a:rPr>
              <a:t>221</a:t>
            </a:r>
          </a:p>
        </p:txBody>
      </p:sp>
    </p:spTree>
  </p:cSld>
  <p:clrMapOvr>
    <a:masterClrMapping/>
  </p:clrMapOvr>
</p:sld>
</file>

<file path=ppt/slides/slide223.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256032" cy="1417320"/>
          </a:xfrm>
          <a:prstGeom prst="rect">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777240" y="457200"/>
            <a:ext cx="10607040" cy="365760"/>
          </a:xfrm>
          <a:prstGeom prst="rect">
            <a:avLst/>
          </a:prstGeom>
          <a:noFill/>
        </p:spPr>
        <p:txBody>
          <a:bodyPr wrap="square" anchor="t">
            <a:spAutoFit/>
          </a:bodyPr>
          <a:lstStyle/>
          <a:p>
            <a:pPr algn="l">
              <a:spcAft>
                <a:spcPts val="400"/>
              </a:spcAft>
            </a:pPr>
            <a:r>
              <a:rPr sz="1400" b="1">
                <a:solidFill>
                  <a:srgbClr val="1F6FEB"/>
                </a:solidFill>
                <a:latin typeface="Arial"/>
              </a:rPr>
              <a:t>WHERE THE TWO TECHNOLOGIES MEET</a:t>
            </a:r>
          </a:p>
        </p:txBody>
      </p:sp>
      <p:sp>
        <p:nvSpPr>
          <p:cNvPr id="5" name="TextBox 4"/>
          <p:cNvSpPr txBox="1"/>
          <p:nvPr/>
        </p:nvSpPr>
        <p:spPr>
          <a:xfrm>
            <a:off x="777240" y="822960"/>
            <a:ext cx="10881360" cy="822960"/>
          </a:xfrm>
          <a:prstGeom prst="rect">
            <a:avLst/>
          </a:prstGeom>
          <a:noFill/>
        </p:spPr>
        <p:txBody>
          <a:bodyPr wrap="square" anchor="t">
            <a:spAutoFit/>
          </a:bodyPr>
          <a:lstStyle/>
          <a:p>
            <a:pPr algn="l">
              <a:spcAft>
                <a:spcPts val="400"/>
              </a:spcAft>
            </a:pPr>
            <a:r>
              <a:rPr sz="2900" b="1">
                <a:solidFill>
                  <a:srgbClr val="161B26"/>
                </a:solidFill>
                <a:latin typeface="Arial"/>
              </a:rPr>
              <a:t>Quantum machine learning — the honest state</a:t>
            </a:r>
          </a:p>
        </p:txBody>
      </p:sp>
      <p:sp>
        <p:nvSpPr>
          <p:cNvPr id="6" name="Rectangle 5"/>
          <p:cNvSpPr/>
          <p:nvPr/>
        </p:nvSpPr>
        <p:spPr>
          <a:xfrm>
            <a:off x="777240" y="1554480"/>
            <a:ext cx="10634472" cy="18288"/>
          </a:xfrm>
          <a:prstGeom prst="rect">
            <a:avLst/>
          </a:prstGeom>
          <a:solidFill>
            <a:srgbClr val="E2E8F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Rectangle 6"/>
          <p:cNvSpPr/>
          <p:nvPr/>
        </p:nvSpPr>
        <p:spPr>
          <a:xfrm>
            <a:off x="777240" y="1810512"/>
            <a:ext cx="10634472" cy="3520440"/>
          </a:xfrm>
          <a:prstGeom prst="rect">
            <a:avLst/>
          </a:prstGeom>
          <a:solidFill>
            <a:srgbClr val="0B122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TextBox 7"/>
          <p:cNvSpPr txBox="1"/>
          <p:nvPr/>
        </p:nvSpPr>
        <p:spPr>
          <a:xfrm>
            <a:off x="1097280" y="1956816"/>
            <a:ext cx="9994392" cy="3227832"/>
          </a:xfrm>
          <a:prstGeom prst="rect">
            <a:avLst/>
          </a:prstGeom>
          <a:noFill/>
        </p:spPr>
        <p:txBody>
          <a:bodyPr wrap="square" anchor="t">
            <a:spAutoFit/>
          </a:bodyPr>
          <a:lstStyle/>
          <a:p>
            <a:pPr algn="l">
              <a:spcAft>
                <a:spcPts val="300"/>
              </a:spcAft>
            </a:pPr>
            <a:r>
              <a:rPr sz="1320" b="0">
                <a:solidFill>
                  <a:srgbClr val="9CDCFE"/>
                </a:solidFill>
                <a:latin typeface="Arial"/>
              </a:rPr>
              <a:t>   QUANTUM KERNELS     map data into a Hilbert space and compute inner</a:t>
            </a:r>
          </a:p>
          <a:p>
            <a:pPr algn="l">
              <a:spcAft>
                <a:spcPts val="300"/>
              </a:spcAft>
            </a:pPr>
            <a:r>
              <a:rPr sz="1320" b="0">
                <a:solidFill>
                  <a:srgbClr val="9CDCFE"/>
                </a:solidFill>
                <a:latin typeface="Arial"/>
              </a:rPr>
              <a:t>                       products a classical kernel cannot easily reach</a:t>
            </a:r>
          </a:p>
          <a:p>
            <a:pPr algn="l">
              <a:spcAft>
                <a:spcPts val="300"/>
              </a:spcAft>
            </a:pPr>
            <a:r>
              <a:rPr sz="1320" b="0">
                <a:solidFill>
                  <a:srgbClr val="9CDCFE"/>
                </a:solidFill>
                <a:latin typeface="Arial"/>
              </a:rPr>
              <a:t>   VARIATIONAL (VQC)   parameterised circuits trained like a neural net</a:t>
            </a:r>
          </a:p>
          <a:p>
            <a:pPr algn="l">
              <a:spcAft>
                <a:spcPts val="300"/>
              </a:spcAft>
            </a:pPr>
            <a:r>
              <a:rPr sz="1320" b="0">
                <a:solidFill>
                  <a:srgbClr val="9CDCFE"/>
                </a:solidFill>
                <a:latin typeface="Arial"/>
              </a:rPr>
              <a:t>   QUANTUM NEURAL NETS layered ansätze with gradient-based training</a:t>
            </a:r>
          </a:p>
          <a:p>
            <a:pPr algn="l">
              <a:spcAft>
                <a:spcPts val="300"/>
              </a:spcAft>
            </a:pPr>
            <a:r>
              <a:rPr sz="1320" b="0">
                <a:solidFill>
                  <a:srgbClr val="0B1220"/>
                </a:solidFill>
                <a:latin typeface="Arial"/>
              </a:rPr>
              <a:t> </a:t>
            </a:r>
          </a:p>
          <a:p>
            <a:pPr algn="l">
              <a:spcAft>
                <a:spcPts val="300"/>
              </a:spcAft>
            </a:pPr>
            <a:r>
              <a:rPr sz="1320" b="0">
                <a:solidFill>
                  <a:srgbClr val="9CDCFE"/>
                </a:solidFill>
                <a:latin typeface="Arial"/>
              </a:rPr>
              <a:t>REALITY CHECK:</a:t>
            </a:r>
          </a:p>
          <a:p>
            <a:pPr algn="l">
              <a:spcAft>
                <a:spcPts val="300"/>
              </a:spcAft>
            </a:pPr>
            <a:r>
              <a:rPr sz="1320" b="0">
                <a:solidFill>
                  <a:srgbClr val="9CDCFE"/>
                </a:solidFill>
                <a:latin typeface="Arial"/>
              </a:rPr>
              <a:t>   • data loading is the bottleneck — encoding N classical values can</a:t>
            </a:r>
          </a:p>
          <a:p>
            <a:pPr algn="l">
              <a:spcAft>
                <a:spcPts val="300"/>
              </a:spcAft>
            </a:pPr>
            <a:r>
              <a:rPr sz="1320" b="0">
                <a:solidFill>
                  <a:srgbClr val="9CDCFE"/>
                </a:solidFill>
                <a:latin typeface="Arial"/>
              </a:rPr>
              <a:t>     cost O(N), destroying any speedup</a:t>
            </a:r>
          </a:p>
          <a:p>
            <a:pPr algn="l">
              <a:spcAft>
                <a:spcPts val="300"/>
              </a:spcAft>
            </a:pPr>
            <a:r>
              <a:rPr sz="1320" b="0">
                <a:solidFill>
                  <a:srgbClr val="9CDCFE"/>
                </a:solidFill>
                <a:latin typeface="Arial"/>
              </a:rPr>
              <a:t>   • BARREN PLATEAUS: gradients vanish exponentially with qubit count</a:t>
            </a:r>
          </a:p>
          <a:p>
            <a:pPr algn="l">
              <a:spcAft>
                <a:spcPts val="300"/>
              </a:spcAft>
            </a:pPr>
            <a:r>
              <a:rPr sz="1320" b="0">
                <a:solidFill>
                  <a:srgbClr val="9CDCFE"/>
                </a:solidFill>
                <a:latin typeface="Arial"/>
              </a:rPr>
              <a:t>   • no proven advantage on a real-world ML dataset yet</a:t>
            </a:r>
          </a:p>
        </p:txBody>
      </p:sp>
      <p:sp>
        <p:nvSpPr>
          <p:cNvPr id="9" name="Rectangle 8"/>
          <p:cNvSpPr/>
          <p:nvPr/>
        </p:nvSpPr>
        <p:spPr>
          <a:xfrm>
            <a:off x="777240" y="5532120"/>
            <a:ext cx="10634472" cy="521208"/>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Rectangle 9"/>
          <p:cNvSpPr/>
          <p:nvPr/>
        </p:nvSpPr>
        <p:spPr>
          <a:xfrm>
            <a:off x="777240" y="5532120"/>
            <a:ext cx="82296" cy="521208"/>
          </a:xfrm>
          <a:prstGeom prst="rect">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 name="TextBox 10"/>
          <p:cNvSpPr txBox="1"/>
          <p:nvPr/>
        </p:nvSpPr>
        <p:spPr>
          <a:xfrm>
            <a:off x="1097280" y="5532120"/>
            <a:ext cx="10149840" cy="521208"/>
          </a:xfrm>
          <a:prstGeom prst="rect">
            <a:avLst/>
          </a:prstGeom>
          <a:noFill/>
        </p:spPr>
        <p:txBody>
          <a:bodyPr wrap="square" anchor="ctr">
            <a:spAutoFit/>
          </a:bodyPr>
          <a:lstStyle/>
          <a:p>
            <a:pPr algn="l">
              <a:spcAft>
                <a:spcPts val="400"/>
              </a:spcAft>
            </a:pPr>
            <a:r>
              <a:rPr sz="1150" b="1">
                <a:solidFill>
                  <a:srgbClr val="10B981"/>
                </a:solidFill>
                <a:latin typeface="Arial"/>
              </a:rPr>
              <a:t>KEY POINT:  </a:t>
            </a:r>
            <a:r>
              <a:rPr sz="1300" b="0">
                <a:solidFill>
                  <a:srgbClr val="161B26"/>
                </a:solidFill>
                <a:latin typeface="Arial"/>
              </a:rPr>
              <a:t>Teach this honestly. Quantum ML is a genuine research field with real open problems, not a shipping product.</a:t>
            </a:r>
          </a:p>
        </p:txBody>
      </p:sp>
      <p:sp>
        <p:nvSpPr>
          <p:cNvPr id="12" name="TextBox 11"/>
          <p:cNvSpPr txBox="1"/>
          <p:nvPr/>
        </p:nvSpPr>
        <p:spPr>
          <a:xfrm>
            <a:off x="365760" y="6446520"/>
            <a:ext cx="6858000" cy="320040"/>
          </a:xfrm>
          <a:prstGeom prst="rect">
            <a:avLst/>
          </a:prstGeom>
          <a:noFill/>
        </p:spPr>
        <p:txBody>
          <a:bodyPr wrap="square" anchor="t">
            <a:spAutoFit/>
          </a:bodyPr>
          <a:lstStyle/>
          <a:p>
            <a:pPr algn="l">
              <a:spcAft>
                <a:spcPts val="400"/>
              </a:spcAft>
            </a:pPr>
            <a:r>
              <a:rPr sz="900" b="0">
                <a:solidFill>
                  <a:srgbClr val="5B6372"/>
                </a:solidFill>
                <a:latin typeface="Arial"/>
              </a:rPr>
              <a:t>Securing the Future with Quantum Computing and Cryptography  ·  TGS-2024043419</a:t>
            </a:r>
          </a:p>
        </p:txBody>
      </p:sp>
      <p:sp>
        <p:nvSpPr>
          <p:cNvPr id="13" name="TextBox 12"/>
          <p:cNvSpPr txBox="1"/>
          <p:nvPr/>
        </p:nvSpPr>
        <p:spPr>
          <a:xfrm>
            <a:off x="4572000" y="6446520"/>
            <a:ext cx="3017520" cy="320040"/>
          </a:xfrm>
          <a:prstGeom prst="rect">
            <a:avLst/>
          </a:prstGeom>
          <a:noFill/>
        </p:spPr>
        <p:txBody>
          <a:bodyPr wrap="square" anchor="t">
            <a:spAutoFit/>
          </a:bodyPr>
          <a:lstStyle/>
          <a:p>
            <a:pPr algn="ctr">
              <a:spcAft>
                <a:spcPts val="400"/>
              </a:spcAft>
            </a:pPr>
            <a:r>
              <a:rPr sz="900" b="0">
                <a:solidFill>
                  <a:srgbClr val="5B6372"/>
                </a:solidFill>
                <a:latin typeface="Arial"/>
              </a:rPr>
              <a:t>© 2026 Tertiary Infotech Academy Pte Ltd</a:t>
            </a:r>
          </a:p>
        </p:txBody>
      </p:sp>
      <p:sp>
        <p:nvSpPr>
          <p:cNvPr id="14" name="TextBox 13"/>
          <p:cNvSpPr txBox="1"/>
          <p:nvPr/>
        </p:nvSpPr>
        <p:spPr>
          <a:xfrm>
            <a:off x="11338560" y="6446520"/>
            <a:ext cx="548640" cy="320040"/>
          </a:xfrm>
          <a:prstGeom prst="rect">
            <a:avLst/>
          </a:prstGeom>
          <a:noFill/>
        </p:spPr>
        <p:txBody>
          <a:bodyPr wrap="square" anchor="t">
            <a:spAutoFit/>
          </a:bodyPr>
          <a:lstStyle/>
          <a:p>
            <a:pPr algn="r">
              <a:spcAft>
                <a:spcPts val="400"/>
              </a:spcAft>
            </a:pPr>
            <a:r>
              <a:rPr sz="900" b="0">
                <a:solidFill>
                  <a:srgbClr val="5B6372"/>
                </a:solidFill>
                <a:latin typeface="Arial"/>
              </a:rPr>
              <a:t>222</a:t>
            </a:r>
          </a:p>
        </p:txBody>
      </p:sp>
    </p:spTree>
  </p:cSld>
  <p:clrMapOvr>
    <a:masterClrMapping/>
  </p:clrMapOvr>
</p:sld>
</file>

<file path=ppt/slides/slide224.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256032" cy="1417320"/>
          </a:xfrm>
          <a:prstGeom prst="rect">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777240" y="457200"/>
            <a:ext cx="10607040" cy="365760"/>
          </a:xfrm>
          <a:prstGeom prst="rect">
            <a:avLst/>
          </a:prstGeom>
          <a:noFill/>
        </p:spPr>
        <p:txBody>
          <a:bodyPr wrap="square" anchor="t">
            <a:spAutoFit/>
          </a:bodyPr>
          <a:lstStyle/>
          <a:p>
            <a:pPr algn="l">
              <a:spcAft>
                <a:spcPts val="400"/>
              </a:spcAft>
            </a:pPr>
            <a:r>
              <a:rPr sz="1400" b="1">
                <a:solidFill>
                  <a:srgbClr val="1F6FEB"/>
                </a:solidFill>
                <a:latin typeface="Arial"/>
              </a:rPr>
              <a:t>WHERE THE TWO TECHNOLOGIES MEET</a:t>
            </a:r>
          </a:p>
        </p:txBody>
      </p:sp>
      <p:sp>
        <p:nvSpPr>
          <p:cNvPr id="5" name="TextBox 4"/>
          <p:cNvSpPr txBox="1"/>
          <p:nvPr/>
        </p:nvSpPr>
        <p:spPr>
          <a:xfrm>
            <a:off x="777240" y="822960"/>
            <a:ext cx="10881360" cy="822960"/>
          </a:xfrm>
          <a:prstGeom prst="rect">
            <a:avLst/>
          </a:prstGeom>
          <a:noFill/>
        </p:spPr>
        <p:txBody>
          <a:bodyPr wrap="square" anchor="t">
            <a:spAutoFit/>
          </a:bodyPr>
          <a:lstStyle/>
          <a:p>
            <a:pPr algn="l">
              <a:spcAft>
                <a:spcPts val="400"/>
              </a:spcAft>
            </a:pPr>
            <a:r>
              <a:rPr sz="2900" b="1">
                <a:solidFill>
                  <a:srgbClr val="161B26"/>
                </a:solidFill>
                <a:latin typeface="Arial"/>
              </a:rPr>
              <a:t>AI for quantum — the part that works today</a:t>
            </a:r>
          </a:p>
        </p:txBody>
      </p:sp>
      <p:sp>
        <p:nvSpPr>
          <p:cNvPr id="6" name="Rectangle 5"/>
          <p:cNvSpPr/>
          <p:nvPr/>
        </p:nvSpPr>
        <p:spPr>
          <a:xfrm>
            <a:off x="777240" y="1554480"/>
            <a:ext cx="10634472" cy="18288"/>
          </a:xfrm>
          <a:prstGeom prst="rect">
            <a:avLst/>
          </a:prstGeom>
          <a:solidFill>
            <a:srgbClr val="E2E8F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Rectangle 6"/>
          <p:cNvSpPr/>
          <p:nvPr/>
        </p:nvSpPr>
        <p:spPr>
          <a:xfrm>
            <a:off x="777240" y="1810512"/>
            <a:ext cx="10634472" cy="3520440"/>
          </a:xfrm>
          <a:prstGeom prst="rect">
            <a:avLst/>
          </a:prstGeom>
          <a:solidFill>
            <a:srgbClr val="0B122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TextBox 7"/>
          <p:cNvSpPr txBox="1"/>
          <p:nvPr/>
        </p:nvSpPr>
        <p:spPr>
          <a:xfrm>
            <a:off x="1097280" y="1956816"/>
            <a:ext cx="9994392" cy="3227832"/>
          </a:xfrm>
          <a:prstGeom prst="rect">
            <a:avLst/>
          </a:prstGeom>
          <a:noFill/>
        </p:spPr>
        <p:txBody>
          <a:bodyPr wrap="square" anchor="t">
            <a:spAutoFit/>
          </a:bodyPr>
          <a:lstStyle/>
          <a:p>
            <a:pPr algn="l">
              <a:spcAft>
                <a:spcPts val="300"/>
              </a:spcAft>
            </a:pPr>
            <a:r>
              <a:rPr sz="1320" b="0">
                <a:solidFill>
                  <a:srgbClr val="9CDCFE"/>
                </a:solidFill>
                <a:latin typeface="Arial"/>
              </a:rPr>
              <a:t>Machine learning is already ESSENTIAL to running quantum hardware:</a:t>
            </a:r>
          </a:p>
          <a:p>
            <a:pPr algn="l">
              <a:spcAft>
                <a:spcPts val="300"/>
              </a:spcAft>
            </a:pPr>
            <a:r>
              <a:rPr sz="1320" b="0">
                <a:solidFill>
                  <a:srgbClr val="0B1220"/>
                </a:solidFill>
                <a:latin typeface="Arial"/>
              </a:rPr>
              <a:t> </a:t>
            </a:r>
          </a:p>
          <a:p>
            <a:pPr algn="l">
              <a:spcAft>
                <a:spcPts val="300"/>
              </a:spcAft>
            </a:pPr>
            <a:r>
              <a:rPr sz="1320" b="0">
                <a:solidFill>
                  <a:srgbClr val="9CDCFE"/>
                </a:solidFill>
                <a:latin typeface="Arial"/>
              </a:rPr>
              <a:t>   • QUBIT CALIBRATION — RL agents tune pulse parameters continuously</a:t>
            </a:r>
          </a:p>
          <a:p>
            <a:pPr algn="l">
              <a:spcAft>
                <a:spcPts val="300"/>
              </a:spcAft>
            </a:pPr>
            <a:r>
              <a:rPr sz="1320" b="0">
                <a:solidFill>
                  <a:srgbClr val="9CDCFE"/>
                </a:solidFill>
                <a:latin typeface="Arial"/>
              </a:rPr>
              <a:t>   • ERROR DECODING — neural decoders beat classical matching on surface</a:t>
            </a:r>
          </a:p>
          <a:p>
            <a:pPr algn="l">
              <a:spcAft>
                <a:spcPts val="300"/>
              </a:spcAft>
            </a:pPr>
            <a:r>
              <a:rPr sz="1320" b="0">
                <a:solidFill>
                  <a:srgbClr val="9CDCFE"/>
                </a:solidFill>
                <a:latin typeface="Arial"/>
              </a:rPr>
              <a:t>     codes, and run fast enough for real-time correction</a:t>
            </a:r>
          </a:p>
          <a:p>
            <a:pPr algn="l">
              <a:spcAft>
                <a:spcPts val="300"/>
              </a:spcAft>
            </a:pPr>
            <a:r>
              <a:rPr sz="1320" b="0">
                <a:solidFill>
                  <a:srgbClr val="9CDCFE"/>
                </a:solidFill>
                <a:latin typeface="Arial"/>
              </a:rPr>
              <a:t>   • CIRCUIT COMPILATION — ML finds better gate decompositions and routing</a:t>
            </a:r>
          </a:p>
          <a:p>
            <a:pPr algn="l">
              <a:spcAft>
                <a:spcPts val="300"/>
              </a:spcAft>
            </a:pPr>
            <a:r>
              <a:rPr sz="1320" b="0">
                <a:solidFill>
                  <a:srgbClr val="9CDCFE"/>
                </a:solidFill>
                <a:latin typeface="Arial"/>
              </a:rPr>
              <a:t>   • NOISE CHARACTERISATION — learn the device error model, then mitigate</a:t>
            </a:r>
          </a:p>
          <a:p>
            <a:pPr algn="l">
              <a:spcAft>
                <a:spcPts val="300"/>
              </a:spcAft>
            </a:pPr>
            <a:r>
              <a:rPr sz="1320" b="0">
                <a:solidFill>
                  <a:srgbClr val="9CDCFE"/>
                </a:solidFill>
                <a:latin typeface="Arial"/>
              </a:rPr>
              <a:t>   • ANSATZ DESIGN — search the space of variational circuits</a:t>
            </a:r>
          </a:p>
          <a:p>
            <a:pPr algn="l">
              <a:spcAft>
                <a:spcPts val="300"/>
              </a:spcAft>
            </a:pPr>
            <a:r>
              <a:rPr sz="1320" b="0">
                <a:solidFill>
                  <a:srgbClr val="0B1220"/>
                </a:solidFill>
                <a:latin typeface="Arial"/>
              </a:rPr>
              <a:t> </a:t>
            </a:r>
          </a:p>
          <a:p>
            <a:pPr algn="l">
              <a:spcAft>
                <a:spcPts val="300"/>
              </a:spcAft>
            </a:pPr>
            <a:r>
              <a:rPr sz="1320" b="0">
                <a:solidFill>
                  <a:srgbClr val="9CDCFE"/>
                </a:solidFill>
                <a:latin typeface="Arial"/>
              </a:rPr>
              <a:t>Google, IBM and Quantinuum all use ML decoders in production stacks.</a:t>
            </a:r>
          </a:p>
        </p:txBody>
      </p:sp>
      <p:sp>
        <p:nvSpPr>
          <p:cNvPr id="9" name="Rectangle 8"/>
          <p:cNvSpPr/>
          <p:nvPr/>
        </p:nvSpPr>
        <p:spPr>
          <a:xfrm>
            <a:off x="777240" y="5532120"/>
            <a:ext cx="10634472" cy="521208"/>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Rectangle 9"/>
          <p:cNvSpPr/>
          <p:nvPr/>
        </p:nvSpPr>
        <p:spPr>
          <a:xfrm>
            <a:off x="777240" y="5532120"/>
            <a:ext cx="82296" cy="521208"/>
          </a:xfrm>
          <a:prstGeom prst="rect">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 name="TextBox 10"/>
          <p:cNvSpPr txBox="1"/>
          <p:nvPr/>
        </p:nvSpPr>
        <p:spPr>
          <a:xfrm>
            <a:off x="1097280" y="5532120"/>
            <a:ext cx="10149840" cy="521208"/>
          </a:xfrm>
          <a:prstGeom prst="rect">
            <a:avLst/>
          </a:prstGeom>
          <a:noFill/>
        </p:spPr>
        <p:txBody>
          <a:bodyPr wrap="square" anchor="ctr">
            <a:spAutoFit/>
          </a:bodyPr>
          <a:lstStyle/>
          <a:p>
            <a:pPr algn="l">
              <a:spcAft>
                <a:spcPts val="400"/>
              </a:spcAft>
            </a:pPr>
            <a:r>
              <a:rPr sz="1150" b="1">
                <a:solidFill>
                  <a:srgbClr val="10B981"/>
                </a:solidFill>
                <a:latin typeface="Arial"/>
              </a:rPr>
              <a:t>KEY POINT:  </a:t>
            </a:r>
            <a:r>
              <a:rPr sz="1300" b="0">
                <a:solidFill>
                  <a:srgbClr val="161B26"/>
                </a:solidFill>
                <a:latin typeface="Arial"/>
              </a:rPr>
              <a:t>This is the intersection with proven, deployed value — and a strong career area for someone with both skill sets.</a:t>
            </a:r>
          </a:p>
        </p:txBody>
      </p:sp>
      <p:sp>
        <p:nvSpPr>
          <p:cNvPr id="12" name="TextBox 11"/>
          <p:cNvSpPr txBox="1"/>
          <p:nvPr/>
        </p:nvSpPr>
        <p:spPr>
          <a:xfrm>
            <a:off x="365760" y="6446520"/>
            <a:ext cx="6858000" cy="320040"/>
          </a:xfrm>
          <a:prstGeom prst="rect">
            <a:avLst/>
          </a:prstGeom>
          <a:noFill/>
        </p:spPr>
        <p:txBody>
          <a:bodyPr wrap="square" anchor="t">
            <a:spAutoFit/>
          </a:bodyPr>
          <a:lstStyle/>
          <a:p>
            <a:pPr algn="l">
              <a:spcAft>
                <a:spcPts val="400"/>
              </a:spcAft>
            </a:pPr>
            <a:r>
              <a:rPr sz="900" b="0">
                <a:solidFill>
                  <a:srgbClr val="5B6372"/>
                </a:solidFill>
                <a:latin typeface="Arial"/>
              </a:rPr>
              <a:t>Securing the Future with Quantum Computing and Cryptography  ·  TGS-2024043419</a:t>
            </a:r>
          </a:p>
        </p:txBody>
      </p:sp>
      <p:sp>
        <p:nvSpPr>
          <p:cNvPr id="13" name="TextBox 12"/>
          <p:cNvSpPr txBox="1"/>
          <p:nvPr/>
        </p:nvSpPr>
        <p:spPr>
          <a:xfrm>
            <a:off x="4572000" y="6446520"/>
            <a:ext cx="3017520" cy="320040"/>
          </a:xfrm>
          <a:prstGeom prst="rect">
            <a:avLst/>
          </a:prstGeom>
          <a:noFill/>
        </p:spPr>
        <p:txBody>
          <a:bodyPr wrap="square" anchor="t">
            <a:spAutoFit/>
          </a:bodyPr>
          <a:lstStyle/>
          <a:p>
            <a:pPr algn="ctr">
              <a:spcAft>
                <a:spcPts val="400"/>
              </a:spcAft>
            </a:pPr>
            <a:r>
              <a:rPr sz="900" b="0">
                <a:solidFill>
                  <a:srgbClr val="5B6372"/>
                </a:solidFill>
                <a:latin typeface="Arial"/>
              </a:rPr>
              <a:t>© 2026 Tertiary Infotech Academy Pte Ltd</a:t>
            </a:r>
          </a:p>
        </p:txBody>
      </p:sp>
      <p:sp>
        <p:nvSpPr>
          <p:cNvPr id="14" name="TextBox 13"/>
          <p:cNvSpPr txBox="1"/>
          <p:nvPr/>
        </p:nvSpPr>
        <p:spPr>
          <a:xfrm>
            <a:off x="11338560" y="6446520"/>
            <a:ext cx="548640" cy="320040"/>
          </a:xfrm>
          <a:prstGeom prst="rect">
            <a:avLst/>
          </a:prstGeom>
          <a:noFill/>
        </p:spPr>
        <p:txBody>
          <a:bodyPr wrap="square" anchor="t">
            <a:spAutoFit/>
          </a:bodyPr>
          <a:lstStyle/>
          <a:p>
            <a:pPr algn="r">
              <a:spcAft>
                <a:spcPts val="400"/>
              </a:spcAft>
            </a:pPr>
            <a:r>
              <a:rPr sz="900" b="0">
                <a:solidFill>
                  <a:srgbClr val="5B6372"/>
                </a:solidFill>
                <a:latin typeface="Arial"/>
              </a:rPr>
              <a:t>223</a:t>
            </a:r>
          </a:p>
        </p:txBody>
      </p:sp>
    </p:spTree>
  </p:cSld>
  <p:clrMapOvr>
    <a:masterClrMapping/>
  </p:clrMapOvr>
</p:sld>
</file>

<file path=ppt/slides/slide225.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256032" cy="1417320"/>
          </a:xfrm>
          <a:prstGeom prst="rect">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777240" y="457200"/>
            <a:ext cx="10607040" cy="365760"/>
          </a:xfrm>
          <a:prstGeom prst="rect">
            <a:avLst/>
          </a:prstGeom>
          <a:noFill/>
        </p:spPr>
        <p:txBody>
          <a:bodyPr wrap="square" anchor="t">
            <a:spAutoFit/>
          </a:bodyPr>
          <a:lstStyle/>
          <a:p>
            <a:pPr algn="l">
              <a:spcAft>
                <a:spcPts val="400"/>
              </a:spcAft>
            </a:pPr>
            <a:r>
              <a:rPr sz="1400" b="1">
                <a:solidFill>
                  <a:srgbClr val="1F6FEB"/>
                </a:solidFill>
                <a:latin typeface="Arial"/>
              </a:rPr>
              <a:t>WHERE THE TWO TECHNOLOGIES MEET</a:t>
            </a:r>
          </a:p>
        </p:txBody>
      </p:sp>
      <p:sp>
        <p:nvSpPr>
          <p:cNvPr id="5" name="TextBox 4"/>
          <p:cNvSpPr txBox="1"/>
          <p:nvPr/>
        </p:nvSpPr>
        <p:spPr>
          <a:xfrm>
            <a:off x="777240" y="822960"/>
            <a:ext cx="10881360" cy="822960"/>
          </a:xfrm>
          <a:prstGeom prst="rect">
            <a:avLst/>
          </a:prstGeom>
          <a:noFill/>
        </p:spPr>
        <p:txBody>
          <a:bodyPr wrap="square" anchor="t">
            <a:spAutoFit/>
          </a:bodyPr>
          <a:lstStyle/>
          <a:p>
            <a:pPr algn="l">
              <a:spcAft>
                <a:spcPts val="400"/>
              </a:spcAft>
            </a:pPr>
            <a:r>
              <a:rPr sz="2900" b="1">
                <a:solidFill>
                  <a:srgbClr val="161B26"/>
                </a:solidFill>
                <a:latin typeface="Arial"/>
              </a:rPr>
              <a:t>Quantum-inspired classical algorithms</a:t>
            </a:r>
          </a:p>
        </p:txBody>
      </p:sp>
      <p:sp>
        <p:nvSpPr>
          <p:cNvPr id="6" name="Rectangle 5"/>
          <p:cNvSpPr/>
          <p:nvPr/>
        </p:nvSpPr>
        <p:spPr>
          <a:xfrm>
            <a:off x="777240" y="1554480"/>
            <a:ext cx="10634472" cy="18288"/>
          </a:xfrm>
          <a:prstGeom prst="rect">
            <a:avLst/>
          </a:prstGeom>
          <a:solidFill>
            <a:srgbClr val="E2E8F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Rectangle 6"/>
          <p:cNvSpPr/>
          <p:nvPr/>
        </p:nvSpPr>
        <p:spPr>
          <a:xfrm>
            <a:off x="777240" y="1810512"/>
            <a:ext cx="10634472" cy="3520440"/>
          </a:xfrm>
          <a:prstGeom prst="rect">
            <a:avLst/>
          </a:prstGeom>
          <a:solidFill>
            <a:srgbClr val="0B122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TextBox 7"/>
          <p:cNvSpPr txBox="1"/>
          <p:nvPr/>
        </p:nvSpPr>
        <p:spPr>
          <a:xfrm>
            <a:off x="1097280" y="1956816"/>
            <a:ext cx="9994392" cy="3227832"/>
          </a:xfrm>
          <a:prstGeom prst="rect">
            <a:avLst/>
          </a:prstGeom>
          <a:noFill/>
        </p:spPr>
        <p:txBody>
          <a:bodyPr wrap="square" anchor="t">
            <a:spAutoFit/>
          </a:bodyPr>
          <a:lstStyle/>
          <a:p>
            <a:pPr algn="l">
              <a:spcAft>
                <a:spcPts val="300"/>
              </a:spcAft>
            </a:pPr>
            <a:r>
              <a:rPr sz="1320" b="0">
                <a:solidFill>
                  <a:srgbClr val="9CDCFE"/>
                </a:solidFill>
                <a:latin typeface="Arial"/>
              </a:rPr>
              <a:t>Studying quantum algorithms has produced better CLASSICAL ones:</a:t>
            </a:r>
          </a:p>
          <a:p>
            <a:pPr algn="l">
              <a:spcAft>
                <a:spcPts val="300"/>
              </a:spcAft>
            </a:pPr>
            <a:r>
              <a:rPr sz="1320" b="0">
                <a:solidFill>
                  <a:srgbClr val="0B1220"/>
                </a:solidFill>
                <a:latin typeface="Arial"/>
              </a:rPr>
              <a:t> </a:t>
            </a:r>
          </a:p>
          <a:p>
            <a:pPr algn="l">
              <a:spcAft>
                <a:spcPts val="300"/>
              </a:spcAft>
            </a:pPr>
            <a:r>
              <a:rPr sz="1320" b="0">
                <a:solidFill>
                  <a:srgbClr val="9CDCFE"/>
                </a:solidFill>
                <a:latin typeface="Arial"/>
              </a:rPr>
              <a:t>   • TENSOR NETWORKS (MPS, PEPS) — from quantum many-body physics,</a:t>
            </a:r>
          </a:p>
          <a:p>
            <a:pPr algn="l">
              <a:spcAft>
                <a:spcPts val="300"/>
              </a:spcAft>
            </a:pPr>
            <a:r>
              <a:rPr sz="1320" b="0">
                <a:solidFill>
                  <a:srgbClr val="9CDCFE"/>
                </a:solidFill>
                <a:latin typeface="Arial"/>
              </a:rPr>
              <a:t>     now used to compress neural networks</a:t>
            </a:r>
          </a:p>
          <a:p>
            <a:pPr algn="l">
              <a:spcAft>
                <a:spcPts val="300"/>
              </a:spcAft>
            </a:pPr>
            <a:r>
              <a:rPr sz="1320" b="0">
                <a:solidFill>
                  <a:srgbClr val="9CDCFE"/>
                </a:solidFill>
                <a:latin typeface="Arial"/>
              </a:rPr>
              <a:t>   • Ewin Tang's 'dequantisation' — classical algorithms matching the</a:t>
            </a:r>
          </a:p>
          <a:p>
            <a:pPr algn="l">
              <a:spcAft>
                <a:spcPts val="300"/>
              </a:spcAft>
            </a:pPr>
            <a:r>
              <a:rPr sz="1320" b="0">
                <a:solidFill>
                  <a:srgbClr val="9CDCFE"/>
                </a:solidFill>
                <a:latin typeface="Arial"/>
              </a:rPr>
              <a:t>     quantum recommendation-system speedup</a:t>
            </a:r>
          </a:p>
          <a:p>
            <a:pPr algn="l">
              <a:spcAft>
                <a:spcPts val="300"/>
              </a:spcAft>
            </a:pPr>
            <a:r>
              <a:rPr sz="1320" b="0">
                <a:solidFill>
                  <a:srgbClr val="9CDCFE"/>
                </a:solidFill>
                <a:latin typeface="Arial"/>
              </a:rPr>
              <a:t>   • simulated annealing variants inspired by quantum annealing</a:t>
            </a:r>
          </a:p>
          <a:p>
            <a:pPr algn="l">
              <a:spcAft>
                <a:spcPts val="300"/>
              </a:spcAft>
            </a:pPr>
            <a:r>
              <a:rPr sz="1320" b="0">
                <a:solidFill>
                  <a:srgbClr val="0B1220"/>
                </a:solidFill>
                <a:latin typeface="Arial"/>
              </a:rPr>
              <a:t> </a:t>
            </a:r>
          </a:p>
          <a:p>
            <a:pPr algn="l">
              <a:spcAft>
                <a:spcPts val="300"/>
              </a:spcAft>
            </a:pPr>
            <a:r>
              <a:rPr sz="1320" b="0">
                <a:solidFill>
                  <a:srgbClr val="9CDCFE"/>
                </a:solidFill>
                <a:latin typeface="Arial"/>
              </a:rPr>
              <a:t>A quantum algorithm that gets dequantised is still a scientific win —</a:t>
            </a:r>
          </a:p>
          <a:p>
            <a:pPr algn="l">
              <a:spcAft>
                <a:spcPts val="300"/>
              </a:spcAft>
            </a:pPr>
            <a:r>
              <a:rPr sz="1320" b="0">
                <a:solidFill>
                  <a:srgbClr val="9CDCFE"/>
                </a:solidFill>
                <a:latin typeface="Arial"/>
              </a:rPr>
              <a:t>you end up with a faster classical method.</a:t>
            </a:r>
          </a:p>
        </p:txBody>
      </p:sp>
      <p:sp>
        <p:nvSpPr>
          <p:cNvPr id="9" name="Rectangle 8"/>
          <p:cNvSpPr/>
          <p:nvPr/>
        </p:nvSpPr>
        <p:spPr>
          <a:xfrm>
            <a:off x="777240" y="5532120"/>
            <a:ext cx="10634472" cy="521208"/>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Rectangle 9"/>
          <p:cNvSpPr/>
          <p:nvPr/>
        </p:nvSpPr>
        <p:spPr>
          <a:xfrm>
            <a:off x="777240" y="5532120"/>
            <a:ext cx="82296" cy="521208"/>
          </a:xfrm>
          <a:prstGeom prst="rect">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 name="TextBox 10"/>
          <p:cNvSpPr txBox="1"/>
          <p:nvPr/>
        </p:nvSpPr>
        <p:spPr>
          <a:xfrm>
            <a:off x="1097280" y="5532120"/>
            <a:ext cx="10149840" cy="521208"/>
          </a:xfrm>
          <a:prstGeom prst="rect">
            <a:avLst/>
          </a:prstGeom>
          <a:noFill/>
        </p:spPr>
        <p:txBody>
          <a:bodyPr wrap="square" anchor="ctr">
            <a:spAutoFit/>
          </a:bodyPr>
          <a:lstStyle/>
          <a:p>
            <a:pPr algn="l">
              <a:spcAft>
                <a:spcPts val="400"/>
              </a:spcAft>
            </a:pPr>
            <a:r>
              <a:rPr sz="1150" b="1">
                <a:solidFill>
                  <a:srgbClr val="10B981"/>
                </a:solidFill>
                <a:latin typeface="Arial"/>
              </a:rPr>
              <a:t>KEY POINT:  </a:t>
            </a:r>
            <a:r>
              <a:rPr sz="1300" b="0">
                <a:solidFill>
                  <a:srgbClr val="161B26"/>
                </a:solidFill>
                <a:latin typeface="Arial"/>
              </a:rPr>
              <a:t>Useful framing for business stakeholders: quantum R&amp;D pays dividends even when the quantum hardware is not ready.</a:t>
            </a:r>
          </a:p>
        </p:txBody>
      </p:sp>
      <p:sp>
        <p:nvSpPr>
          <p:cNvPr id="12" name="TextBox 11"/>
          <p:cNvSpPr txBox="1"/>
          <p:nvPr/>
        </p:nvSpPr>
        <p:spPr>
          <a:xfrm>
            <a:off x="365760" y="6446520"/>
            <a:ext cx="6858000" cy="320040"/>
          </a:xfrm>
          <a:prstGeom prst="rect">
            <a:avLst/>
          </a:prstGeom>
          <a:noFill/>
        </p:spPr>
        <p:txBody>
          <a:bodyPr wrap="square" anchor="t">
            <a:spAutoFit/>
          </a:bodyPr>
          <a:lstStyle/>
          <a:p>
            <a:pPr algn="l">
              <a:spcAft>
                <a:spcPts val="400"/>
              </a:spcAft>
            </a:pPr>
            <a:r>
              <a:rPr sz="900" b="0">
                <a:solidFill>
                  <a:srgbClr val="5B6372"/>
                </a:solidFill>
                <a:latin typeface="Arial"/>
              </a:rPr>
              <a:t>Securing the Future with Quantum Computing and Cryptography  ·  TGS-2024043419</a:t>
            </a:r>
          </a:p>
        </p:txBody>
      </p:sp>
      <p:sp>
        <p:nvSpPr>
          <p:cNvPr id="13" name="TextBox 12"/>
          <p:cNvSpPr txBox="1"/>
          <p:nvPr/>
        </p:nvSpPr>
        <p:spPr>
          <a:xfrm>
            <a:off x="4572000" y="6446520"/>
            <a:ext cx="3017520" cy="320040"/>
          </a:xfrm>
          <a:prstGeom prst="rect">
            <a:avLst/>
          </a:prstGeom>
          <a:noFill/>
        </p:spPr>
        <p:txBody>
          <a:bodyPr wrap="square" anchor="t">
            <a:spAutoFit/>
          </a:bodyPr>
          <a:lstStyle/>
          <a:p>
            <a:pPr algn="ctr">
              <a:spcAft>
                <a:spcPts val="400"/>
              </a:spcAft>
            </a:pPr>
            <a:r>
              <a:rPr sz="900" b="0">
                <a:solidFill>
                  <a:srgbClr val="5B6372"/>
                </a:solidFill>
                <a:latin typeface="Arial"/>
              </a:rPr>
              <a:t>© 2026 Tertiary Infotech Academy Pte Ltd</a:t>
            </a:r>
          </a:p>
        </p:txBody>
      </p:sp>
      <p:sp>
        <p:nvSpPr>
          <p:cNvPr id="14" name="TextBox 13"/>
          <p:cNvSpPr txBox="1"/>
          <p:nvPr/>
        </p:nvSpPr>
        <p:spPr>
          <a:xfrm>
            <a:off x="11338560" y="6446520"/>
            <a:ext cx="548640" cy="320040"/>
          </a:xfrm>
          <a:prstGeom prst="rect">
            <a:avLst/>
          </a:prstGeom>
          <a:noFill/>
        </p:spPr>
        <p:txBody>
          <a:bodyPr wrap="square" anchor="t">
            <a:spAutoFit/>
          </a:bodyPr>
          <a:lstStyle/>
          <a:p>
            <a:pPr algn="r">
              <a:spcAft>
                <a:spcPts val="400"/>
              </a:spcAft>
            </a:pPr>
            <a:r>
              <a:rPr sz="900" b="0">
                <a:solidFill>
                  <a:srgbClr val="5B6372"/>
                </a:solidFill>
                <a:latin typeface="Arial"/>
              </a:rPr>
              <a:t>224</a:t>
            </a:r>
          </a:p>
        </p:txBody>
      </p:sp>
    </p:spTree>
  </p:cSld>
  <p:clrMapOvr>
    <a:masterClrMapping/>
  </p:clrMapOvr>
</p:sld>
</file>

<file path=ppt/slides/slide226.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256032" cy="1417320"/>
          </a:xfrm>
          <a:prstGeom prst="rect">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777240" y="457200"/>
            <a:ext cx="10607040" cy="365760"/>
          </a:xfrm>
          <a:prstGeom prst="rect">
            <a:avLst/>
          </a:prstGeom>
          <a:noFill/>
        </p:spPr>
        <p:txBody>
          <a:bodyPr wrap="square" anchor="t">
            <a:spAutoFit/>
          </a:bodyPr>
          <a:lstStyle/>
          <a:p>
            <a:pPr algn="l">
              <a:spcAft>
                <a:spcPts val="400"/>
              </a:spcAft>
            </a:pPr>
            <a:r>
              <a:rPr sz="1400" b="1">
                <a:solidFill>
                  <a:srgbClr val="1F6FEB"/>
                </a:solidFill>
                <a:latin typeface="Arial"/>
              </a:rPr>
              <a:t>WHERE THE TWO TECHNOLOGIES MEET</a:t>
            </a:r>
          </a:p>
        </p:txBody>
      </p:sp>
      <p:sp>
        <p:nvSpPr>
          <p:cNvPr id="5" name="TextBox 4"/>
          <p:cNvSpPr txBox="1"/>
          <p:nvPr/>
        </p:nvSpPr>
        <p:spPr>
          <a:xfrm>
            <a:off x="777240" y="822960"/>
            <a:ext cx="10881360" cy="822960"/>
          </a:xfrm>
          <a:prstGeom prst="rect">
            <a:avLst/>
          </a:prstGeom>
          <a:noFill/>
        </p:spPr>
        <p:txBody>
          <a:bodyPr wrap="square" anchor="t">
            <a:spAutoFit/>
          </a:bodyPr>
          <a:lstStyle/>
          <a:p>
            <a:pPr algn="l">
              <a:spcAft>
                <a:spcPts val="400"/>
              </a:spcAft>
            </a:pPr>
            <a:r>
              <a:rPr sz="2900" b="1">
                <a:solidFill>
                  <a:srgbClr val="161B26"/>
                </a:solidFill>
                <a:latin typeface="Arial"/>
              </a:rPr>
              <a:t>Where they converge: chemistry</a:t>
            </a:r>
          </a:p>
        </p:txBody>
      </p:sp>
      <p:sp>
        <p:nvSpPr>
          <p:cNvPr id="6" name="Rectangle 5"/>
          <p:cNvSpPr/>
          <p:nvPr/>
        </p:nvSpPr>
        <p:spPr>
          <a:xfrm>
            <a:off x="777240" y="1554480"/>
            <a:ext cx="10634472" cy="18288"/>
          </a:xfrm>
          <a:prstGeom prst="rect">
            <a:avLst/>
          </a:prstGeom>
          <a:solidFill>
            <a:srgbClr val="E2E8F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Rectangle 6"/>
          <p:cNvSpPr/>
          <p:nvPr/>
        </p:nvSpPr>
        <p:spPr>
          <a:xfrm>
            <a:off x="777240" y="1810512"/>
            <a:ext cx="10634472" cy="3214116"/>
          </a:xfrm>
          <a:prstGeom prst="rect">
            <a:avLst/>
          </a:prstGeom>
          <a:solidFill>
            <a:srgbClr val="0B122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TextBox 7"/>
          <p:cNvSpPr txBox="1"/>
          <p:nvPr/>
        </p:nvSpPr>
        <p:spPr>
          <a:xfrm>
            <a:off x="1097280" y="1956816"/>
            <a:ext cx="9994392" cy="2921508"/>
          </a:xfrm>
          <a:prstGeom prst="rect">
            <a:avLst/>
          </a:prstGeom>
          <a:noFill/>
        </p:spPr>
        <p:txBody>
          <a:bodyPr wrap="square" anchor="t">
            <a:spAutoFit/>
          </a:bodyPr>
          <a:lstStyle/>
          <a:p>
            <a:pPr algn="l">
              <a:spcAft>
                <a:spcPts val="300"/>
              </a:spcAft>
            </a:pPr>
            <a:r>
              <a:rPr sz="1500" b="0">
                <a:solidFill>
                  <a:srgbClr val="9CDCFE"/>
                </a:solidFill>
                <a:latin typeface="Arial"/>
              </a:rPr>
              <a:t>The most credible near-term combination:</a:t>
            </a:r>
          </a:p>
          <a:p>
            <a:pPr algn="l">
              <a:spcAft>
                <a:spcPts val="300"/>
              </a:spcAft>
            </a:pPr>
            <a:r>
              <a:rPr sz="1500" b="0">
                <a:solidFill>
                  <a:srgbClr val="0B1220"/>
                </a:solidFill>
                <a:latin typeface="Arial"/>
              </a:rPr>
              <a:t> </a:t>
            </a:r>
          </a:p>
          <a:p>
            <a:pPr algn="l">
              <a:spcAft>
                <a:spcPts val="300"/>
              </a:spcAft>
            </a:pPr>
            <a:r>
              <a:rPr sz="1500" b="0">
                <a:solidFill>
                  <a:srgbClr val="9CDCFE"/>
                </a:solidFill>
                <a:latin typeface="Arial"/>
              </a:rPr>
              <a:t>   1. QUANTUM computer simulates a molecule that is classically intractable</a:t>
            </a:r>
          </a:p>
          <a:p>
            <a:pPr algn="l">
              <a:spcAft>
                <a:spcPts val="300"/>
              </a:spcAft>
            </a:pPr>
            <a:r>
              <a:rPr sz="1500" b="0">
                <a:solidFill>
                  <a:srgbClr val="9CDCFE"/>
                </a:solidFill>
                <a:latin typeface="Arial"/>
              </a:rPr>
              <a:t>   2. Results become high-quality TRAINING DATA</a:t>
            </a:r>
          </a:p>
          <a:p>
            <a:pPr algn="l">
              <a:spcAft>
                <a:spcPts val="300"/>
              </a:spcAft>
            </a:pPr>
            <a:r>
              <a:rPr sz="1500" b="0">
                <a:solidFill>
                  <a:srgbClr val="9CDCFE"/>
                </a:solidFill>
                <a:latin typeface="Arial"/>
              </a:rPr>
              <a:t>   3. An AI MODEL (e.g. a graph neural net) learns from that data</a:t>
            </a:r>
          </a:p>
          <a:p>
            <a:pPr algn="l">
              <a:spcAft>
                <a:spcPts val="300"/>
              </a:spcAft>
            </a:pPr>
            <a:r>
              <a:rPr sz="1500" b="0">
                <a:solidFill>
                  <a:srgbClr val="9CDCFE"/>
                </a:solidFill>
                <a:latin typeface="Arial"/>
              </a:rPr>
              <a:t>   4. The AI screens MILLIONS of candidate molecules cheaply</a:t>
            </a:r>
          </a:p>
          <a:p>
            <a:pPr algn="l">
              <a:spcAft>
                <a:spcPts val="300"/>
              </a:spcAft>
            </a:pPr>
            <a:r>
              <a:rPr sz="1500" b="0">
                <a:solidFill>
                  <a:srgbClr val="9CDCFE"/>
                </a:solidFill>
                <a:latin typeface="Arial"/>
              </a:rPr>
              <a:t>   5. The quantum computer verifies only the top candidates</a:t>
            </a:r>
          </a:p>
          <a:p>
            <a:pPr algn="l">
              <a:spcAft>
                <a:spcPts val="300"/>
              </a:spcAft>
            </a:pPr>
            <a:r>
              <a:rPr sz="1500" b="0">
                <a:solidFill>
                  <a:srgbClr val="0B1220"/>
                </a:solidFill>
                <a:latin typeface="Arial"/>
              </a:rPr>
              <a:t> </a:t>
            </a:r>
          </a:p>
          <a:p>
            <a:pPr algn="l">
              <a:spcAft>
                <a:spcPts val="300"/>
              </a:spcAft>
            </a:pPr>
            <a:r>
              <a:rPr sz="1500" b="0">
                <a:solidFill>
                  <a:srgbClr val="9CDCFE"/>
                </a:solidFill>
                <a:latin typeface="Arial"/>
              </a:rPr>
              <a:t>Quantum supplies scarce, high-accuracy ground truth; AI supplies scale.</a:t>
            </a:r>
          </a:p>
        </p:txBody>
      </p:sp>
      <p:sp>
        <p:nvSpPr>
          <p:cNvPr id="9" name="Rectangle 8"/>
          <p:cNvSpPr/>
          <p:nvPr/>
        </p:nvSpPr>
        <p:spPr>
          <a:xfrm>
            <a:off x="777240" y="5225796"/>
            <a:ext cx="10634472" cy="827532"/>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Rectangle 9"/>
          <p:cNvSpPr/>
          <p:nvPr/>
        </p:nvSpPr>
        <p:spPr>
          <a:xfrm>
            <a:off x="777240" y="5225796"/>
            <a:ext cx="82296" cy="827532"/>
          </a:xfrm>
          <a:prstGeom prst="rect">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 name="TextBox 10"/>
          <p:cNvSpPr txBox="1"/>
          <p:nvPr/>
        </p:nvSpPr>
        <p:spPr>
          <a:xfrm>
            <a:off x="1097280" y="5225796"/>
            <a:ext cx="10149840" cy="827532"/>
          </a:xfrm>
          <a:prstGeom prst="rect">
            <a:avLst/>
          </a:prstGeom>
          <a:noFill/>
        </p:spPr>
        <p:txBody>
          <a:bodyPr wrap="square" anchor="ctr">
            <a:spAutoFit/>
          </a:bodyPr>
          <a:lstStyle/>
          <a:p>
            <a:pPr algn="l">
              <a:spcAft>
                <a:spcPts val="400"/>
              </a:spcAft>
            </a:pPr>
            <a:r>
              <a:rPr sz="1150" b="1">
                <a:solidFill>
                  <a:srgbClr val="10B981"/>
                </a:solidFill>
                <a:latin typeface="Arial"/>
              </a:rPr>
              <a:t>KEY POINT:  </a:t>
            </a:r>
            <a:r>
              <a:rPr sz="1300" b="0">
                <a:solidFill>
                  <a:srgbClr val="161B26"/>
                </a:solidFill>
                <a:latin typeface="Arial"/>
              </a:rPr>
              <a:t>This division of labour plays to each technology's actual strength instead of pitting them against each other.</a:t>
            </a:r>
          </a:p>
        </p:txBody>
      </p:sp>
      <p:sp>
        <p:nvSpPr>
          <p:cNvPr id="12" name="TextBox 11"/>
          <p:cNvSpPr txBox="1"/>
          <p:nvPr/>
        </p:nvSpPr>
        <p:spPr>
          <a:xfrm>
            <a:off x="365760" y="6446520"/>
            <a:ext cx="6858000" cy="320040"/>
          </a:xfrm>
          <a:prstGeom prst="rect">
            <a:avLst/>
          </a:prstGeom>
          <a:noFill/>
        </p:spPr>
        <p:txBody>
          <a:bodyPr wrap="square" anchor="t">
            <a:spAutoFit/>
          </a:bodyPr>
          <a:lstStyle/>
          <a:p>
            <a:pPr algn="l">
              <a:spcAft>
                <a:spcPts val="400"/>
              </a:spcAft>
            </a:pPr>
            <a:r>
              <a:rPr sz="900" b="0">
                <a:solidFill>
                  <a:srgbClr val="5B6372"/>
                </a:solidFill>
                <a:latin typeface="Arial"/>
              </a:rPr>
              <a:t>Securing the Future with Quantum Computing and Cryptography  ·  TGS-2024043419</a:t>
            </a:r>
          </a:p>
        </p:txBody>
      </p:sp>
      <p:sp>
        <p:nvSpPr>
          <p:cNvPr id="13" name="TextBox 12"/>
          <p:cNvSpPr txBox="1"/>
          <p:nvPr/>
        </p:nvSpPr>
        <p:spPr>
          <a:xfrm>
            <a:off x="4572000" y="6446520"/>
            <a:ext cx="3017520" cy="320040"/>
          </a:xfrm>
          <a:prstGeom prst="rect">
            <a:avLst/>
          </a:prstGeom>
          <a:noFill/>
        </p:spPr>
        <p:txBody>
          <a:bodyPr wrap="square" anchor="t">
            <a:spAutoFit/>
          </a:bodyPr>
          <a:lstStyle/>
          <a:p>
            <a:pPr algn="ctr">
              <a:spcAft>
                <a:spcPts val="400"/>
              </a:spcAft>
            </a:pPr>
            <a:r>
              <a:rPr sz="900" b="0">
                <a:solidFill>
                  <a:srgbClr val="5B6372"/>
                </a:solidFill>
                <a:latin typeface="Arial"/>
              </a:rPr>
              <a:t>© 2026 Tertiary Infotech Academy Pte Ltd</a:t>
            </a:r>
          </a:p>
        </p:txBody>
      </p:sp>
      <p:sp>
        <p:nvSpPr>
          <p:cNvPr id="14" name="TextBox 13"/>
          <p:cNvSpPr txBox="1"/>
          <p:nvPr/>
        </p:nvSpPr>
        <p:spPr>
          <a:xfrm>
            <a:off x="11338560" y="6446520"/>
            <a:ext cx="548640" cy="320040"/>
          </a:xfrm>
          <a:prstGeom prst="rect">
            <a:avLst/>
          </a:prstGeom>
          <a:noFill/>
        </p:spPr>
        <p:txBody>
          <a:bodyPr wrap="square" anchor="t">
            <a:spAutoFit/>
          </a:bodyPr>
          <a:lstStyle/>
          <a:p>
            <a:pPr algn="r">
              <a:spcAft>
                <a:spcPts val="400"/>
              </a:spcAft>
            </a:pPr>
            <a:r>
              <a:rPr sz="900" b="0">
                <a:solidFill>
                  <a:srgbClr val="5B6372"/>
                </a:solidFill>
                <a:latin typeface="Arial"/>
              </a:rPr>
              <a:t>225</a:t>
            </a:r>
          </a:p>
        </p:txBody>
      </p:sp>
    </p:spTree>
  </p:cSld>
  <p:clrMapOvr>
    <a:masterClrMapping/>
  </p:clrMapOvr>
</p:sld>
</file>

<file path=ppt/slides/slide227.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256032" cy="1417320"/>
          </a:xfrm>
          <a:prstGeom prst="rect">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777240" y="457200"/>
            <a:ext cx="10607040" cy="365760"/>
          </a:xfrm>
          <a:prstGeom prst="rect">
            <a:avLst/>
          </a:prstGeom>
          <a:noFill/>
        </p:spPr>
        <p:txBody>
          <a:bodyPr wrap="square" anchor="t">
            <a:spAutoFit/>
          </a:bodyPr>
          <a:lstStyle/>
          <a:p>
            <a:pPr algn="l">
              <a:spcAft>
                <a:spcPts val="400"/>
              </a:spcAft>
            </a:pPr>
            <a:r>
              <a:rPr sz="1400" b="1">
                <a:solidFill>
                  <a:srgbClr val="1F6FEB"/>
                </a:solidFill>
                <a:latin typeface="Arial"/>
              </a:rPr>
              <a:t>WHERE THE TWO TECHNOLOGIES MEET</a:t>
            </a:r>
          </a:p>
        </p:txBody>
      </p:sp>
      <p:sp>
        <p:nvSpPr>
          <p:cNvPr id="5" name="TextBox 4"/>
          <p:cNvSpPr txBox="1"/>
          <p:nvPr/>
        </p:nvSpPr>
        <p:spPr>
          <a:xfrm>
            <a:off x="777240" y="822960"/>
            <a:ext cx="10881360" cy="822960"/>
          </a:xfrm>
          <a:prstGeom prst="rect">
            <a:avLst/>
          </a:prstGeom>
          <a:noFill/>
        </p:spPr>
        <p:txBody>
          <a:bodyPr wrap="square" anchor="t">
            <a:spAutoFit/>
          </a:bodyPr>
          <a:lstStyle/>
          <a:p>
            <a:pPr algn="l">
              <a:spcAft>
                <a:spcPts val="400"/>
              </a:spcAft>
            </a:pPr>
            <a:r>
              <a:rPr sz="2900" b="1">
                <a:solidFill>
                  <a:srgbClr val="161B26"/>
                </a:solidFill>
                <a:latin typeface="Arial"/>
              </a:rPr>
              <a:t>Security implications of the convergence</a:t>
            </a:r>
          </a:p>
        </p:txBody>
      </p:sp>
      <p:sp>
        <p:nvSpPr>
          <p:cNvPr id="6" name="Rectangle 5"/>
          <p:cNvSpPr/>
          <p:nvPr/>
        </p:nvSpPr>
        <p:spPr>
          <a:xfrm>
            <a:off x="777240" y="1554480"/>
            <a:ext cx="10634472" cy="18288"/>
          </a:xfrm>
          <a:prstGeom prst="rect">
            <a:avLst/>
          </a:prstGeom>
          <a:solidFill>
            <a:srgbClr val="E2E8F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Rectangle 6"/>
          <p:cNvSpPr/>
          <p:nvPr/>
        </p:nvSpPr>
        <p:spPr>
          <a:xfrm>
            <a:off x="777240" y="1810512"/>
            <a:ext cx="10634472" cy="3520440"/>
          </a:xfrm>
          <a:prstGeom prst="rect">
            <a:avLst/>
          </a:prstGeom>
          <a:solidFill>
            <a:srgbClr val="0B122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TextBox 7"/>
          <p:cNvSpPr txBox="1"/>
          <p:nvPr/>
        </p:nvSpPr>
        <p:spPr>
          <a:xfrm>
            <a:off x="1097280" y="1956816"/>
            <a:ext cx="9994392" cy="3227832"/>
          </a:xfrm>
          <a:prstGeom prst="rect">
            <a:avLst/>
          </a:prstGeom>
          <a:noFill/>
        </p:spPr>
        <p:txBody>
          <a:bodyPr wrap="square" anchor="t">
            <a:spAutoFit/>
          </a:bodyPr>
          <a:lstStyle/>
          <a:p>
            <a:pPr algn="l">
              <a:spcAft>
                <a:spcPts val="300"/>
              </a:spcAft>
            </a:pPr>
            <a:r>
              <a:rPr sz="1320" b="0">
                <a:solidFill>
                  <a:srgbClr val="9CDCFE"/>
                </a:solidFill>
                <a:latin typeface="Arial"/>
              </a:rPr>
              <a:t>   AI ACCELERATES CRYPTANALYSIS — ML-assisted side-channel attacks and</a:t>
            </a:r>
          </a:p>
          <a:p>
            <a:pPr algn="l">
              <a:spcAft>
                <a:spcPts val="300"/>
              </a:spcAft>
            </a:pPr>
            <a:r>
              <a:rPr sz="1320" b="0">
                <a:solidFill>
                  <a:srgbClr val="9CDCFE"/>
                </a:solidFill>
                <a:latin typeface="Arial"/>
              </a:rPr>
              <a:t>     lattice-reduction heuristics are active research areas</a:t>
            </a:r>
          </a:p>
          <a:p>
            <a:pPr algn="l">
              <a:spcAft>
                <a:spcPts val="300"/>
              </a:spcAft>
            </a:pPr>
            <a:r>
              <a:rPr sz="1320" b="0">
                <a:solidFill>
                  <a:srgbClr val="0B1220"/>
                </a:solidFill>
                <a:latin typeface="Arial"/>
              </a:rPr>
              <a:t> </a:t>
            </a:r>
          </a:p>
          <a:p>
            <a:pPr algn="l">
              <a:spcAft>
                <a:spcPts val="300"/>
              </a:spcAft>
            </a:pPr>
            <a:r>
              <a:rPr sz="1320" b="0">
                <a:solidFill>
                  <a:srgbClr val="9CDCFE"/>
                </a:solidFill>
                <a:latin typeface="Arial"/>
              </a:rPr>
              <a:t>   PQC MUST PROTECT AI SYSTEMS — model weights, training data and</a:t>
            </a:r>
          </a:p>
          <a:p>
            <a:pPr algn="l">
              <a:spcAft>
                <a:spcPts val="300"/>
              </a:spcAft>
            </a:pPr>
            <a:r>
              <a:rPr sz="1320" b="0">
                <a:solidFill>
                  <a:srgbClr val="9CDCFE"/>
                </a:solidFill>
                <a:latin typeface="Arial"/>
              </a:rPr>
              <a:t>     inference APIs all need quantum-safe transport and signing</a:t>
            </a:r>
          </a:p>
          <a:p>
            <a:pPr algn="l">
              <a:spcAft>
                <a:spcPts val="300"/>
              </a:spcAft>
            </a:pPr>
            <a:r>
              <a:rPr sz="1320" b="0">
                <a:solidFill>
                  <a:srgbClr val="0B1220"/>
                </a:solidFill>
                <a:latin typeface="Arial"/>
              </a:rPr>
              <a:t> </a:t>
            </a:r>
          </a:p>
          <a:p>
            <a:pPr algn="l">
              <a:spcAft>
                <a:spcPts val="300"/>
              </a:spcAft>
            </a:pPr>
            <a:r>
              <a:rPr sz="1320" b="0">
                <a:solidFill>
                  <a:srgbClr val="9CDCFE"/>
                </a:solidFill>
                <a:latin typeface="Arial"/>
              </a:rPr>
              <a:t>   AI DEFENDS — anomaly detection can flag harvest-now traffic capture</a:t>
            </a:r>
          </a:p>
          <a:p>
            <a:pPr algn="l">
              <a:spcAft>
                <a:spcPts val="300"/>
              </a:spcAft>
            </a:pPr>
            <a:r>
              <a:rPr sz="1320" b="0">
                <a:solidFill>
                  <a:srgbClr val="0B1220"/>
                </a:solidFill>
                <a:latin typeface="Arial"/>
              </a:rPr>
              <a:t> </a:t>
            </a:r>
          </a:p>
          <a:p>
            <a:pPr algn="l">
              <a:spcAft>
                <a:spcPts val="300"/>
              </a:spcAft>
            </a:pPr>
            <a:r>
              <a:rPr sz="1320" b="0">
                <a:solidFill>
                  <a:srgbClr val="9CDCFE"/>
                </a:solidFill>
                <a:latin typeface="Arial"/>
              </a:rPr>
              <a:t>   MODEL PROVENANCE — signing model artifacts with ML-DSA guards the</a:t>
            </a:r>
          </a:p>
          <a:p>
            <a:pPr algn="l">
              <a:spcAft>
                <a:spcPts val="300"/>
              </a:spcAft>
            </a:pPr>
            <a:r>
              <a:rPr sz="1320" b="0">
                <a:solidFill>
                  <a:srgbClr val="9CDCFE"/>
                </a:solidFill>
                <a:latin typeface="Arial"/>
              </a:rPr>
              <a:t>     AI supply chain against tampering</a:t>
            </a:r>
          </a:p>
        </p:txBody>
      </p:sp>
      <p:sp>
        <p:nvSpPr>
          <p:cNvPr id="9" name="Rectangle 8"/>
          <p:cNvSpPr/>
          <p:nvPr/>
        </p:nvSpPr>
        <p:spPr>
          <a:xfrm>
            <a:off x="777240" y="5532120"/>
            <a:ext cx="10634472" cy="521208"/>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Rectangle 9"/>
          <p:cNvSpPr/>
          <p:nvPr/>
        </p:nvSpPr>
        <p:spPr>
          <a:xfrm>
            <a:off x="777240" y="5532120"/>
            <a:ext cx="82296" cy="521208"/>
          </a:xfrm>
          <a:prstGeom prst="rect">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 name="TextBox 10"/>
          <p:cNvSpPr txBox="1"/>
          <p:nvPr/>
        </p:nvSpPr>
        <p:spPr>
          <a:xfrm>
            <a:off x="1097280" y="5532120"/>
            <a:ext cx="10149840" cy="521208"/>
          </a:xfrm>
          <a:prstGeom prst="rect">
            <a:avLst/>
          </a:prstGeom>
          <a:noFill/>
        </p:spPr>
        <p:txBody>
          <a:bodyPr wrap="square" anchor="ctr">
            <a:spAutoFit/>
          </a:bodyPr>
          <a:lstStyle/>
          <a:p>
            <a:pPr algn="l">
              <a:spcAft>
                <a:spcPts val="400"/>
              </a:spcAft>
            </a:pPr>
            <a:r>
              <a:rPr sz="1150" b="1">
                <a:solidFill>
                  <a:srgbClr val="10B981"/>
                </a:solidFill>
                <a:latin typeface="Arial"/>
              </a:rPr>
              <a:t>KEY POINT:  </a:t>
            </a:r>
            <a:r>
              <a:rPr sz="1300" b="0">
                <a:solidFill>
                  <a:srgbClr val="161B26"/>
                </a:solidFill>
                <a:latin typeface="Arial"/>
              </a:rPr>
              <a:t>Model weights are long-lived, extremely high-value secrets — a textbook harvest-now-decrypt-later target.</a:t>
            </a:r>
          </a:p>
        </p:txBody>
      </p:sp>
      <p:sp>
        <p:nvSpPr>
          <p:cNvPr id="12" name="TextBox 11"/>
          <p:cNvSpPr txBox="1"/>
          <p:nvPr/>
        </p:nvSpPr>
        <p:spPr>
          <a:xfrm>
            <a:off x="365760" y="6446520"/>
            <a:ext cx="6858000" cy="320040"/>
          </a:xfrm>
          <a:prstGeom prst="rect">
            <a:avLst/>
          </a:prstGeom>
          <a:noFill/>
        </p:spPr>
        <p:txBody>
          <a:bodyPr wrap="square" anchor="t">
            <a:spAutoFit/>
          </a:bodyPr>
          <a:lstStyle/>
          <a:p>
            <a:pPr algn="l">
              <a:spcAft>
                <a:spcPts val="400"/>
              </a:spcAft>
            </a:pPr>
            <a:r>
              <a:rPr sz="900" b="0">
                <a:solidFill>
                  <a:srgbClr val="5B6372"/>
                </a:solidFill>
                <a:latin typeface="Arial"/>
              </a:rPr>
              <a:t>Securing the Future with Quantum Computing and Cryptography  ·  TGS-2024043419</a:t>
            </a:r>
          </a:p>
        </p:txBody>
      </p:sp>
      <p:sp>
        <p:nvSpPr>
          <p:cNvPr id="13" name="TextBox 12"/>
          <p:cNvSpPr txBox="1"/>
          <p:nvPr/>
        </p:nvSpPr>
        <p:spPr>
          <a:xfrm>
            <a:off x="4572000" y="6446520"/>
            <a:ext cx="3017520" cy="320040"/>
          </a:xfrm>
          <a:prstGeom prst="rect">
            <a:avLst/>
          </a:prstGeom>
          <a:noFill/>
        </p:spPr>
        <p:txBody>
          <a:bodyPr wrap="square" anchor="t">
            <a:spAutoFit/>
          </a:bodyPr>
          <a:lstStyle/>
          <a:p>
            <a:pPr algn="ctr">
              <a:spcAft>
                <a:spcPts val="400"/>
              </a:spcAft>
            </a:pPr>
            <a:r>
              <a:rPr sz="900" b="0">
                <a:solidFill>
                  <a:srgbClr val="5B6372"/>
                </a:solidFill>
                <a:latin typeface="Arial"/>
              </a:rPr>
              <a:t>© 2026 Tertiary Infotech Academy Pte Ltd</a:t>
            </a:r>
          </a:p>
        </p:txBody>
      </p:sp>
      <p:sp>
        <p:nvSpPr>
          <p:cNvPr id="14" name="TextBox 13"/>
          <p:cNvSpPr txBox="1"/>
          <p:nvPr/>
        </p:nvSpPr>
        <p:spPr>
          <a:xfrm>
            <a:off x="11338560" y="6446520"/>
            <a:ext cx="548640" cy="320040"/>
          </a:xfrm>
          <a:prstGeom prst="rect">
            <a:avLst/>
          </a:prstGeom>
          <a:noFill/>
        </p:spPr>
        <p:txBody>
          <a:bodyPr wrap="square" anchor="t">
            <a:spAutoFit/>
          </a:bodyPr>
          <a:lstStyle/>
          <a:p>
            <a:pPr algn="r">
              <a:spcAft>
                <a:spcPts val="400"/>
              </a:spcAft>
            </a:pPr>
            <a:r>
              <a:rPr sz="900" b="0">
                <a:solidFill>
                  <a:srgbClr val="5B6372"/>
                </a:solidFill>
                <a:latin typeface="Arial"/>
              </a:rPr>
              <a:t>226</a:t>
            </a:r>
          </a:p>
        </p:txBody>
      </p:sp>
    </p:spTree>
  </p:cSld>
  <p:clrMapOvr>
    <a:masterClrMapping/>
  </p:clrMapOvr>
</p:sld>
</file>

<file path=ppt/slides/slide228.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256032" cy="1417320"/>
          </a:xfrm>
          <a:prstGeom prst="rect">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777240" y="457200"/>
            <a:ext cx="10607040" cy="365760"/>
          </a:xfrm>
          <a:prstGeom prst="rect">
            <a:avLst/>
          </a:prstGeom>
          <a:noFill/>
        </p:spPr>
        <p:txBody>
          <a:bodyPr wrap="square" anchor="t">
            <a:spAutoFit/>
          </a:bodyPr>
          <a:lstStyle/>
          <a:p>
            <a:pPr algn="l">
              <a:spcAft>
                <a:spcPts val="400"/>
              </a:spcAft>
            </a:pPr>
            <a:r>
              <a:rPr sz="1400" b="1">
                <a:solidFill>
                  <a:srgbClr val="1F6FEB"/>
                </a:solidFill>
                <a:latin typeface="Arial"/>
              </a:rPr>
              <a:t>WHERE THE TWO TECHNOLOGIES MEET</a:t>
            </a:r>
          </a:p>
        </p:txBody>
      </p:sp>
      <p:sp>
        <p:nvSpPr>
          <p:cNvPr id="5" name="TextBox 4"/>
          <p:cNvSpPr txBox="1"/>
          <p:nvPr/>
        </p:nvSpPr>
        <p:spPr>
          <a:xfrm>
            <a:off x="777240" y="822960"/>
            <a:ext cx="10881360" cy="822960"/>
          </a:xfrm>
          <a:prstGeom prst="rect">
            <a:avLst/>
          </a:prstGeom>
          <a:noFill/>
        </p:spPr>
        <p:txBody>
          <a:bodyPr wrap="square" anchor="t">
            <a:spAutoFit/>
          </a:bodyPr>
          <a:lstStyle/>
          <a:p>
            <a:pPr algn="l">
              <a:spcAft>
                <a:spcPts val="400"/>
              </a:spcAft>
            </a:pPr>
            <a:r>
              <a:rPr sz="2900" b="1">
                <a:solidFill>
                  <a:srgbClr val="161B26"/>
                </a:solidFill>
                <a:latin typeface="Arial"/>
              </a:rPr>
              <a:t>Realistic outlook</a:t>
            </a:r>
          </a:p>
        </p:txBody>
      </p:sp>
      <p:sp>
        <p:nvSpPr>
          <p:cNvPr id="6" name="Rectangle 5"/>
          <p:cNvSpPr/>
          <p:nvPr/>
        </p:nvSpPr>
        <p:spPr>
          <a:xfrm>
            <a:off x="777240" y="1554480"/>
            <a:ext cx="10634472" cy="18288"/>
          </a:xfrm>
          <a:prstGeom prst="rect">
            <a:avLst/>
          </a:prstGeom>
          <a:solidFill>
            <a:srgbClr val="E2E8F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Rectangle 6"/>
          <p:cNvSpPr/>
          <p:nvPr/>
        </p:nvSpPr>
        <p:spPr>
          <a:xfrm>
            <a:off x="777240" y="1810512"/>
            <a:ext cx="10634472" cy="2907792"/>
          </a:xfrm>
          <a:prstGeom prst="rect">
            <a:avLst/>
          </a:prstGeom>
          <a:solidFill>
            <a:srgbClr val="0B122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TextBox 7"/>
          <p:cNvSpPr txBox="1"/>
          <p:nvPr/>
        </p:nvSpPr>
        <p:spPr>
          <a:xfrm>
            <a:off x="1097280" y="1956816"/>
            <a:ext cx="9994392" cy="2615184"/>
          </a:xfrm>
          <a:prstGeom prst="rect">
            <a:avLst/>
          </a:prstGeom>
          <a:noFill/>
        </p:spPr>
        <p:txBody>
          <a:bodyPr wrap="square" anchor="t">
            <a:spAutoFit/>
          </a:bodyPr>
          <a:lstStyle/>
          <a:p>
            <a:pPr algn="l">
              <a:spcAft>
                <a:spcPts val="300"/>
              </a:spcAft>
            </a:pPr>
            <a:r>
              <a:rPr sz="1500" b="0">
                <a:solidFill>
                  <a:srgbClr val="9CDCFE"/>
                </a:solidFill>
                <a:latin typeface="Arial"/>
              </a:rPr>
              <a:t>   TODAY (NISQ)      AI runs quantum hardware. Quantum ML is research.</a:t>
            </a:r>
          </a:p>
          <a:p>
            <a:pPr algn="l">
              <a:spcAft>
                <a:spcPts val="300"/>
              </a:spcAft>
            </a:pPr>
            <a:r>
              <a:rPr sz="1500" b="0">
                <a:solidFill>
                  <a:srgbClr val="9CDCFE"/>
                </a:solidFill>
                <a:latin typeface="Arial"/>
              </a:rPr>
              <a:t>   ~2029 (early FT)  first logical qubits; quantum chemistry feeds AI</a:t>
            </a:r>
          </a:p>
          <a:p>
            <a:pPr algn="l">
              <a:spcAft>
                <a:spcPts val="300"/>
              </a:spcAft>
            </a:pPr>
            <a:r>
              <a:rPr sz="1500" b="0">
                <a:solidFill>
                  <a:srgbClr val="9CDCFE"/>
                </a:solidFill>
                <a:latin typeface="Arial"/>
              </a:rPr>
              <a:t>                     training sets; PQC migration should be complete</a:t>
            </a:r>
          </a:p>
          <a:p>
            <a:pPr algn="l">
              <a:spcAft>
                <a:spcPts val="300"/>
              </a:spcAft>
            </a:pPr>
            <a:r>
              <a:rPr sz="1500" b="0">
                <a:solidFill>
                  <a:srgbClr val="9CDCFE"/>
                </a:solidFill>
                <a:latin typeface="Arial"/>
              </a:rPr>
              <a:t>   2030s             fault-tolerant chemistry and materials at scale;</a:t>
            </a:r>
          </a:p>
          <a:p>
            <a:pPr algn="l">
              <a:spcAft>
                <a:spcPts val="300"/>
              </a:spcAft>
            </a:pPr>
            <a:r>
              <a:rPr sz="1500" b="0">
                <a:solidFill>
                  <a:srgbClr val="9CDCFE"/>
                </a:solidFill>
                <a:latin typeface="Arial"/>
              </a:rPr>
              <a:t>                     quantum-generated data becomes routine in AI pipelines</a:t>
            </a:r>
          </a:p>
          <a:p>
            <a:pPr algn="l">
              <a:spcAft>
                <a:spcPts val="300"/>
              </a:spcAft>
            </a:pPr>
            <a:r>
              <a:rPr sz="1500" b="0">
                <a:solidFill>
                  <a:srgbClr val="0B1220"/>
                </a:solidFill>
                <a:latin typeface="Arial"/>
              </a:rPr>
              <a:t> </a:t>
            </a:r>
          </a:p>
          <a:p>
            <a:pPr algn="l">
              <a:spcAft>
                <a:spcPts val="300"/>
              </a:spcAft>
            </a:pPr>
            <a:r>
              <a:rPr sz="1500" b="0">
                <a:solidFill>
                  <a:srgbClr val="9CDCFE"/>
                </a:solidFill>
                <a:latin typeface="Arial"/>
              </a:rPr>
              <a:t>   CONSTANT          the security work does NOT wait for any of this.</a:t>
            </a:r>
          </a:p>
          <a:p>
            <a:pPr algn="l">
              <a:spcAft>
                <a:spcPts val="300"/>
              </a:spcAft>
            </a:pPr>
            <a:r>
              <a:rPr sz="1500" b="0">
                <a:solidFill>
                  <a:srgbClr val="9CDCFE"/>
                </a:solidFill>
                <a:latin typeface="Arial"/>
              </a:rPr>
              <a:t>                     Harvest-now-decrypt-later is a TODAY problem.</a:t>
            </a:r>
          </a:p>
        </p:txBody>
      </p:sp>
      <p:sp>
        <p:nvSpPr>
          <p:cNvPr id="9" name="Rectangle 8"/>
          <p:cNvSpPr/>
          <p:nvPr/>
        </p:nvSpPr>
        <p:spPr>
          <a:xfrm>
            <a:off x="777240" y="4919472"/>
            <a:ext cx="10634472" cy="1133856"/>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Rectangle 9"/>
          <p:cNvSpPr/>
          <p:nvPr/>
        </p:nvSpPr>
        <p:spPr>
          <a:xfrm>
            <a:off x="777240" y="4919472"/>
            <a:ext cx="82296" cy="1133856"/>
          </a:xfrm>
          <a:prstGeom prst="rect">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 name="TextBox 10"/>
          <p:cNvSpPr txBox="1"/>
          <p:nvPr/>
        </p:nvSpPr>
        <p:spPr>
          <a:xfrm>
            <a:off x="1097280" y="4919472"/>
            <a:ext cx="10149840" cy="1133856"/>
          </a:xfrm>
          <a:prstGeom prst="rect">
            <a:avLst/>
          </a:prstGeom>
          <a:noFill/>
        </p:spPr>
        <p:txBody>
          <a:bodyPr wrap="square" anchor="ctr">
            <a:spAutoFit/>
          </a:bodyPr>
          <a:lstStyle/>
          <a:p>
            <a:pPr algn="l">
              <a:spcAft>
                <a:spcPts val="400"/>
              </a:spcAft>
            </a:pPr>
            <a:r>
              <a:rPr sz="1150" b="1">
                <a:solidFill>
                  <a:srgbClr val="10B981"/>
                </a:solidFill>
                <a:latin typeface="Arial"/>
              </a:rPr>
              <a:t>KEY POINT:  </a:t>
            </a:r>
            <a:r>
              <a:rPr sz="1300" b="0">
                <a:solidFill>
                  <a:srgbClr val="161B26"/>
                </a:solidFill>
                <a:latin typeface="Arial"/>
              </a:rPr>
              <a:t>The security timeline is independent of the computing timeline — that is the single most important message to take back to work.</a:t>
            </a:r>
          </a:p>
        </p:txBody>
      </p:sp>
      <p:sp>
        <p:nvSpPr>
          <p:cNvPr id="12" name="TextBox 11"/>
          <p:cNvSpPr txBox="1"/>
          <p:nvPr/>
        </p:nvSpPr>
        <p:spPr>
          <a:xfrm>
            <a:off x="365760" y="6446520"/>
            <a:ext cx="6858000" cy="320040"/>
          </a:xfrm>
          <a:prstGeom prst="rect">
            <a:avLst/>
          </a:prstGeom>
          <a:noFill/>
        </p:spPr>
        <p:txBody>
          <a:bodyPr wrap="square" anchor="t">
            <a:spAutoFit/>
          </a:bodyPr>
          <a:lstStyle/>
          <a:p>
            <a:pPr algn="l">
              <a:spcAft>
                <a:spcPts val="400"/>
              </a:spcAft>
            </a:pPr>
            <a:r>
              <a:rPr sz="900" b="0">
                <a:solidFill>
                  <a:srgbClr val="5B6372"/>
                </a:solidFill>
                <a:latin typeface="Arial"/>
              </a:rPr>
              <a:t>Securing the Future with Quantum Computing and Cryptography  ·  TGS-2024043419</a:t>
            </a:r>
          </a:p>
        </p:txBody>
      </p:sp>
      <p:sp>
        <p:nvSpPr>
          <p:cNvPr id="13" name="TextBox 12"/>
          <p:cNvSpPr txBox="1"/>
          <p:nvPr/>
        </p:nvSpPr>
        <p:spPr>
          <a:xfrm>
            <a:off x="4572000" y="6446520"/>
            <a:ext cx="3017520" cy="320040"/>
          </a:xfrm>
          <a:prstGeom prst="rect">
            <a:avLst/>
          </a:prstGeom>
          <a:noFill/>
        </p:spPr>
        <p:txBody>
          <a:bodyPr wrap="square" anchor="t">
            <a:spAutoFit/>
          </a:bodyPr>
          <a:lstStyle/>
          <a:p>
            <a:pPr algn="ctr">
              <a:spcAft>
                <a:spcPts val="400"/>
              </a:spcAft>
            </a:pPr>
            <a:r>
              <a:rPr sz="900" b="0">
                <a:solidFill>
                  <a:srgbClr val="5B6372"/>
                </a:solidFill>
                <a:latin typeface="Arial"/>
              </a:rPr>
              <a:t>© 2026 Tertiary Infotech Academy Pte Ltd</a:t>
            </a:r>
          </a:p>
        </p:txBody>
      </p:sp>
      <p:sp>
        <p:nvSpPr>
          <p:cNvPr id="14" name="TextBox 13"/>
          <p:cNvSpPr txBox="1"/>
          <p:nvPr/>
        </p:nvSpPr>
        <p:spPr>
          <a:xfrm>
            <a:off x="11338560" y="6446520"/>
            <a:ext cx="548640" cy="320040"/>
          </a:xfrm>
          <a:prstGeom prst="rect">
            <a:avLst/>
          </a:prstGeom>
          <a:noFill/>
        </p:spPr>
        <p:txBody>
          <a:bodyPr wrap="square" anchor="t">
            <a:spAutoFit/>
          </a:bodyPr>
          <a:lstStyle/>
          <a:p>
            <a:pPr algn="r">
              <a:spcAft>
                <a:spcPts val="400"/>
              </a:spcAft>
            </a:pPr>
            <a:r>
              <a:rPr sz="900" b="0">
                <a:solidFill>
                  <a:srgbClr val="5B6372"/>
                </a:solidFill>
                <a:latin typeface="Arial"/>
              </a:rPr>
              <a:t>227</a:t>
            </a:r>
          </a:p>
        </p:txBody>
      </p:sp>
    </p:spTree>
  </p:cSld>
  <p:clrMapOvr>
    <a:masterClrMapping/>
  </p:clrMapOvr>
</p:sld>
</file>

<file path=ppt/slides/slide229.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256032" cy="1417320"/>
          </a:xfrm>
          <a:prstGeom prst="rect">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777240" y="457200"/>
            <a:ext cx="10607040" cy="365760"/>
          </a:xfrm>
          <a:prstGeom prst="rect">
            <a:avLst/>
          </a:prstGeom>
          <a:noFill/>
        </p:spPr>
        <p:txBody>
          <a:bodyPr wrap="square" anchor="t">
            <a:spAutoFit/>
          </a:bodyPr>
          <a:lstStyle/>
          <a:p>
            <a:pPr algn="l">
              <a:spcAft>
                <a:spcPts val="400"/>
              </a:spcAft>
            </a:pPr>
            <a:r>
              <a:rPr sz="1400" b="1">
                <a:solidFill>
                  <a:srgbClr val="1F6FEB"/>
                </a:solidFill>
                <a:latin typeface="Arial"/>
              </a:rPr>
              <a:t>WHAT YOU'LL DO</a:t>
            </a:r>
          </a:p>
        </p:txBody>
      </p:sp>
      <p:sp>
        <p:nvSpPr>
          <p:cNvPr id="5" name="TextBox 4"/>
          <p:cNvSpPr txBox="1"/>
          <p:nvPr/>
        </p:nvSpPr>
        <p:spPr>
          <a:xfrm>
            <a:off x="777240" y="822960"/>
            <a:ext cx="10881360" cy="822960"/>
          </a:xfrm>
          <a:prstGeom prst="rect">
            <a:avLst/>
          </a:prstGeom>
          <a:noFill/>
        </p:spPr>
        <p:txBody>
          <a:bodyPr wrap="square" anchor="t">
            <a:spAutoFit/>
          </a:bodyPr>
          <a:lstStyle/>
          <a:p>
            <a:pPr algn="l">
              <a:spcAft>
                <a:spcPts val="400"/>
              </a:spcAft>
            </a:pPr>
            <a:r>
              <a:rPr sz="2900" b="1">
                <a:solidFill>
                  <a:srgbClr val="161B26"/>
                </a:solidFill>
                <a:latin typeface="Arial"/>
              </a:rPr>
              <a:t>Hands-On Activities — Quantum Computing Applications and Use Cases</a:t>
            </a:r>
          </a:p>
        </p:txBody>
      </p:sp>
      <p:sp>
        <p:nvSpPr>
          <p:cNvPr id="6" name="Rectangle 5"/>
          <p:cNvSpPr/>
          <p:nvPr/>
        </p:nvSpPr>
        <p:spPr>
          <a:xfrm>
            <a:off x="777240" y="1554480"/>
            <a:ext cx="10634472" cy="18288"/>
          </a:xfrm>
          <a:prstGeom prst="rect">
            <a:avLst/>
          </a:prstGeom>
          <a:solidFill>
            <a:srgbClr val="E2E8F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Rectangle 6"/>
          <p:cNvSpPr/>
          <p:nvPr/>
        </p:nvSpPr>
        <p:spPr>
          <a:xfrm>
            <a:off x="777240" y="1783080"/>
            <a:ext cx="3337560" cy="4297680"/>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Rectangle 7"/>
          <p:cNvSpPr/>
          <p:nvPr/>
        </p:nvSpPr>
        <p:spPr>
          <a:xfrm>
            <a:off x="777240" y="1783080"/>
            <a:ext cx="3337560" cy="109728"/>
          </a:xfrm>
          <a:prstGeom prst="rect">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TextBox 8"/>
          <p:cNvSpPr txBox="1"/>
          <p:nvPr/>
        </p:nvSpPr>
        <p:spPr>
          <a:xfrm>
            <a:off x="1005840" y="2011680"/>
            <a:ext cx="2926080" cy="548640"/>
          </a:xfrm>
          <a:prstGeom prst="rect">
            <a:avLst/>
          </a:prstGeom>
          <a:noFill/>
        </p:spPr>
        <p:txBody>
          <a:bodyPr wrap="square" anchor="t">
            <a:spAutoFit/>
          </a:bodyPr>
          <a:lstStyle/>
          <a:p>
            <a:pPr algn="l">
              <a:spcAft>
                <a:spcPts val="400"/>
              </a:spcAft>
            </a:pPr>
            <a:r>
              <a:rPr sz="1900" b="1">
                <a:solidFill>
                  <a:srgbClr val="1F6FEB"/>
                </a:solidFill>
                <a:latin typeface="Arial"/>
              </a:rPr>
              <a:t>Activity 15</a:t>
            </a:r>
          </a:p>
        </p:txBody>
      </p:sp>
      <p:sp>
        <p:nvSpPr>
          <p:cNvPr id="10" name="TextBox 9"/>
          <p:cNvSpPr txBox="1"/>
          <p:nvPr/>
        </p:nvSpPr>
        <p:spPr>
          <a:xfrm>
            <a:off x="1005840" y="2697480"/>
            <a:ext cx="2926080" cy="3108960"/>
          </a:xfrm>
          <a:prstGeom prst="rect">
            <a:avLst/>
          </a:prstGeom>
          <a:noFill/>
        </p:spPr>
        <p:txBody>
          <a:bodyPr wrap="square">
            <a:spAutoFit/>
          </a:bodyPr>
          <a:lstStyle/>
          <a:p>
            <a:pPr>
              <a:spcAft>
                <a:spcPts val="900"/>
              </a:spcAft>
            </a:pPr>
            <a:r>
              <a:rPr sz="1400">
                <a:solidFill>
                  <a:srgbClr val="161B26"/>
                </a:solidFill>
                <a:latin typeface="Arial"/>
              </a:rPr>
              <a:t>•  Molecular Simulation with VQE (Healthcare &amp; Science)</a:t>
            </a:r>
          </a:p>
        </p:txBody>
      </p:sp>
      <p:sp>
        <p:nvSpPr>
          <p:cNvPr id="11" name="Rectangle 10"/>
          <p:cNvSpPr/>
          <p:nvPr/>
        </p:nvSpPr>
        <p:spPr>
          <a:xfrm>
            <a:off x="4572000" y="1783080"/>
            <a:ext cx="3337560" cy="4297680"/>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 name="Rectangle 11"/>
          <p:cNvSpPr/>
          <p:nvPr/>
        </p:nvSpPr>
        <p:spPr>
          <a:xfrm>
            <a:off x="4572000" y="1783080"/>
            <a:ext cx="3337560" cy="109728"/>
          </a:xfrm>
          <a:prstGeom prst="rect">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 name="TextBox 12"/>
          <p:cNvSpPr txBox="1"/>
          <p:nvPr/>
        </p:nvSpPr>
        <p:spPr>
          <a:xfrm>
            <a:off x="4800600" y="2011680"/>
            <a:ext cx="2926080" cy="548640"/>
          </a:xfrm>
          <a:prstGeom prst="rect">
            <a:avLst/>
          </a:prstGeom>
          <a:noFill/>
        </p:spPr>
        <p:txBody>
          <a:bodyPr wrap="square" anchor="t">
            <a:spAutoFit/>
          </a:bodyPr>
          <a:lstStyle/>
          <a:p>
            <a:pPr algn="l">
              <a:spcAft>
                <a:spcPts val="400"/>
              </a:spcAft>
            </a:pPr>
            <a:r>
              <a:rPr sz="1900" b="1">
                <a:solidFill>
                  <a:srgbClr val="10B981"/>
                </a:solidFill>
                <a:latin typeface="Arial"/>
              </a:rPr>
              <a:t>Activity 16</a:t>
            </a:r>
          </a:p>
        </p:txBody>
      </p:sp>
      <p:sp>
        <p:nvSpPr>
          <p:cNvPr id="14" name="TextBox 13"/>
          <p:cNvSpPr txBox="1"/>
          <p:nvPr/>
        </p:nvSpPr>
        <p:spPr>
          <a:xfrm>
            <a:off x="4800600" y="2697480"/>
            <a:ext cx="2926080" cy="3108960"/>
          </a:xfrm>
          <a:prstGeom prst="rect">
            <a:avLst/>
          </a:prstGeom>
          <a:noFill/>
        </p:spPr>
        <p:txBody>
          <a:bodyPr wrap="square">
            <a:spAutoFit/>
          </a:bodyPr>
          <a:lstStyle/>
          <a:p>
            <a:pPr>
              <a:spcAft>
                <a:spcPts val="900"/>
              </a:spcAft>
            </a:pPr>
            <a:r>
              <a:rPr sz="1400">
                <a:solidFill>
                  <a:srgbClr val="161B26"/>
                </a:solidFill>
                <a:latin typeface="Arial"/>
              </a:rPr>
              <a:t>•  Portfolio Optimisation with QAOA (Finance)</a:t>
            </a:r>
          </a:p>
        </p:txBody>
      </p:sp>
      <p:sp>
        <p:nvSpPr>
          <p:cNvPr id="15" name="Rectangle 14"/>
          <p:cNvSpPr/>
          <p:nvPr/>
        </p:nvSpPr>
        <p:spPr>
          <a:xfrm>
            <a:off x="8366760" y="1783080"/>
            <a:ext cx="3337560" cy="4297680"/>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6" name="Rectangle 15"/>
          <p:cNvSpPr/>
          <p:nvPr/>
        </p:nvSpPr>
        <p:spPr>
          <a:xfrm>
            <a:off x="8366760" y="1783080"/>
            <a:ext cx="3337560" cy="109728"/>
          </a:xfrm>
          <a:prstGeom prst="rect">
            <a:avLst/>
          </a:prstGeom>
          <a:solidFill>
            <a:srgbClr val="7C3AE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7" name="TextBox 16"/>
          <p:cNvSpPr txBox="1"/>
          <p:nvPr/>
        </p:nvSpPr>
        <p:spPr>
          <a:xfrm>
            <a:off x="8595360" y="2011680"/>
            <a:ext cx="2926080" cy="548640"/>
          </a:xfrm>
          <a:prstGeom prst="rect">
            <a:avLst/>
          </a:prstGeom>
          <a:noFill/>
        </p:spPr>
        <p:txBody>
          <a:bodyPr wrap="square" anchor="t">
            <a:spAutoFit/>
          </a:bodyPr>
          <a:lstStyle/>
          <a:p>
            <a:pPr algn="l">
              <a:spcAft>
                <a:spcPts val="400"/>
              </a:spcAft>
            </a:pPr>
            <a:r>
              <a:rPr sz="1900" b="1">
                <a:solidFill>
                  <a:srgbClr val="7C3AED"/>
                </a:solidFill>
                <a:latin typeface="Arial"/>
              </a:rPr>
              <a:t>—</a:t>
            </a:r>
          </a:p>
        </p:txBody>
      </p:sp>
      <p:sp>
        <p:nvSpPr>
          <p:cNvPr id="18" name="TextBox 17"/>
          <p:cNvSpPr txBox="1"/>
          <p:nvPr/>
        </p:nvSpPr>
        <p:spPr>
          <a:xfrm>
            <a:off x="8595360" y="2697480"/>
            <a:ext cx="2926080" cy="3108960"/>
          </a:xfrm>
          <a:prstGeom prst="rect">
            <a:avLst/>
          </a:prstGeom>
          <a:noFill/>
        </p:spPr>
        <p:txBody>
          <a:bodyPr wrap="square">
            <a:spAutoFit/>
          </a:bodyPr>
          <a:lstStyle/>
          <a:p>
            <a:pPr>
              <a:spcAft>
                <a:spcPts val="900"/>
              </a:spcAft>
            </a:pPr>
            <a:r>
              <a:rPr sz="1400">
                <a:solidFill>
                  <a:srgbClr val="161B26"/>
                </a:solidFill>
                <a:latin typeface="Arial"/>
              </a:rPr>
              <a:t>•  —</a:t>
            </a:r>
          </a:p>
        </p:txBody>
      </p:sp>
      <p:sp>
        <p:nvSpPr>
          <p:cNvPr id="19" name="TextBox 18"/>
          <p:cNvSpPr txBox="1"/>
          <p:nvPr/>
        </p:nvSpPr>
        <p:spPr>
          <a:xfrm>
            <a:off x="365760" y="6446520"/>
            <a:ext cx="6858000" cy="320040"/>
          </a:xfrm>
          <a:prstGeom prst="rect">
            <a:avLst/>
          </a:prstGeom>
          <a:noFill/>
        </p:spPr>
        <p:txBody>
          <a:bodyPr wrap="square" anchor="t">
            <a:spAutoFit/>
          </a:bodyPr>
          <a:lstStyle/>
          <a:p>
            <a:pPr algn="l">
              <a:spcAft>
                <a:spcPts val="400"/>
              </a:spcAft>
            </a:pPr>
            <a:r>
              <a:rPr sz="900" b="0">
                <a:solidFill>
                  <a:srgbClr val="5B6372"/>
                </a:solidFill>
                <a:latin typeface="Arial"/>
              </a:rPr>
              <a:t>Securing the Future with Quantum Computing and Cryptography  ·  TGS-2024043419</a:t>
            </a:r>
          </a:p>
        </p:txBody>
      </p:sp>
      <p:sp>
        <p:nvSpPr>
          <p:cNvPr id="20" name="TextBox 19"/>
          <p:cNvSpPr txBox="1"/>
          <p:nvPr/>
        </p:nvSpPr>
        <p:spPr>
          <a:xfrm>
            <a:off x="4572000" y="6446520"/>
            <a:ext cx="3017520" cy="320040"/>
          </a:xfrm>
          <a:prstGeom prst="rect">
            <a:avLst/>
          </a:prstGeom>
          <a:noFill/>
        </p:spPr>
        <p:txBody>
          <a:bodyPr wrap="square" anchor="t">
            <a:spAutoFit/>
          </a:bodyPr>
          <a:lstStyle/>
          <a:p>
            <a:pPr algn="ctr">
              <a:spcAft>
                <a:spcPts val="400"/>
              </a:spcAft>
            </a:pPr>
            <a:r>
              <a:rPr sz="900" b="0">
                <a:solidFill>
                  <a:srgbClr val="5B6372"/>
                </a:solidFill>
                <a:latin typeface="Arial"/>
              </a:rPr>
              <a:t>© 2026 Tertiary Infotech Academy Pte Ltd</a:t>
            </a:r>
          </a:p>
        </p:txBody>
      </p:sp>
      <p:sp>
        <p:nvSpPr>
          <p:cNvPr id="21" name="TextBox 20"/>
          <p:cNvSpPr txBox="1"/>
          <p:nvPr/>
        </p:nvSpPr>
        <p:spPr>
          <a:xfrm>
            <a:off x="11338560" y="6446520"/>
            <a:ext cx="548640" cy="320040"/>
          </a:xfrm>
          <a:prstGeom prst="rect">
            <a:avLst/>
          </a:prstGeom>
          <a:noFill/>
        </p:spPr>
        <p:txBody>
          <a:bodyPr wrap="square" anchor="t">
            <a:spAutoFit/>
          </a:bodyPr>
          <a:lstStyle/>
          <a:p>
            <a:pPr algn="r">
              <a:spcAft>
                <a:spcPts val="400"/>
              </a:spcAft>
            </a:pPr>
            <a:r>
              <a:rPr sz="900" b="0">
                <a:solidFill>
                  <a:srgbClr val="5B6372"/>
                </a:solidFill>
                <a:latin typeface="Arial"/>
              </a:rPr>
              <a:t>228</a:t>
            </a:r>
          </a:p>
        </p:txBody>
      </p:sp>
    </p:spTree>
  </p:cSld>
  <p:clrMapOvr>
    <a:masterClrMapping/>
  </p:clrMapOvr>
</p:sld>
</file>

<file path=ppt/slides/slide230.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256032" cy="1417320"/>
          </a:xfrm>
          <a:prstGeom prst="rect">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777240" y="457200"/>
            <a:ext cx="10607040" cy="365760"/>
          </a:xfrm>
          <a:prstGeom prst="rect">
            <a:avLst/>
          </a:prstGeom>
          <a:noFill/>
        </p:spPr>
        <p:txBody>
          <a:bodyPr wrap="square" anchor="t">
            <a:spAutoFit/>
          </a:bodyPr>
          <a:lstStyle/>
          <a:p>
            <a:pPr algn="l">
              <a:spcAft>
                <a:spcPts val="400"/>
              </a:spcAft>
            </a:pPr>
            <a:r>
              <a:rPr sz="1400" b="1">
                <a:solidFill>
                  <a:srgbClr val="10B981"/>
                </a:solidFill>
                <a:latin typeface="Arial"/>
              </a:rPr>
              <a:t>TOPIC 07 · HANDS-ON ACTIVITY</a:t>
            </a:r>
          </a:p>
        </p:txBody>
      </p:sp>
      <p:sp>
        <p:nvSpPr>
          <p:cNvPr id="5" name="TextBox 4"/>
          <p:cNvSpPr txBox="1"/>
          <p:nvPr/>
        </p:nvSpPr>
        <p:spPr>
          <a:xfrm>
            <a:off x="777240" y="822960"/>
            <a:ext cx="10881360" cy="822960"/>
          </a:xfrm>
          <a:prstGeom prst="rect">
            <a:avLst/>
          </a:prstGeom>
          <a:noFill/>
        </p:spPr>
        <p:txBody>
          <a:bodyPr wrap="square" anchor="t">
            <a:spAutoFit/>
          </a:bodyPr>
          <a:lstStyle/>
          <a:p>
            <a:pPr algn="l">
              <a:spcAft>
                <a:spcPts val="400"/>
              </a:spcAft>
            </a:pPr>
            <a:r>
              <a:rPr sz="2900" b="1">
                <a:solidFill>
                  <a:srgbClr val="161B26"/>
                </a:solidFill>
                <a:latin typeface="Arial"/>
              </a:rPr>
              <a:t>Molecular Simulation with VQE (Healthcare &amp; Science)</a:t>
            </a:r>
          </a:p>
        </p:txBody>
      </p:sp>
      <p:sp>
        <p:nvSpPr>
          <p:cNvPr id="6" name="Rectangle 5"/>
          <p:cNvSpPr/>
          <p:nvPr/>
        </p:nvSpPr>
        <p:spPr>
          <a:xfrm>
            <a:off x="777240" y="1554480"/>
            <a:ext cx="10634472" cy="18288"/>
          </a:xfrm>
          <a:prstGeom prst="rect">
            <a:avLst/>
          </a:prstGeom>
          <a:solidFill>
            <a:srgbClr val="E2E8F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Rectangle 6"/>
          <p:cNvSpPr/>
          <p:nvPr/>
        </p:nvSpPr>
        <p:spPr>
          <a:xfrm>
            <a:off x="9646920" y="457200"/>
            <a:ext cx="1783080" cy="457200"/>
          </a:xfrm>
          <a:prstGeom prst="rect">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TextBox 7"/>
          <p:cNvSpPr txBox="1"/>
          <p:nvPr/>
        </p:nvSpPr>
        <p:spPr>
          <a:xfrm>
            <a:off x="9646920" y="457200"/>
            <a:ext cx="1783080" cy="457200"/>
          </a:xfrm>
          <a:prstGeom prst="rect">
            <a:avLst/>
          </a:prstGeom>
          <a:noFill/>
        </p:spPr>
        <p:txBody>
          <a:bodyPr wrap="square" anchor="ctr">
            <a:spAutoFit/>
          </a:bodyPr>
          <a:lstStyle/>
          <a:p>
            <a:pPr algn="ctr">
              <a:spcAft>
                <a:spcPts val="400"/>
              </a:spcAft>
            </a:pPr>
            <a:r>
              <a:rPr sz="1300" b="1">
                <a:solidFill>
                  <a:srgbClr val="FFFFFF"/>
                </a:solidFill>
                <a:latin typeface="Arial"/>
              </a:rPr>
              <a:t>ACTIVITY 15</a:t>
            </a:r>
          </a:p>
        </p:txBody>
      </p:sp>
      <p:sp>
        <p:nvSpPr>
          <p:cNvPr id="9" name="TextBox 8"/>
          <p:cNvSpPr txBox="1"/>
          <p:nvPr/>
        </p:nvSpPr>
        <p:spPr>
          <a:xfrm>
            <a:off x="777240" y="1828800"/>
            <a:ext cx="10607040" cy="1051560"/>
          </a:xfrm>
          <a:prstGeom prst="rect">
            <a:avLst/>
          </a:prstGeom>
          <a:noFill/>
        </p:spPr>
        <p:txBody>
          <a:bodyPr wrap="square" anchor="t">
            <a:spAutoFit/>
          </a:bodyPr>
          <a:lstStyle/>
          <a:p>
            <a:pPr algn="l">
              <a:spcAft>
                <a:spcPts val="400"/>
              </a:spcAft>
            </a:pPr>
            <a:r>
              <a:rPr sz="1700" b="0">
                <a:solidFill>
                  <a:srgbClr val="161B26"/>
                </a:solidFill>
                <a:latin typeface="Arial"/>
              </a:rPr>
              <a:t>Run the Variational Quantum Eigensolver to compute the ground-state energy of the hydrogen molecule — the flagship near-term use case for drug discovery, catalysis and materials science.</a:t>
            </a:r>
          </a:p>
        </p:txBody>
      </p:sp>
      <p:sp>
        <p:nvSpPr>
          <p:cNvPr id="10" name="Rectangle 9"/>
          <p:cNvSpPr/>
          <p:nvPr/>
        </p:nvSpPr>
        <p:spPr>
          <a:xfrm>
            <a:off x="777240" y="2971800"/>
            <a:ext cx="10634472" cy="457200"/>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 name="TextBox 10"/>
          <p:cNvSpPr txBox="1"/>
          <p:nvPr/>
        </p:nvSpPr>
        <p:spPr>
          <a:xfrm>
            <a:off x="960120" y="2971800"/>
            <a:ext cx="10241280" cy="457200"/>
          </a:xfrm>
          <a:prstGeom prst="rect">
            <a:avLst/>
          </a:prstGeom>
          <a:noFill/>
        </p:spPr>
        <p:txBody>
          <a:bodyPr wrap="square" anchor="ctr">
            <a:spAutoFit/>
          </a:bodyPr>
          <a:lstStyle/>
          <a:p>
            <a:pPr algn="l">
              <a:spcAft>
                <a:spcPts val="400"/>
              </a:spcAft>
            </a:pPr>
            <a:r>
              <a:rPr sz="1100" b="1">
                <a:solidFill>
                  <a:srgbClr val="1F6FEB"/>
                </a:solidFill>
                <a:latin typeface="Arial"/>
              </a:rPr>
              <a:t>MAPS TO  </a:t>
            </a:r>
            <a:r>
              <a:rPr sz="1250" b="0">
                <a:solidFill>
                  <a:srgbClr val="161B26"/>
                </a:solidFill>
                <a:latin typeface="Arial"/>
              </a:rPr>
              <a:t>LO4, LO7 — Evaluate quantum computing applicability in the business context</a:t>
            </a:r>
          </a:p>
        </p:txBody>
      </p:sp>
      <p:sp>
        <p:nvSpPr>
          <p:cNvPr id="12" name="Rectangle 11"/>
          <p:cNvSpPr/>
          <p:nvPr/>
        </p:nvSpPr>
        <p:spPr>
          <a:xfrm>
            <a:off x="777240" y="3611880"/>
            <a:ext cx="10634472" cy="1234440"/>
          </a:xfrm>
          <a:prstGeom prst="rect">
            <a:avLst/>
          </a:prstGeom>
          <a:solidFill>
            <a:srgbClr val="E8F7E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 name="TextBox 12"/>
          <p:cNvSpPr txBox="1"/>
          <p:nvPr/>
        </p:nvSpPr>
        <p:spPr>
          <a:xfrm>
            <a:off x="1051560" y="3767328"/>
            <a:ext cx="10058400" cy="365760"/>
          </a:xfrm>
          <a:prstGeom prst="rect">
            <a:avLst/>
          </a:prstGeom>
          <a:noFill/>
        </p:spPr>
        <p:txBody>
          <a:bodyPr wrap="square" anchor="t">
            <a:spAutoFit/>
          </a:bodyPr>
          <a:lstStyle/>
          <a:p>
            <a:pPr algn="l">
              <a:spcAft>
                <a:spcPts val="400"/>
              </a:spcAft>
            </a:pPr>
            <a:r>
              <a:rPr sz="1200" b="1">
                <a:solidFill>
                  <a:srgbClr val="127A3E"/>
                </a:solidFill>
                <a:latin typeface="Arial"/>
              </a:rPr>
              <a:t>YOU'LL PRODUCE</a:t>
            </a:r>
          </a:p>
        </p:txBody>
      </p:sp>
      <p:sp>
        <p:nvSpPr>
          <p:cNvPr id="14" name="TextBox 13"/>
          <p:cNvSpPr txBox="1"/>
          <p:nvPr/>
        </p:nvSpPr>
        <p:spPr>
          <a:xfrm>
            <a:off x="1051560" y="4133087"/>
            <a:ext cx="10058400" cy="640080"/>
          </a:xfrm>
          <a:prstGeom prst="rect">
            <a:avLst/>
          </a:prstGeom>
          <a:noFill/>
        </p:spPr>
        <p:txBody>
          <a:bodyPr wrap="square" anchor="t">
            <a:spAutoFit/>
          </a:bodyPr>
          <a:lstStyle/>
          <a:p>
            <a:pPr algn="l">
              <a:spcAft>
                <a:spcPts val="400"/>
              </a:spcAft>
            </a:pPr>
            <a:r>
              <a:rPr sz="1550" b="1">
                <a:solidFill>
                  <a:srgbClr val="161B26"/>
                </a:solidFill>
                <a:latin typeface="Arial"/>
              </a:rPr>
              <a:t>A VQE run that converges to the H2 ground-state energy, with an energy-versus-iteration convergence plot.</a:t>
            </a:r>
          </a:p>
        </p:txBody>
      </p:sp>
      <p:sp>
        <p:nvSpPr>
          <p:cNvPr id="15" name="Rectangle 14"/>
          <p:cNvSpPr/>
          <p:nvPr/>
        </p:nvSpPr>
        <p:spPr>
          <a:xfrm>
            <a:off x="777240" y="5029200"/>
            <a:ext cx="10634472" cy="960120"/>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6" name="TextBox 15"/>
          <p:cNvSpPr txBox="1"/>
          <p:nvPr/>
        </p:nvSpPr>
        <p:spPr>
          <a:xfrm>
            <a:off x="1051560" y="5138928"/>
            <a:ext cx="10058400" cy="365760"/>
          </a:xfrm>
          <a:prstGeom prst="rect">
            <a:avLst/>
          </a:prstGeom>
          <a:noFill/>
        </p:spPr>
        <p:txBody>
          <a:bodyPr wrap="square" anchor="t">
            <a:spAutoFit/>
          </a:bodyPr>
          <a:lstStyle/>
          <a:p>
            <a:pPr algn="l">
              <a:spcAft>
                <a:spcPts val="400"/>
              </a:spcAft>
            </a:pPr>
            <a:r>
              <a:rPr sz="1200" b="1">
                <a:solidFill>
                  <a:srgbClr val="5B6372"/>
                </a:solidFill>
                <a:latin typeface="Arial"/>
              </a:rPr>
              <a:t>Tools:  </a:t>
            </a:r>
            <a:r>
              <a:rPr sz="1200" b="0">
                <a:solidFill>
                  <a:srgbClr val="5B6372"/>
                </a:solidFill>
                <a:latin typeface="Arial"/>
              </a:rPr>
              <a:t>Qiskit 2.x, SciPy optimiser, matplotlib, IBM Quantum</a:t>
            </a:r>
          </a:p>
        </p:txBody>
      </p:sp>
      <p:sp>
        <p:nvSpPr>
          <p:cNvPr id="17" name="TextBox 16"/>
          <p:cNvSpPr txBox="1"/>
          <p:nvPr/>
        </p:nvSpPr>
        <p:spPr>
          <a:xfrm>
            <a:off x="1051560" y="5504688"/>
            <a:ext cx="10058400" cy="365760"/>
          </a:xfrm>
          <a:prstGeom prst="rect">
            <a:avLst/>
          </a:prstGeom>
          <a:noFill/>
        </p:spPr>
        <p:txBody>
          <a:bodyPr wrap="square" anchor="t">
            <a:spAutoFit/>
          </a:bodyPr>
          <a:lstStyle/>
          <a:p>
            <a:pPr algn="l">
              <a:spcAft>
                <a:spcPts val="400"/>
              </a:spcAft>
            </a:pPr>
            <a:r>
              <a:rPr sz="1200" b="1">
                <a:solidFill>
                  <a:srgbClr val="1F6FEB"/>
                </a:solidFill>
                <a:latin typeface="Arial"/>
              </a:rPr>
              <a:t>Full step-by-step guide:  </a:t>
            </a:r>
            <a:r>
              <a:rPr sz="1200" b="0">
                <a:solidFill>
                  <a:srgbClr val="161B26"/>
                </a:solidFill>
                <a:latin typeface="Arial"/>
              </a:rPr>
              <a:t>Learner Guide — Activity 15: Molecular Simulation with VQE (Healthcare &amp; Science)</a:t>
            </a:r>
          </a:p>
        </p:txBody>
      </p:sp>
      <p:sp>
        <p:nvSpPr>
          <p:cNvPr id="18" name="TextBox 17"/>
          <p:cNvSpPr txBox="1"/>
          <p:nvPr/>
        </p:nvSpPr>
        <p:spPr>
          <a:xfrm>
            <a:off x="365760" y="6446520"/>
            <a:ext cx="6858000" cy="320040"/>
          </a:xfrm>
          <a:prstGeom prst="rect">
            <a:avLst/>
          </a:prstGeom>
          <a:noFill/>
        </p:spPr>
        <p:txBody>
          <a:bodyPr wrap="square" anchor="t">
            <a:spAutoFit/>
          </a:bodyPr>
          <a:lstStyle/>
          <a:p>
            <a:pPr algn="l">
              <a:spcAft>
                <a:spcPts val="400"/>
              </a:spcAft>
            </a:pPr>
            <a:r>
              <a:rPr sz="900" b="0">
                <a:solidFill>
                  <a:srgbClr val="5B6372"/>
                </a:solidFill>
                <a:latin typeface="Arial"/>
              </a:rPr>
              <a:t>Securing the Future with Quantum Computing and Cryptography  ·  TGS-2024043419</a:t>
            </a:r>
          </a:p>
        </p:txBody>
      </p:sp>
      <p:sp>
        <p:nvSpPr>
          <p:cNvPr id="19" name="TextBox 18"/>
          <p:cNvSpPr txBox="1"/>
          <p:nvPr/>
        </p:nvSpPr>
        <p:spPr>
          <a:xfrm>
            <a:off x="4572000" y="6446520"/>
            <a:ext cx="3017520" cy="320040"/>
          </a:xfrm>
          <a:prstGeom prst="rect">
            <a:avLst/>
          </a:prstGeom>
          <a:noFill/>
        </p:spPr>
        <p:txBody>
          <a:bodyPr wrap="square" anchor="t">
            <a:spAutoFit/>
          </a:bodyPr>
          <a:lstStyle/>
          <a:p>
            <a:pPr algn="ctr">
              <a:spcAft>
                <a:spcPts val="400"/>
              </a:spcAft>
            </a:pPr>
            <a:r>
              <a:rPr sz="900" b="0">
                <a:solidFill>
                  <a:srgbClr val="5B6372"/>
                </a:solidFill>
                <a:latin typeface="Arial"/>
              </a:rPr>
              <a:t>© 2026 Tertiary Infotech Academy Pte Ltd</a:t>
            </a:r>
          </a:p>
        </p:txBody>
      </p:sp>
      <p:sp>
        <p:nvSpPr>
          <p:cNvPr id="20" name="TextBox 19"/>
          <p:cNvSpPr txBox="1"/>
          <p:nvPr/>
        </p:nvSpPr>
        <p:spPr>
          <a:xfrm>
            <a:off x="11338560" y="6446520"/>
            <a:ext cx="548640" cy="320040"/>
          </a:xfrm>
          <a:prstGeom prst="rect">
            <a:avLst/>
          </a:prstGeom>
          <a:noFill/>
        </p:spPr>
        <p:txBody>
          <a:bodyPr wrap="square" anchor="t">
            <a:spAutoFit/>
          </a:bodyPr>
          <a:lstStyle/>
          <a:p>
            <a:pPr algn="r">
              <a:spcAft>
                <a:spcPts val="400"/>
              </a:spcAft>
            </a:pPr>
            <a:r>
              <a:rPr sz="900" b="0">
                <a:solidFill>
                  <a:srgbClr val="5B6372"/>
                </a:solidFill>
                <a:latin typeface="Arial"/>
              </a:rPr>
              <a:t>229</a:t>
            </a:r>
          </a:p>
        </p:txBody>
      </p:sp>
    </p:spTree>
  </p:cSld>
  <p:clrMapOvr>
    <a:masterClrMapping/>
  </p:clrMapOvr>
</p:sld>
</file>

<file path=ppt/slides/slide231.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256032" cy="1417320"/>
          </a:xfrm>
          <a:prstGeom prst="rect">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777240" y="457200"/>
            <a:ext cx="10607040" cy="365760"/>
          </a:xfrm>
          <a:prstGeom prst="rect">
            <a:avLst/>
          </a:prstGeom>
          <a:noFill/>
        </p:spPr>
        <p:txBody>
          <a:bodyPr wrap="square" anchor="t">
            <a:spAutoFit/>
          </a:bodyPr>
          <a:lstStyle/>
          <a:p>
            <a:pPr algn="l">
              <a:spcAft>
                <a:spcPts val="400"/>
              </a:spcAft>
            </a:pPr>
            <a:r>
              <a:rPr sz="1400" b="1">
                <a:solidFill>
                  <a:srgbClr val="10B981"/>
                </a:solidFill>
                <a:latin typeface="Arial"/>
              </a:rPr>
              <a:t>ACTIVITY 15 · VERIFY &amp; DEBRIEF</a:t>
            </a:r>
          </a:p>
        </p:txBody>
      </p:sp>
      <p:sp>
        <p:nvSpPr>
          <p:cNvPr id="5" name="TextBox 4"/>
          <p:cNvSpPr txBox="1"/>
          <p:nvPr/>
        </p:nvSpPr>
        <p:spPr>
          <a:xfrm>
            <a:off x="777240" y="822960"/>
            <a:ext cx="10881360" cy="822960"/>
          </a:xfrm>
          <a:prstGeom prst="rect">
            <a:avLst/>
          </a:prstGeom>
          <a:noFill/>
        </p:spPr>
        <p:txBody>
          <a:bodyPr wrap="square" anchor="t">
            <a:spAutoFit/>
          </a:bodyPr>
          <a:lstStyle/>
          <a:p>
            <a:pPr algn="l">
              <a:spcAft>
                <a:spcPts val="400"/>
              </a:spcAft>
            </a:pPr>
            <a:r>
              <a:rPr sz="2900" b="1">
                <a:solidFill>
                  <a:srgbClr val="161B26"/>
                </a:solidFill>
                <a:latin typeface="Arial"/>
              </a:rPr>
              <a:t>Molecular Simulation with VQE (Healthcare &amp; Science)</a:t>
            </a:r>
          </a:p>
        </p:txBody>
      </p:sp>
      <p:sp>
        <p:nvSpPr>
          <p:cNvPr id="6" name="Rectangle 5"/>
          <p:cNvSpPr/>
          <p:nvPr/>
        </p:nvSpPr>
        <p:spPr>
          <a:xfrm>
            <a:off x="777240" y="1554480"/>
            <a:ext cx="10634472" cy="18288"/>
          </a:xfrm>
          <a:prstGeom prst="rect">
            <a:avLst/>
          </a:prstGeom>
          <a:solidFill>
            <a:srgbClr val="E2E8F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Rectangle 6"/>
          <p:cNvSpPr/>
          <p:nvPr/>
        </p:nvSpPr>
        <p:spPr>
          <a:xfrm>
            <a:off x="777240" y="1783080"/>
            <a:ext cx="10634472" cy="2148840"/>
          </a:xfrm>
          <a:prstGeom prst="rect">
            <a:avLst/>
          </a:prstGeom>
          <a:solidFill>
            <a:srgbClr val="E8F7E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Rectangle 7"/>
          <p:cNvSpPr/>
          <p:nvPr/>
        </p:nvSpPr>
        <p:spPr>
          <a:xfrm>
            <a:off x="777240" y="1783080"/>
            <a:ext cx="100584" cy="2148840"/>
          </a:xfrm>
          <a:prstGeom prst="rect">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TextBox 8"/>
          <p:cNvSpPr txBox="1"/>
          <p:nvPr/>
        </p:nvSpPr>
        <p:spPr>
          <a:xfrm>
            <a:off x="1143000" y="1965960"/>
            <a:ext cx="10058400" cy="411480"/>
          </a:xfrm>
          <a:prstGeom prst="rect">
            <a:avLst/>
          </a:prstGeom>
          <a:noFill/>
        </p:spPr>
        <p:txBody>
          <a:bodyPr wrap="square" anchor="t">
            <a:spAutoFit/>
          </a:bodyPr>
          <a:lstStyle/>
          <a:p>
            <a:pPr algn="l">
              <a:spcAft>
                <a:spcPts val="400"/>
              </a:spcAft>
            </a:pPr>
            <a:r>
              <a:rPr sz="1300" b="1">
                <a:solidFill>
                  <a:srgbClr val="127A3E"/>
                </a:solidFill>
                <a:latin typeface="Arial"/>
              </a:rPr>
              <a:t>TEST IT — HOW YOU KNOW IT WORKED</a:t>
            </a:r>
          </a:p>
        </p:txBody>
      </p:sp>
      <p:sp>
        <p:nvSpPr>
          <p:cNvPr id="10" name="TextBox 9"/>
          <p:cNvSpPr txBox="1"/>
          <p:nvPr/>
        </p:nvSpPr>
        <p:spPr>
          <a:xfrm>
            <a:off x="1143000" y="2423160"/>
            <a:ext cx="10058400" cy="1371600"/>
          </a:xfrm>
          <a:prstGeom prst="rect">
            <a:avLst/>
          </a:prstGeom>
          <a:noFill/>
        </p:spPr>
        <p:txBody>
          <a:bodyPr wrap="square" anchor="t">
            <a:spAutoFit/>
          </a:bodyPr>
          <a:lstStyle/>
          <a:p>
            <a:pPr algn="l">
              <a:spcAft>
                <a:spcPts val="400"/>
              </a:spcAft>
            </a:pPr>
            <a:r>
              <a:rPr sz="1600" b="0">
                <a:solidFill>
                  <a:srgbClr val="161B26"/>
                </a:solidFill>
                <a:latin typeface="Arial"/>
              </a:rPr>
              <a:t>The VQE optimisation converges to an energy close to the exact H2 ground-state value of about -1.137 Hartree, and the convergence plot shows the energy decreasing monotonically toward that limit.</a:t>
            </a:r>
          </a:p>
        </p:txBody>
      </p:sp>
      <p:sp>
        <p:nvSpPr>
          <p:cNvPr id="11" name="TextBox 10"/>
          <p:cNvSpPr txBox="1"/>
          <p:nvPr/>
        </p:nvSpPr>
        <p:spPr>
          <a:xfrm>
            <a:off x="777240" y="4096512"/>
            <a:ext cx="10607040" cy="365760"/>
          </a:xfrm>
          <a:prstGeom prst="rect">
            <a:avLst/>
          </a:prstGeom>
          <a:noFill/>
        </p:spPr>
        <p:txBody>
          <a:bodyPr wrap="square" anchor="t">
            <a:spAutoFit/>
          </a:bodyPr>
          <a:lstStyle/>
          <a:p>
            <a:pPr algn="l">
              <a:spcAft>
                <a:spcPts val="400"/>
              </a:spcAft>
            </a:pPr>
            <a:r>
              <a:rPr sz="1300" b="1">
                <a:solidFill>
                  <a:srgbClr val="1F6FEB"/>
                </a:solidFill>
                <a:latin typeface="Arial"/>
              </a:rPr>
              <a:t>DISCUSS WITH YOUR TRAINER</a:t>
            </a:r>
          </a:p>
        </p:txBody>
      </p:sp>
      <p:sp>
        <p:nvSpPr>
          <p:cNvPr id="12" name="Rectangle 11"/>
          <p:cNvSpPr/>
          <p:nvPr/>
        </p:nvSpPr>
        <p:spPr>
          <a:xfrm>
            <a:off x="777240" y="4480560"/>
            <a:ext cx="3447288" cy="1463040"/>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 name="Rectangle 12"/>
          <p:cNvSpPr/>
          <p:nvPr/>
        </p:nvSpPr>
        <p:spPr>
          <a:xfrm>
            <a:off x="777240" y="4480560"/>
            <a:ext cx="3447288" cy="82296"/>
          </a:xfrm>
          <a:prstGeom prst="rect">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 name="TextBox 13"/>
          <p:cNvSpPr txBox="1"/>
          <p:nvPr/>
        </p:nvSpPr>
        <p:spPr>
          <a:xfrm>
            <a:off x="978408" y="4663440"/>
            <a:ext cx="3044952" cy="457200"/>
          </a:xfrm>
          <a:prstGeom prst="rect">
            <a:avLst/>
          </a:prstGeom>
          <a:noFill/>
        </p:spPr>
        <p:txBody>
          <a:bodyPr wrap="square" anchor="t">
            <a:spAutoFit/>
          </a:bodyPr>
          <a:lstStyle/>
          <a:p>
            <a:pPr algn="l">
              <a:spcAft>
                <a:spcPts val="400"/>
              </a:spcAft>
            </a:pPr>
            <a:r>
              <a:rPr sz="1350" b="1">
                <a:solidFill>
                  <a:srgbClr val="1F6FEB"/>
                </a:solidFill>
                <a:latin typeface="Arial"/>
              </a:rPr>
              <a:t>What did the result show?</a:t>
            </a:r>
          </a:p>
        </p:txBody>
      </p:sp>
      <p:sp>
        <p:nvSpPr>
          <p:cNvPr id="15" name="TextBox 14"/>
          <p:cNvSpPr txBox="1"/>
          <p:nvPr/>
        </p:nvSpPr>
        <p:spPr>
          <a:xfrm>
            <a:off x="978408" y="5138928"/>
            <a:ext cx="3044952" cy="731520"/>
          </a:xfrm>
          <a:prstGeom prst="rect">
            <a:avLst/>
          </a:prstGeom>
          <a:noFill/>
        </p:spPr>
        <p:txBody>
          <a:bodyPr wrap="square" anchor="t">
            <a:spAutoFit/>
          </a:bodyPr>
          <a:lstStyle/>
          <a:p>
            <a:pPr algn="l">
              <a:spcAft>
                <a:spcPts val="400"/>
              </a:spcAft>
            </a:pPr>
            <a:r>
              <a:rPr sz="1200" b="0">
                <a:solidFill>
                  <a:srgbClr val="5B6372"/>
                </a:solidFill>
                <a:latin typeface="Arial"/>
              </a:rPr>
              <a:t>Restate the outcome in your own words.</a:t>
            </a:r>
          </a:p>
        </p:txBody>
      </p:sp>
      <p:sp>
        <p:nvSpPr>
          <p:cNvPr id="16" name="Rectangle 15"/>
          <p:cNvSpPr/>
          <p:nvPr/>
        </p:nvSpPr>
        <p:spPr>
          <a:xfrm>
            <a:off x="4370832" y="4480560"/>
            <a:ext cx="3447288" cy="1463040"/>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7" name="Rectangle 16"/>
          <p:cNvSpPr/>
          <p:nvPr/>
        </p:nvSpPr>
        <p:spPr>
          <a:xfrm>
            <a:off x="4370832" y="4480560"/>
            <a:ext cx="3447288" cy="82296"/>
          </a:xfrm>
          <a:prstGeom prst="rect">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8" name="TextBox 17"/>
          <p:cNvSpPr txBox="1"/>
          <p:nvPr/>
        </p:nvSpPr>
        <p:spPr>
          <a:xfrm>
            <a:off x="4572000" y="4663440"/>
            <a:ext cx="3044952" cy="457200"/>
          </a:xfrm>
          <a:prstGeom prst="rect">
            <a:avLst/>
          </a:prstGeom>
          <a:noFill/>
        </p:spPr>
        <p:txBody>
          <a:bodyPr wrap="square" anchor="t">
            <a:spAutoFit/>
          </a:bodyPr>
          <a:lstStyle/>
          <a:p>
            <a:pPr algn="l">
              <a:spcAft>
                <a:spcPts val="400"/>
              </a:spcAft>
            </a:pPr>
            <a:r>
              <a:rPr sz="1350" b="1">
                <a:solidFill>
                  <a:srgbClr val="10B981"/>
                </a:solidFill>
                <a:latin typeface="Arial"/>
              </a:rPr>
              <a:t>Why does it work?</a:t>
            </a:r>
          </a:p>
        </p:txBody>
      </p:sp>
      <p:sp>
        <p:nvSpPr>
          <p:cNvPr id="19" name="TextBox 18"/>
          <p:cNvSpPr txBox="1"/>
          <p:nvPr/>
        </p:nvSpPr>
        <p:spPr>
          <a:xfrm>
            <a:off x="4572000" y="5138928"/>
            <a:ext cx="3044952" cy="731520"/>
          </a:xfrm>
          <a:prstGeom prst="rect">
            <a:avLst/>
          </a:prstGeom>
          <a:noFill/>
        </p:spPr>
        <p:txBody>
          <a:bodyPr wrap="square" anchor="t">
            <a:spAutoFit/>
          </a:bodyPr>
          <a:lstStyle/>
          <a:p>
            <a:pPr algn="l">
              <a:spcAft>
                <a:spcPts val="400"/>
              </a:spcAft>
            </a:pPr>
            <a:r>
              <a:rPr sz="1200" b="0">
                <a:solidFill>
                  <a:srgbClr val="5B6372"/>
                </a:solidFill>
                <a:latin typeface="Arial"/>
              </a:rPr>
              <a:t>Name the quantum principle the activity relies on.</a:t>
            </a:r>
          </a:p>
        </p:txBody>
      </p:sp>
      <p:sp>
        <p:nvSpPr>
          <p:cNvPr id="20" name="Rectangle 19"/>
          <p:cNvSpPr/>
          <p:nvPr/>
        </p:nvSpPr>
        <p:spPr>
          <a:xfrm>
            <a:off x="7964424" y="4480560"/>
            <a:ext cx="3447288" cy="1463040"/>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1" name="Rectangle 20"/>
          <p:cNvSpPr/>
          <p:nvPr/>
        </p:nvSpPr>
        <p:spPr>
          <a:xfrm>
            <a:off x="7964424" y="4480560"/>
            <a:ext cx="3447288" cy="82296"/>
          </a:xfrm>
          <a:prstGeom prst="rect">
            <a:avLst/>
          </a:prstGeom>
          <a:solidFill>
            <a:srgbClr val="7C3AE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2" name="TextBox 21"/>
          <p:cNvSpPr txBox="1"/>
          <p:nvPr/>
        </p:nvSpPr>
        <p:spPr>
          <a:xfrm>
            <a:off x="8165592" y="4663440"/>
            <a:ext cx="3044952" cy="457200"/>
          </a:xfrm>
          <a:prstGeom prst="rect">
            <a:avLst/>
          </a:prstGeom>
          <a:noFill/>
        </p:spPr>
        <p:txBody>
          <a:bodyPr wrap="square" anchor="t">
            <a:spAutoFit/>
          </a:bodyPr>
          <a:lstStyle/>
          <a:p>
            <a:pPr algn="l">
              <a:spcAft>
                <a:spcPts val="400"/>
              </a:spcAft>
            </a:pPr>
            <a:r>
              <a:rPr sz="1350" b="1">
                <a:solidFill>
                  <a:srgbClr val="7C3AED"/>
                </a:solidFill>
                <a:latin typeface="Arial"/>
              </a:rPr>
              <a:t>Where would you use it?</a:t>
            </a:r>
          </a:p>
        </p:txBody>
      </p:sp>
      <p:sp>
        <p:nvSpPr>
          <p:cNvPr id="23" name="TextBox 22"/>
          <p:cNvSpPr txBox="1"/>
          <p:nvPr/>
        </p:nvSpPr>
        <p:spPr>
          <a:xfrm>
            <a:off x="8165592" y="5138928"/>
            <a:ext cx="3044952" cy="731520"/>
          </a:xfrm>
          <a:prstGeom prst="rect">
            <a:avLst/>
          </a:prstGeom>
          <a:noFill/>
        </p:spPr>
        <p:txBody>
          <a:bodyPr wrap="square" anchor="t">
            <a:spAutoFit/>
          </a:bodyPr>
          <a:lstStyle/>
          <a:p>
            <a:pPr algn="l">
              <a:spcAft>
                <a:spcPts val="400"/>
              </a:spcAft>
            </a:pPr>
            <a:r>
              <a:rPr sz="1200" b="0">
                <a:solidFill>
                  <a:srgbClr val="5B6372"/>
                </a:solidFill>
                <a:latin typeface="Arial"/>
              </a:rPr>
              <a:t>Give one realistic application in your own field.</a:t>
            </a:r>
          </a:p>
        </p:txBody>
      </p:sp>
      <p:sp>
        <p:nvSpPr>
          <p:cNvPr id="24" name="TextBox 23"/>
          <p:cNvSpPr txBox="1"/>
          <p:nvPr/>
        </p:nvSpPr>
        <p:spPr>
          <a:xfrm>
            <a:off x="365760" y="6446520"/>
            <a:ext cx="6858000" cy="320040"/>
          </a:xfrm>
          <a:prstGeom prst="rect">
            <a:avLst/>
          </a:prstGeom>
          <a:noFill/>
        </p:spPr>
        <p:txBody>
          <a:bodyPr wrap="square" anchor="t">
            <a:spAutoFit/>
          </a:bodyPr>
          <a:lstStyle/>
          <a:p>
            <a:pPr algn="l">
              <a:spcAft>
                <a:spcPts val="400"/>
              </a:spcAft>
            </a:pPr>
            <a:r>
              <a:rPr sz="900" b="0">
                <a:solidFill>
                  <a:srgbClr val="5B6372"/>
                </a:solidFill>
                <a:latin typeface="Arial"/>
              </a:rPr>
              <a:t>Securing the Future with Quantum Computing and Cryptography  ·  TGS-2024043419</a:t>
            </a:r>
          </a:p>
        </p:txBody>
      </p:sp>
      <p:sp>
        <p:nvSpPr>
          <p:cNvPr id="25" name="TextBox 24"/>
          <p:cNvSpPr txBox="1"/>
          <p:nvPr/>
        </p:nvSpPr>
        <p:spPr>
          <a:xfrm>
            <a:off x="4572000" y="6446520"/>
            <a:ext cx="3017520" cy="320040"/>
          </a:xfrm>
          <a:prstGeom prst="rect">
            <a:avLst/>
          </a:prstGeom>
          <a:noFill/>
        </p:spPr>
        <p:txBody>
          <a:bodyPr wrap="square" anchor="t">
            <a:spAutoFit/>
          </a:bodyPr>
          <a:lstStyle/>
          <a:p>
            <a:pPr algn="ctr">
              <a:spcAft>
                <a:spcPts val="400"/>
              </a:spcAft>
            </a:pPr>
            <a:r>
              <a:rPr sz="900" b="0">
                <a:solidFill>
                  <a:srgbClr val="5B6372"/>
                </a:solidFill>
                <a:latin typeface="Arial"/>
              </a:rPr>
              <a:t>© 2026 Tertiary Infotech Academy Pte Ltd</a:t>
            </a:r>
          </a:p>
        </p:txBody>
      </p:sp>
      <p:sp>
        <p:nvSpPr>
          <p:cNvPr id="26" name="TextBox 25"/>
          <p:cNvSpPr txBox="1"/>
          <p:nvPr/>
        </p:nvSpPr>
        <p:spPr>
          <a:xfrm>
            <a:off x="11338560" y="6446520"/>
            <a:ext cx="548640" cy="320040"/>
          </a:xfrm>
          <a:prstGeom prst="rect">
            <a:avLst/>
          </a:prstGeom>
          <a:noFill/>
        </p:spPr>
        <p:txBody>
          <a:bodyPr wrap="square" anchor="t">
            <a:spAutoFit/>
          </a:bodyPr>
          <a:lstStyle/>
          <a:p>
            <a:pPr algn="r">
              <a:spcAft>
                <a:spcPts val="400"/>
              </a:spcAft>
            </a:pPr>
            <a:r>
              <a:rPr sz="900" b="0">
                <a:solidFill>
                  <a:srgbClr val="5B6372"/>
                </a:solidFill>
                <a:latin typeface="Arial"/>
              </a:rPr>
              <a:t>230</a:t>
            </a:r>
          </a:p>
        </p:txBody>
      </p:sp>
    </p:spTree>
  </p:cSld>
  <p:clrMapOvr>
    <a:masterClrMapping/>
  </p:clrMapOvr>
</p:sld>
</file>

<file path=ppt/slides/slide232.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256032" cy="1417320"/>
          </a:xfrm>
          <a:prstGeom prst="rect">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777240" y="457200"/>
            <a:ext cx="10607040" cy="365760"/>
          </a:xfrm>
          <a:prstGeom prst="rect">
            <a:avLst/>
          </a:prstGeom>
          <a:noFill/>
        </p:spPr>
        <p:txBody>
          <a:bodyPr wrap="square" anchor="t">
            <a:spAutoFit/>
          </a:bodyPr>
          <a:lstStyle/>
          <a:p>
            <a:pPr algn="l">
              <a:spcAft>
                <a:spcPts val="400"/>
              </a:spcAft>
            </a:pPr>
            <a:r>
              <a:rPr sz="1400" b="1">
                <a:solidFill>
                  <a:srgbClr val="10B981"/>
                </a:solidFill>
                <a:latin typeface="Arial"/>
              </a:rPr>
              <a:t>TOPIC 07 · HANDS-ON ACTIVITY</a:t>
            </a:r>
          </a:p>
        </p:txBody>
      </p:sp>
      <p:sp>
        <p:nvSpPr>
          <p:cNvPr id="5" name="TextBox 4"/>
          <p:cNvSpPr txBox="1"/>
          <p:nvPr/>
        </p:nvSpPr>
        <p:spPr>
          <a:xfrm>
            <a:off x="777240" y="822960"/>
            <a:ext cx="10881360" cy="822960"/>
          </a:xfrm>
          <a:prstGeom prst="rect">
            <a:avLst/>
          </a:prstGeom>
          <a:noFill/>
        </p:spPr>
        <p:txBody>
          <a:bodyPr wrap="square" anchor="t">
            <a:spAutoFit/>
          </a:bodyPr>
          <a:lstStyle/>
          <a:p>
            <a:pPr algn="l">
              <a:spcAft>
                <a:spcPts val="400"/>
              </a:spcAft>
            </a:pPr>
            <a:r>
              <a:rPr sz="2900" b="1">
                <a:solidFill>
                  <a:srgbClr val="161B26"/>
                </a:solidFill>
                <a:latin typeface="Arial"/>
              </a:rPr>
              <a:t>Portfolio Optimisation with QAOA (Finance)</a:t>
            </a:r>
          </a:p>
        </p:txBody>
      </p:sp>
      <p:sp>
        <p:nvSpPr>
          <p:cNvPr id="6" name="Rectangle 5"/>
          <p:cNvSpPr/>
          <p:nvPr/>
        </p:nvSpPr>
        <p:spPr>
          <a:xfrm>
            <a:off x="777240" y="1554480"/>
            <a:ext cx="10634472" cy="18288"/>
          </a:xfrm>
          <a:prstGeom prst="rect">
            <a:avLst/>
          </a:prstGeom>
          <a:solidFill>
            <a:srgbClr val="E2E8F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Rectangle 6"/>
          <p:cNvSpPr/>
          <p:nvPr/>
        </p:nvSpPr>
        <p:spPr>
          <a:xfrm>
            <a:off x="9646920" y="457200"/>
            <a:ext cx="1783080" cy="457200"/>
          </a:xfrm>
          <a:prstGeom prst="rect">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TextBox 7"/>
          <p:cNvSpPr txBox="1"/>
          <p:nvPr/>
        </p:nvSpPr>
        <p:spPr>
          <a:xfrm>
            <a:off x="9646920" y="457200"/>
            <a:ext cx="1783080" cy="457200"/>
          </a:xfrm>
          <a:prstGeom prst="rect">
            <a:avLst/>
          </a:prstGeom>
          <a:noFill/>
        </p:spPr>
        <p:txBody>
          <a:bodyPr wrap="square" anchor="ctr">
            <a:spAutoFit/>
          </a:bodyPr>
          <a:lstStyle/>
          <a:p>
            <a:pPr algn="ctr">
              <a:spcAft>
                <a:spcPts val="400"/>
              </a:spcAft>
            </a:pPr>
            <a:r>
              <a:rPr sz="1300" b="1">
                <a:solidFill>
                  <a:srgbClr val="FFFFFF"/>
                </a:solidFill>
                <a:latin typeface="Arial"/>
              </a:rPr>
              <a:t>ACTIVITY 16</a:t>
            </a:r>
          </a:p>
        </p:txBody>
      </p:sp>
      <p:sp>
        <p:nvSpPr>
          <p:cNvPr id="9" name="TextBox 8"/>
          <p:cNvSpPr txBox="1"/>
          <p:nvPr/>
        </p:nvSpPr>
        <p:spPr>
          <a:xfrm>
            <a:off x="777240" y="1828800"/>
            <a:ext cx="10607040" cy="1051560"/>
          </a:xfrm>
          <a:prstGeom prst="rect">
            <a:avLst/>
          </a:prstGeom>
          <a:noFill/>
        </p:spPr>
        <p:txBody>
          <a:bodyPr wrap="square" anchor="t">
            <a:spAutoFit/>
          </a:bodyPr>
          <a:lstStyle/>
          <a:p>
            <a:pPr algn="l">
              <a:spcAft>
                <a:spcPts val="400"/>
              </a:spcAft>
            </a:pPr>
            <a:r>
              <a:rPr sz="1700" b="0">
                <a:solidFill>
                  <a:srgbClr val="161B26"/>
                </a:solidFill>
                <a:latin typeface="Arial"/>
              </a:rPr>
              <a:t>Apply the Quantum Approximate Optimization Algorithm to a Max-Cut style combinatorial problem, the same structure that underlies portfolio selection, routing and scheduling in financial services.</a:t>
            </a:r>
          </a:p>
        </p:txBody>
      </p:sp>
      <p:sp>
        <p:nvSpPr>
          <p:cNvPr id="10" name="Rectangle 9"/>
          <p:cNvSpPr/>
          <p:nvPr/>
        </p:nvSpPr>
        <p:spPr>
          <a:xfrm>
            <a:off x="777240" y="2971800"/>
            <a:ext cx="10634472" cy="457200"/>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 name="TextBox 10"/>
          <p:cNvSpPr txBox="1"/>
          <p:nvPr/>
        </p:nvSpPr>
        <p:spPr>
          <a:xfrm>
            <a:off x="960120" y="2971800"/>
            <a:ext cx="10241280" cy="457200"/>
          </a:xfrm>
          <a:prstGeom prst="rect">
            <a:avLst/>
          </a:prstGeom>
          <a:noFill/>
        </p:spPr>
        <p:txBody>
          <a:bodyPr wrap="square" anchor="ctr">
            <a:spAutoFit/>
          </a:bodyPr>
          <a:lstStyle/>
          <a:p>
            <a:pPr algn="l">
              <a:spcAft>
                <a:spcPts val="400"/>
              </a:spcAft>
            </a:pPr>
            <a:r>
              <a:rPr sz="1100" b="1">
                <a:solidFill>
                  <a:srgbClr val="1F6FEB"/>
                </a:solidFill>
                <a:latin typeface="Arial"/>
              </a:rPr>
              <a:t>MAPS TO  </a:t>
            </a:r>
            <a:r>
              <a:rPr sz="1250" b="0">
                <a:solidFill>
                  <a:srgbClr val="161B26"/>
                </a:solidFill>
                <a:latin typeface="Arial"/>
              </a:rPr>
              <a:t>LO4, LO6 — Evaluate applicability and select appropriate algorithms</a:t>
            </a:r>
          </a:p>
        </p:txBody>
      </p:sp>
      <p:sp>
        <p:nvSpPr>
          <p:cNvPr id="12" name="Rectangle 11"/>
          <p:cNvSpPr/>
          <p:nvPr/>
        </p:nvSpPr>
        <p:spPr>
          <a:xfrm>
            <a:off x="777240" y="3611880"/>
            <a:ext cx="10634472" cy="1234440"/>
          </a:xfrm>
          <a:prstGeom prst="rect">
            <a:avLst/>
          </a:prstGeom>
          <a:solidFill>
            <a:srgbClr val="E8F7E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 name="TextBox 12"/>
          <p:cNvSpPr txBox="1"/>
          <p:nvPr/>
        </p:nvSpPr>
        <p:spPr>
          <a:xfrm>
            <a:off x="1051560" y="3767328"/>
            <a:ext cx="10058400" cy="365760"/>
          </a:xfrm>
          <a:prstGeom prst="rect">
            <a:avLst/>
          </a:prstGeom>
          <a:noFill/>
        </p:spPr>
        <p:txBody>
          <a:bodyPr wrap="square" anchor="t">
            <a:spAutoFit/>
          </a:bodyPr>
          <a:lstStyle/>
          <a:p>
            <a:pPr algn="l">
              <a:spcAft>
                <a:spcPts val="400"/>
              </a:spcAft>
            </a:pPr>
            <a:r>
              <a:rPr sz="1200" b="1">
                <a:solidFill>
                  <a:srgbClr val="127A3E"/>
                </a:solidFill>
                <a:latin typeface="Arial"/>
              </a:rPr>
              <a:t>YOU'LL PRODUCE</a:t>
            </a:r>
          </a:p>
        </p:txBody>
      </p:sp>
      <p:sp>
        <p:nvSpPr>
          <p:cNvPr id="14" name="TextBox 13"/>
          <p:cNvSpPr txBox="1"/>
          <p:nvPr/>
        </p:nvSpPr>
        <p:spPr>
          <a:xfrm>
            <a:off x="1051560" y="4133087"/>
            <a:ext cx="10058400" cy="640080"/>
          </a:xfrm>
          <a:prstGeom prst="rect">
            <a:avLst/>
          </a:prstGeom>
          <a:noFill/>
        </p:spPr>
        <p:txBody>
          <a:bodyPr wrap="square" anchor="t">
            <a:spAutoFit/>
          </a:bodyPr>
          <a:lstStyle/>
          <a:p>
            <a:pPr algn="l">
              <a:spcAft>
                <a:spcPts val="400"/>
              </a:spcAft>
            </a:pPr>
            <a:r>
              <a:rPr sz="1550" b="1">
                <a:solidFill>
                  <a:srgbClr val="161B26"/>
                </a:solidFill>
                <a:latin typeface="Arial"/>
              </a:rPr>
              <a:t>A QAOA run that finds the optimal cut on a small graph, with the solution quality compared against brute force.</a:t>
            </a:r>
          </a:p>
        </p:txBody>
      </p:sp>
      <p:sp>
        <p:nvSpPr>
          <p:cNvPr id="15" name="Rectangle 14"/>
          <p:cNvSpPr/>
          <p:nvPr/>
        </p:nvSpPr>
        <p:spPr>
          <a:xfrm>
            <a:off x="777240" y="5029200"/>
            <a:ext cx="10634472" cy="960120"/>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6" name="TextBox 15"/>
          <p:cNvSpPr txBox="1"/>
          <p:nvPr/>
        </p:nvSpPr>
        <p:spPr>
          <a:xfrm>
            <a:off x="1051560" y="5138928"/>
            <a:ext cx="10058400" cy="365760"/>
          </a:xfrm>
          <a:prstGeom prst="rect">
            <a:avLst/>
          </a:prstGeom>
          <a:noFill/>
        </p:spPr>
        <p:txBody>
          <a:bodyPr wrap="square" anchor="t">
            <a:spAutoFit/>
          </a:bodyPr>
          <a:lstStyle/>
          <a:p>
            <a:pPr algn="l">
              <a:spcAft>
                <a:spcPts val="400"/>
              </a:spcAft>
            </a:pPr>
            <a:r>
              <a:rPr sz="1200" b="1">
                <a:solidFill>
                  <a:srgbClr val="5B6372"/>
                </a:solidFill>
                <a:latin typeface="Arial"/>
              </a:rPr>
              <a:t>Tools:  </a:t>
            </a:r>
            <a:r>
              <a:rPr sz="1200" b="0">
                <a:solidFill>
                  <a:srgbClr val="5B6372"/>
                </a:solidFill>
                <a:latin typeface="Arial"/>
              </a:rPr>
              <a:t>Qiskit 2.x, NetworkX, SciPy, matplotlib</a:t>
            </a:r>
          </a:p>
        </p:txBody>
      </p:sp>
      <p:sp>
        <p:nvSpPr>
          <p:cNvPr id="17" name="TextBox 16"/>
          <p:cNvSpPr txBox="1"/>
          <p:nvPr/>
        </p:nvSpPr>
        <p:spPr>
          <a:xfrm>
            <a:off x="1051560" y="5504688"/>
            <a:ext cx="10058400" cy="365760"/>
          </a:xfrm>
          <a:prstGeom prst="rect">
            <a:avLst/>
          </a:prstGeom>
          <a:noFill/>
        </p:spPr>
        <p:txBody>
          <a:bodyPr wrap="square" anchor="t">
            <a:spAutoFit/>
          </a:bodyPr>
          <a:lstStyle/>
          <a:p>
            <a:pPr algn="l">
              <a:spcAft>
                <a:spcPts val="400"/>
              </a:spcAft>
            </a:pPr>
            <a:r>
              <a:rPr sz="1200" b="1">
                <a:solidFill>
                  <a:srgbClr val="1F6FEB"/>
                </a:solidFill>
                <a:latin typeface="Arial"/>
              </a:rPr>
              <a:t>Full step-by-step guide:  </a:t>
            </a:r>
            <a:r>
              <a:rPr sz="1200" b="0">
                <a:solidFill>
                  <a:srgbClr val="161B26"/>
                </a:solidFill>
                <a:latin typeface="Arial"/>
              </a:rPr>
              <a:t>Learner Guide — Activity 16: Portfolio Optimisation with QAOA (Finance)</a:t>
            </a:r>
          </a:p>
        </p:txBody>
      </p:sp>
      <p:sp>
        <p:nvSpPr>
          <p:cNvPr id="18" name="TextBox 17"/>
          <p:cNvSpPr txBox="1"/>
          <p:nvPr/>
        </p:nvSpPr>
        <p:spPr>
          <a:xfrm>
            <a:off x="365760" y="6446520"/>
            <a:ext cx="6858000" cy="320040"/>
          </a:xfrm>
          <a:prstGeom prst="rect">
            <a:avLst/>
          </a:prstGeom>
          <a:noFill/>
        </p:spPr>
        <p:txBody>
          <a:bodyPr wrap="square" anchor="t">
            <a:spAutoFit/>
          </a:bodyPr>
          <a:lstStyle/>
          <a:p>
            <a:pPr algn="l">
              <a:spcAft>
                <a:spcPts val="400"/>
              </a:spcAft>
            </a:pPr>
            <a:r>
              <a:rPr sz="900" b="0">
                <a:solidFill>
                  <a:srgbClr val="5B6372"/>
                </a:solidFill>
                <a:latin typeface="Arial"/>
              </a:rPr>
              <a:t>Securing the Future with Quantum Computing and Cryptography  ·  TGS-2024043419</a:t>
            </a:r>
          </a:p>
        </p:txBody>
      </p:sp>
      <p:sp>
        <p:nvSpPr>
          <p:cNvPr id="19" name="TextBox 18"/>
          <p:cNvSpPr txBox="1"/>
          <p:nvPr/>
        </p:nvSpPr>
        <p:spPr>
          <a:xfrm>
            <a:off x="4572000" y="6446520"/>
            <a:ext cx="3017520" cy="320040"/>
          </a:xfrm>
          <a:prstGeom prst="rect">
            <a:avLst/>
          </a:prstGeom>
          <a:noFill/>
        </p:spPr>
        <p:txBody>
          <a:bodyPr wrap="square" anchor="t">
            <a:spAutoFit/>
          </a:bodyPr>
          <a:lstStyle/>
          <a:p>
            <a:pPr algn="ctr">
              <a:spcAft>
                <a:spcPts val="400"/>
              </a:spcAft>
            </a:pPr>
            <a:r>
              <a:rPr sz="900" b="0">
                <a:solidFill>
                  <a:srgbClr val="5B6372"/>
                </a:solidFill>
                <a:latin typeface="Arial"/>
              </a:rPr>
              <a:t>© 2026 Tertiary Infotech Academy Pte Ltd</a:t>
            </a:r>
          </a:p>
        </p:txBody>
      </p:sp>
      <p:sp>
        <p:nvSpPr>
          <p:cNvPr id="20" name="TextBox 19"/>
          <p:cNvSpPr txBox="1"/>
          <p:nvPr/>
        </p:nvSpPr>
        <p:spPr>
          <a:xfrm>
            <a:off x="11338560" y="6446520"/>
            <a:ext cx="548640" cy="320040"/>
          </a:xfrm>
          <a:prstGeom prst="rect">
            <a:avLst/>
          </a:prstGeom>
          <a:noFill/>
        </p:spPr>
        <p:txBody>
          <a:bodyPr wrap="square" anchor="t">
            <a:spAutoFit/>
          </a:bodyPr>
          <a:lstStyle/>
          <a:p>
            <a:pPr algn="r">
              <a:spcAft>
                <a:spcPts val="400"/>
              </a:spcAft>
            </a:pPr>
            <a:r>
              <a:rPr sz="900" b="0">
                <a:solidFill>
                  <a:srgbClr val="5B6372"/>
                </a:solidFill>
                <a:latin typeface="Arial"/>
              </a:rPr>
              <a:t>231</a:t>
            </a:r>
          </a:p>
        </p:txBody>
      </p:sp>
    </p:spTree>
  </p:cSld>
  <p:clrMapOvr>
    <a:masterClrMapping/>
  </p:clrMapOvr>
</p:sld>
</file>

<file path=ppt/slides/slide233.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256032" cy="1417320"/>
          </a:xfrm>
          <a:prstGeom prst="rect">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777240" y="457200"/>
            <a:ext cx="10607040" cy="365760"/>
          </a:xfrm>
          <a:prstGeom prst="rect">
            <a:avLst/>
          </a:prstGeom>
          <a:noFill/>
        </p:spPr>
        <p:txBody>
          <a:bodyPr wrap="square" anchor="t">
            <a:spAutoFit/>
          </a:bodyPr>
          <a:lstStyle/>
          <a:p>
            <a:pPr algn="l">
              <a:spcAft>
                <a:spcPts val="400"/>
              </a:spcAft>
            </a:pPr>
            <a:r>
              <a:rPr sz="1400" b="1">
                <a:solidFill>
                  <a:srgbClr val="10B981"/>
                </a:solidFill>
                <a:latin typeface="Arial"/>
              </a:rPr>
              <a:t>ACTIVITY 16 · VERIFY &amp; DEBRIEF</a:t>
            </a:r>
          </a:p>
        </p:txBody>
      </p:sp>
      <p:sp>
        <p:nvSpPr>
          <p:cNvPr id="5" name="TextBox 4"/>
          <p:cNvSpPr txBox="1"/>
          <p:nvPr/>
        </p:nvSpPr>
        <p:spPr>
          <a:xfrm>
            <a:off x="777240" y="822960"/>
            <a:ext cx="10881360" cy="822960"/>
          </a:xfrm>
          <a:prstGeom prst="rect">
            <a:avLst/>
          </a:prstGeom>
          <a:noFill/>
        </p:spPr>
        <p:txBody>
          <a:bodyPr wrap="square" anchor="t">
            <a:spAutoFit/>
          </a:bodyPr>
          <a:lstStyle/>
          <a:p>
            <a:pPr algn="l">
              <a:spcAft>
                <a:spcPts val="400"/>
              </a:spcAft>
            </a:pPr>
            <a:r>
              <a:rPr sz="2900" b="1">
                <a:solidFill>
                  <a:srgbClr val="161B26"/>
                </a:solidFill>
                <a:latin typeface="Arial"/>
              </a:rPr>
              <a:t>Portfolio Optimisation with QAOA (Finance)</a:t>
            </a:r>
          </a:p>
        </p:txBody>
      </p:sp>
      <p:sp>
        <p:nvSpPr>
          <p:cNvPr id="6" name="Rectangle 5"/>
          <p:cNvSpPr/>
          <p:nvPr/>
        </p:nvSpPr>
        <p:spPr>
          <a:xfrm>
            <a:off x="777240" y="1554480"/>
            <a:ext cx="10634472" cy="18288"/>
          </a:xfrm>
          <a:prstGeom prst="rect">
            <a:avLst/>
          </a:prstGeom>
          <a:solidFill>
            <a:srgbClr val="E2E8F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Rectangle 6"/>
          <p:cNvSpPr/>
          <p:nvPr/>
        </p:nvSpPr>
        <p:spPr>
          <a:xfrm>
            <a:off x="777240" y="1783080"/>
            <a:ext cx="10634472" cy="2148840"/>
          </a:xfrm>
          <a:prstGeom prst="rect">
            <a:avLst/>
          </a:prstGeom>
          <a:solidFill>
            <a:srgbClr val="E8F7E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Rectangle 7"/>
          <p:cNvSpPr/>
          <p:nvPr/>
        </p:nvSpPr>
        <p:spPr>
          <a:xfrm>
            <a:off x="777240" y="1783080"/>
            <a:ext cx="100584" cy="2148840"/>
          </a:xfrm>
          <a:prstGeom prst="rect">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TextBox 8"/>
          <p:cNvSpPr txBox="1"/>
          <p:nvPr/>
        </p:nvSpPr>
        <p:spPr>
          <a:xfrm>
            <a:off x="1143000" y="1965960"/>
            <a:ext cx="10058400" cy="411480"/>
          </a:xfrm>
          <a:prstGeom prst="rect">
            <a:avLst/>
          </a:prstGeom>
          <a:noFill/>
        </p:spPr>
        <p:txBody>
          <a:bodyPr wrap="square" anchor="t">
            <a:spAutoFit/>
          </a:bodyPr>
          <a:lstStyle/>
          <a:p>
            <a:pPr algn="l">
              <a:spcAft>
                <a:spcPts val="400"/>
              </a:spcAft>
            </a:pPr>
            <a:r>
              <a:rPr sz="1300" b="1">
                <a:solidFill>
                  <a:srgbClr val="127A3E"/>
                </a:solidFill>
                <a:latin typeface="Arial"/>
              </a:rPr>
              <a:t>TEST IT — HOW YOU KNOW IT WORKED</a:t>
            </a:r>
          </a:p>
        </p:txBody>
      </p:sp>
      <p:sp>
        <p:nvSpPr>
          <p:cNvPr id="10" name="TextBox 9"/>
          <p:cNvSpPr txBox="1"/>
          <p:nvPr/>
        </p:nvSpPr>
        <p:spPr>
          <a:xfrm>
            <a:off x="1143000" y="2423160"/>
            <a:ext cx="10058400" cy="1371600"/>
          </a:xfrm>
          <a:prstGeom prst="rect">
            <a:avLst/>
          </a:prstGeom>
          <a:noFill/>
        </p:spPr>
        <p:txBody>
          <a:bodyPr wrap="square" anchor="t">
            <a:spAutoFit/>
          </a:bodyPr>
          <a:lstStyle/>
          <a:p>
            <a:pPr algn="l">
              <a:spcAft>
                <a:spcPts val="400"/>
              </a:spcAft>
            </a:pPr>
            <a:r>
              <a:rPr sz="1600" b="0">
                <a:solidFill>
                  <a:srgbClr val="161B26"/>
                </a:solidFill>
                <a:latin typeface="Arial"/>
              </a:rPr>
              <a:t>The most frequently sampled bit string from the optimised QAOA circuit corresponds to the true maximum cut found by brute force, and the approximation ratio improves as the number of layers p increases.</a:t>
            </a:r>
          </a:p>
        </p:txBody>
      </p:sp>
      <p:sp>
        <p:nvSpPr>
          <p:cNvPr id="11" name="TextBox 10"/>
          <p:cNvSpPr txBox="1"/>
          <p:nvPr/>
        </p:nvSpPr>
        <p:spPr>
          <a:xfrm>
            <a:off x="777240" y="4096512"/>
            <a:ext cx="10607040" cy="365760"/>
          </a:xfrm>
          <a:prstGeom prst="rect">
            <a:avLst/>
          </a:prstGeom>
          <a:noFill/>
        </p:spPr>
        <p:txBody>
          <a:bodyPr wrap="square" anchor="t">
            <a:spAutoFit/>
          </a:bodyPr>
          <a:lstStyle/>
          <a:p>
            <a:pPr algn="l">
              <a:spcAft>
                <a:spcPts val="400"/>
              </a:spcAft>
            </a:pPr>
            <a:r>
              <a:rPr sz="1300" b="1">
                <a:solidFill>
                  <a:srgbClr val="1F6FEB"/>
                </a:solidFill>
                <a:latin typeface="Arial"/>
              </a:rPr>
              <a:t>DISCUSS WITH YOUR TRAINER</a:t>
            </a:r>
          </a:p>
        </p:txBody>
      </p:sp>
      <p:sp>
        <p:nvSpPr>
          <p:cNvPr id="12" name="Rectangle 11"/>
          <p:cNvSpPr/>
          <p:nvPr/>
        </p:nvSpPr>
        <p:spPr>
          <a:xfrm>
            <a:off x="777240" y="4480560"/>
            <a:ext cx="3447288" cy="1463040"/>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 name="Rectangle 12"/>
          <p:cNvSpPr/>
          <p:nvPr/>
        </p:nvSpPr>
        <p:spPr>
          <a:xfrm>
            <a:off x="777240" y="4480560"/>
            <a:ext cx="3447288" cy="82296"/>
          </a:xfrm>
          <a:prstGeom prst="rect">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 name="TextBox 13"/>
          <p:cNvSpPr txBox="1"/>
          <p:nvPr/>
        </p:nvSpPr>
        <p:spPr>
          <a:xfrm>
            <a:off x="978408" y="4663440"/>
            <a:ext cx="3044952" cy="457200"/>
          </a:xfrm>
          <a:prstGeom prst="rect">
            <a:avLst/>
          </a:prstGeom>
          <a:noFill/>
        </p:spPr>
        <p:txBody>
          <a:bodyPr wrap="square" anchor="t">
            <a:spAutoFit/>
          </a:bodyPr>
          <a:lstStyle/>
          <a:p>
            <a:pPr algn="l">
              <a:spcAft>
                <a:spcPts val="400"/>
              </a:spcAft>
            </a:pPr>
            <a:r>
              <a:rPr sz="1350" b="1">
                <a:solidFill>
                  <a:srgbClr val="1F6FEB"/>
                </a:solidFill>
                <a:latin typeface="Arial"/>
              </a:rPr>
              <a:t>What did the result show?</a:t>
            </a:r>
          </a:p>
        </p:txBody>
      </p:sp>
      <p:sp>
        <p:nvSpPr>
          <p:cNvPr id="15" name="TextBox 14"/>
          <p:cNvSpPr txBox="1"/>
          <p:nvPr/>
        </p:nvSpPr>
        <p:spPr>
          <a:xfrm>
            <a:off x="978408" y="5138928"/>
            <a:ext cx="3044952" cy="731520"/>
          </a:xfrm>
          <a:prstGeom prst="rect">
            <a:avLst/>
          </a:prstGeom>
          <a:noFill/>
        </p:spPr>
        <p:txBody>
          <a:bodyPr wrap="square" anchor="t">
            <a:spAutoFit/>
          </a:bodyPr>
          <a:lstStyle/>
          <a:p>
            <a:pPr algn="l">
              <a:spcAft>
                <a:spcPts val="400"/>
              </a:spcAft>
            </a:pPr>
            <a:r>
              <a:rPr sz="1200" b="0">
                <a:solidFill>
                  <a:srgbClr val="5B6372"/>
                </a:solidFill>
                <a:latin typeface="Arial"/>
              </a:rPr>
              <a:t>Restate the outcome in your own words.</a:t>
            </a:r>
          </a:p>
        </p:txBody>
      </p:sp>
      <p:sp>
        <p:nvSpPr>
          <p:cNvPr id="16" name="Rectangle 15"/>
          <p:cNvSpPr/>
          <p:nvPr/>
        </p:nvSpPr>
        <p:spPr>
          <a:xfrm>
            <a:off x="4370832" y="4480560"/>
            <a:ext cx="3447288" cy="1463040"/>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7" name="Rectangle 16"/>
          <p:cNvSpPr/>
          <p:nvPr/>
        </p:nvSpPr>
        <p:spPr>
          <a:xfrm>
            <a:off x="4370832" y="4480560"/>
            <a:ext cx="3447288" cy="82296"/>
          </a:xfrm>
          <a:prstGeom prst="rect">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8" name="TextBox 17"/>
          <p:cNvSpPr txBox="1"/>
          <p:nvPr/>
        </p:nvSpPr>
        <p:spPr>
          <a:xfrm>
            <a:off x="4572000" y="4663440"/>
            <a:ext cx="3044952" cy="457200"/>
          </a:xfrm>
          <a:prstGeom prst="rect">
            <a:avLst/>
          </a:prstGeom>
          <a:noFill/>
        </p:spPr>
        <p:txBody>
          <a:bodyPr wrap="square" anchor="t">
            <a:spAutoFit/>
          </a:bodyPr>
          <a:lstStyle/>
          <a:p>
            <a:pPr algn="l">
              <a:spcAft>
                <a:spcPts val="400"/>
              </a:spcAft>
            </a:pPr>
            <a:r>
              <a:rPr sz="1350" b="1">
                <a:solidFill>
                  <a:srgbClr val="10B981"/>
                </a:solidFill>
                <a:latin typeface="Arial"/>
              </a:rPr>
              <a:t>Why does it work?</a:t>
            </a:r>
          </a:p>
        </p:txBody>
      </p:sp>
      <p:sp>
        <p:nvSpPr>
          <p:cNvPr id="19" name="TextBox 18"/>
          <p:cNvSpPr txBox="1"/>
          <p:nvPr/>
        </p:nvSpPr>
        <p:spPr>
          <a:xfrm>
            <a:off x="4572000" y="5138928"/>
            <a:ext cx="3044952" cy="731520"/>
          </a:xfrm>
          <a:prstGeom prst="rect">
            <a:avLst/>
          </a:prstGeom>
          <a:noFill/>
        </p:spPr>
        <p:txBody>
          <a:bodyPr wrap="square" anchor="t">
            <a:spAutoFit/>
          </a:bodyPr>
          <a:lstStyle/>
          <a:p>
            <a:pPr algn="l">
              <a:spcAft>
                <a:spcPts val="400"/>
              </a:spcAft>
            </a:pPr>
            <a:r>
              <a:rPr sz="1200" b="0">
                <a:solidFill>
                  <a:srgbClr val="5B6372"/>
                </a:solidFill>
                <a:latin typeface="Arial"/>
              </a:rPr>
              <a:t>Name the quantum principle the activity relies on.</a:t>
            </a:r>
          </a:p>
        </p:txBody>
      </p:sp>
      <p:sp>
        <p:nvSpPr>
          <p:cNvPr id="20" name="Rectangle 19"/>
          <p:cNvSpPr/>
          <p:nvPr/>
        </p:nvSpPr>
        <p:spPr>
          <a:xfrm>
            <a:off x="7964424" y="4480560"/>
            <a:ext cx="3447288" cy="1463040"/>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1" name="Rectangle 20"/>
          <p:cNvSpPr/>
          <p:nvPr/>
        </p:nvSpPr>
        <p:spPr>
          <a:xfrm>
            <a:off x="7964424" y="4480560"/>
            <a:ext cx="3447288" cy="82296"/>
          </a:xfrm>
          <a:prstGeom prst="rect">
            <a:avLst/>
          </a:prstGeom>
          <a:solidFill>
            <a:srgbClr val="7C3AE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2" name="TextBox 21"/>
          <p:cNvSpPr txBox="1"/>
          <p:nvPr/>
        </p:nvSpPr>
        <p:spPr>
          <a:xfrm>
            <a:off x="8165592" y="4663440"/>
            <a:ext cx="3044952" cy="457200"/>
          </a:xfrm>
          <a:prstGeom prst="rect">
            <a:avLst/>
          </a:prstGeom>
          <a:noFill/>
        </p:spPr>
        <p:txBody>
          <a:bodyPr wrap="square" anchor="t">
            <a:spAutoFit/>
          </a:bodyPr>
          <a:lstStyle/>
          <a:p>
            <a:pPr algn="l">
              <a:spcAft>
                <a:spcPts val="400"/>
              </a:spcAft>
            </a:pPr>
            <a:r>
              <a:rPr sz="1350" b="1">
                <a:solidFill>
                  <a:srgbClr val="7C3AED"/>
                </a:solidFill>
                <a:latin typeface="Arial"/>
              </a:rPr>
              <a:t>Where would you use it?</a:t>
            </a:r>
          </a:p>
        </p:txBody>
      </p:sp>
      <p:sp>
        <p:nvSpPr>
          <p:cNvPr id="23" name="TextBox 22"/>
          <p:cNvSpPr txBox="1"/>
          <p:nvPr/>
        </p:nvSpPr>
        <p:spPr>
          <a:xfrm>
            <a:off x="8165592" y="5138928"/>
            <a:ext cx="3044952" cy="731520"/>
          </a:xfrm>
          <a:prstGeom prst="rect">
            <a:avLst/>
          </a:prstGeom>
          <a:noFill/>
        </p:spPr>
        <p:txBody>
          <a:bodyPr wrap="square" anchor="t">
            <a:spAutoFit/>
          </a:bodyPr>
          <a:lstStyle/>
          <a:p>
            <a:pPr algn="l">
              <a:spcAft>
                <a:spcPts val="400"/>
              </a:spcAft>
            </a:pPr>
            <a:r>
              <a:rPr sz="1200" b="0">
                <a:solidFill>
                  <a:srgbClr val="5B6372"/>
                </a:solidFill>
                <a:latin typeface="Arial"/>
              </a:rPr>
              <a:t>Give one realistic application in your own field.</a:t>
            </a:r>
          </a:p>
        </p:txBody>
      </p:sp>
      <p:sp>
        <p:nvSpPr>
          <p:cNvPr id="24" name="TextBox 23"/>
          <p:cNvSpPr txBox="1"/>
          <p:nvPr/>
        </p:nvSpPr>
        <p:spPr>
          <a:xfrm>
            <a:off x="365760" y="6446520"/>
            <a:ext cx="6858000" cy="320040"/>
          </a:xfrm>
          <a:prstGeom prst="rect">
            <a:avLst/>
          </a:prstGeom>
          <a:noFill/>
        </p:spPr>
        <p:txBody>
          <a:bodyPr wrap="square" anchor="t">
            <a:spAutoFit/>
          </a:bodyPr>
          <a:lstStyle/>
          <a:p>
            <a:pPr algn="l">
              <a:spcAft>
                <a:spcPts val="400"/>
              </a:spcAft>
            </a:pPr>
            <a:r>
              <a:rPr sz="900" b="0">
                <a:solidFill>
                  <a:srgbClr val="5B6372"/>
                </a:solidFill>
                <a:latin typeface="Arial"/>
              </a:rPr>
              <a:t>Securing the Future with Quantum Computing and Cryptography  ·  TGS-2024043419</a:t>
            </a:r>
          </a:p>
        </p:txBody>
      </p:sp>
      <p:sp>
        <p:nvSpPr>
          <p:cNvPr id="25" name="TextBox 24"/>
          <p:cNvSpPr txBox="1"/>
          <p:nvPr/>
        </p:nvSpPr>
        <p:spPr>
          <a:xfrm>
            <a:off x="4572000" y="6446520"/>
            <a:ext cx="3017520" cy="320040"/>
          </a:xfrm>
          <a:prstGeom prst="rect">
            <a:avLst/>
          </a:prstGeom>
          <a:noFill/>
        </p:spPr>
        <p:txBody>
          <a:bodyPr wrap="square" anchor="t">
            <a:spAutoFit/>
          </a:bodyPr>
          <a:lstStyle/>
          <a:p>
            <a:pPr algn="ctr">
              <a:spcAft>
                <a:spcPts val="400"/>
              </a:spcAft>
            </a:pPr>
            <a:r>
              <a:rPr sz="900" b="0">
                <a:solidFill>
                  <a:srgbClr val="5B6372"/>
                </a:solidFill>
                <a:latin typeface="Arial"/>
              </a:rPr>
              <a:t>© 2026 Tertiary Infotech Academy Pte Ltd</a:t>
            </a:r>
          </a:p>
        </p:txBody>
      </p:sp>
      <p:sp>
        <p:nvSpPr>
          <p:cNvPr id="26" name="TextBox 25"/>
          <p:cNvSpPr txBox="1"/>
          <p:nvPr/>
        </p:nvSpPr>
        <p:spPr>
          <a:xfrm>
            <a:off x="11338560" y="6446520"/>
            <a:ext cx="548640" cy="320040"/>
          </a:xfrm>
          <a:prstGeom prst="rect">
            <a:avLst/>
          </a:prstGeom>
          <a:noFill/>
        </p:spPr>
        <p:txBody>
          <a:bodyPr wrap="square" anchor="t">
            <a:spAutoFit/>
          </a:bodyPr>
          <a:lstStyle/>
          <a:p>
            <a:pPr algn="r">
              <a:spcAft>
                <a:spcPts val="400"/>
              </a:spcAft>
            </a:pPr>
            <a:r>
              <a:rPr sz="900" b="0">
                <a:solidFill>
                  <a:srgbClr val="5B6372"/>
                </a:solidFill>
                <a:latin typeface="Arial"/>
              </a:rPr>
              <a:t>232</a:t>
            </a:r>
          </a:p>
        </p:txBody>
      </p:sp>
    </p:spTree>
  </p:cSld>
  <p:clrMapOvr>
    <a:masterClrMapping/>
  </p:clrMapOvr>
</p:sld>
</file>

<file path=ppt/slides/slide234.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256032" cy="1417320"/>
          </a:xfrm>
          <a:prstGeom prst="rect">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777240" y="457200"/>
            <a:ext cx="10607040" cy="365760"/>
          </a:xfrm>
          <a:prstGeom prst="rect">
            <a:avLst/>
          </a:prstGeom>
          <a:noFill/>
        </p:spPr>
        <p:txBody>
          <a:bodyPr wrap="square" anchor="t">
            <a:spAutoFit/>
          </a:bodyPr>
          <a:lstStyle/>
          <a:p>
            <a:pPr algn="l">
              <a:spcAft>
                <a:spcPts val="400"/>
              </a:spcAft>
            </a:pPr>
            <a:r>
              <a:rPr sz="1400" b="1">
                <a:solidFill>
                  <a:srgbClr val="1F6FEB"/>
                </a:solidFill>
                <a:latin typeface="Arial"/>
              </a:rPr>
              <a:t>TOPIC RECAP</a:t>
            </a:r>
          </a:p>
        </p:txBody>
      </p:sp>
      <p:sp>
        <p:nvSpPr>
          <p:cNvPr id="5" name="TextBox 4"/>
          <p:cNvSpPr txBox="1"/>
          <p:nvPr/>
        </p:nvSpPr>
        <p:spPr>
          <a:xfrm>
            <a:off x="777240" y="822960"/>
            <a:ext cx="10881360" cy="822960"/>
          </a:xfrm>
          <a:prstGeom prst="rect">
            <a:avLst/>
          </a:prstGeom>
          <a:noFill/>
        </p:spPr>
        <p:txBody>
          <a:bodyPr wrap="square" anchor="t">
            <a:spAutoFit/>
          </a:bodyPr>
          <a:lstStyle/>
          <a:p>
            <a:pPr algn="l">
              <a:spcAft>
                <a:spcPts val="400"/>
              </a:spcAft>
            </a:pPr>
            <a:r>
              <a:rPr sz="2900" b="1">
                <a:solidFill>
                  <a:srgbClr val="161B26"/>
                </a:solidFill>
                <a:latin typeface="Arial"/>
              </a:rPr>
              <a:t>Recap — Quantum Computing Applications and Use Cases</a:t>
            </a:r>
          </a:p>
        </p:txBody>
      </p:sp>
      <p:sp>
        <p:nvSpPr>
          <p:cNvPr id="6" name="Rectangle 5"/>
          <p:cNvSpPr/>
          <p:nvPr/>
        </p:nvSpPr>
        <p:spPr>
          <a:xfrm>
            <a:off x="777240" y="1554480"/>
            <a:ext cx="10634472" cy="18288"/>
          </a:xfrm>
          <a:prstGeom prst="rect">
            <a:avLst/>
          </a:prstGeom>
          <a:solidFill>
            <a:srgbClr val="E2E8F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TextBox 6"/>
          <p:cNvSpPr txBox="1"/>
          <p:nvPr/>
        </p:nvSpPr>
        <p:spPr>
          <a:xfrm>
            <a:off x="777240" y="1783080"/>
            <a:ext cx="10607040" cy="4480560"/>
          </a:xfrm>
          <a:prstGeom prst="rect">
            <a:avLst/>
          </a:prstGeom>
          <a:noFill/>
        </p:spPr>
        <p:txBody>
          <a:bodyPr wrap="square">
            <a:spAutoFit/>
          </a:bodyPr>
          <a:lstStyle/>
          <a:p>
            <a:pPr>
              <a:spcAft>
                <a:spcPts val="1000"/>
              </a:spcAft>
            </a:pPr>
            <a:r>
              <a:rPr sz="1600">
                <a:solidFill>
                  <a:srgbClr val="161B26"/>
                </a:solidFill>
                <a:latin typeface="Arial"/>
              </a:rPr>
              <a:t>•  Finance</a:t>
            </a:r>
          </a:p>
          <a:p>
            <a:pPr>
              <a:spcAft>
                <a:spcPts val="1000"/>
              </a:spcAft>
            </a:pPr>
            <a:r>
              <a:rPr sz="1600">
                <a:solidFill>
                  <a:srgbClr val="161B26"/>
                </a:solidFill>
                <a:latin typeface="Arial"/>
              </a:rPr>
              <a:t>•  Healthcare and life sciences</a:t>
            </a:r>
          </a:p>
          <a:p>
            <a:pPr>
              <a:spcAft>
                <a:spcPts val="1000"/>
              </a:spcAft>
            </a:pPr>
            <a:r>
              <a:rPr sz="1600">
                <a:solidFill>
                  <a:srgbClr val="161B26"/>
                </a:solidFill>
                <a:latin typeface="Arial"/>
              </a:rPr>
              <a:t>•  Science and materials</a:t>
            </a:r>
          </a:p>
          <a:p>
            <a:pPr>
              <a:spcAft>
                <a:spcPts val="1000"/>
              </a:spcAft>
            </a:pPr>
            <a:r>
              <a:rPr sz="1600">
                <a:solidFill>
                  <a:srgbClr val="161B26"/>
                </a:solidFill>
                <a:latin typeface="Arial"/>
              </a:rPr>
              <a:t>•  Optimisation and logistics</a:t>
            </a:r>
          </a:p>
          <a:p>
            <a:pPr>
              <a:spcAft>
                <a:spcPts val="1000"/>
              </a:spcAft>
            </a:pPr>
            <a:r>
              <a:rPr sz="1600">
                <a:solidFill>
                  <a:srgbClr val="161B26"/>
                </a:solidFill>
                <a:latin typeface="Arial"/>
              </a:rPr>
              <a:t>•  Quantum machine learning</a:t>
            </a:r>
          </a:p>
          <a:p>
            <a:pPr>
              <a:spcAft>
                <a:spcPts val="1000"/>
              </a:spcAft>
            </a:pPr>
            <a:r>
              <a:rPr sz="1600">
                <a:solidFill>
                  <a:srgbClr val="161B26"/>
                </a:solidFill>
                <a:latin typeface="Arial"/>
              </a:rPr>
              <a:t>•  Assessing business value</a:t>
            </a:r>
          </a:p>
        </p:txBody>
      </p:sp>
      <p:sp>
        <p:nvSpPr>
          <p:cNvPr id="8" name="TextBox 7"/>
          <p:cNvSpPr txBox="1"/>
          <p:nvPr/>
        </p:nvSpPr>
        <p:spPr>
          <a:xfrm>
            <a:off x="365760" y="6446520"/>
            <a:ext cx="6858000" cy="320040"/>
          </a:xfrm>
          <a:prstGeom prst="rect">
            <a:avLst/>
          </a:prstGeom>
          <a:noFill/>
        </p:spPr>
        <p:txBody>
          <a:bodyPr wrap="square" anchor="t">
            <a:spAutoFit/>
          </a:bodyPr>
          <a:lstStyle/>
          <a:p>
            <a:pPr algn="l">
              <a:spcAft>
                <a:spcPts val="400"/>
              </a:spcAft>
            </a:pPr>
            <a:r>
              <a:rPr sz="900" b="0">
                <a:solidFill>
                  <a:srgbClr val="5B6372"/>
                </a:solidFill>
                <a:latin typeface="Arial"/>
              </a:rPr>
              <a:t>Securing the Future with Quantum Computing and Cryptography  ·  TGS-2024043419</a:t>
            </a:r>
          </a:p>
        </p:txBody>
      </p:sp>
      <p:sp>
        <p:nvSpPr>
          <p:cNvPr id="9" name="TextBox 8"/>
          <p:cNvSpPr txBox="1"/>
          <p:nvPr/>
        </p:nvSpPr>
        <p:spPr>
          <a:xfrm>
            <a:off x="4572000" y="6446520"/>
            <a:ext cx="3017520" cy="320040"/>
          </a:xfrm>
          <a:prstGeom prst="rect">
            <a:avLst/>
          </a:prstGeom>
          <a:noFill/>
        </p:spPr>
        <p:txBody>
          <a:bodyPr wrap="square" anchor="t">
            <a:spAutoFit/>
          </a:bodyPr>
          <a:lstStyle/>
          <a:p>
            <a:pPr algn="ctr">
              <a:spcAft>
                <a:spcPts val="400"/>
              </a:spcAft>
            </a:pPr>
            <a:r>
              <a:rPr sz="900" b="0">
                <a:solidFill>
                  <a:srgbClr val="5B6372"/>
                </a:solidFill>
                <a:latin typeface="Arial"/>
              </a:rPr>
              <a:t>© 2026 Tertiary Infotech Academy Pte Ltd</a:t>
            </a:r>
          </a:p>
        </p:txBody>
      </p:sp>
      <p:sp>
        <p:nvSpPr>
          <p:cNvPr id="10" name="TextBox 9"/>
          <p:cNvSpPr txBox="1"/>
          <p:nvPr/>
        </p:nvSpPr>
        <p:spPr>
          <a:xfrm>
            <a:off x="11338560" y="6446520"/>
            <a:ext cx="548640" cy="320040"/>
          </a:xfrm>
          <a:prstGeom prst="rect">
            <a:avLst/>
          </a:prstGeom>
          <a:noFill/>
        </p:spPr>
        <p:txBody>
          <a:bodyPr wrap="square" anchor="t">
            <a:spAutoFit/>
          </a:bodyPr>
          <a:lstStyle/>
          <a:p>
            <a:pPr algn="r">
              <a:spcAft>
                <a:spcPts val="400"/>
              </a:spcAft>
            </a:pPr>
            <a:r>
              <a:rPr sz="900" b="0">
                <a:solidFill>
                  <a:srgbClr val="5B6372"/>
                </a:solidFill>
                <a:latin typeface="Arial"/>
              </a:rPr>
              <a:t>233</a:t>
            </a:r>
          </a:p>
        </p:txBody>
      </p:sp>
    </p:spTree>
  </p:cSld>
  <p:clrMapOvr>
    <a:masterClrMapping/>
  </p:clrMapOvr>
</p:sld>
</file>

<file path=ppt/slides/slide235.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256032" cy="6858000"/>
          </a:xfrm>
          <a:prstGeom prst="rect">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Rectangle 3"/>
          <p:cNvSpPr/>
          <p:nvPr/>
        </p:nvSpPr>
        <p:spPr>
          <a:xfrm>
            <a:off x="777240" y="2286000"/>
            <a:ext cx="128016" cy="1828800"/>
          </a:xfrm>
          <a:prstGeom prst="rect">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TextBox 4"/>
          <p:cNvSpPr txBox="1"/>
          <p:nvPr/>
        </p:nvSpPr>
        <p:spPr>
          <a:xfrm>
            <a:off x="1143000" y="2331720"/>
            <a:ext cx="10058400" cy="548640"/>
          </a:xfrm>
          <a:prstGeom prst="rect">
            <a:avLst/>
          </a:prstGeom>
          <a:noFill/>
        </p:spPr>
        <p:txBody>
          <a:bodyPr wrap="square" anchor="t">
            <a:spAutoFit/>
          </a:bodyPr>
          <a:lstStyle/>
          <a:p>
            <a:pPr algn="l">
              <a:spcAft>
                <a:spcPts val="400"/>
              </a:spcAft>
            </a:pPr>
            <a:r>
              <a:rPr sz="1800" b="1">
                <a:solidFill>
                  <a:srgbClr val="1F6FEB"/>
                </a:solidFill>
                <a:latin typeface="Arial"/>
              </a:rPr>
              <a:t>TOPIC 08</a:t>
            </a:r>
          </a:p>
        </p:txBody>
      </p:sp>
      <p:sp>
        <p:nvSpPr>
          <p:cNvPr id="6" name="TextBox 5"/>
          <p:cNvSpPr txBox="1"/>
          <p:nvPr/>
        </p:nvSpPr>
        <p:spPr>
          <a:xfrm>
            <a:off x="1143000" y="2743200"/>
            <a:ext cx="9509760" cy="1463040"/>
          </a:xfrm>
          <a:prstGeom prst="rect">
            <a:avLst/>
          </a:prstGeom>
          <a:noFill/>
        </p:spPr>
        <p:txBody>
          <a:bodyPr wrap="square" anchor="t">
            <a:spAutoFit/>
          </a:bodyPr>
          <a:lstStyle/>
          <a:p>
            <a:pPr algn="l">
              <a:spcAft>
                <a:spcPts val="400"/>
              </a:spcAft>
            </a:pPr>
            <a:r>
              <a:rPr sz="4000" b="1">
                <a:solidFill>
                  <a:srgbClr val="161B26"/>
                </a:solidFill>
                <a:latin typeface="Arial"/>
              </a:rPr>
              <a:t>Quantum Error Correction</a:t>
            </a:r>
          </a:p>
        </p:txBody>
      </p:sp>
      <p:sp>
        <p:nvSpPr>
          <p:cNvPr id="7" name="TextBox 6"/>
          <p:cNvSpPr txBox="1"/>
          <p:nvPr/>
        </p:nvSpPr>
        <p:spPr>
          <a:xfrm>
            <a:off x="1161288" y="4251960"/>
            <a:ext cx="9692640" cy="822960"/>
          </a:xfrm>
          <a:prstGeom prst="rect">
            <a:avLst/>
          </a:prstGeom>
          <a:noFill/>
        </p:spPr>
        <p:txBody>
          <a:bodyPr wrap="square" anchor="t">
            <a:spAutoFit/>
          </a:bodyPr>
          <a:lstStyle/>
          <a:p>
            <a:pPr algn="l">
              <a:spcAft>
                <a:spcPts val="400"/>
              </a:spcAft>
            </a:pPr>
            <a:r>
              <a:rPr sz="1500" b="0">
                <a:solidFill>
                  <a:srgbClr val="5B6372"/>
                </a:solidFill>
                <a:latin typeface="Arial"/>
              </a:rPr>
              <a:t>Bit and Phase Flip Errors · QEC Algorithms · Fault Tolerance · The Future</a:t>
            </a:r>
          </a:p>
        </p:txBody>
      </p:sp>
      <p:sp>
        <p:nvSpPr>
          <p:cNvPr id="8" name="TextBox 7"/>
          <p:cNvSpPr txBox="1"/>
          <p:nvPr/>
        </p:nvSpPr>
        <p:spPr>
          <a:xfrm>
            <a:off x="9144000" y="640080"/>
            <a:ext cx="2560320" cy="1463040"/>
          </a:xfrm>
          <a:prstGeom prst="rect">
            <a:avLst/>
          </a:prstGeom>
          <a:noFill/>
        </p:spPr>
        <p:txBody>
          <a:bodyPr wrap="square" anchor="t">
            <a:spAutoFit/>
          </a:bodyPr>
          <a:lstStyle/>
          <a:p>
            <a:pPr algn="r">
              <a:spcAft>
                <a:spcPts val="400"/>
              </a:spcAft>
            </a:pPr>
            <a:r>
              <a:rPr sz="7200" b="1">
                <a:solidFill>
                  <a:srgbClr val="E2E8F0"/>
                </a:solidFill>
                <a:latin typeface="Arial"/>
              </a:rPr>
              <a:t>08</a:t>
            </a:r>
          </a:p>
        </p:txBody>
      </p:sp>
      <p:sp>
        <p:nvSpPr>
          <p:cNvPr id="9" name="TextBox 8"/>
          <p:cNvSpPr txBox="1"/>
          <p:nvPr/>
        </p:nvSpPr>
        <p:spPr>
          <a:xfrm>
            <a:off x="365760" y="6446520"/>
            <a:ext cx="6858000" cy="320040"/>
          </a:xfrm>
          <a:prstGeom prst="rect">
            <a:avLst/>
          </a:prstGeom>
          <a:noFill/>
        </p:spPr>
        <p:txBody>
          <a:bodyPr wrap="square" anchor="t">
            <a:spAutoFit/>
          </a:bodyPr>
          <a:lstStyle/>
          <a:p>
            <a:pPr algn="l">
              <a:spcAft>
                <a:spcPts val="400"/>
              </a:spcAft>
            </a:pPr>
            <a:r>
              <a:rPr sz="900" b="0">
                <a:solidFill>
                  <a:srgbClr val="5B6372"/>
                </a:solidFill>
                <a:latin typeface="Arial"/>
              </a:rPr>
              <a:t>Securing the Future with Quantum Computing and Cryptography  ·  TGS-2024043419</a:t>
            </a:r>
          </a:p>
        </p:txBody>
      </p:sp>
      <p:sp>
        <p:nvSpPr>
          <p:cNvPr id="10" name="TextBox 9"/>
          <p:cNvSpPr txBox="1"/>
          <p:nvPr/>
        </p:nvSpPr>
        <p:spPr>
          <a:xfrm>
            <a:off x="4572000" y="6446520"/>
            <a:ext cx="3017520" cy="320040"/>
          </a:xfrm>
          <a:prstGeom prst="rect">
            <a:avLst/>
          </a:prstGeom>
          <a:noFill/>
        </p:spPr>
        <p:txBody>
          <a:bodyPr wrap="square" anchor="t">
            <a:spAutoFit/>
          </a:bodyPr>
          <a:lstStyle/>
          <a:p>
            <a:pPr algn="ctr">
              <a:spcAft>
                <a:spcPts val="400"/>
              </a:spcAft>
            </a:pPr>
            <a:r>
              <a:rPr sz="900" b="0">
                <a:solidFill>
                  <a:srgbClr val="5B6372"/>
                </a:solidFill>
                <a:latin typeface="Arial"/>
              </a:rPr>
              <a:t>© 2026 Tertiary Infotech Academy Pte Ltd</a:t>
            </a:r>
          </a:p>
        </p:txBody>
      </p:sp>
      <p:sp>
        <p:nvSpPr>
          <p:cNvPr id="11" name="TextBox 10"/>
          <p:cNvSpPr txBox="1"/>
          <p:nvPr/>
        </p:nvSpPr>
        <p:spPr>
          <a:xfrm>
            <a:off x="11338560" y="6446520"/>
            <a:ext cx="548640" cy="320040"/>
          </a:xfrm>
          <a:prstGeom prst="rect">
            <a:avLst/>
          </a:prstGeom>
          <a:noFill/>
        </p:spPr>
        <p:txBody>
          <a:bodyPr wrap="square" anchor="t">
            <a:spAutoFit/>
          </a:bodyPr>
          <a:lstStyle/>
          <a:p>
            <a:pPr algn="r">
              <a:spcAft>
                <a:spcPts val="400"/>
              </a:spcAft>
            </a:pPr>
            <a:r>
              <a:rPr sz="900" b="0">
                <a:solidFill>
                  <a:srgbClr val="5B6372"/>
                </a:solidFill>
                <a:latin typeface="Arial"/>
              </a:rPr>
              <a:t>234</a:t>
            </a:r>
          </a:p>
        </p:txBody>
      </p:sp>
    </p:spTree>
  </p:cSld>
  <p:clrMapOvr>
    <a:masterClrMapping/>
  </p:clrMapOvr>
</p:sld>
</file>

<file path=ppt/slides/slide236.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256032" cy="1417320"/>
          </a:xfrm>
          <a:prstGeom prst="rect">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777240" y="457200"/>
            <a:ext cx="10607040" cy="365760"/>
          </a:xfrm>
          <a:prstGeom prst="rect">
            <a:avLst/>
          </a:prstGeom>
          <a:noFill/>
        </p:spPr>
        <p:txBody>
          <a:bodyPr wrap="square" anchor="t">
            <a:spAutoFit/>
          </a:bodyPr>
          <a:lstStyle/>
          <a:p>
            <a:pPr algn="l">
              <a:spcAft>
                <a:spcPts val="400"/>
              </a:spcAft>
            </a:pPr>
            <a:r>
              <a:rPr sz="1400" b="1">
                <a:solidFill>
                  <a:srgbClr val="1F6FEB"/>
                </a:solidFill>
                <a:latin typeface="Arial"/>
              </a:rPr>
              <a:t>MAPS TO LO7</a:t>
            </a:r>
          </a:p>
        </p:txBody>
      </p:sp>
      <p:sp>
        <p:nvSpPr>
          <p:cNvPr id="5" name="TextBox 4"/>
          <p:cNvSpPr txBox="1"/>
          <p:nvPr/>
        </p:nvSpPr>
        <p:spPr>
          <a:xfrm>
            <a:off x="777240" y="822960"/>
            <a:ext cx="10881360" cy="822960"/>
          </a:xfrm>
          <a:prstGeom prst="rect">
            <a:avLst/>
          </a:prstGeom>
          <a:noFill/>
        </p:spPr>
        <p:txBody>
          <a:bodyPr wrap="square" anchor="t">
            <a:spAutoFit/>
          </a:bodyPr>
          <a:lstStyle/>
          <a:p>
            <a:pPr algn="l">
              <a:spcAft>
                <a:spcPts val="400"/>
              </a:spcAft>
            </a:pPr>
            <a:r>
              <a:rPr sz="2900" b="1">
                <a:solidFill>
                  <a:srgbClr val="161B26"/>
                </a:solidFill>
                <a:latin typeface="Arial"/>
              </a:rPr>
              <a:t>Key Concepts — Quantum Error Correction</a:t>
            </a:r>
          </a:p>
        </p:txBody>
      </p:sp>
      <p:sp>
        <p:nvSpPr>
          <p:cNvPr id="6" name="Rectangle 5"/>
          <p:cNvSpPr/>
          <p:nvPr/>
        </p:nvSpPr>
        <p:spPr>
          <a:xfrm>
            <a:off x="777240" y="1554480"/>
            <a:ext cx="10634472" cy="18288"/>
          </a:xfrm>
          <a:prstGeom prst="rect">
            <a:avLst/>
          </a:prstGeom>
          <a:solidFill>
            <a:srgbClr val="E2E8F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Rectangle 6"/>
          <p:cNvSpPr/>
          <p:nvPr/>
        </p:nvSpPr>
        <p:spPr>
          <a:xfrm>
            <a:off x="777240" y="1783080"/>
            <a:ext cx="5180076" cy="1298448"/>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Rectangle 7"/>
          <p:cNvSpPr/>
          <p:nvPr/>
        </p:nvSpPr>
        <p:spPr>
          <a:xfrm>
            <a:off x="777240" y="1783080"/>
            <a:ext cx="91440" cy="1298448"/>
          </a:xfrm>
          <a:prstGeom prst="rect">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Oval 8"/>
          <p:cNvSpPr/>
          <p:nvPr/>
        </p:nvSpPr>
        <p:spPr>
          <a:xfrm>
            <a:off x="1033272" y="2157984"/>
            <a:ext cx="548640" cy="548640"/>
          </a:xfrm>
          <a:prstGeom prst="ellipse">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TextBox 9"/>
          <p:cNvSpPr txBox="1"/>
          <p:nvPr/>
        </p:nvSpPr>
        <p:spPr>
          <a:xfrm>
            <a:off x="1033272" y="2157984"/>
            <a:ext cx="548640" cy="548640"/>
          </a:xfrm>
          <a:prstGeom prst="rect">
            <a:avLst/>
          </a:prstGeom>
          <a:noFill/>
        </p:spPr>
        <p:txBody>
          <a:bodyPr wrap="square" anchor="ctr">
            <a:spAutoFit/>
          </a:bodyPr>
          <a:lstStyle/>
          <a:p>
            <a:pPr algn="ctr">
              <a:spcAft>
                <a:spcPts val="400"/>
              </a:spcAft>
            </a:pPr>
            <a:r>
              <a:rPr sz="1800" b="1">
                <a:solidFill>
                  <a:srgbClr val="FFFFFF"/>
                </a:solidFill>
                <a:latin typeface="Arial"/>
              </a:rPr>
              <a:t>1</a:t>
            </a:r>
          </a:p>
        </p:txBody>
      </p:sp>
      <p:sp>
        <p:nvSpPr>
          <p:cNvPr id="11" name="TextBox 10"/>
          <p:cNvSpPr txBox="1"/>
          <p:nvPr/>
        </p:nvSpPr>
        <p:spPr>
          <a:xfrm>
            <a:off x="1764792" y="1892808"/>
            <a:ext cx="3973068" cy="1115568"/>
          </a:xfrm>
          <a:prstGeom prst="rect">
            <a:avLst/>
          </a:prstGeom>
          <a:noFill/>
        </p:spPr>
        <p:txBody>
          <a:bodyPr wrap="square" anchor="ctr">
            <a:spAutoFit/>
          </a:bodyPr>
          <a:lstStyle/>
          <a:p>
            <a:pPr algn="l">
              <a:spcAft>
                <a:spcPts val="300"/>
              </a:spcAft>
            </a:pPr>
            <a:r>
              <a:rPr sz="1450" b="1">
                <a:solidFill>
                  <a:srgbClr val="161B26"/>
                </a:solidFill>
                <a:latin typeface="Arial"/>
              </a:rPr>
              <a:t>Why QEC is needed</a:t>
            </a:r>
          </a:p>
          <a:p>
            <a:pPr algn="l">
              <a:spcAft>
                <a:spcPts val="300"/>
              </a:spcAft>
            </a:pPr>
            <a:r>
              <a:rPr sz="1100" b="0">
                <a:solidFill>
                  <a:srgbClr val="5B6372"/>
                </a:solidFill>
                <a:latin typeface="Arial"/>
              </a:rPr>
              <a:t>Qubits decohere and gates are imperfect; without correction, errors accumulate long before a useful algorithm completes.</a:t>
            </a:r>
          </a:p>
        </p:txBody>
      </p:sp>
      <p:sp>
        <p:nvSpPr>
          <p:cNvPr id="12" name="Rectangle 11"/>
          <p:cNvSpPr/>
          <p:nvPr/>
        </p:nvSpPr>
        <p:spPr>
          <a:xfrm>
            <a:off x="6231636" y="1783080"/>
            <a:ext cx="5180076" cy="1298448"/>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 name="Rectangle 12"/>
          <p:cNvSpPr/>
          <p:nvPr/>
        </p:nvSpPr>
        <p:spPr>
          <a:xfrm>
            <a:off x="6231636" y="1783080"/>
            <a:ext cx="91440" cy="1298448"/>
          </a:xfrm>
          <a:prstGeom prst="rect">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 name="Oval 13"/>
          <p:cNvSpPr/>
          <p:nvPr/>
        </p:nvSpPr>
        <p:spPr>
          <a:xfrm>
            <a:off x="6487668" y="2157984"/>
            <a:ext cx="548640" cy="548640"/>
          </a:xfrm>
          <a:prstGeom prst="ellipse">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5" name="TextBox 14"/>
          <p:cNvSpPr txBox="1"/>
          <p:nvPr/>
        </p:nvSpPr>
        <p:spPr>
          <a:xfrm>
            <a:off x="6487668" y="2157984"/>
            <a:ext cx="548640" cy="548640"/>
          </a:xfrm>
          <a:prstGeom prst="rect">
            <a:avLst/>
          </a:prstGeom>
          <a:noFill/>
        </p:spPr>
        <p:txBody>
          <a:bodyPr wrap="square" anchor="ctr">
            <a:spAutoFit/>
          </a:bodyPr>
          <a:lstStyle/>
          <a:p>
            <a:pPr algn="ctr">
              <a:spcAft>
                <a:spcPts val="400"/>
              </a:spcAft>
            </a:pPr>
            <a:r>
              <a:rPr sz="1800" b="1">
                <a:solidFill>
                  <a:srgbClr val="FFFFFF"/>
                </a:solidFill>
                <a:latin typeface="Arial"/>
              </a:rPr>
              <a:t>2</a:t>
            </a:r>
          </a:p>
        </p:txBody>
      </p:sp>
      <p:sp>
        <p:nvSpPr>
          <p:cNvPr id="16" name="TextBox 15"/>
          <p:cNvSpPr txBox="1"/>
          <p:nvPr/>
        </p:nvSpPr>
        <p:spPr>
          <a:xfrm>
            <a:off x="7219188" y="1892808"/>
            <a:ext cx="3973068" cy="1115568"/>
          </a:xfrm>
          <a:prstGeom prst="rect">
            <a:avLst/>
          </a:prstGeom>
          <a:noFill/>
        </p:spPr>
        <p:txBody>
          <a:bodyPr wrap="square" anchor="ctr">
            <a:spAutoFit/>
          </a:bodyPr>
          <a:lstStyle/>
          <a:p>
            <a:pPr algn="l">
              <a:spcAft>
                <a:spcPts val="300"/>
              </a:spcAft>
            </a:pPr>
            <a:r>
              <a:rPr sz="1450" b="1">
                <a:solidFill>
                  <a:srgbClr val="161B26"/>
                </a:solidFill>
                <a:latin typeface="Arial"/>
              </a:rPr>
              <a:t>Quantum-specific challenges</a:t>
            </a:r>
          </a:p>
          <a:p>
            <a:pPr algn="l">
              <a:spcAft>
                <a:spcPts val="300"/>
              </a:spcAft>
            </a:pPr>
            <a:r>
              <a:rPr sz="1100" b="0">
                <a:solidFill>
                  <a:srgbClr val="5B6372"/>
                </a:solidFill>
                <a:latin typeface="Arial"/>
              </a:rPr>
              <a:t>No-cloning forbids simple copying, errors are continuous rather than discrete, and measurement destroys the state.</a:t>
            </a:r>
          </a:p>
        </p:txBody>
      </p:sp>
      <p:sp>
        <p:nvSpPr>
          <p:cNvPr id="17" name="Rectangle 16"/>
          <p:cNvSpPr/>
          <p:nvPr/>
        </p:nvSpPr>
        <p:spPr>
          <a:xfrm>
            <a:off x="777240" y="3319272"/>
            <a:ext cx="5180076" cy="1298448"/>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8" name="Rectangle 17"/>
          <p:cNvSpPr/>
          <p:nvPr/>
        </p:nvSpPr>
        <p:spPr>
          <a:xfrm>
            <a:off x="777240" y="3319272"/>
            <a:ext cx="91440" cy="1298448"/>
          </a:xfrm>
          <a:prstGeom prst="rect">
            <a:avLst/>
          </a:prstGeom>
          <a:solidFill>
            <a:srgbClr val="7C3AE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9" name="Oval 18"/>
          <p:cNvSpPr/>
          <p:nvPr/>
        </p:nvSpPr>
        <p:spPr>
          <a:xfrm>
            <a:off x="1033272" y="3694176"/>
            <a:ext cx="548640" cy="548640"/>
          </a:xfrm>
          <a:prstGeom prst="ellipse">
            <a:avLst/>
          </a:prstGeom>
          <a:solidFill>
            <a:srgbClr val="7C3AE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0" name="TextBox 19"/>
          <p:cNvSpPr txBox="1"/>
          <p:nvPr/>
        </p:nvSpPr>
        <p:spPr>
          <a:xfrm>
            <a:off x="1033272" y="3694176"/>
            <a:ext cx="548640" cy="548640"/>
          </a:xfrm>
          <a:prstGeom prst="rect">
            <a:avLst/>
          </a:prstGeom>
          <a:noFill/>
        </p:spPr>
        <p:txBody>
          <a:bodyPr wrap="square" anchor="ctr">
            <a:spAutoFit/>
          </a:bodyPr>
          <a:lstStyle/>
          <a:p>
            <a:pPr algn="ctr">
              <a:spcAft>
                <a:spcPts val="400"/>
              </a:spcAft>
            </a:pPr>
            <a:r>
              <a:rPr sz="1800" b="1">
                <a:solidFill>
                  <a:srgbClr val="FFFFFF"/>
                </a:solidFill>
                <a:latin typeface="Arial"/>
              </a:rPr>
              <a:t>3</a:t>
            </a:r>
          </a:p>
        </p:txBody>
      </p:sp>
      <p:sp>
        <p:nvSpPr>
          <p:cNvPr id="21" name="TextBox 20"/>
          <p:cNvSpPr txBox="1"/>
          <p:nvPr/>
        </p:nvSpPr>
        <p:spPr>
          <a:xfrm>
            <a:off x="1764792" y="3429000"/>
            <a:ext cx="3973068" cy="1115568"/>
          </a:xfrm>
          <a:prstGeom prst="rect">
            <a:avLst/>
          </a:prstGeom>
          <a:noFill/>
        </p:spPr>
        <p:txBody>
          <a:bodyPr wrap="square" anchor="ctr">
            <a:spAutoFit/>
          </a:bodyPr>
          <a:lstStyle/>
          <a:p>
            <a:pPr algn="l">
              <a:spcAft>
                <a:spcPts val="300"/>
              </a:spcAft>
            </a:pPr>
            <a:r>
              <a:rPr sz="1450" b="1">
                <a:solidFill>
                  <a:srgbClr val="161B26"/>
                </a:solidFill>
                <a:latin typeface="Arial"/>
              </a:rPr>
              <a:t>Syndrome measurement</a:t>
            </a:r>
          </a:p>
          <a:p>
            <a:pPr algn="l">
              <a:spcAft>
                <a:spcPts val="300"/>
              </a:spcAft>
            </a:pPr>
            <a:r>
              <a:rPr sz="1100" b="0">
                <a:solidFill>
                  <a:srgbClr val="5B6372"/>
                </a:solidFill>
                <a:latin typeface="Arial"/>
              </a:rPr>
              <a:t>Ancilla qubits are measured to reveal WHICH error occurred without ever measuring — and collapsing — the logical state.</a:t>
            </a:r>
          </a:p>
        </p:txBody>
      </p:sp>
      <p:sp>
        <p:nvSpPr>
          <p:cNvPr id="22" name="Rectangle 21"/>
          <p:cNvSpPr/>
          <p:nvPr/>
        </p:nvSpPr>
        <p:spPr>
          <a:xfrm>
            <a:off x="6231636" y="3319272"/>
            <a:ext cx="5180076" cy="1298448"/>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3" name="Rectangle 22"/>
          <p:cNvSpPr/>
          <p:nvPr/>
        </p:nvSpPr>
        <p:spPr>
          <a:xfrm>
            <a:off x="6231636" y="3319272"/>
            <a:ext cx="91440" cy="1298448"/>
          </a:xfrm>
          <a:prstGeom prst="rect">
            <a:avLst/>
          </a:prstGeom>
          <a:solidFill>
            <a:srgbClr val="F59E0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4" name="Oval 23"/>
          <p:cNvSpPr/>
          <p:nvPr/>
        </p:nvSpPr>
        <p:spPr>
          <a:xfrm>
            <a:off x="6487668" y="3694176"/>
            <a:ext cx="548640" cy="548640"/>
          </a:xfrm>
          <a:prstGeom prst="ellipse">
            <a:avLst/>
          </a:prstGeom>
          <a:solidFill>
            <a:srgbClr val="F59E0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5" name="TextBox 24"/>
          <p:cNvSpPr txBox="1"/>
          <p:nvPr/>
        </p:nvSpPr>
        <p:spPr>
          <a:xfrm>
            <a:off x="6487668" y="3694176"/>
            <a:ext cx="548640" cy="548640"/>
          </a:xfrm>
          <a:prstGeom prst="rect">
            <a:avLst/>
          </a:prstGeom>
          <a:noFill/>
        </p:spPr>
        <p:txBody>
          <a:bodyPr wrap="square" anchor="ctr">
            <a:spAutoFit/>
          </a:bodyPr>
          <a:lstStyle/>
          <a:p>
            <a:pPr algn="ctr">
              <a:spcAft>
                <a:spcPts val="400"/>
              </a:spcAft>
            </a:pPr>
            <a:r>
              <a:rPr sz="1800" b="1">
                <a:solidFill>
                  <a:srgbClr val="FFFFFF"/>
                </a:solidFill>
                <a:latin typeface="Arial"/>
              </a:rPr>
              <a:t>4</a:t>
            </a:r>
          </a:p>
        </p:txBody>
      </p:sp>
      <p:sp>
        <p:nvSpPr>
          <p:cNvPr id="26" name="TextBox 25"/>
          <p:cNvSpPr txBox="1"/>
          <p:nvPr/>
        </p:nvSpPr>
        <p:spPr>
          <a:xfrm>
            <a:off x="7219188" y="3429000"/>
            <a:ext cx="3973068" cy="1115568"/>
          </a:xfrm>
          <a:prstGeom prst="rect">
            <a:avLst/>
          </a:prstGeom>
          <a:noFill/>
        </p:spPr>
        <p:txBody>
          <a:bodyPr wrap="square" anchor="ctr">
            <a:spAutoFit/>
          </a:bodyPr>
          <a:lstStyle/>
          <a:p>
            <a:pPr algn="l">
              <a:spcAft>
                <a:spcPts val="300"/>
              </a:spcAft>
            </a:pPr>
            <a:r>
              <a:rPr sz="1450" b="1">
                <a:solidFill>
                  <a:srgbClr val="161B26"/>
                </a:solidFill>
                <a:latin typeface="Arial"/>
              </a:rPr>
              <a:t>Bit-flip and phase-flip codes</a:t>
            </a:r>
          </a:p>
          <a:p>
            <a:pPr algn="l">
              <a:spcAft>
                <a:spcPts val="300"/>
              </a:spcAft>
            </a:pPr>
            <a:r>
              <a:rPr sz="1100" b="0">
                <a:solidFill>
                  <a:srgbClr val="5B6372"/>
                </a:solidFill>
                <a:latin typeface="Arial"/>
              </a:rPr>
              <a:t>Three-qubit repetition codes correct X errors; conjugating with Hadamards turns phase flips into bit flips.</a:t>
            </a:r>
          </a:p>
        </p:txBody>
      </p:sp>
      <p:sp>
        <p:nvSpPr>
          <p:cNvPr id="27" name="Rectangle 26"/>
          <p:cNvSpPr/>
          <p:nvPr/>
        </p:nvSpPr>
        <p:spPr>
          <a:xfrm>
            <a:off x="777240" y="4855464"/>
            <a:ext cx="5180076" cy="1298448"/>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8" name="Rectangle 27"/>
          <p:cNvSpPr/>
          <p:nvPr/>
        </p:nvSpPr>
        <p:spPr>
          <a:xfrm>
            <a:off x="777240" y="4855464"/>
            <a:ext cx="91440" cy="1298448"/>
          </a:xfrm>
          <a:prstGeom prst="rect">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9" name="Oval 28"/>
          <p:cNvSpPr/>
          <p:nvPr/>
        </p:nvSpPr>
        <p:spPr>
          <a:xfrm>
            <a:off x="1033272" y="5230368"/>
            <a:ext cx="548640" cy="548640"/>
          </a:xfrm>
          <a:prstGeom prst="ellipse">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0" name="TextBox 29"/>
          <p:cNvSpPr txBox="1"/>
          <p:nvPr/>
        </p:nvSpPr>
        <p:spPr>
          <a:xfrm>
            <a:off x="1033272" y="5230368"/>
            <a:ext cx="548640" cy="548640"/>
          </a:xfrm>
          <a:prstGeom prst="rect">
            <a:avLst/>
          </a:prstGeom>
          <a:noFill/>
        </p:spPr>
        <p:txBody>
          <a:bodyPr wrap="square" anchor="ctr">
            <a:spAutoFit/>
          </a:bodyPr>
          <a:lstStyle/>
          <a:p>
            <a:pPr algn="ctr">
              <a:spcAft>
                <a:spcPts val="400"/>
              </a:spcAft>
            </a:pPr>
            <a:r>
              <a:rPr sz="1800" b="1">
                <a:solidFill>
                  <a:srgbClr val="FFFFFF"/>
                </a:solidFill>
                <a:latin typeface="Arial"/>
              </a:rPr>
              <a:t>5</a:t>
            </a:r>
          </a:p>
        </p:txBody>
      </p:sp>
      <p:sp>
        <p:nvSpPr>
          <p:cNvPr id="31" name="TextBox 30"/>
          <p:cNvSpPr txBox="1"/>
          <p:nvPr/>
        </p:nvSpPr>
        <p:spPr>
          <a:xfrm>
            <a:off x="1764792" y="4965192"/>
            <a:ext cx="3973068" cy="1115568"/>
          </a:xfrm>
          <a:prstGeom prst="rect">
            <a:avLst/>
          </a:prstGeom>
          <a:noFill/>
        </p:spPr>
        <p:txBody>
          <a:bodyPr wrap="square" anchor="ctr">
            <a:spAutoFit/>
          </a:bodyPr>
          <a:lstStyle/>
          <a:p>
            <a:pPr algn="l">
              <a:spcAft>
                <a:spcPts val="300"/>
              </a:spcAft>
            </a:pPr>
            <a:r>
              <a:rPr sz="1450" b="1">
                <a:solidFill>
                  <a:srgbClr val="161B26"/>
                </a:solidFill>
                <a:latin typeface="Arial"/>
              </a:rPr>
              <a:t>Shor, Steane and surface codes</a:t>
            </a:r>
          </a:p>
          <a:p>
            <a:pPr algn="l">
              <a:spcAft>
                <a:spcPts val="300"/>
              </a:spcAft>
            </a:pPr>
            <a:r>
              <a:rPr sz="1100" b="0">
                <a:solidFill>
                  <a:srgbClr val="5B6372"/>
                </a:solidFill>
                <a:latin typeface="Arial"/>
              </a:rPr>
              <a:t>Shor's 9-qubit code corrects arbitrary single-qubit errors; Steane uses 7; surface codes are today's leading practical approach.</a:t>
            </a:r>
          </a:p>
        </p:txBody>
      </p:sp>
      <p:sp>
        <p:nvSpPr>
          <p:cNvPr id="32" name="Rectangle 31"/>
          <p:cNvSpPr/>
          <p:nvPr/>
        </p:nvSpPr>
        <p:spPr>
          <a:xfrm>
            <a:off x="6231636" y="4855464"/>
            <a:ext cx="5180076" cy="1298448"/>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3" name="Rectangle 32"/>
          <p:cNvSpPr/>
          <p:nvPr/>
        </p:nvSpPr>
        <p:spPr>
          <a:xfrm>
            <a:off x="6231636" y="4855464"/>
            <a:ext cx="91440" cy="1298448"/>
          </a:xfrm>
          <a:prstGeom prst="rect">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4" name="Oval 33"/>
          <p:cNvSpPr/>
          <p:nvPr/>
        </p:nvSpPr>
        <p:spPr>
          <a:xfrm>
            <a:off x="6487668" y="5230368"/>
            <a:ext cx="548640" cy="548640"/>
          </a:xfrm>
          <a:prstGeom prst="ellipse">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5" name="TextBox 34"/>
          <p:cNvSpPr txBox="1"/>
          <p:nvPr/>
        </p:nvSpPr>
        <p:spPr>
          <a:xfrm>
            <a:off x="6487668" y="5230368"/>
            <a:ext cx="548640" cy="548640"/>
          </a:xfrm>
          <a:prstGeom prst="rect">
            <a:avLst/>
          </a:prstGeom>
          <a:noFill/>
        </p:spPr>
        <p:txBody>
          <a:bodyPr wrap="square" anchor="ctr">
            <a:spAutoFit/>
          </a:bodyPr>
          <a:lstStyle/>
          <a:p>
            <a:pPr algn="ctr">
              <a:spcAft>
                <a:spcPts val="400"/>
              </a:spcAft>
            </a:pPr>
            <a:r>
              <a:rPr sz="1800" b="1">
                <a:solidFill>
                  <a:srgbClr val="FFFFFF"/>
                </a:solidFill>
                <a:latin typeface="Arial"/>
              </a:rPr>
              <a:t>6</a:t>
            </a:r>
          </a:p>
        </p:txBody>
      </p:sp>
      <p:sp>
        <p:nvSpPr>
          <p:cNvPr id="36" name="TextBox 35"/>
          <p:cNvSpPr txBox="1"/>
          <p:nvPr/>
        </p:nvSpPr>
        <p:spPr>
          <a:xfrm>
            <a:off x="7219188" y="4965192"/>
            <a:ext cx="3973068" cy="1115568"/>
          </a:xfrm>
          <a:prstGeom prst="rect">
            <a:avLst/>
          </a:prstGeom>
          <a:noFill/>
        </p:spPr>
        <p:txBody>
          <a:bodyPr wrap="square" anchor="ctr">
            <a:spAutoFit/>
          </a:bodyPr>
          <a:lstStyle/>
          <a:p>
            <a:pPr algn="l">
              <a:spcAft>
                <a:spcPts val="300"/>
              </a:spcAft>
            </a:pPr>
            <a:r>
              <a:rPr sz="1450" b="1">
                <a:solidFill>
                  <a:srgbClr val="161B26"/>
                </a:solidFill>
                <a:latin typeface="Arial"/>
              </a:rPr>
              <a:t>Fault tolerance</a:t>
            </a:r>
          </a:p>
          <a:p>
            <a:pPr algn="l">
              <a:spcAft>
                <a:spcPts val="300"/>
              </a:spcAft>
            </a:pPr>
            <a:r>
              <a:rPr sz="1100" b="0">
                <a:solidFill>
                  <a:srgbClr val="5B6372"/>
                </a:solidFill>
                <a:latin typeface="Arial"/>
              </a:rPr>
              <a:t>Below the error threshold, concatenating codes suppresses errors faster than they accumulate — the path to useful quantum computers.</a:t>
            </a:r>
          </a:p>
        </p:txBody>
      </p:sp>
      <p:sp>
        <p:nvSpPr>
          <p:cNvPr id="37" name="TextBox 36"/>
          <p:cNvSpPr txBox="1"/>
          <p:nvPr/>
        </p:nvSpPr>
        <p:spPr>
          <a:xfrm>
            <a:off x="365760" y="6446520"/>
            <a:ext cx="6858000" cy="320040"/>
          </a:xfrm>
          <a:prstGeom prst="rect">
            <a:avLst/>
          </a:prstGeom>
          <a:noFill/>
        </p:spPr>
        <p:txBody>
          <a:bodyPr wrap="square" anchor="t">
            <a:spAutoFit/>
          </a:bodyPr>
          <a:lstStyle/>
          <a:p>
            <a:pPr algn="l">
              <a:spcAft>
                <a:spcPts val="400"/>
              </a:spcAft>
            </a:pPr>
            <a:r>
              <a:rPr sz="900" b="0">
                <a:solidFill>
                  <a:srgbClr val="5B6372"/>
                </a:solidFill>
                <a:latin typeface="Arial"/>
              </a:rPr>
              <a:t>Securing the Future with Quantum Computing and Cryptography  ·  TGS-2024043419</a:t>
            </a:r>
          </a:p>
        </p:txBody>
      </p:sp>
      <p:sp>
        <p:nvSpPr>
          <p:cNvPr id="38" name="TextBox 37"/>
          <p:cNvSpPr txBox="1"/>
          <p:nvPr/>
        </p:nvSpPr>
        <p:spPr>
          <a:xfrm>
            <a:off x="4572000" y="6446520"/>
            <a:ext cx="3017520" cy="320040"/>
          </a:xfrm>
          <a:prstGeom prst="rect">
            <a:avLst/>
          </a:prstGeom>
          <a:noFill/>
        </p:spPr>
        <p:txBody>
          <a:bodyPr wrap="square" anchor="t">
            <a:spAutoFit/>
          </a:bodyPr>
          <a:lstStyle/>
          <a:p>
            <a:pPr algn="ctr">
              <a:spcAft>
                <a:spcPts val="400"/>
              </a:spcAft>
            </a:pPr>
            <a:r>
              <a:rPr sz="900" b="0">
                <a:solidFill>
                  <a:srgbClr val="5B6372"/>
                </a:solidFill>
                <a:latin typeface="Arial"/>
              </a:rPr>
              <a:t>© 2026 Tertiary Infotech Academy Pte Ltd</a:t>
            </a:r>
          </a:p>
        </p:txBody>
      </p:sp>
      <p:sp>
        <p:nvSpPr>
          <p:cNvPr id="39" name="TextBox 38"/>
          <p:cNvSpPr txBox="1"/>
          <p:nvPr/>
        </p:nvSpPr>
        <p:spPr>
          <a:xfrm>
            <a:off x="11338560" y="6446520"/>
            <a:ext cx="548640" cy="320040"/>
          </a:xfrm>
          <a:prstGeom prst="rect">
            <a:avLst/>
          </a:prstGeom>
          <a:noFill/>
        </p:spPr>
        <p:txBody>
          <a:bodyPr wrap="square" anchor="t">
            <a:spAutoFit/>
          </a:bodyPr>
          <a:lstStyle/>
          <a:p>
            <a:pPr algn="r">
              <a:spcAft>
                <a:spcPts val="400"/>
              </a:spcAft>
            </a:pPr>
            <a:r>
              <a:rPr sz="900" b="0">
                <a:solidFill>
                  <a:srgbClr val="5B6372"/>
                </a:solidFill>
                <a:latin typeface="Arial"/>
              </a:rPr>
              <a:t>235</a:t>
            </a:r>
          </a:p>
        </p:txBody>
      </p:sp>
    </p:spTree>
  </p:cSld>
  <p:clrMapOvr>
    <a:masterClrMapping/>
  </p:clrMapOvr>
</p:sld>
</file>

<file path=ppt/slides/slide237.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256032" cy="1417320"/>
          </a:xfrm>
          <a:prstGeom prst="rect">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777240" y="457200"/>
            <a:ext cx="10607040" cy="365760"/>
          </a:xfrm>
          <a:prstGeom prst="rect">
            <a:avLst/>
          </a:prstGeom>
          <a:noFill/>
        </p:spPr>
        <p:txBody>
          <a:bodyPr wrap="square" anchor="t">
            <a:spAutoFit/>
          </a:bodyPr>
          <a:lstStyle/>
          <a:p>
            <a:pPr algn="l">
              <a:spcAft>
                <a:spcPts val="400"/>
              </a:spcAft>
            </a:pPr>
            <a:r>
              <a:rPr sz="1400" b="1">
                <a:solidFill>
                  <a:srgbClr val="1F6FEB"/>
                </a:solidFill>
                <a:latin typeface="Arial"/>
              </a:rPr>
              <a:t>ENCODE · ERROR · SYNDROME · CORRECT</a:t>
            </a:r>
          </a:p>
        </p:txBody>
      </p:sp>
      <p:sp>
        <p:nvSpPr>
          <p:cNvPr id="5" name="TextBox 4"/>
          <p:cNvSpPr txBox="1"/>
          <p:nvPr/>
        </p:nvSpPr>
        <p:spPr>
          <a:xfrm>
            <a:off x="777240" y="822960"/>
            <a:ext cx="10881360" cy="822960"/>
          </a:xfrm>
          <a:prstGeom prst="rect">
            <a:avLst/>
          </a:prstGeom>
          <a:noFill/>
        </p:spPr>
        <p:txBody>
          <a:bodyPr wrap="square" anchor="t">
            <a:spAutoFit/>
          </a:bodyPr>
          <a:lstStyle/>
          <a:p>
            <a:pPr algn="l">
              <a:spcAft>
                <a:spcPts val="400"/>
              </a:spcAft>
            </a:pPr>
            <a:r>
              <a:rPr sz="2900" b="1">
                <a:solidFill>
                  <a:srgbClr val="161B26"/>
                </a:solidFill>
                <a:latin typeface="Arial"/>
              </a:rPr>
              <a:t>Bit-Flip Code — The QEC Cycle</a:t>
            </a:r>
          </a:p>
        </p:txBody>
      </p:sp>
      <p:sp>
        <p:nvSpPr>
          <p:cNvPr id="6" name="Rectangle 5"/>
          <p:cNvSpPr/>
          <p:nvPr/>
        </p:nvSpPr>
        <p:spPr>
          <a:xfrm>
            <a:off x="777240" y="1554480"/>
            <a:ext cx="10634472" cy="18288"/>
          </a:xfrm>
          <a:prstGeom prst="rect">
            <a:avLst/>
          </a:prstGeom>
          <a:solidFill>
            <a:srgbClr val="E2E8F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pic>
        <p:nvPicPr>
          <p:cNvPr id="7" name="Picture 6" descr="qec-bitflip.png"/>
          <p:cNvPicPr>
            <a:picLocks noChangeAspect="1"/>
          </p:cNvPicPr>
          <p:nvPr/>
        </p:nvPicPr>
        <p:blipFill>
          <a:blip r:embed="rId2"/>
          <a:stretch>
            <a:fillRect/>
          </a:stretch>
        </p:blipFill>
        <p:spPr>
          <a:xfrm>
            <a:off x="1866942" y="1755648"/>
            <a:ext cx="8455068" cy="3950208"/>
          </a:xfrm>
          <a:prstGeom prst="rect">
            <a:avLst/>
          </a:prstGeom>
        </p:spPr>
      </p:pic>
      <p:sp>
        <p:nvSpPr>
          <p:cNvPr id="8" name="Rectangle 7"/>
          <p:cNvSpPr/>
          <p:nvPr/>
        </p:nvSpPr>
        <p:spPr>
          <a:xfrm>
            <a:off x="777240" y="5870448"/>
            <a:ext cx="10634472" cy="457200"/>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TextBox 8"/>
          <p:cNvSpPr txBox="1"/>
          <p:nvPr/>
        </p:nvSpPr>
        <p:spPr>
          <a:xfrm>
            <a:off x="960120" y="5870448"/>
            <a:ext cx="10241280" cy="457200"/>
          </a:xfrm>
          <a:prstGeom prst="rect">
            <a:avLst/>
          </a:prstGeom>
          <a:noFill/>
        </p:spPr>
        <p:txBody>
          <a:bodyPr wrap="square" anchor="ctr">
            <a:spAutoFit/>
          </a:bodyPr>
          <a:lstStyle/>
          <a:p>
            <a:pPr algn="ctr">
              <a:spcAft>
                <a:spcPts val="400"/>
              </a:spcAft>
            </a:pPr>
            <a:r>
              <a:rPr sz="1350" b="0">
                <a:solidFill>
                  <a:srgbClr val="161B26"/>
                </a:solidFill>
                <a:latin typeface="Arial"/>
              </a:rPr>
              <a:t>The syndrome reveals WHICH qubit flipped without ever measuring — and destroying — the logical state.</a:t>
            </a:r>
          </a:p>
        </p:txBody>
      </p:sp>
      <p:sp>
        <p:nvSpPr>
          <p:cNvPr id="10" name="TextBox 9"/>
          <p:cNvSpPr txBox="1"/>
          <p:nvPr/>
        </p:nvSpPr>
        <p:spPr>
          <a:xfrm>
            <a:off x="365760" y="6446520"/>
            <a:ext cx="6858000" cy="320040"/>
          </a:xfrm>
          <a:prstGeom prst="rect">
            <a:avLst/>
          </a:prstGeom>
          <a:noFill/>
        </p:spPr>
        <p:txBody>
          <a:bodyPr wrap="square" anchor="t">
            <a:spAutoFit/>
          </a:bodyPr>
          <a:lstStyle/>
          <a:p>
            <a:pPr algn="l">
              <a:spcAft>
                <a:spcPts val="400"/>
              </a:spcAft>
            </a:pPr>
            <a:r>
              <a:rPr sz="900" b="0">
                <a:solidFill>
                  <a:srgbClr val="5B6372"/>
                </a:solidFill>
                <a:latin typeface="Arial"/>
              </a:rPr>
              <a:t>Securing the Future with Quantum Computing and Cryptography  ·  TGS-2024043419</a:t>
            </a:r>
          </a:p>
        </p:txBody>
      </p:sp>
      <p:sp>
        <p:nvSpPr>
          <p:cNvPr id="11" name="TextBox 10"/>
          <p:cNvSpPr txBox="1"/>
          <p:nvPr/>
        </p:nvSpPr>
        <p:spPr>
          <a:xfrm>
            <a:off x="4572000" y="6446520"/>
            <a:ext cx="3017520" cy="320040"/>
          </a:xfrm>
          <a:prstGeom prst="rect">
            <a:avLst/>
          </a:prstGeom>
          <a:noFill/>
        </p:spPr>
        <p:txBody>
          <a:bodyPr wrap="square" anchor="t">
            <a:spAutoFit/>
          </a:bodyPr>
          <a:lstStyle/>
          <a:p>
            <a:pPr algn="ctr">
              <a:spcAft>
                <a:spcPts val="400"/>
              </a:spcAft>
            </a:pPr>
            <a:r>
              <a:rPr sz="900" b="0">
                <a:solidFill>
                  <a:srgbClr val="5B6372"/>
                </a:solidFill>
                <a:latin typeface="Arial"/>
              </a:rPr>
              <a:t>© 2026 Tertiary Infotech Academy Pte Ltd</a:t>
            </a:r>
          </a:p>
        </p:txBody>
      </p:sp>
      <p:sp>
        <p:nvSpPr>
          <p:cNvPr id="12" name="TextBox 11"/>
          <p:cNvSpPr txBox="1"/>
          <p:nvPr/>
        </p:nvSpPr>
        <p:spPr>
          <a:xfrm>
            <a:off x="11338560" y="6446520"/>
            <a:ext cx="548640" cy="320040"/>
          </a:xfrm>
          <a:prstGeom prst="rect">
            <a:avLst/>
          </a:prstGeom>
          <a:noFill/>
        </p:spPr>
        <p:txBody>
          <a:bodyPr wrap="square" anchor="t">
            <a:spAutoFit/>
          </a:bodyPr>
          <a:lstStyle/>
          <a:p>
            <a:pPr algn="r">
              <a:spcAft>
                <a:spcPts val="400"/>
              </a:spcAft>
            </a:pPr>
            <a:r>
              <a:rPr sz="900" b="0">
                <a:solidFill>
                  <a:srgbClr val="5B6372"/>
                </a:solidFill>
                <a:latin typeface="Arial"/>
              </a:rPr>
              <a:t>236</a:t>
            </a:r>
          </a:p>
        </p:txBody>
      </p:sp>
    </p:spTree>
  </p:cSld>
  <p:clrMapOvr>
    <a:masterClrMapping/>
  </p:clrMapOvr>
</p:sld>
</file>

<file path=ppt/slides/slide238.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256032" cy="1417320"/>
          </a:xfrm>
          <a:prstGeom prst="rect">
            <a:avLst/>
          </a:prstGeom>
          <a:solidFill>
            <a:srgbClr val="7C3AE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777240" y="457200"/>
            <a:ext cx="10607040" cy="365760"/>
          </a:xfrm>
          <a:prstGeom prst="rect">
            <a:avLst/>
          </a:prstGeom>
          <a:noFill/>
        </p:spPr>
        <p:txBody>
          <a:bodyPr wrap="square" anchor="t">
            <a:spAutoFit/>
          </a:bodyPr>
          <a:lstStyle/>
          <a:p>
            <a:pPr algn="l">
              <a:spcAft>
                <a:spcPts val="400"/>
              </a:spcAft>
            </a:pPr>
            <a:r>
              <a:rPr sz="1400" b="1">
                <a:solidFill>
                  <a:srgbClr val="7C3AED"/>
                </a:solidFill>
                <a:latin typeface="Arial"/>
              </a:rPr>
              <a:t>QUBIT COST VS PROTECTION</a:t>
            </a:r>
          </a:p>
        </p:txBody>
      </p:sp>
      <p:sp>
        <p:nvSpPr>
          <p:cNvPr id="5" name="TextBox 4"/>
          <p:cNvSpPr txBox="1"/>
          <p:nvPr/>
        </p:nvSpPr>
        <p:spPr>
          <a:xfrm>
            <a:off x="777240" y="822960"/>
            <a:ext cx="10881360" cy="822960"/>
          </a:xfrm>
          <a:prstGeom prst="rect">
            <a:avLst/>
          </a:prstGeom>
          <a:noFill/>
        </p:spPr>
        <p:txBody>
          <a:bodyPr wrap="square" anchor="t">
            <a:spAutoFit/>
          </a:bodyPr>
          <a:lstStyle/>
          <a:p>
            <a:pPr algn="l">
              <a:spcAft>
                <a:spcPts val="400"/>
              </a:spcAft>
            </a:pPr>
            <a:r>
              <a:rPr sz="2900" b="1">
                <a:solidFill>
                  <a:srgbClr val="161B26"/>
                </a:solidFill>
                <a:latin typeface="Arial"/>
              </a:rPr>
              <a:t>Error-Correcting Codes Compared</a:t>
            </a:r>
          </a:p>
        </p:txBody>
      </p:sp>
      <p:sp>
        <p:nvSpPr>
          <p:cNvPr id="6" name="Rectangle 5"/>
          <p:cNvSpPr/>
          <p:nvPr/>
        </p:nvSpPr>
        <p:spPr>
          <a:xfrm>
            <a:off x="777240" y="1554480"/>
            <a:ext cx="10634472" cy="18288"/>
          </a:xfrm>
          <a:prstGeom prst="rect">
            <a:avLst/>
          </a:prstGeom>
          <a:solidFill>
            <a:srgbClr val="E2E8F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pic>
        <p:nvPicPr>
          <p:cNvPr id="7" name="Picture 6" descr="qec-codes.png"/>
          <p:cNvPicPr>
            <a:picLocks noChangeAspect="1"/>
          </p:cNvPicPr>
          <p:nvPr/>
        </p:nvPicPr>
        <p:blipFill>
          <a:blip r:embed="rId2"/>
          <a:stretch>
            <a:fillRect/>
          </a:stretch>
        </p:blipFill>
        <p:spPr>
          <a:xfrm>
            <a:off x="777240" y="2353377"/>
            <a:ext cx="6400800" cy="3065646"/>
          </a:xfrm>
          <a:prstGeom prst="rect">
            <a:avLst/>
          </a:prstGeom>
        </p:spPr>
      </p:pic>
      <p:sp>
        <p:nvSpPr>
          <p:cNvPr id="8" name="Rectangle 7"/>
          <p:cNvSpPr/>
          <p:nvPr/>
        </p:nvSpPr>
        <p:spPr>
          <a:xfrm>
            <a:off x="7452360" y="1783080"/>
            <a:ext cx="3959352" cy="937260"/>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Rectangle 8"/>
          <p:cNvSpPr/>
          <p:nvPr/>
        </p:nvSpPr>
        <p:spPr>
          <a:xfrm>
            <a:off x="7452360" y="1783080"/>
            <a:ext cx="82296" cy="937260"/>
          </a:xfrm>
          <a:prstGeom prst="rect">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TextBox 9"/>
          <p:cNvSpPr txBox="1"/>
          <p:nvPr/>
        </p:nvSpPr>
        <p:spPr>
          <a:xfrm>
            <a:off x="7708392" y="1783080"/>
            <a:ext cx="3502152" cy="937260"/>
          </a:xfrm>
          <a:prstGeom prst="rect">
            <a:avLst/>
          </a:prstGeom>
          <a:noFill/>
        </p:spPr>
        <p:txBody>
          <a:bodyPr wrap="square" anchor="ctr">
            <a:spAutoFit/>
          </a:bodyPr>
          <a:lstStyle/>
          <a:p>
            <a:pPr algn="l">
              <a:spcAft>
                <a:spcPts val="300"/>
              </a:spcAft>
            </a:pPr>
            <a:r>
              <a:rPr sz="1400" b="1">
                <a:solidFill>
                  <a:srgbClr val="1F6FEB"/>
                </a:solidFill>
                <a:latin typeface="Arial"/>
              </a:rPr>
              <a:t>3-qubit codes</a:t>
            </a:r>
          </a:p>
          <a:p>
            <a:pPr algn="l">
              <a:spcAft>
                <a:spcPts val="300"/>
              </a:spcAft>
            </a:pPr>
            <a:r>
              <a:rPr sz="1200" b="0">
                <a:solidFill>
                  <a:srgbClr val="161B26"/>
                </a:solidFill>
                <a:latin typeface="Arial"/>
              </a:rPr>
              <a:t>Correct either bit flips or phase flips, but not both.</a:t>
            </a:r>
          </a:p>
        </p:txBody>
      </p:sp>
      <p:sp>
        <p:nvSpPr>
          <p:cNvPr id="11" name="Rectangle 10"/>
          <p:cNvSpPr/>
          <p:nvPr/>
        </p:nvSpPr>
        <p:spPr>
          <a:xfrm>
            <a:off x="7452360" y="2903220"/>
            <a:ext cx="3959352" cy="937260"/>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 name="Rectangle 11"/>
          <p:cNvSpPr/>
          <p:nvPr/>
        </p:nvSpPr>
        <p:spPr>
          <a:xfrm>
            <a:off x="7452360" y="2903220"/>
            <a:ext cx="82296" cy="937260"/>
          </a:xfrm>
          <a:prstGeom prst="rect">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 name="TextBox 12"/>
          <p:cNvSpPr txBox="1"/>
          <p:nvPr/>
        </p:nvSpPr>
        <p:spPr>
          <a:xfrm>
            <a:off x="7708392" y="2903220"/>
            <a:ext cx="3502152" cy="937260"/>
          </a:xfrm>
          <a:prstGeom prst="rect">
            <a:avLst/>
          </a:prstGeom>
          <a:noFill/>
        </p:spPr>
        <p:txBody>
          <a:bodyPr wrap="square" anchor="ctr">
            <a:spAutoFit/>
          </a:bodyPr>
          <a:lstStyle/>
          <a:p>
            <a:pPr algn="l">
              <a:spcAft>
                <a:spcPts val="300"/>
              </a:spcAft>
            </a:pPr>
            <a:r>
              <a:rPr sz="1400" b="1">
                <a:solidFill>
                  <a:srgbClr val="10B981"/>
                </a:solidFill>
                <a:latin typeface="Arial"/>
              </a:rPr>
              <a:t>Shor 9-qubit</a:t>
            </a:r>
          </a:p>
          <a:p>
            <a:pPr algn="l">
              <a:spcAft>
                <a:spcPts val="300"/>
              </a:spcAft>
            </a:pPr>
            <a:r>
              <a:rPr sz="1200" b="0">
                <a:solidFill>
                  <a:srgbClr val="161B26"/>
                </a:solidFill>
                <a:latin typeface="Arial"/>
              </a:rPr>
              <a:t>The first code to correct an arbitrary single-qubit error.</a:t>
            </a:r>
          </a:p>
        </p:txBody>
      </p:sp>
      <p:sp>
        <p:nvSpPr>
          <p:cNvPr id="14" name="Rectangle 13"/>
          <p:cNvSpPr/>
          <p:nvPr/>
        </p:nvSpPr>
        <p:spPr>
          <a:xfrm>
            <a:off x="7452360" y="4023360"/>
            <a:ext cx="3959352" cy="937260"/>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5" name="Rectangle 14"/>
          <p:cNvSpPr/>
          <p:nvPr/>
        </p:nvSpPr>
        <p:spPr>
          <a:xfrm>
            <a:off x="7452360" y="4023360"/>
            <a:ext cx="82296" cy="937260"/>
          </a:xfrm>
          <a:prstGeom prst="rect">
            <a:avLst/>
          </a:prstGeom>
          <a:solidFill>
            <a:srgbClr val="7C3AE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6" name="TextBox 15"/>
          <p:cNvSpPr txBox="1"/>
          <p:nvPr/>
        </p:nvSpPr>
        <p:spPr>
          <a:xfrm>
            <a:off x="7708392" y="4023360"/>
            <a:ext cx="3502152" cy="937260"/>
          </a:xfrm>
          <a:prstGeom prst="rect">
            <a:avLst/>
          </a:prstGeom>
          <a:noFill/>
        </p:spPr>
        <p:txBody>
          <a:bodyPr wrap="square" anchor="ctr">
            <a:spAutoFit/>
          </a:bodyPr>
          <a:lstStyle/>
          <a:p>
            <a:pPr algn="l">
              <a:spcAft>
                <a:spcPts val="300"/>
              </a:spcAft>
            </a:pPr>
            <a:r>
              <a:rPr sz="1400" b="1">
                <a:solidFill>
                  <a:srgbClr val="7C3AED"/>
                </a:solidFill>
                <a:latin typeface="Arial"/>
              </a:rPr>
              <a:t>Steane 7-qubit</a:t>
            </a:r>
          </a:p>
          <a:p>
            <a:pPr algn="l">
              <a:spcAft>
                <a:spcPts val="300"/>
              </a:spcAft>
            </a:pPr>
            <a:r>
              <a:rPr sz="1200" b="0">
                <a:solidFill>
                  <a:srgbClr val="161B26"/>
                </a:solidFill>
                <a:latin typeface="Arial"/>
              </a:rPr>
              <a:t>A CSS code achieving the same protection more efficiently.</a:t>
            </a:r>
          </a:p>
        </p:txBody>
      </p:sp>
      <p:sp>
        <p:nvSpPr>
          <p:cNvPr id="17" name="Rectangle 16"/>
          <p:cNvSpPr/>
          <p:nvPr/>
        </p:nvSpPr>
        <p:spPr>
          <a:xfrm>
            <a:off x="7452360" y="5143500"/>
            <a:ext cx="3959352" cy="937260"/>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8" name="Rectangle 17"/>
          <p:cNvSpPr/>
          <p:nvPr/>
        </p:nvSpPr>
        <p:spPr>
          <a:xfrm>
            <a:off x="7452360" y="5143500"/>
            <a:ext cx="82296" cy="937260"/>
          </a:xfrm>
          <a:prstGeom prst="rect">
            <a:avLst/>
          </a:prstGeom>
          <a:solidFill>
            <a:srgbClr val="F59E0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9" name="TextBox 18"/>
          <p:cNvSpPr txBox="1"/>
          <p:nvPr/>
        </p:nvSpPr>
        <p:spPr>
          <a:xfrm>
            <a:off x="7708392" y="5143500"/>
            <a:ext cx="3502152" cy="937260"/>
          </a:xfrm>
          <a:prstGeom prst="rect">
            <a:avLst/>
          </a:prstGeom>
          <a:noFill/>
        </p:spPr>
        <p:txBody>
          <a:bodyPr wrap="square" anchor="ctr">
            <a:spAutoFit/>
          </a:bodyPr>
          <a:lstStyle/>
          <a:p>
            <a:pPr algn="l">
              <a:spcAft>
                <a:spcPts val="300"/>
              </a:spcAft>
            </a:pPr>
            <a:r>
              <a:rPr sz="1400" b="1">
                <a:solidFill>
                  <a:srgbClr val="F59E0B"/>
                </a:solidFill>
                <a:latin typeface="Arial"/>
              </a:rPr>
              <a:t>Surface codes</a:t>
            </a:r>
          </a:p>
          <a:p>
            <a:pPr algn="l">
              <a:spcAft>
                <a:spcPts val="300"/>
              </a:spcAft>
            </a:pPr>
            <a:r>
              <a:rPr sz="1200" b="0">
                <a:solidFill>
                  <a:srgbClr val="161B26"/>
                </a:solidFill>
                <a:latin typeface="Arial"/>
              </a:rPr>
              <a:t>2D nearest-neighbour layout — today's leading practical approach.</a:t>
            </a:r>
          </a:p>
        </p:txBody>
      </p:sp>
      <p:sp>
        <p:nvSpPr>
          <p:cNvPr id="20" name="TextBox 19"/>
          <p:cNvSpPr txBox="1"/>
          <p:nvPr/>
        </p:nvSpPr>
        <p:spPr>
          <a:xfrm>
            <a:off x="365760" y="6446520"/>
            <a:ext cx="6858000" cy="320040"/>
          </a:xfrm>
          <a:prstGeom prst="rect">
            <a:avLst/>
          </a:prstGeom>
          <a:noFill/>
        </p:spPr>
        <p:txBody>
          <a:bodyPr wrap="square" anchor="t">
            <a:spAutoFit/>
          </a:bodyPr>
          <a:lstStyle/>
          <a:p>
            <a:pPr algn="l">
              <a:spcAft>
                <a:spcPts val="400"/>
              </a:spcAft>
            </a:pPr>
            <a:r>
              <a:rPr sz="900" b="0">
                <a:solidFill>
                  <a:srgbClr val="5B6372"/>
                </a:solidFill>
                <a:latin typeface="Arial"/>
              </a:rPr>
              <a:t>Securing the Future with Quantum Computing and Cryptography  ·  TGS-2024043419</a:t>
            </a:r>
          </a:p>
        </p:txBody>
      </p:sp>
      <p:sp>
        <p:nvSpPr>
          <p:cNvPr id="21" name="TextBox 20"/>
          <p:cNvSpPr txBox="1"/>
          <p:nvPr/>
        </p:nvSpPr>
        <p:spPr>
          <a:xfrm>
            <a:off x="4572000" y="6446520"/>
            <a:ext cx="3017520" cy="320040"/>
          </a:xfrm>
          <a:prstGeom prst="rect">
            <a:avLst/>
          </a:prstGeom>
          <a:noFill/>
        </p:spPr>
        <p:txBody>
          <a:bodyPr wrap="square" anchor="t">
            <a:spAutoFit/>
          </a:bodyPr>
          <a:lstStyle/>
          <a:p>
            <a:pPr algn="ctr">
              <a:spcAft>
                <a:spcPts val="400"/>
              </a:spcAft>
            </a:pPr>
            <a:r>
              <a:rPr sz="900" b="0">
                <a:solidFill>
                  <a:srgbClr val="5B6372"/>
                </a:solidFill>
                <a:latin typeface="Arial"/>
              </a:rPr>
              <a:t>© 2026 Tertiary Infotech Academy Pte Ltd</a:t>
            </a:r>
          </a:p>
        </p:txBody>
      </p:sp>
      <p:sp>
        <p:nvSpPr>
          <p:cNvPr id="22" name="TextBox 21"/>
          <p:cNvSpPr txBox="1"/>
          <p:nvPr/>
        </p:nvSpPr>
        <p:spPr>
          <a:xfrm>
            <a:off x="11338560" y="6446520"/>
            <a:ext cx="548640" cy="320040"/>
          </a:xfrm>
          <a:prstGeom prst="rect">
            <a:avLst/>
          </a:prstGeom>
          <a:noFill/>
        </p:spPr>
        <p:txBody>
          <a:bodyPr wrap="square" anchor="t">
            <a:spAutoFit/>
          </a:bodyPr>
          <a:lstStyle/>
          <a:p>
            <a:pPr algn="r">
              <a:spcAft>
                <a:spcPts val="400"/>
              </a:spcAft>
            </a:pPr>
            <a:r>
              <a:rPr sz="900" b="0">
                <a:solidFill>
                  <a:srgbClr val="5B6372"/>
                </a:solidFill>
                <a:latin typeface="Arial"/>
              </a:rPr>
              <a:t>237</a:t>
            </a:r>
          </a:p>
        </p:txBody>
      </p:sp>
    </p:spTree>
  </p:cSld>
  <p:clrMapOvr>
    <a:masterClrMapping/>
  </p:clrMapOvr>
</p:sld>
</file>

<file path=ppt/slides/slide239.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256032" cy="1417320"/>
          </a:xfrm>
          <a:prstGeom prst="rect">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777240" y="457200"/>
            <a:ext cx="10607040" cy="365760"/>
          </a:xfrm>
          <a:prstGeom prst="rect">
            <a:avLst/>
          </a:prstGeom>
          <a:noFill/>
        </p:spPr>
        <p:txBody>
          <a:bodyPr wrap="square" anchor="t">
            <a:spAutoFit/>
          </a:bodyPr>
          <a:lstStyle/>
          <a:p>
            <a:pPr algn="l">
              <a:spcAft>
                <a:spcPts val="400"/>
              </a:spcAft>
            </a:pPr>
            <a:r>
              <a:rPr sz="1400" b="1">
                <a:solidFill>
                  <a:srgbClr val="1F6FEB"/>
                </a:solidFill>
                <a:latin typeface="Arial"/>
              </a:rPr>
              <a:t>WHERE THE INDUSTRY IS HEADED</a:t>
            </a:r>
          </a:p>
        </p:txBody>
      </p:sp>
      <p:sp>
        <p:nvSpPr>
          <p:cNvPr id="5" name="TextBox 4"/>
          <p:cNvSpPr txBox="1"/>
          <p:nvPr/>
        </p:nvSpPr>
        <p:spPr>
          <a:xfrm>
            <a:off x="777240" y="822960"/>
            <a:ext cx="10881360" cy="822960"/>
          </a:xfrm>
          <a:prstGeom prst="rect">
            <a:avLst/>
          </a:prstGeom>
          <a:noFill/>
        </p:spPr>
        <p:txBody>
          <a:bodyPr wrap="square" anchor="t">
            <a:spAutoFit/>
          </a:bodyPr>
          <a:lstStyle/>
          <a:p>
            <a:pPr algn="l">
              <a:spcAft>
                <a:spcPts val="400"/>
              </a:spcAft>
            </a:pPr>
            <a:r>
              <a:rPr sz="2900" b="1">
                <a:solidFill>
                  <a:srgbClr val="161B26"/>
                </a:solidFill>
                <a:latin typeface="Arial"/>
              </a:rPr>
              <a:t>The Road to Fault Tolerance</a:t>
            </a:r>
          </a:p>
        </p:txBody>
      </p:sp>
      <p:sp>
        <p:nvSpPr>
          <p:cNvPr id="6" name="Rectangle 5"/>
          <p:cNvSpPr/>
          <p:nvPr/>
        </p:nvSpPr>
        <p:spPr>
          <a:xfrm>
            <a:off x="777240" y="1554480"/>
            <a:ext cx="10634472" cy="18288"/>
          </a:xfrm>
          <a:prstGeom prst="rect">
            <a:avLst/>
          </a:prstGeom>
          <a:solidFill>
            <a:srgbClr val="E2E8F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pic>
        <p:nvPicPr>
          <p:cNvPr id="7" name="Picture 6" descr="roadmap.png"/>
          <p:cNvPicPr>
            <a:picLocks noChangeAspect="1"/>
          </p:cNvPicPr>
          <p:nvPr/>
        </p:nvPicPr>
        <p:blipFill>
          <a:blip r:embed="rId2"/>
          <a:stretch>
            <a:fillRect/>
          </a:stretch>
        </p:blipFill>
        <p:spPr>
          <a:xfrm>
            <a:off x="777240" y="1921754"/>
            <a:ext cx="10634472" cy="3617996"/>
          </a:xfrm>
          <a:prstGeom prst="rect">
            <a:avLst/>
          </a:prstGeom>
        </p:spPr>
      </p:pic>
      <p:sp>
        <p:nvSpPr>
          <p:cNvPr id="8" name="Rectangle 7"/>
          <p:cNvSpPr/>
          <p:nvPr/>
        </p:nvSpPr>
        <p:spPr>
          <a:xfrm>
            <a:off x="777240" y="5870448"/>
            <a:ext cx="10634472" cy="457200"/>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TextBox 8"/>
          <p:cNvSpPr txBox="1"/>
          <p:nvPr/>
        </p:nvSpPr>
        <p:spPr>
          <a:xfrm>
            <a:off x="960120" y="5870448"/>
            <a:ext cx="10241280" cy="457200"/>
          </a:xfrm>
          <a:prstGeom prst="rect">
            <a:avLst/>
          </a:prstGeom>
          <a:noFill/>
        </p:spPr>
        <p:txBody>
          <a:bodyPr wrap="square" anchor="ctr">
            <a:spAutoFit/>
          </a:bodyPr>
          <a:lstStyle/>
          <a:p>
            <a:pPr algn="ctr">
              <a:spcAft>
                <a:spcPts val="400"/>
              </a:spcAft>
            </a:pPr>
            <a:r>
              <a:rPr sz="1350" b="0">
                <a:solidFill>
                  <a:srgbClr val="161B26"/>
                </a:solidFill>
                <a:latin typeface="Arial"/>
              </a:rPr>
              <a:t>Below the error threshold, adding more physical qubits suppresses errors faster than they accumulate.</a:t>
            </a:r>
          </a:p>
        </p:txBody>
      </p:sp>
      <p:sp>
        <p:nvSpPr>
          <p:cNvPr id="10" name="TextBox 9"/>
          <p:cNvSpPr txBox="1"/>
          <p:nvPr/>
        </p:nvSpPr>
        <p:spPr>
          <a:xfrm>
            <a:off x="365760" y="6446520"/>
            <a:ext cx="6858000" cy="320040"/>
          </a:xfrm>
          <a:prstGeom prst="rect">
            <a:avLst/>
          </a:prstGeom>
          <a:noFill/>
        </p:spPr>
        <p:txBody>
          <a:bodyPr wrap="square" anchor="t">
            <a:spAutoFit/>
          </a:bodyPr>
          <a:lstStyle/>
          <a:p>
            <a:pPr algn="l">
              <a:spcAft>
                <a:spcPts val="400"/>
              </a:spcAft>
            </a:pPr>
            <a:r>
              <a:rPr sz="900" b="0">
                <a:solidFill>
                  <a:srgbClr val="5B6372"/>
                </a:solidFill>
                <a:latin typeface="Arial"/>
              </a:rPr>
              <a:t>Securing the Future with Quantum Computing and Cryptography  ·  TGS-2024043419</a:t>
            </a:r>
          </a:p>
        </p:txBody>
      </p:sp>
      <p:sp>
        <p:nvSpPr>
          <p:cNvPr id="11" name="TextBox 10"/>
          <p:cNvSpPr txBox="1"/>
          <p:nvPr/>
        </p:nvSpPr>
        <p:spPr>
          <a:xfrm>
            <a:off x="4572000" y="6446520"/>
            <a:ext cx="3017520" cy="320040"/>
          </a:xfrm>
          <a:prstGeom prst="rect">
            <a:avLst/>
          </a:prstGeom>
          <a:noFill/>
        </p:spPr>
        <p:txBody>
          <a:bodyPr wrap="square" anchor="t">
            <a:spAutoFit/>
          </a:bodyPr>
          <a:lstStyle/>
          <a:p>
            <a:pPr algn="ctr">
              <a:spcAft>
                <a:spcPts val="400"/>
              </a:spcAft>
            </a:pPr>
            <a:r>
              <a:rPr sz="900" b="0">
                <a:solidFill>
                  <a:srgbClr val="5B6372"/>
                </a:solidFill>
                <a:latin typeface="Arial"/>
              </a:rPr>
              <a:t>© 2026 Tertiary Infotech Academy Pte Ltd</a:t>
            </a:r>
          </a:p>
        </p:txBody>
      </p:sp>
      <p:sp>
        <p:nvSpPr>
          <p:cNvPr id="12" name="TextBox 11"/>
          <p:cNvSpPr txBox="1"/>
          <p:nvPr/>
        </p:nvSpPr>
        <p:spPr>
          <a:xfrm>
            <a:off x="11338560" y="6446520"/>
            <a:ext cx="548640" cy="320040"/>
          </a:xfrm>
          <a:prstGeom prst="rect">
            <a:avLst/>
          </a:prstGeom>
          <a:noFill/>
        </p:spPr>
        <p:txBody>
          <a:bodyPr wrap="square" anchor="t">
            <a:spAutoFit/>
          </a:bodyPr>
          <a:lstStyle/>
          <a:p>
            <a:pPr algn="r">
              <a:spcAft>
                <a:spcPts val="400"/>
              </a:spcAft>
            </a:pPr>
            <a:r>
              <a:rPr sz="900" b="0">
                <a:solidFill>
                  <a:srgbClr val="5B6372"/>
                </a:solidFill>
                <a:latin typeface="Arial"/>
              </a:rPr>
              <a:t>238</a:t>
            </a:r>
          </a:p>
        </p:txBody>
      </p:sp>
    </p:spTree>
  </p:cSld>
  <p:clrMapOvr>
    <a:masterClrMapping/>
  </p:clrMapOvr>
</p:sld>
</file>

<file path=ppt/slides/slide240.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256032" cy="1417320"/>
          </a:xfrm>
          <a:prstGeom prst="rect">
            <a:avLst/>
          </a:prstGeom>
          <a:solidFill>
            <a:srgbClr val="7C3AE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777240" y="457200"/>
            <a:ext cx="10607040" cy="365760"/>
          </a:xfrm>
          <a:prstGeom prst="rect">
            <a:avLst/>
          </a:prstGeom>
          <a:noFill/>
        </p:spPr>
        <p:txBody>
          <a:bodyPr wrap="square" anchor="t">
            <a:spAutoFit/>
          </a:bodyPr>
          <a:lstStyle/>
          <a:p>
            <a:pPr algn="l">
              <a:spcAft>
                <a:spcPts val="400"/>
              </a:spcAft>
            </a:pPr>
            <a:r>
              <a:rPr sz="1400" b="1">
                <a:solidFill>
                  <a:srgbClr val="7C3AED"/>
                </a:solidFill>
                <a:latin typeface="Arial"/>
              </a:rPr>
              <a:t>DERIVATION</a:t>
            </a:r>
          </a:p>
        </p:txBody>
      </p:sp>
      <p:sp>
        <p:nvSpPr>
          <p:cNvPr id="5" name="TextBox 4"/>
          <p:cNvSpPr txBox="1"/>
          <p:nvPr/>
        </p:nvSpPr>
        <p:spPr>
          <a:xfrm>
            <a:off x="777240" y="822960"/>
            <a:ext cx="10881360" cy="822960"/>
          </a:xfrm>
          <a:prstGeom prst="rect">
            <a:avLst/>
          </a:prstGeom>
          <a:noFill/>
        </p:spPr>
        <p:txBody>
          <a:bodyPr wrap="square" anchor="t">
            <a:spAutoFit/>
          </a:bodyPr>
          <a:lstStyle/>
          <a:p>
            <a:pPr algn="l">
              <a:spcAft>
                <a:spcPts val="400"/>
              </a:spcAft>
            </a:pPr>
            <a:r>
              <a:rPr sz="2900" b="1">
                <a:solidFill>
                  <a:srgbClr val="161B26"/>
                </a:solidFill>
                <a:latin typeface="Arial"/>
              </a:rPr>
              <a:t>Proof — Quantum Error Correction Works</a:t>
            </a:r>
          </a:p>
        </p:txBody>
      </p:sp>
      <p:sp>
        <p:nvSpPr>
          <p:cNvPr id="6" name="Rectangle 5"/>
          <p:cNvSpPr/>
          <p:nvPr/>
        </p:nvSpPr>
        <p:spPr>
          <a:xfrm>
            <a:off x="777240" y="1554480"/>
            <a:ext cx="10634472" cy="18288"/>
          </a:xfrm>
          <a:prstGeom prst="rect">
            <a:avLst/>
          </a:prstGeom>
          <a:solidFill>
            <a:srgbClr val="E2E8F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Rectangle 6"/>
          <p:cNvSpPr/>
          <p:nvPr/>
        </p:nvSpPr>
        <p:spPr>
          <a:xfrm>
            <a:off x="777240" y="1783080"/>
            <a:ext cx="10634472" cy="1371600"/>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Rectangle 7"/>
          <p:cNvSpPr/>
          <p:nvPr/>
        </p:nvSpPr>
        <p:spPr>
          <a:xfrm>
            <a:off x="777240" y="1783080"/>
            <a:ext cx="100584" cy="1371600"/>
          </a:xfrm>
          <a:prstGeom prst="rect">
            <a:avLst/>
          </a:prstGeom>
          <a:solidFill>
            <a:srgbClr val="7C3AE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TextBox 8"/>
          <p:cNvSpPr txBox="1"/>
          <p:nvPr/>
        </p:nvSpPr>
        <p:spPr>
          <a:xfrm>
            <a:off x="1143000" y="1938528"/>
            <a:ext cx="10058400" cy="365760"/>
          </a:xfrm>
          <a:prstGeom prst="rect">
            <a:avLst/>
          </a:prstGeom>
          <a:noFill/>
        </p:spPr>
        <p:txBody>
          <a:bodyPr wrap="square" anchor="t">
            <a:spAutoFit/>
          </a:bodyPr>
          <a:lstStyle/>
          <a:p>
            <a:pPr algn="l">
              <a:spcAft>
                <a:spcPts val="400"/>
              </a:spcAft>
            </a:pPr>
            <a:r>
              <a:rPr sz="1200" b="1">
                <a:solidFill>
                  <a:srgbClr val="7C3AED"/>
                </a:solidFill>
                <a:latin typeface="Arial"/>
              </a:rPr>
              <a:t>CLAIM</a:t>
            </a:r>
          </a:p>
        </p:txBody>
      </p:sp>
      <p:sp>
        <p:nvSpPr>
          <p:cNvPr id="10" name="TextBox 9"/>
          <p:cNvSpPr txBox="1"/>
          <p:nvPr/>
        </p:nvSpPr>
        <p:spPr>
          <a:xfrm>
            <a:off x="1143000" y="2304288"/>
            <a:ext cx="10058400" cy="777240"/>
          </a:xfrm>
          <a:prstGeom prst="rect">
            <a:avLst/>
          </a:prstGeom>
          <a:noFill/>
        </p:spPr>
        <p:txBody>
          <a:bodyPr wrap="square" anchor="t">
            <a:spAutoFit/>
          </a:bodyPr>
          <a:lstStyle/>
          <a:p>
            <a:pPr algn="l">
              <a:spcAft>
                <a:spcPts val="400"/>
              </a:spcAft>
            </a:pPr>
            <a:r>
              <a:rPr sz="1550" b="1">
                <a:solidFill>
                  <a:srgbClr val="161B26"/>
                </a:solidFill>
                <a:latin typeface="Arial"/>
              </a:rPr>
              <a:t>Syndrome measurement identifies WHICH error occurred without learning — and therefore without collapsing — the encoded logical state.</a:t>
            </a:r>
          </a:p>
        </p:txBody>
      </p:sp>
      <p:sp>
        <p:nvSpPr>
          <p:cNvPr id="11" name="TextBox 10"/>
          <p:cNvSpPr txBox="1"/>
          <p:nvPr/>
        </p:nvSpPr>
        <p:spPr>
          <a:xfrm>
            <a:off x="777240" y="3364992"/>
            <a:ext cx="10607040" cy="365760"/>
          </a:xfrm>
          <a:prstGeom prst="rect">
            <a:avLst/>
          </a:prstGeom>
          <a:noFill/>
        </p:spPr>
        <p:txBody>
          <a:bodyPr wrap="square" anchor="t">
            <a:spAutoFit/>
          </a:bodyPr>
          <a:lstStyle/>
          <a:p>
            <a:pPr algn="l">
              <a:spcAft>
                <a:spcPts val="400"/>
              </a:spcAft>
            </a:pPr>
            <a:r>
              <a:rPr sz="1200" b="1">
                <a:solidFill>
                  <a:srgbClr val="1F6FEB"/>
                </a:solidFill>
                <a:latin typeface="Arial"/>
              </a:rPr>
              <a:t>GIVEN</a:t>
            </a:r>
          </a:p>
        </p:txBody>
      </p:sp>
      <p:sp>
        <p:nvSpPr>
          <p:cNvPr id="12" name="Rectangle 11"/>
          <p:cNvSpPr/>
          <p:nvPr/>
        </p:nvSpPr>
        <p:spPr>
          <a:xfrm>
            <a:off x="777240" y="3730752"/>
            <a:ext cx="10634472" cy="555498"/>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 name="Rectangle 12"/>
          <p:cNvSpPr/>
          <p:nvPr/>
        </p:nvSpPr>
        <p:spPr>
          <a:xfrm>
            <a:off x="777240" y="3730752"/>
            <a:ext cx="82296" cy="555498"/>
          </a:xfrm>
          <a:prstGeom prst="rect">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 name="TextBox 13"/>
          <p:cNvSpPr txBox="1"/>
          <p:nvPr/>
        </p:nvSpPr>
        <p:spPr>
          <a:xfrm>
            <a:off x="1097280" y="3730752"/>
            <a:ext cx="10149840" cy="555498"/>
          </a:xfrm>
          <a:prstGeom prst="rect">
            <a:avLst/>
          </a:prstGeom>
          <a:noFill/>
        </p:spPr>
        <p:txBody>
          <a:bodyPr wrap="square" anchor="ctr">
            <a:spAutoFit/>
          </a:bodyPr>
          <a:lstStyle/>
          <a:p>
            <a:pPr algn="l">
              <a:spcAft>
                <a:spcPts val="400"/>
              </a:spcAft>
            </a:pPr>
            <a:r>
              <a:rPr sz="1300" b="0">
                <a:solidFill>
                  <a:srgbClr val="161B26"/>
                </a:solidFill>
                <a:latin typeface="Arial"/>
              </a:rPr>
              <a:t>Encode one logical qubit into three physical qubits (the bit-flip code).</a:t>
            </a:r>
          </a:p>
        </p:txBody>
      </p:sp>
      <p:sp>
        <p:nvSpPr>
          <p:cNvPr id="15" name="Rectangle 14"/>
          <p:cNvSpPr/>
          <p:nvPr/>
        </p:nvSpPr>
        <p:spPr>
          <a:xfrm>
            <a:off x="777240" y="4414266"/>
            <a:ext cx="10634472" cy="555498"/>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6" name="Rectangle 15"/>
          <p:cNvSpPr/>
          <p:nvPr/>
        </p:nvSpPr>
        <p:spPr>
          <a:xfrm>
            <a:off x="777240" y="4414266"/>
            <a:ext cx="82296" cy="555498"/>
          </a:xfrm>
          <a:prstGeom prst="rect">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7" name="TextBox 16"/>
          <p:cNvSpPr txBox="1"/>
          <p:nvPr/>
        </p:nvSpPr>
        <p:spPr>
          <a:xfrm>
            <a:off x="1097280" y="4414266"/>
            <a:ext cx="10149840" cy="555498"/>
          </a:xfrm>
          <a:prstGeom prst="rect">
            <a:avLst/>
          </a:prstGeom>
          <a:noFill/>
        </p:spPr>
        <p:txBody>
          <a:bodyPr wrap="square" anchor="ctr">
            <a:spAutoFit/>
          </a:bodyPr>
          <a:lstStyle/>
          <a:p>
            <a:pPr algn="l">
              <a:spcAft>
                <a:spcPts val="400"/>
              </a:spcAft>
            </a:pPr>
            <a:r>
              <a:rPr sz="1300" b="0">
                <a:solidFill>
                  <a:srgbClr val="161B26"/>
                </a:solidFill>
                <a:latin typeface="Arial"/>
              </a:rPr>
              <a:t>Logical states:  |0&gt;_L = |000&gt;,  |1&gt;_L = |111&gt;.</a:t>
            </a:r>
          </a:p>
        </p:txBody>
      </p:sp>
      <p:sp>
        <p:nvSpPr>
          <p:cNvPr id="18" name="Rectangle 17"/>
          <p:cNvSpPr/>
          <p:nvPr/>
        </p:nvSpPr>
        <p:spPr>
          <a:xfrm>
            <a:off x="777240" y="5097780"/>
            <a:ext cx="10634472" cy="555498"/>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9" name="Rectangle 18"/>
          <p:cNvSpPr/>
          <p:nvPr/>
        </p:nvSpPr>
        <p:spPr>
          <a:xfrm>
            <a:off x="777240" y="5097780"/>
            <a:ext cx="82296" cy="555498"/>
          </a:xfrm>
          <a:prstGeom prst="rect">
            <a:avLst/>
          </a:prstGeom>
          <a:solidFill>
            <a:srgbClr val="7C3AE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0" name="TextBox 19"/>
          <p:cNvSpPr txBox="1"/>
          <p:nvPr/>
        </p:nvSpPr>
        <p:spPr>
          <a:xfrm>
            <a:off x="1097280" y="5097780"/>
            <a:ext cx="10149840" cy="555498"/>
          </a:xfrm>
          <a:prstGeom prst="rect">
            <a:avLst/>
          </a:prstGeom>
          <a:noFill/>
        </p:spPr>
        <p:txBody>
          <a:bodyPr wrap="square" anchor="ctr">
            <a:spAutoFit/>
          </a:bodyPr>
          <a:lstStyle/>
          <a:p>
            <a:pPr algn="l">
              <a:spcAft>
                <a:spcPts val="400"/>
              </a:spcAft>
            </a:pPr>
            <a:r>
              <a:rPr sz="1300" b="0">
                <a:solidFill>
                  <a:srgbClr val="161B26"/>
                </a:solidFill>
                <a:latin typeface="Arial"/>
              </a:rPr>
              <a:t>An arbitrary logical state:  |ψ&gt;_L = a|000&gt; + b|111&gt;.</a:t>
            </a:r>
          </a:p>
        </p:txBody>
      </p:sp>
      <p:sp>
        <p:nvSpPr>
          <p:cNvPr id="21" name="Rectangle 20"/>
          <p:cNvSpPr/>
          <p:nvPr/>
        </p:nvSpPr>
        <p:spPr>
          <a:xfrm>
            <a:off x="777240" y="5781294"/>
            <a:ext cx="10634472" cy="555498"/>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2" name="Rectangle 21"/>
          <p:cNvSpPr/>
          <p:nvPr/>
        </p:nvSpPr>
        <p:spPr>
          <a:xfrm>
            <a:off x="777240" y="5781294"/>
            <a:ext cx="82296" cy="555498"/>
          </a:xfrm>
          <a:prstGeom prst="rect">
            <a:avLst/>
          </a:prstGeom>
          <a:solidFill>
            <a:srgbClr val="F59E0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3" name="TextBox 22"/>
          <p:cNvSpPr txBox="1"/>
          <p:nvPr/>
        </p:nvSpPr>
        <p:spPr>
          <a:xfrm>
            <a:off x="1097280" y="5781294"/>
            <a:ext cx="10149840" cy="555498"/>
          </a:xfrm>
          <a:prstGeom prst="rect">
            <a:avLst/>
          </a:prstGeom>
          <a:noFill/>
        </p:spPr>
        <p:txBody>
          <a:bodyPr wrap="square" anchor="ctr">
            <a:spAutoFit/>
          </a:bodyPr>
          <a:lstStyle/>
          <a:p>
            <a:pPr algn="l">
              <a:spcAft>
                <a:spcPts val="400"/>
              </a:spcAft>
            </a:pPr>
            <a:r>
              <a:rPr sz="1300" b="0">
                <a:solidFill>
                  <a:srgbClr val="161B26"/>
                </a:solidFill>
                <a:latin typeface="Arial"/>
              </a:rPr>
              <a:t>Assume at most ONE qubit suffers an X (bit-flip) error.</a:t>
            </a:r>
          </a:p>
        </p:txBody>
      </p:sp>
      <p:sp>
        <p:nvSpPr>
          <p:cNvPr id="24" name="TextBox 23"/>
          <p:cNvSpPr txBox="1"/>
          <p:nvPr/>
        </p:nvSpPr>
        <p:spPr>
          <a:xfrm>
            <a:off x="365760" y="6446520"/>
            <a:ext cx="6858000" cy="320040"/>
          </a:xfrm>
          <a:prstGeom prst="rect">
            <a:avLst/>
          </a:prstGeom>
          <a:noFill/>
        </p:spPr>
        <p:txBody>
          <a:bodyPr wrap="square" anchor="t">
            <a:spAutoFit/>
          </a:bodyPr>
          <a:lstStyle/>
          <a:p>
            <a:pPr algn="l">
              <a:spcAft>
                <a:spcPts val="400"/>
              </a:spcAft>
            </a:pPr>
            <a:r>
              <a:rPr sz="900" b="0">
                <a:solidFill>
                  <a:srgbClr val="5B6372"/>
                </a:solidFill>
                <a:latin typeface="Arial"/>
              </a:rPr>
              <a:t>Securing the Future with Quantum Computing and Cryptography  ·  TGS-2024043419</a:t>
            </a:r>
          </a:p>
        </p:txBody>
      </p:sp>
      <p:sp>
        <p:nvSpPr>
          <p:cNvPr id="25" name="TextBox 24"/>
          <p:cNvSpPr txBox="1"/>
          <p:nvPr/>
        </p:nvSpPr>
        <p:spPr>
          <a:xfrm>
            <a:off x="4572000" y="6446520"/>
            <a:ext cx="3017520" cy="320040"/>
          </a:xfrm>
          <a:prstGeom prst="rect">
            <a:avLst/>
          </a:prstGeom>
          <a:noFill/>
        </p:spPr>
        <p:txBody>
          <a:bodyPr wrap="square" anchor="t">
            <a:spAutoFit/>
          </a:bodyPr>
          <a:lstStyle/>
          <a:p>
            <a:pPr algn="ctr">
              <a:spcAft>
                <a:spcPts val="400"/>
              </a:spcAft>
            </a:pPr>
            <a:r>
              <a:rPr sz="900" b="0">
                <a:solidFill>
                  <a:srgbClr val="5B6372"/>
                </a:solidFill>
                <a:latin typeface="Arial"/>
              </a:rPr>
              <a:t>© 2026 Tertiary Infotech Academy Pte Ltd</a:t>
            </a:r>
          </a:p>
        </p:txBody>
      </p:sp>
      <p:sp>
        <p:nvSpPr>
          <p:cNvPr id="26" name="TextBox 25"/>
          <p:cNvSpPr txBox="1"/>
          <p:nvPr/>
        </p:nvSpPr>
        <p:spPr>
          <a:xfrm>
            <a:off x="11338560" y="6446520"/>
            <a:ext cx="548640" cy="320040"/>
          </a:xfrm>
          <a:prstGeom prst="rect">
            <a:avLst/>
          </a:prstGeom>
          <a:noFill/>
        </p:spPr>
        <p:txBody>
          <a:bodyPr wrap="square" anchor="t">
            <a:spAutoFit/>
          </a:bodyPr>
          <a:lstStyle/>
          <a:p>
            <a:pPr algn="r">
              <a:spcAft>
                <a:spcPts val="400"/>
              </a:spcAft>
            </a:pPr>
            <a:r>
              <a:rPr sz="900" b="0">
                <a:solidFill>
                  <a:srgbClr val="5B6372"/>
                </a:solidFill>
                <a:latin typeface="Arial"/>
              </a:rPr>
              <a:t>239</a:t>
            </a:r>
          </a:p>
        </p:txBody>
      </p:sp>
    </p:spTree>
  </p:cSld>
  <p:clrMapOvr>
    <a:masterClrMapping/>
  </p:clrMapOvr>
</p:sld>
</file>

<file path=ppt/slides/slide241.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256032" cy="1417320"/>
          </a:xfrm>
          <a:prstGeom prst="rect">
            <a:avLst/>
          </a:prstGeom>
          <a:solidFill>
            <a:srgbClr val="7C3AE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777240" y="457200"/>
            <a:ext cx="10607040" cy="365760"/>
          </a:xfrm>
          <a:prstGeom prst="rect">
            <a:avLst/>
          </a:prstGeom>
          <a:noFill/>
        </p:spPr>
        <p:txBody>
          <a:bodyPr wrap="square" anchor="t">
            <a:spAutoFit/>
          </a:bodyPr>
          <a:lstStyle/>
          <a:p>
            <a:pPr algn="l">
              <a:spcAft>
                <a:spcPts val="400"/>
              </a:spcAft>
            </a:pPr>
            <a:r>
              <a:rPr sz="1400" b="1">
                <a:solidFill>
                  <a:srgbClr val="7C3AED"/>
                </a:solidFill>
                <a:latin typeface="Arial"/>
              </a:rPr>
              <a:t>QUANTUM ERROR CORRECTION WORKS  ·  STEP 1 OF 8</a:t>
            </a:r>
          </a:p>
        </p:txBody>
      </p:sp>
      <p:sp>
        <p:nvSpPr>
          <p:cNvPr id="5" name="TextBox 4"/>
          <p:cNvSpPr txBox="1"/>
          <p:nvPr/>
        </p:nvSpPr>
        <p:spPr>
          <a:xfrm>
            <a:off x="777240" y="822960"/>
            <a:ext cx="10881360" cy="822960"/>
          </a:xfrm>
          <a:prstGeom prst="rect">
            <a:avLst/>
          </a:prstGeom>
          <a:noFill/>
        </p:spPr>
        <p:txBody>
          <a:bodyPr wrap="square" anchor="t">
            <a:spAutoFit/>
          </a:bodyPr>
          <a:lstStyle/>
          <a:p>
            <a:pPr algn="l">
              <a:spcAft>
                <a:spcPts val="400"/>
              </a:spcAft>
            </a:pPr>
            <a:r>
              <a:rPr sz="2900" b="1">
                <a:solidFill>
                  <a:srgbClr val="161B26"/>
                </a:solidFill>
                <a:latin typeface="Arial"/>
              </a:rPr>
              <a:t>Step 1 — Why naive copying is forbidden</a:t>
            </a:r>
          </a:p>
        </p:txBody>
      </p:sp>
      <p:sp>
        <p:nvSpPr>
          <p:cNvPr id="6" name="Rectangle 5"/>
          <p:cNvSpPr/>
          <p:nvPr/>
        </p:nvSpPr>
        <p:spPr>
          <a:xfrm>
            <a:off x="777240" y="1554480"/>
            <a:ext cx="10634472" cy="18288"/>
          </a:xfrm>
          <a:prstGeom prst="rect">
            <a:avLst/>
          </a:prstGeom>
          <a:solidFill>
            <a:srgbClr val="E2E8F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Rectangle 6"/>
          <p:cNvSpPr/>
          <p:nvPr/>
        </p:nvSpPr>
        <p:spPr>
          <a:xfrm>
            <a:off x="777240" y="1810512"/>
            <a:ext cx="10634472" cy="2633472"/>
          </a:xfrm>
          <a:prstGeom prst="rect">
            <a:avLst/>
          </a:prstGeom>
          <a:solidFill>
            <a:srgbClr val="0B122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TextBox 7"/>
          <p:cNvSpPr txBox="1"/>
          <p:nvPr/>
        </p:nvSpPr>
        <p:spPr>
          <a:xfrm>
            <a:off x="1097280" y="1956816"/>
            <a:ext cx="9994392" cy="2340864"/>
          </a:xfrm>
          <a:prstGeom prst="rect">
            <a:avLst/>
          </a:prstGeom>
          <a:noFill/>
        </p:spPr>
        <p:txBody>
          <a:bodyPr wrap="square" anchor="t">
            <a:spAutoFit/>
          </a:bodyPr>
          <a:lstStyle/>
          <a:p>
            <a:pPr algn="l">
              <a:spcAft>
                <a:spcPts val="300"/>
              </a:spcAft>
            </a:pPr>
            <a:r>
              <a:rPr sz="1550" b="0">
                <a:solidFill>
                  <a:srgbClr val="9CDCFE"/>
                </a:solidFill>
                <a:latin typeface="Arial"/>
              </a:rPr>
              <a:t>The obvious classical fix is to make three copies:</a:t>
            </a:r>
          </a:p>
          <a:p>
            <a:pPr algn="l">
              <a:spcAft>
                <a:spcPts val="300"/>
              </a:spcAft>
            </a:pPr>
            <a:r>
              <a:rPr sz="1550" b="0">
                <a:solidFill>
                  <a:srgbClr val="9CDCFE"/>
                </a:solidFill>
                <a:latin typeface="Arial"/>
              </a:rPr>
              <a:t>   |ψ&gt;|ψ&gt;|ψ&gt;  =  (a|0&gt;+b|1&gt;)(a|0&gt;+b|1&gt;)(a|0&gt;+b|1&gt;)</a:t>
            </a:r>
          </a:p>
          <a:p>
            <a:pPr algn="l">
              <a:spcAft>
                <a:spcPts val="300"/>
              </a:spcAft>
            </a:pPr>
            <a:r>
              <a:rPr sz="1550" b="0">
                <a:solidFill>
                  <a:srgbClr val="0B1220"/>
                </a:solidFill>
                <a:latin typeface="Arial"/>
              </a:rPr>
              <a:t> </a:t>
            </a:r>
          </a:p>
          <a:p>
            <a:pPr algn="l">
              <a:spcAft>
                <a:spcPts val="300"/>
              </a:spcAft>
            </a:pPr>
            <a:r>
              <a:rPr sz="1550" b="0">
                <a:solidFill>
                  <a:srgbClr val="9CDCFE"/>
                </a:solidFill>
                <a:latin typeface="Arial"/>
              </a:rPr>
              <a:t>But no-cloning FORBIDS this for unknown |ψ&gt;.</a:t>
            </a:r>
          </a:p>
          <a:p>
            <a:pPr algn="l">
              <a:spcAft>
                <a:spcPts val="300"/>
              </a:spcAft>
            </a:pPr>
            <a:r>
              <a:rPr sz="1550" b="0">
                <a:solidFill>
                  <a:srgbClr val="0B1220"/>
                </a:solidFill>
                <a:latin typeface="Arial"/>
              </a:rPr>
              <a:t> </a:t>
            </a:r>
          </a:p>
          <a:p>
            <a:pPr algn="l">
              <a:spcAft>
                <a:spcPts val="300"/>
              </a:spcAft>
            </a:pPr>
            <a:r>
              <a:rPr sz="1550" b="0">
                <a:solidFill>
                  <a:srgbClr val="9CDCFE"/>
                </a:solidFill>
                <a:latin typeface="Arial"/>
              </a:rPr>
              <a:t>What we build instead is the ENTANGLED state</a:t>
            </a:r>
          </a:p>
          <a:p>
            <a:pPr algn="l">
              <a:spcAft>
                <a:spcPts val="300"/>
              </a:spcAft>
            </a:pPr>
            <a:r>
              <a:rPr sz="1550" b="0">
                <a:solidFill>
                  <a:srgbClr val="9CDCFE"/>
                </a:solidFill>
                <a:latin typeface="Arial"/>
              </a:rPr>
              <a:t>   a|000&gt; + b|111&gt;     which is NOT  |ψ&gt;|ψ&gt;|ψ&gt;</a:t>
            </a:r>
          </a:p>
        </p:txBody>
      </p:sp>
      <p:sp>
        <p:nvSpPr>
          <p:cNvPr id="9" name="Rectangle 8"/>
          <p:cNvSpPr/>
          <p:nvPr/>
        </p:nvSpPr>
        <p:spPr>
          <a:xfrm>
            <a:off x="777240" y="4645152"/>
            <a:ext cx="10634472" cy="1408176"/>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Rectangle 9"/>
          <p:cNvSpPr/>
          <p:nvPr/>
        </p:nvSpPr>
        <p:spPr>
          <a:xfrm>
            <a:off x="777240" y="4645152"/>
            <a:ext cx="82296" cy="1408176"/>
          </a:xfrm>
          <a:prstGeom prst="rect">
            <a:avLst/>
          </a:prstGeom>
          <a:solidFill>
            <a:srgbClr val="F59E0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 name="TextBox 10"/>
          <p:cNvSpPr txBox="1"/>
          <p:nvPr/>
        </p:nvSpPr>
        <p:spPr>
          <a:xfrm>
            <a:off x="1097280" y="4645152"/>
            <a:ext cx="10149840" cy="1408176"/>
          </a:xfrm>
          <a:prstGeom prst="rect">
            <a:avLst/>
          </a:prstGeom>
          <a:noFill/>
        </p:spPr>
        <p:txBody>
          <a:bodyPr wrap="square" anchor="ctr">
            <a:spAutoFit/>
          </a:bodyPr>
          <a:lstStyle/>
          <a:p>
            <a:pPr algn="l">
              <a:spcAft>
                <a:spcPts val="400"/>
              </a:spcAft>
            </a:pPr>
            <a:r>
              <a:rPr sz="1150" b="1">
                <a:solidFill>
                  <a:srgbClr val="F59E0B"/>
                </a:solidFill>
                <a:latin typeface="Arial"/>
              </a:rPr>
              <a:t>WHY THIS STEP:  </a:t>
            </a:r>
            <a:r>
              <a:rPr sz="1300" b="0">
                <a:solidFill>
                  <a:srgbClr val="161B26"/>
                </a:solidFill>
                <a:latin typeface="Arial"/>
              </a:rPr>
              <a:t>Encoding spreads the information across three qubits without ever duplicating it.</a:t>
            </a:r>
          </a:p>
        </p:txBody>
      </p:sp>
      <p:sp>
        <p:nvSpPr>
          <p:cNvPr id="12" name="TextBox 11"/>
          <p:cNvSpPr txBox="1"/>
          <p:nvPr/>
        </p:nvSpPr>
        <p:spPr>
          <a:xfrm>
            <a:off x="365760" y="6446520"/>
            <a:ext cx="6858000" cy="320040"/>
          </a:xfrm>
          <a:prstGeom prst="rect">
            <a:avLst/>
          </a:prstGeom>
          <a:noFill/>
        </p:spPr>
        <p:txBody>
          <a:bodyPr wrap="square" anchor="t">
            <a:spAutoFit/>
          </a:bodyPr>
          <a:lstStyle/>
          <a:p>
            <a:pPr algn="l">
              <a:spcAft>
                <a:spcPts val="400"/>
              </a:spcAft>
            </a:pPr>
            <a:r>
              <a:rPr sz="900" b="0">
                <a:solidFill>
                  <a:srgbClr val="5B6372"/>
                </a:solidFill>
                <a:latin typeface="Arial"/>
              </a:rPr>
              <a:t>Securing the Future with Quantum Computing and Cryptography  ·  TGS-2024043419</a:t>
            </a:r>
          </a:p>
        </p:txBody>
      </p:sp>
      <p:sp>
        <p:nvSpPr>
          <p:cNvPr id="13" name="TextBox 12"/>
          <p:cNvSpPr txBox="1"/>
          <p:nvPr/>
        </p:nvSpPr>
        <p:spPr>
          <a:xfrm>
            <a:off x="4572000" y="6446520"/>
            <a:ext cx="3017520" cy="320040"/>
          </a:xfrm>
          <a:prstGeom prst="rect">
            <a:avLst/>
          </a:prstGeom>
          <a:noFill/>
        </p:spPr>
        <p:txBody>
          <a:bodyPr wrap="square" anchor="t">
            <a:spAutoFit/>
          </a:bodyPr>
          <a:lstStyle/>
          <a:p>
            <a:pPr algn="ctr">
              <a:spcAft>
                <a:spcPts val="400"/>
              </a:spcAft>
            </a:pPr>
            <a:r>
              <a:rPr sz="900" b="0">
                <a:solidFill>
                  <a:srgbClr val="5B6372"/>
                </a:solidFill>
                <a:latin typeface="Arial"/>
              </a:rPr>
              <a:t>© 2026 Tertiary Infotech Academy Pte Ltd</a:t>
            </a:r>
          </a:p>
        </p:txBody>
      </p:sp>
      <p:sp>
        <p:nvSpPr>
          <p:cNvPr id="14" name="TextBox 13"/>
          <p:cNvSpPr txBox="1"/>
          <p:nvPr/>
        </p:nvSpPr>
        <p:spPr>
          <a:xfrm>
            <a:off x="11338560" y="6446520"/>
            <a:ext cx="548640" cy="320040"/>
          </a:xfrm>
          <a:prstGeom prst="rect">
            <a:avLst/>
          </a:prstGeom>
          <a:noFill/>
        </p:spPr>
        <p:txBody>
          <a:bodyPr wrap="square" anchor="t">
            <a:spAutoFit/>
          </a:bodyPr>
          <a:lstStyle/>
          <a:p>
            <a:pPr algn="r">
              <a:spcAft>
                <a:spcPts val="400"/>
              </a:spcAft>
            </a:pPr>
            <a:r>
              <a:rPr sz="900" b="0">
                <a:solidFill>
                  <a:srgbClr val="5B6372"/>
                </a:solidFill>
                <a:latin typeface="Arial"/>
              </a:rPr>
              <a:t>240</a:t>
            </a:r>
          </a:p>
        </p:txBody>
      </p:sp>
    </p:spTree>
  </p:cSld>
  <p:clrMapOvr>
    <a:masterClrMapping/>
  </p:clrMapOvr>
</p:sld>
</file>

<file path=ppt/slides/slide242.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256032" cy="1417320"/>
          </a:xfrm>
          <a:prstGeom prst="rect">
            <a:avLst/>
          </a:prstGeom>
          <a:solidFill>
            <a:srgbClr val="7C3AE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777240" y="457200"/>
            <a:ext cx="10607040" cy="365760"/>
          </a:xfrm>
          <a:prstGeom prst="rect">
            <a:avLst/>
          </a:prstGeom>
          <a:noFill/>
        </p:spPr>
        <p:txBody>
          <a:bodyPr wrap="square" anchor="t">
            <a:spAutoFit/>
          </a:bodyPr>
          <a:lstStyle/>
          <a:p>
            <a:pPr algn="l">
              <a:spcAft>
                <a:spcPts val="400"/>
              </a:spcAft>
            </a:pPr>
            <a:r>
              <a:rPr sz="1400" b="1">
                <a:solidFill>
                  <a:srgbClr val="7C3AED"/>
                </a:solidFill>
                <a:latin typeface="Arial"/>
              </a:rPr>
              <a:t>QUANTUM ERROR CORRECTION WORKS  ·  STEP 2 OF 8</a:t>
            </a:r>
          </a:p>
        </p:txBody>
      </p:sp>
      <p:sp>
        <p:nvSpPr>
          <p:cNvPr id="5" name="TextBox 4"/>
          <p:cNvSpPr txBox="1"/>
          <p:nvPr/>
        </p:nvSpPr>
        <p:spPr>
          <a:xfrm>
            <a:off x="777240" y="822960"/>
            <a:ext cx="10881360" cy="822960"/>
          </a:xfrm>
          <a:prstGeom prst="rect">
            <a:avLst/>
          </a:prstGeom>
          <a:noFill/>
        </p:spPr>
        <p:txBody>
          <a:bodyPr wrap="square" anchor="t">
            <a:spAutoFit/>
          </a:bodyPr>
          <a:lstStyle/>
          <a:p>
            <a:pPr algn="l">
              <a:spcAft>
                <a:spcPts val="400"/>
              </a:spcAft>
            </a:pPr>
            <a:r>
              <a:rPr sz="2900" b="1">
                <a:solidFill>
                  <a:srgbClr val="161B26"/>
                </a:solidFill>
                <a:latin typeface="Arial"/>
              </a:rPr>
              <a:t>Step 2 — Encoding circuit</a:t>
            </a:r>
          </a:p>
        </p:txBody>
      </p:sp>
      <p:sp>
        <p:nvSpPr>
          <p:cNvPr id="6" name="Rectangle 5"/>
          <p:cNvSpPr/>
          <p:nvPr/>
        </p:nvSpPr>
        <p:spPr>
          <a:xfrm>
            <a:off x="777240" y="1554480"/>
            <a:ext cx="10634472" cy="18288"/>
          </a:xfrm>
          <a:prstGeom prst="rect">
            <a:avLst/>
          </a:prstGeom>
          <a:solidFill>
            <a:srgbClr val="E2E8F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Rectangle 6"/>
          <p:cNvSpPr/>
          <p:nvPr/>
        </p:nvSpPr>
        <p:spPr>
          <a:xfrm>
            <a:off x="777240" y="1810512"/>
            <a:ext cx="10634472" cy="2633472"/>
          </a:xfrm>
          <a:prstGeom prst="rect">
            <a:avLst/>
          </a:prstGeom>
          <a:solidFill>
            <a:srgbClr val="0B122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TextBox 7"/>
          <p:cNvSpPr txBox="1"/>
          <p:nvPr/>
        </p:nvSpPr>
        <p:spPr>
          <a:xfrm>
            <a:off x="1097280" y="1956816"/>
            <a:ext cx="9994392" cy="2340864"/>
          </a:xfrm>
          <a:prstGeom prst="rect">
            <a:avLst/>
          </a:prstGeom>
          <a:noFill/>
        </p:spPr>
        <p:txBody>
          <a:bodyPr wrap="square" anchor="t">
            <a:spAutoFit/>
          </a:bodyPr>
          <a:lstStyle/>
          <a:p>
            <a:pPr algn="l">
              <a:spcAft>
                <a:spcPts val="300"/>
              </a:spcAft>
            </a:pPr>
            <a:r>
              <a:rPr sz="1550" b="0">
                <a:solidFill>
                  <a:srgbClr val="9CDCFE"/>
                </a:solidFill>
                <a:latin typeface="Arial"/>
              </a:rPr>
              <a:t>Two CNOTs, both controlled by the data qubit:</a:t>
            </a:r>
          </a:p>
          <a:p>
            <a:pPr algn="l">
              <a:spcAft>
                <a:spcPts val="300"/>
              </a:spcAft>
            </a:pPr>
            <a:r>
              <a:rPr sz="1550" b="0">
                <a:solidFill>
                  <a:srgbClr val="0B1220"/>
                </a:solidFill>
                <a:latin typeface="Arial"/>
              </a:rPr>
              <a:t> </a:t>
            </a:r>
          </a:p>
          <a:p>
            <a:pPr algn="l">
              <a:spcAft>
                <a:spcPts val="300"/>
              </a:spcAft>
            </a:pPr>
            <a:r>
              <a:rPr sz="1550" b="0">
                <a:solidFill>
                  <a:srgbClr val="9CDCFE"/>
                </a:solidFill>
                <a:latin typeface="Arial"/>
              </a:rPr>
              <a:t>   (a|0&gt; + b|1&gt;)|0&gt;|0&gt;</a:t>
            </a:r>
          </a:p>
          <a:p>
            <a:pPr algn="l">
              <a:spcAft>
                <a:spcPts val="300"/>
              </a:spcAft>
            </a:pPr>
            <a:r>
              <a:rPr sz="1550" b="0">
                <a:solidFill>
                  <a:srgbClr val="9CDCFE"/>
                </a:solidFill>
                <a:latin typeface="Arial"/>
              </a:rPr>
              <a:t>     --CNOT(0-&gt;1)--&gt;   a|00&gt;|0&gt; + b|11&gt;|0&gt;</a:t>
            </a:r>
          </a:p>
          <a:p>
            <a:pPr algn="l">
              <a:spcAft>
                <a:spcPts val="300"/>
              </a:spcAft>
            </a:pPr>
            <a:r>
              <a:rPr sz="1550" b="0">
                <a:solidFill>
                  <a:srgbClr val="9CDCFE"/>
                </a:solidFill>
                <a:latin typeface="Arial"/>
              </a:rPr>
              <a:t>     --CNOT(0-&gt;2)--&gt;   a|000&gt;   + b|111&gt;</a:t>
            </a:r>
          </a:p>
          <a:p>
            <a:pPr algn="l">
              <a:spcAft>
                <a:spcPts val="300"/>
              </a:spcAft>
            </a:pPr>
            <a:r>
              <a:rPr sz="1550" b="0">
                <a:solidFill>
                  <a:srgbClr val="0B1220"/>
                </a:solidFill>
                <a:latin typeface="Arial"/>
              </a:rPr>
              <a:t> </a:t>
            </a:r>
          </a:p>
          <a:p>
            <a:pPr algn="l">
              <a:spcAft>
                <a:spcPts val="300"/>
              </a:spcAft>
            </a:pPr>
            <a:r>
              <a:rPr sz="1550" b="0">
                <a:solidFill>
                  <a:srgbClr val="9CDCFE"/>
                </a:solidFill>
                <a:latin typeface="Arial"/>
              </a:rPr>
              <a:t>= |ψ&gt;_L</a:t>
            </a:r>
          </a:p>
        </p:txBody>
      </p:sp>
      <p:sp>
        <p:nvSpPr>
          <p:cNvPr id="9" name="Rectangle 8"/>
          <p:cNvSpPr/>
          <p:nvPr/>
        </p:nvSpPr>
        <p:spPr>
          <a:xfrm>
            <a:off x="777240" y="4645152"/>
            <a:ext cx="10634472" cy="1408176"/>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Rectangle 9"/>
          <p:cNvSpPr/>
          <p:nvPr/>
        </p:nvSpPr>
        <p:spPr>
          <a:xfrm>
            <a:off x="777240" y="4645152"/>
            <a:ext cx="82296" cy="1408176"/>
          </a:xfrm>
          <a:prstGeom prst="rect">
            <a:avLst/>
          </a:prstGeom>
          <a:solidFill>
            <a:srgbClr val="F59E0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 name="TextBox 10"/>
          <p:cNvSpPr txBox="1"/>
          <p:nvPr/>
        </p:nvSpPr>
        <p:spPr>
          <a:xfrm>
            <a:off x="1097280" y="4645152"/>
            <a:ext cx="10149840" cy="1408176"/>
          </a:xfrm>
          <a:prstGeom prst="rect">
            <a:avLst/>
          </a:prstGeom>
          <a:noFill/>
        </p:spPr>
        <p:txBody>
          <a:bodyPr wrap="square" anchor="ctr">
            <a:spAutoFit/>
          </a:bodyPr>
          <a:lstStyle/>
          <a:p>
            <a:pPr algn="l">
              <a:spcAft>
                <a:spcPts val="400"/>
              </a:spcAft>
            </a:pPr>
            <a:r>
              <a:rPr sz="1150" b="1">
                <a:solidFill>
                  <a:srgbClr val="F59E0B"/>
                </a:solidFill>
                <a:latin typeface="Arial"/>
              </a:rPr>
              <a:t>WHY THIS STEP:  </a:t>
            </a:r>
            <a:r>
              <a:rPr sz="1300" b="0">
                <a:solidFill>
                  <a:srgbClr val="161B26"/>
                </a:solidFill>
                <a:latin typeface="Arial"/>
              </a:rPr>
              <a:t>Note a and b are never measured, never learned, never copied.</a:t>
            </a:r>
          </a:p>
        </p:txBody>
      </p:sp>
      <p:sp>
        <p:nvSpPr>
          <p:cNvPr id="12" name="TextBox 11"/>
          <p:cNvSpPr txBox="1"/>
          <p:nvPr/>
        </p:nvSpPr>
        <p:spPr>
          <a:xfrm>
            <a:off x="365760" y="6446520"/>
            <a:ext cx="6858000" cy="320040"/>
          </a:xfrm>
          <a:prstGeom prst="rect">
            <a:avLst/>
          </a:prstGeom>
          <a:noFill/>
        </p:spPr>
        <p:txBody>
          <a:bodyPr wrap="square" anchor="t">
            <a:spAutoFit/>
          </a:bodyPr>
          <a:lstStyle/>
          <a:p>
            <a:pPr algn="l">
              <a:spcAft>
                <a:spcPts val="400"/>
              </a:spcAft>
            </a:pPr>
            <a:r>
              <a:rPr sz="900" b="0">
                <a:solidFill>
                  <a:srgbClr val="5B6372"/>
                </a:solidFill>
                <a:latin typeface="Arial"/>
              </a:rPr>
              <a:t>Securing the Future with Quantum Computing and Cryptography  ·  TGS-2024043419</a:t>
            </a:r>
          </a:p>
        </p:txBody>
      </p:sp>
      <p:sp>
        <p:nvSpPr>
          <p:cNvPr id="13" name="TextBox 12"/>
          <p:cNvSpPr txBox="1"/>
          <p:nvPr/>
        </p:nvSpPr>
        <p:spPr>
          <a:xfrm>
            <a:off x="4572000" y="6446520"/>
            <a:ext cx="3017520" cy="320040"/>
          </a:xfrm>
          <a:prstGeom prst="rect">
            <a:avLst/>
          </a:prstGeom>
          <a:noFill/>
        </p:spPr>
        <p:txBody>
          <a:bodyPr wrap="square" anchor="t">
            <a:spAutoFit/>
          </a:bodyPr>
          <a:lstStyle/>
          <a:p>
            <a:pPr algn="ctr">
              <a:spcAft>
                <a:spcPts val="400"/>
              </a:spcAft>
            </a:pPr>
            <a:r>
              <a:rPr sz="900" b="0">
                <a:solidFill>
                  <a:srgbClr val="5B6372"/>
                </a:solidFill>
                <a:latin typeface="Arial"/>
              </a:rPr>
              <a:t>© 2026 Tertiary Infotech Academy Pte Ltd</a:t>
            </a:r>
          </a:p>
        </p:txBody>
      </p:sp>
      <p:sp>
        <p:nvSpPr>
          <p:cNvPr id="14" name="TextBox 13"/>
          <p:cNvSpPr txBox="1"/>
          <p:nvPr/>
        </p:nvSpPr>
        <p:spPr>
          <a:xfrm>
            <a:off x="11338560" y="6446520"/>
            <a:ext cx="548640" cy="320040"/>
          </a:xfrm>
          <a:prstGeom prst="rect">
            <a:avLst/>
          </a:prstGeom>
          <a:noFill/>
        </p:spPr>
        <p:txBody>
          <a:bodyPr wrap="square" anchor="t">
            <a:spAutoFit/>
          </a:bodyPr>
          <a:lstStyle/>
          <a:p>
            <a:pPr algn="r">
              <a:spcAft>
                <a:spcPts val="400"/>
              </a:spcAft>
            </a:pPr>
            <a:r>
              <a:rPr sz="900" b="0">
                <a:solidFill>
                  <a:srgbClr val="5B6372"/>
                </a:solidFill>
                <a:latin typeface="Arial"/>
              </a:rPr>
              <a:t>241</a:t>
            </a:r>
          </a:p>
        </p:txBody>
      </p:sp>
    </p:spTree>
  </p:cSld>
  <p:clrMapOvr>
    <a:masterClrMapping/>
  </p:clrMapOvr>
</p:sld>
</file>

<file path=ppt/slides/slide243.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256032" cy="1417320"/>
          </a:xfrm>
          <a:prstGeom prst="rect">
            <a:avLst/>
          </a:prstGeom>
          <a:solidFill>
            <a:srgbClr val="7C3AE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777240" y="457200"/>
            <a:ext cx="10607040" cy="365760"/>
          </a:xfrm>
          <a:prstGeom prst="rect">
            <a:avLst/>
          </a:prstGeom>
          <a:noFill/>
        </p:spPr>
        <p:txBody>
          <a:bodyPr wrap="square" anchor="t">
            <a:spAutoFit/>
          </a:bodyPr>
          <a:lstStyle/>
          <a:p>
            <a:pPr algn="l">
              <a:spcAft>
                <a:spcPts val="400"/>
              </a:spcAft>
            </a:pPr>
            <a:r>
              <a:rPr sz="1400" b="1">
                <a:solidFill>
                  <a:srgbClr val="7C3AED"/>
                </a:solidFill>
                <a:latin typeface="Arial"/>
              </a:rPr>
              <a:t>QUANTUM ERROR CORRECTION WORKS  ·  STEP 3 OF 8</a:t>
            </a:r>
          </a:p>
        </p:txBody>
      </p:sp>
      <p:sp>
        <p:nvSpPr>
          <p:cNvPr id="5" name="TextBox 4"/>
          <p:cNvSpPr txBox="1"/>
          <p:nvPr/>
        </p:nvSpPr>
        <p:spPr>
          <a:xfrm>
            <a:off x="777240" y="822960"/>
            <a:ext cx="10881360" cy="822960"/>
          </a:xfrm>
          <a:prstGeom prst="rect">
            <a:avLst/>
          </a:prstGeom>
          <a:noFill/>
        </p:spPr>
        <p:txBody>
          <a:bodyPr wrap="square" anchor="t">
            <a:spAutoFit/>
          </a:bodyPr>
          <a:lstStyle/>
          <a:p>
            <a:pPr algn="l">
              <a:spcAft>
                <a:spcPts val="400"/>
              </a:spcAft>
            </a:pPr>
            <a:r>
              <a:rPr sz="2900" b="1">
                <a:solidFill>
                  <a:srgbClr val="161B26"/>
                </a:solidFill>
                <a:latin typeface="Arial"/>
              </a:rPr>
              <a:t>Step 3 — An error strikes</a:t>
            </a:r>
          </a:p>
        </p:txBody>
      </p:sp>
      <p:sp>
        <p:nvSpPr>
          <p:cNvPr id="6" name="Rectangle 5"/>
          <p:cNvSpPr/>
          <p:nvPr/>
        </p:nvSpPr>
        <p:spPr>
          <a:xfrm>
            <a:off x="777240" y="1554480"/>
            <a:ext cx="10634472" cy="18288"/>
          </a:xfrm>
          <a:prstGeom prst="rect">
            <a:avLst/>
          </a:prstGeom>
          <a:solidFill>
            <a:srgbClr val="E2E8F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Rectangle 6"/>
          <p:cNvSpPr/>
          <p:nvPr/>
        </p:nvSpPr>
        <p:spPr>
          <a:xfrm>
            <a:off x="777240" y="1810512"/>
            <a:ext cx="10634472" cy="2322576"/>
          </a:xfrm>
          <a:prstGeom prst="rect">
            <a:avLst/>
          </a:prstGeom>
          <a:solidFill>
            <a:srgbClr val="0B122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TextBox 7"/>
          <p:cNvSpPr txBox="1"/>
          <p:nvPr/>
        </p:nvSpPr>
        <p:spPr>
          <a:xfrm>
            <a:off x="1097280" y="1956816"/>
            <a:ext cx="9994392" cy="2029968"/>
          </a:xfrm>
          <a:prstGeom prst="rect">
            <a:avLst/>
          </a:prstGeom>
          <a:noFill/>
        </p:spPr>
        <p:txBody>
          <a:bodyPr wrap="square" anchor="t">
            <a:spAutoFit/>
          </a:bodyPr>
          <a:lstStyle/>
          <a:p>
            <a:pPr algn="l">
              <a:spcAft>
                <a:spcPts val="300"/>
              </a:spcAft>
            </a:pPr>
            <a:r>
              <a:rPr sz="1550" b="0">
                <a:solidFill>
                  <a:srgbClr val="9CDCFE"/>
                </a:solidFill>
                <a:latin typeface="Arial"/>
              </a:rPr>
              <a:t>Suppose X acts on qubit 1:</a:t>
            </a:r>
          </a:p>
          <a:p>
            <a:pPr algn="l">
              <a:spcAft>
                <a:spcPts val="300"/>
              </a:spcAft>
            </a:pPr>
            <a:r>
              <a:rPr sz="1550" b="0">
                <a:solidFill>
                  <a:srgbClr val="0B1220"/>
                </a:solidFill>
                <a:latin typeface="Arial"/>
              </a:rPr>
              <a:t> </a:t>
            </a:r>
          </a:p>
          <a:p>
            <a:pPr algn="l">
              <a:spcAft>
                <a:spcPts val="300"/>
              </a:spcAft>
            </a:pPr>
            <a:r>
              <a:rPr sz="1550" b="0">
                <a:solidFill>
                  <a:srgbClr val="9CDCFE"/>
                </a:solidFill>
                <a:latin typeface="Arial"/>
              </a:rPr>
              <a:t>   X₁ (a|000&gt; + b|111&gt;)  =  a|010&gt; + b|101&gt;</a:t>
            </a:r>
          </a:p>
          <a:p>
            <a:pPr algn="l">
              <a:spcAft>
                <a:spcPts val="300"/>
              </a:spcAft>
            </a:pPr>
            <a:r>
              <a:rPr sz="1550" b="0">
                <a:solidFill>
                  <a:srgbClr val="0B1220"/>
                </a:solidFill>
                <a:latin typeface="Arial"/>
              </a:rPr>
              <a:t> </a:t>
            </a:r>
          </a:p>
          <a:p>
            <a:pPr algn="l">
              <a:spcAft>
                <a:spcPts val="300"/>
              </a:spcAft>
            </a:pPr>
            <a:r>
              <a:rPr sz="1550" b="0">
                <a:solidFill>
                  <a:srgbClr val="9CDCFE"/>
                </a:solidFill>
                <a:latin typeface="Arial"/>
              </a:rPr>
              <a:t>The state is corrupted — but observe that the amplitudes a and b are INTACT.</a:t>
            </a:r>
          </a:p>
          <a:p>
            <a:pPr algn="l">
              <a:spcAft>
                <a:spcPts val="300"/>
              </a:spcAft>
            </a:pPr>
            <a:r>
              <a:rPr sz="1550" b="0">
                <a:solidFill>
                  <a:srgbClr val="9CDCFE"/>
                </a:solidFill>
                <a:latin typeface="Arial"/>
              </a:rPr>
              <a:t>Only the BASIS LABELS have been permuted.</a:t>
            </a:r>
          </a:p>
        </p:txBody>
      </p:sp>
      <p:sp>
        <p:nvSpPr>
          <p:cNvPr id="9" name="Rectangle 8"/>
          <p:cNvSpPr/>
          <p:nvPr/>
        </p:nvSpPr>
        <p:spPr>
          <a:xfrm>
            <a:off x="777240" y="4334256"/>
            <a:ext cx="10634472" cy="1719072"/>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Rectangle 9"/>
          <p:cNvSpPr/>
          <p:nvPr/>
        </p:nvSpPr>
        <p:spPr>
          <a:xfrm>
            <a:off x="777240" y="4334256"/>
            <a:ext cx="82296" cy="1719072"/>
          </a:xfrm>
          <a:prstGeom prst="rect">
            <a:avLst/>
          </a:prstGeom>
          <a:solidFill>
            <a:srgbClr val="F59E0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 name="TextBox 10"/>
          <p:cNvSpPr txBox="1"/>
          <p:nvPr/>
        </p:nvSpPr>
        <p:spPr>
          <a:xfrm>
            <a:off x="1097280" y="4334256"/>
            <a:ext cx="10149840" cy="1719072"/>
          </a:xfrm>
          <a:prstGeom prst="rect">
            <a:avLst/>
          </a:prstGeom>
          <a:noFill/>
        </p:spPr>
        <p:txBody>
          <a:bodyPr wrap="square" anchor="ctr">
            <a:spAutoFit/>
          </a:bodyPr>
          <a:lstStyle/>
          <a:p>
            <a:pPr algn="l">
              <a:spcAft>
                <a:spcPts val="400"/>
              </a:spcAft>
            </a:pPr>
            <a:r>
              <a:rPr sz="1150" b="1">
                <a:solidFill>
                  <a:srgbClr val="F59E0B"/>
                </a:solidFill>
                <a:latin typeface="Arial"/>
              </a:rPr>
              <a:t>WHY THIS STEP:  </a:t>
            </a:r>
            <a:r>
              <a:rPr sz="1300" b="0">
                <a:solidFill>
                  <a:srgbClr val="161B26"/>
                </a:solidFill>
                <a:latin typeface="Arial"/>
              </a:rPr>
              <a:t>This is the crucial observation: the error moved the state to a different, distinguishable subspace without touching the encoded information.</a:t>
            </a:r>
          </a:p>
        </p:txBody>
      </p:sp>
      <p:sp>
        <p:nvSpPr>
          <p:cNvPr id="12" name="TextBox 11"/>
          <p:cNvSpPr txBox="1"/>
          <p:nvPr/>
        </p:nvSpPr>
        <p:spPr>
          <a:xfrm>
            <a:off x="365760" y="6446520"/>
            <a:ext cx="6858000" cy="320040"/>
          </a:xfrm>
          <a:prstGeom prst="rect">
            <a:avLst/>
          </a:prstGeom>
          <a:noFill/>
        </p:spPr>
        <p:txBody>
          <a:bodyPr wrap="square" anchor="t">
            <a:spAutoFit/>
          </a:bodyPr>
          <a:lstStyle/>
          <a:p>
            <a:pPr algn="l">
              <a:spcAft>
                <a:spcPts val="400"/>
              </a:spcAft>
            </a:pPr>
            <a:r>
              <a:rPr sz="900" b="0">
                <a:solidFill>
                  <a:srgbClr val="5B6372"/>
                </a:solidFill>
                <a:latin typeface="Arial"/>
              </a:rPr>
              <a:t>Securing the Future with Quantum Computing and Cryptography  ·  TGS-2024043419</a:t>
            </a:r>
          </a:p>
        </p:txBody>
      </p:sp>
      <p:sp>
        <p:nvSpPr>
          <p:cNvPr id="13" name="TextBox 12"/>
          <p:cNvSpPr txBox="1"/>
          <p:nvPr/>
        </p:nvSpPr>
        <p:spPr>
          <a:xfrm>
            <a:off x="4572000" y="6446520"/>
            <a:ext cx="3017520" cy="320040"/>
          </a:xfrm>
          <a:prstGeom prst="rect">
            <a:avLst/>
          </a:prstGeom>
          <a:noFill/>
        </p:spPr>
        <p:txBody>
          <a:bodyPr wrap="square" anchor="t">
            <a:spAutoFit/>
          </a:bodyPr>
          <a:lstStyle/>
          <a:p>
            <a:pPr algn="ctr">
              <a:spcAft>
                <a:spcPts val="400"/>
              </a:spcAft>
            </a:pPr>
            <a:r>
              <a:rPr sz="900" b="0">
                <a:solidFill>
                  <a:srgbClr val="5B6372"/>
                </a:solidFill>
                <a:latin typeface="Arial"/>
              </a:rPr>
              <a:t>© 2026 Tertiary Infotech Academy Pte Ltd</a:t>
            </a:r>
          </a:p>
        </p:txBody>
      </p:sp>
      <p:sp>
        <p:nvSpPr>
          <p:cNvPr id="14" name="TextBox 13"/>
          <p:cNvSpPr txBox="1"/>
          <p:nvPr/>
        </p:nvSpPr>
        <p:spPr>
          <a:xfrm>
            <a:off x="11338560" y="6446520"/>
            <a:ext cx="548640" cy="320040"/>
          </a:xfrm>
          <a:prstGeom prst="rect">
            <a:avLst/>
          </a:prstGeom>
          <a:noFill/>
        </p:spPr>
        <p:txBody>
          <a:bodyPr wrap="square" anchor="t">
            <a:spAutoFit/>
          </a:bodyPr>
          <a:lstStyle/>
          <a:p>
            <a:pPr algn="r">
              <a:spcAft>
                <a:spcPts val="400"/>
              </a:spcAft>
            </a:pPr>
            <a:r>
              <a:rPr sz="900" b="0">
                <a:solidFill>
                  <a:srgbClr val="5B6372"/>
                </a:solidFill>
                <a:latin typeface="Arial"/>
              </a:rPr>
              <a:t>242</a:t>
            </a:r>
          </a:p>
        </p:txBody>
      </p:sp>
    </p:spTree>
  </p:cSld>
  <p:clrMapOvr>
    <a:masterClrMapping/>
  </p:clrMapOvr>
</p:sld>
</file>

<file path=ppt/slides/slide244.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256032" cy="1417320"/>
          </a:xfrm>
          <a:prstGeom prst="rect">
            <a:avLst/>
          </a:prstGeom>
          <a:solidFill>
            <a:srgbClr val="7C3AE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777240" y="457200"/>
            <a:ext cx="10607040" cy="365760"/>
          </a:xfrm>
          <a:prstGeom prst="rect">
            <a:avLst/>
          </a:prstGeom>
          <a:noFill/>
        </p:spPr>
        <p:txBody>
          <a:bodyPr wrap="square" anchor="t">
            <a:spAutoFit/>
          </a:bodyPr>
          <a:lstStyle/>
          <a:p>
            <a:pPr algn="l">
              <a:spcAft>
                <a:spcPts val="400"/>
              </a:spcAft>
            </a:pPr>
            <a:r>
              <a:rPr sz="1400" b="1">
                <a:solidFill>
                  <a:srgbClr val="7C3AED"/>
                </a:solidFill>
                <a:latin typeface="Arial"/>
              </a:rPr>
              <a:t>QUANTUM ERROR CORRECTION WORKS  ·  STEP 4 OF 8</a:t>
            </a:r>
          </a:p>
        </p:txBody>
      </p:sp>
      <p:sp>
        <p:nvSpPr>
          <p:cNvPr id="5" name="TextBox 4"/>
          <p:cNvSpPr txBox="1"/>
          <p:nvPr/>
        </p:nvSpPr>
        <p:spPr>
          <a:xfrm>
            <a:off x="777240" y="822960"/>
            <a:ext cx="10881360" cy="822960"/>
          </a:xfrm>
          <a:prstGeom prst="rect">
            <a:avLst/>
          </a:prstGeom>
          <a:noFill/>
        </p:spPr>
        <p:txBody>
          <a:bodyPr wrap="square" anchor="t">
            <a:spAutoFit/>
          </a:bodyPr>
          <a:lstStyle/>
          <a:p>
            <a:pPr algn="l">
              <a:spcAft>
                <a:spcPts val="400"/>
              </a:spcAft>
            </a:pPr>
            <a:r>
              <a:rPr sz="2900" b="1">
                <a:solidFill>
                  <a:srgbClr val="161B26"/>
                </a:solidFill>
                <a:latin typeface="Arial"/>
              </a:rPr>
              <a:t>Step 4 — Syndrome operators</a:t>
            </a:r>
          </a:p>
        </p:txBody>
      </p:sp>
      <p:sp>
        <p:nvSpPr>
          <p:cNvPr id="6" name="Rectangle 5"/>
          <p:cNvSpPr/>
          <p:nvPr/>
        </p:nvSpPr>
        <p:spPr>
          <a:xfrm>
            <a:off x="777240" y="1554480"/>
            <a:ext cx="10634472" cy="18288"/>
          </a:xfrm>
          <a:prstGeom prst="rect">
            <a:avLst/>
          </a:prstGeom>
          <a:solidFill>
            <a:srgbClr val="E2E8F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Rectangle 6"/>
          <p:cNvSpPr/>
          <p:nvPr/>
        </p:nvSpPr>
        <p:spPr>
          <a:xfrm>
            <a:off x="777240" y="1810512"/>
            <a:ext cx="10634472" cy="2944368"/>
          </a:xfrm>
          <a:prstGeom prst="rect">
            <a:avLst/>
          </a:prstGeom>
          <a:solidFill>
            <a:srgbClr val="0B122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TextBox 7"/>
          <p:cNvSpPr txBox="1"/>
          <p:nvPr/>
        </p:nvSpPr>
        <p:spPr>
          <a:xfrm>
            <a:off x="1097280" y="1956816"/>
            <a:ext cx="9994392" cy="2651760"/>
          </a:xfrm>
          <a:prstGeom prst="rect">
            <a:avLst/>
          </a:prstGeom>
          <a:noFill/>
        </p:spPr>
        <p:txBody>
          <a:bodyPr wrap="square" anchor="t">
            <a:spAutoFit/>
          </a:bodyPr>
          <a:lstStyle/>
          <a:p>
            <a:pPr algn="l">
              <a:spcAft>
                <a:spcPts val="300"/>
              </a:spcAft>
            </a:pPr>
            <a:r>
              <a:rPr sz="1550" b="0">
                <a:solidFill>
                  <a:srgbClr val="9CDCFE"/>
                </a:solidFill>
                <a:latin typeface="Arial"/>
              </a:rPr>
              <a:t>Measure the two PARITY observables (stabilisers):</a:t>
            </a:r>
          </a:p>
          <a:p>
            <a:pPr algn="l">
              <a:spcAft>
                <a:spcPts val="300"/>
              </a:spcAft>
            </a:pPr>
            <a:r>
              <a:rPr sz="1550" b="0">
                <a:solidFill>
                  <a:srgbClr val="0B1220"/>
                </a:solidFill>
                <a:latin typeface="Arial"/>
              </a:rPr>
              <a:t> </a:t>
            </a:r>
          </a:p>
          <a:p>
            <a:pPr algn="l">
              <a:spcAft>
                <a:spcPts val="300"/>
              </a:spcAft>
            </a:pPr>
            <a:r>
              <a:rPr sz="1550" b="0">
                <a:solidFill>
                  <a:srgbClr val="9CDCFE"/>
                </a:solidFill>
                <a:latin typeface="Arial"/>
              </a:rPr>
              <a:t>   S₁ = Z₀Z₁     (parity of qubits 0 and 1)</a:t>
            </a:r>
          </a:p>
          <a:p>
            <a:pPr algn="l">
              <a:spcAft>
                <a:spcPts val="300"/>
              </a:spcAft>
            </a:pPr>
            <a:r>
              <a:rPr sz="1550" b="0">
                <a:solidFill>
                  <a:srgbClr val="9CDCFE"/>
                </a:solidFill>
                <a:latin typeface="Arial"/>
              </a:rPr>
              <a:t>   S₂ = Z₁Z₂     (parity of qubits 1 and 2)</a:t>
            </a:r>
          </a:p>
          <a:p>
            <a:pPr algn="l">
              <a:spcAft>
                <a:spcPts val="300"/>
              </a:spcAft>
            </a:pPr>
            <a:r>
              <a:rPr sz="1550" b="0">
                <a:solidFill>
                  <a:srgbClr val="0B1220"/>
                </a:solidFill>
                <a:latin typeface="Arial"/>
              </a:rPr>
              <a:t> </a:t>
            </a:r>
          </a:p>
          <a:p>
            <a:pPr algn="l">
              <a:spcAft>
                <a:spcPts val="300"/>
              </a:spcAft>
            </a:pPr>
            <a:r>
              <a:rPr sz="1550" b="0">
                <a:solidFill>
                  <a:srgbClr val="9CDCFE"/>
                </a:solidFill>
                <a:latin typeface="Arial"/>
              </a:rPr>
              <a:t>Critically, both COMMUTE with the logical operators, and:</a:t>
            </a:r>
          </a:p>
          <a:p>
            <a:pPr algn="l">
              <a:spcAft>
                <a:spcPts val="300"/>
              </a:spcAft>
            </a:pPr>
            <a:r>
              <a:rPr sz="1550" b="0">
                <a:solidFill>
                  <a:srgbClr val="9CDCFE"/>
                </a:solidFill>
                <a:latin typeface="Arial"/>
              </a:rPr>
              <a:t>   S₁|000&gt; = +|000&gt;,   S₁|111&gt; = +|111&gt;</a:t>
            </a:r>
          </a:p>
          <a:p>
            <a:pPr algn="l">
              <a:spcAft>
                <a:spcPts val="300"/>
              </a:spcAft>
            </a:pPr>
            <a:r>
              <a:rPr sz="1550" b="0">
                <a:solidFill>
                  <a:srgbClr val="9CDCFE"/>
                </a:solidFill>
                <a:latin typeface="Arial"/>
              </a:rPr>
              <a:t>so S₁ has the SAME eigenvalue on both logical basis states.</a:t>
            </a:r>
          </a:p>
        </p:txBody>
      </p:sp>
      <p:sp>
        <p:nvSpPr>
          <p:cNvPr id="9" name="Rectangle 8"/>
          <p:cNvSpPr/>
          <p:nvPr/>
        </p:nvSpPr>
        <p:spPr>
          <a:xfrm>
            <a:off x="777240" y="4956048"/>
            <a:ext cx="10634472" cy="1097280"/>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Rectangle 9"/>
          <p:cNvSpPr/>
          <p:nvPr/>
        </p:nvSpPr>
        <p:spPr>
          <a:xfrm>
            <a:off x="777240" y="4956048"/>
            <a:ext cx="82296" cy="1097280"/>
          </a:xfrm>
          <a:prstGeom prst="rect">
            <a:avLst/>
          </a:prstGeom>
          <a:solidFill>
            <a:srgbClr val="F59E0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 name="TextBox 10"/>
          <p:cNvSpPr txBox="1"/>
          <p:nvPr/>
        </p:nvSpPr>
        <p:spPr>
          <a:xfrm>
            <a:off x="1097280" y="4956048"/>
            <a:ext cx="10149840" cy="1097280"/>
          </a:xfrm>
          <a:prstGeom prst="rect">
            <a:avLst/>
          </a:prstGeom>
          <a:noFill/>
        </p:spPr>
        <p:txBody>
          <a:bodyPr wrap="square" anchor="ctr">
            <a:spAutoFit/>
          </a:bodyPr>
          <a:lstStyle/>
          <a:p>
            <a:pPr algn="l">
              <a:spcAft>
                <a:spcPts val="400"/>
              </a:spcAft>
            </a:pPr>
            <a:r>
              <a:rPr sz="1150" b="1">
                <a:solidFill>
                  <a:srgbClr val="F59E0B"/>
                </a:solidFill>
                <a:latin typeface="Arial"/>
              </a:rPr>
              <a:t>WHY THIS STEP:  </a:t>
            </a:r>
            <a:r>
              <a:rPr sz="1300" b="0">
                <a:solidFill>
                  <a:srgbClr val="161B26"/>
                </a:solidFill>
                <a:latin typeface="Arial"/>
              </a:rPr>
              <a:t>Because the eigenvalue does not depend on whether the state is |000&gt; or |111&gt;, measuring it reveals NOTHING about a and b.</a:t>
            </a:r>
          </a:p>
        </p:txBody>
      </p:sp>
      <p:sp>
        <p:nvSpPr>
          <p:cNvPr id="12" name="TextBox 11"/>
          <p:cNvSpPr txBox="1"/>
          <p:nvPr/>
        </p:nvSpPr>
        <p:spPr>
          <a:xfrm>
            <a:off x="365760" y="6446520"/>
            <a:ext cx="6858000" cy="320040"/>
          </a:xfrm>
          <a:prstGeom prst="rect">
            <a:avLst/>
          </a:prstGeom>
          <a:noFill/>
        </p:spPr>
        <p:txBody>
          <a:bodyPr wrap="square" anchor="t">
            <a:spAutoFit/>
          </a:bodyPr>
          <a:lstStyle/>
          <a:p>
            <a:pPr algn="l">
              <a:spcAft>
                <a:spcPts val="400"/>
              </a:spcAft>
            </a:pPr>
            <a:r>
              <a:rPr sz="900" b="0">
                <a:solidFill>
                  <a:srgbClr val="5B6372"/>
                </a:solidFill>
                <a:latin typeface="Arial"/>
              </a:rPr>
              <a:t>Securing the Future with Quantum Computing and Cryptography  ·  TGS-2024043419</a:t>
            </a:r>
          </a:p>
        </p:txBody>
      </p:sp>
      <p:sp>
        <p:nvSpPr>
          <p:cNvPr id="13" name="TextBox 12"/>
          <p:cNvSpPr txBox="1"/>
          <p:nvPr/>
        </p:nvSpPr>
        <p:spPr>
          <a:xfrm>
            <a:off x="4572000" y="6446520"/>
            <a:ext cx="3017520" cy="320040"/>
          </a:xfrm>
          <a:prstGeom prst="rect">
            <a:avLst/>
          </a:prstGeom>
          <a:noFill/>
        </p:spPr>
        <p:txBody>
          <a:bodyPr wrap="square" anchor="t">
            <a:spAutoFit/>
          </a:bodyPr>
          <a:lstStyle/>
          <a:p>
            <a:pPr algn="ctr">
              <a:spcAft>
                <a:spcPts val="400"/>
              </a:spcAft>
            </a:pPr>
            <a:r>
              <a:rPr sz="900" b="0">
                <a:solidFill>
                  <a:srgbClr val="5B6372"/>
                </a:solidFill>
                <a:latin typeface="Arial"/>
              </a:rPr>
              <a:t>© 2026 Tertiary Infotech Academy Pte Ltd</a:t>
            </a:r>
          </a:p>
        </p:txBody>
      </p:sp>
      <p:sp>
        <p:nvSpPr>
          <p:cNvPr id="14" name="TextBox 13"/>
          <p:cNvSpPr txBox="1"/>
          <p:nvPr/>
        </p:nvSpPr>
        <p:spPr>
          <a:xfrm>
            <a:off x="11338560" y="6446520"/>
            <a:ext cx="548640" cy="320040"/>
          </a:xfrm>
          <a:prstGeom prst="rect">
            <a:avLst/>
          </a:prstGeom>
          <a:noFill/>
        </p:spPr>
        <p:txBody>
          <a:bodyPr wrap="square" anchor="t">
            <a:spAutoFit/>
          </a:bodyPr>
          <a:lstStyle/>
          <a:p>
            <a:pPr algn="r">
              <a:spcAft>
                <a:spcPts val="400"/>
              </a:spcAft>
            </a:pPr>
            <a:r>
              <a:rPr sz="900" b="0">
                <a:solidFill>
                  <a:srgbClr val="5B6372"/>
                </a:solidFill>
                <a:latin typeface="Arial"/>
              </a:rPr>
              <a:t>243</a:t>
            </a:r>
          </a:p>
        </p:txBody>
      </p:sp>
    </p:spTree>
  </p:cSld>
  <p:clrMapOvr>
    <a:masterClrMapping/>
  </p:clrMapOvr>
</p:sld>
</file>

<file path=ppt/slides/slide245.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256032" cy="1417320"/>
          </a:xfrm>
          <a:prstGeom prst="rect">
            <a:avLst/>
          </a:prstGeom>
          <a:solidFill>
            <a:srgbClr val="7C3AE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777240" y="457200"/>
            <a:ext cx="10607040" cy="365760"/>
          </a:xfrm>
          <a:prstGeom prst="rect">
            <a:avLst/>
          </a:prstGeom>
          <a:noFill/>
        </p:spPr>
        <p:txBody>
          <a:bodyPr wrap="square" anchor="t">
            <a:spAutoFit/>
          </a:bodyPr>
          <a:lstStyle/>
          <a:p>
            <a:pPr algn="l">
              <a:spcAft>
                <a:spcPts val="400"/>
              </a:spcAft>
            </a:pPr>
            <a:r>
              <a:rPr sz="1400" b="1">
                <a:solidFill>
                  <a:srgbClr val="7C3AED"/>
                </a:solidFill>
                <a:latin typeface="Arial"/>
              </a:rPr>
              <a:t>QUANTUM ERROR CORRECTION WORKS  ·  STEP 5 OF 8</a:t>
            </a:r>
          </a:p>
        </p:txBody>
      </p:sp>
      <p:sp>
        <p:nvSpPr>
          <p:cNvPr id="5" name="TextBox 4"/>
          <p:cNvSpPr txBox="1"/>
          <p:nvPr/>
        </p:nvSpPr>
        <p:spPr>
          <a:xfrm>
            <a:off x="777240" y="822960"/>
            <a:ext cx="10881360" cy="822960"/>
          </a:xfrm>
          <a:prstGeom prst="rect">
            <a:avLst/>
          </a:prstGeom>
          <a:noFill/>
        </p:spPr>
        <p:txBody>
          <a:bodyPr wrap="square" anchor="t">
            <a:spAutoFit/>
          </a:bodyPr>
          <a:lstStyle/>
          <a:p>
            <a:pPr algn="l">
              <a:spcAft>
                <a:spcPts val="400"/>
              </a:spcAft>
            </a:pPr>
            <a:r>
              <a:rPr sz="2900" b="1">
                <a:solidFill>
                  <a:srgbClr val="161B26"/>
                </a:solidFill>
                <a:latin typeface="Arial"/>
              </a:rPr>
              <a:t>Step 5 — The syndrome table</a:t>
            </a:r>
          </a:p>
        </p:txBody>
      </p:sp>
      <p:sp>
        <p:nvSpPr>
          <p:cNvPr id="6" name="Rectangle 5"/>
          <p:cNvSpPr/>
          <p:nvPr/>
        </p:nvSpPr>
        <p:spPr>
          <a:xfrm>
            <a:off x="777240" y="1554480"/>
            <a:ext cx="10634472" cy="18288"/>
          </a:xfrm>
          <a:prstGeom prst="rect">
            <a:avLst/>
          </a:prstGeom>
          <a:solidFill>
            <a:srgbClr val="E2E8F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Rectangle 6"/>
          <p:cNvSpPr/>
          <p:nvPr/>
        </p:nvSpPr>
        <p:spPr>
          <a:xfrm>
            <a:off x="777240" y="1810512"/>
            <a:ext cx="10634472" cy="3255264"/>
          </a:xfrm>
          <a:prstGeom prst="rect">
            <a:avLst/>
          </a:prstGeom>
          <a:solidFill>
            <a:srgbClr val="0B122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TextBox 7"/>
          <p:cNvSpPr txBox="1"/>
          <p:nvPr/>
        </p:nvSpPr>
        <p:spPr>
          <a:xfrm>
            <a:off x="1097280" y="1956816"/>
            <a:ext cx="9994392" cy="2962656"/>
          </a:xfrm>
          <a:prstGeom prst="rect">
            <a:avLst/>
          </a:prstGeom>
          <a:noFill/>
        </p:spPr>
        <p:txBody>
          <a:bodyPr wrap="square" anchor="t">
            <a:spAutoFit/>
          </a:bodyPr>
          <a:lstStyle/>
          <a:p>
            <a:pPr algn="l">
              <a:spcAft>
                <a:spcPts val="300"/>
              </a:spcAft>
            </a:pPr>
            <a:r>
              <a:rPr sz="1550" b="0">
                <a:solidFill>
                  <a:srgbClr val="9CDCFE"/>
                </a:solidFill>
                <a:latin typeface="Arial"/>
              </a:rPr>
              <a:t>Apply the stabilisers to the corrupted state a|010&gt; + b|101&gt;:</a:t>
            </a:r>
          </a:p>
          <a:p>
            <a:pPr algn="l">
              <a:spcAft>
                <a:spcPts val="300"/>
              </a:spcAft>
            </a:pPr>
            <a:r>
              <a:rPr sz="1550" b="0">
                <a:solidFill>
                  <a:srgbClr val="0B1220"/>
                </a:solidFill>
                <a:latin typeface="Arial"/>
              </a:rPr>
              <a:t> </a:t>
            </a:r>
          </a:p>
          <a:p>
            <a:pPr algn="l">
              <a:spcAft>
                <a:spcPts val="300"/>
              </a:spcAft>
            </a:pPr>
            <a:r>
              <a:rPr sz="1550" b="0">
                <a:solidFill>
                  <a:srgbClr val="9CDCFE"/>
                </a:solidFill>
                <a:latin typeface="Arial"/>
              </a:rPr>
              <a:t>   error     S₁ = Z₀Z₁    S₂ = Z₁Z₂     syndrome</a:t>
            </a:r>
          </a:p>
          <a:p>
            <a:pPr algn="l">
              <a:spcAft>
                <a:spcPts val="300"/>
              </a:spcAft>
            </a:pPr>
            <a:r>
              <a:rPr sz="1550" b="0">
                <a:solidFill>
                  <a:srgbClr val="9CDCFE"/>
                </a:solidFill>
                <a:latin typeface="Arial"/>
              </a:rPr>
              <a:t>   none          +1           +1           00</a:t>
            </a:r>
          </a:p>
          <a:p>
            <a:pPr algn="l">
              <a:spcAft>
                <a:spcPts val="300"/>
              </a:spcAft>
            </a:pPr>
            <a:r>
              <a:rPr sz="1550" b="0">
                <a:solidFill>
                  <a:srgbClr val="9CDCFE"/>
                </a:solidFill>
                <a:latin typeface="Arial"/>
              </a:rPr>
              <a:t>   X on q0       -1           +1           10</a:t>
            </a:r>
          </a:p>
          <a:p>
            <a:pPr algn="l">
              <a:spcAft>
                <a:spcPts val="300"/>
              </a:spcAft>
            </a:pPr>
            <a:r>
              <a:rPr sz="1550" b="0">
                <a:solidFill>
                  <a:srgbClr val="9CDCFE"/>
                </a:solidFill>
                <a:latin typeface="Arial"/>
              </a:rPr>
              <a:t>   X on q1       -1           -1           11</a:t>
            </a:r>
          </a:p>
          <a:p>
            <a:pPr algn="l">
              <a:spcAft>
                <a:spcPts val="300"/>
              </a:spcAft>
            </a:pPr>
            <a:r>
              <a:rPr sz="1550" b="0">
                <a:solidFill>
                  <a:srgbClr val="9CDCFE"/>
                </a:solidFill>
                <a:latin typeface="Arial"/>
              </a:rPr>
              <a:t>   X on q2       +1           -1           01</a:t>
            </a:r>
          </a:p>
          <a:p>
            <a:pPr algn="l">
              <a:spcAft>
                <a:spcPts val="300"/>
              </a:spcAft>
            </a:pPr>
            <a:r>
              <a:rPr sz="1550" b="0">
                <a:solidFill>
                  <a:srgbClr val="0B1220"/>
                </a:solidFill>
                <a:latin typeface="Arial"/>
              </a:rPr>
              <a:t> </a:t>
            </a:r>
          </a:p>
          <a:p>
            <a:pPr algn="l">
              <a:spcAft>
                <a:spcPts val="300"/>
              </a:spcAft>
            </a:pPr>
            <a:r>
              <a:rPr sz="1550" b="0">
                <a:solidFill>
                  <a:srgbClr val="9CDCFE"/>
                </a:solidFill>
                <a:latin typeface="Arial"/>
              </a:rPr>
              <a:t>Every single-qubit error gives a DISTINCT syndrome.</a:t>
            </a:r>
          </a:p>
        </p:txBody>
      </p:sp>
      <p:sp>
        <p:nvSpPr>
          <p:cNvPr id="9" name="Rectangle 8"/>
          <p:cNvSpPr/>
          <p:nvPr/>
        </p:nvSpPr>
        <p:spPr>
          <a:xfrm>
            <a:off x="777240" y="5266944"/>
            <a:ext cx="10634472" cy="786384"/>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Rectangle 9"/>
          <p:cNvSpPr/>
          <p:nvPr/>
        </p:nvSpPr>
        <p:spPr>
          <a:xfrm>
            <a:off x="777240" y="5266944"/>
            <a:ext cx="82296" cy="786384"/>
          </a:xfrm>
          <a:prstGeom prst="rect">
            <a:avLst/>
          </a:prstGeom>
          <a:solidFill>
            <a:srgbClr val="F59E0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 name="TextBox 10"/>
          <p:cNvSpPr txBox="1"/>
          <p:nvPr/>
        </p:nvSpPr>
        <p:spPr>
          <a:xfrm>
            <a:off x="1097280" y="5266944"/>
            <a:ext cx="10149840" cy="786384"/>
          </a:xfrm>
          <a:prstGeom prst="rect">
            <a:avLst/>
          </a:prstGeom>
          <a:noFill/>
        </p:spPr>
        <p:txBody>
          <a:bodyPr wrap="square" anchor="ctr">
            <a:spAutoFit/>
          </a:bodyPr>
          <a:lstStyle/>
          <a:p>
            <a:pPr algn="l">
              <a:spcAft>
                <a:spcPts val="400"/>
              </a:spcAft>
            </a:pPr>
            <a:r>
              <a:rPr sz="1150" b="1">
                <a:solidFill>
                  <a:srgbClr val="F59E0B"/>
                </a:solidFill>
                <a:latin typeface="Arial"/>
              </a:rPr>
              <a:t>WHY THIS STEP:  </a:t>
            </a:r>
            <a:r>
              <a:rPr sz="1300" b="0">
                <a:solidFill>
                  <a:srgbClr val="161B26"/>
                </a:solidFill>
                <a:latin typeface="Arial"/>
              </a:rPr>
              <a:t>Four outcomes, four distinguishable cases — the code can locate any single bit flip.</a:t>
            </a:r>
          </a:p>
        </p:txBody>
      </p:sp>
      <p:sp>
        <p:nvSpPr>
          <p:cNvPr id="12" name="TextBox 11"/>
          <p:cNvSpPr txBox="1"/>
          <p:nvPr/>
        </p:nvSpPr>
        <p:spPr>
          <a:xfrm>
            <a:off x="365760" y="6446520"/>
            <a:ext cx="6858000" cy="320040"/>
          </a:xfrm>
          <a:prstGeom prst="rect">
            <a:avLst/>
          </a:prstGeom>
          <a:noFill/>
        </p:spPr>
        <p:txBody>
          <a:bodyPr wrap="square" anchor="t">
            <a:spAutoFit/>
          </a:bodyPr>
          <a:lstStyle/>
          <a:p>
            <a:pPr algn="l">
              <a:spcAft>
                <a:spcPts val="400"/>
              </a:spcAft>
            </a:pPr>
            <a:r>
              <a:rPr sz="900" b="0">
                <a:solidFill>
                  <a:srgbClr val="5B6372"/>
                </a:solidFill>
                <a:latin typeface="Arial"/>
              </a:rPr>
              <a:t>Securing the Future with Quantum Computing and Cryptography  ·  TGS-2024043419</a:t>
            </a:r>
          </a:p>
        </p:txBody>
      </p:sp>
      <p:sp>
        <p:nvSpPr>
          <p:cNvPr id="13" name="TextBox 12"/>
          <p:cNvSpPr txBox="1"/>
          <p:nvPr/>
        </p:nvSpPr>
        <p:spPr>
          <a:xfrm>
            <a:off x="4572000" y="6446520"/>
            <a:ext cx="3017520" cy="320040"/>
          </a:xfrm>
          <a:prstGeom prst="rect">
            <a:avLst/>
          </a:prstGeom>
          <a:noFill/>
        </p:spPr>
        <p:txBody>
          <a:bodyPr wrap="square" anchor="t">
            <a:spAutoFit/>
          </a:bodyPr>
          <a:lstStyle/>
          <a:p>
            <a:pPr algn="ctr">
              <a:spcAft>
                <a:spcPts val="400"/>
              </a:spcAft>
            </a:pPr>
            <a:r>
              <a:rPr sz="900" b="0">
                <a:solidFill>
                  <a:srgbClr val="5B6372"/>
                </a:solidFill>
                <a:latin typeface="Arial"/>
              </a:rPr>
              <a:t>© 2026 Tertiary Infotech Academy Pte Ltd</a:t>
            </a:r>
          </a:p>
        </p:txBody>
      </p:sp>
      <p:sp>
        <p:nvSpPr>
          <p:cNvPr id="14" name="TextBox 13"/>
          <p:cNvSpPr txBox="1"/>
          <p:nvPr/>
        </p:nvSpPr>
        <p:spPr>
          <a:xfrm>
            <a:off x="11338560" y="6446520"/>
            <a:ext cx="548640" cy="320040"/>
          </a:xfrm>
          <a:prstGeom prst="rect">
            <a:avLst/>
          </a:prstGeom>
          <a:noFill/>
        </p:spPr>
        <p:txBody>
          <a:bodyPr wrap="square" anchor="t">
            <a:spAutoFit/>
          </a:bodyPr>
          <a:lstStyle/>
          <a:p>
            <a:pPr algn="r">
              <a:spcAft>
                <a:spcPts val="400"/>
              </a:spcAft>
            </a:pPr>
            <a:r>
              <a:rPr sz="900" b="0">
                <a:solidFill>
                  <a:srgbClr val="5B6372"/>
                </a:solidFill>
                <a:latin typeface="Arial"/>
              </a:rPr>
              <a:t>244</a:t>
            </a:r>
          </a:p>
        </p:txBody>
      </p:sp>
    </p:spTree>
  </p:cSld>
  <p:clrMapOvr>
    <a:masterClrMapping/>
  </p:clrMapOvr>
</p:sld>
</file>

<file path=ppt/slides/slide246.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256032" cy="1417320"/>
          </a:xfrm>
          <a:prstGeom prst="rect">
            <a:avLst/>
          </a:prstGeom>
          <a:solidFill>
            <a:srgbClr val="7C3AE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777240" y="457200"/>
            <a:ext cx="10607040" cy="365760"/>
          </a:xfrm>
          <a:prstGeom prst="rect">
            <a:avLst/>
          </a:prstGeom>
          <a:noFill/>
        </p:spPr>
        <p:txBody>
          <a:bodyPr wrap="square" anchor="t">
            <a:spAutoFit/>
          </a:bodyPr>
          <a:lstStyle/>
          <a:p>
            <a:pPr algn="l">
              <a:spcAft>
                <a:spcPts val="400"/>
              </a:spcAft>
            </a:pPr>
            <a:r>
              <a:rPr sz="1400" b="1">
                <a:solidFill>
                  <a:srgbClr val="7C3AED"/>
                </a:solidFill>
                <a:latin typeface="Arial"/>
              </a:rPr>
              <a:t>QUANTUM ERROR CORRECTION WORKS  ·  STEP 6 OF 8</a:t>
            </a:r>
          </a:p>
        </p:txBody>
      </p:sp>
      <p:sp>
        <p:nvSpPr>
          <p:cNvPr id="5" name="TextBox 4"/>
          <p:cNvSpPr txBox="1"/>
          <p:nvPr/>
        </p:nvSpPr>
        <p:spPr>
          <a:xfrm>
            <a:off x="777240" y="822960"/>
            <a:ext cx="10881360" cy="822960"/>
          </a:xfrm>
          <a:prstGeom prst="rect">
            <a:avLst/>
          </a:prstGeom>
          <a:noFill/>
        </p:spPr>
        <p:txBody>
          <a:bodyPr wrap="square" anchor="t">
            <a:spAutoFit/>
          </a:bodyPr>
          <a:lstStyle/>
          <a:p>
            <a:pPr algn="l">
              <a:spcAft>
                <a:spcPts val="400"/>
              </a:spcAft>
            </a:pPr>
            <a:r>
              <a:rPr sz="2900" b="1">
                <a:solidFill>
                  <a:srgbClr val="161B26"/>
                </a:solidFill>
                <a:latin typeface="Arial"/>
              </a:rPr>
              <a:t>Step 6 — Why the logical state survives</a:t>
            </a:r>
          </a:p>
        </p:txBody>
      </p:sp>
      <p:sp>
        <p:nvSpPr>
          <p:cNvPr id="6" name="Rectangle 5"/>
          <p:cNvSpPr/>
          <p:nvPr/>
        </p:nvSpPr>
        <p:spPr>
          <a:xfrm>
            <a:off x="777240" y="1554480"/>
            <a:ext cx="10634472" cy="18288"/>
          </a:xfrm>
          <a:prstGeom prst="rect">
            <a:avLst/>
          </a:prstGeom>
          <a:solidFill>
            <a:srgbClr val="E2E8F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Rectangle 6"/>
          <p:cNvSpPr/>
          <p:nvPr/>
        </p:nvSpPr>
        <p:spPr>
          <a:xfrm>
            <a:off x="777240" y="1810512"/>
            <a:ext cx="10634472" cy="2633472"/>
          </a:xfrm>
          <a:prstGeom prst="rect">
            <a:avLst/>
          </a:prstGeom>
          <a:solidFill>
            <a:srgbClr val="0B122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TextBox 7"/>
          <p:cNvSpPr txBox="1"/>
          <p:nvPr/>
        </p:nvSpPr>
        <p:spPr>
          <a:xfrm>
            <a:off x="1097280" y="1956816"/>
            <a:ext cx="9994392" cy="2340864"/>
          </a:xfrm>
          <a:prstGeom prst="rect">
            <a:avLst/>
          </a:prstGeom>
          <a:noFill/>
        </p:spPr>
        <p:txBody>
          <a:bodyPr wrap="square" anchor="t">
            <a:spAutoFit/>
          </a:bodyPr>
          <a:lstStyle/>
          <a:p>
            <a:pPr algn="l">
              <a:spcAft>
                <a:spcPts val="300"/>
              </a:spcAft>
            </a:pPr>
            <a:r>
              <a:rPr sz="1550" b="0">
                <a:solidFill>
                  <a:srgbClr val="9CDCFE"/>
                </a:solidFill>
                <a:latin typeface="Arial"/>
              </a:rPr>
              <a:t>Take the corrupted state  a|010&gt; + b|101&gt;:</a:t>
            </a:r>
          </a:p>
          <a:p>
            <a:pPr algn="l">
              <a:spcAft>
                <a:spcPts val="300"/>
              </a:spcAft>
            </a:pPr>
            <a:r>
              <a:rPr sz="1550" b="0">
                <a:solidFill>
                  <a:srgbClr val="0B1220"/>
                </a:solidFill>
                <a:latin typeface="Arial"/>
              </a:rPr>
              <a:t> </a:t>
            </a:r>
          </a:p>
          <a:p>
            <a:pPr algn="l">
              <a:spcAft>
                <a:spcPts val="300"/>
              </a:spcAft>
            </a:pPr>
            <a:r>
              <a:rPr sz="1550" b="0">
                <a:solidFill>
                  <a:srgbClr val="9CDCFE"/>
                </a:solidFill>
                <a:latin typeface="Arial"/>
              </a:rPr>
              <a:t>   S₁ eigenvalue on |010&gt; = -1 ;  on |101&gt; = -1     -&gt; SAME</a:t>
            </a:r>
          </a:p>
          <a:p>
            <a:pPr algn="l">
              <a:spcAft>
                <a:spcPts val="300"/>
              </a:spcAft>
            </a:pPr>
            <a:r>
              <a:rPr sz="1550" b="0">
                <a:solidFill>
                  <a:srgbClr val="9CDCFE"/>
                </a:solidFill>
                <a:latin typeface="Arial"/>
              </a:rPr>
              <a:t>   S₂ eigenvalue on |010&gt; = -1 ;  on |101&gt; = -1     -&gt; SAME</a:t>
            </a:r>
          </a:p>
          <a:p>
            <a:pPr algn="l">
              <a:spcAft>
                <a:spcPts val="300"/>
              </a:spcAft>
            </a:pPr>
            <a:r>
              <a:rPr sz="1550" b="0">
                <a:solidFill>
                  <a:srgbClr val="0B1220"/>
                </a:solidFill>
                <a:latin typeface="Arial"/>
              </a:rPr>
              <a:t> </a:t>
            </a:r>
          </a:p>
          <a:p>
            <a:pPr algn="l">
              <a:spcAft>
                <a:spcPts val="300"/>
              </a:spcAft>
            </a:pPr>
            <a:r>
              <a:rPr sz="1550" b="0">
                <a:solidFill>
                  <a:srgbClr val="9CDCFE"/>
                </a:solidFill>
                <a:latin typeface="Arial"/>
              </a:rPr>
              <a:t>Both branches share the same syndrome, so measuring it does NOT</a:t>
            </a:r>
          </a:p>
          <a:p>
            <a:pPr algn="l">
              <a:spcAft>
                <a:spcPts val="300"/>
              </a:spcAft>
            </a:pPr>
            <a:r>
              <a:rPr sz="1550" b="0">
                <a:solidFill>
                  <a:srgbClr val="9CDCFE"/>
                </a:solidFill>
                <a:latin typeface="Arial"/>
              </a:rPr>
              <a:t>distinguish them — the superposition a·(…) + b·(…) is preserved intact.</a:t>
            </a:r>
          </a:p>
        </p:txBody>
      </p:sp>
      <p:sp>
        <p:nvSpPr>
          <p:cNvPr id="9" name="Rectangle 8"/>
          <p:cNvSpPr/>
          <p:nvPr/>
        </p:nvSpPr>
        <p:spPr>
          <a:xfrm>
            <a:off x="777240" y="4645152"/>
            <a:ext cx="10634472" cy="1408176"/>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Rectangle 9"/>
          <p:cNvSpPr/>
          <p:nvPr/>
        </p:nvSpPr>
        <p:spPr>
          <a:xfrm>
            <a:off x="777240" y="4645152"/>
            <a:ext cx="82296" cy="1408176"/>
          </a:xfrm>
          <a:prstGeom prst="rect">
            <a:avLst/>
          </a:prstGeom>
          <a:solidFill>
            <a:srgbClr val="F59E0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 name="TextBox 10"/>
          <p:cNvSpPr txBox="1"/>
          <p:nvPr/>
        </p:nvSpPr>
        <p:spPr>
          <a:xfrm>
            <a:off x="1097280" y="4645152"/>
            <a:ext cx="10149840" cy="1408176"/>
          </a:xfrm>
          <a:prstGeom prst="rect">
            <a:avLst/>
          </a:prstGeom>
          <a:noFill/>
        </p:spPr>
        <p:txBody>
          <a:bodyPr wrap="square" anchor="ctr">
            <a:spAutoFit/>
          </a:bodyPr>
          <a:lstStyle/>
          <a:p>
            <a:pPr algn="l">
              <a:spcAft>
                <a:spcPts val="400"/>
              </a:spcAft>
            </a:pPr>
            <a:r>
              <a:rPr sz="1150" b="1">
                <a:solidFill>
                  <a:srgbClr val="F59E0B"/>
                </a:solidFill>
                <a:latin typeface="Arial"/>
              </a:rPr>
              <a:t>WHY THIS STEP:  </a:t>
            </a:r>
            <a:r>
              <a:rPr sz="1300" b="0">
                <a:solidFill>
                  <a:srgbClr val="161B26"/>
                </a:solidFill>
                <a:latin typeface="Arial"/>
              </a:rPr>
              <a:t>THIS IS THE HEART OF QEC. The measurement projects onto an error subspace, not onto a logical basis state.</a:t>
            </a:r>
          </a:p>
        </p:txBody>
      </p:sp>
      <p:sp>
        <p:nvSpPr>
          <p:cNvPr id="12" name="TextBox 11"/>
          <p:cNvSpPr txBox="1"/>
          <p:nvPr/>
        </p:nvSpPr>
        <p:spPr>
          <a:xfrm>
            <a:off x="365760" y="6446520"/>
            <a:ext cx="6858000" cy="320040"/>
          </a:xfrm>
          <a:prstGeom prst="rect">
            <a:avLst/>
          </a:prstGeom>
          <a:noFill/>
        </p:spPr>
        <p:txBody>
          <a:bodyPr wrap="square" anchor="t">
            <a:spAutoFit/>
          </a:bodyPr>
          <a:lstStyle/>
          <a:p>
            <a:pPr algn="l">
              <a:spcAft>
                <a:spcPts val="400"/>
              </a:spcAft>
            </a:pPr>
            <a:r>
              <a:rPr sz="900" b="0">
                <a:solidFill>
                  <a:srgbClr val="5B6372"/>
                </a:solidFill>
                <a:latin typeface="Arial"/>
              </a:rPr>
              <a:t>Securing the Future with Quantum Computing and Cryptography  ·  TGS-2024043419</a:t>
            </a:r>
          </a:p>
        </p:txBody>
      </p:sp>
      <p:sp>
        <p:nvSpPr>
          <p:cNvPr id="13" name="TextBox 12"/>
          <p:cNvSpPr txBox="1"/>
          <p:nvPr/>
        </p:nvSpPr>
        <p:spPr>
          <a:xfrm>
            <a:off x="4572000" y="6446520"/>
            <a:ext cx="3017520" cy="320040"/>
          </a:xfrm>
          <a:prstGeom prst="rect">
            <a:avLst/>
          </a:prstGeom>
          <a:noFill/>
        </p:spPr>
        <p:txBody>
          <a:bodyPr wrap="square" anchor="t">
            <a:spAutoFit/>
          </a:bodyPr>
          <a:lstStyle/>
          <a:p>
            <a:pPr algn="ctr">
              <a:spcAft>
                <a:spcPts val="400"/>
              </a:spcAft>
            </a:pPr>
            <a:r>
              <a:rPr sz="900" b="0">
                <a:solidFill>
                  <a:srgbClr val="5B6372"/>
                </a:solidFill>
                <a:latin typeface="Arial"/>
              </a:rPr>
              <a:t>© 2026 Tertiary Infotech Academy Pte Ltd</a:t>
            </a:r>
          </a:p>
        </p:txBody>
      </p:sp>
      <p:sp>
        <p:nvSpPr>
          <p:cNvPr id="14" name="TextBox 13"/>
          <p:cNvSpPr txBox="1"/>
          <p:nvPr/>
        </p:nvSpPr>
        <p:spPr>
          <a:xfrm>
            <a:off x="11338560" y="6446520"/>
            <a:ext cx="548640" cy="320040"/>
          </a:xfrm>
          <a:prstGeom prst="rect">
            <a:avLst/>
          </a:prstGeom>
          <a:noFill/>
        </p:spPr>
        <p:txBody>
          <a:bodyPr wrap="square" anchor="t">
            <a:spAutoFit/>
          </a:bodyPr>
          <a:lstStyle/>
          <a:p>
            <a:pPr algn="r">
              <a:spcAft>
                <a:spcPts val="400"/>
              </a:spcAft>
            </a:pPr>
            <a:r>
              <a:rPr sz="900" b="0">
                <a:solidFill>
                  <a:srgbClr val="5B6372"/>
                </a:solidFill>
                <a:latin typeface="Arial"/>
              </a:rPr>
              <a:t>245</a:t>
            </a:r>
          </a:p>
        </p:txBody>
      </p:sp>
    </p:spTree>
  </p:cSld>
  <p:clrMapOvr>
    <a:masterClrMapping/>
  </p:clrMapOvr>
</p:sld>
</file>

<file path=ppt/slides/slide247.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256032" cy="1417320"/>
          </a:xfrm>
          <a:prstGeom prst="rect">
            <a:avLst/>
          </a:prstGeom>
          <a:solidFill>
            <a:srgbClr val="7C3AE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777240" y="457200"/>
            <a:ext cx="10607040" cy="365760"/>
          </a:xfrm>
          <a:prstGeom prst="rect">
            <a:avLst/>
          </a:prstGeom>
          <a:noFill/>
        </p:spPr>
        <p:txBody>
          <a:bodyPr wrap="square" anchor="t">
            <a:spAutoFit/>
          </a:bodyPr>
          <a:lstStyle/>
          <a:p>
            <a:pPr algn="l">
              <a:spcAft>
                <a:spcPts val="400"/>
              </a:spcAft>
            </a:pPr>
            <a:r>
              <a:rPr sz="1400" b="1">
                <a:solidFill>
                  <a:srgbClr val="7C3AED"/>
                </a:solidFill>
                <a:latin typeface="Arial"/>
              </a:rPr>
              <a:t>QUANTUM ERROR CORRECTION WORKS  ·  STEP 7 OF 8</a:t>
            </a:r>
          </a:p>
        </p:txBody>
      </p:sp>
      <p:sp>
        <p:nvSpPr>
          <p:cNvPr id="5" name="TextBox 4"/>
          <p:cNvSpPr txBox="1"/>
          <p:nvPr/>
        </p:nvSpPr>
        <p:spPr>
          <a:xfrm>
            <a:off x="777240" y="822960"/>
            <a:ext cx="10881360" cy="822960"/>
          </a:xfrm>
          <a:prstGeom prst="rect">
            <a:avLst/>
          </a:prstGeom>
          <a:noFill/>
        </p:spPr>
        <p:txBody>
          <a:bodyPr wrap="square" anchor="t">
            <a:spAutoFit/>
          </a:bodyPr>
          <a:lstStyle/>
          <a:p>
            <a:pPr algn="l">
              <a:spcAft>
                <a:spcPts val="400"/>
              </a:spcAft>
            </a:pPr>
            <a:r>
              <a:rPr sz="2900" b="1">
                <a:solidFill>
                  <a:srgbClr val="161B26"/>
                </a:solidFill>
                <a:latin typeface="Arial"/>
              </a:rPr>
              <a:t>Step 7 — Correction and generalisation</a:t>
            </a:r>
          </a:p>
        </p:txBody>
      </p:sp>
      <p:sp>
        <p:nvSpPr>
          <p:cNvPr id="6" name="Rectangle 5"/>
          <p:cNvSpPr/>
          <p:nvPr/>
        </p:nvSpPr>
        <p:spPr>
          <a:xfrm>
            <a:off x="777240" y="1554480"/>
            <a:ext cx="10634472" cy="18288"/>
          </a:xfrm>
          <a:prstGeom prst="rect">
            <a:avLst/>
          </a:prstGeom>
          <a:solidFill>
            <a:srgbClr val="E2E8F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Rectangle 6"/>
          <p:cNvSpPr/>
          <p:nvPr/>
        </p:nvSpPr>
        <p:spPr>
          <a:xfrm>
            <a:off x="777240" y="1810512"/>
            <a:ext cx="10634472" cy="3255264"/>
          </a:xfrm>
          <a:prstGeom prst="rect">
            <a:avLst/>
          </a:prstGeom>
          <a:solidFill>
            <a:srgbClr val="0B122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TextBox 7"/>
          <p:cNvSpPr txBox="1"/>
          <p:nvPr/>
        </p:nvSpPr>
        <p:spPr>
          <a:xfrm>
            <a:off x="1097280" y="1956816"/>
            <a:ext cx="9994392" cy="2962656"/>
          </a:xfrm>
          <a:prstGeom prst="rect">
            <a:avLst/>
          </a:prstGeom>
          <a:noFill/>
        </p:spPr>
        <p:txBody>
          <a:bodyPr wrap="square" anchor="t">
            <a:spAutoFit/>
          </a:bodyPr>
          <a:lstStyle/>
          <a:p>
            <a:pPr algn="l">
              <a:spcAft>
                <a:spcPts val="300"/>
              </a:spcAft>
            </a:pPr>
            <a:r>
              <a:rPr sz="1550" b="0">
                <a:solidFill>
                  <a:srgbClr val="9CDCFE"/>
                </a:solidFill>
                <a:latin typeface="Arial"/>
              </a:rPr>
              <a:t>Syndrome 11 -&gt; apply X to qubit 1:</a:t>
            </a:r>
          </a:p>
          <a:p>
            <a:pPr algn="l">
              <a:spcAft>
                <a:spcPts val="300"/>
              </a:spcAft>
            </a:pPr>
            <a:r>
              <a:rPr sz="1550" b="0">
                <a:solidFill>
                  <a:srgbClr val="9CDCFE"/>
                </a:solidFill>
                <a:latin typeface="Arial"/>
              </a:rPr>
              <a:t>   X₁ (a|010&gt; + b|101&gt;)  =  a|000&gt; + b|111&gt;  =  |ψ&gt;_L      RESTORED</a:t>
            </a:r>
          </a:p>
          <a:p>
            <a:pPr algn="l">
              <a:spcAft>
                <a:spcPts val="300"/>
              </a:spcAft>
            </a:pPr>
            <a:r>
              <a:rPr sz="1550" b="0">
                <a:solidFill>
                  <a:srgbClr val="0B1220"/>
                </a:solidFill>
                <a:latin typeface="Arial"/>
              </a:rPr>
              <a:t> </a:t>
            </a:r>
          </a:p>
          <a:p>
            <a:pPr algn="l">
              <a:spcAft>
                <a:spcPts val="300"/>
              </a:spcAft>
            </a:pPr>
            <a:r>
              <a:rPr sz="1550" b="0">
                <a:solidFill>
                  <a:srgbClr val="9CDCFE"/>
                </a:solidFill>
                <a:latin typeface="Arial"/>
              </a:rPr>
              <a:t>PHASE FLIPS: conjugate by Hadamards, since  H X H = Z.</a:t>
            </a:r>
          </a:p>
          <a:p>
            <a:pPr algn="l">
              <a:spcAft>
                <a:spcPts val="300"/>
              </a:spcAft>
            </a:pPr>
            <a:r>
              <a:rPr sz="1550" b="0">
                <a:solidFill>
                  <a:srgbClr val="9CDCFE"/>
                </a:solidFill>
                <a:latin typeface="Arial"/>
              </a:rPr>
              <a:t>Encode as |+++&gt; / |---&gt; and the same circuit corrects Z errors.</a:t>
            </a:r>
          </a:p>
          <a:p>
            <a:pPr algn="l">
              <a:spcAft>
                <a:spcPts val="300"/>
              </a:spcAft>
            </a:pPr>
            <a:r>
              <a:rPr sz="1550" b="0">
                <a:solidFill>
                  <a:srgbClr val="0B1220"/>
                </a:solidFill>
                <a:latin typeface="Arial"/>
              </a:rPr>
              <a:t> </a:t>
            </a:r>
          </a:p>
          <a:p>
            <a:pPr algn="l">
              <a:spcAft>
                <a:spcPts val="300"/>
              </a:spcAft>
            </a:pPr>
            <a:r>
              <a:rPr sz="1550" b="0">
                <a:solidFill>
                  <a:srgbClr val="9CDCFE"/>
                </a:solidFill>
                <a:latin typeface="Arial"/>
              </a:rPr>
              <a:t>ARBITRARY ERRORS: any single-qubit error is a linear combination</a:t>
            </a:r>
          </a:p>
          <a:p>
            <a:pPr algn="l">
              <a:spcAft>
                <a:spcPts val="300"/>
              </a:spcAft>
            </a:pPr>
            <a:r>
              <a:rPr sz="1550" b="0">
                <a:solidFill>
                  <a:srgbClr val="9CDCFE"/>
                </a:solidFill>
                <a:latin typeface="Arial"/>
              </a:rPr>
              <a:t>   E = c₀I + c₁X + c₂Y + c₃Z</a:t>
            </a:r>
          </a:p>
          <a:p>
            <a:pPr algn="l">
              <a:spcAft>
                <a:spcPts val="300"/>
              </a:spcAft>
            </a:pPr>
            <a:r>
              <a:rPr sz="1550" b="0">
                <a:solidFill>
                  <a:srgbClr val="9CDCFE"/>
                </a:solidFill>
                <a:latin typeface="Arial"/>
              </a:rPr>
              <a:t>The syndrome measurement DISCRETISES it — projecting onto one of I, X, Y, Z.</a:t>
            </a:r>
          </a:p>
        </p:txBody>
      </p:sp>
      <p:sp>
        <p:nvSpPr>
          <p:cNvPr id="9" name="Rectangle 8"/>
          <p:cNvSpPr/>
          <p:nvPr/>
        </p:nvSpPr>
        <p:spPr>
          <a:xfrm>
            <a:off x="777240" y="5266944"/>
            <a:ext cx="10634472" cy="786384"/>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Rectangle 9"/>
          <p:cNvSpPr/>
          <p:nvPr/>
        </p:nvSpPr>
        <p:spPr>
          <a:xfrm>
            <a:off x="777240" y="5266944"/>
            <a:ext cx="82296" cy="786384"/>
          </a:xfrm>
          <a:prstGeom prst="rect">
            <a:avLst/>
          </a:prstGeom>
          <a:solidFill>
            <a:srgbClr val="F59E0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 name="TextBox 10"/>
          <p:cNvSpPr txBox="1"/>
          <p:nvPr/>
        </p:nvSpPr>
        <p:spPr>
          <a:xfrm>
            <a:off x="1097280" y="5266944"/>
            <a:ext cx="10149840" cy="786384"/>
          </a:xfrm>
          <a:prstGeom prst="rect">
            <a:avLst/>
          </a:prstGeom>
          <a:noFill/>
        </p:spPr>
        <p:txBody>
          <a:bodyPr wrap="square" anchor="ctr">
            <a:spAutoFit/>
          </a:bodyPr>
          <a:lstStyle/>
          <a:p>
            <a:pPr algn="l">
              <a:spcAft>
                <a:spcPts val="400"/>
              </a:spcAft>
            </a:pPr>
            <a:r>
              <a:rPr sz="1150" b="1">
                <a:solidFill>
                  <a:srgbClr val="F59E0B"/>
                </a:solidFill>
                <a:latin typeface="Arial"/>
              </a:rPr>
              <a:t>WHY THIS STEP:  </a:t>
            </a:r>
            <a:r>
              <a:rPr sz="1300" b="0">
                <a:solidFill>
                  <a:srgbClr val="161B26"/>
                </a:solidFill>
                <a:latin typeface="Arial"/>
              </a:rPr>
              <a:t>Continuous errors become discrete ones. This 'digitisation of errors' is what makes fault tolerance possible at all.</a:t>
            </a:r>
          </a:p>
        </p:txBody>
      </p:sp>
      <p:sp>
        <p:nvSpPr>
          <p:cNvPr id="12" name="TextBox 11"/>
          <p:cNvSpPr txBox="1"/>
          <p:nvPr/>
        </p:nvSpPr>
        <p:spPr>
          <a:xfrm>
            <a:off x="365760" y="6446520"/>
            <a:ext cx="6858000" cy="320040"/>
          </a:xfrm>
          <a:prstGeom prst="rect">
            <a:avLst/>
          </a:prstGeom>
          <a:noFill/>
        </p:spPr>
        <p:txBody>
          <a:bodyPr wrap="square" anchor="t">
            <a:spAutoFit/>
          </a:bodyPr>
          <a:lstStyle/>
          <a:p>
            <a:pPr algn="l">
              <a:spcAft>
                <a:spcPts val="400"/>
              </a:spcAft>
            </a:pPr>
            <a:r>
              <a:rPr sz="900" b="0">
                <a:solidFill>
                  <a:srgbClr val="5B6372"/>
                </a:solidFill>
                <a:latin typeface="Arial"/>
              </a:rPr>
              <a:t>Securing the Future with Quantum Computing and Cryptography  ·  TGS-2024043419</a:t>
            </a:r>
          </a:p>
        </p:txBody>
      </p:sp>
      <p:sp>
        <p:nvSpPr>
          <p:cNvPr id="13" name="TextBox 12"/>
          <p:cNvSpPr txBox="1"/>
          <p:nvPr/>
        </p:nvSpPr>
        <p:spPr>
          <a:xfrm>
            <a:off x="4572000" y="6446520"/>
            <a:ext cx="3017520" cy="320040"/>
          </a:xfrm>
          <a:prstGeom prst="rect">
            <a:avLst/>
          </a:prstGeom>
          <a:noFill/>
        </p:spPr>
        <p:txBody>
          <a:bodyPr wrap="square" anchor="t">
            <a:spAutoFit/>
          </a:bodyPr>
          <a:lstStyle/>
          <a:p>
            <a:pPr algn="ctr">
              <a:spcAft>
                <a:spcPts val="400"/>
              </a:spcAft>
            </a:pPr>
            <a:r>
              <a:rPr sz="900" b="0">
                <a:solidFill>
                  <a:srgbClr val="5B6372"/>
                </a:solidFill>
                <a:latin typeface="Arial"/>
              </a:rPr>
              <a:t>© 2026 Tertiary Infotech Academy Pte Ltd</a:t>
            </a:r>
          </a:p>
        </p:txBody>
      </p:sp>
      <p:sp>
        <p:nvSpPr>
          <p:cNvPr id="14" name="TextBox 13"/>
          <p:cNvSpPr txBox="1"/>
          <p:nvPr/>
        </p:nvSpPr>
        <p:spPr>
          <a:xfrm>
            <a:off x="11338560" y="6446520"/>
            <a:ext cx="548640" cy="320040"/>
          </a:xfrm>
          <a:prstGeom prst="rect">
            <a:avLst/>
          </a:prstGeom>
          <a:noFill/>
        </p:spPr>
        <p:txBody>
          <a:bodyPr wrap="square" anchor="t">
            <a:spAutoFit/>
          </a:bodyPr>
          <a:lstStyle/>
          <a:p>
            <a:pPr algn="r">
              <a:spcAft>
                <a:spcPts val="400"/>
              </a:spcAft>
            </a:pPr>
            <a:r>
              <a:rPr sz="900" b="0">
                <a:solidFill>
                  <a:srgbClr val="5B6372"/>
                </a:solidFill>
                <a:latin typeface="Arial"/>
              </a:rPr>
              <a:t>246</a:t>
            </a:r>
          </a:p>
        </p:txBody>
      </p:sp>
    </p:spTree>
  </p:cSld>
  <p:clrMapOvr>
    <a:masterClrMapping/>
  </p:clrMapOvr>
</p:sld>
</file>

<file path=ppt/slides/slide248.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256032" cy="1417320"/>
          </a:xfrm>
          <a:prstGeom prst="rect">
            <a:avLst/>
          </a:prstGeom>
          <a:solidFill>
            <a:srgbClr val="7C3AE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777240" y="457200"/>
            <a:ext cx="10607040" cy="365760"/>
          </a:xfrm>
          <a:prstGeom prst="rect">
            <a:avLst/>
          </a:prstGeom>
          <a:noFill/>
        </p:spPr>
        <p:txBody>
          <a:bodyPr wrap="square" anchor="t">
            <a:spAutoFit/>
          </a:bodyPr>
          <a:lstStyle/>
          <a:p>
            <a:pPr algn="l">
              <a:spcAft>
                <a:spcPts val="400"/>
              </a:spcAft>
            </a:pPr>
            <a:r>
              <a:rPr sz="1400" b="1">
                <a:solidFill>
                  <a:srgbClr val="7C3AED"/>
                </a:solidFill>
                <a:latin typeface="Arial"/>
              </a:rPr>
              <a:t>QUANTUM ERROR CORRECTION WORKS  ·  STEP 8 OF 8</a:t>
            </a:r>
          </a:p>
        </p:txBody>
      </p:sp>
      <p:sp>
        <p:nvSpPr>
          <p:cNvPr id="5" name="TextBox 4"/>
          <p:cNvSpPr txBox="1"/>
          <p:nvPr/>
        </p:nvSpPr>
        <p:spPr>
          <a:xfrm>
            <a:off x="777240" y="822960"/>
            <a:ext cx="10881360" cy="822960"/>
          </a:xfrm>
          <a:prstGeom prst="rect">
            <a:avLst/>
          </a:prstGeom>
          <a:noFill/>
        </p:spPr>
        <p:txBody>
          <a:bodyPr wrap="square" anchor="t">
            <a:spAutoFit/>
          </a:bodyPr>
          <a:lstStyle/>
          <a:p>
            <a:pPr algn="l">
              <a:spcAft>
                <a:spcPts val="400"/>
              </a:spcAft>
            </a:pPr>
            <a:r>
              <a:rPr sz="2900" b="1">
                <a:solidFill>
                  <a:srgbClr val="161B26"/>
                </a:solidFill>
                <a:latin typeface="Arial"/>
              </a:rPr>
              <a:t>Step 8 — Shor, Steane and the threshold</a:t>
            </a:r>
          </a:p>
        </p:txBody>
      </p:sp>
      <p:sp>
        <p:nvSpPr>
          <p:cNvPr id="6" name="Rectangle 5"/>
          <p:cNvSpPr/>
          <p:nvPr/>
        </p:nvSpPr>
        <p:spPr>
          <a:xfrm>
            <a:off x="777240" y="1554480"/>
            <a:ext cx="10634472" cy="18288"/>
          </a:xfrm>
          <a:prstGeom prst="rect">
            <a:avLst/>
          </a:prstGeom>
          <a:solidFill>
            <a:srgbClr val="E2E8F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Rectangle 6"/>
          <p:cNvSpPr/>
          <p:nvPr/>
        </p:nvSpPr>
        <p:spPr>
          <a:xfrm>
            <a:off x="777240" y="1810512"/>
            <a:ext cx="10634472" cy="3255264"/>
          </a:xfrm>
          <a:prstGeom prst="rect">
            <a:avLst/>
          </a:prstGeom>
          <a:solidFill>
            <a:srgbClr val="0B122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TextBox 7"/>
          <p:cNvSpPr txBox="1"/>
          <p:nvPr/>
        </p:nvSpPr>
        <p:spPr>
          <a:xfrm>
            <a:off x="1097280" y="1956816"/>
            <a:ext cx="9994392" cy="2962656"/>
          </a:xfrm>
          <a:prstGeom prst="rect">
            <a:avLst/>
          </a:prstGeom>
          <a:noFill/>
        </p:spPr>
        <p:txBody>
          <a:bodyPr wrap="square" anchor="t">
            <a:spAutoFit/>
          </a:bodyPr>
          <a:lstStyle/>
          <a:p>
            <a:pPr algn="l">
              <a:spcAft>
                <a:spcPts val="300"/>
              </a:spcAft>
            </a:pPr>
            <a:r>
              <a:rPr sz="1550" b="0">
                <a:solidFill>
                  <a:srgbClr val="9CDCFE"/>
                </a:solidFill>
                <a:latin typeface="Arial"/>
              </a:rPr>
              <a:t>Shor 9-qubit  = phase-flip code (3) concatenated with bit-flip code (3)</a:t>
            </a:r>
          </a:p>
          <a:p>
            <a:pPr algn="l">
              <a:spcAft>
                <a:spcPts val="300"/>
              </a:spcAft>
            </a:pPr>
            <a:r>
              <a:rPr sz="1550" b="0">
                <a:solidFill>
                  <a:srgbClr val="9CDCFE"/>
                </a:solidFill>
                <a:latin typeface="Arial"/>
              </a:rPr>
              <a:t>                -&gt; corrects ANY single-qubit error.</a:t>
            </a:r>
          </a:p>
          <a:p>
            <a:pPr algn="l">
              <a:spcAft>
                <a:spcPts val="300"/>
              </a:spcAft>
            </a:pPr>
            <a:r>
              <a:rPr sz="1550" b="0">
                <a:solidFill>
                  <a:srgbClr val="9CDCFE"/>
                </a:solidFill>
                <a:latin typeface="Arial"/>
              </a:rPr>
              <a:t>Steane 7-qubit = CSS code from the [7,4] Hamming code — same protection,</a:t>
            </a:r>
          </a:p>
          <a:p>
            <a:pPr algn="l">
              <a:spcAft>
                <a:spcPts val="300"/>
              </a:spcAft>
            </a:pPr>
            <a:r>
              <a:rPr sz="1550" b="0">
                <a:solidFill>
                  <a:srgbClr val="9CDCFE"/>
                </a:solidFill>
                <a:latin typeface="Arial"/>
              </a:rPr>
              <a:t>                fewer qubits, and transversal Clifford gates.</a:t>
            </a:r>
          </a:p>
          <a:p>
            <a:pPr algn="l">
              <a:spcAft>
                <a:spcPts val="300"/>
              </a:spcAft>
            </a:pPr>
            <a:r>
              <a:rPr sz="1550" b="0">
                <a:solidFill>
                  <a:srgbClr val="9CDCFE"/>
                </a:solidFill>
                <a:latin typeface="Arial"/>
              </a:rPr>
              <a:t>Surface code   = 2D lattice, nearest-neighbour only, threshold ~1%.</a:t>
            </a:r>
          </a:p>
          <a:p>
            <a:pPr algn="l">
              <a:spcAft>
                <a:spcPts val="300"/>
              </a:spcAft>
            </a:pPr>
            <a:r>
              <a:rPr sz="1550" b="0">
                <a:solidFill>
                  <a:srgbClr val="0B1220"/>
                </a:solidFill>
                <a:latin typeface="Arial"/>
              </a:rPr>
              <a:t> </a:t>
            </a:r>
          </a:p>
          <a:p>
            <a:pPr algn="l">
              <a:spcAft>
                <a:spcPts val="300"/>
              </a:spcAft>
            </a:pPr>
            <a:r>
              <a:rPr sz="1550" b="0">
                <a:solidFill>
                  <a:srgbClr val="9CDCFE"/>
                </a:solidFill>
                <a:latin typeface="Arial"/>
              </a:rPr>
              <a:t>THRESHOLD THEOREM: if the physical error rate p is below a threshold p_th,</a:t>
            </a:r>
          </a:p>
          <a:p>
            <a:pPr algn="l">
              <a:spcAft>
                <a:spcPts val="300"/>
              </a:spcAft>
            </a:pPr>
            <a:r>
              <a:rPr sz="1550" b="0">
                <a:solidFill>
                  <a:srgbClr val="9CDCFE"/>
                </a:solidFill>
                <a:latin typeface="Arial"/>
              </a:rPr>
              <a:t>concatenating the code to level L suppresses the logical error rate as</a:t>
            </a:r>
          </a:p>
          <a:p>
            <a:pPr algn="l">
              <a:spcAft>
                <a:spcPts val="300"/>
              </a:spcAft>
            </a:pPr>
            <a:r>
              <a:rPr sz="1550" b="0">
                <a:solidFill>
                  <a:srgbClr val="9CDCFE"/>
                </a:solidFill>
                <a:latin typeface="Arial"/>
              </a:rPr>
              <a:t>   p_L  ≈  p_th (p/p_th)^(2^L)     -&gt;  doubly exponential suppression.</a:t>
            </a:r>
          </a:p>
        </p:txBody>
      </p:sp>
      <p:sp>
        <p:nvSpPr>
          <p:cNvPr id="9" name="Rectangle 8"/>
          <p:cNvSpPr/>
          <p:nvPr/>
        </p:nvSpPr>
        <p:spPr>
          <a:xfrm>
            <a:off x="777240" y="5266944"/>
            <a:ext cx="10634472" cy="786384"/>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Rectangle 9"/>
          <p:cNvSpPr/>
          <p:nvPr/>
        </p:nvSpPr>
        <p:spPr>
          <a:xfrm>
            <a:off x="777240" y="5266944"/>
            <a:ext cx="82296" cy="786384"/>
          </a:xfrm>
          <a:prstGeom prst="rect">
            <a:avLst/>
          </a:prstGeom>
          <a:solidFill>
            <a:srgbClr val="F59E0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 name="TextBox 10"/>
          <p:cNvSpPr txBox="1"/>
          <p:nvPr/>
        </p:nvSpPr>
        <p:spPr>
          <a:xfrm>
            <a:off x="1097280" y="5266944"/>
            <a:ext cx="10149840" cy="786384"/>
          </a:xfrm>
          <a:prstGeom prst="rect">
            <a:avLst/>
          </a:prstGeom>
          <a:noFill/>
        </p:spPr>
        <p:txBody>
          <a:bodyPr wrap="square" anchor="ctr">
            <a:spAutoFit/>
          </a:bodyPr>
          <a:lstStyle/>
          <a:p>
            <a:pPr algn="l">
              <a:spcAft>
                <a:spcPts val="400"/>
              </a:spcAft>
            </a:pPr>
            <a:r>
              <a:rPr sz="1150" b="1">
                <a:solidFill>
                  <a:srgbClr val="F59E0B"/>
                </a:solidFill>
                <a:latin typeface="Arial"/>
              </a:rPr>
              <a:t>WHY THIS STEP:  </a:t>
            </a:r>
            <a:r>
              <a:rPr sz="1300" b="0">
                <a:solidFill>
                  <a:srgbClr val="161B26"/>
                </a:solidFill>
                <a:latin typeface="Arial"/>
              </a:rPr>
              <a:t>Below threshold, adding qubits makes the computer MORE reliable — that is the entire promise of fault-tolerant quantum computing.</a:t>
            </a:r>
          </a:p>
        </p:txBody>
      </p:sp>
      <p:sp>
        <p:nvSpPr>
          <p:cNvPr id="12" name="TextBox 11"/>
          <p:cNvSpPr txBox="1"/>
          <p:nvPr/>
        </p:nvSpPr>
        <p:spPr>
          <a:xfrm>
            <a:off x="365760" y="6446520"/>
            <a:ext cx="6858000" cy="320040"/>
          </a:xfrm>
          <a:prstGeom prst="rect">
            <a:avLst/>
          </a:prstGeom>
          <a:noFill/>
        </p:spPr>
        <p:txBody>
          <a:bodyPr wrap="square" anchor="t">
            <a:spAutoFit/>
          </a:bodyPr>
          <a:lstStyle/>
          <a:p>
            <a:pPr algn="l">
              <a:spcAft>
                <a:spcPts val="400"/>
              </a:spcAft>
            </a:pPr>
            <a:r>
              <a:rPr sz="900" b="0">
                <a:solidFill>
                  <a:srgbClr val="5B6372"/>
                </a:solidFill>
                <a:latin typeface="Arial"/>
              </a:rPr>
              <a:t>Securing the Future with Quantum Computing and Cryptography  ·  TGS-2024043419</a:t>
            </a:r>
          </a:p>
        </p:txBody>
      </p:sp>
      <p:sp>
        <p:nvSpPr>
          <p:cNvPr id="13" name="TextBox 12"/>
          <p:cNvSpPr txBox="1"/>
          <p:nvPr/>
        </p:nvSpPr>
        <p:spPr>
          <a:xfrm>
            <a:off x="4572000" y="6446520"/>
            <a:ext cx="3017520" cy="320040"/>
          </a:xfrm>
          <a:prstGeom prst="rect">
            <a:avLst/>
          </a:prstGeom>
          <a:noFill/>
        </p:spPr>
        <p:txBody>
          <a:bodyPr wrap="square" anchor="t">
            <a:spAutoFit/>
          </a:bodyPr>
          <a:lstStyle/>
          <a:p>
            <a:pPr algn="ctr">
              <a:spcAft>
                <a:spcPts val="400"/>
              </a:spcAft>
            </a:pPr>
            <a:r>
              <a:rPr sz="900" b="0">
                <a:solidFill>
                  <a:srgbClr val="5B6372"/>
                </a:solidFill>
                <a:latin typeface="Arial"/>
              </a:rPr>
              <a:t>© 2026 Tertiary Infotech Academy Pte Ltd</a:t>
            </a:r>
          </a:p>
        </p:txBody>
      </p:sp>
      <p:sp>
        <p:nvSpPr>
          <p:cNvPr id="14" name="TextBox 13"/>
          <p:cNvSpPr txBox="1"/>
          <p:nvPr/>
        </p:nvSpPr>
        <p:spPr>
          <a:xfrm>
            <a:off x="11338560" y="6446520"/>
            <a:ext cx="548640" cy="320040"/>
          </a:xfrm>
          <a:prstGeom prst="rect">
            <a:avLst/>
          </a:prstGeom>
          <a:noFill/>
        </p:spPr>
        <p:txBody>
          <a:bodyPr wrap="square" anchor="t">
            <a:spAutoFit/>
          </a:bodyPr>
          <a:lstStyle/>
          <a:p>
            <a:pPr algn="r">
              <a:spcAft>
                <a:spcPts val="400"/>
              </a:spcAft>
            </a:pPr>
            <a:r>
              <a:rPr sz="900" b="0">
                <a:solidFill>
                  <a:srgbClr val="5B6372"/>
                </a:solidFill>
                <a:latin typeface="Arial"/>
              </a:rPr>
              <a:t>247</a:t>
            </a:r>
          </a:p>
        </p:txBody>
      </p:sp>
    </p:spTree>
  </p:cSld>
  <p:clrMapOvr>
    <a:masterClrMapping/>
  </p:clrMapOvr>
</p:sld>
</file>

<file path=ppt/slides/slide249.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256032" cy="1417320"/>
          </a:xfrm>
          <a:prstGeom prst="rect">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777240" y="457200"/>
            <a:ext cx="10607040" cy="365760"/>
          </a:xfrm>
          <a:prstGeom prst="rect">
            <a:avLst/>
          </a:prstGeom>
          <a:noFill/>
        </p:spPr>
        <p:txBody>
          <a:bodyPr wrap="square" anchor="t">
            <a:spAutoFit/>
          </a:bodyPr>
          <a:lstStyle/>
          <a:p>
            <a:pPr algn="l">
              <a:spcAft>
                <a:spcPts val="400"/>
              </a:spcAft>
            </a:pPr>
            <a:r>
              <a:rPr sz="1400" b="1">
                <a:solidFill>
                  <a:srgbClr val="10B981"/>
                </a:solidFill>
                <a:latin typeface="Arial"/>
              </a:rPr>
              <a:t>QED</a:t>
            </a:r>
          </a:p>
        </p:txBody>
      </p:sp>
      <p:sp>
        <p:nvSpPr>
          <p:cNvPr id="5" name="TextBox 4"/>
          <p:cNvSpPr txBox="1"/>
          <p:nvPr/>
        </p:nvSpPr>
        <p:spPr>
          <a:xfrm>
            <a:off x="777240" y="822960"/>
            <a:ext cx="10881360" cy="822960"/>
          </a:xfrm>
          <a:prstGeom prst="rect">
            <a:avLst/>
          </a:prstGeom>
          <a:noFill/>
        </p:spPr>
        <p:txBody>
          <a:bodyPr wrap="square" anchor="t">
            <a:spAutoFit/>
          </a:bodyPr>
          <a:lstStyle/>
          <a:p>
            <a:pPr algn="l">
              <a:spcAft>
                <a:spcPts val="400"/>
              </a:spcAft>
            </a:pPr>
            <a:r>
              <a:rPr sz="2900" b="1">
                <a:solidFill>
                  <a:srgbClr val="161B26"/>
                </a:solidFill>
                <a:latin typeface="Arial"/>
              </a:rPr>
              <a:t>Quantum Error Correction Works — Result</a:t>
            </a:r>
          </a:p>
        </p:txBody>
      </p:sp>
      <p:sp>
        <p:nvSpPr>
          <p:cNvPr id="6" name="Rectangle 5"/>
          <p:cNvSpPr/>
          <p:nvPr/>
        </p:nvSpPr>
        <p:spPr>
          <a:xfrm>
            <a:off x="777240" y="1554480"/>
            <a:ext cx="10634472" cy="18288"/>
          </a:xfrm>
          <a:prstGeom prst="rect">
            <a:avLst/>
          </a:prstGeom>
          <a:solidFill>
            <a:srgbClr val="E2E8F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Rectangle 6"/>
          <p:cNvSpPr/>
          <p:nvPr/>
        </p:nvSpPr>
        <p:spPr>
          <a:xfrm>
            <a:off x="777240" y="1783080"/>
            <a:ext cx="10634472" cy="1828800"/>
          </a:xfrm>
          <a:prstGeom prst="rect">
            <a:avLst/>
          </a:prstGeom>
          <a:solidFill>
            <a:srgbClr val="E8F7E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Rectangle 7"/>
          <p:cNvSpPr/>
          <p:nvPr/>
        </p:nvSpPr>
        <p:spPr>
          <a:xfrm>
            <a:off x="777240" y="1783080"/>
            <a:ext cx="100584" cy="1828800"/>
          </a:xfrm>
          <a:prstGeom prst="rect">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TextBox 8"/>
          <p:cNvSpPr txBox="1"/>
          <p:nvPr/>
        </p:nvSpPr>
        <p:spPr>
          <a:xfrm>
            <a:off x="1143000" y="1965960"/>
            <a:ext cx="10058400" cy="365760"/>
          </a:xfrm>
          <a:prstGeom prst="rect">
            <a:avLst/>
          </a:prstGeom>
          <a:noFill/>
        </p:spPr>
        <p:txBody>
          <a:bodyPr wrap="square" anchor="t">
            <a:spAutoFit/>
          </a:bodyPr>
          <a:lstStyle/>
          <a:p>
            <a:pPr algn="l">
              <a:spcAft>
                <a:spcPts val="400"/>
              </a:spcAft>
            </a:pPr>
            <a:r>
              <a:rPr sz="1200" b="1">
                <a:solidFill>
                  <a:srgbClr val="127A3E"/>
                </a:solidFill>
                <a:latin typeface="Arial"/>
              </a:rPr>
              <a:t>RESULT</a:t>
            </a:r>
          </a:p>
        </p:txBody>
      </p:sp>
      <p:sp>
        <p:nvSpPr>
          <p:cNvPr id="10" name="TextBox 9"/>
          <p:cNvSpPr txBox="1"/>
          <p:nvPr/>
        </p:nvSpPr>
        <p:spPr>
          <a:xfrm>
            <a:off x="1143000" y="2377440"/>
            <a:ext cx="10058400" cy="1143000"/>
          </a:xfrm>
          <a:prstGeom prst="rect">
            <a:avLst/>
          </a:prstGeom>
          <a:noFill/>
        </p:spPr>
        <p:txBody>
          <a:bodyPr wrap="square" anchor="t">
            <a:spAutoFit/>
          </a:bodyPr>
          <a:lstStyle/>
          <a:p>
            <a:pPr algn="l">
              <a:spcAft>
                <a:spcPts val="400"/>
              </a:spcAft>
            </a:pPr>
            <a:r>
              <a:rPr sz="1550" b="1">
                <a:solidFill>
                  <a:srgbClr val="161B26"/>
                </a:solidFill>
                <a:latin typeface="Arial"/>
              </a:rPr>
              <a:t>The syndrome identifies the error without revealing a or b, so applying the indicated Pauli correction restores the logical state exactly. Below the error threshold, concatenation suppresses errors faster than they accumulate.</a:t>
            </a:r>
          </a:p>
        </p:txBody>
      </p:sp>
      <p:sp>
        <p:nvSpPr>
          <p:cNvPr id="11" name="Rectangle 10"/>
          <p:cNvSpPr/>
          <p:nvPr/>
        </p:nvSpPr>
        <p:spPr>
          <a:xfrm>
            <a:off x="777240" y="3840480"/>
            <a:ext cx="10634472" cy="2148840"/>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 name="Rectangle 11"/>
          <p:cNvSpPr/>
          <p:nvPr/>
        </p:nvSpPr>
        <p:spPr>
          <a:xfrm>
            <a:off x="777240" y="3840480"/>
            <a:ext cx="100584" cy="2148840"/>
          </a:xfrm>
          <a:prstGeom prst="rect">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 name="TextBox 12"/>
          <p:cNvSpPr txBox="1"/>
          <p:nvPr/>
        </p:nvSpPr>
        <p:spPr>
          <a:xfrm>
            <a:off x="1143000" y="4023360"/>
            <a:ext cx="10058400" cy="365760"/>
          </a:xfrm>
          <a:prstGeom prst="rect">
            <a:avLst/>
          </a:prstGeom>
          <a:noFill/>
        </p:spPr>
        <p:txBody>
          <a:bodyPr wrap="square" anchor="t">
            <a:spAutoFit/>
          </a:bodyPr>
          <a:lstStyle/>
          <a:p>
            <a:pPr algn="l">
              <a:spcAft>
                <a:spcPts val="400"/>
              </a:spcAft>
            </a:pPr>
            <a:r>
              <a:rPr sz="1200" b="1">
                <a:solidFill>
                  <a:srgbClr val="1F6FEB"/>
                </a:solidFill>
                <a:latin typeface="Arial"/>
              </a:rPr>
              <a:t>WHY IT MATTERS</a:t>
            </a:r>
          </a:p>
        </p:txBody>
      </p:sp>
      <p:sp>
        <p:nvSpPr>
          <p:cNvPr id="14" name="TextBox 13"/>
          <p:cNvSpPr txBox="1"/>
          <p:nvPr/>
        </p:nvSpPr>
        <p:spPr>
          <a:xfrm>
            <a:off x="1143000" y="4434840"/>
            <a:ext cx="10058400" cy="1463040"/>
          </a:xfrm>
          <a:prstGeom prst="rect">
            <a:avLst/>
          </a:prstGeom>
          <a:noFill/>
        </p:spPr>
        <p:txBody>
          <a:bodyPr wrap="square" anchor="t">
            <a:spAutoFit/>
          </a:bodyPr>
          <a:lstStyle/>
          <a:p>
            <a:pPr algn="l">
              <a:spcAft>
                <a:spcPts val="400"/>
              </a:spcAft>
            </a:pPr>
            <a:r>
              <a:rPr sz="1450" b="0">
                <a:solidFill>
                  <a:srgbClr val="161B26"/>
                </a:solidFill>
                <a:latin typeface="Arial"/>
              </a:rPr>
              <a:t>Without QEC, decoherence destroys any long computation. Shor's algorithm on RSA-2048 needs billions of reliable operations — impossible with raw physical qubits at today's error rates, but achievable with error-corrected logical qubits.</a:t>
            </a:r>
          </a:p>
        </p:txBody>
      </p:sp>
      <p:sp>
        <p:nvSpPr>
          <p:cNvPr id="15" name="TextBox 14"/>
          <p:cNvSpPr txBox="1"/>
          <p:nvPr/>
        </p:nvSpPr>
        <p:spPr>
          <a:xfrm>
            <a:off x="365760" y="6446520"/>
            <a:ext cx="6858000" cy="320040"/>
          </a:xfrm>
          <a:prstGeom prst="rect">
            <a:avLst/>
          </a:prstGeom>
          <a:noFill/>
        </p:spPr>
        <p:txBody>
          <a:bodyPr wrap="square" anchor="t">
            <a:spAutoFit/>
          </a:bodyPr>
          <a:lstStyle/>
          <a:p>
            <a:pPr algn="l">
              <a:spcAft>
                <a:spcPts val="400"/>
              </a:spcAft>
            </a:pPr>
            <a:r>
              <a:rPr sz="900" b="0">
                <a:solidFill>
                  <a:srgbClr val="5B6372"/>
                </a:solidFill>
                <a:latin typeface="Arial"/>
              </a:rPr>
              <a:t>Securing the Future with Quantum Computing and Cryptography  ·  TGS-2024043419</a:t>
            </a:r>
          </a:p>
        </p:txBody>
      </p:sp>
      <p:sp>
        <p:nvSpPr>
          <p:cNvPr id="16" name="TextBox 15"/>
          <p:cNvSpPr txBox="1"/>
          <p:nvPr/>
        </p:nvSpPr>
        <p:spPr>
          <a:xfrm>
            <a:off x="4572000" y="6446520"/>
            <a:ext cx="3017520" cy="320040"/>
          </a:xfrm>
          <a:prstGeom prst="rect">
            <a:avLst/>
          </a:prstGeom>
          <a:noFill/>
        </p:spPr>
        <p:txBody>
          <a:bodyPr wrap="square" anchor="t">
            <a:spAutoFit/>
          </a:bodyPr>
          <a:lstStyle/>
          <a:p>
            <a:pPr algn="ctr">
              <a:spcAft>
                <a:spcPts val="400"/>
              </a:spcAft>
            </a:pPr>
            <a:r>
              <a:rPr sz="900" b="0">
                <a:solidFill>
                  <a:srgbClr val="5B6372"/>
                </a:solidFill>
                <a:latin typeface="Arial"/>
              </a:rPr>
              <a:t>© 2026 Tertiary Infotech Academy Pte Ltd</a:t>
            </a:r>
          </a:p>
        </p:txBody>
      </p:sp>
      <p:sp>
        <p:nvSpPr>
          <p:cNvPr id="17" name="TextBox 16"/>
          <p:cNvSpPr txBox="1"/>
          <p:nvPr/>
        </p:nvSpPr>
        <p:spPr>
          <a:xfrm>
            <a:off x="11338560" y="6446520"/>
            <a:ext cx="548640" cy="320040"/>
          </a:xfrm>
          <a:prstGeom prst="rect">
            <a:avLst/>
          </a:prstGeom>
          <a:noFill/>
        </p:spPr>
        <p:txBody>
          <a:bodyPr wrap="square" anchor="t">
            <a:spAutoFit/>
          </a:bodyPr>
          <a:lstStyle/>
          <a:p>
            <a:pPr algn="r">
              <a:spcAft>
                <a:spcPts val="400"/>
              </a:spcAft>
            </a:pPr>
            <a:r>
              <a:rPr sz="900" b="0">
                <a:solidFill>
                  <a:srgbClr val="5B6372"/>
                </a:solidFill>
                <a:latin typeface="Arial"/>
              </a:rPr>
              <a:t>248</a:t>
            </a:r>
          </a:p>
        </p:txBody>
      </p:sp>
    </p:spTree>
  </p:cSld>
  <p:clrMapOvr>
    <a:masterClrMapping/>
  </p:clrMapOvr>
</p:sld>
</file>

<file path=ppt/slides/slide250.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256032" cy="1417320"/>
          </a:xfrm>
          <a:prstGeom prst="rect">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777240" y="457200"/>
            <a:ext cx="10607040" cy="365760"/>
          </a:xfrm>
          <a:prstGeom prst="rect">
            <a:avLst/>
          </a:prstGeom>
          <a:noFill/>
        </p:spPr>
        <p:txBody>
          <a:bodyPr wrap="square" anchor="t">
            <a:spAutoFit/>
          </a:bodyPr>
          <a:lstStyle/>
          <a:p>
            <a:pPr algn="l">
              <a:spcAft>
                <a:spcPts val="400"/>
              </a:spcAft>
            </a:pPr>
            <a:r>
              <a:rPr sz="1400" b="1">
                <a:solidFill>
                  <a:srgbClr val="1F6FEB"/>
                </a:solidFill>
                <a:latin typeface="Arial"/>
              </a:rPr>
              <a:t>WHAT YOU'LL DO</a:t>
            </a:r>
          </a:p>
        </p:txBody>
      </p:sp>
      <p:sp>
        <p:nvSpPr>
          <p:cNvPr id="5" name="TextBox 4"/>
          <p:cNvSpPr txBox="1"/>
          <p:nvPr/>
        </p:nvSpPr>
        <p:spPr>
          <a:xfrm>
            <a:off x="777240" y="822960"/>
            <a:ext cx="10881360" cy="822960"/>
          </a:xfrm>
          <a:prstGeom prst="rect">
            <a:avLst/>
          </a:prstGeom>
          <a:noFill/>
        </p:spPr>
        <p:txBody>
          <a:bodyPr wrap="square" anchor="t">
            <a:spAutoFit/>
          </a:bodyPr>
          <a:lstStyle/>
          <a:p>
            <a:pPr algn="l">
              <a:spcAft>
                <a:spcPts val="400"/>
              </a:spcAft>
            </a:pPr>
            <a:r>
              <a:rPr sz="2900" b="1">
                <a:solidFill>
                  <a:srgbClr val="161B26"/>
                </a:solidFill>
                <a:latin typeface="Arial"/>
              </a:rPr>
              <a:t>Hands-On Activities — Quantum Error Correction</a:t>
            </a:r>
          </a:p>
        </p:txBody>
      </p:sp>
      <p:sp>
        <p:nvSpPr>
          <p:cNvPr id="6" name="Rectangle 5"/>
          <p:cNvSpPr/>
          <p:nvPr/>
        </p:nvSpPr>
        <p:spPr>
          <a:xfrm>
            <a:off x="777240" y="1554480"/>
            <a:ext cx="10634472" cy="18288"/>
          </a:xfrm>
          <a:prstGeom prst="rect">
            <a:avLst/>
          </a:prstGeom>
          <a:solidFill>
            <a:srgbClr val="E2E8F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Rectangle 6"/>
          <p:cNvSpPr/>
          <p:nvPr/>
        </p:nvSpPr>
        <p:spPr>
          <a:xfrm>
            <a:off x="777240" y="1783080"/>
            <a:ext cx="3337560" cy="4297680"/>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Rectangle 7"/>
          <p:cNvSpPr/>
          <p:nvPr/>
        </p:nvSpPr>
        <p:spPr>
          <a:xfrm>
            <a:off x="777240" y="1783080"/>
            <a:ext cx="3337560" cy="109728"/>
          </a:xfrm>
          <a:prstGeom prst="rect">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TextBox 8"/>
          <p:cNvSpPr txBox="1"/>
          <p:nvPr/>
        </p:nvSpPr>
        <p:spPr>
          <a:xfrm>
            <a:off x="1005840" y="2011680"/>
            <a:ext cx="2926080" cy="548640"/>
          </a:xfrm>
          <a:prstGeom prst="rect">
            <a:avLst/>
          </a:prstGeom>
          <a:noFill/>
        </p:spPr>
        <p:txBody>
          <a:bodyPr wrap="square" anchor="t">
            <a:spAutoFit/>
          </a:bodyPr>
          <a:lstStyle/>
          <a:p>
            <a:pPr algn="l">
              <a:spcAft>
                <a:spcPts val="400"/>
              </a:spcAft>
            </a:pPr>
            <a:r>
              <a:rPr sz="1900" b="1">
                <a:solidFill>
                  <a:srgbClr val="1F6FEB"/>
                </a:solidFill>
                <a:latin typeface="Arial"/>
              </a:rPr>
              <a:t>Activity 17</a:t>
            </a:r>
          </a:p>
        </p:txBody>
      </p:sp>
      <p:sp>
        <p:nvSpPr>
          <p:cNvPr id="10" name="TextBox 9"/>
          <p:cNvSpPr txBox="1"/>
          <p:nvPr/>
        </p:nvSpPr>
        <p:spPr>
          <a:xfrm>
            <a:off x="1005840" y="2697480"/>
            <a:ext cx="2926080" cy="3108960"/>
          </a:xfrm>
          <a:prstGeom prst="rect">
            <a:avLst/>
          </a:prstGeom>
          <a:noFill/>
        </p:spPr>
        <p:txBody>
          <a:bodyPr wrap="square">
            <a:spAutoFit/>
          </a:bodyPr>
          <a:lstStyle/>
          <a:p>
            <a:pPr>
              <a:spcAft>
                <a:spcPts val="900"/>
              </a:spcAft>
            </a:pPr>
            <a:r>
              <a:rPr sz="1400">
                <a:solidFill>
                  <a:srgbClr val="161B26"/>
                </a:solidFill>
                <a:latin typeface="Arial"/>
              </a:rPr>
              <a:t>•  Bit-Flip and Phase-Flip Error Correction Codes</a:t>
            </a:r>
          </a:p>
        </p:txBody>
      </p:sp>
      <p:sp>
        <p:nvSpPr>
          <p:cNvPr id="11" name="Rectangle 10"/>
          <p:cNvSpPr/>
          <p:nvPr/>
        </p:nvSpPr>
        <p:spPr>
          <a:xfrm>
            <a:off x="4572000" y="1783080"/>
            <a:ext cx="3337560" cy="4297680"/>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 name="Rectangle 11"/>
          <p:cNvSpPr/>
          <p:nvPr/>
        </p:nvSpPr>
        <p:spPr>
          <a:xfrm>
            <a:off x="4572000" y="1783080"/>
            <a:ext cx="3337560" cy="109728"/>
          </a:xfrm>
          <a:prstGeom prst="rect">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 name="TextBox 12"/>
          <p:cNvSpPr txBox="1"/>
          <p:nvPr/>
        </p:nvSpPr>
        <p:spPr>
          <a:xfrm>
            <a:off x="4800600" y="2011680"/>
            <a:ext cx="2926080" cy="548640"/>
          </a:xfrm>
          <a:prstGeom prst="rect">
            <a:avLst/>
          </a:prstGeom>
          <a:noFill/>
        </p:spPr>
        <p:txBody>
          <a:bodyPr wrap="square" anchor="t">
            <a:spAutoFit/>
          </a:bodyPr>
          <a:lstStyle/>
          <a:p>
            <a:pPr algn="l">
              <a:spcAft>
                <a:spcPts val="400"/>
              </a:spcAft>
            </a:pPr>
            <a:r>
              <a:rPr sz="1900" b="1">
                <a:solidFill>
                  <a:srgbClr val="10B981"/>
                </a:solidFill>
                <a:latin typeface="Arial"/>
              </a:rPr>
              <a:t>Activity 18</a:t>
            </a:r>
          </a:p>
        </p:txBody>
      </p:sp>
      <p:sp>
        <p:nvSpPr>
          <p:cNvPr id="14" name="TextBox 13"/>
          <p:cNvSpPr txBox="1"/>
          <p:nvPr/>
        </p:nvSpPr>
        <p:spPr>
          <a:xfrm>
            <a:off x="4800600" y="2697480"/>
            <a:ext cx="2926080" cy="3108960"/>
          </a:xfrm>
          <a:prstGeom prst="rect">
            <a:avLst/>
          </a:prstGeom>
          <a:noFill/>
        </p:spPr>
        <p:txBody>
          <a:bodyPr wrap="square">
            <a:spAutoFit/>
          </a:bodyPr>
          <a:lstStyle/>
          <a:p>
            <a:pPr>
              <a:spcAft>
                <a:spcPts val="900"/>
              </a:spcAft>
            </a:pPr>
            <a:r>
              <a:rPr sz="1400">
                <a:solidFill>
                  <a:srgbClr val="161B26"/>
                </a:solidFill>
                <a:latin typeface="Arial"/>
              </a:rPr>
              <a:t>•  Shor 9-Qubit and Steane 7-Qubit Codes</a:t>
            </a:r>
          </a:p>
        </p:txBody>
      </p:sp>
      <p:sp>
        <p:nvSpPr>
          <p:cNvPr id="15" name="Rectangle 14"/>
          <p:cNvSpPr/>
          <p:nvPr/>
        </p:nvSpPr>
        <p:spPr>
          <a:xfrm>
            <a:off x="8366760" y="1783080"/>
            <a:ext cx="3337560" cy="4297680"/>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6" name="Rectangle 15"/>
          <p:cNvSpPr/>
          <p:nvPr/>
        </p:nvSpPr>
        <p:spPr>
          <a:xfrm>
            <a:off x="8366760" y="1783080"/>
            <a:ext cx="3337560" cy="109728"/>
          </a:xfrm>
          <a:prstGeom prst="rect">
            <a:avLst/>
          </a:prstGeom>
          <a:solidFill>
            <a:srgbClr val="7C3AE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7" name="TextBox 16"/>
          <p:cNvSpPr txBox="1"/>
          <p:nvPr/>
        </p:nvSpPr>
        <p:spPr>
          <a:xfrm>
            <a:off x="8595360" y="2011680"/>
            <a:ext cx="2926080" cy="548640"/>
          </a:xfrm>
          <a:prstGeom prst="rect">
            <a:avLst/>
          </a:prstGeom>
          <a:noFill/>
        </p:spPr>
        <p:txBody>
          <a:bodyPr wrap="square" anchor="t">
            <a:spAutoFit/>
          </a:bodyPr>
          <a:lstStyle/>
          <a:p>
            <a:pPr algn="l">
              <a:spcAft>
                <a:spcPts val="400"/>
              </a:spcAft>
            </a:pPr>
            <a:r>
              <a:rPr sz="1900" b="1">
                <a:solidFill>
                  <a:srgbClr val="7C3AED"/>
                </a:solidFill>
                <a:latin typeface="Arial"/>
              </a:rPr>
              <a:t>—</a:t>
            </a:r>
          </a:p>
        </p:txBody>
      </p:sp>
      <p:sp>
        <p:nvSpPr>
          <p:cNvPr id="18" name="TextBox 17"/>
          <p:cNvSpPr txBox="1"/>
          <p:nvPr/>
        </p:nvSpPr>
        <p:spPr>
          <a:xfrm>
            <a:off x="8595360" y="2697480"/>
            <a:ext cx="2926080" cy="3108960"/>
          </a:xfrm>
          <a:prstGeom prst="rect">
            <a:avLst/>
          </a:prstGeom>
          <a:noFill/>
        </p:spPr>
        <p:txBody>
          <a:bodyPr wrap="square">
            <a:spAutoFit/>
          </a:bodyPr>
          <a:lstStyle/>
          <a:p>
            <a:pPr>
              <a:spcAft>
                <a:spcPts val="900"/>
              </a:spcAft>
            </a:pPr>
            <a:r>
              <a:rPr sz="1400">
                <a:solidFill>
                  <a:srgbClr val="161B26"/>
                </a:solidFill>
                <a:latin typeface="Arial"/>
              </a:rPr>
              <a:t>•  —</a:t>
            </a:r>
          </a:p>
        </p:txBody>
      </p:sp>
      <p:sp>
        <p:nvSpPr>
          <p:cNvPr id="19" name="TextBox 18"/>
          <p:cNvSpPr txBox="1"/>
          <p:nvPr/>
        </p:nvSpPr>
        <p:spPr>
          <a:xfrm>
            <a:off x="365760" y="6446520"/>
            <a:ext cx="6858000" cy="320040"/>
          </a:xfrm>
          <a:prstGeom prst="rect">
            <a:avLst/>
          </a:prstGeom>
          <a:noFill/>
        </p:spPr>
        <p:txBody>
          <a:bodyPr wrap="square" anchor="t">
            <a:spAutoFit/>
          </a:bodyPr>
          <a:lstStyle/>
          <a:p>
            <a:pPr algn="l">
              <a:spcAft>
                <a:spcPts val="400"/>
              </a:spcAft>
            </a:pPr>
            <a:r>
              <a:rPr sz="900" b="0">
                <a:solidFill>
                  <a:srgbClr val="5B6372"/>
                </a:solidFill>
                <a:latin typeface="Arial"/>
              </a:rPr>
              <a:t>Securing the Future with Quantum Computing and Cryptography  ·  TGS-2024043419</a:t>
            </a:r>
          </a:p>
        </p:txBody>
      </p:sp>
      <p:sp>
        <p:nvSpPr>
          <p:cNvPr id="20" name="TextBox 19"/>
          <p:cNvSpPr txBox="1"/>
          <p:nvPr/>
        </p:nvSpPr>
        <p:spPr>
          <a:xfrm>
            <a:off x="4572000" y="6446520"/>
            <a:ext cx="3017520" cy="320040"/>
          </a:xfrm>
          <a:prstGeom prst="rect">
            <a:avLst/>
          </a:prstGeom>
          <a:noFill/>
        </p:spPr>
        <p:txBody>
          <a:bodyPr wrap="square" anchor="t">
            <a:spAutoFit/>
          </a:bodyPr>
          <a:lstStyle/>
          <a:p>
            <a:pPr algn="ctr">
              <a:spcAft>
                <a:spcPts val="400"/>
              </a:spcAft>
            </a:pPr>
            <a:r>
              <a:rPr sz="900" b="0">
                <a:solidFill>
                  <a:srgbClr val="5B6372"/>
                </a:solidFill>
                <a:latin typeface="Arial"/>
              </a:rPr>
              <a:t>© 2026 Tertiary Infotech Academy Pte Ltd</a:t>
            </a:r>
          </a:p>
        </p:txBody>
      </p:sp>
      <p:sp>
        <p:nvSpPr>
          <p:cNvPr id="21" name="TextBox 20"/>
          <p:cNvSpPr txBox="1"/>
          <p:nvPr/>
        </p:nvSpPr>
        <p:spPr>
          <a:xfrm>
            <a:off x="11338560" y="6446520"/>
            <a:ext cx="548640" cy="320040"/>
          </a:xfrm>
          <a:prstGeom prst="rect">
            <a:avLst/>
          </a:prstGeom>
          <a:noFill/>
        </p:spPr>
        <p:txBody>
          <a:bodyPr wrap="square" anchor="t">
            <a:spAutoFit/>
          </a:bodyPr>
          <a:lstStyle/>
          <a:p>
            <a:pPr algn="r">
              <a:spcAft>
                <a:spcPts val="400"/>
              </a:spcAft>
            </a:pPr>
            <a:r>
              <a:rPr sz="900" b="0">
                <a:solidFill>
                  <a:srgbClr val="5B6372"/>
                </a:solidFill>
                <a:latin typeface="Arial"/>
              </a:rPr>
              <a:t>249</a:t>
            </a:r>
          </a:p>
        </p:txBody>
      </p:sp>
    </p:spTree>
  </p:cSld>
  <p:clrMapOvr>
    <a:masterClrMapping/>
  </p:clrMapOvr>
</p:sld>
</file>

<file path=ppt/slides/slide251.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256032" cy="1417320"/>
          </a:xfrm>
          <a:prstGeom prst="rect">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777240" y="457200"/>
            <a:ext cx="10607040" cy="365760"/>
          </a:xfrm>
          <a:prstGeom prst="rect">
            <a:avLst/>
          </a:prstGeom>
          <a:noFill/>
        </p:spPr>
        <p:txBody>
          <a:bodyPr wrap="square" anchor="t">
            <a:spAutoFit/>
          </a:bodyPr>
          <a:lstStyle/>
          <a:p>
            <a:pPr algn="l">
              <a:spcAft>
                <a:spcPts val="400"/>
              </a:spcAft>
            </a:pPr>
            <a:r>
              <a:rPr sz="1400" b="1">
                <a:solidFill>
                  <a:srgbClr val="10B981"/>
                </a:solidFill>
                <a:latin typeface="Arial"/>
              </a:rPr>
              <a:t>TOPIC 08 · HANDS-ON ACTIVITY</a:t>
            </a:r>
          </a:p>
        </p:txBody>
      </p:sp>
      <p:sp>
        <p:nvSpPr>
          <p:cNvPr id="5" name="TextBox 4"/>
          <p:cNvSpPr txBox="1"/>
          <p:nvPr/>
        </p:nvSpPr>
        <p:spPr>
          <a:xfrm>
            <a:off x="777240" y="822960"/>
            <a:ext cx="10881360" cy="822960"/>
          </a:xfrm>
          <a:prstGeom prst="rect">
            <a:avLst/>
          </a:prstGeom>
          <a:noFill/>
        </p:spPr>
        <p:txBody>
          <a:bodyPr wrap="square" anchor="t">
            <a:spAutoFit/>
          </a:bodyPr>
          <a:lstStyle/>
          <a:p>
            <a:pPr algn="l">
              <a:spcAft>
                <a:spcPts val="400"/>
              </a:spcAft>
            </a:pPr>
            <a:r>
              <a:rPr sz="2900" b="1">
                <a:solidFill>
                  <a:srgbClr val="161B26"/>
                </a:solidFill>
                <a:latin typeface="Arial"/>
              </a:rPr>
              <a:t>Bit-Flip and Phase-Flip Error Correction Codes</a:t>
            </a:r>
          </a:p>
        </p:txBody>
      </p:sp>
      <p:sp>
        <p:nvSpPr>
          <p:cNvPr id="6" name="Rectangle 5"/>
          <p:cNvSpPr/>
          <p:nvPr/>
        </p:nvSpPr>
        <p:spPr>
          <a:xfrm>
            <a:off x="777240" y="1554480"/>
            <a:ext cx="10634472" cy="18288"/>
          </a:xfrm>
          <a:prstGeom prst="rect">
            <a:avLst/>
          </a:prstGeom>
          <a:solidFill>
            <a:srgbClr val="E2E8F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Rectangle 6"/>
          <p:cNvSpPr/>
          <p:nvPr/>
        </p:nvSpPr>
        <p:spPr>
          <a:xfrm>
            <a:off x="9646920" y="457200"/>
            <a:ext cx="1783080" cy="457200"/>
          </a:xfrm>
          <a:prstGeom prst="rect">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TextBox 7"/>
          <p:cNvSpPr txBox="1"/>
          <p:nvPr/>
        </p:nvSpPr>
        <p:spPr>
          <a:xfrm>
            <a:off x="9646920" y="457200"/>
            <a:ext cx="1783080" cy="457200"/>
          </a:xfrm>
          <a:prstGeom prst="rect">
            <a:avLst/>
          </a:prstGeom>
          <a:noFill/>
        </p:spPr>
        <p:txBody>
          <a:bodyPr wrap="square" anchor="ctr">
            <a:spAutoFit/>
          </a:bodyPr>
          <a:lstStyle/>
          <a:p>
            <a:pPr algn="ctr">
              <a:spcAft>
                <a:spcPts val="400"/>
              </a:spcAft>
            </a:pPr>
            <a:r>
              <a:rPr sz="1300" b="1">
                <a:solidFill>
                  <a:srgbClr val="FFFFFF"/>
                </a:solidFill>
                <a:latin typeface="Arial"/>
              </a:rPr>
              <a:t>ACTIVITY 17</a:t>
            </a:r>
          </a:p>
        </p:txBody>
      </p:sp>
      <p:sp>
        <p:nvSpPr>
          <p:cNvPr id="9" name="TextBox 8"/>
          <p:cNvSpPr txBox="1"/>
          <p:nvPr/>
        </p:nvSpPr>
        <p:spPr>
          <a:xfrm>
            <a:off x="777240" y="1828800"/>
            <a:ext cx="10607040" cy="1051560"/>
          </a:xfrm>
          <a:prstGeom prst="rect">
            <a:avLst/>
          </a:prstGeom>
          <a:noFill/>
        </p:spPr>
        <p:txBody>
          <a:bodyPr wrap="square" anchor="t">
            <a:spAutoFit/>
          </a:bodyPr>
          <a:lstStyle/>
          <a:p>
            <a:pPr algn="l">
              <a:spcAft>
                <a:spcPts val="400"/>
              </a:spcAft>
            </a:pPr>
            <a:r>
              <a:rPr sz="1700" b="0">
                <a:solidFill>
                  <a:srgbClr val="161B26"/>
                </a:solidFill>
                <a:latin typeface="Arial"/>
              </a:rPr>
              <a:t>Build the three-qubit repetition codes that detect and correct X and Z errors: encode a logical qubit, inject an error, measure the syndrome without collapsing the state, and apply the correction.</a:t>
            </a:r>
          </a:p>
        </p:txBody>
      </p:sp>
      <p:sp>
        <p:nvSpPr>
          <p:cNvPr id="10" name="Rectangle 9"/>
          <p:cNvSpPr/>
          <p:nvPr/>
        </p:nvSpPr>
        <p:spPr>
          <a:xfrm>
            <a:off x="777240" y="2971800"/>
            <a:ext cx="10634472" cy="457200"/>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 name="TextBox 10"/>
          <p:cNvSpPr txBox="1"/>
          <p:nvPr/>
        </p:nvSpPr>
        <p:spPr>
          <a:xfrm>
            <a:off x="960120" y="2971800"/>
            <a:ext cx="10241280" cy="457200"/>
          </a:xfrm>
          <a:prstGeom prst="rect">
            <a:avLst/>
          </a:prstGeom>
          <a:noFill/>
        </p:spPr>
        <p:txBody>
          <a:bodyPr wrap="square" anchor="ctr">
            <a:spAutoFit/>
          </a:bodyPr>
          <a:lstStyle/>
          <a:p>
            <a:pPr algn="l">
              <a:spcAft>
                <a:spcPts val="400"/>
              </a:spcAft>
            </a:pPr>
            <a:r>
              <a:rPr sz="1100" b="1">
                <a:solidFill>
                  <a:srgbClr val="1F6FEB"/>
                </a:solidFill>
                <a:latin typeface="Arial"/>
              </a:rPr>
              <a:t>MAPS TO  </a:t>
            </a:r>
            <a:r>
              <a:rPr sz="1250" b="0">
                <a:solidFill>
                  <a:srgbClr val="161B26"/>
                </a:solidFill>
                <a:latin typeface="Arial"/>
              </a:rPr>
              <a:t>LO7 — Synthesize quantum methodologies to address complex problems</a:t>
            </a:r>
          </a:p>
        </p:txBody>
      </p:sp>
      <p:sp>
        <p:nvSpPr>
          <p:cNvPr id="12" name="Rectangle 11"/>
          <p:cNvSpPr/>
          <p:nvPr/>
        </p:nvSpPr>
        <p:spPr>
          <a:xfrm>
            <a:off x="777240" y="3611880"/>
            <a:ext cx="10634472" cy="1234440"/>
          </a:xfrm>
          <a:prstGeom prst="rect">
            <a:avLst/>
          </a:prstGeom>
          <a:solidFill>
            <a:srgbClr val="E8F7E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 name="TextBox 12"/>
          <p:cNvSpPr txBox="1"/>
          <p:nvPr/>
        </p:nvSpPr>
        <p:spPr>
          <a:xfrm>
            <a:off x="1051560" y="3767328"/>
            <a:ext cx="10058400" cy="365760"/>
          </a:xfrm>
          <a:prstGeom prst="rect">
            <a:avLst/>
          </a:prstGeom>
          <a:noFill/>
        </p:spPr>
        <p:txBody>
          <a:bodyPr wrap="square" anchor="t">
            <a:spAutoFit/>
          </a:bodyPr>
          <a:lstStyle/>
          <a:p>
            <a:pPr algn="l">
              <a:spcAft>
                <a:spcPts val="400"/>
              </a:spcAft>
            </a:pPr>
            <a:r>
              <a:rPr sz="1200" b="1">
                <a:solidFill>
                  <a:srgbClr val="127A3E"/>
                </a:solidFill>
                <a:latin typeface="Arial"/>
              </a:rPr>
              <a:t>YOU'LL PRODUCE</a:t>
            </a:r>
          </a:p>
        </p:txBody>
      </p:sp>
      <p:sp>
        <p:nvSpPr>
          <p:cNvPr id="14" name="TextBox 13"/>
          <p:cNvSpPr txBox="1"/>
          <p:nvPr/>
        </p:nvSpPr>
        <p:spPr>
          <a:xfrm>
            <a:off x="1051560" y="4133087"/>
            <a:ext cx="10058400" cy="640080"/>
          </a:xfrm>
          <a:prstGeom prst="rect">
            <a:avLst/>
          </a:prstGeom>
          <a:noFill/>
        </p:spPr>
        <p:txBody>
          <a:bodyPr wrap="square" anchor="t">
            <a:spAutoFit/>
          </a:bodyPr>
          <a:lstStyle/>
          <a:p>
            <a:pPr algn="l">
              <a:spcAft>
                <a:spcPts val="400"/>
              </a:spcAft>
            </a:pPr>
            <a:r>
              <a:rPr sz="1550" b="1">
                <a:solidFill>
                  <a:srgbClr val="161B26"/>
                </a:solidFill>
                <a:latin typeface="Arial"/>
              </a:rPr>
              <a:t>Working bit-flip and phase-flip code circuits that correctly identify and repair an injected single-qubit error.</a:t>
            </a:r>
          </a:p>
        </p:txBody>
      </p:sp>
      <p:sp>
        <p:nvSpPr>
          <p:cNvPr id="15" name="Rectangle 14"/>
          <p:cNvSpPr/>
          <p:nvPr/>
        </p:nvSpPr>
        <p:spPr>
          <a:xfrm>
            <a:off x="777240" y="5029200"/>
            <a:ext cx="10634472" cy="960120"/>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6" name="TextBox 15"/>
          <p:cNvSpPr txBox="1"/>
          <p:nvPr/>
        </p:nvSpPr>
        <p:spPr>
          <a:xfrm>
            <a:off x="1051560" y="5138928"/>
            <a:ext cx="10058400" cy="365760"/>
          </a:xfrm>
          <a:prstGeom prst="rect">
            <a:avLst/>
          </a:prstGeom>
          <a:noFill/>
        </p:spPr>
        <p:txBody>
          <a:bodyPr wrap="square" anchor="t">
            <a:spAutoFit/>
          </a:bodyPr>
          <a:lstStyle/>
          <a:p>
            <a:pPr algn="l">
              <a:spcAft>
                <a:spcPts val="400"/>
              </a:spcAft>
            </a:pPr>
            <a:r>
              <a:rPr sz="1200" b="1">
                <a:solidFill>
                  <a:srgbClr val="5B6372"/>
                </a:solidFill>
                <a:latin typeface="Arial"/>
              </a:rPr>
              <a:t>Tools:  </a:t>
            </a:r>
            <a:r>
              <a:rPr sz="1200" b="0">
                <a:solidFill>
                  <a:srgbClr val="5B6372"/>
                </a:solidFill>
                <a:latin typeface="Arial"/>
              </a:rPr>
              <a:t>Qiskit 2.x, IBM Quantum Runtime, OpenQASM</a:t>
            </a:r>
          </a:p>
        </p:txBody>
      </p:sp>
      <p:sp>
        <p:nvSpPr>
          <p:cNvPr id="17" name="TextBox 16"/>
          <p:cNvSpPr txBox="1"/>
          <p:nvPr/>
        </p:nvSpPr>
        <p:spPr>
          <a:xfrm>
            <a:off x="1051560" y="5504688"/>
            <a:ext cx="10058400" cy="365760"/>
          </a:xfrm>
          <a:prstGeom prst="rect">
            <a:avLst/>
          </a:prstGeom>
          <a:noFill/>
        </p:spPr>
        <p:txBody>
          <a:bodyPr wrap="square" anchor="t">
            <a:spAutoFit/>
          </a:bodyPr>
          <a:lstStyle/>
          <a:p>
            <a:pPr algn="l">
              <a:spcAft>
                <a:spcPts val="400"/>
              </a:spcAft>
            </a:pPr>
            <a:r>
              <a:rPr sz="1200" b="1">
                <a:solidFill>
                  <a:srgbClr val="1F6FEB"/>
                </a:solidFill>
                <a:latin typeface="Arial"/>
              </a:rPr>
              <a:t>Full step-by-step guide:  </a:t>
            </a:r>
            <a:r>
              <a:rPr sz="1200" b="0">
                <a:solidFill>
                  <a:srgbClr val="161B26"/>
                </a:solidFill>
                <a:latin typeface="Arial"/>
              </a:rPr>
              <a:t>Learner Guide — Activity 17: Bit-Flip and Phase-Flip Error Correction Codes</a:t>
            </a:r>
          </a:p>
        </p:txBody>
      </p:sp>
      <p:sp>
        <p:nvSpPr>
          <p:cNvPr id="18" name="TextBox 17"/>
          <p:cNvSpPr txBox="1"/>
          <p:nvPr/>
        </p:nvSpPr>
        <p:spPr>
          <a:xfrm>
            <a:off x="365760" y="6446520"/>
            <a:ext cx="6858000" cy="320040"/>
          </a:xfrm>
          <a:prstGeom prst="rect">
            <a:avLst/>
          </a:prstGeom>
          <a:noFill/>
        </p:spPr>
        <p:txBody>
          <a:bodyPr wrap="square" anchor="t">
            <a:spAutoFit/>
          </a:bodyPr>
          <a:lstStyle/>
          <a:p>
            <a:pPr algn="l">
              <a:spcAft>
                <a:spcPts val="400"/>
              </a:spcAft>
            </a:pPr>
            <a:r>
              <a:rPr sz="900" b="0">
                <a:solidFill>
                  <a:srgbClr val="5B6372"/>
                </a:solidFill>
                <a:latin typeface="Arial"/>
              </a:rPr>
              <a:t>Securing the Future with Quantum Computing and Cryptography  ·  TGS-2024043419</a:t>
            </a:r>
          </a:p>
        </p:txBody>
      </p:sp>
      <p:sp>
        <p:nvSpPr>
          <p:cNvPr id="19" name="TextBox 18"/>
          <p:cNvSpPr txBox="1"/>
          <p:nvPr/>
        </p:nvSpPr>
        <p:spPr>
          <a:xfrm>
            <a:off x="4572000" y="6446520"/>
            <a:ext cx="3017520" cy="320040"/>
          </a:xfrm>
          <a:prstGeom prst="rect">
            <a:avLst/>
          </a:prstGeom>
          <a:noFill/>
        </p:spPr>
        <p:txBody>
          <a:bodyPr wrap="square" anchor="t">
            <a:spAutoFit/>
          </a:bodyPr>
          <a:lstStyle/>
          <a:p>
            <a:pPr algn="ctr">
              <a:spcAft>
                <a:spcPts val="400"/>
              </a:spcAft>
            </a:pPr>
            <a:r>
              <a:rPr sz="900" b="0">
                <a:solidFill>
                  <a:srgbClr val="5B6372"/>
                </a:solidFill>
                <a:latin typeface="Arial"/>
              </a:rPr>
              <a:t>© 2026 Tertiary Infotech Academy Pte Ltd</a:t>
            </a:r>
          </a:p>
        </p:txBody>
      </p:sp>
      <p:sp>
        <p:nvSpPr>
          <p:cNvPr id="20" name="TextBox 19"/>
          <p:cNvSpPr txBox="1"/>
          <p:nvPr/>
        </p:nvSpPr>
        <p:spPr>
          <a:xfrm>
            <a:off x="11338560" y="6446520"/>
            <a:ext cx="548640" cy="320040"/>
          </a:xfrm>
          <a:prstGeom prst="rect">
            <a:avLst/>
          </a:prstGeom>
          <a:noFill/>
        </p:spPr>
        <p:txBody>
          <a:bodyPr wrap="square" anchor="t">
            <a:spAutoFit/>
          </a:bodyPr>
          <a:lstStyle/>
          <a:p>
            <a:pPr algn="r">
              <a:spcAft>
                <a:spcPts val="400"/>
              </a:spcAft>
            </a:pPr>
            <a:r>
              <a:rPr sz="900" b="0">
                <a:solidFill>
                  <a:srgbClr val="5B6372"/>
                </a:solidFill>
                <a:latin typeface="Arial"/>
              </a:rPr>
              <a:t>250</a:t>
            </a:r>
          </a:p>
        </p:txBody>
      </p:sp>
    </p:spTree>
  </p:cSld>
  <p:clrMapOvr>
    <a:masterClrMapping/>
  </p:clrMapOvr>
</p:sld>
</file>

<file path=ppt/slides/slide252.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256032" cy="1417320"/>
          </a:xfrm>
          <a:prstGeom prst="rect">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777240" y="457200"/>
            <a:ext cx="10607040" cy="365760"/>
          </a:xfrm>
          <a:prstGeom prst="rect">
            <a:avLst/>
          </a:prstGeom>
          <a:noFill/>
        </p:spPr>
        <p:txBody>
          <a:bodyPr wrap="square" anchor="t">
            <a:spAutoFit/>
          </a:bodyPr>
          <a:lstStyle/>
          <a:p>
            <a:pPr algn="l">
              <a:spcAft>
                <a:spcPts val="400"/>
              </a:spcAft>
            </a:pPr>
            <a:r>
              <a:rPr sz="1400" b="1">
                <a:solidFill>
                  <a:srgbClr val="10B981"/>
                </a:solidFill>
                <a:latin typeface="Arial"/>
              </a:rPr>
              <a:t>ACTIVITY 17 · VERIFY &amp; DEBRIEF</a:t>
            </a:r>
          </a:p>
        </p:txBody>
      </p:sp>
      <p:sp>
        <p:nvSpPr>
          <p:cNvPr id="5" name="TextBox 4"/>
          <p:cNvSpPr txBox="1"/>
          <p:nvPr/>
        </p:nvSpPr>
        <p:spPr>
          <a:xfrm>
            <a:off x="777240" y="822960"/>
            <a:ext cx="10881360" cy="822960"/>
          </a:xfrm>
          <a:prstGeom prst="rect">
            <a:avLst/>
          </a:prstGeom>
          <a:noFill/>
        </p:spPr>
        <p:txBody>
          <a:bodyPr wrap="square" anchor="t">
            <a:spAutoFit/>
          </a:bodyPr>
          <a:lstStyle/>
          <a:p>
            <a:pPr algn="l">
              <a:spcAft>
                <a:spcPts val="400"/>
              </a:spcAft>
            </a:pPr>
            <a:r>
              <a:rPr sz="2900" b="1">
                <a:solidFill>
                  <a:srgbClr val="161B26"/>
                </a:solidFill>
                <a:latin typeface="Arial"/>
              </a:rPr>
              <a:t>Bit-Flip and Phase-Flip Error Correction Codes</a:t>
            </a:r>
          </a:p>
        </p:txBody>
      </p:sp>
      <p:sp>
        <p:nvSpPr>
          <p:cNvPr id="6" name="Rectangle 5"/>
          <p:cNvSpPr/>
          <p:nvPr/>
        </p:nvSpPr>
        <p:spPr>
          <a:xfrm>
            <a:off x="777240" y="1554480"/>
            <a:ext cx="10634472" cy="18288"/>
          </a:xfrm>
          <a:prstGeom prst="rect">
            <a:avLst/>
          </a:prstGeom>
          <a:solidFill>
            <a:srgbClr val="E2E8F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Rectangle 6"/>
          <p:cNvSpPr/>
          <p:nvPr/>
        </p:nvSpPr>
        <p:spPr>
          <a:xfrm>
            <a:off x="777240" y="1783080"/>
            <a:ext cx="10634472" cy="2148840"/>
          </a:xfrm>
          <a:prstGeom prst="rect">
            <a:avLst/>
          </a:prstGeom>
          <a:solidFill>
            <a:srgbClr val="E8F7E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Rectangle 7"/>
          <p:cNvSpPr/>
          <p:nvPr/>
        </p:nvSpPr>
        <p:spPr>
          <a:xfrm>
            <a:off x="777240" y="1783080"/>
            <a:ext cx="100584" cy="2148840"/>
          </a:xfrm>
          <a:prstGeom prst="rect">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TextBox 8"/>
          <p:cNvSpPr txBox="1"/>
          <p:nvPr/>
        </p:nvSpPr>
        <p:spPr>
          <a:xfrm>
            <a:off x="1143000" y="1965960"/>
            <a:ext cx="10058400" cy="411480"/>
          </a:xfrm>
          <a:prstGeom prst="rect">
            <a:avLst/>
          </a:prstGeom>
          <a:noFill/>
        </p:spPr>
        <p:txBody>
          <a:bodyPr wrap="square" anchor="t">
            <a:spAutoFit/>
          </a:bodyPr>
          <a:lstStyle/>
          <a:p>
            <a:pPr algn="l">
              <a:spcAft>
                <a:spcPts val="400"/>
              </a:spcAft>
            </a:pPr>
            <a:r>
              <a:rPr sz="1300" b="1">
                <a:solidFill>
                  <a:srgbClr val="127A3E"/>
                </a:solidFill>
                <a:latin typeface="Arial"/>
              </a:rPr>
              <a:t>TEST IT — HOW YOU KNOW IT WORKED</a:t>
            </a:r>
          </a:p>
        </p:txBody>
      </p:sp>
      <p:sp>
        <p:nvSpPr>
          <p:cNvPr id="10" name="TextBox 9"/>
          <p:cNvSpPr txBox="1"/>
          <p:nvPr/>
        </p:nvSpPr>
        <p:spPr>
          <a:xfrm>
            <a:off x="1143000" y="2423160"/>
            <a:ext cx="10058400" cy="1371600"/>
          </a:xfrm>
          <a:prstGeom prst="rect">
            <a:avLst/>
          </a:prstGeom>
          <a:noFill/>
        </p:spPr>
        <p:txBody>
          <a:bodyPr wrap="square" anchor="t">
            <a:spAutoFit/>
          </a:bodyPr>
          <a:lstStyle/>
          <a:p>
            <a:pPr algn="l">
              <a:spcAft>
                <a:spcPts val="400"/>
              </a:spcAft>
            </a:pPr>
            <a:r>
              <a:rPr sz="1600" b="0">
                <a:solidFill>
                  <a:srgbClr val="161B26"/>
                </a:solidFill>
                <a:latin typeface="Arial"/>
              </a:rPr>
              <a:t>The syndrome measurement correctly identifies which qubit carried the injected error without collapsing the logical state, and applying the indicated correction restores the original logical qubit.</a:t>
            </a:r>
          </a:p>
        </p:txBody>
      </p:sp>
      <p:sp>
        <p:nvSpPr>
          <p:cNvPr id="11" name="TextBox 10"/>
          <p:cNvSpPr txBox="1"/>
          <p:nvPr/>
        </p:nvSpPr>
        <p:spPr>
          <a:xfrm>
            <a:off x="777240" y="4096512"/>
            <a:ext cx="10607040" cy="365760"/>
          </a:xfrm>
          <a:prstGeom prst="rect">
            <a:avLst/>
          </a:prstGeom>
          <a:noFill/>
        </p:spPr>
        <p:txBody>
          <a:bodyPr wrap="square" anchor="t">
            <a:spAutoFit/>
          </a:bodyPr>
          <a:lstStyle/>
          <a:p>
            <a:pPr algn="l">
              <a:spcAft>
                <a:spcPts val="400"/>
              </a:spcAft>
            </a:pPr>
            <a:r>
              <a:rPr sz="1300" b="1">
                <a:solidFill>
                  <a:srgbClr val="1F6FEB"/>
                </a:solidFill>
                <a:latin typeface="Arial"/>
              </a:rPr>
              <a:t>DISCUSS WITH YOUR TRAINER</a:t>
            </a:r>
          </a:p>
        </p:txBody>
      </p:sp>
      <p:sp>
        <p:nvSpPr>
          <p:cNvPr id="12" name="Rectangle 11"/>
          <p:cNvSpPr/>
          <p:nvPr/>
        </p:nvSpPr>
        <p:spPr>
          <a:xfrm>
            <a:off x="777240" y="4480560"/>
            <a:ext cx="3447288" cy="1463040"/>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 name="Rectangle 12"/>
          <p:cNvSpPr/>
          <p:nvPr/>
        </p:nvSpPr>
        <p:spPr>
          <a:xfrm>
            <a:off x="777240" y="4480560"/>
            <a:ext cx="3447288" cy="82296"/>
          </a:xfrm>
          <a:prstGeom prst="rect">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 name="TextBox 13"/>
          <p:cNvSpPr txBox="1"/>
          <p:nvPr/>
        </p:nvSpPr>
        <p:spPr>
          <a:xfrm>
            <a:off x="978408" y="4663440"/>
            <a:ext cx="3044952" cy="457200"/>
          </a:xfrm>
          <a:prstGeom prst="rect">
            <a:avLst/>
          </a:prstGeom>
          <a:noFill/>
        </p:spPr>
        <p:txBody>
          <a:bodyPr wrap="square" anchor="t">
            <a:spAutoFit/>
          </a:bodyPr>
          <a:lstStyle/>
          <a:p>
            <a:pPr algn="l">
              <a:spcAft>
                <a:spcPts val="400"/>
              </a:spcAft>
            </a:pPr>
            <a:r>
              <a:rPr sz="1350" b="1">
                <a:solidFill>
                  <a:srgbClr val="1F6FEB"/>
                </a:solidFill>
                <a:latin typeface="Arial"/>
              </a:rPr>
              <a:t>What did the result show?</a:t>
            </a:r>
          </a:p>
        </p:txBody>
      </p:sp>
      <p:sp>
        <p:nvSpPr>
          <p:cNvPr id="15" name="TextBox 14"/>
          <p:cNvSpPr txBox="1"/>
          <p:nvPr/>
        </p:nvSpPr>
        <p:spPr>
          <a:xfrm>
            <a:off x="978408" y="5138928"/>
            <a:ext cx="3044952" cy="731520"/>
          </a:xfrm>
          <a:prstGeom prst="rect">
            <a:avLst/>
          </a:prstGeom>
          <a:noFill/>
        </p:spPr>
        <p:txBody>
          <a:bodyPr wrap="square" anchor="t">
            <a:spAutoFit/>
          </a:bodyPr>
          <a:lstStyle/>
          <a:p>
            <a:pPr algn="l">
              <a:spcAft>
                <a:spcPts val="400"/>
              </a:spcAft>
            </a:pPr>
            <a:r>
              <a:rPr sz="1200" b="0">
                <a:solidFill>
                  <a:srgbClr val="5B6372"/>
                </a:solidFill>
                <a:latin typeface="Arial"/>
              </a:rPr>
              <a:t>Restate the outcome in your own words.</a:t>
            </a:r>
          </a:p>
        </p:txBody>
      </p:sp>
      <p:sp>
        <p:nvSpPr>
          <p:cNvPr id="16" name="Rectangle 15"/>
          <p:cNvSpPr/>
          <p:nvPr/>
        </p:nvSpPr>
        <p:spPr>
          <a:xfrm>
            <a:off x="4370832" y="4480560"/>
            <a:ext cx="3447288" cy="1463040"/>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7" name="Rectangle 16"/>
          <p:cNvSpPr/>
          <p:nvPr/>
        </p:nvSpPr>
        <p:spPr>
          <a:xfrm>
            <a:off x="4370832" y="4480560"/>
            <a:ext cx="3447288" cy="82296"/>
          </a:xfrm>
          <a:prstGeom prst="rect">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8" name="TextBox 17"/>
          <p:cNvSpPr txBox="1"/>
          <p:nvPr/>
        </p:nvSpPr>
        <p:spPr>
          <a:xfrm>
            <a:off x="4572000" y="4663440"/>
            <a:ext cx="3044952" cy="457200"/>
          </a:xfrm>
          <a:prstGeom prst="rect">
            <a:avLst/>
          </a:prstGeom>
          <a:noFill/>
        </p:spPr>
        <p:txBody>
          <a:bodyPr wrap="square" anchor="t">
            <a:spAutoFit/>
          </a:bodyPr>
          <a:lstStyle/>
          <a:p>
            <a:pPr algn="l">
              <a:spcAft>
                <a:spcPts val="400"/>
              </a:spcAft>
            </a:pPr>
            <a:r>
              <a:rPr sz="1350" b="1">
                <a:solidFill>
                  <a:srgbClr val="10B981"/>
                </a:solidFill>
                <a:latin typeface="Arial"/>
              </a:rPr>
              <a:t>Why does it work?</a:t>
            </a:r>
          </a:p>
        </p:txBody>
      </p:sp>
      <p:sp>
        <p:nvSpPr>
          <p:cNvPr id="19" name="TextBox 18"/>
          <p:cNvSpPr txBox="1"/>
          <p:nvPr/>
        </p:nvSpPr>
        <p:spPr>
          <a:xfrm>
            <a:off x="4572000" y="5138928"/>
            <a:ext cx="3044952" cy="731520"/>
          </a:xfrm>
          <a:prstGeom prst="rect">
            <a:avLst/>
          </a:prstGeom>
          <a:noFill/>
        </p:spPr>
        <p:txBody>
          <a:bodyPr wrap="square" anchor="t">
            <a:spAutoFit/>
          </a:bodyPr>
          <a:lstStyle/>
          <a:p>
            <a:pPr algn="l">
              <a:spcAft>
                <a:spcPts val="400"/>
              </a:spcAft>
            </a:pPr>
            <a:r>
              <a:rPr sz="1200" b="0">
                <a:solidFill>
                  <a:srgbClr val="5B6372"/>
                </a:solidFill>
                <a:latin typeface="Arial"/>
              </a:rPr>
              <a:t>Name the quantum principle the activity relies on.</a:t>
            </a:r>
          </a:p>
        </p:txBody>
      </p:sp>
      <p:sp>
        <p:nvSpPr>
          <p:cNvPr id="20" name="Rectangle 19"/>
          <p:cNvSpPr/>
          <p:nvPr/>
        </p:nvSpPr>
        <p:spPr>
          <a:xfrm>
            <a:off x="7964424" y="4480560"/>
            <a:ext cx="3447288" cy="1463040"/>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1" name="Rectangle 20"/>
          <p:cNvSpPr/>
          <p:nvPr/>
        </p:nvSpPr>
        <p:spPr>
          <a:xfrm>
            <a:off x="7964424" y="4480560"/>
            <a:ext cx="3447288" cy="82296"/>
          </a:xfrm>
          <a:prstGeom prst="rect">
            <a:avLst/>
          </a:prstGeom>
          <a:solidFill>
            <a:srgbClr val="7C3AE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2" name="TextBox 21"/>
          <p:cNvSpPr txBox="1"/>
          <p:nvPr/>
        </p:nvSpPr>
        <p:spPr>
          <a:xfrm>
            <a:off x="8165592" y="4663440"/>
            <a:ext cx="3044952" cy="457200"/>
          </a:xfrm>
          <a:prstGeom prst="rect">
            <a:avLst/>
          </a:prstGeom>
          <a:noFill/>
        </p:spPr>
        <p:txBody>
          <a:bodyPr wrap="square" anchor="t">
            <a:spAutoFit/>
          </a:bodyPr>
          <a:lstStyle/>
          <a:p>
            <a:pPr algn="l">
              <a:spcAft>
                <a:spcPts val="400"/>
              </a:spcAft>
            </a:pPr>
            <a:r>
              <a:rPr sz="1350" b="1">
                <a:solidFill>
                  <a:srgbClr val="7C3AED"/>
                </a:solidFill>
                <a:latin typeface="Arial"/>
              </a:rPr>
              <a:t>Where would you use it?</a:t>
            </a:r>
          </a:p>
        </p:txBody>
      </p:sp>
      <p:sp>
        <p:nvSpPr>
          <p:cNvPr id="23" name="TextBox 22"/>
          <p:cNvSpPr txBox="1"/>
          <p:nvPr/>
        </p:nvSpPr>
        <p:spPr>
          <a:xfrm>
            <a:off x="8165592" y="5138928"/>
            <a:ext cx="3044952" cy="731520"/>
          </a:xfrm>
          <a:prstGeom prst="rect">
            <a:avLst/>
          </a:prstGeom>
          <a:noFill/>
        </p:spPr>
        <p:txBody>
          <a:bodyPr wrap="square" anchor="t">
            <a:spAutoFit/>
          </a:bodyPr>
          <a:lstStyle/>
          <a:p>
            <a:pPr algn="l">
              <a:spcAft>
                <a:spcPts val="400"/>
              </a:spcAft>
            </a:pPr>
            <a:r>
              <a:rPr sz="1200" b="0">
                <a:solidFill>
                  <a:srgbClr val="5B6372"/>
                </a:solidFill>
                <a:latin typeface="Arial"/>
              </a:rPr>
              <a:t>Give one realistic application in your own field.</a:t>
            </a:r>
          </a:p>
        </p:txBody>
      </p:sp>
      <p:sp>
        <p:nvSpPr>
          <p:cNvPr id="24" name="TextBox 23"/>
          <p:cNvSpPr txBox="1"/>
          <p:nvPr/>
        </p:nvSpPr>
        <p:spPr>
          <a:xfrm>
            <a:off x="365760" y="6446520"/>
            <a:ext cx="6858000" cy="320040"/>
          </a:xfrm>
          <a:prstGeom prst="rect">
            <a:avLst/>
          </a:prstGeom>
          <a:noFill/>
        </p:spPr>
        <p:txBody>
          <a:bodyPr wrap="square" anchor="t">
            <a:spAutoFit/>
          </a:bodyPr>
          <a:lstStyle/>
          <a:p>
            <a:pPr algn="l">
              <a:spcAft>
                <a:spcPts val="400"/>
              </a:spcAft>
            </a:pPr>
            <a:r>
              <a:rPr sz="900" b="0">
                <a:solidFill>
                  <a:srgbClr val="5B6372"/>
                </a:solidFill>
                <a:latin typeface="Arial"/>
              </a:rPr>
              <a:t>Securing the Future with Quantum Computing and Cryptography  ·  TGS-2024043419</a:t>
            </a:r>
          </a:p>
        </p:txBody>
      </p:sp>
      <p:sp>
        <p:nvSpPr>
          <p:cNvPr id="25" name="TextBox 24"/>
          <p:cNvSpPr txBox="1"/>
          <p:nvPr/>
        </p:nvSpPr>
        <p:spPr>
          <a:xfrm>
            <a:off x="4572000" y="6446520"/>
            <a:ext cx="3017520" cy="320040"/>
          </a:xfrm>
          <a:prstGeom prst="rect">
            <a:avLst/>
          </a:prstGeom>
          <a:noFill/>
        </p:spPr>
        <p:txBody>
          <a:bodyPr wrap="square" anchor="t">
            <a:spAutoFit/>
          </a:bodyPr>
          <a:lstStyle/>
          <a:p>
            <a:pPr algn="ctr">
              <a:spcAft>
                <a:spcPts val="400"/>
              </a:spcAft>
            </a:pPr>
            <a:r>
              <a:rPr sz="900" b="0">
                <a:solidFill>
                  <a:srgbClr val="5B6372"/>
                </a:solidFill>
                <a:latin typeface="Arial"/>
              </a:rPr>
              <a:t>© 2026 Tertiary Infotech Academy Pte Ltd</a:t>
            </a:r>
          </a:p>
        </p:txBody>
      </p:sp>
      <p:sp>
        <p:nvSpPr>
          <p:cNvPr id="26" name="TextBox 25"/>
          <p:cNvSpPr txBox="1"/>
          <p:nvPr/>
        </p:nvSpPr>
        <p:spPr>
          <a:xfrm>
            <a:off x="11338560" y="6446520"/>
            <a:ext cx="548640" cy="320040"/>
          </a:xfrm>
          <a:prstGeom prst="rect">
            <a:avLst/>
          </a:prstGeom>
          <a:noFill/>
        </p:spPr>
        <p:txBody>
          <a:bodyPr wrap="square" anchor="t">
            <a:spAutoFit/>
          </a:bodyPr>
          <a:lstStyle/>
          <a:p>
            <a:pPr algn="r">
              <a:spcAft>
                <a:spcPts val="400"/>
              </a:spcAft>
            </a:pPr>
            <a:r>
              <a:rPr sz="900" b="0">
                <a:solidFill>
                  <a:srgbClr val="5B6372"/>
                </a:solidFill>
                <a:latin typeface="Arial"/>
              </a:rPr>
              <a:t>251</a:t>
            </a:r>
          </a:p>
        </p:txBody>
      </p:sp>
    </p:spTree>
  </p:cSld>
  <p:clrMapOvr>
    <a:masterClrMapping/>
  </p:clrMapOvr>
</p:sld>
</file>

<file path=ppt/slides/slide253.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256032" cy="1417320"/>
          </a:xfrm>
          <a:prstGeom prst="rect">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777240" y="457200"/>
            <a:ext cx="10607040" cy="365760"/>
          </a:xfrm>
          <a:prstGeom prst="rect">
            <a:avLst/>
          </a:prstGeom>
          <a:noFill/>
        </p:spPr>
        <p:txBody>
          <a:bodyPr wrap="square" anchor="t">
            <a:spAutoFit/>
          </a:bodyPr>
          <a:lstStyle/>
          <a:p>
            <a:pPr algn="l">
              <a:spcAft>
                <a:spcPts val="400"/>
              </a:spcAft>
            </a:pPr>
            <a:r>
              <a:rPr sz="1400" b="1">
                <a:solidFill>
                  <a:srgbClr val="10B981"/>
                </a:solidFill>
                <a:latin typeface="Arial"/>
              </a:rPr>
              <a:t>TOPIC 08 · HANDS-ON ACTIVITY</a:t>
            </a:r>
          </a:p>
        </p:txBody>
      </p:sp>
      <p:sp>
        <p:nvSpPr>
          <p:cNvPr id="5" name="TextBox 4"/>
          <p:cNvSpPr txBox="1"/>
          <p:nvPr/>
        </p:nvSpPr>
        <p:spPr>
          <a:xfrm>
            <a:off x="777240" y="822960"/>
            <a:ext cx="10881360" cy="822960"/>
          </a:xfrm>
          <a:prstGeom prst="rect">
            <a:avLst/>
          </a:prstGeom>
          <a:noFill/>
        </p:spPr>
        <p:txBody>
          <a:bodyPr wrap="square" anchor="t">
            <a:spAutoFit/>
          </a:bodyPr>
          <a:lstStyle/>
          <a:p>
            <a:pPr algn="l">
              <a:spcAft>
                <a:spcPts val="400"/>
              </a:spcAft>
            </a:pPr>
            <a:r>
              <a:rPr sz="2900" b="1">
                <a:solidFill>
                  <a:srgbClr val="161B26"/>
                </a:solidFill>
                <a:latin typeface="Arial"/>
              </a:rPr>
              <a:t>Shor 9-Qubit and Steane 7-Qubit Codes</a:t>
            </a:r>
          </a:p>
        </p:txBody>
      </p:sp>
      <p:sp>
        <p:nvSpPr>
          <p:cNvPr id="6" name="Rectangle 5"/>
          <p:cNvSpPr/>
          <p:nvPr/>
        </p:nvSpPr>
        <p:spPr>
          <a:xfrm>
            <a:off x="777240" y="1554480"/>
            <a:ext cx="10634472" cy="18288"/>
          </a:xfrm>
          <a:prstGeom prst="rect">
            <a:avLst/>
          </a:prstGeom>
          <a:solidFill>
            <a:srgbClr val="E2E8F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Rectangle 6"/>
          <p:cNvSpPr/>
          <p:nvPr/>
        </p:nvSpPr>
        <p:spPr>
          <a:xfrm>
            <a:off x="9646920" y="457200"/>
            <a:ext cx="1783080" cy="457200"/>
          </a:xfrm>
          <a:prstGeom prst="rect">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TextBox 7"/>
          <p:cNvSpPr txBox="1"/>
          <p:nvPr/>
        </p:nvSpPr>
        <p:spPr>
          <a:xfrm>
            <a:off x="9646920" y="457200"/>
            <a:ext cx="1783080" cy="457200"/>
          </a:xfrm>
          <a:prstGeom prst="rect">
            <a:avLst/>
          </a:prstGeom>
          <a:noFill/>
        </p:spPr>
        <p:txBody>
          <a:bodyPr wrap="square" anchor="ctr">
            <a:spAutoFit/>
          </a:bodyPr>
          <a:lstStyle/>
          <a:p>
            <a:pPr algn="ctr">
              <a:spcAft>
                <a:spcPts val="400"/>
              </a:spcAft>
            </a:pPr>
            <a:r>
              <a:rPr sz="1300" b="1">
                <a:solidFill>
                  <a:srgbClr val="FFFFFF"/>
                </a:solidFill>
                <a:latin typeface="Arial"/>
              </a:rPr>
              <a:t>ACTIVITY 18</a:t>
            </a:r>
          </a:p>
        </p:txBody>
      </p:sp>
      <p:sp>
        <p:nvSpPr>
          <p:cNvPr id="9" name="TextBox 8"/>
          <p:cNvSpPr txBox="1"/>
          <p:nvPr/>
        </p:nvSpPr>
        <p:spPr>
          <a:xfrm>
            <a:off x="777240" y="1828800"/>
            <a:ext cx="10607040" cy="1051560"/>
          </a:xfrm>
          <a:prstGeom prst="rect">
            <a:avLst/>
          </a:prstGeom>
          <a:noFill/>
        </p:spPr>
        <p:txBody>
          <a:bodyPr wrap="square" anchor="t">
            <a:spAutoFit/>
          </a:bodyPr>
          <a:lstStyle/>
          <a:p>
            <a:pPr algn="l">
              <a:spcAft>
                <a:spcPts val="400"/>
              </a:spcAft>
            </a:pPr>
            <a:r>
              <a:rPr sz="1700" b="0">
                <a:solidFill>
                  <a:srgbClr val="161B26"/>
                </a:solidFill>
                <a:latin typeface="Arial"/>
              </a:rPr>
              <a:t>Step up to codes that correct arbitrary single-qubit errors: Shor's 9-qubit concatenated code and Steane's more efficient 7-qubit CSS code, then compare their qubit overhead and discuss the road to fault tolerance.</a:t>
            </a:r>
          </a:p>
        </p:txBody>
      </p:sp>
      <p:sp>
        <p:nvSpPr>
          <p:cNvPr id="10" name="Rectangle 9"/>
          <p:cNvSpPr/>
          <p:nvPr/>
        </p:nvSpPr>
        <p:spPr>
          <a:xfrm>
            <a:off x="777240" y="2971800"/>
            <a:ext cx="10634472" cy="457200"/>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 name="TextBox 10"/>
          <p:cNvSpPr txBox="1"/>
          <p:nvPr/>
        </p:nvSpPr>
        <p:spPr>
          <a:xfrm>
            <a:off x="960120" y="2971800"/>
            <a:ext cx="10241280" cy="457200"/>
          </a:xfrm>
          <a:prstGeom prst="rect">
            <a:avLst/>
          </a:prstGeom>
          <a:noFill/>
        </p:spPr>
        <p:txBody>
          <a:bodyPr wrap="square" anchor="ctr">
            <a:spAutoFit/>
          </a:bodyPr>
          <a:lstStyle/>
          <a:p>
            <a:pPr algn="l">
              <a:spcAft>
                <a:spcPts val="400"/>
              </a:spcAft>
            </a:pPr>
            <a:r>
              <a:rPr sz="1100" b="1">
                <a:solidFill>
                  <a:srgbClr val="1F6FEB"/>
                </a:solidFill>
                <a:latin typeface="Arial"/>
              </a:rPr>
              <a:t>MAPS TO  </a:t>
            </a:r>
            <a:r>
              <a:rPr sz="1250" b="0">
                <a:solidFill>
                  <a:srgbClr val="161B26"/>
                </a:solidFill>
                <a:latin typeface="Arial"/>
              </a:rPr>
              <a:t>LO7 — Synthesize quantum methodologies to address complex problems</a:t>
            </a:r>
          </a:p>
        </p:txBody>
      </p:sp>
      <p:sp>
        <p:nvSpPr>
          <p:cNvPr id="12" name="Rectangle 11"/>
          <p:cNvSpPr/>
          <p:nvPr/>
        </p:nvSpPr>
        <p:spPr>
          <a:xfrm>
            <a:off x="777240" y="3611880"/>
            <a:ext cx="10634472" cy="1234440"/>
          </a:xfrm>
          <a:prstGeom prst="rect">
            <a:avLst/>
          </a:prstGeom>
          <a:solidFill>
            <a:srgbClr val="E8F7E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 name="TextBox 12"/>
          <p:cNvSpPr txBox="1"/>
          <p:nvPr/>
        </p:nvSpPr>
        <p:spPr>
          <a:xfrm>
            <a:off x="1051560" y="3767328"/>
            <a:ext cx="10058400" cy="365760"/>
          </a:xfrm>
          <a:prstGeom prst="rect">
            <a:avLst/>
          </a:prstGeom>
          <a:noFill/>
        </p:spPr>
        <p:txBody>
          <a:bodyPr wrap="square" anchor="t">
            <a:spAutoFit/>
          </a:bodyPr>
          <a:lstStyle/>
          <a:p>
            <a:pPr algn="l">
              <a:spcAft>
                <a:spcPts val="400"/>
              </a:spcAft>
            </a:pPr>
            <a:r>
              <a:rPr sz="1200" b="1">
                <a:solidFill>
                  <a:srgbClr val="127A3E"/>
                </a:solidFill>
                <a:latin typeface="Arial"/>
              </a:rPr>
              <a:t>YOU'LL PRODUCE</a:t>
            </a:r>
          </a:p>
        </p:txBody>
      </p:sp>
      <p:sp>
        <p:nvSpPr>
          <p:cNvPr id="14" name="TextBox 13"/>
          <p:cNvSpPr txBox="1"/>
          <p:nvPr/>
        </p:nvSpPr>
        <p:spPr>
          <a:xfrm>
            <a:off x="1051560" y="4133087"/>
            <a:ext cx="10058400" cy="640080"/>
          </a:xfrm>
          <a:prstGeom prst="rect">
            <a:avLst/>
          </a:prstGeom>
          <a:noFill/>
        </p:spPr>
        <p:txBody>
          <a:bodyPr wrap="square" anchor="t">
            <a:spAutoFit/>
          </a:bodyPr>
          <a:lstStyle/>
          <a:p>
            <a:pPr algn="l">
              <a:spcAft>
                <a:spcPts val="400"/>
              </a:spcAft>
            </a:pPr>
            <a:r>
              <a:rPr sz="1550" b="1">
                <a:solidFill>
                  <a:srgbClr val="161B26"/>
                </a:solidFill>
                <a:latin typeface="Arial"/>
              </a:rPr>
              <a:t>Working Shor 9-qubit and Steane 7-qubit code circuits, with a comparison of qubit cost against protection offered.</a:t>
            </a:r>
          </a:p>
        </p:txBody>
      </p:sp>
      <p:sp>
        <p:nvSpPr>
          <p:cNvPr id="15" name="Rectangle 14"/>
          <p:cNvSpPr/>
          <p:nvPr/>
        </p:nvSpPr>
        <p:spPr>
          <a:xfrm>
            <a:off x="777240" y="5029200"/>
            <a:ext cx="10634472" cy="960120"/>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6" name="TextBox 15"/>
          <p:cNvSpPr txBox="1"/>
          <p:nvPr/>
        </p:nvSpPr>
        <p:spPr>
          <a:xfrm>
            <a:off x="1051560" y="5138928"/>
            <a:ext cx="10058400" cy="365760"/>
          </a:xfrm>
          <a:prstGeom prst="rect">
            <a:avLst/>
          </a:prstGeom>
          <a:noFill/>
        </p:spPr>
        <p:txBody>
          <a:bodyPr wrap="square" anchor="t">
            <a:spAutoFit/>
          </a:bodyPr>
          <a:lstStyle/>
          <a:p>
            <a:pPr algn="l">
              <a:spcAft>
                <a:spcPts val="400"/>
              </a:spcAft>
            </a:pPr>
            <a:r>
              <a:rPr sz="1200" b="1">
                <a:solidFill>
                  <a:srgbClr val="5B6372"/>
                </a:solidFill>
                <a:latin typeface="Arial"/>
              </a:rPr>
              <a:t>Tools:  </a:t>
            </a:r>
            <a:r>
              <a:rPr sz="1200" b="0">
                <a:solidFill>
                  <a:srgbClr val="5B6372"/>
                </a:solidFill>
                <a:latin typeface="Arial"/>
              </a:rPr>
              <a:t>Qiskit 2.x, IBM Quantum Runtime, OpenQASM</a:t>
            </a:r>
          </a:p>
        </p:txBody>
      </p:sp>
      <p:sp>
        <p:nvSpPr>
          <p:cNvPr id="17" name="TextBox 16"/>
          <p:cNvSpPr txBox="1"/>
          <p:nvPr/>
        </p:nvSpPr>
        <p:spPr>
          <a:xfrm>
            <a:off x="1051560" y="5504688"/>
            <a:ext cx="10058400" cy="365760"/>
          </a:xfrm>
          <a:prstGeom prst="rect">
            <a:avLst/>
          </a:prstGeom>
          <a:noFill/>
        </p:spPr>
        <p:txBody>
          <a:bodyPr wrap="square" anchor="t">
            <a:spAutoFit/>
          </a:bodyPr>
          <a:lstStyle/>
          <a:p>
            <a:pPr algn="l">
              <a:spcAft>
                <a:spcPts val="400"/>
              </a:spcAft>
            </a:pPr>
            <a:r>
              <a:rPr sz="1200" b="1">
                <a:solidFill>
                  <a:srgbClr val="1F6FEB"/>
                </a:solidFill>
                <a:latin typeface="Arial"/>
              </a:rPr>
              <a:t>Full step-by-step guide:  </a:t>
            </a:r>
            <a:r>
              <a:rPr sz="1200" b="0">
                <a:solidFill>
                  <a:srgbClr val="161B26"/>
                </a:solidFill>
                <a:latin typeface="Arial"/>
              </a:rPr>
              <a:t>Learner Guide — Activity 18: Shor 9-Qubit and Steane 7-Qubit Codes</a:t>
            </a:r>
          </a:p>
        </p:txBody>
      </p:sp>
      <p:sp>
        <p:nvSpPr>
          <p:cNvPr id="18" name="TextBox 17"/>
          <p:cNvSpPr txBox="1"/>
          <p:nvPr/>
        </p:nvSpPr>
        <p:spPr>
          <a:xfrm>
            <a:off x="365760" y="6446520"/>
            <a:ext cx="6858000" cy="320040"/>
          </a:xfrm>
          <a:prstGeom prst="rect">
            <a:avLst/>
          </a:prstGeom>
          <a:noFill/>
        </p:spPr>
        <p:txBody>
          <a:bodyPr wrap="square" anchor="t">
            <a:spAutoFit/>
          </a:bodyPr>
          <a:lstStyle/>
          <a:p>
            <a:pPr algn="l">
              <a:spcAft>
                <a:spcPts val="400"/>
              </a:spcAft>
            </a:pPr>
            <a:r>
              <a:rPr sz="900" b="0">
                <a:solidFill>
                  <a:srgbClr val="5B6372"/>
                </a:solidFill>
                <a:latin typeface="Arial"/>
              </a:rPr>
              <a:t>Securing the Future with Quantum Computing and Cryptography  ·  TGS-2024043419</a:t>
            </a:r>
          </a:p>
        </p:txBody>
      </p:sp>
      <p:sp>
        <p:nvSpPr>
          <p:cNvPr id="19" name="TextBox 18"/>
          <p:cNvSpPr txBox="1"/>
          <p:nvPr/>
        </p:nvSpPr>
        <p:spPr>
          <a:xfrm>
            <a:off x="4572000" y="6446520"/>
            <a:ext cx="3017520" cy="320040"/>
          </a:xfrm>
          <a:prstGeom prst="rect">
            <a:avLst/>
          </a:prstGeom>
          <a:noFill/>
        </p:spPr>
        <p:txBody>
          <a:bodyPr wrap="square" anchor="t">
            <a:spAutoFit/>
          </a:bodyPr>
          <a:lstStyle/>
          <a:p>
            <a:pPr algn="ctr">
              <a:spcAft>
                <a:spcPts val="400"/>
              </a:spcAft>
            </a:pPr>
            <a:r>
              <a:rPr sz="900" b="0">
                <a:solidFill>
                  <a:srgbClr val="5B6372"/>
                </a:solidFill>
                <a:latin typeface="Arial"/>
              </a:rPr>
              <a:t>© 2026 Tertiary Infotech Academy Pte Ltd</a:t>
            </a:r>
          </a:p>
        </p:txBody>
      </p:sp>
      <p:sp>
        <p:nvSpPr>
          <p:cNvPr id="20" name="TextBox 19"/>
          <p:cNvSpPr txBox="1"/>
          <p:nvPr/>
        </p:nvSpPr>
        <p:spPr>
          <a:xfrm>
            <a:off x="11338560" y="6446520"/>
            <a:ext cx="548640" cy="320040"/>
          </a:xfrm>
          <a:prstGeom prst="rect">
            <a:avLst/>
          </a:prstGeom>
          <a:noFill/>
        </p:spPr>
        <p:txBody>
          <a:bodyPr wrap="square" anchor="t">
            <a:spAutoFit/>
          </a:bodyPr>
          <a:lstStyle/>
          <a:p>
            <a:pPr algn="r">
              <a:spcAft>
                <a:spcPts val="400"/>
              </a:spcAft>
            </a:pPr>
            <a:r>
              <a:rPr sz="900" b="0">
                <a:solidFill>
                  <a:srgbClr val="5B6372"/>
                </a:solidFill>
                <a:latin typeface="Arial"/>
              </a:rPr>
              <a:t>252</a:t>
            </a:r>
          </a:p>
        </p:txBody>
      </p:sp>
    </p:spTree>
  </p:cSld>
  <p:clrMapOvr>
    <a:masterClrMapping/>
  </p:clrMapOvr>
</p:sld>
</file>

<file path=ppt/slides/slide254.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256032" cy="1417320"/>
          </a:xfrm>
          <a:prstGeom prst="rect">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777240" y="457200"/>
            <a:ext cx="10607040" cy="365760"/>
          </a:xfrm>
          <a:prstGeom prst="rect">
            <a:avLst/>
          </a:prstGeom>
          <a:noFill/>
        </p:spPr>
        <p:txBody>
          <a:bodyPr wrap="square" anchor="t">
            <a:spAutoFit/>
          </a:bodyPr>
          <a:lstStyle/>
          <a:p>
            <a:pPr algn="l">
              <a:spcAft>
                <a:spcPts val="400"/>
              </a:spcAft>
            </a:pPr>
            <a:r>
              <a:rPr sz="1400" b="1">
                <a:solidFill>
                  <a:srgbClr val="10B981"/>
                </a:solidFill>
                <a:latin typeface="Arial"/>
              </a:rPr>
              <a:t>ACTIVITY 18 · VERIFY &amp; DEBRIEF</a:t>
            </a:r>
          </a:p>
        </p:txBody>
      </p:sp>
      <p:sp>
        <p:nvSpPr>
          <p:cNvPr id="5" name="TextBox 4"/>
          <p:cNvSpPr txBox="1"/>
          <p:nvPr/>
        </p:nvSpPr>
        <p:spPr>
          <a:xfrm>
            <a:off x="777240" y="822960"/>
            <a:ext cx="10881360" cy="822960"/>
          </a:xfrm>
          <a:prstGeom prst="rect">
            <a:avLst/>
          </a:prstGeom>
          <a:noFill/>
        </p:spPr>
        <p:txBody>
          <a:bodyPr wrap="square" anchor="t">
            <a:spAutoFit/>
          </a:bodyPr>
          <a:lstStyle/>
          <a:p>
            <a:pPr algn="l">
              <a:spcAft>
                <a:spcPts val="400"/>
              </a:spcAft>
            </a:pPr>
            <a:r>
              <a:rPr sz="2900" b="1">
                <a:solidFill>
                  <a:srgbClr val="161B26"/>
                </a:solidFill>
                <a:latin typeface="Arial"/>
              </a:rPr>
              <a:t>Shor 9-Qubit and Steane 7-Qubit Codes</a:t>
            </a:r>
          </a:p>
        </p:txBody>
      </p:sp>
      <p:sp>
        <p:nvSpPr>
          <p:cNvPr id="6" name="Rectangle 5"/>
          <p:cNvSpPr/>
          <p:nvPr/>
        </p:nvSpPr>
        <p:spPr>
          <a:xfrm>
            <a:off x="777240" y="1554480"/>
            <a:ext cx="10634472" cy="18288"/>
          </a:xfrm>
          <a:prstGeom prst="rect">
            <a:avLst/>
          </a:prstGeom>
          <a:solidFill>
            <a:srgbClr val="E2E8F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Rectangle 6"/>
          <p:cNvSpPr/>
          <p:nvPr/>
        </p:nvSpPr>
        <p:spPr>
          <a:xfrm>
            <a:off x="777240" y="1783080"/>
            <a:ext cx="10634472" cy="2148840"/>
          </a:xfrm>
          <a:prstGeom prst="rect">
            <a:avLst/>
          </a:prstGeom>
          <a:solidFill>
            <a:srgbClr val="E8F7E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Rectangle 7"/>
          <p:cNvSpPr/>
          <p:nvPr/>
        </p:nvSpPr>
        <p:spPr>
          <a:xfrm>
            <a:off x="777240" y="1783080"/>
            <a:ext cx="100584" cy="2148840"/>
          </a:xfrm>
          <a:prstGeom prst="rect">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TextBox 8"/>
          <p:cNvSpPr txBox="1"/>
          <p:nvPr/>
        </p:nvSpPr>
        <p:spPr>
          <a:xfrm>
            <a:off x="1143000" y="1965960"/>
            <a:ext cx="10058400" cy="411480"/>
          </a:xfrm>
          <a:prstGeom prst="rect">
            <a:avLst/>
          </a:prstGeom>
          <a:noFill/>
        </p:spPr>
        <p:txBody>
          <a:bodyPr wrap="square" anchor="t">
            <a:spAutoFit/>
          </a:bodyPr>
          <a:lstStyle/>
          <a:p>
            <a:pPr algn="l">
              <a:spcAft>
                <a:spcPts val="400"/>
              </a:spcAft>
            </a:pPr>
            <a:r>
              <a:rPr sz="1300" b="1">
                <a:solidFill>
                  <a:srgbClr val="127A3E"/>
                </a:solidFill>
                <a:latin typeface="Arial"/>
              </a:rPr>
              <a:t>TEST IT — HOW YOU KNOW IT WORKED</a:t>
            </a:r>
          </a:p>
        </p:txBody>
      </p:sp>
      <p:sp>
        <p:nvSpPr>
          <p:cNvPr id="10" name="TextBox 9"/>
          <p:cNvSpPr txBox="1"/>
          <p:nvPr/>
        </p:nvSpPr>
        <p:spPr>
          <a:xfrm>
            <a:off x="1143000" y="2423160"/>
            <a:ext cx="10058400" cy="1371600"/>
          </a:xfrm>
          <a:prstGeom prst="rect">
            <a:avLst/>
          </a:prstGeom>
          <a:noFill/>
        </p:spPr>
        <p:txBody>
          <a:bodyPr wrap="square" anchor="t">
            <a:spAutoFit/>
          </a:bodyPr>
          <a:lstStyle/>
          <a:p>
            <a:pPr algn="l">
              <a:spcAft>
                <a:spcPts val="400"/>
              </a:spcAft>
            </a:pPr>
            <a:r>
              <a:rPr sz="1600" b="0">
                <a:solidFill>
                  <a:srgbClr val="161B26"/>
                </a:solidFill>
                <a:latin typeface="Arial"/>
              </a:rPr>
              <a:t>Both the Shor 9-qubit and Steane 7-qubit circuits detect and correct an arbitrary injected single-qubit error (X, Y or Z), and you can state the qubit overhead each code requires.</a:t>
            </a:r>
          </a:p>
        </p:txBody>
      </p:sp>
      <p:sp>
        <p:nvSpPr>
          <p:cNvPr id="11" name="TextBox 10"/>
          <p:cNvSpPr txBox="1"/>
          <p:nvPr/>
        </p:nvSpPr>
        <p:spPr>
          <a:xfrm>
            <a:off x="777240" y="4096512"/>
            <a:ext cx="10607040" cy="365760"/>
          </a:xfrm>
          <a:prstGeom prst="rect">
            <a:avLst/>
          </a:prstGeom>
          <a:noFill/>
        </p:spPr>
        <p:txBody>
          <a:bodyPr wrap="square" anchor="t">
            <a:spAutoFit/>
          </a:bodyPr>
          <a:lstStyle/>
          <a:p>
            <a:pPr algn="l">
              <a:spcAft>
                <a:spcPts val="400"/>
              </a:spcAft>
            </a:pPr>
            <a:r>
              <a:rPr sz="1300" b="1">
                <a:solidFill>
                  <a:srgbClr val="1F6FEB"/>
                </a:solidFill>
                <a:latin typeface="Arial"/>
              </a:rPr>
              <a:t>DISCUSS WITH YOUR TRAINER</a:t>
            </a:r>
          </a:p>
        </p:txBody>
      </p:sp>
      <p:sp>
        <p:nvSpPr>
          <p:cNvPr id="12" name="Rectangle 11"/>
          <p:cNvSpPr/>
          <p:nvPr/>
        </p:nvSpPr>
        <p:spPr>
          <a:xfrm>
            <a:off x="777240" y="4480560"/>
            <a:ext cx="3447288" cy="1463040"/>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 name="Rectangle 12"/>
          <p:cNvSpPr/>
          <p:nvPr/>
        </p:nvSpPr>
        <p:spPr>
          <a:xfrm>
            <a:off x="777240" y="4480560"/>
            <a:ext cx="3447288" cy="82296"/>
          </a:xfrm>
          <a:prstGeom prst="rect">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 name="TextBox 13"/>
          <p:cNvSpPr txBox="1"/>
          <p:nvPr/>
        </p:nvSpPr>
        <p:spPr>
          <a:xfrm>
            <a:off x="978408" y="4663440"/>
            <a:ext cx="3044952" cy="457200"/>
          </a:xfrm>
          <a:prstGeom prst="rect">
            <a:avLst/>
          </a:prstGeom>
          <a:noFill/>
        </p:spPr>
        <p:txBody>
          <a:bodyPr wrap="square" anchor="t">
            <a:spAutoFit/>
          </a:bodyPr>
          <a:lstStyle/>
          <a:p>
            <a:pPr algn="l">
              <a:spcAft>
                <a:spcPts val="400"/>
              </a:spcAft>
            </a:pPr>
            <a:r>
              <a:rPr sz="1350" b="1">
                <a:solidFill>
                  <a:srgbClr val="1F6FEB"/>
                </a:solidFill>
                <a:latin typeface="Arial"/>
              </a:rPr>
              <a:t>What did the result show?</a:t>
            </a:r>
          </a:p>
        </p:txBody>
      </p:sp>
      <p:sp>
        <p:nvSpPr>
          <p:cNvPr id="15" name="TextBox 14"/>
          <p:cNvSpPr txBox="1"/>
          <p:nvPr/>
        </p:nvSpPr>
        <p:spPr>
          <a:xfrm>
            <a:off x="978408" y="5138928"/>
            <a:ext cx="3044952" cy="731520"/>
          </a:xfrm>
          <a:prstGeom prst="rect">
            <a:avLst/>
          </a:prstGeom>
          <a:noFill/>
        </p:spPr>
        <p:txBody>
          <a:bodyPr wrap="square" anchor="t">
            <a:spAutoFit/>
          </a:bodyPr>
          <a:lstStyle/>
          <a:p>
            <a:pPr algn="l">
              <a:spcAft>
                <a:spcPts val="400"/>
              </a:spcAft>
            </a:pPr>
            <a:r>
              <a:rPr sz="1200" b="0">
                <a:solidFill>
                  <a:srgbClr val="5B6372"/>
                </a:solidFill>
                <a:latin typeface="Arial"/>
              </a:rPr>
              <a:t>Restate the outcome in your own words.</a:t>
            </a:r>
          </a:p>
        </p:txBody>
      </p:sp>
      <p:sp>
        <p:nvSpPr>
          <p:cNvPr id="16" name="Rectangle 15"/>
          <p:cNvSpPr/>
          <p:nvPr/>
        </p:nvSpPr>
        <p:spPr>
          <a:xfrm>
            <a:off x="4370832" y="4480560"/>
            <a:ext cx="3447288" cy="1463040"/>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7" name="Rectangle 16"/>
          <p:cNvSpPr/>
          <p:nvPr/>
        </p:nvSpPr>
        <p:spPr>
          <a:xfrm>
            <a:off x="4370832" y="4480560"/>
            <a:ext cx="3447288" cy="82296"/>
          </a:xfrm>
          <a:prstGeom prst="rect">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8" name="TextBox 17"/>
          <p:cNvSpPr txBox="1"/>
          <p:nvPr/>
        </p:nvSpPr>
        <p:spPr>
          <a:xfrm>
            <a:off x="4572000" y="4663440"/>
            <a:ext cx="3044952" cy="457200"/>
          </a:xfrm>
          <a:prstGeom prst="rect">
            <a:avLst/>
          </a:prstGeom>
          <a:noFill/>
        </p:spPr>
        <p:txBody>
          <a:bodyPr wrap="square" anchor="t">
            <a:spAutoFit/>
          </a:bodyPr>
          <a:lstStyle/>
          <a:p>
            <a:pPr algn="l">
              <a:spcAft>
                <a:spcPts val="400"/>
              </a:spcAft>
            </a:pPr>
            <a:r>
              <a:rPr sz="1350" b="1">
                <a:solidFill>
                  <a:srgbClr val="10B981"/>
                </a:solidFill>
                <a:latin typeface="Arial"/>
              </a:rPr>
              <a:t>Why does it work?</a:t>
            </a:r>
          </a:p>
        </p:txBody>
      </p:sp>
      <p:sp>
        <p:nvSpPr>
          <p:cNvPr id="19" name="TextBox 18"/>
          <p:cNvSpPr txBox="1"/>
          <p:nvPr/>
        </p:nvSpPr>
        <p:spPr>
          <a:xfrm>
            <a:off x="4572000" y="5138928"/>
            <a:ext cx="3044952" cy="731520"/>
          </a:xfrm>
          <a:prstGeom prst="rect">
            <a:avLst/>
          </a:prstGeom>
          <a:noFill/>
        </p:spPr>
        <p:txBody>
          <a:bodyPr wrap="square" anchor="t">
            <a:spAutoFit/>
          </a:bodyPr>
          <a:lstStyle/>
          <a:p>
            <a:pPr algn="l">
              <a:spcAft>
                <a:spcPts val="400"/>
              </a:spcAft>
            </a:pPr>
            <a:r>
              <a:rPr sz="1200" b="0">
                <a:solidFill>
                  <a:srgbClr val="5B6372"/>
                </a:solidFill>
                <a:latin typeface="Arial"/>
              </a:rPr>
              <a:t>Name the quantum principle the activity relies on.</a:t>
            </a:r>
          </a:p>
        </p:txBody>
      </p:sp>
      <p:sp>
        <p:nvSpPr>
          <p:cNvPr id="20" name="Rectangle 19"/>
          <p:cNvSpPr/>
          <p:nvPr/>
        </p:nvSpPr>
        <p:spPr>
          <a:xfrm>
            <a:off x="7964424" y="4480560"/>
            <a:ext cx="3447288" cy="1463040"/>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1" name="Rectangle 20"/>
          <p:cNvSpPr/>
          <p:nvPr/>
        </p:nvSpPr>
        <p:spPr>
          <a:xfrm>
            <a:off x="7964424" y="4480560"/>
            <a:ext cx="3447288" cy="82296"/>
          </a:xfrm>
          <a:prstGeom prst="rect">
            <a:avLst/>
          </a:prstGeom>
          <a:solidFill>
            <a:srgbClr val="7C3AE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2" name="TextBox 21"/>
          <p:cNvSpPr txBox="1"/>
          <p:nvPr/>
        </p:nvSpPr>
        <p:spPr>
          <a:xfrm>
            <a:off x="8165592" y="4663440"/>
            <a:ext cx="3044952" cy="457200"/>
          </a:xfrm>
          <a:prstGeom prst="rect">
            <a:avLst/>
          </a:prstGeom>
          <a:noFill/>
        </p:spPr>
        <p:txBody>
          <a:bodyPr wrap="square" anchor="t">
            <a:spAutoFit/>
          </a:bodyPr>
          <a:lstStyle/>
          <a:p>
            <a:pPr algn="l">
              <a:spcAft>
                <a:spcPts val="400"/>
              </a:spcAft>
            </a:pPr>
            <a:r>
              <a:rPr sz="1350" b="1">
                <a:solidFill>
                  <a:srgbClr val="7C3AED"/>
                </a:solidFill>
                <a:latin typeface="Arial"/>
              </a:rPr>
              <a:t>Where would you use it?</a:t>
            </a:r>
          </a:p>
        </p:txBody>
      </p:sp>
      <p:sp>
        <p:nvSpPr>
          <p:cNvPr id="23" name="TextBox 22"/>
          <p:cNvSpPr txBox="1"/>
          <p:nvPr/>
        </p:nvSpPr>
        <p:spPr>
          <a:xfrm>
            <a:off x="8165592" y="5138928"/>
            <a:ext cx="3044952" cy="731520"/>
          </a:xfrm>
          <a:prstGeom prst="rect">
            <a:avLst/>
          </a:prstGeom>
          <a:noFill/>
        </p:spPr>
        <p:txBody>
          <a:bodyPr wrap="square" anchor="t">
            <a:spAutoFit/>
          </a:bodyPr>
          <a:lstStyle/>
          <a:p>
            <a:pPr algn="l">
              <a:spcAft>
                <a:spcPts val="400"/>
              </a:spcAft>
            </a:pPr>
            <a:r>
              <a:rPr sz="1200" b="0">
                <a:solidFill>
                  <a:srgbClr val="5B6372"/>
                </a:solidFill>
                <a:latin typeface="Arial"/>
              </a:rPr>
              <a:t>Give one realistic application in your own field.</a:t>
            </a:r>
          </a:p>
        </p:txBody>
      </p:sp>
      <p:sp>
        <p:nvSpPr>
          <p:cNvPr id="24" name="TextBox 23"/>
          <p:cNvSpPr txBox="1"/>
          <p:nvPr/>
        </p:nvSpPr>
        <p:spPr>
          <a:xfrm>
            <a:off x="365760" y="6446520"/>
            <a:ext cx="6858000" cy="320040"/>
          </a:xfrm>
          <a:prstGeom prst="rect">
            <a:avLst/>
          </a:prstGeom>
          <a:noFill/>
        </p:spPr>
        <p:txBody>
          <a:bodyPr wrap="square" anchor="t">
            <a:spAutoFit/>
          </a:bodyPr>
          <a:lstStyle/>
          <a:p>
            <a:pPr algn="l">
              <a:spcAft>
                <a:spcPts val="400"/>
              </a:spcAft>
            </a:pPr>
            <a:r>
              <a:rPr sz="900" b="0">
                <a:solidFill>
                  <a:srgbClr val="5B6372"/>
                </a:solidFill>
                <a:latin typeface="Arial"/>
              </a:rPr>
              <a:t>Securing the Future with Quantum Computing and Cryptography  ·  TGS-2024043419</a:t>
            </a:r>
          </a:p>
        </p:txBody>
      </p:sp>
      <p:sp>
        <p:nvSpPr>
          <p:cNvPr id="25" name="TextBox 24"/>
          <p:cNvSpPr txBox="1"/>
          <p:nvPr/>
        </p:nvSpPr>
        <p:spPr>
          <a:xfrm>
            <a:off x="4572000" y="6446520"/>
            <a:ext cx="3017520" cy="320040"/>
          </a:xfrm>
          <a:prstGeom prst="rect">
            <a:avLst/>
          </a:prstGeom>
          <a:noFill/>
        </p:spPr>
        <p:txBody>
          <a:bodyPr wrap="square" anchor="t">
            <a:spAutoFit/>
          </a:bodyPr>
          <a:lstStyle/>
          <a:p>
            <a:pPr algn="ctr">
              <a:spcAft>
                <a:spcPts val="400"/>
              </a:spcAft>
            </a:pPr>
            <a:r>
              <a:rPr sz="900" b="0">
                <a:solidFill>
                  <a:srgbClr val="5B6372"/>
                </a:solidFill>
                <a:latin typeface="Arial"/>
              </a:rPr>
              <a:t>© 2026 Tertiary Infotech Academy Pte Ltd</a:t>
            </a:r>
          </a:p>
        </p:txBody>
      </p:sp>
      <p:sp>
        <p:nvSpPr>
          <p:cNvPr id="26" name="TextBox 25"/>
          <p:cNvSpPr txBox="1"/>
          <p:nvPr/>
        </p:nvSpPr>
        <p:spPr>
          <a:xfrm>
            <a:off x="11338560" y="6446520"/>
            <a:ext cx="548640" cy="320040"/>
          </a:xfrm>
          <a:prstGeom prst="rect">
            <a:avLst/>
          </a:prstGeom>
          <a:noFill/>
        </p:spPr>
        <p:txBody>
          <a:bodyPr wrap="square" anchor="t">
            <a:spAutoFit/>
          </a:bodyPr>
          <a:lstStyle/>
          <a:p>
            <a:pPr algn="r">
              <a:spcAft>
                <a:spcPts val="400"/>
              </a:spcAft>
            </a:pPr>
            <a:r>
              <a:rPr sz="900" b="0">
                <a:solidFill>
                  <a:srgbClr val="5B6372"/>
                </a:solidFill>
                <a:latin typeface="Arial"/>
              </a:rPr>
              <a:t>253</a:t>
            </a:r>
          </a:p>
        </p:txBody>
      </p:sp>
    </p:spTree>
  </p:cSld>
  <p:clrMapOvr>
    <a:masterClrMapping/>
  </p:clrMapOvr>
</p:sld>
</file>

<file path=ppt/slides/slide255.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256032" cy="1417320"/>
          </a:xfrm>
          <a:prstGeom prst="rect">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777240" y="457200"/>
            <a:ext cx="10607040" cy="365760"/>
          </a:xfrm>
          <a:prstGeom prst="rect">
            <a:avLst/>
          </a:prstGeom>
          <a:noFill/>
        </p:spPr>
        <p:txBody>
          <a:bodyPr wrap="square" anchor="t">
            <a:spAutoFit/>
          </a:bodyPr>
          <a:lstStyle/>
          <a:p>
            <a:pPr algn="l">
              <a:spcAft>
                <a:spcPts val="400"/>
              </a:spcAft>
            </a:pPr>
            <a:r>
              <a:rPr sz="1400" b="1">
                <a:solidFill>
                  <a:srgbClr val="1F6FEB"/>
                </a:solidFill>
                <a:latin typeface="Arial"/>
              </a:rPr>
              <a:t>TOPIC RECAP</a:t>
            </a:r>
          </a:p>
        </p:txBody>
      </p:sp>
      <p:sp>
        <p:nvSpPr>
          <p:cNvPr id="5" name="TextBox 4"/>
          <p:cNvSpPr txBox="1"/>
          <p:nvPr/>
        </p:nvSpPr>
        <p:spPr>
          <a:xfrm>
            <a:off x="777240" y="822960"/>
            <a:ext cx="10881360" cy="822960"/>
          </a:xfrm>
          <a:prstGeom prst="rect">
            <a:avLst/>
          </a:prstGeom>
          <a:noFill/>
        </p:spPr>
        <p:txBody>
          <a:bodyPr wrap="square" anchor="t">
            <a:spAutoFit/>
          </a:bodyPr>
          <a:lstStyle/>
          <a:p>
            <a:pPr algn="l">
              <a:spcAft>
                <a:spcPts val="400"/>
              </a:spcAft>
            </a:pPr>
            <a:r>
              <a:rPr sz="2900" b="1">
                <a:solidFill>
                  <a:srgbClr val="161B26"/>
                </a:solidFill>
                <a:latin typeface="Arial"/>
              </a:rPr>
              <a:t>Recap — Quantum Error Correction</a:t>
            </a:r>
          </a:p>
        </p:txBody>
      </p:sp>
      <p:sp>
        <p:nvSpPr>
          <p:cNvPr id="6" name="Rectangle 5"/>
          <p:cNvSpPr/>
          <p:nvPr/>
        </p:nvSpPr>
        <p:spPr>
          <a:xfrm>
            <a:off x="777240" y="1554480"/>
            <a:ext cx="10634472" cy="18288"/>
          </a:xfrm>
          <a:prstGeom prst="rect">
            <a:avLst/>
          </a:prstGeom>
          <a:solidFill>
            <a:srgbClr val="E2E8F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TextBox 6"/>
          <p:cNvSpPr txBox="1"/>
          <p:nvPr/>
        </p:nvSpPr>
        <p:spPr>
          <a:xfrm>
            <a:off x="777240" y="1783080"/>
            <a:ext cx="10607040" cy="4480560"/>
          </a:xfrm>
          <a:prstGeom prst="rect">
            <a:avLst/>
          </a:prstGeom>
          <a:noFill/>
        </p:spPr>
        <p:txBody>
          <a:bodyPr wrap="square">
            <a:spAutoFit/>
          </a:bodyPr>
          <a:lstStyle/>
          <a:p>
            <a:pPr>
              <a:spcAft>
                <a:spcPts val="1000"/>
              </a:spcAft>
            </a:pPr>
            <a:r>
              <a:rPr sz="1600">
                <a:solidFill>
                  <a:srgbClr val="161B26"/>
                </a:solidFill>
                <a:latin typeface="Arial"/>
              </a:rPr>
              <a:t>•  Why QEC is needed</a:t>
            </a:r>
          </a:p>
          <a:p>
            <a:pPr>
              <a:spcAft>
                <a:spcPts val="1000"/>
              </a:spcAft>
            </a:pPr>
            <a:r>
              <a:rPr sz="1600">
                <a:solidFill>
                  <a:srgbClr val="161B26"/>
                </a:solidFill>
                <a:latin typeface="Arial"/>
              </a:rPr>
              <a:t>•  Quantum-specific challenges</a:t>
            </a:r>
          </a:p>
          <a:p>
            <a:pPr>
              <a:spcAft>
                <a:spcPts val="1000"/>
              </a:spcAft>
            </a:pPr>
            <a:r>
              <a:rPr sz="1600">
                <a:solidFill>
                  <a:srgbClr val="161B26"/>
                </a:solidFill>
                <a:latin typeface="Arial"/>
              </a:rPr>
              <a:t>•  Syndrome measurement</a:t>
            </a:r>
          </a:p>
          <a:p>
            <a:pPr>
              <a:spcAft>
                <a:spcPts val="1000"/>
              </a:spcAft>
            </a:pPr>
            <a:r>
              <a:rPr sz="1600">
                <a:solidFill>
                  <a:srgbClr val="161B26"/>
                </a:solidFill>
                <a:latin typeface="Arial"/>
              </a:rPr>
              <a:t>•  Bit-flip and phase-flip codes</a:t>
            </a:r>
          </a:p>
          <a:p>
            <a:pPr>
              <a:spcAft>
                <a:spcPts val="1000"/>
              </a:spcAft>
            </a:pPr>
            <a:r>
              <a:rPr sz="1600">
                <a:solidFill>
                  <a:srgbClr val="161B26"/>
                </a:solidFill>
                <a:latin typeface="Arial"/>
              </a:rPr>
              <a:t>•  Shor, Steane and surface codes</a:t>
            </a:r>
          </a:p>
          <a:p>
            <a:pPr>
              <a:spcAft>
                <a:spcPts val="1000"/>
              </a:spcAft>
            </a:pPr>
            <a:r>
              <a:rPr sz="1600">
                <a:solidFill>
                  <a:srgbClr val="161B26"/>
                </a:solidFill>
                <a:latin typeface="Arial"/>
              </a:rPr>
              <a:t>•  Fault tolerance</a:t>
            </a:r>
          </a:p>
        </p:txBody>
      </p:sp>
      <p:sp>
        <p:nvSpPr>
          <p:cNvPr id="8" name="TextBox 7"/>
          <p:cNvSpPr txBox="1"/>
          <p:nvPr/>
        </p:nvSpPr>
        <p:spPr>
          <a:xfrm>
            <a:off x="365760" y="6446520"/>
            <a:ext cx="6858000" cy="320040"/>
          </a:xfrm>
          <a:prstGeom prst="rect">
            <a:avLst/>
          </a:prstGeom>
          <a:noFill/>
        </p:spPr>
        <p:txBody>
          <a:bodyPr wrap="square" anchor="t">
            <a:spAutoFit/>
          </a:bodyPr>
          <a:lstStyle/>
          <a:p>
            <a:pPr algn="l">
              <a:spcAft>
                <a:spcPts val="400"/>
              </a:spcAft>
            </a:pPr>
            <a:r>
              <a:rPr sz="900" b="0">
                <a:solidFill>
                  <a:srgbClr val="5B6372"/>
                </a:solidFill>
                <a:latin typeface="Arial"/>
              </a:rPr>
              <a:t>Securing the Future with Quantum Computing and Cryptography  ·  TGS-2024043419</a:t>
            </a:r>
          </a:p>
        </p:txBody>
      </p:sp>
      <p:sp>
        <p:nvSpPr>
          <p:cNvPr id="9" name="TextBox 8"/>
          <p:cNvSpPr txBox="1"/>
          <p:nvPr/>
        </p:nvSpPr>
        <p:spPr>
          <a:xfrm>
            <a:off x="4572000" y="6446520"/>
            <a:ext cx="3017520" cy="320040"/>
          </a:xfrm>
          <a:prstGeom prst="rect">
            <a:avLst/>
          </a:prstGeom>
          <a:noFill/>
        </p:spPr>
        <p:txBody>
          <a:bodyPr wrap="square" anchor="t">
            <a:spAutoFit/>
          </a:bodyPr>
          <a:lstStyle/>
          <a:p>
            <a:pPr algn="ctr">
              <a:spcAft>
                <a:spcPts val="400"/>
              </a:spcAft>
            </a:pPr>
            <a:r>
              <a:rPr sz="900" b="0">
                <a:solidFill>
                  <a:srgbClr val="5B6372"/>
                </a:solidFill>
                <a:latin typeface="Arial"/>
              </a:rPr>
              <a:t>© 2026 Tertiary Infotech Academy Pte Ltd</a:t>
            </a:r>
          </a:p>
        </p:txBody>
      </p:sp>
      <p:sp>
        <p:nvSpPr>
          <p:cNvPr id="10" name="TextBox 9"/>
          <p:cNvSpPr txBox="1"/>
          <p:nvPr/>
        </p:nvSpPr>
        <p:spPr>
          <a:xfrm>
            <a:off x="11338560" y="6446520"/>
            <a:ext cx="548640" cy="320040"/>
          </a:xfrm>
          <a:prstGeom prst="rect">
            <a:avLst/>
          </a:prstGeom>
          <a:noFill/>
        </p:spPr>
        <p:txBody>
          <a:bodyPr wrap="square" anchor="t">
            <a:spAutoFit/>
          </a:bodyPr>
          <a:lstStyle/>
          <a:p>
            <a:pPr algn="r">
              <a:spcAft>
                <a:spcPts val="400"/>
              </a:spcAft>
            </a:pPr>
            <a:r>
              <a:rPr sz="900" b="0">
                <a:solidFill>
                  <a:srgbClr val="5B6372"/>
                </a:solidFill>
                <a:latin typeface="Arial"/>
              </a:rPr>
              <a:t>254</a:t>
            </a:r>
          </a:p>
        </p:txBody>
      </p:sp>
    </p:spTree>
  </p:cSld>
  <p:clrMapOvr>
    <a:masterClrMapping/>
  </p:clrMapOvr>
</p:sld>
</file>

<file path=ppt/slides/slide256.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256032" cy="6858000"/>
          </a:xfrm>
          <a:prstGeom prst="rect">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Rectangle 3"/>
          <p:cNvSpPr/>
          <p:nvPr/>
        </p:nvSpPr>
        <p:spPr>
          <a:xfrm>
            <a:off x="777240" y="2286000"/>
            <a:ext cx="128016" cy="1828800"/>
          </a:xfrm>
          <a:prstGeom prst="rect">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TextBox 4"/>
          <p:cNvSpPr txBox="1"/>
          <p:nvPr/>
        </p:nvSpPr>
        <p:spPr>
          <a:xfrm>
            <a:off x="1143000" y="2331720"/>
            <a:ext cx="10058400" cy="548640"/>
          </a:xfrm>
          <a:prstGeom prst="rect">
            <a:avLst/>
          </a:prstGeom>
          <a:noFill/>
        </p:spPr>
        <p:txBody>
          <a:bodyPr wrap="square" anchor="t">
            <a:spAutoFit/>
          </a:bodyPr>
          <a:lstStyle/>
          <a:p>
            <a:pPr algn="l">
              <a:spcAft>
                <a:spcPts val="400"/>
              </a:spcAft>
            </a:pPr>
            <a:r>
              <a:rPr sz="1800" b="1">
                <a:solidFill>
                  <a:srgbClr val="1F6FEB"/>
                </a:solidFill>
                <a:latin typeface="Arial"/>
              </a:rPr>
              <a:t>WRAP-UP</a:t>
            </a:r>
          </a:p>
        </p:txBody>
      </p:sp>
      <p:sp>
        <p:nvSpPr>
          <p:cNvPr id="6" name="TextBox 5"/>
          <p:cNvSpPr txBox="1"/>
          <p:nvPr/>
        </p:nvSpPr>
        <p:spPr>
          <a:xfrm>
            <a:off x="1143000" y="2743200"/>
            <a:ext cx="9509760" cy="1463040"/>
          </a:xfrm>
          <a:prstGeom prst="rect">
            <a:avLst/>
          </a:prstGeom>
          <a:noFill/>
        </p:spPr>
        <p:txBody>
          <a:bodyPr wrap="square" anchor="t">
            <a:spAutoFit/>
          </a:bodyPr>
          <a:lstStyle/>
          <a:p>
            <a:pPr algn="l">
              <a:spcAft>
                <a:spcPts val="400"/>
              </a:spcAft>
            </a:pPr>
            <a:r>
              <a:rPr sz="4000" b="1">
                <a:solidFill>
                  <a:srgbClr val="161B26"/>
                </a:solidFill>
                <a:latin typeface="Arial"/>
              </a:rPr>
              <a:t>Course Summary &amp; Next Steps</a:t>
            </a:r>
          </a:p>
        </p:txBody>
      </p:sp>
      <p:sp>
        <p:nvSpPr>
          <p:cNvPr id="7" name="TextBox 6"/>
          <p:cNvSpPr txBox="1"/>
          <p:nvPr/>
        </p:nvSpPr>
        <p:spPr>
          <a:xfrm>
            <a:off x="365760" y="6446520"/>
            <a:ext cx="6858000" cy="320040"/>
          </a:xfrm>
          <a:prstGeom prst="rect">
            <a:avLst/>
          </a:prstGeom>
          <a:noFill/>
        </p:spPr>
        <p:txBody>
          <a:bodyPr wrap="square" anchor="t">
            <a:spAutoFit/>
          </a:bodyPr>
          <a:lstStyle/>
          <a:p>
            <a:pPr algn="l">
              <a:spcAft>
                <a:spcPts val="400"/>
              </a:spcAft>
            </a:pPr>
            <a:r>
              <a:rPr sz="900" b="0">
                <a:solidFill>
                  <a:srgbClr val="5B6372"/>
                </a:solidFill>
                <a:latin typeface="Arial"/>
              </a:rPr>
              <a:t>Securing the Future with Quantum Computing and Cryptography  ·  TGS-2024043419</a:t>
            </a:r>
          </a:p>
        </p:txBody>
      </p:sp>
      <p:sp>
        <p:nvSpPr>
          <p:cNvPr id="8" name="TextBox 7"/>
          <p:cNvSpPr txBox="1"/>
          <p:nvPr/>
        </p:nvSpPr>
        <p:spPr>
          <a:xfrm>
            <a:off x="4572000" y="6446520"/>
            <a:ext cx="3017520" cy="320040"/>
          </a:xfrm>
          <a:prstGeom prst="rect">
            <a:avLst/>
          </a:prstGeom>
          <a:noFill/>
        </p:spPr>
        <p:txBody>
          <a:bodyPr wrap="square" anchor="t">
            <a:spAutoFit/>
          </a:bodyPr>
          <a:lstStyle/>
          <a:p>
            <a:pPr algn="ctr">
              <a:spcAft>
                <a:spcPts val="400"/>
              </a:spcAft>
            </a:pPr>
            <a:r>
              <a:rPr sz="900" b="0">
                <a:solidFill>
                  <a:srgbClr val="5B6372"/>
                </a:solidFill>
                <a:latin typeface="Arial"/>
              </a:rPr>
              <a:t>© 2026 Tertiary Infotech Academy Pte Ltd</a:t>
            </a:r>
          </a:p>
        </p:txBody>
      </p:sp>
      <p:sp>
        <p:nvSpPr>
          <p:cNvPr id="9" name="TextBox 8"/>
          <p:cNvSpPr txBox="1"/>
          <p:nvPr/>
        </p:nvSpPr>
        <p:spPr>
          <a:xfrm>
            <a:off x="11338560" y="6446520"/>
            <a:ext cx="548640" cy="320040"/>
          </a:xfrm>
          <a:prstGeom prst="rect">
            <a:avLst/>
          </a:prstGeom>
          <a:noFill/>
        </p:spPr>
        <p:txBody>
          <a:bodyPr wrap="square" anchor="t">
            <a:spAutoFit/>
          </a:bodyPr>
          <a:lstStyle/>
          <a:p>
            <a:pPr algn="r">
              <a:spcAft>
                <a:spcPts val="400"/>
              </a:spcAft>
            </a:pPr>
            <a:r>
              <a:rPr sz="900" b="0">
                <a:solidFill>
                  <a:srgbClr val="5B6372"/>
                </a:solidFill>
                <a:latin typeface="Arial"/>
              </a:rPr>
              <a:t>255</a:t>
            </a:r>
          </a:p>
        </p:txBody>
      </p:sp>
    </p:spTree>
  </p:cSld>
  <p:clrMapOvr>
    <a:masterClrMapping/>
  </p:clrMapOvr>
</p:sld>
</file>

<file path=ppt/slides/slide257.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256032" cy="1417320"/>
          </a:xfrm>
          <a:prstGeom prst="rect">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777240" y="457200"/>
            <a:ext cx="10607040" cy="365760"/>
          </a:xfrm>
          <a:prstGeom prst="rect">
            <a:avLst/>
          </a:prstGeom>
          <a:noFill/>
        </p:spPr>
        <p:txBody>
          <a:bodyPr wrap="square" anchor="t">
            <a:spAutoFit/>
          </a:bodyPr>
          <a:lstStyle/>
          <a:p>
            <a:pPr algn="l">
              <a:spcAft>
                <a:spcPts val="400"/>
              </a:spcAft>
            </a:pPr>
            <a:r>
              <a:rPr sz="1400" b="1">
                <a:solidFill>
                  <a:srgbClr val="1F6FEB"/>
                </a:solidFill>
                <a:latin typeface="Arial"/>
              </a:rPr>
              <a:t>LEARNING OUTCOMES ACHIEVED</a:t>
            </a:r>
          </a:p>
        </p:txBody>
      </p:sp>
      <p:sp>
        <p:nvSpPr>
          <p:cNvPr id="5" name="TextBox 4"/>
          <p:cNvSpPr txBox="1"/>
          <p:nvPr/>
        </p:nvSpPr>
        <p:spPr>
          <a:xfrm>
            <a:off x="777240" y="822960"/>
            <a:ext cx="10881360" cy="822960"/>
          </a:xfrm>
          <a:prstGeom prst="rect">
            <a:avLst/>
          </a:prstGeom>
          <a:noFill/>
        </p:spPr>
        <p:txBody>
          <a:bodyPr wrap="square" anchor="t">
            <a:spAutoFit/>
          </a:bodyPr>
          <a:lstStyle/>
          <a:p>
            <a:pPr algn="l">
              <a:spcAft>
                <a:spcPts val="400"/>
              </a:spcAft>
            </a:pPr>
            <a:r>
              <a:rPr sz="2900" b="1">
                <a:solidFill>
                  <a:srgbClr val="161B26"/>
                </a:solidFill>
                <a:latin typeface="Arial"/>
              </a:rPr>
              <a:t>What You Achieved</a:t>
            </a:r>
          </a:p>
        </p:txBody>
      </p:sp>
      <p:sp>
        <p:nvSpPr>
          <p:cNvPr id="6" name="Rectangle 5"/>
          <p:cNvSpPr/>
          <p:nvPr/>
        </p:nvSpPr>
        <p:spPr>
          <a:xfrm>
            <a:off x="777240" y="1554480"/>
            <a:ext cx="10634472" cy="18288"/>
          </a:xfrm>
          <a:prstGeom prst="rect">
            <a:avLst/>
          </a:prstGeom>
          <a:solidFill>
            <a:srgbClr val="E2E8F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Rectangle 6"/>
          <p:cNvSpPr/>
          <p:nvPr/>
        </p:nvSpPr>
        <p:spPr>
          <a:xfrm>
            <a:off x="777240" y="1783080"/>
            <a:ext cx="5180076" cy="914400"/>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Rectangle 7"/>
          <p:cNvSpPr/>
          <p:nvPr/>
        </p:nvSpPr>
        <p:spPr>
          <a:xfrm>
            <a:off x="777240" y="1783080"/>
            <a:ext cx="91440" cy="914400"/>
          </a:xfrm>
          <a:prstGeom prst="rect">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Oval 8"/>
          <p:cNvSpPr/>
          <p:nvPr/>
        </p:nvSpPr>
        <p:spPr>
          <a:xfrm>
            <a:off x="1033272" y="1965960"/>
            <a:ext cx="548640" cy="548640"/>
          </a:xfrm>
          <a:prstGeom prst="ellipse">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TextBox 9"/>
          <p:cNvSpPr txBox="1"/>
          <p:nvPr/>
        </p:nvSpPr>
        <p:spPr>
          <a:xfrm>
            <a:off x="1033272" y="1965960"/>
            <a:ext cx="548640" cy="548640"/>
          </a:xfrm>
          <a:prstGeom prst="rect">
            <a:avLst/>
          </a:prstGeom>
          <a:noFill/>
        </p:spPr>
        <p:txBody>
          <a:bodyPr wrap="square" anchor="ctr">
            <a:spAutoFit/>
          </a:bodyPr>
          <a:lstStyle/>
          <a:p>
            <a:pPr algn="ctr">
              <a:spcAft>
                <a:spcPts val="400"/>
              </a:spcAft>
            </a:pPr>
            <a:r>
              <a:rPr sz="1800" b="1">
                <a:solidFill>
                  <a:srgbClr val="FFFFFF"/>
                </a:solidFill>
                <a:latin typeface="Arial"/>
              </a:rPr>
              <a:t>1</a:t>
            </a:r>
          </a:p>
        </p:txBody>
      </p:sp>
      <p:sp>
        <p:nvSpPr>
          <p:cNvPr id="11" name="TextBox 10"/>
          <p:cNvSpPr txBox="1"/>
          <p:nvPr/>
        </p:nvSpPr>
        <p:spPr>
          <a:xfrm>
            <a:off x="1764792" y="1892808"/>
            <a:ext cx="3973068" cy="731520"/>
          </a:xfrm>
          <a:prstGeom prst="rect">
            <a:avLst/>
          </a:prstGeom>
          <a:noFill/>
        </p:spPr>
        <p:txBody>
          <a:bodyPr wrap="square" anchor="ctr">
            <a:spAutoFit/>
          </a:bodyPr>
          <a:lstStyle/>
          <a:p>
            <a:pPr algn="l">
              <a:spcAft>
                <a:spcPts val="300"/>
              </a:spcAft>
            </a:pPr>
            <a:r>
              <a:rPr sz="1400" b="1">
                <a:solidFill>
                  <a:srgbClr val="161B26"/>
                </a:solidFill>
                <a:latin typeface="Arial"/>
              </a:rPr>
              <a:t>Quantum foundations</a:t>
            </a:r>
          </a:p>
          <a:p>
            <a:pPr algn="l">
              <a:spcAft>
                <a:spcPts val="300"/>
              </a:spcAft>
            </a:pPr>
            <a:r>
              <a:rPr sz="1050" b="0">
                <a:solidFill>
                  <a:srgbClr val="5B6372"/>
                </a:solidFill>
                <a:latin typeface="Arial"/>
              </a:rPr>
              <a:t>Built the state vectors, unitary and Hermitian operators behind every algorithm.</a:t>
            </a:r>
          </a:p>
        </p:txBody>
      </p:sp>
      <p:sp>
        <p:nvSpPr>
          <p:cNvPr id="12" name="Rectangle 11"/>
          <p:cNvSpPr/>
          <p:nvPr/>
        </p:nvSpPr>
        <p:spPr>
          <a:xfrm>
            <a:off x="6231636" y="1783080"/>
            <a:ext cx="5180076" cy="914400"/>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 name="Rectangle 12"/>
          <p:cNvSpPr/>
          <p:nvPr/>
        </p:nvSpPr>
        <p:spPr>
          <a:xfrm>
            <a:off x="6231636" y="1783080"/>
            <a:ext cx="91440" cy="914400"/>
          </a:xfrm>
          <a:prstGeom prst="rect">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 name="Oval 13"/>
          <p:cNvSpPr/>
          <p:nvPr/>
        </p:nvSpPr>
        <p:spPr>
          <a:xfrm>
            <a:off x="6487668" y="1965960"/>
            <a:ext cx="548640" cy="548640"/>
          </a:xfrm>
          <a:prstGeom prst="ellipse">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5" name="TextBox 14"/>
          <p:cNvSpPr txBox="1"/>
          <p:nvPr/>
        </p:nvSpPr>
        <p:spPr>
          <a:xfrm>
            <a:off x="6487668" y="1965960"/>
            <a:ext cx="548640" cy="548640"/>
          </a:xfrm>
          <a:prstGeom prst="rect">
            <a:avLst/>
          </a:prstGeom>
          <a:noFill/>
        </p:spPr>
        <p:txBody>
          <a:bodyPr wrap="square" anchor="ctr">
            <a:spAutoFit/>
          </a:bodyPr>
          <a:lstStyle/>
          <a:p>
            <a:pPr algn="ctr">
              <a:spcAft>
                <a:spcPts val="400"/>
              </a:spcAft>
            </a:pPr>
            <a:r>
              <a:rPr sz="1800" b="1">
                <a:solidFill>
                  <a:srgbClr val="FFFFFF"/>
                </a:solidFill>
                <a:latin typeface="Arial"/>
              </a:rPr>
              <a:t>2</a:t>
            </a:r>
          </a:p>
        </p:txBody>
      </p:sp>
      <p:sp>
        <p:nvSpPr>
          <p:cNvPr id="16" name="TextBox 15"/>
          <p:cNvSpPr txBox="1"/>
          <p:nvPr/>
        </p:nvSpPr>
        <p:spPr>
          <a:xfrm>
            <a:off x="7219188" y="1892808"/>
            <a:ext cx="3973068" cy="731520"/>
          </a:xfrm>
          <a:prstGeom prst="rect">
            <a:avLst/>
          </a:prstGeom>
          <a:noFill/>
        </p:spPr>
        <p:txBody>
          <a:bodyPr wrap="square" anchor="ctr">
            <a:spAutoFit/>
          </a:bodyPr>
          <a:lstStyle/>
          <a:p>
            <a:pPr algn="l">
              <a:spcAft>
                <a:spcPts val="300"/>
              </a:spcAft>
            </a:pPr>
            <a:r>
              <a:rPr sz="1400" b="1">
                <a:solidFill>
                  <a:srgbClr val="161B26"/>
                </a:solidFill>
                <a:latin typeface="Arial"/>
              </a:rPr>
              <a:t>Quantum systems</a:t>
            </a:r>
          </a:p>
          <a:p>
            <a:pPr algn="l">
              <a:spcAft>
                <a:spcPts val="300"/>
              </a:spcAft>
            </a:pPr>
            <a:r>
              <a:rPr sz="1050" b="0">
                <a:solidFill>
                  <a:srgbClr val="5B6372"/>
                </a:solidFill>
                <a:latin typeface="Arial"/>
              </a:rPr>
              <a:t>Visualised qubits on the Bloch sphere and ran circuits on real IBM hardware.</a:t>
            </a:r>
          </a:p>
        </p:txBody>
      </p:sp>
      <p:sp>
        <p:nvSpPr>
          <p:cNvPr id="17" name="Rectangle 16"/>
          <p:cNvSpPr/>
          <p:nvPr/>
        </p:nvSpPr>
        <p:spPr>
          <a:xfrm>
            <a:off x="777240" y="2935224"/>
            <a:ext cx="5180076" cy="914400"/>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8" name="Rectangle 17"/>
          <p:cNvSpPr/>
          <p:nvPr/>
        </p:nvSpPr>
        <p:spPr>
          <a:xfrm>
            <a:off x="777240" y="2935224"/>
            <a:ext cx="91440" cy="914400"/>
          </a:xfrm>
          <a:prstGeom prst="rect">
            <a:avLst/>
          </a:prstGeom>
          <a:solidFill>
            <a:srgbClr val="7C3AE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9" name="Oval 18"/>
          <p:cNvSpPr/>
          <p:nvPr/>
        </p:nvSpPr>
        <p:spPr>
          <a:xfrm>
            <a:off x="1033272" y="3118104"/>
            <a:ext cx="548640" cy="548640"/>
          </a:xfrm>
          <a:prstGeom prst="ellipse">
            <a:avLst/>
          </a:prstGeom>
          <a:solidFill>
            <a:srgbClr val="7C3AE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0" name="TextBox 19"/>
          <p:cNvSpPr txBox="1"/>
          <p:nvPr/>
        </p:nvSpPr>
        <p:spPr>
          <a:xfrm>
            <a:off x="1033272" y="3118104"/>
            <a:ext cx="548640" cy="548640"/>
          </a:xfrm>
          <a:prstGeom prst="rect">
            <a:avLst/>
          </a:prstGeom>
          <a:noFill/>
        </p:spPr>
        <p:txBody>
          <a:bodyPr wrap="square" anchor="ctr">
            <a:spAutoFit/>
          </a:bodyPr>
          <a:lstStyle/>
          <a:p>
            <a:pPr algn="ctr">
              <a:spcAft>
                <a:spcPts val="400"/>
              </a:spcAft>
            </a:pPr>
            <a:r>
              <a:rPr sz="1800" b="1">
                <a:solidFill>
                  <a:srgbClr val="FFFFFF"/>
                </a:solidFill>
                <a:latin typeface="Arial"/>
              </a:rPr>
              <a:t>3</a:t>
            </a:r>
          </a:p>
        </p:txBody>
      </p:sp>
      <p:sp>
        <p:nvSpPr>
          <p:cNvPr id="21" name="TextBox 20"/>
          <p:cNvSpPr txBox="1"/>
          <p:nvPr/>
        </p:nvSpPr>
        <p:spPr>
          <a:xfrm>
            <a:off x="1764792" y="3044952"/>
            <a:ext cx="3973068" cy="731520"/>
          </a:xfrm>
          <a:prstGeom prst="rect">
            <a:avLst/>
          </a:prstGeom>
          <a:noFill/>
        </p:spPr>
        <p:txBody>
          <a:bodyPr wrap="square" anchor="ctr">
            <a:spAutoFit/>
          </a:bodyPr>
          <a:lstStyle/>
          <a:p>
            <a:pPr algn="l">
              <a:spcAft>
                <a:spcPts val="300"/>
              </a:spcAft>
            </a:pPr>
            <a:r>
              <a:rPr sz="1400" b="1">
                <a:solidFill>
                  <a:srgbClr val="161B26"/>
                </a:solidFill>
                <a:latin typeface="Arial"/>
              </a:rPr>
              <a:t>Gates and circuits</a:t>
            </a:r>
          </a:p>
          <a:p>
            <a:pPr algn="l">
              <a:spcAft>
                <a:spcPts val="300"/>
              </a:spcAft>
            </a:pPr>
            <a:r>
              <a:rPr sz="1050" b="0">
                <a:solidFill>
                  <a:srgbClr val="5B6372"/>
                </a:solidFill>
                <a:latin typeface="Arial"/>
              </a:rPr>
              <a:t>Applied the full gate set and constructed Bell and GHZ entangled states.</a:t>
            </a:r>
          </a:p>
        </p:txBody>
      </p:sp>
      <p:sp>
        <p:nvSpPr>
          <p:cNvPr id="22" name="Rectangle 21"/>
          <p:cNvSpPr/>
          <p:nvPr/>
        </p:nvSpPr>
        <p:spPr>
          <a:xfrm>
            <a:off x="6231636" y="2935224"/>
            <a:ext cx="5180076" cy="914400"/>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3" name="Rectangle 22"/>
          <p:cNvSpPr/>
          <p:nvPr/>
        </p:nvSpPr>
        <p:spPr>
          <a:xfrm>
            <a:off x="6231636" y="2935224"/>
            <a:ext cx="91440" cy="914400"/>
          </a:xfrm>
          <a:prstGeom prst="rect">
            <a:avLst/>
          </a:prstGeom>
          <a:solidFill>
            <a:srgbClr val="F59E0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4" name="Oval 23"/>
          <p:cNvSpPr/>
          <p:nvPr/>
        </p:nvSpPr>
        <p:spPr>
          <a:xfrm>
            <a:off x="6487668" y="3118104"/>
            <a:ext cx="548640" cy="548640"/>
          </a:xfrm>
          <a:prstGeom prst="ellipse">
            <a:avLst/>
          </a:prstGeom>
          <a:solidFill>
            <a:srgbClr val="F59E0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5" name="TextBox 24"/>
          <p:cNvSpPr txBox="1"/>
          <p:nvPr/>
        </p:nvSpPr>
        <p:spPr>
          <a:xfrm>
            <a:off x="6487668" y="3118104"/>
            <a:ext cx="548640" cy="548640"/>
          </a:xfrm>
          <a:prstGeom prst="rect">
            <a:avLst/>
          </a:prstGeom>
          <a:noFill/>
        </p:spPr>
        <p:txBody>
          <a:bodyPr wrap="square" anchor="ctr">
            <a:spAutoFit/>
          </a:bodyPr>
          <a:lstStyle/>
          <a:p>
            <a:pPr algn="ctr">
              <a:spcAft>
                <a:spcPts val="400"/>
              </a:spcAft>
            </a:pPr>
            <a:r>
              <a:rPr sz="1800" b="1">
                <a:solidFill>
                  <a:srgbClr val="FFFFFF"/>
                </a:solidFill>
                <a:latin typeface="Arial"/>
              </a:rPr>
              <a:t>4</a:t>
            </a:r>
          </a:p>
        </p:txBody>
      </p:sp>
      <p:sp>
        <p:nvSpPr>
          <p:cNvPr id="26" name="TextBox 25"/>
          <p:cNvSpPr txBox="1"/>
          <p:nvPr/>
        </p:nvSpPr>
        <p:spPr>
          <a:xfrm>
            <a:off x="7219188" y="3044952"/>
            <a:ext cx="3973068" cy="731520"/>
          </a:xfrm>
          <a:prstGeom prst="rect">
            <a:avLst/>
          </a:prstGeom>
          <a:noFill/>
        </p:spPr>
        <p:txBody>
          <a:bodyPr wrap="square" anchor="ctr">
            <a:spAutoFit/>
          </a:bodyPr>
          <a:lstStyle/>
          <a:p>
            <a:pPr algn="l">
              <a:spcAft>
                <a:spcPts val="300"/>
              </a:spcAft>
            </a:pPr>
            <a:r>
              <a:rPr sz="1400" b="1">
                <a:solidFill>
                  <a:srgbClr val="161B26"/>
                </a:solidFill>
                <a:latin typeface="Arial"/>
              </a:rPr>
              <a:t>Quantum protocols</a:t>
            </a:r>
          </a:p>
          <a:p>
            <a:pPr algn="l">
              <a:spcAft>
                <a:spcPts val="300"/>
              </a:spcAft>
            </a:pPr>
            <a:r>
              <a:rPr sz="1050" b="0">
                <a:solidFill>
                  <a:srgbClr val="5B6372"/>
                </a:solidFill>
                <a:latin typeface="Arial"/>
              </a:rPr>
              <a:t>Implemented teleportation, superdense coding and BB84 with eavesdropper detection.</a:t>
            </a:r>
          </a:p>
        </p:txBody>
      </p:sp>
      <p:sp>
        <p:nvSpPr>
          <p:cNvPr id="27" name="Rectangle 26"/>
          <p:cNvSpPr/>
          <p:nvPr/>
        </p:nvSpPr>
        <p:spPr>
          <a:xfrm>
            <a:off x="777240" y="4087368"/>
            <a:ext cx="5180076" cy="914400"/>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8" name="Rectangle 27"/>
          <p:cNvSpPr/>
          <p:nvPr/>
        </p:nvSpPr>
        <p:spPr>
          <a:xfrm>
            <a:off x="777240" y="4087368"/>
            <a:ext cx="91440" cy="914400"/>
          </a:xfrm>
          <a:prstGeom prst="rect">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9" name="Oval 28"/>
          <p:cNvSpPr/>
          <p:nvPr/>
        </p:nvSpPr>
        <p:spPr>
          <a:xfrm>
            <a:off x="1033272" y="4270248"/>
            <a:ext cx="548640" cy="548640"/>
          </a:xfrm>
          <a:prstGeom prst="ellipse">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0" name="TextBox 29"/>
          <p:cNvSpPr txBox="1"/>
          <p:nvPr/>
        </p:nvSpPr>
        <p:spPr>
          <a:xfrm>
            <a:off x="1033272" y="4270248"/>
            <a:ext cx="548640" cy="548640"/>
          </a:xfrm>
          <a:prstGeom prst="rect">
            <a:avLst/>
          </a:prstGeom>
          <a:noFill/>
        </p:spPr>
        <p:txBody>
          <a:bodyPr wrap="square" anchor="ctr">
            <a:spAutoFit/>
          </a:bodyPr>
          <a:lstStyle/>
          <a:p>
            <a:pPr algn="ctr">
              <a:spcAft>
                <a:spcPts val="400"/>
              </a:spcAft>
            </a:pPr>
            <a:r>
              <a:rPr sz="1800" b="1">
                <a:solidFill>
                  <a:srgbClr val="FFFFFF"/>
                </a:solidFill>
                <a:latin typeface="Arial"/>
              </a:rPr>
              <a:t>5</a:t>
            </a:r>
          </a:p>
        </p:txBody>
      </p:sp>
      <p:sp>
        <p:nvSpPr>
          <p:cNvPr id="31" name="TextBox 30"/>
          <p:cNvSpPr txBox="1"/>
          <p:nvPr/>
        </p:nvSpPr>
        <p:spPr>
          <a:xfrm>
            <a:off x="1764792" y="4197096"/>
            <a:ext cx="3973068" cy="731520"/>
          </a:xfrm>
          <a:prstGeom prst="rect">
            <a:avLst/>
          </a:prstGeom>
          <a:noFill/>
        </p:spPr>
        <p:txBody>
          <a:bodyPr wrap="square" anchor="ctr">
            <a:spAutoFit/>
          </a:bodyPr>
          <a:lstStyle/>
          <a:p>
            <a:pPr algn="l">
              <a:spcAft>
                <a:spcPts val="300"/>
              </a:spcAft>
            </a:pPr>
            <a:r>
              <a:rPr sz="1400" b="1">
                <a:solidFill>
                  <a:srgbClr val="161B26"/>
                </a:solidFill>
                <a:latin typeface="Arial"/>
              </a:rPr>
              <a:t>Quantum algorithms</a:t>
            </a:r>
          </a:p>
          <a:p>
            <a:pPr algn="l">
              <a:spcAft>
                <a:spcPts val="300"/>
              </a:spcAft>
            </a:pPr>
            <a:r>
              <a:rPr sz="1050" b="0">
                <a:solidFill>
                  <a:srgbClr val="5B6372"/>
                </a:solidFill>
                <a:latin typeface="Arial"/>
              </a:rPr>
              <a:t>Ran Deutsch, Deutsch-Jozsa, Bernstein-Vazirani, Grover and the QFT.</a:t>
            </a:r>
          </a:p>
        </p:txBody>
      </p:sp>
      <p:sp>
        <p:nvSpPr>
          <p:cNvPr id="32" name="Rectangle 31"/>
          <p:cNvSpPr/>
          <p:nvPr/>
        </p:nvSpPr>
        <p:spPr>
          <a:xfrm>
            <a:off x="6231636" y="4087368"/>
            <a:ext cx="5180076" cy="914400"/>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3" name="Rectangle 32"/>
          <p:cNvSpPr/>
          <p:nvPr/>
        </p:nvSpPr>
        <p:spPr>
          <a:xfrm>
            <a:off x="6231636" y="4087368"/>
            <a:ext cx="91440" cy="914400"/>
          </a:xfrm>
          <a:prstGeom prst="rect">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4" name="Oval 33"/>
          <p:cNvSpPr/>
          <p:nvPr/>
        </p:nvSpPr>
        <p:spPr>
          <a:xfrm>
            <a:off x="6487668" y="4270248"/>
            <a:ext cx="548640" cy="548640"/>
          </a:xfrm>
          <a:prstGeom prst="ellipse">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5" name="TextBox 34"/>
          <p:cNvSpPr txBox="1"/>
          <p:nvPr/>
        </p:nvSpPr>
        <p:spPr>
          <a:xfrm>
            <a:off x="6487668" y="4270248"/>
            <a:ext cx="548640" cy="548640"/>
          </a:xfrm>
          <a:prstGeom prst="rect">
            <a:avLst/>
          </a:prstGeom>
          <a:noFill/>
        </p:spPr>
        <p:txBody>
          <a:bodyPr wrap="square" anchor="ctr">
            <a:spAutoFit/>
          </a:bodyPr>
          <a:lstStyle/>
          <a:p>
            <a:pPr algn="ctr">
              <a:spcAft>
                <a:spcPts val="400"/>
              </a:spcAft>
            </a:pPr>
            <a:r>
              <a:rPr sz="1800" b="1">
                <a:solidFill>
                  <a:srgbClr val="FFFFFF"/>
                </a:solidFill>
                <a:latin typeface="Arial"/>
              </a:rPr>
              <a:t>6</a:t>
            </a:r>
          </a:p>
        </p:txBody>
      </p:sp>
      <p:sp>
        <p:nvSpPr>
          <p:cNvPr id="36" name="TextBox 35"/>
          <p:cNvSpPr txBox="1"/>
          <p:nvPr/>
        </p:nvSpPr>
        <p:spPr>
          <a:xfrm>
            <a:off x="7219188" y="4197096"/>
            <a:ext cx="3973068" cy="731520"/>
          </a:xfrm>
          <a:prstGeom prst="rect">
            <a:avLst/>
          </a:prstGeom>
          <a:noFill/>
        </p:spPr>
        <p:txBody>
          <a:bodyPr wrap="square" anchor="ctr">
            <a:spAutoFit/>
          </a:bodyPr>
          <a:lstStyle/>
          <a:p>
            <a:pPr algn="l">
              <a:spcAft>
                <a:spcPts val="300"/>
              </a:spcAft>
            </a:pPr>
            <a:r>
              <a:rPr sz="1400" b="1">
                <a:solidFill>
                  <a:srgbClr val="161B26"/>
                </a:solidFill>
                <a:latin typeface="Arial"/>
              </a:rPr>
              <a:t>Cryptography and safety</a:t>
            </a:r>
          </a:p>
          <a:p>
            <a:pPr algn="l">
              <a:spcAft>
                <a:spcPts val="300"/>
              </a:spcAft>
            </a:pPr>
            <a:r>
              <a:rPr sz="1050" b="0">
                <a:solidFill>
                  <a:srgbClr val="5B6372"/>
                </a:solidFill>
                <a:latin typeface="Arial"/>
              </a:rPr>
              <a:t>Ran Shor's period finding and built a PQC migration plan.</a:t>
            </a:r>
          </a:p>
        </p:txBody>
      </p:sp>
      <p:sp>
        <p:nvSpPr>
          <p:cNvPr id="37" name="Rectangle 36"/>
          <p:cNvSpPr/>
          <p:nvPr/>
        </p:nvSpPr>
        <p:spPr>
          <a:xfrm>
            <a:off x="777240" y="5239512"/>
            <a:ext cx="5180076" cy="914400"/>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8" name="Rectangle 37"/>
          <p:cNvSpPr/>
          <p:nvPr/>
        </p:nvSpPr>
        <p:spPr>
          <a:xfrm>
            <a:off x="777240" y="5239512"/>
            <a:ext cx="91440" cy="914400"/>
          </a:xfrm>
          <a:prstGeom prst="rect">
            <a:avLst/>
          </a:prstGeom>
          <a:solidFill>
            <a:srgbClr val="7C3AE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9" name="Oval 38"/>
          <p:cNvSpPr/>
          <p:nvPr/>
        </p:nvSpPr>
        <p:spPr>
          <a:xfrm>
            <a:off x="1033272" y="5422392"/>
            <a:ext cx="548640" cy="548640"/>
          </a:xfrm>
          <a:prstGeom prst="ellipse">
            <a:avLst/>
          </a:prstGeom>
          <a:solidFill>
            <a:srgbClr val="7C3AE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0" name="TextBox 39"/>
          <p:cNvSpPr txBox="1"/>
          <p:nvPr/>
        </p:nvSpPr>
        <p:spPr>
          <a:xfrm>
            <a:off x="1033272" y="5422392"/>
            <a:ext cx="548640" cy="548640"/>
          </a:xfrm>
          <a:prstGeom prst="rect">
            <a:avLst/>
          </a:prstGeom>
          <a:noFill/>
        </p:spPr>
        <p:txBody>
          <a:bodyPr wrap="square" anchor="ctr">
            <a:spAutoFit/>
          </a:bodyPr>
          <a:lstStyle/>
          <a:p>
            <a:pPr algn="ctr">
              <a:spcAft>
                <a:spcPts val="400"/>
              </a:spcAft>
            </a:pPr>
            <a:r>
              <a:rPr sz="1800" b="1">
                <a:solidFill>
                  <a:srgbClr val="FFFFFF"/>
                </a:solidFill>
                <a:latin typeface="Arial"/>
              </a:rPr>
              <a:t>7</a:t>
            </a:r>
          </a:p>
        </p:txBody>
      </p:sp>
      <p:sp>
        <p:nvSpPr>
          <p:cNvPr id="41" name="TextBox 40"/>
          <p:cNvSpPr txBox="1"/>
          <p:nvPr/>
        </p:nvSpPr>
        <p:spPr>
          <a:xfrm>
            <a:off x="1764792" y="5349240"/>
            <a:ext cx="3973068" cy="731520"/>
          </a:xfrm>
          <a:prstGeom prst="rect">
            <a:avLst/>
          </a:prstGeom>
          <a:noFill/>
        </p:spPr>
        <p:txBody>
          <a:bodyPr wrap="square" anchor="ctr">
            <a:spAutoFit/>
          </a:bodyPr>
          <a:lstStyle/>
          <a:p>
            <a:pPr algn="l">
              <a:spcAft>
                <a:spcPts val="300"/>
              </a:spcAft>
            </a:pPr>
            <a:r>
              <a:rPr sz="1400" b="1">
                <a:solidFill>
                  <a:srgbClr val="161B26"/>
                </a:solidFill>
                <a:latin typeface="Arial"/>
              </a:rPr>
              <a:t>Applications</a:t>
            </a:r>
          </a:p>
          <a:p>
            <a:pPr algn="l">
              <a:spcAft>
                <a:spcPts val="300"/>
              </a:spcAft>
            </a:pPr>
            <a:r>
              <a:rPr sz="1050" b="0">
                <a:solidFill>
                  <a:srgbClr val="5B6372"/>
                </a:solidFill>
                <a:latin typeface="Arial"/>
              </a:rPr>
              <a:t>Simulated H₂ with VQE and optimised with QAOA.</a:t>
            </a:r>
          </a:p>
        </p:txBody>
      </p:sp>
      <p:sp>
        <p:nvSpPr>
          <p:cNvPr id="42" name="Rectangle 41"/>
          <p:cNvSpPr/>
          <p:nvPr/>
        </p:nvSpPr>
        <p:spPr>
          <a:xfrm>
            <a:off x="6231636" y="5239512"/>
            <a:ext cx="5180076" cy="914400"/>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3" name="Rectangle 42"/>
          <p:cNvSpPr/>
          <p:nvPr/>
        </p:nvSpPr>
        <p:spPr>
          <a:xfrm>
            <a:off x="6231636" y="5239512"/>
            <a:ext cx="91440" cy="914400"/>
          </a:xfrm>
          <a:prstGeom prst="rect">
            <a:avLst/>
          </a:prstGeom>
          <a:solidFill>
            <a:srgbClr val="F59E0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4" name="Oval 43"/>
          <p:cNvSpPr/>
          <p:nvPr/>
        </p:nvSpPr>
        <p:spPr>
          <a:xfrm>
            <a:off x="6487668" y="5422392"/>
            <a:ext cx="548640" cy="548640"/>
          </a:xfrm>
          <a:prstGeom prst="ellipse">
            <a:avLst/>
          </a:prstGeom>
          <a:solidFill>
            <a:srgbClr val="F59E0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5" name="TextBox 44"/>
          <p:cNvSpPr txBox="1"/>
          <p:nvPr/>
        </p:nvSpPr>
        <p:spPr>
          <a:xfrm>
            <a:off x="6487668" y="5422392"/>
            <a:ext cx="548640" cy="548640"/>
          </a:xfrm>
          <a:prstGeom prst="rect">
            <a:avLst/>
          </a:prstGeom>
          <a:noFill/>
        </p:spPr>
        <p:txBody>
          <a:bodyPr wrap="square" anchor="ctr">
            <a:spAutoFit/>
          </a:bodyPr>
          <a:lstStyle/>
          <a:p>
            <a:pPr algn="ctr">
              <a:spcAft>
                <a:spcPts val="400"/>
              </a:spcAft>
            </a:pPr>
            <a:r>
              <a:rPr sz="1800" b="1">
                <a:solidFill>
                  <a:srgbClr val="FFFFFF"/>
                </a:solidFill>
                <a:latin typeface="Arial"/>
              </a:rPr>
              <a:t>8</a:t>
            </a:r>
          </a:p>
        </p:txBody>
      </p:sp>
      <p:sp>
        <p:nvSpPr>
          <p:cNvPr id="46" name="TextBox 45"/>
          <p:cNvSpPr txBox="1"/>
          <p:nvPr/>
        </p:nvSpPr>
        <p:spPr>
          <a:xfrm>
            <a:off x="7219188" y="5349240"/>
            <a:ext cx="3973068" cy="731520"/>
          </a:xfrm>
          <a:prstGeom prst="rect">
            <a:avLst/>
          </a:prstGeom>
          <a:noFill/>
        </p:spPr>
        <p:txBody>
          <a:bodyPr wrap="square" anchor="ctr">
            <a:spAutoFit/>
          </a:bodyPr>
          <a:lstStyle/>
          <a:p>
            <a:pPr algn="l">
              <a:spcAft>
                <a:spcPts val="300"/>
              </a:spcAft>
            </a:pPr>
            <a:r>
              <a:rPr sz="1400" b="1">
                <a:solidFill>
                  <a:srgbClr val="161B26"/>
                </a:solidFill>
                <a:latin typeface="Arial"/>
              </a:rPr>
              <a:t>Error correction</a:t>
            </a:r>
          </a:p>
          <a:p>
            <a:pPr algn="l">
              <a:spcAft>
                <a:spcPts val="300"/>
              </a:spcAft>
            </a:pPr>
            <a:r>
              <a:rPr sz="1050" b="0">
                <a:solidFill>
                  <a:srgbClr val="5B6372"/>
                </a:solidFill>
                <a:latin typeface="Arial"/>
              </a:rPr>
              <a:t>Encoded, diagnosed and corrected errors with the bit-flip, Shor and Steane codes.</a:t>
            </a:r>
          </a:p>
        </p:txBody>
      </p:sp>
      <p:sp>
        <p:nvSpPr>
          <p:cNvPr id="47" name="TextBox 46"/>
          <p:cNvSpPr txBox="1"/>
          <p:nvPr/>
        </p:nvSpPr>
        <p:spPr>
          <a:xfrm>
            <a:off x="365760" y="6446520"/>
            <a:ext cx="6858000" cy="320040"/>
          </a:xfrm>
          <a:prstGeom prst="rect">
            <a:avLst/>
          </a:prstGeom>
          <a:noFill/>
        </p:spPr>
        <p:txBody>
          <a:bodyPr wrap="square" anchor="t">
            <a:spAutoFit/>
          </a:bodyPr>
          <a:lstStyle/>
          <a:p>
            <a:pPr algn="l">
              <a:spcAft>
                <a:spcPts val="400"/>
              </a:spcAft>
            </a:pPr>
            <a:r>
              <a:rPr sz="900" b="0">
                <a:solidFill>
                  <a:srgbClr val="5B6372"/>
                </a:solidFill>
                <a:latin typeface="Arial"/>
              </a:rPr>
              <a:t>Securing the Future with Quantum Computing and Cryptography  ·  TGS-2024043419</a:t>
            </a:r>
          </a:p>
        </p:txBody>
      </p:sp>
      <p:sp>
        <p:nvSpPr>
          <p:cNvPr id="48" name="TextBox 47"/>
          <p:cNvSpPr txBox="1"/>
          <p:nvPr/>
        </p:nvSpPr>
        <p:spPr>
          <a:xfrm>
            <a:off x="4572000" y="6446520"/>
            <a:ext cx="3017520" cy="320040"/>
          </a:xfrm>
          <a:prstGeom prst="rect">
            <a:avLst/>
          </a:prstGeom>
          <a:noFill/>
        </p:spPr>
        <p:txBody>
          <a:bodyPr wrap="square" anchor="t">
            <a:spAutoFit/>
          </a:bodyPr>
          <a:lstStyle/>
          <a:p>
            <a:pPr algn="ctr">
              <a:spcAft>
                <a:spcPts val="400"/>
              </a:spcAft>
            </a:pPr>
            <a:r>
              <a:rPr sz="900" b="0">
                <a:solidFill>
                  <a:srgbClr val="5B6372"/>
                </a:solidFill>
                <a:latin typeface="Arial"/>
              </a:rPr>
              <a:t>© 2026 Tertiary Infotech Academy Pte Ltd</a:t>
            </a:r>
          </a:p>
        </p:txBody>
      </p:sp>
      <p:sp>
        <p:nvSpPr>
          <p:cNvPr id="49" name="TextBox 48"/>
          <p:cNvSpPr txBox="1"/>
          <p:nvPr/>
        </p:nvSpPr>
        <p:spPr>
          <a:xfrm>
            <a:off x="11338560" y="6446520"/>
            <a:ext cx="548640" cy="320040"/>
          </a:xfrm>
          <a:prstGeom prst="rect">
            <a:avLst/>
          </a:prstGeom>
          <a:noFill/>
        </p:spPr>
        <p:txBody>
          <a:bodyPr wrap="square" anchor="t">
            <a:spAutoFit/>
          </a:bodyPr>
          <a:lstStyle/>
          <a:p>
            <a:pPr algn="r">
              <a:spcAft>
                <a:spcPts val="400"/>
              </a:spcAft>
            </a:pPr>
            <a:r>
              <a:rPr sz="900" b="0">
                <a:solidFill>
                  <a:srgbClr val="5B6372"/>
                </a:solidFill>
                <a:latin typeface="Arial"/>
              </a:rPr>
              <a:t>256</a:t>
            </a:r>
          </a:p>
        </p:txBody>
      </p:sp>
    </p:spTree>
  </p:cSld>
  <p:clrMapOvr>
    <a:masterClrMapping/>
  </p:clrMapOvr>
</p:sld>
</file>

<file path=ppt/slides/slide258.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256032" cy="1417320"/>
          </a:xfrm>
          <a:prstGeom prst="rect">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777240" y="457200"/>
            <a:ext cx="10607040" cy="365760"/>
          </a:xfrm>
          <a:prstGeom prst="rect">
            <a:avLst/>
          </a:prstGeom>
          <a:noFill/>
        </p:spPr>
        <p:txBody>
          <a:bodyPr wrap="square" anchor="t">
            <a:spAutoFit/>
          </a:bodyPr>
          <a:lstStyle/>
          <a:p>
            <a:pPr algn="l">
              <a:spcAft>
                <a:spcPts val="400"/>
              </a:spcAft>
            </a:pPr>
            <a:r>
              <a:rPr sz="1400" b="1">
                <a:solidFill>
                  <a:srgbClr val="10B981"/>
                </a:solidFill>
                <a:latin typeface="Arial"/>
              </a:rPr>
              <a:t>NEXT STEPS</a:t>
            </a:r>
          </a:p>
        </p:txBody>
      </p:sp>
      <p:sp>
        <p:nvSpPr>
          <p:cNvPr id="5" name="TextBox 4"/>
          <p:cNvSpPr txBox="1"/>
          <p:nvPr/>
        </p:nvSpPr>
        <p:spPr>
          <a:xfrm>
            <a:off x="777240" y="822960"/>
            <a:ext cx="10881360" cy="822960"/>
          </a:xfrm>
          <a:prstGeom prst="rect">
            <a:avLst/>
          </a:prstGeom>
          <a:noFill/>
        </p:spPr>
        <p:txBody>
          <a:bodyPr wrap="square" anchor="t">
            <a:spAutoFit/>
          </a:bodyPr>
          <a:lstStyle/>
          <a:p>
            <a:pPr algn="l">
              <a:spcAft>
                <a:spcPts val="400"/>
              </a:spcAft>
            </a:pPr>
            <a:r>
              <a:rPr sz="2900" b="1">
                <a:solidFill>
                  <a:srgbClr val="161B26"/>
                </a:solidFill>
                <a:latin typeface="Arial"/>
              </a:rPr>
              <a:t>Continue Your Quantum Journey</a:t>
            </a:r>
          </a:p>
        </p:txBody>
      </p:sp>
      <p:sp>
        <p:nvSpPr>
          <p:cNvPr id="6" name="Rectangle 5"/>
          <p:cNvSpPr/>
          <p:nvPr/>
        </p:nvSpPr>
        <p:spPr>
          <a:xfrm>
            <a:off x="777240" y="1554480"/>
            <a:ext cx="10634472" cy="18288"/>
          </a:xfrm>
          <a:prstGeom prst="rect">
            <a:avLst/>
          </a:prstGeom>
          <a:solidFill>
            <a:srgbClr val="E2E8F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Rectangle 6"/>
          <p:cNvSpPr/>
          <p:nvPr/>
        </p:nvSpPr>
        <p:spPr>
          <a:xfrm>
            <a:off x="777240" y="1783080"/>
            <a:ext cx="5180076" cy="1298448"/>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Rectangle 7"/>
          <p:cNvSpPr/>
          <p:nvPr/>
        </p:nvSpPr>
        <p:spPr>
          <a:xfrm>
            <a:off x="777240" y="1783080"/>
            <a:ext cx="91440" cy="1298448"/>
          </a:xfrm>
          <a:prstGeom prst="rect">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Oval 8"/>
          <p:cNvSpPr/>
          <p:nvPr/>
        </p:nvSpPr>
        <p:spPr>
          <a:xfrm>
            <a:off x="1033272" y="2157984"/>
            <a:ext cx="548640" cy="548640"/>
          </a:xfrm>
          <a:prstGeom prst="ellipse">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TextBox 9"/>
          <p:cNvSpPr txBox="1"/>
          <p:nvPr/>
        </p:nvSpPr>
        <p:spPr>
          <a:xfrm>
            <a:off x="1033272" y="2157984"/>
            <a:ext cx="548640" cy="548640"/>
          </a:xfrm>
          <a:prstGeom prst="rect">
            <a:avLst/>
          </a:prstGeom>
          <a:noFill/>
        </p:spPr>
        <p:txBody>
          <a:bodyPr wrap="square" anchor="ctr">
            <a:spAutoFit/>
          </a:bodyPr>
          <a:lstStyle/>
          <a:p>
            <a:pPr algn="ctr">
              <a:spcAft>
                <a:spcPts val="400"/>
              </a:spcAft>
            </a:pPr>
            <a:r>
              <a:rPr sz="1800" b="1">
                <a:solidFill>
                  <a:srgbClr val="FFFFFF"/>
                </a:solidFill>
                <a:latin typeface="Arial"/>
              </a:rPr>
              <a:t>1</a:t>
            </a:r>
          </a:p>
        </p:txBody>
      </p:sp>
      <p:sp>
        <p:nvSpPr>
          <p:cNvPr id="11" name="TextBox 10"/>
          <p:cNvSpPr txBox="1"/>
          <p:nvPr/>
        </p:nvSpPr>
        <p:spPr>
          <a:xfrm>
            <a:off x="1764792" y="1892808"/>
            <a:ext cx="3973068" cy="1115568"/>
          </a:xfrm>
          <a:prstGeom prst="rect">
            <a:avLst/>
          </a:prstGeom>
          <a:noFill/>
        </p:spPr>
        <p:txBody>
          <a:bodyPr wrap="square" anchor="ctr">
            <a:spAutoFit/>
          </a:bodyPr>
          <a:lstStyle/>
          <a:p>
            <a:pPr algn="l">
              <a:spcAft>
                <a:spcPts val="300"/>
              </a:spcAft>
            </a:pPr>
            <a:r>
              <a:rPr sz="1450" b="1">
                <a:solidFill>
                  <a:srgbClr val="161B26"/>
                </a:solidFill>
                <a:latin typeface="Arial"/>
              </a:rPr>
              <a:t>IBM Quantum Learning</a:t>
            </a:r>
          </a:p>
          <a:p>
            <a:pPr algn="l">
              <a:spcAft>
                <a:spcPts val="300"/>
              </a:spcAft>
            </a:pPr>
            <a:r>
              <a:rPr sz="1100" b="0">
                <a:solidFill>
                  <a:srgbClr val="5B6372"/>
                </a:solidFill>
                <a:latin typeface="Arial"/>
              </a:rPr>
              <a:t>Free courses and challenges at learning.quantum.ibm.com.</a:t>
            </a:r>
          </a:p>
        </p:txBody>
      </p:sp>
      <p:sp>
        <p:nvSpPr>
          <p:cNvPr id="12" name="Rectangle 11"/>
          <p:cNvSpPr/>
          <p:nvPr/>
        </p:nvSpPr>
        <p:spPr>
          <a:xfrm>
            <a:off x="6231636" y="1783080"/>
            <a:ext cx="5180076" cy="1298448"/>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 name="Rectangle 12"/>
          <p:cNvSpPr/>
          <p:nvPr/>
        </p:nvSpPr>
        <p:spPr>
          <a:xfrm>
            <a:off x="6231636" y="1783080"/>
            <a:ext cx="91440" cy="1298448"/>
          </a:xfrm>
          <a:prstGeom prst="rect">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 name="Oval 13"/>
          <p:cNvSpPr/>
          <p:nvPr/>
        </p:nvSpPr>
        <p:spPr>
          <a:xfrm>
            <a:off x="6487668" y="2157984"/>
            <a:ext cx="548640" cy="548640"/>
          </a:xfrm>
          <a:prstGeom prst="ellipse">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5" name="TextBox 14"/>
          <p:cNvSpPr txBox="1"/>
          <p:nvPr/>
        </p:nvSpPr>
        <p:spPr>
          <a:xfrm>
            <a:off x="6487668" y="2157984"/>
            <a:ext cx="548640" cy="548640"/>
          </a:xfrm>
          <a:prstGeom prst="rect">
            <a:avLst/>
          </a:prstGeom>
          <a:noFill/>
        </p:spPr>
        <p:txBody>
          <a:bodyPr wrap="square" anchor="ctr">
            <a:spAutoFit/>
          </a:bodyPr>
          <a:lstStyle/>
          <a:p>
            <a:pPr algn="ctr">
              <a:spcAft>
                <a:spcPts val="400"/>
              </a:spcAft>
            </a:pPr>
            <a:r>
              <a:rPr sz="1800" b="1">
                <a:solidFill>
                  <a:srgbClr val="FFFFFF"/>
                </a:solidFill>
                <a:latin typeface="Arial"/>
              </a:rPr>
              <a:t>2</a:t>
            </a:r>
          </a:p>
        </p:txBody>
      </p:sp>
      <p:sp>
        <p:nvSpPr>
          <p:cNvPr id="16" name="TextBox 15"/>
          <p:cNvSpPr txBox="1"/>
          <p:nvPr/>
        </p:nvSpPr>
        <p:spPr>
          <a:xfrm>
            <a:off x="7219188" y="1892808"/>
            <a:ext cx="3973068" cy="1115568"/>
          </a:xfrm>
          <a:prstGeom prst="rect">
            <a:avLst/>
          </a:prstGeom>
          <a:noFill/>
        </p:spPr>
        <p:txBody>
          <a:bodyPr wrap="square" anchor="ctr">
            <a:spAutoFit/>
          </a:bodyPr>
          <a:lstStyle/>
          <a:p>
            <a:pPr algn="l">
              <a:spcAft>
                <a:spcPts val="300"/>
              </a:spcAft>
            </a:pPr>
            <a:r>
              <a:rPr sz="1450" b="1">
                <a:solidFill>
                  <a:srgbClr val="161B26"/>
                </a:solidFill>
                <a:latin typeface="Arial"/>
              </a:rPr>
              <a:t>Qiskit documentation</a:t>
            </a:r>
          </a:p>
          <a:p>
            <a:pPr algn="l">
              <a:spcAft>
                <a:spcPts val="300"/>
              </a:spcAft>
            </a:pPr>
            <a:r>
              <a:rPr sz="1100" b="0">
                <a:solidFill>
                  <a:srgbClr val="5B6372"/>
                </a:solidFill>
                <a:latin typeface="Arial"/>
              </a:rPr>
              <a:t>The reference for every gate, primitive and runtime feature.</a:t>
            </a:r>
          </a:p>
        </p:txBody>
      </p:sp>
      <p:sp>
        <p:nvSpPr>
          <p:cNvPr id="17" name="Rectangle 16"/>
          <p:cNvSpPr/>
          <p:nvPr/>
        </p:nvSpPr>
        <p:spPr>
          <a:xfrm>
            <a:off x="777240" y="3319272"/>
            <a:ext cx="5180076" cy="1298448"/>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8" name="Rectangle 17"/>
          <p:cNvSpPr/>
          <p:nvPr/>
        </p:nvSpPr>
        <p:spPr>
          <a:xfrm>
            <a:off x="777240" y="3319272"/>
            <a:ext cx="91440" cy="1298448"/>
          </a:xfrm>
          <a:prstGeom prst="rect">
            <a:avLst/>
          </a:prstGeom>
          <a:solidFill>
            <a:srgbClr val="7C3AE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9" name="Oval 18"/>
          <p:cNvSpPr/>
          <p:nvPr/>
        </p:nvSpPr>
        <p:spPr>
          <a:xfrm>
            <a:off x="1033272" y="3694176"/>
            <a:ext cx="548640" cy="548640"/>
          </a:xfrm>
          <a:prstGeom prst="ellipse">
            <a:avLst/>
          </a:prstGeom>
          <a:solidFill>
            <a:srgbClr val="7C3AE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0" name="TextBox 19"/>
          <p:cNvSpPr txBox="1"/>
          <p:nvPr/>
        </p:nvSpPr>
        <p:spPr>
          <a:xfrm>
            <a:off x="1033272" y="3694176"/>
            <a:ext cx="548640" cy="548640"/>
          </a:xfrm>
          <a:prstGeom prst="rect">
            <a:avLst/>
          </a:prstGeom>
          <a:noFill/>
        </p:spPr>
        <p:txBody>
          <a:bodyPr wrap="square" anchor="ctr">
            <a:spAutoFit/>
          </a:bodyPr>
          <a:lstStyle/>
          <a:p>
            <a:pPr algn="ctr">
              <a:spcAft>
                <a:spcPts val="400"/>
              </a:spcAft>
            </a:pPr>
            <a:r>
              <a:rPr sz="1800" b="1">
                <a:solidFill>
                  <a:srgbClr val="FFFFFF"/>
                </a:solidFill>
                <a:latin typeface="Arial"/>
              </a:rPr>
              <a:t>3</a:t>
            </a:r>
          </a:p>
        </p:txBody>
      </p:sp>
      <p:sp>
        <p:nvSpPr>
          <p:cNvPr id="21" name="TextBox 20"/>
          <p:cNvSpPr txBox="1"/>
          <p:nvPr/>
        </p:nvSpPr>
        <p:spPr>
          <a:xfrm>
            <a:off x="1764792" y="3429000"/>
            <a:ext cx="3973068" cy="1115568"/>
          </a:xfrm>
          <a:prstGeom prst="rect">
            <a:avLst/>
          </a:prstGeom>
          <a:noFill/>
        </p:spPr>
        <p:txBody>
          <a:bodyPr wrap="square" anchor="ctr">
            <a:spAutoFit/>
          </a:bodyPr>
          <a:lstStyle/>
          <a:p>
            <a:pPr algn="l">
              <a:spcAft>
                <a:spcPts val="300"/>
              </a:spcAft>
            </a:pPr>
            <a:r>
              <a:rPr sz="1450" b="1">
                <a:solidFill>
                  <a:srgbClr val="161B26"/>
                </a:solidFill>
                <a:latin typeface="Arial"/>
              </a:rPr>
              <a:t>PennyLane demos</a:t>
            </a:r>
          </a:p>
          <a:p>
            <a:pPr algn="l">
              <a:spcAft>
                <a:spcPts val="300"/>
              </a:spcAft>
            </a:pPr>
            <a:r>
              <a:rPr sz="1100" b="0">
                <a:solidFill>
                  <a:srgbClr val="5B6372"/>
                </a:solidFill>
                <a:latin typeface="Arial"/>
              </a:rPr>
              <a:t>Excellent tutorials on variational and quantum-machine-learning methods.</a:t>
            </a:r>
          </a:p>
        </p:txBody>
      </p:sp>
      <p:sp>
        <p:nvSpPr>
          <p:cNvPr id="22" name="Rectangle 21"/>
          <p:cNvSpPr/>
          <p:nvPr/>
        </p:nvSpPr>
        <p:spPr>
          <a:xfrm>
            <a:off x="6231636" y="3319272"/>
            <a:ext cx="5180076" cy="1298448"/>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3" name="Rectangle 22"/>
          <p:cNvSpPr/>
          <p:nvPr/>
        </p:nvSpPr>
        <p:spPr>
          <a:xfrm>
            <a:off x="6231636" y="3319272"/>
            <a:ext cx="91440" cy="1298448"/>
          </a:xfrm>
          <a:prstGeom prst="rect">
            <a:avLst/>
          </a:prstGeom>
          <a:solidFill>
            <a:srgbClr val="F59E0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4" name="Oval 23"/>
          <p:cNvSpPr/>
          <p:nvPr/>
        </p:nvSpPr>
        <p:spPr>
          <a:xfrm>
            <a:off x="6487668" y="3694176"/>
            <a:ext cx="548640" cy="548640"/>
          </a:xfrm>
          <a:prstGeom prst="ellipse">
            <a:avLst/>
          </a:prstGeom>
          <a:solidFill>
            <a:srgbClr val="F59E0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5" name="TextBox 24"/>
          <p:cNvSpPr txBox="1"/>
          <p:nvPr/>
        </p:nvSpPr>
        <p:spPr>
          <a:xfrm>
            <a:off x="6487668" y="3694176"/>
            <a:ext cx="548640" cy="548640"/>
          </a:xfrm>
          <a:prstGeom prst="rect">
            <a:avLst/>
          </a:prstGeom>
          <a:noFill/>
        </p:spPr>
        <p:txBody>
          <a:bodyPr wrap="square" anchor="ctr">
            <a:spAutoFit/>
          </a:bodyPr>
          <a:lstStyle/>
          <a:p>
            <a:pPr algn="ctr">
              <a:spcAft>
                <a:spcPts val="400"/>
              </a:spcAft>
            </a:pPr>
            <a:r>
              <a:rPr sz="1800" b="1">
                <a:solidFill>
                  <a:srgbClr val="FFFFFF"/>
                </a:solidFill>
                <a:latin typeface="Arial"/>
              </a:rPr>
              <a:t>4</a:t>
            </a:r>
          </a:p>
        </p:txBody>
      </p:sp>
      <p:sp>
        <p:nvSpPr>
          <p:cNvPr id="26" name="TextBox 25"/>
          <p:cNvSpPr txBox="1"/>
          <p:nvPr/>
        </p:nvSpPr>
        <p:spPr>
          <a:xfrm>
            <a:off x="7219188" y="3429000"/>
            <a:ext cx="3973068" cy="1115568"/>
          </a:xfrm>
          <a:prstGeom prst="rect">
            <a:avLst/>
          </a:prstGeom>
          <a:noFill/>
        </p:spPr>
        <p:txBody>
          <a:bodyPr wrap="square" anchor="ctr">
            <a:spAutoFit/>
          </a:bodyPr>
          <a:lstStyle/>
          <a:p>
            <a:pPr algn="l">
              <a:spcAft>
                <a:spcPts val="300"/>
              </a:spcAft>
            </a:pPr>
            <a:r>
              <a:rPr sz="1450" b="1">
                <a:solidFill>
                  <a:srgbClr val="161B26"/>
                </a:solidFill>
                <a:latin typeface="Arial"/>
              </a:rPr>
              <a:t>NIST PQC</a:t>
            </a:r>
          </a:p>
          <a:p>
            <a:pPr algn="l">
              <a:spcAft>
                <a:spcPts val="300"/>
              </a:spcAft>
            </a:pPr>
            <a:r>
              <a:rPr sz="1100" b="0">
                <a:solidFill>
                  <a:srgbClr val="5B6372"/>
                </a:solidFill>
                <a:latin typeface="Arial"/>
              </a:rPr>
              <a:t>Track FIPS 203/204/205 adoption and vendor migration guidance.</a:t>
            </a:r>
          </a:p>
        </p:txBody>
      </p:sp>
      <p:sp>
        <p:nvSpPr>
          <p:cNvPr id="27" name="Rectangle 26"/>
          <p:cNvSpPr/>
          <p:nvPr/>
        </p:nvSpPr>
        <p:spPr>
          <a:xfrm>
            <a:off x="777240" y="4855464"/>
            <a:ext cx="5180076" cy="1298448"/>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8" name="Rectangle 27"/>
          <p:cNvSpPr/>
          <p:nvPr/>
        </p:nvSpPr>
        <p:spPr>
          <a:xfrm>
            <a:off x="777240" y="4855464"/>
            <a:ext cx="91440" cy="1298448"/>
          </a:xfrm>
          <a:prstGeom prst="rect">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9" name="Oval 28"/>
          <p:cNvSpPr/>
          <p:nvPr/>
        </p:nvSpPr>
        <p:spPr>
          <a:xfrm>
            <a:off x="1033272" y="5230368"/>
            <a:ext cx="548640" cy="548640"/>
          </a:xfrm>
          <a:prstGeom prst="ellipse">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0" name="TextBox 29"/>
          <p:cNvSpPr txBox="1"/>
          <p:nvPr/>
        </p:nvSpPr>
        <p:spPr>
          <a:xfrm>
            <a:off x="1033272" y="5230368"/>
            <a:ext cx="548640" cy="548640"/>
          </a:xfrm>
          <a:prstGeom prst="rect">
            <a:avLst/>
          </a:prstGeom>
          <a:noFill/>
        </p:spPr>
        <p:txBody>
          <a:bodyPr wrap="square" anchor="ctr">
            <a:spAutoFit/>
          </a:bodyPr>
          <a:lstStyle/>
          <a:p>
            <a:pPr algn="ctr">
              <a:spcAft>
                <a:spcPts val="400"/>
              </a:spcAft>
            </a:pPr>
            <a:r>
              <a:rPr sz="1800" b="1">
                <a:solidFill>
                  <a:srgbClr val="FFFFFF"/>
                </a:solidFill>
                <a:latin typeface="Arial"/>
              </a:rPr>
              <a:t>5</a:t>
            </a:r>
          </a:p>
        </p:txBody>
      </p:sp>
      <p:sp>
        <p:nvSpPr>
          <p:cNvPr id="31" name="TextBox 30"/>
          <p:cNvSpPr txBox="1"/>
          <p:nvPr/>
        </p:nvSpPr>
        <p:spPr>
          <a:xfrm>
            <a:off x="1764792" y="4965192"/>
            <a:ext cx="3973068" cy="1115568"/>
          </a:xfrm>
          <a:prstGeom prst="rect">
            <a:avLst/>
          </a:prstGeom>
          <a:noFill/>
        </p:spPr>
        <p:txBody>
          <a:bodyPr wrap="square" anchor="ctr">
            <a:spAutoFit/>
          </a:bodyPr>
          <a:lstStyle/>
          <a:p>
            <a:pPr algn="l">
              <a:spcAft>
                <a:spcPts val="300"/>
              </a:spcAft>
            </a:pPr>
            <a:r>
              <a:rPr sz="1450" b="1">
                <a:solidFill>
                  <a:srgbClr val="161B26"/>
                </a:solidFill>
                <a:latin typeface="Arial"/>
              </a:rPr>
              <a:t>Practise the labs</a:t>
            </a:r>
          </a:p>
          <a:p>
            <a:pPr algn="l">
              <a:spcAft>
                <a:spcPts val="300"/>
              </a:spcAft>
            </a:pPr>
            <a:r>
              <a:rPr sz="1100" b="0">
                <a:solidFill>
                  <a:srgbClr val="5B6372"/>
                </a:solidFill>
                <a:latin typeface="Arial"/>
              </a:rPr>
              <a:t>Re-run every activity in this course from a blank notebook.</a:t>
            </a:r>
          </a:p>
        </p:txBody>
      </p:sp>
      <p:sp>
        <p:nvSpPr>
          <p:cNvPr id="32" name="Rectangle 31"/>
          <p:cNvSpPr/>
          <p:nvPr/>
        </p:nvSpPr>
        <p:spPr>
          <a:xfrm>
            <a:off x="6231636" y="4855464"/>
            <a:ext cx="5180076" cy="1298448"/>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3" name="Rectangle 32"/>
          <p:cNvSpPr/>
          <p:nvPr/>
        </p:nvSpPr>
        <p:spPr>
          <a:xfrm>
            <a:off x="6231636" y="4855464"/>
            <a:ext cx="91440" cy="1298448"/>
          </a:xfrm>
          <a:prstGeom prst="rect">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4" name="Oval 33"/>
          <p:cNvSpPr/>
          <p:nvPr/>
        </p:nvSpPr>
        <p:spPr>
          <a:xfrm>
            <a:off x="6487668" y="5230368"/>
            <a:ext cx="548640" cy="548640"/>
          </a:xfrm>
          <a:prstGeom prst="ellipse">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5" name="TextBox 34"/>
          <p:cNvSpPr txBox="1"/>
          <p:nvPr/>
        </p:nvSpPr>
        <p:spPr>
          <a:xfrm>
            <a:off x="6487668" y="5230368"/>
            <a:ext cx="548640" cy="548640"/>
          </a:xfrm>
          <a:prstGeom prst="rect">
            <a:avLst/>
          </a:prstGeom>
          <a:noFill/>
        </p:spPr>
        <p:txBody>
          <a:bodyPr wrap="square" anchor="ctr">
            <a:spAutoFit/>
          </a:bodyPr>
          <a:lstStyle/>
          <a:p>
            <a:pPr algn="ctr">
              <a:spcAft>
                <a:spcPts val="400"/>
              </a:spcAft>
            </a:pPr>
            <a:r>
              <a:rPr sz="1800" b="1">
                <a:solidFill>
                  <a:srgbClr val="FFFFFF"/>
                </a:solidFill>
                <a:latin typeface="Arial"/>
              </a:rPr>
              <a:t>6</a:t>
            </a:r>
          </a:p>
        </p:txBody>
      </p:sp>
      <p:sp>
        <p:nvSpPr>
          <p:cNvPr id="36" name="TextBox 35"/>
          <p:cNvSpPr txBox="1"/>
          <p:nvPr/>
        </p:nvSpPr>
        <p:spPr>
          <a:xfrm>
            <a:off x="7219188" y="4965192"/>
            <a:ext cx="3973068" cy="1115568"/>
          </a:xfrm>
          <a:prstGeom prst="rect">
            <a:avLst/>
          </a:prstGeom>
          <a:noFill/>
        </p:spPr>
        <p:txBody>
          <a:bodyPr wrap="square" anchor="ctr">
            <a:spAutoFit/>
          </a:bodyPr>
          <a:lstStyle/>
          <a:p>
            <a:pPr algn="l">
              <a:spcAft>
                <a:spcPts val="300"/>
              </a:spcAft>
            </a:pPr>
            <a:r>
              <a:rPr sz="1450" b="1">
                <a:solidFill>
                  <a:srgbClr val="161B26"/>
                </a:solidFill>
                <a:latin typeface="Arial"/>
              </a:rPr>
              <a:t>Stay current</a:t>
            </a:r>
          </a:p>
          <a:p>
            <a:pPr algn="l">
              <a:spcAft>
                <a:spcPts val="300"/>
              </a:spcAft>
            </a:pPr>
            <a:r>
              <a:rPr sz="1100" b="0">
                <a:solidFill>
                  <a:srgbClr val="5B6372"/>
                </a:solidFill>
                <a:latin typeface="Arial"/>
              </a:rPr>
              <a:t>Quantum hardware roadmaps shift yearly — follow the vendor announcements.</a:t>
            </a:r>
          </a:p>
        </p:txBody>
      </p:sp>
      <p:sp>
        <p:nvSpPr>
          <p:cNvPr id="37" name="TextBox 36"/>
          <p:cNvSpPr txBox="1"/>
          <p:nvPr/>
        </p:nvSpPr>
        <p:spPr>
          <a:xfrm>
            <a:off x="365760" y="6446520"/>
            <a:ext cx="6858000" cy="320040"/>
          </a:xfrm>
          <a:prstGeom prst="rect">
            <a:avLst/>
          </a:prstGeom>
          <a:noFill/>
        </p:spPr>
        <p:txBody>
          <a:bodyPr wrap="square" anchor="t">
            <a:spAutoFit/>
          </a:bodyPr>
          <a:lstStyle/>
          <a:p>
            <a:pPr algn="l">
              <a:spcAft>
                <a:spcPts val="400"/>
              </a:spcAft>
            </a:pPr>
            <a:r>
              <a:rPr sz="900" b="0">
                <a:solidFill>
                  <a:srgbClr val="5B6372"/>
                </a:solidFill>
                <a:latin typeface="Arial"/>
              </a:rPr>
              <a:t>Securing the Future with Quantum Computing and Cryptography  ·  TGS-2024043419</a:t>
            </a:r>
          </a:p>
        </p:txBody>
      </p:sp>
      <p:sp>
        <p:nvSpPr>
          <p:cNvPr id="38" name="TextBox 37"/>
          <p:cNvSpPr txBox="1"/>
          <p:nvPr/>
        </p:nvSpPr>
        <p:spPr>
          <a:xfrm>
            <a:off x="4572000" y="6446520"/>
            <a:ext cx="3017520" cy="320040"/>
          </a:xfrm>
          <a:prstGeom prst="rect">
            <a:avLst/>
          </a:prstGeom>
          <a:noFill/>
        </p:spPr>
        <p:txBody>
          <a:bodyPr wrap="square" anchor="t">
            <a:spAutoFit/>
          </a:bodyPr>
          <a:lstStyle/>
          <a:p>
            <a:pPr algn="ctr">
              <a:spcAft>
                <a:spcPts val="400"/>
              </a:spcAft>
            </a:pPr>
            <a:r>
              <a:rPr sz="900" b="0">
                <a:solidFill>
                  <a:srgbClr val="5B6372"/>
                </a:solidFill>
                <a:latin typeface="Arial"/>
              </a:rPr>
              <a:t>© 2026 Tertiary Infotech Academy Pte Ltd</a:t>
            </a:r>
          </a:p>
        </p:txBody>
      </p:sp>
      <p:sp>
        <p:nvSpPr>
          <p:cNvPr id="39" name="TextBox 38"/>
          <p:cNvSpPr txBox="1"/>
          <p:nvPr/>
        </p:nvSpPr>
        <p:spPr>
          <a:xfrm>
            <a:off x="11338560" y="6446520"/>
            <a:ext cx="548640" cy="320040"/>
          </a:xfrm>
          <a:prstGeom prst="rect">
            <a:avLst/>
          </a:prstGeom>
          <a:noFill/>
        </p:spPr>
        <p:txBody>
          <a:bodyPr wrap="square" anchor="t">
            <a:spAutoFit/>
          </a:bodyPr>
          <a:lstStyle/>
          <a:p>
            <a:pPr algn="r">
              <a:spcAft>
                <a:spcPts val="400"/>
              </a:spcAft>
            </a:pPr>
            <a:r>
              <a:rPr sz="900" b="0">
                <a:solidFill>
                  <a:srgbClr val="5B6372"/>
                </a:solidFill>
                <a:latin typeface="Arial"/>
              </a:rPr>
              <a:t>257</a:t>
            </a:r>
          </a:p>
        </p:txBody>
      </p:sp>
    </p:spTree>
  </p:cSld>
  <p:clrMapOvr>
    <a:masterClrMapping/>
  </p:clrMapOvr>
</p:sld>
</file>

<file path=ppt/slides/slide259.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256032" cy="1417320"/>
          </a:xfrm>
          <a:prstGeom prst="rect">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777240" y="457200"/>
            <a:ext cx="10607040" cy="365760"/>
          </a:xfrm>
          <a:prstGeom prst="rect">
            <a:avLst/>
          </a:prstGeom>
          <a:noFill/>
        </p:spPr>
        <p:txBody>
          <a:bodyPr wrap="square" anchor="t">
            <a:spAutoFit/>
          </a:bodyPr>
          <a:lstStyle/>
          <a:p>
            <a:pPr algn="l">
              <a:spcAft>
                <a:spcPts val="400"/>
              </a:spcAft>
            </a:pPr>
            <a:r>
              <a:rPr sz="1400" b="1">
                <a:solidFill>
                  <a:srgbClr val="1F6FEB"/>
                </a:solidFill>
                <a:latin typeface="Arial"/>
              </a:rPr>
              <a:t>FINAL ASSESSMENT</a:t>
            </a:r>
          </a:p>
        </p:txBody>
      </p:sp>
      <p:sp>
        <p:nvSpPr>
          <p:cNvPr id="5" name="TextBox 4"/>
          <p:cNvSpPr txBox="1"/>
          <p:nvPr/>
        </p:nvSpPr>
        <p:spPr>
          <a:xfrm>
            <a:off x="777240" y="822960"/>
            <a:ext cx="10881360" cy="822960"/>
          </a:xfrm>
          <a:prstGeom prst="rect">
            <a:avLst/>
          </a:prstGeom>
          <a:noFill/>
        </p:spPr>
        <p:txBody>
          <a:bodyPr wrap="square" anchor="t">
            <a:spAutoFit/>
          </a:bodyPr>
          <a:lstStyle/>
          <a:p>
            <a:pPr algn="l">
              <a:spcAft>
                <a:spcPts val="400"/>
              </a:spcAft>
            </a:pPr>
            <a:r>
              <a:rPr sz="2900" b="1">
                <a:solidFill>
                  <a:srgbClr val="161B26"/>
                </a:solidFill>
                <a:latin typeface="Arial"/>
              </a:rPr>
              <a:t>Assessment</a:t>
            </a:r>
          </a:p>
        </p:txBody>
      </p:sp>
      <p:sp>
        <p:nvSpPr>
          <p:cNvPr id="6" name="Rectangle 5"/>
          <p:cNvSpPr/>
          <p:nvPr/>
        </p:nvSpPr>
        <p:spPr>
          <a:xfrm>
            <a:off x="777240" y="1554480"/>
            <a:ext cx="10634472" cy="18288"/>
          </a:xfrm>
          <a:prstGeom prst="rect">
            <a:avLst/>
          </a:prstGeom>
          <a:solidFill>
            <a:srgbClr val="E2E8F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Rectangle 6"/>
          <p:cNvSpPr/>
          <p:nvPr/>
        </p:nvSpPr>
        <p:spPr>
          <a:xfrm>
            <a:off x="777240" y="1783080"/>
            <a:ext cx="5056632" cy="2880360"/>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Rectangle 7"/>
          <p:cNvSpPr/>
          <p:nvPr/>
        </p:nvSpPr>
        <p:spPr>
          <a:xfrm>
            <a:off x="777240" y="1783080"/>
            <a:ext cx="5056632" cy="109728"/>
          </a:xfrm>
          <a:prstGeom prst="rect">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TextBox 8"/>
          <p:cNvSpPr txBox="1"/>
          <p:nvPr/>
        </p:nvSpPr>
        <p:spPr>
          <a:xfrm>
            <a:off x="1051560" y="2011680"/>
            <a:ext cx="4572000" cy="457200"/>
          </a:xfrm>
          <a:prstGeom prst="rect">
            <a:avLst/>
          </a:prstGeom>
          <a:noFill/>
        </p:spPr>
        <p:txBody>
          <a:bodyPr wrap="square" anchor="t">
            <a:spAutoFit/>
          </a:bodyPr>
          <a:lstStyle/>
          <a:p>
            <a:pPr algn="l">
              <a:spcAft>
                <a:spcPts val="400"/>
              </a:spcAft>
            </a:pPr>
            <a:r>
              <a:rPr sz="1900" b="1">
                <a:solidFill>
                  <a:srgbClr val="1F6FEB"/>
                </a:solidFill>
                <a:latin typeface="Arial"/>
              </a:rPr>
              <a:t>Written Assessment (WA)</a:t>
            </a:r>
          </a:p>
        </p:txBody>
      </p:sp>
      <p:sp>
        <p:nvSpPr>
          <p:cNvPr id="10" name="TextBox 9"/>
          <p:cNvSpPr txBox="1"/>
          <p:nvPr/>
        </p:nvSpPr>
        <p:spPr>
          <a:xfrm>
            <a:off x="1051560" y="2606040"/>
            <a:ext cx="4572000" cy="1920240"/>
          </a:xfrm>
          <a:prstGeom prst="rect">
            <a:avLst/>
          </a:prstGeom>
          <a:noFill/>
        </p:spPr>
        <p:txBody>
          <a:bodyPr wrap="square">
            <a:spAutoFit/>
          </a:bodyPr>
          <a:lstStyle/>
          <a:p>
            <a:pPr>
              <a:spcAft>
                <a:spcPts val="800"/>
              </a:spcAft>
            </a:pPr>
            <a:r>
              <a:rPr sz="1400">
                <a:solidFill>
                  <a:srgbClr val="161B26"/>
                </a:solidFill>
                <a:latin typeface="Arial"/>
              </a:rPr>
              <a:t>•  Short-Answer Questions (SAQ)</a:t>
            </a:r>
          </a:p>
          <a:p>
            <a:pPr>
              <a:spcAft>
                <a:spcPts val="800"/>
              </a:spcAft>
            </a:pPr>
            <a:r>
              <a:rPr sz="1400">
                <a:solidFill>
                  <a:srgbClr val="161B26"/>
                </a:solidFill>
                <a:latin typeface="Arial"/>
              </a:rPr>
              <a:t>•  1 hour · open book</a:t>
            </a:r>
          </a:p>
          <a:p>
            <a:pPr>
              <a:spcAft>
                <a:spcPts val="800"/>
              </a:spcAft>
            </a:pPr>
            <a:r>
              <a:rPr sz="1400">
                <a:solidFill>
                  <a:srgbClr val="161B26"/>
                </a:solidFill>
                <a:latin typeface="Arial"/>
              </a:rPr>
              <a:t>•  Tests underpinning KNOWLEDGE</a:t>
            </a:r>
          </a:p>
          <a:p>
            <a:pPr>
              <a:spcAft>
                <a:spcPts val="800"/>
              </a:spcAft>
            </a:pPr>
            <a:r>
              <a:rPr sz="1400">
                <a:solidFill>
                  <a:srgbClr val="161B26"/>
                </a:solidFill>
                <a:latin typeface="Arial"/>
              </a:rPr>
              <a:t>•  Covers all eight topics</a:t>
            </a:r>
          </a:p>
        </p:txBody>
      </p:sp>
      <p:sp>
        <p:nvSpPr>
          <p:cNvPr id="11" name="Rectangle 10"/>
          <p:cNvSpPr/>
          <p:nvPr/>
        </p:nvSpPr>
        <p:spPr>
          <a:xfrm>
            <a:off x="6355080" y="1783080"/>
            <a:ext cx="5056632" cy="2880360"/>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 name="Rectangle 11"/>
          <p:cNvSpPr/>
          <p:nvPr/>
        </p:nvSpPr>
        <p:spPr>
          <a:xfrm>
            <a:off x="6355080" y="1783080"/>
            <a:ext cx="5056632" cy="109728"/>
          </a:xfrm>
          <a:prstGeom prst="rect">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 name="TextBox 12"/>
          <p:cNvSpPr txBox="1"/>
          <p:nvPr/>
        </p:nvSpPr>
        <p:spPr>
          <a:xfrm>
            <a:off x="6629400" y="2011680"/>
            <a:ext cx="4572000" cy="457200"/>
          </a:xfrm>
          <a:prstGeom prst="rect">
            <a:avLst/>
          </a:prstGeom>
          <a:noFill/>
        </p:spPr>
        <p:txBody>
          <a:bodyPr wrap="square" anchor="t">
            <a:spAutoFit/>
          </a:bodyPr>
          <a:lstStyle/>
          <a:p>
            <a:pPr algn="l">
              <a:spcAft>
                <a:spcPts val="400"/>
              </a:spcAft>
            </a:pPr>
            <a:r>
              <a:rPr sz="1900" b="1">
                <a:solidFill>
                  <a:srgbClr val="10B981"/>
                </a:solidFill>
                <a:latin typeface="Arial"/>
              </a:rPr>
              <a:t>Practical Performance (PP)</a:t>
            </a:r>
          </a:p>
        </p:txBody>
      </p:sp>
      <p:sp>
        <p:nvSpPr>
          <p:cNvPr id="14" name="TextBox 13"/>
          <p:cNvSpPr txBox="1"/>
          <p:nvPr/>
        </p:nvSpPr>
        <p:spPr>
          <a:xfrm>
            <a:off x="6629400" y="2606040"/>
            <a:ext cx="4572000" cy="1920240"/>
          </a:xfrm>
          <a:prstGeom prst="rect">
            <a:avLst/>
          </a:prstGeom>
          <a:noFill/>
        </p:spPr>
        <p:txBody>
          <a:bodyPr wrap="square">
            <a:spAutoFit/>
          </a:bodyPr>
          <a:lstStyle/>
          <a:p>
            <a:pPr>
              <a:spcAft>
                <a:spcPts val="800"/>
              </a:spcAft>
            </a:pPr>
            <a:r>
              <a:rPr sz="1400">
                <a:solidFill>
                  <a:srgbClr val="161B26"/>
                </a:solidFill>
                <a:latin typeface="Arial"/>
              </a:rPr>
              <a:t>•  Hands-on quantum tasks</a:t>
            </a:r>
          </a:p>
          <a:p>
            <a:pPr>
              <a:spcAft>
                <a:spcPts val="800"/>
              </a:spcAft>
            </a:pPr>
            <a:r>
              <a:rPr sz="1400">
                <a:solidFill>
                  <a:srgbClr val="161B26"/>
                </a:solidFill>
                <a:latin typeface="Arial"/>
              </a:rPr>
              <a:t>•  1 hour · open book</a:t>
            </a:r>
          </a:p>
          <a:p>
            <a:pPr>
              <a:spcAft>
                <a:spcPts val="800"/>
              </a:spcAft>
            </a:pPr>
            <a:r>
              <a:rPr sz="1400">
                <a:solidFill>
                  <a:srgbClr val="161B26"/>
                </a:solidFill>
                <a:latin typeface="Arial"/>
              </a:rPr>
              <a:t>•  Tests PRACTICAL ability</a:t>
            </a:r>
          </a:p>
          <a:p>
            <a:pPr>
              <a:spcAft>
                <a:spcPts val="800"/>
              </a:spcAft>
            </a:pPr>
            <a:r>
              <a:rPr sz="1400">
                <a:solidFill>
                  <a:srgbClr val="161B26"/>
                </a:solidFill>
                <a:latin typeface="Arial"/>
              </a:rPr>
              <a:t>•  Built on the class activities</a:t>
            </a:r>
          </a:p>
        </p:txBody>
      </p:sp>
      <p:sp>
        <p:nvSpPr>
          <p:cNvPr id="15" name="Rectangle 14"/>
          <p:cNvSpPr/>
          <p:nvPr/>
        </p:nvSpPr>
        <p:spPr>
          <a:xfrm>
            <a:off x="777240" y="4892040"/>
            <a:ext cx="10634472" cy="566928"/>
          </a:xfrm>
          <a:prstGeom prst="rect">
            <a:avLst/>
          </a:prstGeom>
          <a:solidFill>
            <a:srgbClr val="E8F7E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6" name="TextBox 15"/>
          <p:cNvSpPr txBox="1"/>
          <p:nvPr/>
        </p:nvSpPr>
        <p:spPr>
          <a:xfrm>
            <a:off x="1051560" y="4892040"/>
            <a:ext cx="10058400" cy="566928"/>
          </a:xfrm>
          <a:prstGeom prst="rect">
            <a:avLst/>
          </a:prstGeom>
          <a:noFill/>
        </p:spPr>
        <p:txBody>
          <a:bodyPr wrap="square" anchor="ctr">
            <a:spAutoFit/>
          </a:bodyPr>
          <a:lstStyle/>
          <a:p>
            <a:pPr algn="l">
              <a:spcAft>
                <a:spcPts val="400"/>
              </a:spcAft>
            </a:pPr>
            <a:r>
              <a:rPr sz="1350" b="1">
                <a:solidFill>
                  <a:srgbClr val="127A3E"/>
                </a:solidFill>
                <a:latin typeface="Arial"/>
              </a:rPr>
              <a:t>OPEN BOOK — course slides, Learner Guide and approved materials only</a:t>
            </a:r>
          </a:p>
        </p:txBody>
      </p:sp>
      <p:sp>
        <p:nvSpPr>
          <p:cNvPr id="17" name="Rectangle 16"/>
          <p:cNvSpPr/>
          <p:nvPr/>
        </p:nvSpPr>
        <p:spPr>
          <a:xfrm>
            <a:off x="777240" y="5596128"/>
            <a:ext cx="10634472" cy="566928"/>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8" name="TextBox 17"/>
          <p:cNvSpPr txBox="1"/>
          <p:nvPr/>
        </p:nvSpPr>
        <p:spPr>
          <a:xfrm>
            <a:off x="1051560" y="5596128"/>
            <a:ext cx="10058400" cy="566928"/>
          </a:xfrm>
          <a:prstGeom prst="rect">
            <a:avLst/>
          </a:prstGeom>
          <a:noFill/>
        </p:spPr>
        <p:txBody>
          <a:bodyPr wrap="square" anchor="ctr">
            <a:spAutoFit/>
          </a:bodyPr>
          <a:lstStyle/>
          <a:p>
            <a:pPr algn="l">
              <a:spcAft>
                <a:spcPts val="400"/>
              </a:spcAft>
            </a:pPr>
            <a:r>
              <a:rPr sz="1300" b="1">
                <a:solidFill>
                  <a:srgbClr val="1F6FEB"/>
                </a:solidFill>
                <a:latin typeface="Arial"/>
              </a:rPr>
              <a:t>Eligibility:  </a:t>
            </a:r>
            <a:r>
              <a:rPr sz="1300" b="0">
                <a:solidFill>
                  <a:srgbClr val="161B26"/>
                </a:solidFill>
                <a:latin typeface="Arial"/>
              </a:rPr>
              <a:t>minimum 75% attendance + assessed Competent.  An appeal process is available.</a:t>
            </a:r>
          </a:p>
        </p:txBody>
      </p:sp>
      <p:sp>
        <p:nvSpPr>
          <p:cNvPr id="19" name="TextBox 18"/>
          <p:cNvSpPr txBox="1"/>
          <p:nvPr/>
        </p:nvSpPr>
        <p:spPr>
          <a:xfrm>
            <a:off x="365760" y="6446520"/>
            <a:ext cx="6858000" cy="320040"/>
          </a:xfrm>
          <a:prstGeom prst="rect">
            <a:avLst/>
          </a:prstGeom>
          <a:noFill/>
        </p:spPr>
        <p:txBody>
          <a:bodyPr wrap="square" anchor="t">
            <a:spAutoFit/>
          </a:bodyPr>
          <a:lstStyle/>
          <a:p>
            <a:pPr algn="l">
              <a:spcAft>
                <a:spcPts val="400"/>
              </a:spcAft>
            </a:pPr>
            <a:r>
              <a:rPr sz="900" b="0">
                <a:solidFill>
                  <a:srgbClr val="5B6372"/>
                </a:solidFill>
                <a:latin typeface="Arial"/>
              </a:rPr>
              <a:t>Securing the Future with Quantum Computing and Cryptography  ·  TGS-2024043419</a:t>
            </a:r>
          </a:p>
        </p:txBody>
      </p:sp>
      <p:sp>
        <p:nvSpPr>
          <p:cNvPr id="20" name="TextBox 19"/>
          <p:cNvSpPr txBox="1"/>
          <p:nvPr/>
        </p:nvSpPr>
        <p:spPr>
          <a:xfrm>
            <a:off x="4572000" y="6446520"/>
            <a:ext cx="3017520" cy="320040"/>
          </a:xfrm>
          <a:prstGeom prst="rect">
            <a:avLst/>
          </a:prstGeom>
          <a:noFill/>
        </p:spPr>
        <p:txBody>
          <a:bodyPr wrap="square" anchor="t">
            <a:spAutoFit/>
          </a:bodyPr>
          <a:lstStyle/>
          <a:p>
            <a:pPr algn="ctr">
              <a:spcAft>
                <a:spcPts val="400"/>
              </a:spcAft>
            </a:pPr>
            <a:r>
              <a:rPr sz="900" b="0">
                <a:solidFill>
                  <a:srgbClr val="5B6372"/>
                </a:solidFill>
                <a:latin typeface="Arial"/>
              </a:rPr>
              <a:t>© 2026 Tertiary Infotech Academy Pte Ltd</a:t>
            </a:r>
          </a:p>
        </p:txBody>
      </p:sp>
      <p:sp>
        <p:nvSpPr>
          <p:cNvPr id="21" name="TextBox 20"/>
          <p:cNvSpPr txBox="1"/>
          <p:nvPr/>
        </p:nvSpPr>
        <p:spPr>
          <a:xfrm>
            <a:off x="11338560" y="6446520"/>
            <a:ext cx="548640" cy="320040"/>
          </a:xfrm>
          <a:prstGeom prst="rect">
            <a:avLst/>
          </a:prstGeom>
          <a:noFill/>
        </p:spPr>
        <p:txBody>
          <a:bodyPr wrap="square" anchor="t">
            <a:spAutoFit/>
          </a:bodyPr>
          <a:lstStyle/>
          <a:p>
            <a:pPr algn="r">
              <a:spcAft>
                <a:spcPts val="400"/>
              </a:spcAft>
            </a:pPr>
            <a:r>
              <a:rPr sz="900" b="0">
                <a:solidFill>
                  <a:srgbClr val="5B6372"/>
                </a:solidFill>
                <a:latin typeface="Arial"/>
              </a:rPr>
              <a:t>258</a:t>
            </a:r>
          </a:p>
        </p:txBody>
      </p:sp>
    </p:spTree>
  </p:cSld>
  <p:clrMapOvr>
    <a:masterClrMapping/>
  </p:clrMapOvr>
</p:sld>
</file>

<file path=ppt/slides/slide260.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256032" cy="1417320"/>
          </a:xfrm>
          <a:prstGeom prst="rect">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777240" y="457200"/>
            <a:ext cx="10607040" cy="365760"/>
          </a:xfrm>
          <a:prstGeom prst="rect">
            <a:avLst/>
          </a:prstGeom>
          <a:noFill/>
        </p:spPr>
        <p:txBody>
          <a:bodyPr wrap="square" anchor="t">
            <a:spAutoFit/>
          </a:bodyPr>
          <a:lstStyle/>
          <a:p>
            <a:pPr algn="l">
              <a:spcAft>
                <a:spcPts val="400"/>
              </a:spcAft>
            </a:pPr>
            <a:r>
              <a:rPr sz="1400" b="1">
                <a:solidFill>
                  <a:srgbClr val="1F6FEB"/>
                </a:solidFill>
                <a:latin typeface="Arial"/>
              </a:rPr>
              <a:t>ON ASSESSMENT DAY</a:t>
            </a:r>
          </a:p>
        </p:txBody>
      </p:sp>
      <p:sp>
        <p:nvSpPr>
          <p:cNvPr id="5" name="TextBox 4"/>
          <p:cNvSpPr txBox="1"/>
          <p:nvPr/>
        </p:nvSpPr>
        <p:spPr>
          <a:xfrm>
            <a:off x="777240" y="822960"/>
            <a:ext cx="10881360" cy="822960"/>
          </a:xfrm>
          <a:prstGeom prst="rect">
            <a:avLst/>
          </a:prstGeom>
          <a:noFill/>
        </p:spPr>
        <p:txBody>
          <a:bodyPr wrap="square" anchor="t">
            <a:spAutoFit/>
          </a:bodyPr>
          <a:lstStyle/>
          <a:p>
            <a:pPr algn="l">
              <a:spcAft>
                <a:spcPts val="400"/>
              </a:spcAft>
            </a:pPr>
            <a:r>
              <a:rPr sz="2900" b="1">
                <a:solidFill>
                  <a:srgbClr val="161B26"/>
                </a:solidFill>
                <a:latin typeface="Arial"/>
              </a:rPr>
              <a:t>Assessment Flow</a:t>
            </a:r>
          </a:p>
        </p:txBody>
      </p:sp>
      <p:sp>
        <p:nvSpPr>
          <p:cNvPr id="6" name="Rectangle 5"/>
          <p:cNvSpPr/>
          <p:nvPr/>
        </p:nvSpPr>
        <p:spPr>
          <a:xfrm>
            <a:off x="777240" y="1554480"/>
            <a:ext cx="10634472" cy="18288"/>
          </a:xfrm>
          <a:prstGeom prst="rect">
            <a:avLst/>
          </a:prstGeom>
          <a:solidFill>
            <a:srgbClr val="E2E8F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pic>
        <p:nvPicPr>
          <p:cNvPr id="7" name="Picture 6" descr="assessment-flow.png"/>
          <p:cNvPicPr>
            <a:picLocks noChangeAspect="1"/>
          </p:cNvPicPr>
          <p:nvPr/>
        </p:nvPicPr>
        <p:blipFill>
          <a:blip r:embed="rId2"/>
          <a:stretch>
            <a:fillRect/>
          </a:stretch>
        </p:blipFill>
        <p:spPr>
          <a:xfrm>
            <a:off x="1292550" y="1755648"/>
            <a:ext cx="9603851" cy="3950208"/>
          </a:xfrm>
          <a:prstGeom prst="rect">
            <a:avLst/>
          </a:prstGeom>
        </p:spPr>
      </p:pic>
      <p:sp>
        <p:nvSpPr>
          <p:cNvPr id="8" name="Rectangle 7"/>
          <p:cNvSpPr/>
          <p:nvPr/>
        </p:nvSpPr>
        <p:spPr>
          <a:xfrm>
            <a:off x="777240" y="5870448"/>
            <a:ext cx="10634472" cy="457200"/>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TextBox 8"/>
          <p:cNvSpPr txBox="1"/>
          <p:nvPr/>
        </p:nvSpPr>
        <p:spPr>
          <a:xfrm>
            <a:off x="960120" y="5870448"/>
            <a:ext cx="10241280" cy="457200"/>
          </a:xfrm>
          <a:prstGeom prst="rect">
            <a:avLst/>
          </a:prstGeom>
          <a:noFill/>
        </p:spPr>
        <p:txBody>
          <a:bodyPr wrap="square" anchor="ctr">
            <a:spAutoFit/>
          </a:bodyPr>
          <a:lstStyle/>
          <a:p>
            <a:pPr algn="ctr">
              <a:spcAft>
                <a:spcPts val="400"/>
              </a:spcAft>
            </a:pPr>
            <a:r>
              <a:rPr sz="1350" b="0">
                <a:solidFill>
                  <a:srgbClr val="161B26"/>
                </a:solidFill>
                <a:latin typeface="Arial"/>
              </a:rPr>
              <a:t>Complete every step in order — the TRAQOM survey and digital attendance are mandatory for funding.</a:t>
            </a:r>
          </a:p>
        </p:txBody>
      </p:sp>
      <p:sp>
        <p:nvSpPr>
          <p:cNvPr id="10" name="TextBox 9"/>
          <p:cNvSpPr txBox="1"/>
          <p:nvPr/>
        </p:nvSpPr>
        <p:spPr>
          <a:xfrm>
            <a:off x="365760" y="6446520"/>
            <a:ext cx="6858000" cy="320040"/>
          </a:xfrm>
          <a:prstGeom prst="rect">
            <a:avLst/>
          </a:prstGeom>
          <a:noFill/>
        </p:spPr>
        <p:txBody>
          <a:bodyPr wrap="square" anchor="t">
            <a:spAutoFit/>
          </a:bodyPr>
          <a:lstStyle/>
          <a:p>
            <a:pPr algn="l">
              <a:spcAft>
                <a:spcPts val="400"/>
              </a:spcAft>
            </a:pPr>
            <a:r>
              <a:rPr sz="900" b="0">
                <a:solidFill>
                  <a:srgbClr val="5B6372"/>
                </a:solidFill>
                <a:latin typeface="Arial"/>
              </a:rPr>
              <a:t>Securing the Future with Quantum Computing and Cryptography  ·  TGS-2024043419</a:t>
            </a:r>
          </a:p>
        </p:txBody>
      </p:sp>
      <p:sp>
        <p:nvSpPr>
          <p:cNvPr id="11" name="TextBox 10"/>
          <p:cNvSpPr txBox="1"/>
          <p:nvPr/>
        </p:nvSpPr>
        <p:spPr>
          <a:xfrm>
            <a:off x="4572000" y="6446520"/>
            <a:ext cx="3017520" cy="320040"/>
          </a:xfrm>
          <a:prstGeom prst="rect">
            <a:avLst/>
          </a:prstGeom>
          <a:noFill/>
        </p:spPr>
        <p:txBody>
          <a:bodyPr wrap="square" anchor="t">
            <a:spAutoFit/>
          </a:bodyPr>
          <a:lstStyle/>
          <a:p>
            <a:pPr algn="ctr">
              <a:spcAft>
                <a:spcPts val="400"/>
              </a:spcAft>
            </a:pPr>
            <a:r>
              <a:rPr sz="900" b="0">
                <a:solidFill>
                  <a:srgbClr val="5B6372"/>
                </a:solidFill>
                <a:latin typeface="Arial"/>
              </a:rPr>
              <a:t>© 2026 Tertiary Infotech Academy Pte Ltd</a:t>
            </a:r>
          </a:p>
        </p:txBody>
      </p:sp>
      <p:sp>
        <p:nvSpPr>
          <p:cNvPr id="12" name="TextBox 11"/>
          <p:cNvSpPr txBox="1"/>
          <p:nvPr/>
        </p:nvSpPr>
        <p:spPr>
          <a:xfrm>
            <a:off x="11338560" y="6446520"/>
            <a:ext cx="548640" cy="320040"/>
          </a:xfrm>
          <a:prstGeom prst="rect">
            <a:avLst/>
          </a:prstGeom>
          <a:noFill/>
        </p:spPr>
        <p:txBody>
          <a:bodyPr wrap="square" anchor="t">
            <a:spAutoFit/>
          </a:bodyPr>
          <a:lstStyle/>
          <a:p>
            <a:pPr algn="r">
              <a:spcAft>
                <a:spcPts val="400"/>
              </a:spcAft>
            </a:pPr>
            <a:r>
              <a:rPr sz="900" b="0">
                <a:solidFill>
                  <a:srgbClr val="5B6372"/>
                </a:solidFill>
                <a:latin typeface="Arial"/>
              </a:rPr>
              <a:t>259</a:t>
            </a:r>
          </a:p>
        </p:txBody>
      </p:sp>
    </p:spTree>
  </p:cSld>
  <p:clrMapOvr>
    <a:masterClrMapping/>
  </p:clrMapOvr>
</p:sld>
</file>

<file path=ppt/slides/slide261.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256032" cy="1417320"/>
          </a:xfrm>
          <a:prstGeom prst="rect">
            <a:avLst/>
          </a:prstGeom>
          <a:solidFill>
            <a:srgbClr val="7C3AE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777240" y="457200"/>
            <a:ext cx="10607040" cy="365760"/>
          </a:xfrm>
          <a:prstGeom prst="rect">
            <a:avLst/>
          </a:prstGeom>
          <a:noFill/>
        </p:spPr>
        <p:txBody>
          <a:bodyPr wrap="square" anchor="t">
            <a:spAutoFit/>
          </a:bodyPr>
          <a:lstStyle/>
          <a:p>
            <a:pPr algn="l">
              <a:spcAft>
                <a:spcPts val="400"/>
              </a:spcAft>
            </a:pPr>
            <a:r>
              <a:rPr sz="1400" b="1">
                <a:solidFill>
                  <a:srgbClr val="7C3AED"/>
                </a:solidFill>
                <a:latin typeface="Arial"/>
              </a:rPr>
              <a:t>TRAQOM · SSG DIGITAL ATTENDANCE</a:t>
            </a:r>
          </a:p>
        </p:txBody>
      </p:sp>
      <p:sp>
        <p:nvSpPr>
          <p:cNvPr id="5" name="TextBox 4"/>
          <p:cNvSpPr txBox="1"/>
          <p:nvPr/>
        </p:nvSpPr>
        <p:spPr>
          <a:xfrm>
            <a:off x="777240" y="822960"/>
            <a:ext cx="10881360" cy="822960"/>
          </a:xfrm>
          <a:prstGeom prst="rect">
            <a:avLst/>
          </a:prstGeom>
          <a:noFill/>
        </p:spPr>
        <p:txBody>
          <a:bodyPr wrap="square" anchor="t">
            <a:spAutoFit/>
          </a:bodyPr>
          <a:lstStyle/>
          <a:p>
            <a:pPr algn="l">
              <a:spcAft>
                <a:spcPts val="400"/>
              </a:spcAft>
            </a:pPr>
            <a:r>
              <a:rPr sz="2900" b="1">
                <a:solidFill>
                  <a:srgbClr val="161B26"/>
                </a:solidFill>
                <a:latin typeface="Arial"/>
              </a:rPr>
              <a:t>Digital Attendance (Mandatory)</a:t>
            </a:r>
          </a:p>
        </p:txBody>
      </p:sp>
      <p:sp>
        <p:nvSpPr>
          <p:cNvPr id="6" name="Rectangle 5"/>
          <p:cNvSpPr/>
          <p:nvPr/>
        </p:nvSpPr>
        <p:spPr>
          <a:xfrm>
            <a:off x="777240" y="1554480"/>
            <a:ext cx="10634472" cy="18288"/>
          </a:xfrm>
          <a:prstGeom prst="rect">
            <a:avLst/>
          </a:prstGeom>
          <a:solidFill>
            <a:srgbClr val="E2E8F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Rectangle 6"/>
          <p:cNvSpPr/>
          <p:nvPr/>
        </p:nvSpPr>
        <p:spPr>
          <a:xfrm>
            <a:off x="777240" y="2331720"/>
            <a:ext cx="2425446" cy="2880360"/>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Rectangle 7"/>
          <p:cNvSpPr/>
          <p:nvPr/>
        </p:nvSpPr>
        <p:spPr>
          <a:xfrm>
            <a:off x="777240" y="2331720"/>
            <a:ext cx="2425446" cy="91440"/>
          </a:xfrm>
          <a:prstGeom prst="rect">
            <a:avLst/>
          </a:prstGeom>
          <a:solidFill>
            <a:srgbClr val="7C3AE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Oval 8"/>
          <p:cNvSpPr/>
          <p:nvPr/>
        </p:nvSpPr>
        <p:spPr>
          <a:xfrm>
            <a:off x="1615059" y="2715768"/>
            <a:ext cx="749808" cy="749808"/>
          </a:xfrm>
          <a:prstGeom prst="ellipse">
            <a:avLst/>
          </a:prstGeom>
          <a:solidFill>
            <a:srgbClr val="7C3AE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TextBox 9"/>
          <p:cNvSpPr txBox="1"/>
          <p:nvPr/>
        </p:nvSpPr>
        <p:spPr>
          <a:xfrm>
            <a:off x="1615059" y="2715768"/>
            <a:ext cx="749808" cy="749808"/>
          </a:xfrm>
          <a:prstGeom prst="rect">
            <a:avLst/>
          </a:prstGeom>
          <a:noFill/>
        </p:spPr>
        <p:txBody>
          <a:bodyPr wrap="square" anchor="ctr">
            <a:spAutoFit/>
          </a:bodyPr>
          <a:lstStyle/>
          <a:p>
            <a:pPr algn="ctr">
              <a:spcAft>
                <a:spcPts val="400"/>
              </a:spcAft>
            </a:pPr>
            <a:r>
              <a:rPr sz="3000" b="1">
                <a:solidFill>
                  <a:srgbClr val="FFFFFF"/>
                </a:solidFill>
                <a:latin typeface="Arial"/>
              </a:rPr>
              <a:t>1</a:t>
            </a:r>
          </a:p>
        </p:txBody>
      </p:sp>
      <p:sp>
        <p:nvSpPr>
          <p:cNvPr id="11" name="TextBox 10"/>
          <p:cNvSpPr txBox="1"/>
          <p:nvPr/>
        </p:nvSpPr>
        <p:spPr>
          <a:xfrm>
            <a:off x="923544" y="3749040"/>
            <a:ext cx="2132838" cy="1325880"/>
          </a:xfrm>
          <a:prstGeom prst="rect">
            <a:avLst/>
          </a:prstGeom>
          <a:noFill/>
        </p:spPr>
        <p:txBody>
          <a:bodyPr wrap="square" anchor="t">
            <a:spAutoFit/>
          </a:bodyPr>
          <a:lstStyle/>
          <a:p>
            <a:pPr algn="ctr">
              <a:spcAft>
                <a:spcPts val="400"/>
              </a:spcAft>
            </a:pPr>
            <a:r>
              <a:rPr sz="1400" b="0">
                <a:solidFill>
                  <a:srgbClr val="161B26"/>
                </a:solidFill>
                <a:latin typeface="Arial"/>
              </a:rPr>
              <a:t>Trainer displays the digital attendance QR code from the SSG portal</a:t>
            </a:r>
          </a:p>
        </p:txBody>
      </p:sp>
      <p:sp>
        <p:nvSpPr>
          <p:cNvPr id="12" name="TextBox 11"/>
          <p:cNvSpPr txBox="1"/>
          <p:nvPr/>
        </p:nvSpPr>
        <p:spPr>
          <a:xfrm>
            <a:off x="3166110" y="3497580"/>
            <a:ext cx="384048" cy="548640"/>
          </a:xfrm>
          <a:prstGeom prst="rect">
            <a:avLst/>
          </a:prstGeom>
          <a:noFill/>
        </p:spPr>
        <p:txBody>
          <a:bodyPr wrap="square" anchor="ctr">
            <a:spAutoFit/>
          </a:bodyPr>
          <a:lstStyle/>
          <a:p>
            <a:pPr algn="ctr">
              <a:spcAft>
                <a:spcPts val="400"/>
              </a:spcAft>
            </a:pPr>
            <a:r>
              <a:rPr sz="1500" b="1">
                <a:solidFill>
                  <a:srgbClr val="7C3AED"/>
                </a:solidFill>
                <a:latin typeface="Arial"/>
              </a:rPr>
              <a:t>▶</a:t>
            </a:r>
          </a:p>
        </p:txBody>
      </p:sp>
      <p:sp>
        <p:nvSpPr>
          <p:cNvPr id="13" name="Rectangle 12"/>
          <p:cNvSpPr/>
          <p:nvPr/>
        </p:nvSpPr>
        <p:spPr>
          <a:xfrm>
            <a:off x="3513582" y="2331720"/>
            <a:ext cx="2425446" cy="2880360"/>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 name="Rectangle 13"/>
          <p:cNvSpPr/>
          <p:nvPr/>
        </p:nvSpPr>
        <p:spPr>
          <a:xfrm>
            <a:off x="3513582" y="2331720"/>
            <a:ext cx="2425446" cy="91440"/>
          </a:xfrm>
          <a:prstGeom prst="rect">
            <a:avLst/>
          </a:prstGeom>
          <a:solidFill>
            <a:srgbClr val="7C3AE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5" name="Oval 14"/>
          <p:cNvSpPr/>
          <p:nvPr/>
        </p:nvSpPr>
        <p:spPr>
          <a:xfrm>
            <a:off x="4351401" y="2715768"/>
            <a:ext cx="749808" cy="749808"/>
          </a:xfrm>
          <a:prstGeom prst="ellipse">
            <a:avLst/>
          </a:prstGeom>
          <a:solidFill>
            <a:srgbClr val="7C3AE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6" name="TextBox 15"/>
          <p:cNvSpPr txBox="1"/>
          <p:nvPr/>
        </p:nvSpPr>
        <p:spPr>
          <a:xfrm>
            <a:off x="4351401" y="2715768"/>
            <a:ext cx="749808" cy="749808"/>
          </a:xfrm>
          <a:prstGeom prst="rect">
            <a:avLst/>
          </a:prstGeom>
          <a:noFill/>
        </p:spPr>
        <p:txBody>
          <a:bodyPr wrap="square" anchor="ctr">
            <a:spAutoFit/>
          </a:bodyPr>
          <a:lstStyle/>
          <a:p>
            <a:pPr algn="ctr">
              <a:spcAft>
                <a:spcPts val="400"/>
              </a:spcAft>
            </a:pPr>
            <a:r>
              <a:rPr sz="3000" b="1">
                <a:solidFill>
                  <a:srgbClr val="FFFFFF"/>
                </a:solidFill>
                <a:latin typeface="Arial"/>
              </a:rPr>
              <a:t>2</a:t>
            </a:r>
          </a:p>
        </p:txBody>
      </p:sp>
      <p:sp>
        <p:nvSpPr>
          <p:cNvPr id="17" name="TextBox 16"/>
          <p:cNvSpPr txBox="1"/>
          <p:nvPr/>
        </p:nvSpPr>
        <p:spPr>
          <a:xfrm>
            <a:off x="3659886" y="3749040"/>
            <a:ext cx="2132838" cy="1325880"/>
          </a:xfrm>
          <a:prstGeom prst="rect">
            <a:avLst/>
          </a:prstGeom>
          <a:noFill/>
        </p:spPr>
        <p:txBody>
          <a:bodyPr wrap="square" anchor="t">
            <a:spAutoFit/>
          </a:bodyPr>
          <a:lstStyle/>
          <a:p>
            <a:pPr algn="ctr">
              <a:spcAft>
                <a:spcPts val="400"/>
              </a:spcAft>
            </a:pPr>
            <a:r>
              <a:rPr sz="1400" b="0">
                <a:solidFill>
                  <a:srgbClr val="161B26"/>
                </a:solidFill>
                <a:latin typeface="Arial"/>
              </a:rPr>
              <a:t>Scan the QR code with your mobile phone camera</a:t>
            </a:r>
          </a:p>
        </p:txBody>
      </p:sp>
      <p:sp>
        <p:nvSpPr>
          <p:cNvPr id="18" name="TextBox 17"/>
          <p:cNvSpPr txBox="1"/>
          <p:nvPr/>
        </p:nvSpPr>
        <p:spPr>
          <a:xfrm>
            <a:off x="5902452" y="3497580"/>
            <a:ext cx="384048" cy="548640"/>
          </a:xfrm>
          <a:prstGeom prst="rect">
            <a:avLst/>
          </a:prstGeom>
          <a:noFill/>
        </p:spPr>
        <p:txBody>
          <a:bodyPr wrap="square" anchor="ctr">
            <a:spAutoFit/>
          </a:bodyPr>
          <a:lstStyle/>
          <a:p>
            <a:pPr algn="ctr">
              <a:spcAft>
                <a:spcPts val="400"/>
              </a:spcAft>
            </a:pPr>
            <a:r>
              <a:rPr sz="1500" b="1">
                <a:solidFill>
                  <a:srgbClr val="7C3AED"/>
                </a:solidFill>
                <a:latin typeface="Arial"/>
              </a:rPr>
              <a:t>▶</a:t>
            </a:r>
          </a:p>
        </p:txBody>
      </p:sp>
      <p:sp>
        <p:nvSpPr>
          <p:cNvPr id="19" name="Rectangle 18"/>
          <p:cNvSpPr/>
          <p:nvPr/>
        </p:nvSpPr>
        <p:spPr>
          <a:xfrm>
            <a:off x="6249924" y="2331720"/>
            <a:ext cx="2425446" cy="2880360"/>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0" name="Rectangle 19"/>
          <p:cNvSpPr/>
          <p:nvPr/>
        </p:nvSpPr>
        <p:spPr>
          <a:xfrm>
            <a:off x="6249924" y="2331720"/>
            <a:ext cx="2425446" cy="91440"/>
          </a:xfrm>
          <a:prstGeom prst="rect">
            <a:avLst/>
          </a:prstGeom>
          <a:solidFill>
            <a:srgbClr val="7C3AE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1" name="Oval 20"/>
          <p:cNvSpPr/>
          <p:nvPr/>
        </p:nvSpPr>
        <p:spPr>
          <a:xfrm>
            <a:off x="7087743" y="2715768"/>
            <a:ext cx="749808" cy="749808"/>
          </a:xfrm>
          <a:prstGeom prst="ellipse">
            <a:avLst/>
          </a:prstGeom>
          <a:solidFill>
            <a:srgbClr val="7C3AE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2" name="TextBox 21"/>
          <p:cNvSpPr txBox="1"/>
          <p:nvPr/>
        </p:nvSpPr>
        <p:spPr>
          <a:xfrm>
            <a:off x="7087743" y="2715768"/>
            <a:ext cx="749808" cy="749808"/>
          </a:xfrm>
          <a:prstGeom prst="rect">
            <a:avLst/>
          </a:prstGeom>
          <a:noFill/>
        </p:spPr>
        <p:txBody>
          <a:bodyPr wrap="square" anchor="ctr">
            <a:spAutoFit/>
          </a:bodyPr>
          <a:lstStyle/>
          <a:p>
            <a:pPr algn="ctr">
              <a:spcAft>
                <a:spcPts val="400"/>
              </a:spcAft>
            </a:pPr>
            <a:r>
              <a:rPr sz="3000" b="1">
                <a:solidFill>
                  <a:srgbClr val="FFFFFF"/>
                </a:solidFill>
                <a:latin typeface="Arial"/>
              </a:rPr>
              <a:t>3</a:t>
            </a:r>
          </a:p>
        </p:txBody>
      </p:sp>
      <p:sp>
        <p:nvSpPr>
          <p:cNvPr id="23" name="TextBox 22"/>
          <p:cNvSpPr txBox="1"/>
          <p:nvPr/>
        </p:nvSpPr>
        <p:spPr>
          <a:xfrm>
            <a:off x="6396228" y="3749040"/>
            <a:ext cx="2132838" cy="1325880"/>
          </a:xfrm>
          <a:prstGeom prst="rect">
            <a:avLst/>
          </a:prstGeom>
          <a:noFill/>
        </p:spPr>
        <p:txBody>
          <a:bodyPr wrap="square" anchor="t">
            <a:spAutoFit/>
          </a:bodyPr>
          <a:lstStyle/>
          <a:p>
            <a:pPr algn="ctr">
              <a:spcAft>
                <a:spcPts val="400"/>
              </a:spcAft>
            </a:pPr>
            <a:r>
              <a:rPr sz="1400" b="0">
                <a:solidFill>
                  <a:srgbClr val="161B26"/>
                </a:solidFill>
                <a:latin typeface="Arial"/>
              </a:rPr>
              <a:t>Submit your attendance — AM, PM and Assessment, every day</a:t>
            </a:r>
          </a:p>
        </p:txBody>
      </p:sp>
      <p:sp>
        <p:nvSpPr>
          <p:cNvPr id="24" name="TextBox 23"/>
          <p:cNvSpPr txBox="1"/>
          <p:nvPr/>
        </p:nvSpPr>
        <p:spPr>
          <a:xfrm>
            <a:off x="8638794" y="3497580"/>
            <a:ext cx="384048" cy="548640"/>
          </a:xfrm>
          <a:prstGeom prst="rect">
            <a:avLst/>
          </a:prstGeom>
          <a:noFill/>
        </p:spPr>
        <p:txBody>
          <a:bodyPr wrap="square" anchor="ctr">
            <a:spAutoFit/>
          </a:bodyPr>
          <a:lstStyle/>
          <a:p>
            <a:pPr algn="ctr">
              <a:spcAft>
                <a:spcPts val="400"/>
              </a:spcAft>
            </a:pPr>
            <a:r>
              <a:rPr sz="1500" b="1">
                <a:solidFill>
                  <a:srgbClr val="7C3AED"/>
                </a:solidFill>
                <a:latin typeface="Arial"/>
              </a:rPr>
              <a:t>▶</a:t>
            </a:r>
          </a:p>
        </p:txBody>
      </p:sp>
      <p:sp>
        <p:nvSpPr>
          <p:cNvPr id="25" name="Rectangle 24"/>
          <p:cNvSpPr/>
          <p:nvPr/>
        </p:nvSpPr>
        <p:spPr>
          <a:xfrm>
            <a:off x="8986266" y="2331720"/>
            <a:ext cx="2425446" cy="2880360"/>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6" name="Rectangle 25"/>
          <p:cNvSpPr/>
          <p:nvPr/>
        </p:nvSpPr>
        <p:spPr>
          <a:xfrm>
            <a:off x="8986266" y="2331720"/>
            <a:ext cx="2425446" cy="91440"/>
          </a:xfrm>
          <a:prstGeom prst="rect">
            <a:avLst/>
          </a:prstGeom>
          <a:solidFill>
            <a:srgbClr val="7C3AE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7" name="Oval 26"/>
          <p:cNvSpPr/>
          <p:nvPr/>
        </p:nvSpPr>
        <p:spPr>
          <a:xfrm>
            <a:off x="9824085" y="2715768"/>
            <a:ext cx="749808" cy="749808"/>
          </a:xfrm>
          <a:prstGeom prst="ellipse">
            <a:avLst/>
          </a:prstGeom>
          <a:solidFill>
            <a:srgbClr val="7C3AE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8" name="TextBox 27"/>
          <p:cNvSpPr txBox="1"/>
          <p:nvPr/>
        </p:nvSpPr>
        <p:spPr>
          <a:xfrm>
            <a:off x="9824085" y="2715768"/>
            <a:ext cx="749808" cy="749808"/>
          </a:xfrm>
          <a:prstGeom prst="rect">
            <a:avLst/>
          </a:prstGeom>
          <a:noFill/>
        </p:spPr>
        <p:txBody>
          <a:bodyPr wrap="square" anchor="ctr">
            <a:spAutoFit/>
          </a:bodyPr>
          <a:lstStyle/>
          <a:p>
            <a:pPr algn="ctr">
              <a:spcAft>
                <a:spcPts val="400"/>
              </a:spcAft>
            </a:pPr>
            <a:r>
              <a:rPr sz="3000" b="1">
                <a:solidFill>
                  <a:srgbClr val="FFFFFF"/>
                </a:solidFill>
                <a:latin typeface="Arial"/>
              </a:rPr>
              <a:t>4</a:t>
            </a:r>
          </a:p>
        </p:txBody>
      </p:sp>
      <p:sp>
        <p:nvSpPr>
          <p:cNvPr id="29" name="TextBox 28"/>
          <p:cNvSpPr txBox="1"/>
          <p:nvPr/>
        </p:nvSpPr>
        <p:spPr>
          <a:xfrm>
            <a:off x="9132570" y="3749040"/>
            <a:ext cx="2132838" cy="1325880"/>
          </a:xfrm>
          <a:prstGeom prst="rect">
            <a:avLst/>
          </a:prstGeom>
          <a:noFill/>
        </p:spPr>
        <p:txBody>
          <a:bodyPr wrap="square" anchor="t">
            <a:spAutoFit/>
          </a:bodyPr>
          <a:lstStyle/>
          <a:p>
            <a:pPr algn="ctr">
              <a:spcAft>
                <a:spcPts val="400"/>
              </a:spcAft>
            </a:pPr>
            <a:r>
              <a:rPr sz="1400" b="0">
                <a:solidFill>
                  <a:srgbClr val="161B26"/>
                </a:solidFill>
                <a:latin typeface="Arial"/>
              </a:rPr>
              <a:t>75% minimum attendance is required for assessment and funding</a:t>
            </a:r>
          </a:p>
        </p:txBody>
      </p:sp>
      <p:sp>
        <p:nvSpPr>
          <p:cNvPr id="30" name="TextBox 29"/>
          <p:cNvSpPr txBox="1"/>
          <p:nvPr/>
        </p:nvSpPr>
        <p:spPr>
          <a:xfrm>
            <a:off x="365760" y="6446520"/>
            <a:ext cx="6858000" cy="320040"/>
          </a:xfrm>
          <a:prstGeom prst="rect">
            <a:avLst/>
          </a:prstGeom>
          <a:noFill/>
        </p:spPr>
        <p:txBody>
          <a:bodyPr wrap="square" anchor="t">
            <a:spAutoFit/>
          </a:bodyPr>
          <a:lstStyle/>
          <a:p>
            <a:pPr algn="l">
              <a:spcAft>
                <a:spcPts val="400"/>
              </a:spcAft>
            </a:pPr>
            <a:r>
              <a:rPr sz="900" b="0">
                <a:solidFill>
                  <a:srgbClr val="5B6372"/>
                </a:solidFill>
                <a:latin typeface="Arial"/>
              </a:rPr>
              <a:t>Securing the Future with Quantum Computing and Cryptography  ·  TGS-2024043419</a:t>
            </a:r>
          </a:p>
        </p:txBody>
      </p:sp>
      <p:sp>
        <p:nvSpPr>
          <p:cNvPr id="31" name="TextBox 30"/>
          <p:cNvSpPr txBox="1"/>
          <p:nvPr/>
        </p:nvSpPr>
        <p:spPr>
          <a:xfrm>
            <a:off x="4572000" y="6446520"/>
            <a:ext cx="3017520" cy="320040"/>
          </a:xfrm>
          <a:prstGeom prst="rect">
            <a:avLst/>
          </a:prstGeom>
          <a:noFill/>
        </p:spPr>
        <p:txBody>
          <a:bodyPr wrap="square" anchor="t">
            <a:spAutoFit/>
          </a:bodyPr>
          <a:lstStyle/>
          <a:p>
            <a:pPr algn="ctr">
              <a:spcAft>
                <a:spcPts val="400"/>
              </a:spcAft>
            </a:pPr>
            <a:r>
              <a:rPr sz="900" b="0">
                <a:solidFill>
                  <a:srgbClr val="5B6372"/>
                </a:solidFill>
                <a:latin typeface="Arial"/>
              </a:rPr>
              <a:t>© 2026 Tertiary Infotech Academy Pte Ltd</a:t>
            </a:r>
          </a:p>
        </p:txBody>
      </p:sp>
      <p:sp>
        <p:nvSpPr>
          <p:cNvPr id="32" name="TextBox 31"/>
          <p:cNvSpPr txBox="1"/>
          <p:nvPr/>
        </p:nvSpPr>
        <p:spPr>
          <a:xfrm>
            <a:off x="11338560" y="6446520"/>
            <a:ext cx="548640" cy="320040"/>
          </a:xfrm>
          <a:prstGeom prst="rect">
            <a:avLst/>
          </a:prstGeom>
          <a:noFill/>
        </p:spPr>
        <p:txBody>
          <a:bodyPr wrap="square" anchor="t">
            <a:spAutoFit/>
          </a:bodyPr>
          <a:lstStyle/>
          <a:p>
            <a:pPr algn="r">
              <a:spcAft>
                <a:spcPts val="400"/>
              </a:spcAft>
            </a:pPr>
            <a:r>
              <a:rPr sz="900" b="0">
                <a:solidFill>
                  <a:srgbClr val="5B6372"/>
                </a:solidFill>
                <a:latin typeface="Arial"/>
              </a:rPr>
              <a:t>260</a:t>
            </a:r>
          </a:p>
        </p:txBody>
      </p:sp>
    </p:spTree>
  </p:cSld>
  <p:clrMapOvr>
    <a:masterClrMapping/>
  </p:clrMapOvr>
</p:sld>
</file>

<file path=ppt/slides/slide262.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256032" cy="6858000"/>
          </a:xfrm>
          <a:prstGeom prst="rect">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1005840" y="2011680"/>
            <a:ext cx="10058400" cy="457200"/>
          </a:xfrm>
          <a:prstGeom prst="rect">
            <a:avLst/>
          </a:prstGeom>
          <a:noFill/>
        </p:spPr>
        <p:txBody>
          <a:bodyPr wrap="square" anchor="t">
            <a:spAutoFit/>
          </a:bodyPr>
          <a:lstStyle/>
          <a:p>
            <a:pPr algn="l">
              <a:spcAft>
                <a:spcPts val="400"/>
              </a:spcAft>
            </a:pPr>
            <a:r>
              <a:rPr sz="1600" b="1">
                <a:solidFill>
                  <a:srgbClr val="10B981"/>
                </a:solidFill>
                <a:latin typeface="Arial"/>
              </a:rPr>
              <a:t>END OF COURSE</a:t>
            </a:r>
          </a:p>
        </p:txBody>
      </p:sp>
      <p:sp>
        <p:nvSpPr>
          <p:cNvPr id="5" name="TextBox 4"/>
          <p:cNvSpPr txBox="1"/>
          <p:nvPr/>
        </p:nvSpPr>
        <p:spPr>
          <a:xfrm>
            <a:off x="1005840" y="2560320"/>
            <a:ext cx="10332720" cy="2194560"/>
          </a:xfrm>
          <a:prstGeom prst="rect">
            <a:avLst/>
          </a:prstGeom>
          <a:noFill/>
        </p:spPr>
        <p:txBody>
          <a:bodyPr wrap="square" anchor="t">
            <a:spAutoFit/>
          </a:bodyPr>
          <a:lstStyle/>
          <a:p>
            <a:pPr algn="l">
              <a:spcAft>
                <a:spcPts val="400"/>
              </a:spcAft>
            </a:pPr>
            <a:r>
              <a:rPr sz="3600" b="1">
                <a:solidFill>
                  <a:srgbClr val="161B26"/>
                </a:solidFill>
                <a:latin typeface="Arial"/>
              </a:rPr>
              <a:t>Thank You!</a:t>
            </a:r>
          </a:p>
        </p:txBody>
      </p:sp>
      <p:sp>
        <p:nvSpPr>
          <p:cNvPr id="6" name="TextBox 5"/>
          <p:cNvSpPr txBox="1"/>
          <p:nvPr/>
        </p:nvSpPr>
        <p:spPr>
          <a:xfrm>
            <a:off x="1024128" y="4572000"/>
            <a:ext cx="10058400" cy="1097280"/>
          </a:xfrm>
          <a:prstGeom prst="rect">
            <a:avLst/>
          </a:prstGeom>
          <a:noFill/>
        </p:spPr>
        <p:txBody>
          <a:bodyPr wrap="square" anchor="t">
            <a:spAutoFit/>
          </a:bodyPr>
          <a:lstStyle/>
          <a:p>
            <a:pPr algn="l">
              <a:spcAft>
                <a:spcPts val="400"/>
              </a:spcAft>
            </a:pPr>
            <a:r>
              <a:rPr sz="1900" b="0">
                <a:solidFill>
                  <a:srgbClr val="5B6372"/>
                </a:solidFill>
                <a:latin typeface="Arial"/>
              </a:rPr>
              <a:t>You can now design quantum models, apply quantum gates, select quantum algorithms and plan a post-quantum migration — the skills that secure the future.</a:t>
            </a:r>
          </a:p>
        </p:txBody>
      </p:sp>
      <p:sp>
        <p:nvSpPr>
          <p:cNvPr id="7" name="TextBox 6"/>
          <p:cNvSpPr txBox="1"/>
          <p:nvPr/>
        </p:nvSpPr>
        <p:spPr>
          <a:xfrm>
            <a:off x="365760" y="6446520"/>
            <a:ext cx="6858000" cy="320040"/>
          </a:xfrm>
          <a:prstGeom prst="rect">
            <a:avLst/>
          </a:prstGeom>
          <a:noFill/>
        </p:spPr>
        <p:txBody>
          <a:bodyPr wrap="square" anchor="t">
            <a:spAutoFit/>
          </a:bodyPr>
          <a:lstStyle/>
          <a:p>
            <a:pPr algn="l">
              <a:spcAft>
                <a:spcPts val="400"/>
              </a:spcAft>
            </a:pPr>
            <a:r>
              <a:rPr sz="900" b="0">
                <a:solidFill>
                  <a:srgbClr val="5B6372"/>
                </a:solidFill>
                <a:latin typeface="Arial"/>
              </a:rPr>
              <a:t>Securing the Future with Quantum Computing and Cryptography  ·  TGS-2024043419</a:t>
            </a:r>
          </a:p>
        </p:txBody>
      </p:sp>
      <p:sp>
        <p:nvSpPr>
          <p:cNvPr id="8" name="TextBox 7"/>
          <p:cNvSpPr txBox="1"/>
          <p:nvPr/>
        </p:nvSpPr>
        <p:spPr>
          <a:xfrm>
            <a:off x="4572000" y="6446520"/>
            <a:ext cx="3017520" cy="320040"/>
          </a:xfrm>
          <a:prstGeom prst="rect">
            <a:avLst/>
          </a:prstGeom>
          <a:noFill/>
        </p:spPr>
        <p:txBody>
          <a:bodyPr wrap="square" anchor="t">
            <a:spAutoFit/>
          </a:bodyPr>
          <a:lstStyle/>
          <a:p>
            <a:pPr algn="ctr">
              <a:spcAft>
                <a:spcPts val="400"/>
              </a:spcAft>
            </a:pPr>
            <a:r>
              <a:rPr sz="900" b="0">
                <a:solidFill>
                  <a:srgbClr val="5B6372"/>
                </a:solidFill>
                <a:latin typeface="Arial"/>
              </a:rPr>
              <a:t>© 2026 Tertiary Infotech Academy Pte Ltd</a:t>
            </a:r>
          </a:p>
        </p:txBody>
      </p:sp>
      <p:sp>
        <p:nvSpPr>
          <p:cNvPr id="9" name="TextBox 8"/>
          <p:cNvSpPr txBox="1"/>
          <p:nvPr/>
        </p:nvSpPr>
        <p:spPr>
          <a:xfrm>
            <a:off x="11338560" y="6446520"/>
            <a:ext cx="548640" cy="320040"/>
          </a:xfrm>
          <a:prstGeom prst="rect">
            <a:avLst/>
          </a:prstGeom>
          <a:noFill/>
        </p:spPr>
        <p:txBody>
          <a:bodyPr wrap="square" anchor="t">
            <a:spAutoFit/>
          </a:bodyPr>
          <a:lstStyle/>
          <a:p>
            <a:pPr algn="r">
              <a:spcAft>
                <a:spcPts val="400"/>
              </a:spcAft>
            </a:pPr>
            <a:r>
              <a:rPr sz="900" b="0">
                <a:solidFill>
                  <a:srgbClr val="5B6372"/>
                </a:solidFill>
                <a:latin typeface="Arial"/>
              </a:rPr>
              <a:t>261</a:t>
            </a:r>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docProps/app.xml><?xml version="1.0" encoding="utf-8"?>
<Properties xmlns="http://schemas.openxmlformats.org/officeDocument/2006/extended-properties" xmlns:vt="http://schemas.openxmlformats.org/officeDocument/2006/docPropsVTypes">
  <TotalTime>1</TotalTime>
  <Words>0</Words>
  <Application>Microsoft Macintosh PowerPoint</Application>
  <PresentationFormat>On-screen Show (4:3)</PresentationFormat>
  <Paragraphs>0</Paragraphs>
  <Slides>0</Slides>
  <Notes>0</Notes>
  <HiddenSlides>0</HiddenSlides>
  <MMClips>0</MMClips>
  <ScaleCrop>false</ScaleCrop>
  <HeadingPairs>
    <vt:vector size="4" baseType="variant">
      <vt:variant>
        <vt:lpstr>Theme</vt:lpstr>
      </vt:variant>
      <vt:variant>
        <vt:i4>1</vt:i4>
      </vt:variant>
      <vt:variant>
        <vt:lpstr>Slide Titles</vt:lpstr>
      </vt:variant>
      <vt:variant>
        <vt:i4>0</vt:i4>
      </vt:variant>
    </vt:vector>
  </HeadingPairs>
  <TitlesOfParts>
    <vt:vector size="1" baseType="lpstr">
      <vt:lpstr>Office Theme</vt:lpstr>
    </vt:vector>
  </TitlesOfParts>
  <Manager/>
  <Company/>
  <LinksUpToDate>false</LinksUpToDate>
  <SharedDoc>false</SharedDoc>
  <HyperlinkBase/>
  <HyperlinksChanged>false</HyperlinksChanged>
  <AppVersion>14.0000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
  <dc:subject/>
  <dc:creator/>
  <cp:keywords/>
  <dc:description>generated using python-pptx</dc:description>
  <cp:lastModifiedBy>Steve Canny</cp:lastModifiedBy>
  <cp:revision>1</cp:revision>
  <dcterms:created xsi:type="dcterms:W3CDTF">2013-01-27T09:14:16Z</dcterms:created>
  <dcterms:modified xsi:type="dcterms:W3CDTF">2013-01-27T09:15:58Z</dcterms:modified>
  <cp:category/>
</cp:coreProperties>
</file>